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58"/>
  </p:notesMasterIdLst>
  <p:sldIdLst>
    <p:sldId id="256" r:id="rId2"/>
    <p:sldId id="301" r:id="rId3"/>
    <p:sldId id="361" r:id="rId4"/>
    <p:sldId id="379" r:id="rId5"/>
    <p:sldId id="328" r:id="rId6"/>
    <p:sldId id="381" r:id="rId7"/>
    <p:sldId id="329" r:id="rId8"/>
    <p:sldId id="370" r:id="rId9"/>
    <p:sldId id="338" r:id="rId10"/>
    <p:sldId id="362" r:id="rId11"/>
    <p:sldId id="363" r:id="rId12"/>
    <p:sldId id="380" r:id="rId13"/>
    <p:sldId id="335" r:id="rId14"/>
    <p:sldId id="336" r:id="rId15"/>
    <p:sldId id="337" r:id="rId16"/>
    <p:sldId id="339" r:id="rId17"/>
    <p:sldId id="382" r:id="rId18"/>
    <p:sldId id="330" r:id="rId19"/>
    <p:sldId id="366" r:id="rId20"/>
    <p:sldId id="384" r:id="rId21"/>
    <p:sldId id="386" r:id="rId22"/>
    <p:sldId id="388" r:id="rId23"/>
    <p:sldId id="389" r:id="rId24"/>
    <p:sldId id="376" r:id="rId25"/>
    <p:sldId id="342" r:id="rId26"/>
    <p:sldId id="369" r:id="rId27"/>
    <p:sldId id="392" r:id="rId28"/>
    <p:sldId id="343" r:id="rId29"/>
    <p:sldId id="344" r:id="rId30"/>
    <p:sldId id="374" r:id="rId31"/>
    <p:sldId id="375" r:id="rId32"/>
    <p:sldId id="345" r:id="rId33"/>
    <p:sldId id="346" r:id="rId34"/>
    <p:sldId id="390" r:id="rId35"/>
    <p:sldId id="348" r:id="rId36"/>
    <p:sldId id="371" r:id="rId37"/>
    <p:sldId id="349" r:id="rId38"/>
    <p:sldId id="391" r:id="rId39"/>
    <p:sldId id="350" r:id="rId40"/>
    <p:sldId id="325" r:id="rId41"/>
    <p:sldId id="351" r:id="rId42"/>
    <p:sldId id="352" r:id="rId43"/>
    <p:sldId id="353" r:id="rId44"/>
    <p:sldId id="377" r:id="rId45"/>
    <p:sldId id="316" r:id="rId46"/>
    <p:sldId id="393" r:id="rId47"/>
    <p:sldId id="372" r:id="rId48"/>
    <p:sldId id="355" r:id="rId49"/>
    <p:sldId id="373" r:id="rId50"/>
    <p:sldId id="332" r:id="rId51"/>
    <p:sldId id="356" r:id="rId52"/>
    <p:sldId id="357" r:id="rId53"/>
    <p:sldId id="358" r:id="rId54"/>
    <p:sldId id="359" r:id="rId55"/>
    <p:sldId id="326" r:id="rId56"/>
    <p:sldId id="360" r:id="rId5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orient="horz" pos="432">
          <p15:clr>
            <a:srgbClr val="747775"/>
          </p15:clr>
        </p15:guide>
        <p15:guide id="4" orient="horz" pos="30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68"/>
      </p:cViewPr>
      <p:guideLst>
        <p:guide orient="horz" pos="1620"/>
        <p:guide pos="2880"/>
        <p:guide orient="horz" pos="432"/>
        <p:guide orient="horz" pos="3055"/>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7bb6d15d2f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37bb6d15d2f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09D6386C-2092-23FD-DAAE-5899BEC734F4}"/>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C37607C8-A109-CF82-D73A-A6707B5E2A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A11393F9-0781-FC42-C524-EC105B67AD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65642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E5784101-B52D-605B-4B15-86056717AE60}"/>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F516634D-8708-934E-3DCD-9B36077625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A72733D6-F086-DB74-89B0-D601C08BA6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18953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49CC6A0C-6E40-A086-3339-7A8B78CDD941}"/>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DFACF5BE-E6A4-D42C-2337-FA4A31C1AA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6515BA86-55D6-5B8F-DACE-88D60701EA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9895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4D3F57A6-0235-7B1E-E094-D05186462C4B}"/>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D051D637-E9B1-A3D4-D03F-FE8837AE2B9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820BC276-A439-F1B3-C087-177410EAA2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30687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AB313459-97A5-6DCB-ED19-C97C53AB1457}"/>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762FF735-4E1D-DC18-D2FE-334CCA6C38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1F804A1B-478F-4C72-2233-01ADA0B0EA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1794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0D729D46-185A-6BCC-E586-334BDCA3CEC5}"/>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581587E4-AAD8-D1C0-AB4B-889C8D7924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35BEA080-78D7-967B-741D-3A73BAA850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99075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EAD914ED-552C-1493-F484-9655C74C77BC}"/>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6FEF7B4E-BA7F-1966-C09C-BAA8C86D7E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BBFC9CF6-3A2B-6D2E-AC8B-6B32ECDD616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05914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670BCD70-A90B-8BEF-8D0B-CB56DCA51372}"/>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9BE7CA20-6DCB-79C4-74BA-31773D721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9B62A05B-B9BE-214F-C727-0A3FB0A7E6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2162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52CB8466-C586-1E3B-DAC2-BF4E357F557B}"/>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A586F9B2-CA0B-F264-211D-467C022623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C877E583-9C4D-CDD4-6F89-A0753D79F2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83527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a:extLst>
            <a:ext uri="{FF2B5EF4-FFF2-40B4-BE49-F238E27FC236}">
              <a16:creationId xmlns:a16="http://schemas.microsoft.com/office/drawing/2014/main" id="{E27B16B2-0476-7BA3-5E1A-4BD9836A3712}"/>
            </a:ext>
          </a:extLst>
        </p:cNvPr>
        <p:cNvGrpSpPr/>
        <p:nvPr/>
      </p:nvGrpSpPr>
      <p:grpSpPr>
        <a:xfrm>
          <a:off x="0" y="0"/>
          <a:ext cx="0" cy="0"/>
          <a:chOff x="0" y="0"/>
          <a:chExt cx="0" cy="0"/>
        </a:xfrm>
      </p:grpSpPr>
      <p:sp>
        <p:nvSpPr>
          <p:cNvPr id="63" name="Google Shape;63;g2e3367c67fa_0_21:notes">
            <a:extLst>
              <a:ext uri="{FF2B5EF4-FFF2-40B4-BE49-F238E27FC236}">
                <a16:creationId xmlns:a16="http://schemas.microsoft.com/office/drawing/2014/main" id="{0D5916AA-6F4F-F699-5EF6-5CC6EFD4D8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e3367c67fa_0_21:notes">
            <a:extLst>
              <a:ext uri="{FF2B5EF4-FFF2-40B4-BE49-F238E27FC236}">
                <a16:creationId xmlns:a16="http://schemas.microsoft.com/office/drawing/2014/main" id="{943CE5F9-E536-A83C-E6A7-0950E067AF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27523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a:extLst>
            <a:ext uri="{FF2B5EF4-FFF2-40B4-BE49-F238E27FC236}">
              <a16:creationId xmlns:a16="http://schemas.microsoft.com/office/drawing/2014/main" id="{BF9E9CBE-F5EB-AFB5-3AF6-9019B4F12FC1}"/>
            </a:ext>
          </a:extLst>
        </p:cNvPr>
        <p:cNvGrpSpPr/>
        <p:nvPr/>
      </p:nvGrpSpPr>
      <p:grpSpPr>
        <a:xfrm>
          <a:off x="0" y="0"/>
          <a:ext cx="0" cy="0"/>
          <a:chOff x="0" y="0"/>
          <a:chExt cx="0" cy="0"/>
        </a:xfrm>
      </p:grpSpPr>
      <p:sp>
        <p:nvSpPr>
          <p:cNvPr id="75" name="Google Shape;75;g377442437b2_0_2:notes">
            <a:extLst>
              <a:ext uri="{FF2B5EF4-FFF2-40B4-BE49-F238E27FC236}">
                <a16:creationId xmlns:a16="http://schemas.microsoft.com/office/drawing/2014/main" id="{78ED8B2A-8832-B289-28E9-1718658947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77442437b2_0_2:notes">
            <a:extLst>
              <a:ext uri="{FF2B5EF4-FFF2-40B4-BE49-F238E27FC236}">
                <a16:creationId xmlns:a16="http://schemas.microsoft.com/office/drawing/2014/main" id="{51336283-48B6-69BC-862D-B5C24E9203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9403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 Title slide">
  <p:cSld name="CUSTOM_2_1">
    <p:bg>
      <p:bgPr>
        <a:solidFill>
          <a:srgbClr val="F3F3F3"/>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298500" y="251150"/>
            <a:ext cx="8392200" cy="1789800"/>
          </a:xfrm>
          <a:prstGeom prst="rect">
            <a:avLst/>
          </a:prstGeom>
        </p:spPr>
        <p:txBody>
          <a:bodyPr spcFirstLastPara="1" wrap="square" lIns="91425" tIns="91425" rIns="91425" bIns="91425" anchor="t" anchorCtr="0">
            <a:normAutofit/>
          </a:bodyPr>
          <a:lstStyle>
            <a:lvl1pPr lvl="0" rtl="0">
              <a:lnSpc>
                <a:spcPct val="90000"/>
              </a:lnSpc>
              <a:spcBef>
                <a:spcPts val="0"/>
              </a:spcBef>
              <a:spcAft>
                <a:spcPts val="0"/>
              </a:spcAft>
              <a:buClr>
                <a:schemeClr val="dk2"/>
              </a:buClr>
              <a:buSzPts val="5400"/>
              <a:buFont typeface="Source Serif Pro"/>
              <a:buNone/>
              <a:defRPr sz="54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 name="Google Shape;11;p2"/>
          <p:cNvSpPr txBox="1">
            <a:spLocks noGrp="1"/>
          </p:cNvSpPr>
          <p:nvPr>
            <p:ph type="subTitle" idx="1"/>
          </p:nvPr>
        </p:nvSpPr>
        <p:spPr>
          <a:xfrm>
            <a:off x="325925" y="2117000"/>
            <a:ext cx="8364600" cy="11781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1"/>
              </a:buClr>
              <a:buSzPts val="2300"/>
              <a:buNone/>
              <a:defRPr sz="23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12" name="Google Shape;12;p2" descr="University of Sheffield logo"/>
          <p:cNvPicPr preferRelativeResize="0"/>
          <p:nvPr/>
        </p:nvPicPr>
        <p:blipFill>
          <a:blip r:embed="rId2">
            <a:alphaModFix/>
          </a:blip>
          <a:stretch>
            <a:fillRect/>
          </a:stretch>
        </p:blipFill>
        <p:spPr>
          <a:xfrm>
            <a:off x="412529" y="4309700"/>
            <a:ext cx="1813500" cy="550125"/>
          </a:xfrm>
          <a:prstGeom prst="rect">
            <a:avLst/>
          </a:prstGeom>
          <a:noFill/>
          <a:ln>
            <a:noFill/>
          </a:ln>
        </p:spPr>
      </p:pic>
      <p:pic>
        <p:nvPicPr>
          <p:cNvPr id="13" name="Google Shape;13;p2"/>
          <p:cNvPicPr preferRelativeResize="0"/>
          <p:nvPr/>
        </p:nvPicPr>
        <p:blipFill>
          <a:blip r:embed="rId3">
            <a:alphaModFix/>
          </a:blip>
          <a:stretch>
            <a:fillRect/>
          </a:stretch>
        </p:blipFill>
        <p:spPr>
          <a:xfrm>
            <a:off x="7192885" y="4349059"/>
            <a:ext cx="1495202" cy="5519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3. Title text" type="blank">
  <p:cSld name="BLANK">
    <p:bg>
      <p:bgPr>
        <a:solidFill>
          <a:srgbClr val="F3F3F3"/>
        </a:solidFill>
        <a:effectLst/>
      </p:bgPr>
    </p:bg>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05550" y="174950"/>
            <a:ext cx="8004900" cy="739200"/>
          </a:xfrm>
          <a:prstGeom prst="rect">
            <a:avLst/>
          </a:prstGeom>
        </p:spPr>
        <p:txBody>
          <a:bodyPr spcFirstLastPara="1" wrap="square" lIns="91425" tIns="91425" rIns="91425" bIns="91425" anchor="t" anchorCtr="0">
            <a:normAutofit/>
          </a:bodyPr>
          <a:lstStyle>
            <a:lvl1pPr lvl="0">
              <a:spcBef>
                <a:spcPts val="0"/>
              </a:spcBef>
              <a:spcAft>
                <a:spcPts val="0"/>
              </a:spcAft>
              <a:buClr>
                <a:schemeClr val="dk2"/>
              </a:buClr>
              <a:buSzPts val="3000"/>
              <a:buFont typeface="Source Serif Pro"/>
              <a:buNone/>
              <a:defRPr sz="3000">
                <a:solidFill>
                  <a:schemeClr val="dk2"/>
                </a:solidFill>
                <a:latin typeface="Source Serif Pro"/>
                <a:ea typeface="Source Serif Pro"/>
                <a:cs typeface="Source Serif Pro"/>
                <a:sym typeface="Source Serif Pro"/>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cxnSp>
        <p:nvCxnSpPr>
          <p:cNvPr id="16" name="Google Shape;16;p3"/>
          <p:cNvCxnSpPr/>
          <p:nvPr/>
        </p:nvCxnSpPr>
        <p:spPr>
          <a:xfrm>
            <a:off x="379526" y="801485"/>
            <a:ext cx="8200200" cy="0"/>
          </a:xfrm>
          <a:prstGeom prst="straightConnector1">
            <a:avLst/>
          </a:prstGeom>
          <a:noFill/>
          <a:ln w="9525" cap="flat" cmpd="sng">
            <a:solidFill>
              <a:schemeClr val="dk2"/>
            </a:solidFill>
            <a:prstDash val="solid"/>
            <a:round/>
            <a:headEnd type="none" w="med" len="med"/>
            <a:tailEnd type="none" w="med" len="med"/>
          </a:ln>
        </p:spPr>
      </p:cxnSp>
      <p:sp>
        <p:nvSpPr>
          <p:cNvPr id="17" name="Google Shape;17;p3"/>
          <p:cNvSpPr txBox="1">
            <a:spLocks noGrp="1"/>
          </p:cNvSpPr>
          <p:nvPr>
            <p:ph type="body" idx="1"/>
          </p:nvPr>
        </p:nvSpPr>
        <p:spPr>
          <a:xfrm>
            <a:off x="317700" y="1073200"/>
            <a:ext cx="8274300" cy="35379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rtl="0">
              <a:buNone/>
              <a:defRPr sz="1300">
                <a:solidFill>
                  <a:schemeClr val="dk1"/>
                </a:solidFill>
                <a:latin typeface="Source Sans Pro"/>
                <a:ea typeface="Source Sans Pro"/>
                <a:cs typeface="Source Sans Pro"/>
                <a:sym typeface="Source Sans Pro"/>
              </a:defRPr>
            </a:lvl1pPr>
            <a:lvl2pPr lvl="1" rtl="0">
              <a:buNone/>
              <a:defRPr sz="1300">
                <a:solidFill>
                  <a:schemeClr val="dk1"/>
                </a:solidFill>
                <a:latin typeface="Source Sans Pro"/>
                <a:ea typeface="Source Sans Pro"/>
                <a:cs typeface="Source Sans Pro"/>
                <a:sym typeface="Source Sans Pro"/>
              </a:defRPr>
            </a:lvl2pPr>
            <a:lvl3pPr lvl="2" rtl="0">
              <a:buNone/>
              <a:defRPr sz="1300">
                <a:solidFill>
                  <a:schemeClr val="dk1"/>
                </a:solidFill>
                <a:latin typeface="Source Sans Pro"/>
                <a:ea typeface="Source Sans Pro"/>
                <a:cs typeface="Source Sans Pro"/>
                <a:sym typeface="Source Sans Pro"/>
              </a:defRPr>
            </a:lvl3pPr>
            <a:lvl4pPr lvl="3" rtl="0">
              <a:buNone/>
              <a:defRPr sz="1300">
                <a:solidFill>
                  <a:schemeClr val="dk1"/>
                </a:solidFill>
                <a:latin typeface="Source Sans Pro"/>
                <a:ea typeface="Source Sans Pro"/>
                <a:cs typeface="Source Sans Pro"/>
                <a:sym typeface="Source Sans Pro"/>
              </a:defRPr>
            </a:lvl4pPr>
            <a:lvl5pPr lvl="4" rtl="0">
              <a:buNone/>
              <a:defRPr sz="1300">
                <a:solidFill>
                  <a:schemeClr val="dk1"/>
                </a:solidFill>
                <a:latin typeface="Source Sans Pro"/>
                <a:ea typeface="Source Sans Pro"/>
                <a:cs typeface="Source Sans Pro"/>
                <a:sym typeface="Source Sans Pro"/>
              </a:defRPr>
            </a:lvl5pPr>
            <a:lvl6pPr lvl="5" rtl="0">
              <a:buNone/>
              <a:defRPr sz="1300">
                <a:solidFill>
                  <a:schemeClr val="dk1"/>
                </a:solidFill>
                <a:latin typeface="Source Sans Pro"/>
                <a:ea typeface="Source Sans Pro"/>
                <a:cs typeface="Source Sans Pro"/>
                <a:sym typeface="Source Sans Pro"/>
              </a:defRPr>
            </a:lvl6pPr>
            <a:lvl7pPr lvl="6" rtl="0">
              <a:buNone/>
              <a:defRPr sz="1300">
                <a:solidFill>
                  <a:schemeClr val="dk1"/>
                </a:solidFill>
                <a:latin typeface="Source Sans Pro"/>
                <a:ea typeface="Source Sans Pro"/>
                <a:cs typeface="Source Sans Pro"/>
                <a:sym typeface="Source Sans Pro"/>
              </a:defRPr>
            </a:lvl7pPr>
            <a:lvl8pPr lvl="7" rtl="0">
              <a:buNone/>
              <a:defRPr sz="1300">
                <a:solidFill>
                  <a:schemeClr val="dk1"/>
                </a:solidFill>
                <a:latin typeface="Source Sans Pro"/>
                <a:ea typeface="Source Sans Pro"/>
                <a:cs typeface="Source Sans Pro"/>
                <a:sym typeface="Source Sans Pro"/>
              </a:defRPr>
            </a:lvl8pPr>
            <a:lvl9pPr lvl="8" rtl="0">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4. Two equal columns">
  <p:cSld name="BLANK_2">
    <p:bg>
      <p:bgPr>
        <a:solidFill>
          <a:srgbClr val="F3F3F3"/>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305550" y="174950"/>
            <a:ext cx="8274300" cy="7392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dk2"/>
              </a:buClr>
              <a:buSzPts val="3000"/>
              <a:buFont typeface="Source Serif Pro"/>
              <a:buNone/>
              <a:defRPr sz="3000">
                <a:solidFill>
                  <a:schemeClr val="dk2"/>
                </a:solidFill>
                <a:latin typeface="Source Serif Pro"/>
                <a:ea typeface="Source Serif Pro"/>
                <a:cs typeface="Source Serif Pro"/>
                <a:sym typeface="Source Serif Pro"/>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endParaRPr/>
          </a:p>
        </p:txBody>
      </p:sp>
      <p:cxnSp>
        <p:nvCxnSpPr>
          <p:cNvPr id="21" name="Google Shape;21;p4"/>
          <p:cNvCxnSpPr/>
          <p:nvPr/>
        </p:nvCxnSpPr>
        <p:spPr>
          <a:xfrm>
            <a:off x="379526" y="801485"/>
            <a:ext cx="8200200" cy="0"/>
          </a:xfrm>
          <a:prstGeom prst="straightConnector1">
            <a:avLst/>
          </a:prstGeom>
          <a:noFill/>
          <a:ln w="9525" cap="flat" cmpd="sng">
            <a:solidFill>
              <a:schemeClr val="dk2"/>
            </a:solidFill>
            <a:prstDash val="solid"/>
            <a:round/>
            <a:headEnd type="none" w="med" len="med"/>
            <a:tailEnd type="none" w="med" len="med"/>
          </a:ln>
        </p:spPr>
      </p:cxnSp>
      <p:sp>
        <p:nvSpPr>
          <p:cNvPr id="22" name="Google Shape;22;p4"/>
          <p:cNvSpPr txBox="1">
            <a:spLocks noGrp="1"/>
          </p:cNvSpPr>
          <p:nvPr>
            <p:ph type="body" idx="1"/>
          </p:nvPr>
        </p:nvSpPr>
        <p:spPr>
          <a:xfrm>
            <a:off x="317700" y="1073200"/>
            <a:ext cx="3901500" cy="35379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3" name="Google Shape;23;p4"/>
          <p:cNvSpPr txBox="1">
            <a:spLocks noGrp="1"/>
          </p:cNvSpPr>
          <p:nvPr>
            <p:ph type="body" idx="2"/>
          </p:nvPr>
        </p:nvSpPr>
        <p:spPr>
          <a:xfrm>
            <a:off x="4661100" y="1073200"/>
            <a:ext cx="3901500" cy="35379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24" name="Google Shape;24;p4"/>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rtl="0">
              <a:buNone/>
              <a:defRPr sz="1300">
                <a:solidFill>
                  <a:schemeClr val="dk1"/>
                </a:solidFill>
                <a:latin typeface="Source Sans Pro"/>
                <a:ea typeface="Source Sans Pro"/>
                <a:cs typeface="Source Sans Pro"/>
                <a:sym typeface="Source Sans Pro"/>
              </a:defRPr>
            </a:lvl1pPr>
            <a:lvl2pPr lvl="1" rtl="0">
              <a:buNone/>
              <a:defRPr sz="1300">
                <a:solidFill>
                  <a:schemeClr val="dk1"/>
                </a:solidFill>
                <a:latin typeface="Source Sans Pro"/>
                <a:ea typeface="Source Sans Pro"/>
                <a:cs typeface="Source Sans Pro"/>
                <a:sym typeface="Source Sans Pro"/>
              </a:defRPr>
            </a:lvl2pPr>
            <a:lvl3pPr lvl="2" rtl="0">
              <a:buNone/>
              <a:defRPr sz="1300">
                <a:solidFill>
                  <a:schemeClr val="dk1"/>
                </a:solidFill>
                <a:latin typeface="Source Sans Pro"/>
                <a:ea typeface="Source Sans Pro"/>
                <a:cs typeface="Source Sans Pro"/>
                <a:sym typeface="Source Sans Pro"/>
              </a:defRPr>
            </a:lvl3pPr>
            <a:lvl4pPr lvl="3" rtl="0">
              <a:buNone/>
              <a:defRPr sz="1300">
                <a:solidFill>
                  <a:schemeClr val="dk1"/>
                </a:solidFill>
                <a:latin typeface="Source Sans Pro"/>
                <a:ea typeface="Source Sans Pro"/>
                <a:cs typeface="Source Sans Pro"/>
                <a:sym typeface="Source Sans Pro"/>
              </a:defRPr>
            </a:lvl4pPr>
            <a:lvl5pPr lvl="4" rtl="0">
              <a:buNone/>
              <a:defRPr sz="1300">
                <a:solidFill>
                  <a:schemeClr val="dk1"/>
                </a:solidFill>
                <a:latin typeface="Source Sans Pro"/>
                <a:ea typeface="Source Sans Pro"/>
                <a:cs typeface="Source Sans Pro"/>
                <a:sym typeface="Source Sans Pro"/>
              </a:defRPr>
            </a:lvl5pPr>
            <a:lvl6pPr lvl="5" rtl="0">
              <a:buNone/>
              <a:defRPr sz="1300">
                <a:solidFill>
                  <a:schemeClr val="dk1"/>
                </a:solidFill>
                <a:latin typeface="Source Sans Pro"/>
                <a:ea typeface="Source Sans Pro"/>
                <a:cs typeface="Source Sans Pro"/>
                <a:sym typeface="Source Sans Pro"/>
              </a:defRPr>
            </a:lvl6pPr>
            <a:lvl7pPr lvl="6" rtl="0">
              <a:buNone/>
              <a:defRPr sz="1300">
                <a:solidFill>
                  <a:schemeClr val="dk1"/>
                </a:solidFill>
                <a:latin typeface="Source Sans Pro"/>
                <a:ea typeface="Source Sans Pro"/>
                <a:cs typeface="Source Sans Pro"/>
                <a:sym typeface="Source Sans Pro"/>
              </a:defRPr>
            </a:lvl7pPr>
            <a:lvl8pPr lvl="7" rtl="0">
              <a:buNone/>
              <a:defRPr sz="1300">
                <a:solidFill>
                  <a:schemeClr val="dk1"/>
                </a:solidFill>
                <a:latin typeface="Source Sans Pro"/>
                <a:ea typeface="Source Sans Pro"/>
                <a:cs typeface="Source Sans Pro"/>
                <a:sym typeface="Source Sans Pro"/>
              </a:defRPr>
            </a:lvl8pPr>
            <a:lvl9pPr lvl="8" rtl="0">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5. Blank">
  <p:cSld name="CUSTOM_1_1">
    <p:spTree>
      <p:nvGrpSpPr>
        <p:cNvPr id="1" name="Shape 25"/>
        <p:cNvGrpSpPr/>
        <p:nvPr/>
      </p:nvGrpSpPr>
      <p:grpSpPr>
        <a:xfrm>
          <a:off x="0" y="0"/>
          <a:ext cx="0" cy="0"/>
          <a:chOff x="0" y="0"/>
          <a:chExt cx="0" cy="0"/>
        </a:xfrm>
      </p:grpSpPr>
      <p:sp>
        <p:nvSpPr>
          <p:cNvPr id="26" name="Google Shape;26;p5"/>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rtl="0">
              <a:buNone/>
              <a:defRPr sz="1300">
                <a:solidFill>
                  <a:schemeClr val="dk1"/>
                </a:solidFill>
                <a:latin typeface="Source Sans Pro"/>
                <a:ea typeface="Source Sans Pro"/>
                <a:cs typeface="Source Sans Pro"/>
                <a:sym typeface="Source Sans Pro"/>
              </a:defRPr>
            </a:lvl1pPr>
            <a:lvl2pPr lvl="1" rtl="0">
              <a:buNone/>
              <a:defRPr sz="1300">
                <a:solidFill>
                  <a:schemeClr val="dk1"/>
                </a:solidFill>
                <a:latin typeface="Source Sans Pro"/>
                <a:ea typeface="Source Sans Pro"/>
                <a:cs typeface="Source Sans Pro"/>
                <a:sym typeface="Source Sans Pro"/>
              </a:defRPr>
            </a:lvl2pPr>
            <a:lvl3pPr lvl="2" rtl="0">
              <a:buNone/>
              <a:defRPr sz="1300">
                <a:solidFill>
                  <a:schemeClr val="dk1"/>
                </a:solidFill>
                <a:latin typeface="Source Sans Pro"/>
                <a:ea typeface="Source Sans Pro"/>
                <a:cs typeface="Source Sans Pro"/>
                <a:sym typeface="Source Sans Pro"/>
              </a:defRPr>
            </a:lvl3pPr>
            <a:lvl4pPr lvl="3" rtl="0">
              <a:buNone/>
              <a:defRPr sz="1300">
                <a:solidFill>
                  <a:schemeClr val="dk1"/>
                </a:solidFill>
                <a:latin typeface="Source Sans Pro"/>
                <a:ea typeface="Source Sans Pro"/>
                <a:cs typeface="Source Sans Pro"/>
                <a:sym typeface="Source Sans Pro"/>
              </a:defRPr>
            </a:lvl4pPr>
            <a:lvl5pPr lvl="4" rtl="0">
              <a:buNone/>
              <a:defRPr sz="1300">
                <a:solidFill>
                  <a:schemeClr val="dk1"/>
                </a:solidFill>
                <a:latin typeface="Source Sans Pro"/>
                <a:ea typeface="Source Sans Pro"/>
                <a:cs typeface="Source Sans Pro"/>
                <a:sym typeface="Source Sans Pro"/>
              </a:defRPr>
            </a:lvl5pPr>
            <a:lvl6pPr lvl="5" rtl="0">
              <a:buNone/>
              <a:defRPr sz="1300">
                <a:solidFill>
                  <a:schemeClr val="dk1"/>
                </a:solidFill>
                <a:latin typeface="Source Sans Pro"/>
                <a:ea typeface="Source Sans Pro"/>
                <a:cs typeface="Source Sans Pro"/>
                <a:sym typeface="Source Sans Pro"/>
              </a:defRPr>
            </a:lvl6pPr>
            <a:lvl7pPr lvl="6" rtl="0">
              <a:buNone/>
              <a:defRPr sz="1300">
                <a:solidFill>
                  <a:schemeClr val="dk1"/>
                </a:solidFill>
                <a:latin typeface="Source Sans Pro"/>
                <a:ea typeface="Source Sans Pro"/>
                <a:cs typeface="Source Sans Pro"/>
                <a:sym typeface="Source Sans Pro"/>
              </a:defRPr>
            </a:lvl7pPr>
            <a:lvl8pPr lvl="7" rtl="0">
              <a:buNone/>
              <a:defRPr sz="1300">
                <a:solidFill>
                  <a:schemeClr val="dk1"/>
                </a:solidFill>
                <a:latin typeface="Source Sans Pro"/>
                <a:ea typeface="Source Sans Pro"/>
                <a:cs typeface="Source Sans Pro"/>
                <a:sym typeface="Source Sans Pro"/>
              </a:defRPr>
            </a:lvl8pPr>
            <a:lvl9pPr lvl="8" rtl="0">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 Section header (book)">
  <p:cSld name="CUSTOM_3_1">
    <p:bg>
      <p:bgPr>
        <a:blipFill>
          <a:blip r:embed="rId2">
            <a:alphaModFix/>
          </a:blip>
          <a:stretch>
            <a:fillRect/>
          </a:stretch>
        </a:blipFill>
        <a:effectLst/>
      </p:bgPr>
    </p:bg>
    <p:spTree>
      <p:nvGrpSpPr>
        <p:cNvPr id="1" name="Shape 37"/>
        <p:cNvGrpSpPr/>
        <p:nvPr/>
      </p:nvGrpSpPr>
      <p:grpSpPr>
        <a:xfrm>
          <a:off x="0" y="0"/>
          <a:ext cx="0" cy="0"/>
          <a:chOff x="0" y="0"/>
          <a:chExt cx="0" cy="0"/>
        </a:xfrm>
      </p:grpSpPr>
      <p:pic>
        <p:nvPicPr>
          <p:cNvPr id="38" name="Google Shape;38;p8" descr="University of Sheffield logo"/>
          <p:cNvPicPr preferRelativeResize="0"/>
          <p:nvPr/>
        </p:nvPicPr>
        <p:blipFill>
          <a:blip r:embed="rId3">
            <a:alphaModFix/>
          </a:blip>
          <a:stretch>
            <a:fillRect/>
          </a:stretch>
        </p:blipFill>
        <p:spPr>
          <a:xfrm>
            <a:off x="584633" y="449439"/>
            <a:ext cx="1558350" cy="472725"/>
          </a:xfrm>
          <a:prstGeom prst="rect">
            <a:avLst/>
          </a:prstGeom>
          <a:noFill/>
          <a:ln>
            <a:noFill/>
          </a:ln>
        </p:spPr>
      </p:pic>
      <p:sp>
        <p:nvSpPr>
          <p:cNvPr id="39" name="Google Shape;39;p8"/>
          <p:cNvSpPr txBox="1">
            <a:spLocks noGrp="1"/>
          </p:cNvSpPr>
          <p:nvPr>
            <p:ph type="title"/>
          </p:nvPr>
        </p:nvSpPr>
        <p:spPr>
          <a:xfrm>
            <a:off x="464650" y="1223900"/>
            <a:ext cx="5914500" cy="27327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Clr>
                <a:schemeClr val="dk2"/>
              </a:buClr>
              <a:buSzPts val="5200"/>
              <a:buFont typeface="Source Serif Pro"/>
              <a:buNone/>
              <a:defRPr sz="52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0" name="Google Shape;40;p8"/>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a:buNone/>
              <a:defRPr sz="1300">
                <a:solidFill>
                  <a:schemeClr val="dk1"/>
                </a:solidFill>
                <a:latin typeface="Source Sans Pro"/>
                <a:ea typeface="Source Sans Pro"/>
                <a:cs typeface="Source Sans Pro"/>
                <a:sym typeface="Source Sans Pro"/>
              </a:defRPr>
            </a:lvl1pPr>
            <a:lvl2pPr lvl="1">
              <a:buNone/>
              <a:defRPr sz="1300">
                <a:solidFill>
                  <a:schemeClr val="dk1"/>
                </a:solidFill>
                <a:latin typeface="Source Sans Pro"/>
                <a:ea typeface="Source Sans Pro"/>
                <a:cs typeface="Source Sans Pro"/>
                <a:sym typeface="Source Sans Pro"/>
              </a:defRPr>
            </a:lvl2pPr>
            <a:lvl3pPr lvl="2">
              <a:buNone/>
              <a:defRPr sz="1300">
                <a:solidFill>
                  <a:schemeClr val="dk1"/>
                </a:solidFill>
                <a:latin typeface="Source Sans Pro"/>
                <a:ea typeface="Source Sans Pro"/>
                <a:cs typeface="Source Sans Pro"/>
                <a:sym typeface="Source Sans Pro"/>
              </a:defRPr>
            </a:lvl3pPr>
            <a:lvl4pPr lvl="3">
              <a:buNone/>
              <a:defRPr sz="1300">
                <a:solidFill>
                  <a:schemeClr val="dk1"/>
                </a:solidFill>
                <a:latin typeface="Source Sans Pro"/>
                <a:ea typeface="Source Sans Pro"/>
                <a:cs typeface="Source Sans Pro"/>
                <a:sym typeface="Source Sans Pro"/>
              </a:defRPr>
            </a:lvl4pPr>
            <a:lvl5pPr lvl="4">
              <a:buNone/>
              <a:defRPr sz="1300">
                <a:solidFill>
                  <a:schemeClr val="dk1"/>
                </a:solidFill>
                <a:latin typeface="Source Sans Pro"/>
                <a:ea typeface="Source Sans Pro"/>
                <a:cs typeface="Source Sans Pro"/>
                <a:sym typeface="Source Sans Pro"/>
              </a:defRPr>
            </a:lvl5pPr>
            <a:lvl6pPr lvl="5">
              <a:buNone/>
              <a:defRPr sz="1300">
                <a:solidFill>
                  <a:schemeClr val="dk1"/>
                </a:solidFill>
                <a:latin typeface="Source Sans Pro"/>
                <a:ea typeface="Source Sans Pro"/>
                <a:cs typeface="Source Sans Pro"/>
                <a:sym typeface="Source Sans Pro"/>
              </a:defRPr>
            </a:lvl6pPr>
            <a:lvl7pPr lvl="6">
              <a:buNone/>
              <a:defRPr sz="1300">
                <a:solidFill>
                  <a:schemeClr val="dk1"/>
                </a:solidFill>
                <a:latin typeface="Source Sans Pro"/>
                <a:ea typeface="Source Sans Pro"/>
                <a:cs typeface="Source Sans Pro"/>
                <a:sym typeface="Source Sans Pro"/>
              </a:defRPr>
            </a:lvl7pPr>
            <a:lvl8pPr lvl="7">
              <a:buNone/>
              <a:defRPr sz="1300">
                <a:solidFill>
                  <a:schemeClr val="dk1"/>
                </a:solidFill>
                <a:latin typeface="Source Sans Pro"/>
                <a:ea typeface="Source Sans Pro"/>
                <a:cs typeface="Source Sans Pro"/>
                <a:sym typeface="Source Sans Pro"/>
              </a:defRPr>
            </a:lvl8pPr>
            <a:lvl9pPr lvl="8">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 Section header (crown)">
  <p:cSld name="CUSTOM_3_1_1">
    <p:bg>
      <p:bgPr>
        <a:blipFill>
          <a:blip r:embed="rId2">
            <a:alphaModFix/>
          </a:blip>
          <a:stretch>
            <a:fillRect/>
          </a:stretch>
        </a:blipFill>
        <a:effectLst/>
      </p:bgPr>
    </p:bg>
    <p:spTree>
      <p:nvGrpSpPr>
        <p:cNvPr id="1" name="Shape 41"/>
        <p:cNvGrpSpPr/>
        <p:nvPr/>
      </p:nvGrpSpPr>
      <p:grpSpPr>
        <a:xfrm>
          <a:off x="0" y="0"/>
          <a:ext cx="0" cy="0"/>
          <a:chOff x="0" y="0"/>
          <a:chExt cx="0" cy="0"/>
        </a:xfrm>
      </p:grpSpPr>
      <p:pic>
        <p:nvPicPr>
          <p:cNvPr id="42" name="Google Shape;42;p9" descr="University of Sheffield logo"/>
          <p:cNvPicPr preferRelativeResize="0"/>
          <p:nvPr/>
        </p:nvPicPr>
        <p:blipFill>
          <a:blip r:embed="rId3">
            <a:alphaModFix/>
          </a:blip>
          <a:stretch>
            <a:fillRect/>
          </a:stretch>
        </p:blipFill>
        <p:spPr>
          <a:xfrm>
            <a:off x="584633" y="449439"/>
            <a:ext cx="1558350" cy="472725"/>
          </a:xfrm>
          <a:prstGeom prst="rect">
            <a:avLst/>
          </a:prstGeom>
          <a:noFill/>
          <a:ln>
            <a:noFill/>
          </a:ln>
        </p:spPr>
      </p:pic>
      <p:sp>
        <p:nvSpPr>
          <p:cNvPr id="43" name="Google Shape;43;p9"/>
          <p:cNvSpPr txBox="1">
            <a:spLocks noGrp="1"/>
          </p:cNvSpPr>
          <p:nvPr>
            <p:ph type="title"/>
          </p:nvPr>
        </p:nvSpPr>
        <p:spPr>
          <a:xfrm>
            <a:off x="464650" y="1223900"/>
            <a:ext cx="5502600" cy="27327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Clr>
                <a:schemeClr val="dk2"/>
              </a:buClr>
              <a:buSzPts val="5200"/>
              <a:buFont typeface="Source Serif Pro"/>
              <a:buNone/>
              <a:defRPr sz="52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4" name="Google Shape;44;p9"/>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a:buNone/>
              <a:defRPr sz="1300">
                <a:solidFill>
                  <a:schemeClr val="dk1"/>
                </a:solidFill>
                <a:latin typeface="Source Sans Pro"/>
                <a:ea typeface="Source Sans Pro"/>
                <a:cs typeface="Source Sans Pro"/>
                <a:sym typeface="Source Sans Pro"/>
              </a:defRPr>
            </a:lvl1pPr>
            <a:lvl2pPr lvl="1">
              <a:buNone/>
              <a:defRPr sz="1300">
                <a:solidFill>
                  <a:schemeClr val="dk1"/>
                </a:solidFill>
                <a:latin typeface="Source Sans Pro"/>
                <a:ea typeface="Source Sans Pro"/>
                <a:cs typeface="Source Sans Pro"/>
                <a:sym typeface="Source Sans Pro"/>
              </a:defRPr>
            </a:lvl2pPr>
            <a:lvl3pPr lvl="2">
              <a:buNone/>
              <a:defRPr sz="1300">
                <a:solidFill>
                  <a:schemeClr val="dk1"/>
                </a:solidFill>
                <a:latin typeface="Source Sans Pro"/>
                <a:ea typeface="Source Sans Pro"/>
                <a:cs typeface="Source Sans Pro"/>
                <a:sym typeface="Source Sans Pro"/>
              </a:defRPr>
            </a:lvl3pPr>
            <a:lvl4pPr lvl="3">
              <a:buNone/>
              <a:defRPr sz="1300">
                <a:solidFill>
                  <a:schemeClr val="dk1"/>
                </a:solidFill>
                <a:latin typeface="Source Sans Pro"/>
                <a:ea typeface="Source Sans Pro"/>
                <a:cs typeface="Source Sans Pro"/>
                <a:sym typeface="Source Sans Pro"/>
              </a:defRPr>
            </a:lvl4pPr>
            <a:lvl5pPr lvl="4">
              <a:buNone/>
              <a:defRPr sz="1300">
                <a:solidFill>
                  <a:schemeClr val="dk1"/>
                </a:solidFill>
                <a:latin typeface="Source Sans Pro"/>
                <a:ea typeface="Source Sans Pro"/>
                <a:cs typeface="Source Sans Pro"/>
                <a:sym typeface="Source Sans Pro"/>
              </a:defRPr>
            </a:lvl5pPr>
            <a:lvl6pPr lvl="5">
              <a:buNone/>
              <a:defRPr sz="1300">
                <a:solidFill>
                  <a:schemeClr val="dk1"/>
                </a:solidFill>
                <a:latin typeface="Source Sans Pro"/>
                <a:ea typeface="Source Sans Pro"/>
                <a:cs typeface="Source Sans Pro"/>
                <a:sym typeface="Source Sans Pro"/>
              </a:defRPr>
            </a:lvl6pPr>
            <a:lvl7pPr lvl="6">
              <a:buNone/>
              <a:defRPr sz="1300">
                <a:solidFill>
                  <a:schemeClr val="dk1"/>
                </a:solidFill>
                <a:latin typeface="Source Sans Pro"/>
                <a:ea typeface="Source Sans Pro"/>
                <a:cs typeface="Source Sans Pro"/>
                <a:sym typeface="Source Sans Pro"/>
              </a:defRPr>
            </a:lvl7pPr>
            <a:lvl8pPr lvl="7">
              <a:buNone/>
              <a:defRPr sz="1300">
                <a:solidFill>
                  <a:schemeClr val="dk1"/>
                </a:solidFill>
                <a:latin typeface="Source Sans Pro"/>
                <a:ea typeface="Source Sans Pro"/>
                <a:cs typeface="Source Sans Pro"/>
                <a:sym typeface="Source Sans Pro"/>
              </a:defRPr>
            </a:lvl8pPr>
            <a:lvl9pPr lvl="8">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 Section header (rose)">
  <p:cSld name="CUSTOM_3_1_1_1">
    <p:bg>
      <p:bgPr>
        <a:blipFill>
          <a:blip r:embed="rId2">
            <a:alphaModFix/>
          </a:blip>
          <a:stretch>
            <a:fillRect/>
          </a:stretch>
        </a:blipFill>
        <a:effectLst/>
      </p:bgPr>
    </p:bg>
    <p:spTree>
      <p:nvGrpSpPr>
        <p:cNvPr id="1" name="Shape 45"/>
        <p:cNvGrpSpPr/>
        <p:nvPr/>
      </p:nvGrpSpPr>
      <p:grpSpPr>
        <a:xfrm>
          <a:off x="0" y="0"/>
          <a:ext cx="0" cy="0"/>
          <a:chOff x="0" y="0"/>
          <a:chExt cx="0" cy="0"/>
        </a:xfrm>
      </p:grpSpPr>
      <p:pic>
        <p:nvPicPr>
          <p:cNvPr id="46" name="Google Shape;46;p10" descr="University of Sheffield logo"/>
          <p:cNvPicPr preferRelativeResize="0"/>
          <p:nvPr/>
        </p:nvPicPr>
        <p:blipFill>
          <a:blip r:embed="rId3">
            <a:alphaModFix/>
          </a:blip>
          <a:stretch>
            <a:fillRect/>
          </a:stretch>
        </p:blipFill>
        <p:spPr>
          <a:xfrm>
            <a:off x="584633" y="449439"/>
            <a:ext cx="1558350" cy="472725"/>
          </a:xfrm>
          <a:prstGeom prst="rect">
            <a:avLst/>
          </a:prstGeom>
          <a:noFill/>
          <a:ln>
            <a:noFill/>
          </a:ln>
        </p:spPr>
      </p:pic>
      <p:sp>
        <p:nvSpPr>
          <p:cNvPr id="47" name="Google Shape;47;p10"/>
          <p:cNvSpPr txBox="1">
            <a:spLocks noGrp="1"/>
          </p:cNvSpPr>
          <p:nvPr>
            <p:ph type="title"/>
          </p:nvPr>
        </p:nvSpPr>
        <p:spPr>
          <a:xfrm>
            <a:off x="464650" y="1223900"/>
            <a:ext cx="5984700" cy="2732700"/>
          </a:xfrm>
          <a:prstGeom prst="rect">
            <a:avLst/>
          </a:prstGeom>
        </p:spPr>
        <p:txBody>
          <a:bodyPr spcFirstLastPara="1" wrap="square" lIns="91425" tIns="91425" rIns="91425" bIns="91425" anchor="ctr" anchorCtr="0">
            <a:normAutofit/>
          </a:bodyPr>
          <a:lstStyle>
            <a:lvl1pPr lvl="0" rtl="0">
              <a:lnSpc>
                <a:spcPct val="90000"/>
              </a:lnSpc>
              <a:spcBef>
                <a:spcPts val="0"/>
              </a:spcBef>
              <a:spcAft>
                <a:spcPts val="0"/>
              </a:spcAft>
              <a:buClr>
                <a:schemeClr val="dk2"/>
              </a:buClr>
              <a:buSzPts val="5200"/>
              <a:buFont typeface="Source Serif Pro"/>
              <a:buNone/>
              <a:defRPr sz="5200">
                <a:solidFill>
                  <a:schemeClr val="dk2"/>
                </a:solidFill>
                <a:latin typeface="Source Serif Pro"/>
                <a:ea typeface="Source Serif Pro"/>
                <a:cs typeface="Source Serif Pro"/>
                <a:sym typeface="Source Serif Pr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8" name="Google Shape;48;p10"/>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lvl1pPr lvl="0">
              <a:buNone/>
              <a:defRPr sz="1300">
                <a:solidFill>
                  <a:schemeClr val="dk1"/>
                </a:solidFill>
                <a:latin typeface="Source Sans Pro"/>
                <a:ea typeface="Source Sans Pro"/>
                <a:cs typeface="Source Sans Pro"/>
                <a:sym typeface="Source Sans Pro"/>
              </a:defRPr>
            </a:lvl1pPr>
            <a:lvl2pPr lvl="1">
              <a:buNone/>
              <a:defRPr sz="1300">
                <a:solidFill>
                  <a:schemeClr val="dk1"/>
                </a:solidFill>
                <a:latin typeface="Source Sans Pro"/>
                <a:ea typeface="Source Sans Pro"/>
                <a:cs typeface="Source Sans Pro"/>
                <a:sym typeface="Source Sans Pro"/>
              </a:defRPr>
            </a:lvl2pPr>
            <a:lvl3pPr lvl="2">
              <a:buNone/>
              <a:defRPr sz="1300">
                <a:solidFill>
                  <a:schemeClr val="dk1"/>
                </a:solidFill>
                <a:latin typeface="Source Sans Pro"/>
                <a:ea typeface="Source Sans Pro"/>
                <a:cs typeface="Source Sans Pro"/>
                <a:sym typeface="Source Sans Pro"/>
              </a:defRPr>
            </a:lvl3pPr>
            <a:lvl4pPr lvl="3">
              <a:buNone/>
              <a:defRPr sz="1300">
                <a:solidFill>
                  <a:schemeClr val="dk1"/>
                </a:solidFill>
                <a:latin typeface="Source Sans Pro"/>
                <a:ea typeface="Source Sans Pro"/>
                <a:cs typeface="Source Sans Pro"/>
                <a:sym typeface="Source Sans Pro"/>
              </a:defRPr>
            </a:lvl4pPr>
            <a:lvl5pPr lvl="4">
              <a:buNone/>
              <a:defRPr sz="1300">
                <a:solidFill>
                  <a:schemeClr val="dk1"/>
                </a:solidFill>
                <a:latin typeface="Source Sans Pro"/>
                <a:ea typeface="Source Sans Pro"/>
                <a:cs typeface="Source Sans Pro"/>
                <a:sym typeface="Source Sans Pro"/>
              </a:defRPr>
            </a:lvl5pPr>
            <a:lvl6pPr lvl="5">
              <a:buNone/>
              <a:defRPr sz="1300">
                <a:solidFill>
                  <a:schemeClr val="dk1"/>
                </a:solidFill>
                <a:latin typeface="Source Sans Pro"/>
                <a:ea typeface="Source Sans Pro"/>
                <a:cs typeface="Source Sans Pro"/>
                <a:sym typeface="Source Sans Pro"/>
              </a:defRPr>
            </a:lvl6pPr>
            <a:lvl7pPr lvl="6">
              <a:buNone/>
              <a:defRPr sz="1300">
                <a:solidFill>
                  <a:schemeClr val="dk1"/>
                </a:solidFill>
                <a:latin typeface="Source Sans Pro"/>
                <a:ea typeface="Source Sans Pro"/>
                <a:cs typeface="Source Sans Pro"/>
                <a:sym typeface="Source Sans Pro"/>
              </a:defRPr>
            </a:lvl7pPr>
            <a:lvl8pPr lvl="7">
              <a:buNone/>
              <a:defRPr sz="1300">
                <a:solidFill>
                  <a:schemeClr val="dk1"/>
                </a:solidFill>
                <a:latin typeface="Source Sans Pro"/>
                <a:ea typeface="Source Sans Pro"/>
                <a:cs typeface="Source Sans Pro"/>
                <a:sym typeface="Source Sans Pro"/>
              </a:defRPr>
            </a:lvl8pPr>
            <a:lvl9pPr lvl="8">
              <a:buNone/>
              <a:defRPr sz="1300">
                <a:solidFill>
                  <a:schemeClr val="dk1"/>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3"/>
        <p:cNvGrpSpPr/>
        <p:nvPr/>
      </p:nvGrpSpPr>
      <p:grpSpPr>
        <a:xfrm>
          <a:off x="0" y="0"/>
          <a:ext cx="0" cy="0"/>
          <a:chOff x="0" y="0"/>
          <a:chExt cx="0" cy="0"/>
        </a:xfrm>
      </p:grpSpPr>
      <p:sp>
        <p:nvSpPr>
          <p:cNvPr id="54" name="Google Shape;54;p1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55" name="Google Shape;55;p1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6" name="Google Shape;56;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3F3F3"/>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Source Serif Pro"/>
              <a:buNone/>
              <a:defRPr sz="3000">
                <a:solidFill>
                  <a:schemeClr val="dk2"/>
                </a:solidFill>
                <a:latin typeface="Source Serif Pro"/>
                <a:ea typeface="Source Serif Pro"/>
                <a:cs typeface="Source Serif Pro"/>
                <a:sym typeface="Source Serif Pro"/>
              </a:defRPr>
            </a:lvl1pPr>
            <a:lvl2pPr lvl="1">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2pPr>
            <a:lvl3pPr lvl="2">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3pPr>
            <a:lvl4pPr lvl="3">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4pPr>
            <a:lvl5pPr lvl="4">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5pPr>
            <a:lvl6pPr lvl="5">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6pPr>
            <a:lvl7pPr lvl="6">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7pPr>
            <a:lvl8pPr lvl="7">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8pPr>
            <a:lvl9pPr lvl="8">
              <a:spcBef>
                <a:spcPts val="0"/>
              </a:spcBef>
              <a:spcAft>
                <a:spcPts val="0"/>
              </a:spcAft>
              <a:buClr>
                <a:schemeClr val="dk1"/>
              </a:buClr>
              <a:buSzPts val="2800"/>
              <a:buFont typeface="Source Sans Pro"/>
              <a:buNone/>
              <a:defRPr sz="2800">
                <a:solidFill>
                  <a:schemeClr val="dk1"/>
                </a:solidFill>
                <a:latin typeface="Source Sans Pro"/>
                <a:ea typeface="Source Sans Pro"/>
                <a:cs typeface="Source Sans Pro"/>
                <a:sym typeface="Source Sans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rgbClr val="131E29"/>
              </a:buClr>
              <a:buSzPts val="1800"/>
              <a:buFont typeface="Source Sans Pro"/>
              <a:buChar char="●"/>
              <a:defRPr sz="1800">
                <a:solidFill>
                  <a:srgbClr val="131E29"/>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dk1"/>
              </a:buClr>
              <a:buSzPts val="1400"/>
              <a:buFont typeface="Source Sans Pro"/>
              <a:buChar char="■"/>
              <a:defRPr>
                <a:solidFill>
                  <a:schemeClr val="dk1"/>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2"/>
                </a:solidFill>
                <a:latin typeface="Source Sans Pro"/>
                <a:ea typeface="Source Sans Pro"/>
                <a:cs typeface="Source Sans Pro"/>
                <a:sym typeface="Source Sans Pro"/>
              </a:defRPr>
            </a:lvl1pPr>
            <a:lvl2pPr lvl="1" algn="r">
              <a:buNone/>
              <a:defRPr sz="1300">
                <a:solidFill>
                  <a:schemeClr val="dk2"/>
                </a:solidFill>
                <a:latin typeface="Source Sans Pro"/>
                <a:ea typeface="Source Sans Pro"/>
                <a:cs typeface="Source Sans Pro"/>
                <a:sym typeface="Source Sans Pro"/>
              </a:defRPr>
            </a:lvl2pPr>
            <a:lvl3pPr lvl="2" algn="r">
              <a:buNone/>
              <a:defRPr sz="1300">
                <a:solidFill>
                  <a:schemeClr val="dk2"/>
                </a:solidFill>
                <a:latin typeface="Source Sans Pro"/>
                <a:ea typeface="Source Sans Pro"/>
                <a:cs typeface="Source Sans Pro"/>
                <a:sym typeface="Source Sans Pro"/>
              </a:defRPr>
            </a:lvl3pPr>
            <a:lvl4pPr lvl="3" algn="r">
              <a:buNone/>
              <a:defRPr sz="1300">
                <a:solidFill>
                  <a:schemeClr val="dk2"/>
                </a:solidFill>
                <a:latin typeface="Source Sans Pro"/>
                <a:ea typeface="Source Sans Pro"/>
                <a:cs typeface="Source Sans Pro"/>
                <a:sym typeface="Source Sans Pro"/>
              </a:defRPr>
            </a:lvl4pPr>
            <a:lvl5pPr lvl="4" algn="r">
              <a:buNone/>
              <a:defRPr sz="1300">
                <a:solidFill>
                  <a:schemeClr val="dk2"/>
                </a:solidFill>
                <a:latin typeface="Source Sans Pro"/>
                <a:ea typeface="Source Sans Pro"/>
                <a:cs typeface="Source Sans Pro"/>
                <a:sym typeface="Source Sans Pro"/>
              </a:defRPr>
            </a:lvl5pPr>
            <a:lvl6pPr lvl="5" algn="r">
              <a:buNone/>
              <a:defRPr sz="1300">
                <a:solidFill>
                  <a:schemeClr val="dk2"/>
                </a:solidFill>
                <a:latin typeface="Source Sans Pro"/>
                <a:ea typeface="Source Sans Pro"/>
                <a:cs typeface="Source Sans Pro"/>
                <a:sym typeface="Source Sans Pro"/>
              </a:defRPr>
            </a:lvl6pPr>
            <a:lvl7pPr lvl="6" algn="r">
              <a:buNone/>
              <a:defRPr sz="1300">
                <a:solidFill>
                  <a:schemeClr val="dk2"/>
                </a:solidFill>
                <a:latin typeface="Source Sans Pro"/>
                <a:ea typeface="Source Sans Pro"/>
                <a:cs typeface="Source Sans Pro"/>
                <a:sym typeface="Source Sans Pro"/>
              </a:defRPr>
            </a:lvl7pPr>
            <a:lvl8pPr lvl="7" algn="r">
              <a:buNone/>
              <a:defRPr sz="1300">
                <a:solidFill>
                  <a:schemeClr val="dk2"/>
                </a:solidFill>
                <a:latin typeface="Source Sans Pro"/>
                <a:ea typeface="Source Sans Pro"/>
                <a:cs typeface="Source Sans Pro"/>
                <a:sym typeface="Source Sans Pro"/>
              </a:defRPr>
            </a:lvl8pPr>
            <a:lvl9pPr lvl="8" algn="r">
              <a:buNone/>
              <a:defRPr sz="1300">
                <a:solidFill>
                  <a:schemeClr val="dk2"/>
                </a:solidFill>
                <a:latin typeface="Source Sans Pro"/>
                <a:ea typeface="Source Sans Pro"/>
                <a:cs typeface="Source Sans Pro"/>
                <a:sym typeface="Source Sans Pr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4" r:id="rId5"/>
    <p:sldLayoutId id="2147483655" r:id="rId6"/>
    <p:sldLayoutId id="2147483656" r:id="rId7"/>
    <p:sldLayoutId id="2147483658"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app.wooclap.com/events/BQRYOLH/live-session" TargetMode="Externa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pp.wooclap.com/events/BQRYOLH/live-session"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app.wooclap.com/events/BQRYOLH/live-session" TargetMode="External"/><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app.wooclap.com/events/BQRYOLH/live-session" TargetMode="Externa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app.wooclap.com/events/BQRYOLH/live-session" TargetMode="External"/><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youtu.be/MI-0W3_ndCg?si=CHA4y3xDX-HgvB4q" TargetMode="External"/></Relationships>
</file>

<file path=ppt/slides/_rels/slide46.xml.rels><?xml version="1.0" encoding="UTF-8" standalone="yes"?>
<Relationships xmlns="http://schemas.openxmlformats.org/package/2006/relationships"><Relationship Id="rId3" Type="http://schemas.openxmlformats.org/officeDocument/2006/relationships/hyperlink" Target="https://app.wooclap.com/events/BQRYOLH/live-session" TargetMode="External"/><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3"/>
          <p:cNvSpPr txBox="1">
            <a:spLocks noGrp="1"/>
          </p:cNvSpPr>
          <p:nvPr>
            <p:ph type="subTitle" idx="1"/>
          </p:nvPr>
        </p:nvSpPr>
        <p:spPr>
          <a:xfrm>
            <a:off x="389700" y="770107"/>
            <a:ext cx="8364600" cy="1178100"/>
          </a:xfrm>
          <a:prstGeom prst="rect">
            <a:avLst/>
          </a:prstGeom>
        </p:spPr>
        <p:txBody>
          <a:bodyPr spcFirstLastPara="1" wrap="square" lIns="91425" tIns="91425" rIns="91425" bIns="91425" anchor="t" anchorCtr="0">
            <a:noAutofit/>
          </a:bodyPr>
          <a:lstStyle/>
          <a:p>
            <a:pPr marL="0" indent="0" algn="ctr">
              <a:spcAft>
                <a:spcPts val="1200"/>
              </a:spcAft>
            </a:pPr>
            <a:r>
              <a:rPr lang="en-GB" sz="2800" b="1" dirty="0">
                <a:solidFill>
                  <a:schemeClr val="bg2"/>
                </a:solidFill>
              </a:rPr>
              <a:t>Operations and Supply Chain Management</a:t>
            </a:r>
          </a:p>
          <a:p>
            <a:pPr marL="0" lvl="0" indent="0" algn="ctr" rtl="0">
              <a:spcBef>
                <a:spcPts val="0"/>
              </a:spcBef>
              <a:spcAft>
                <a:spcPts val="1200"/>
              </a:spcAft>
              <a:buNone/>
            </a:pPr>
            <a:r>
              <a:rPr lang="pt-PT" sz="2800" b="1" dirty="0">
                <a:solidFill>
                  <a:schemeClr val="bg2"/>
                </a:solidFill>
              </a:rPr>
              <a:t>MGT6046</a:t>
            </a:r>
          </a:p>
          <a:p>
            <a:pPr marL="0" lvl="0" indent="0" algn="ctr" rtl="0">
              <a:spcBef>
                <a:spcPts val="0"/>
              </a:spcBef>
              <a:spcAft>
                <a:spcPts val="1200"/>
              </a:spcAft>
              <a:buNone/>
            </a:pPr>
            <a:endParaRPr lang="pt-PT" sz="2800" b="1" dirty="0">
              <a:solidFill>
                <a:schemeClr val="bg2"/>
              </a:solidFill>
            </a:endParaRPr>
          </a:p>
          <a:p>
            <a:pPr marL="0" lvl="0" indent="0" algn="ctr" rtl="0">
              <a:spcBef>
                <a:spcPts val="0"/>
              </a:spcBef>
              <a:spcAft>
                <a:spcPts val="1200"/>
              </a:spcAft>
              <a:buNone/>
            </a:pPr>
            <a:r>
              <a:rPr lang="pt-PT" sz="2800" b="1" dirty="0">
                <a:solidFill>
                  <a:schemeClr val="bg2"/>
                </a:solidFill>
              </a:rPr>
              <a:t>Productivity and Service Failure Analysis</a:t>
            </a:r>
          </a:p>
          <a:p>
            <a:pPr marL="0" lvl="0" indent="0" algn="ctr" rtl="0">
              <a:spcBef>
                <a:spcPts val="0"/>
              </a:spcBef>
              <a:spcAft>
                <a:spcPts val="1200"/>
              </a:spcAft>
              <a:buNone/>
            </a:pPr>
            <a:r>
              <a:rPr lang="pt-PT" sz="2800" b="1" dirty="0">
                <a:solidFill>
                  <a:schemeClr val="bg2"/>
                </a:solidFill>
              </a:rPr>
              <a:t>Dr Emilia Vann Yaroson</a:t>
            </a:r>
            <a:endParaRPr sz="2800" b="1" dirty="0">
              <a:solidFill>
                <a:schemeClr val="bg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E5F056DD-FF75-CA97-EDE2-59246AF2AB48}"/>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FAF440B7-34F2-582B-736A-B507D282220A}"/>
              </a:ext>
            </a:extLst>
          </p:cNvPr>
          <p:cNvSpPr txBox="1">
            <a:spLocks noGrp="1"/>
          </p:cNvSpPr>
          <p:nvPr>
            <p:ph type="title"/>
          </p:nvPr>
        </p:nvSpPr>
        <p:spPr>
          <a:xfrm>
            <a:off x="-89807" y="0"/>
            <a:ext cx="9446077" cy="914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GB" sz="3200" b="1" dirty="0">
                <a:latin typeface="+mj-lt"/>
              </a:rPr>
              <a:t>Learning Outcomes</a:t>
            </a:r>
            <a:endParaRPr sz="3200" b="1" dirty="0">
              <a:latin typeface="+mj-lt"/>
            </a:endParaRPr>
          </a:p>
        </p:txBody>
      </p:sp>
      <p:sp>
        <p:nvSpPr>
          <p:cNvPr id="501" name="LN0"/>
          <p:cNvSpPr/>
          <p:nvPr/>
        </p:nvSpPr>
        <p:spPr>
          <a:xfrm>
            <a:off x="274320" y="960120"/>
            <a:ext cx="384048" cy="384048"/>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1</a:t>
            </a:r>
          </a:p>
        </p:txBody>
      </p:sp>
      <p:sp>
        <p:nvSpPr>
          <p:cNvPr id="502" name="LT0"/>
          <p:cNvSpPr/>
          <p:nvPr/>
        </p:nvSpPr>
        <p:spPr>
          <a:xfrm>
            <a:off x="777240" y="914400"/>
            <a:ext cx="8092440" cy="45720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50" b="0" i="0" dirty="0">
                <a:solidFill>
                  <a:srgbClr val="1A1A1A"/>
                </a:solidFill>
              </a:rPr>
              <a:t>Calculate and interpret single-factor and multifactor productivity.</a:t>
            </a:r>
          </a:p>
        </p:txBody>
      </p:sp>
      <p:sp>
        <p:nvSpPr>
          <p:cNvPr id="503" name="LN1"/>
          <p:cNvSpPr/>
          <p:nvPr/>
        </p:nvSpPr>
        <p:spPr>
          <a:xfrm>
            <a:off x="274320" y="1463040"/>
            <a:ext cx="384048" cy="384048"/>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2</a:t>
            </a:r>
          </a:p>
        </p:txBody>
      </p:sp>
      <p:sp>
        <p:nvSpPr>
          <p:cNvPr id="504" name="LT1"/>
          <p:cNvSpPr/>
          <p:nvPr/>
        </p:nvSpPr>
        <p:spPr>
          <a:xfrm>
            <a:off x="777240" y="1417320"/>
            <a:ext cx="8092440" cy="45720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50" b="0" i="0" dirty="0">
                <a:solidFill>
                  <a:srgbClr val="1A1A1A"/>
                </a:solidFill>
              </a:rPr>
              <a:t>Calculate throughput time and throughput efficiency, using Little’s Law.</a:t>
            </a:r>
          </a:p>
        </p:txBody>
      </p:sp>
      <p:sp>
        <p:nvSpPr>
          <p:cNvPr id="505" name="LN2"/>
          <p:cNvSpPr/>
          <p:nvPr/>
        </p:nvSpPr>
        <p:spPr>
          <a:xfrm>
            <a:off x="274320" y="1965960"/>
            <a:ext cx="384048" cy="384048"/>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3</a:t>
            </a:r>
          </a:p>
        </p:txBody>
      </p:sp>
      <p:sp>
        <p:nvSpPr>
          <p:cNvPr id="506" name="LT2"/>
          <p:cNvSpPr/>
          <p:nvPr/>
        </p:nvSpPr>
        <p:spPr>
          <a:xfrm>
            <a:off x="777240" y="1920240"/>
            <a:ext cx="8092440" cy="45720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50" b="0" i="0" dirty="0">
                <a:solidFill>
                  <a:srgbClr val="1A1A1A"/>
                </a:solidFill>
              </a:rPr>
              <a:t>Explain delays using Lean, the Theory of Constraints and queueing theory.</a:t>
            </a:r>
          </a:p>
        </p:txBody>
      </p:sp>
      <p:sp>
        <p:nvSpPr>
          <p:cNvPr id="507" name="LN3"/>
          <p:cNvSpPr/>
          <p:nvPr/>
        </p:nvSpPr>
        <p:spPr>
          <a:xfrm>
            <a:off x="274320" y="2468880"/>
            <a:ext cx="384048" cy="384048"/>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4</a:t>
            </a:r>
          </a:p>
        </p:txBody>
      </p:sp>
      <p:sp>
        <p:nvSpPr>
          <p:cNvPr id="508" name="LT3"/>
          <p:cNvSpPr/>
          <p:nvPr/>
        </p:nvSpPr>
        <p:spPr>
          <a:xfrm>
            <a:off x="777240" y="2423160"/>
            <a:ext cx="8092440" cy="45720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50" b="0" i="0" dirty="0">
                <a:solidFill>
                  <a:srgbClr val="1A1A1A"/>
                </a:solidFill>
              </a:rPr>
              <a:t>Analyse service failures using service quality gaps and root-cause tools.</a:t>
            </a:r>
          </a:p>
        </p:txBody>
      </p:sp>
      <p:sp>
        <p:nvSpPr>
          <p:cNvPr id="509" name="LN4"/>
          <p:cNvSpPr/>
          <p:nvPr/>
        </p:nvSpPr>
        <p:spPr>
          <a:xfrm>
            <a:off x="274320" y="2971800"/>
            <a:ext cx="384048" cy="384048"/>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5</a:t>
            </a:r>
          </a:p>
        </p:txBody>
      </p:sp>
      <p:sp>
        <p:nvSpPr>
          <p:cNvPr id="510" name="LT4"/>
          <p:cNvSpPr/>
          <p:nvPr/>
        </p:nvSpPr>
        <p:spPr>
          <a:xfrm>
            <a:off x="777240" y="2926080"/>
            <a:ext cx="8092440" cy="45720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50" b="0" i="0" dirty="0">
                <a:solidFill>
                  <a:srgbClr val="1A1A1A"/>
                </a:solidFill>
              </a:rPr>
              <a:t>Distinguish service failure from intentional service sabotage.</a:t>
            </a:r>
          </a:p>
        </p:txBody>
      </p:sp>
      <p:sp>
        <p:nvSpPr>
          <p:cNvPr id="511" name="LN5"/>
          <p:cNvSpPr/>
          <p:nvPr/>
        </p:nvSpPr>
        <p:spPr>
          <a:xfrm>
            <a:off x="274320" y="3474720"/>
            <a:ext cx="384048" cy="384048"/>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6</a:t>
            </a:r>
          </a:p>
        </p:txBody>
      </p:sp>
      <p:sp>
        <p:nvSpPr>
          <p:cNvPr id="512" name="LT5"/>
          <p:cNvSpPr/>
          <p:nvPr/>
        </p:nvSpPr>
        <p:spPr>
          <a:xfrm>
            <a:off x="777240" y="3429000"/>
            <a:ext cx="8092440" cy="45720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50" b="0" i="0" dirty="0">
                <a:solidFill>
                  <a:srgbClr val="1A1A1A"/>
                </a:solidFill>
              </a:rPr>
              <a:t>Recommend improvements that balance productivity, flow and service.</a:t>
            </a:r>
          </a:p>
        </p:txBody>
      </p:sp>
    </p:spTree>
    <p:extLst>
      <p:ext uri="{BB962C8B-B14F-4D97-AF65-F5344CB8AC3E}">
        <p14:creationId xmlns:p14="http://schemas.microsoft.com/office/powerpoint/2010/main" val="213642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Module Outline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a:t>
            </a:fld>
            <a:endParaRPr lang="en"/>
          </a:p>
        </p:txBody>
      </p:sp>
      <p:sp>
        <p:nvSpPr>
          <p:cNvPr id="879" name="MHWk"/>
          <p:cNvSpPr/>
          <p:nvPr/>
        </p:nvSpPr>
        <p:spPr>
          <a:xfrm>
            <a:off x="274320" y="868680"/>
            <a:ext cx="374904" cy="347472"/>
          </a:xfrm>
          <a:prstGeom prst="rect">
            <a:avLst/>
          </a:prstGeom>
          <a:solidFill>
            <a:srgbClr val="440099"/>
          </a:solidFill>
          <a:ln>
            <a:noFill/>
          </a:ln>
        </p:spPr>
        <p:txBody>
          <a:bodyPr wrap="square" lIns="54864" tIns="54864" rIns="54864" bIns="54864" anchor="ctr">
            <a:noAutofit/>
          </a:bodyPr>
          <a:lstStyle/>
          <a:p>
            <a:pPr marL="0" indent="0" algn="l">
              <a:spcBef>
                <a:spcPts val="0"/>
              </a:spcBef>
              <a:spcAft>
                <a:spcPts val="0"/>
              </a:spcAft>
              <a:buNone/>
            </a:pPr>
            <a:r>
              <a:rPr lang="en-GB" sz="1100" b="1" i="0" dirty="0">
                <a:solidFill>
                  <a:srgbClr val="FFFFFF"/>
                </a:solidFill>
              </a:rPr>
              <a:t>Wk</a:t>
            </a:r>
          </a:p>
        </p:txBody>
      </p:sp>
      <p:sp>
        <p:nvSpPr>
          <p:cNvPr id="880" name="MHStarts"/>
          <p:cNvSpPr/>
          <p:nvPr/>
        </p:nvSpPr>
        <p:spPr>
          <a:xfrm>
            <a:off x="685800" y="868680"/>
            <a:ext cx="923544" cy="347472"/>
          </a:xfrm>
          <a:prstGeom prst="rect">
            <a:avLst/>
          </a:prstGeom>
          <a:solidFill>
            <a:srgbClr val="440099"/>
          </a:solidFill>
          <a:ln>
            <a:noFill/>
          </a:ln>
        </p:spPr>
        <p:txBody>
          <a:bodyPr wrap="square" lIns="54864" tIns="54864" rIns="54864" bIns="54864" anchor="ctr">
            <a:noAutofit/>
          </a:bodyPr>
          <a:lstStyle/>
          <a:p>
            <a:pPr marL="0" indent="0" algn="l">
              <a:spcBef>
                <a:spcPts val="0"/>
              </a:spcBef>
              <a:spcAft>
                <a:spcPts val="0"/>
              </a:spcAft>
              <a:buNone/>
            </a:pPr>
            <a:r>
              <a:rPr lang="en-GB" sz="1100" b="1" i="0" dirty="0">
                <a:solidFill>
                  <a:srgbClr val="FFFFFF"/>
                </a:solidFill>
              </a:rPr>
              <a:t>Starts</a:t>
            </a:r>
          </a:p>
        </p:txBody>
      </p:sp>
      <p:sp>
        <p:nvSpPr>
          <p:cNvPr id="881" name="MH4D"/>
          <p:cNvSpPr/>
          <p:nvPr/>
        </p:nvSpPr>
        <p:spPr>
          <a:xfrm>
            <a:off x="1645920" y="868680"/>
            <a:ext cx="877824" cy="347472"/>
          </a:xfrm>
          <a:prstGeom prst="rect">
            <a:avLst/>
          </a:prstGeom>
          <a:solidFill>
            <a:srgbClr val="440099"/>
          </a:solidFill>
          <a:ln>
            <a:noFill/>
          </a:ln>
        </p:spPr>
        <p:txBody>
          <a:bodyPr wrap="square" lIns="54864" tIns="54864" rIns="54864" bIns="54864" anchor="ctr">
            <a:noAutofit/>
          </a:bodyPr>
          <a:lstStyle/>
          <a:p>
            <a:pPr marL="0" indent="0" algn="l">
              <a:spcBef>
                <a:spcPts val="0"/>
              </a:spcBef>
              <a:spcAft>
                <a:spcPts val="0"/>
              </a:spcAft>
              <a:buNone/>
            </a:pPr>
            <a:r>
              <a:rPr lang="en-GB" sz="1100" b="1" i="0" dirty="0">
                <a:solidFill>
                  <a:srgbClr val="FFFFFF"/>
                </a:solidFill>
              </a:rPr>
              <a:t>4D</a:t>
            </a:r>
          </a:p>
        </p:txBody>
      </p:sp>
      <p:sp>
        <p:nvSpPr>
          <p:cNvPr id="882" name="MHLecture"/>
          <p:cNvSpPr/>
          <p:nvPr/>
        </p:nvSpPr>
        <p:spPr>
          <a:xfrm>
            <a:off x="2560320" y="868680"/>
            <a:ext cx="4169664" cy="347472"/>
          </a:xfrm>
          <a:prstGeom prst="rect">
            <a:avLst/>
          </a:prstGeom>
          <a:solidFill>
            <a:srgbClr val="440099"/>
          </a:solidFill>
          <a:ln>
            <a:noFill/>
          </a:ln>
        </p:spPr>
        <p:txBody>
          <a:bodyPr wrap="square" lIns="54864" tIns="54864" rIns="54864" bIns="54864" anchor="ctr">
            <a:noAutofit/>
          </a:bodyPr>
          <a:lstStyle/>
          <a:p>
            <a:pPr marL="0" indent="0" algn="l">
              <a:spcBef>
                <a:spcPts val="0"/>
              </a:spcBef>
              <a:spcAft>
                <a:spcPts val="0"/>
              </a:spcAft>
              <a:buNone/>
            </a:pPr>
            <a:r>
              <a:rPr lang="en-GB" sz="1100" b="1" i="0" dirty="0">
                <a:solidFill>
                  <a:srgbClr val="FFFFFF"/>
                </a:solidFill>
              </a:rPr>
              <a:t>Lecture</a:t>
            </a:r>
          </a:p>
        </p:txBody>
      </p:sp>
      <p:sp>
        <p:nvSpPr>
          <p:cNvPr id="883" name="MHTutorial"/>
          <p:cNvSpPr/>
          <p:nvPr/>
        </p:nvSpPr>
        <p:spPr>
          <a:xfrm>
            <a:off x="6766560" y="868680"/>
            <a:ext cx="2066544" cy="347472"/>
          </a:xfrm>
          <a:prstGeom prst="rect">
            <a:avLst/>
          </a:prstGeom>
          <a:solidFill>
            <a:srgbClr val="440099"/>
          </a:solidFill>
          <a:ln>
            <a:noFill/>
          </a:ln>
        </p:spPr>
        <p:txBody>
          <a:bodyPr wrap="square" lIns="54864" tIns="54864" rIns="54864" bIns="54864" anchor="ctr">
            <a:noAutofit/>
          </a:bodyPr>
          <a:lstStyle/>
          <a:p>
            <a:pPr marL="0" indent="0" algn="l">
              <a:spcBef>
                <a:spcPts val="0"/>
              </a:spcBef>
              <a:spcAft>
                <a:spcPts val="0"/>
              </a:spcAft>
              <a:buNone/>
            </a:pPr>
            <a:r>
              <a:rPr lang="en-GB" sz="1100" b="1" i="0" dirty="0">
                <a:solidFill>
                  <a:srgbClr val="FFFFFF"/>
                </a:solidFill>
              </a:rPr>
              <a:t>Tutorial</a:t>
            </a:r>
          </a:p>
        </p:txBody>
      </p:sp>
      <p:sp>
        <p:nvSpPr>
          <p:cNvPr id="884" name="MC00.3"/>
          <p:cNvSpPr/>
          <p:nvPr/>
        </p:nvSpPr>
        <p:spPr>
          <a:xfrm>
            <a:off x="274320" y="1252728"/>
            <a:ext cx="37490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ctr">
              <a:spcBef>
                <a:spcPts val="0"/>
              </a:spcBef>
              <a:spcAft>
                <a:spcPts val="0"/>
              </a:spcAft>
              <a:buNone/>
            </a:pPr>
            <a:r>
              <a:rPr lang="en-GB" sz="1150" b="1" i="0" dirty="0">
                <a:solidFill>
                  <a:srgbClr val="1A1A1A"/>
                </a:solidFill>
              </a:rPr>
              <a:t>1</a:t>
            </a:r>
          </a:p>
        </p:txBody>
      </p:sp>
      <p:sp>
        <p:nvSpPr>
          <p:cNvPr id="885" name="MC00.75"/>
          <p:cNvSpPr/>
          <p:nvPr/>
        </p:nvSpPr>
        <p:spPr>
          <a:xfrm>
            <a:off x="685800" y="1252728"/>
            <a:ext cx="92354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28 Sep 2026</a:t>
            </a:r>
          </a:p>
        </p:txBody>
      </p:sp>
      <p:sp>
        <p:nvSpPr>
          <p:cNvPr id="886" name="MC01.8"/>
          <p:cNvSpPr/>
          <p:nvPr/>
        </p:nvSpPr>
        <p:spPr>
          <a:xfrm>
            <a:off x="1645920" y="1252728"/>
            <a:ext cx="87782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Develop</a:t>
            </a:r>
          </a:p>
        </p:txBody>
      </p:sp>
      <p:sp>
        <p:nvSpPr>
          <p:cNvPr id="887" name="MC02.8"/>
          <p:cNvSpPr/>
          <p:nvPr/>
        </p:nvSpPr>
        <p:spPr>
          <a:xfrm>
            <a:off x="2560320" y="1252728"/>
            <a:ext cx="416966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60"/>
              </a:spcAft>
              <a:buNone/>
            </a:pPr>
            <a:r>
              <a:rPr lang="en-GB" sz="1050" b="1" i="0" dirty="0">
                <a:solidFill>
                  <a:srgbClr val="1A1A1A"/>
                </a:solidFill>
              </a:rPr>
              <a:t>Operations and Supply Chain Management Foundations</a:t>
            </a:r>
          </a:p>
          <a:p>
            <a:pPr marL="0" indent="0" algn="l">
              <a:spcBef>
                <a:spcPts val="0"/>
              </a:spcBef>
              <a:spcAft>
                <a:spcPts val="0"/>
              </a:spcAft>
              <a:buNone/>
            </a:pPr>
            <a:r>
              <a:rPr lang="en-GB" sz="900" b="0" i="0" dirty="0">
                <a:solidFill>
                  <a:srgbClr val="555555"/>
                </a:solidFill>
              </a:rPr>
              <a:t>Operations strategy, performance objectives, interdependencies and customer value.</a:t>
            </a:r>
          </a:p>
        </p:txBody>
      </p:sp>
      <p:sp>
        <p:nvSpPr>
          <p:cNvPr id="888" name="MC07.3999999999999995"/>
          <p:cNvSpPr/>
          <p:nvPr/>
        </p:nvSpPr>
        <p:spPr>
          <a:xfrm>
            <a:off x="6766560" y="1252728"/>
            <a:ext cx="206654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950" b="0" i="0" dirty="0">
                <a:solidFill>
                  <a:srgbClr val="1A1A1A"/>
                </a:solidFill>
              </a:rPr>
              <a:t>No tutorial</a:t>
            </a:r>
          </a:p>
        </p:txBody>
      </p:sp>
      <p:sp>
        <p:nvSpPr>
          <p:cNvPr id="889" name="MC10.3"/>
          <p:cNvSpPr/>
          <p:nvPr/>
        </p:nvSpPr>
        <p:spPr>
          <a:xfrm>
            <a:off x="274320" y="1837944"/>
            <a:ext cx="37490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ctr">
              <a:spcBef>
                <a:spcPts val="0"/>
              </a:spcBef>
              <a:spcAft>
                <a:spcPts val="0"/>
              </a:spcAft>
              <a:buNone/>
            </a:pPr>
            <a:r>
              <a:rPr lang="en-GB" sz="1150" b="1" i="0" dirty="0">
                <a:solidFill>
                  <a:srgbClr val="1A1A1A"/>
                </a:solidFill>
              </a:rPr>
              <a:t>2</a:t>
            </a:r>
          </a:p>
        </p:txBody>
      </p:sp>
      <p:sp>
        <p:nvSpPr>
          <p:cNvPr id="890" name="MC10.75"/>
          <p:cNvSpPr/>
          <p:nvPr/>
        </p:nvSpPr>
        <p:spPr>
          <a:xfrm>
            <a:off x="685800" y="1837944"/>
            <a:ext cx="92354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5 Oct 2026</a:t>
            </a:r>
          </a:p>
        </p:txBody>
      </p:sp>
      <p:sp>
        <p:nvSpPr>
          <p:cNvPr id="891" name="MC11.8"/>
          <p:cNvSpPr/>
          <p:nvPr/>
        </p:nvSpPr>
        <p:spPr>
          <a:xfrm>
            <a:off x="1645920" y="1837944"/>
            <a:ext cx="87782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Develop</a:t>
            </a:r>
          </a:p>
        </p:txBody>
      </p:sp>
      <p:sp>
        <p:nvSpPr>
          <p:cNvPr id="892" name="MC12.8"/>
          <p:cNvSpPr/>
          <p:nvPr/>
        </p:nvSpPr>
        <p:spPr>
          <a:xfrm>
            <a:off x="2560320" y="1837944"/>
            <a:ext cx="416966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60"/>
              </a:spcAft>
              <a:buNone/>
            </a:pPr>
            <a:r>
              <a:rPr lang="en-GB" sz="1050" b="1" i="0" dirty="0">
                <a:solidFill>
                  <a:srgbClr val="1A1A1A"/>
                </a:solidFill>
              </a:rPr>
              <a:t>Capacity, Utilisation, Efficiency and Little’s Law</a:t>
            </a:r>
          </a:p>
          <a:p>
            <a:pPr marL="0" indent="0" algn="l">
              <a:spcBef>
                <a:spcPts val="0"/>
              </a:spcBef>
              <a:spcAft>
                <a:spcPts val="0"/>
              </a:spcAft>
              <a:buNone/>
            </a:pPr>
            <a:r>
              <a:rPr lang="en-GB" sz="900" b="0" i="0" dirty="0">
                <a:solidFill>
                  <a:srgbClr val="555555"/>
                </a:solidFill>
              </a:rPr>
              <a:t>Design and effective capacity, utilisation, efficiency, WIP, throughput, flow time and demand–capacity relationships.</a:t>
            </a:r>
          </a:p>
        </p:txBody>
      </p:sp>
      <p:sp>
        <p:nvSpPr>
          <p:cNvPr id="893" name="MC17.3999999999999995"/>
          <p:cNvSpPr/>
          <p:nvPr/>
        </p:nvSpPr>
        <p:spPr>
          <a:xfrm>
            <a:off x="6766560" y="1837944"/>
            <a:ext cx="206654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950" b="0" i="0" dirty="0">
                <a:solidFill>
                  <a:srgbClr val="1A1A1A"/>
                </a:solidFill>
              </a:rPr>
              <a:t>No tutorial</a:t>
            </a:r>
          </a:p>
        </p:txBody>
      </p:sp>
      <p:sp>
        <p:nvSpPr>
          <p:cNvPr id="894" name="MC20.3"/>
          <p:cNvSpPr/>
          <p:nvPr/>
        </p:nvSpPr>
        <p:spPr>
          <a:xfrm>
            <a:off x="274320" y="2423160"/>
            <a:ext cx="374904" cy="548640"/>
          </a:xfrm>
          <a:prstGeom prst="rect">
            <a:avLst/>
          </a:prstGeom>
          <a:solidFill>
            <a:srgbClr val="EDE6F7"/>
          </a:solidFill>
          <a:ln w="12700">
            <a:solidFill>
              <a:srgbClr val="440099"/>
            </a:solidFill>
          </a:ln>
        </p:spPr>
        <p:txBody>
          <a:bodyPr wrap="square" lIns="45720" tIns="45720" rIns="45720" bIns="45720" anchor="ctr">
            <a:noAutofit/>
          </a:bodyPr>
          <a:lstStyle/>
          <a:p>
            <a:pPr marL="0" indent="0" algn="ctr">
              <a:spcBef>
                <a:spcPts val="0"/>
              </a:spcBef>
              <a:spcAft>
                <a:spcPts val="0"/>
              </a:spcAft>
              <a:buNone/>
            </a:pPr>
            <a:r>
              <a:rPr lang="en-GB" sz="1150" b="1" i="0" dirty="0">
                <a:solidFill>
                  <a:srgbClr val="440099"/>
                </a:solidFill>
              </a:rPr>
              <a:t>3</a:t>
            </a:r>
          </a:p>
        </p:txBody>
      </p:sp>
      <p:sp>
        <p:nvSpPr>
          <p:cNvPr id="895" name="MC20.75"/>
          <p:cNvSpPr/>
          <p:nvPr/>
        </p:nvSpPr>
        <p:spPr>
          <a:xfrm>
            <a:off x="685800" y="2423160"/>
            <a:ext cx="923544" cy="548640"/>
          </a:xfrm>
          <a:prstGeom prst="rect">
            <a:avLst/>
          </a:prstGeom>
          <a:solidFill>
            <a:srgbClr val="EDE6F7"/>
          </a:solidFill>
          <a:ln w="12700">
            <a:solidFill>
              <a:srgbClr val="440099"/>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12 Oct 2026</a:t>
            </a:r>
          </a:p>
        </p:txBody>
      </p:sp>
      <p:sp>
        <p:nvSpPr>
          <p:cNvPr id="896" name="MC21.8"/>
          <p:cNvSpPr/>
          <p:nvPr/>
        </p:nvSpPr>
        <p:spPr>
          <a:xfrm>
            <a:off x="1645920" y="2423160"/>
            <a:ext cx="877824" cy="548640"/>
          </a:xfrm>
          <a:prstGeom prst="rect">
            <a:avLst/>
          </a:prstGeom>
          <a:solidFill>
            <a:srgbClr val="EDE6F7"/>
          </a:solidFill>
          <a:ln w="12700">
            <a:solidFill>
              <a:srgbClr val="440099"/>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Design</a:t>
            </a:r>
          </a:p>
        </p:txBody>
      </p:sp>
      <p:sp>
        <p:nvSpPr>
          <p:cNvPr id="897" name="MC22.8"/>
          <p:cNvSpPr/>
          <p:nvPr/>
        </p:nvSpPr>
        <p:spPr>
          <a:xfrm>
            <a:off x="2560320" y="2423160"/>
            <a:ext cx="4169664" cy="548640"/>
          </a:xfrm>
          <a:prstGeom prst="rect">
            <a:avLst/>
          </a:prstGeom>
          <a:solidFill>
            <a:srgbClr val="EDE6F7"/>
          </a:solidFill>
          <a:ln w="12700">
            <a:solidFill>
              <a:srgbClr val="440099"/>
            </a:solidFill>
          </a:ln>
        </p:spPr>
        <p:txBody>
          <a:bodyPr wrap="square" lIns="45720" tIns="45720" rIns="45720" bIns="45720" anchor="ctr">
            <a:noAutofit/>
          </a:bodyPr>
          <a:lstStyle/>
          <a:p>
            <a:pPr marL="0" indent="0" algn="l">
              <a:spcBef>
                <a:spcPts val="0"/>
              </a:spcBef>
              <a:spcAft>
                <a:spcPts val="60"/>
              </a:spcAft>
              <a:buNone/>
            </a:pPr>
            <a:r>
              <a:rPr lang="en-GB" sz="1050" b="1" i="0" dirty="0">
                <a:solidFill>
                  <a:srgbClr val="440099"/>
                </a:solidFill>
              </a:rPr>
              <a:t>Productivity, Throughput and Service Failure Analysis</a:t>
            </a:r>
          </a:p>
          <a:p>
            <a:pPr marL="0" indent="0" algn="l">
              <a:spcBef>
                <a:spcPts val="0"/>
              </a:spcBef>
              <a:spcAft>
                <a:spcPts val="0"/>
              </a:spcAft>
              <a:buNone/>
            </a:pPr>
            <a:r>
              <a:rPr lang="en-GB" sz="900" b="0" i="0" dirty="0">
                <a:solidFill>
                  <a:srgbClr val="555555"/>
                </a:solidFill>
              </a:rPr>
              <a:t>Productivity, throughput efficiency, waiting, delays, capacity–demand mismatch and service failure, using operational and ERP data.</a:t>
            </a:r>
          </a:p>
        </p:txBody>
      </p:sp>
      <p:sp>
        <p:nvSpPr>
          <p:cNvPr id="898" name="MC27.3999999999999995"/>
          <p:cNvSpPr/>
          <p:nvPr/>
        </p:nvSpPr>
        <p:spPr>
          <a:xfrm>
            <a:off x="6766560" y="2423160"/>
            <a:ext cx="2066544" cy="548640"/>
          </a:xfrm>
          <a:prstGeom prst="rect">
            <a:avLst/>
          </a:prstGeom>
          <a:solidFill>
            <a:srgbClr val="EDE6F7"/>
          </a:solidFill>
          <a:ln w="12700">
            <a:solidFill>
              <a:srgbClr val="440099"/>
            </a:solidFill>
          </a:ln>
        </p:spPr>
        <p:txBody>
          <a:bodyPr wrap="square" lIns="45720" tIns="45720" rIns="45720" bIns="45720" anchor="ctr">
            <a:noAutofit/>
          </a:bodyPr>
          <a:lstStyle/>
          <a:p>
            <a:pPr marL="0" indent="0" algn="l">
              <a:spcBef>
                <a:spcPts val="0"/>
              </a:spcBef>
              <a:spcAft>
                <a:spcPts val="0"/>
              </a:spcAft>
              <a:buNone/>
            </a:pPr>
            <a:r>
              <a:rPr lang="en-GB" sz="950" b="0" i="0" dirty="0">
                <a:solidFill>
                  <a:srgbClr val="1A1A1A"/>
                </a:solidFill>
              </a:rPr>
              <a:t>Tutorial 1: applying Week 2 (capacity, utilisation, efficiency, Little’s Law, WIP, servers, strategy)</a:t>
            </a:r>
          </a:p>
        </p:txBody>
      </p:sp>
      <p:sp>
        <p:nvSpPr>
          <p:cNvPr id="899" name="MC30.3"/>
          <p:cNvSpPr/>
          <p:nvPr/>
        </p:nvSpPr>
        <p:spPr>
          <a:xfrm>
            <a:off x="274320" y="3008376"/>
            <a:ext cx="37490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ctr">
              <a:spcBef>
                <a:spcPts val="0"/>
              </a:spcBef>
              <a:spcAft>
                <a:spcPts val="0"/>
              </a:spcAft>
              <a:buNone/>
            </a:pPr>
            <a:r>
              <a:rPr lang="en-GB" sz="1150" b="1" i="0" dirty="0">
                <a:solidFill>
                  <a:srgbClr val="1A1A1A"/>
                </a:solidFill>
              </a:rPr>
              <a:t>4</a:t>
            </a:r>
          </a:p>
        </p:txBody>
      </p:sp>
      <p:sp>
        <p:nvSpPr>
          <p:cNvPr id="900" name="MC30.75"/>
          <p:cNvSpPr/>
          <p:nvPr/>
        </p:nvSpPr>
        <p:spPr>
          <a:xfrm>
            <a:off x="685800" y="3008376"/>
            <a:ext cx="92354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19 Oct 2026</a:t>
            </a:r>
          </a:p>
        </p:txBody>
      </p:sp>
      <p:sp>
        <p:nvSpPr>
          <p:cNvPr id="901" name="MC31.8"/>
          <p:cNvSpPr/>
          <p:nvPr/>
        </p:nvSpPr>
        <p:spPr>
          <a:xfrm>
            <a:off x="1645920" y="3008376"/>
            <a:ext cx="87782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Design</a:t>
            </a:r>
          </a:p>
        </p:txBody>
      </p:sp>
      <p:sp>
        <p:nvSpPr>
          <p:cNvPr id="902" name="MC32.8"/>
          <p:cNvSpPr/>
          <p:nvPr/>
        </p:nvSpPr>
        <p:spPr>
          <a:xfrm>
            <a:off x="2560320" y="3008376"/>
            <a:ext cx="416966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60"/>
              </a:spcAft>
              <a:buNone/>
            </a:pPr>
            <a:r>
              <a:rPr lang="en-GB" sz="1050" b="1" i="0" dirty="0">
                <a:solidFill>
                  <a:srgbClr val="1A1A1A"/>
                </a:solidFill>
              </a:rPr>
              <a:t>Designing Operations: Theory of Constraints, Line Balancing, ERP and Digitalisation</a:t>
            </a:r>
          </a:p>
          <a:p>
            <a:pPr marL="0" indent="0" algn="l">
              <a:spcBef>
                <a:spcPts val="0"/>
              </a:spcBef>
              <a:spcAft>
                <a:spcPts val="0"/>
              </a:spcAft>
              <a:buNone/>
            </a:pPr>
            <a:r>
              <a:rPr lang="en-GB" sz="900" b="0" i="0" dirty="0">
                <a:solidFill>
                  <a:srgbClr val="555555"/>
                </a:solidFill>
              </a:rPr>
              <a:t>Bottlenecks, cycle time, line balancing, ERP, automation, AI, IoT and real-time visibility.</a:t>
            </a:r>
          </a:p>
        </p:txBody>
      </p:sp>
      <p:sp>
        <p:nvSpPr>
          <p:cNvPr id="903" name="MC37.3999999999999995"/>
          <p:cNvSpPr/>
          <p:nvPr/>
        </p:nvSpPr>
        <p:spPr>
          <a:xfrm>
            <a:off x="6766560" y="3008376"/>
            <a:ext cx="206654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950" b="0" i="0" dirty="0">
                <a:solidFill>
                  <a:srgbClr val="1A1A1A"/>
                </a:solidFill>
              </a:rPr>
              <a:t>No tutorial</a:t>
            </a:r>
          </a:p>
        </p:txBody>
      </p:sp>
      <p:sp>
        <p:nvSpPr>
          <p:cNvPr id="904" name="MC40.3"/>
          <p:cNvSpPr/>
          <p:nvPr/>
        </p:nvSpPr>
        <p:spPr>
          <a:xfrm>
            <a:off x="274320" y="3593592"/>
            <a:ext cx="37490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ctr">
              <a:spcBef>
                <a:spcPts val="0"/>
              </a:spcBef>
              <a:spcAft>
                <a:spcPts val="0"/>
              </a:spcAft>
              <a:buNone/>
            </a:pPr>
            <a:r>
              <a:rPr lang="en-GB" sz="1150" b="1" i="0" dirty="0">
                <a:solidFill>
                  <a:srgbClr val="1A1A1A"/>
                </a:solidFill>
              </a:rPr>
              <a:t>5</a:t>
            </a:r>
          </a:p>
        </p:txBody>
      </p:sp>
      <p:sp>
        <p:nvSpPr>
          <p:cNvPr id="905" name="MC40.75"/>
          <p:cNvSpPr/>
          <p:nvPr/>
        </p:nvSpPr>
        <p:spPr>
          <a:xfrm>
            <a:off x="685800" y="3593592"/>
            <a:ext cx="92354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26 Oct 2026</a:t>
            </a:r>
          </a:p>
        </p:txBody>
      </p:sp>
      <p:sp>
        <p:nvSpPr>
          <p:cNvPr id="906" name="MC41.8"/>
          <p:cNvSpPr/>
          <p:nvPr/>
        </p:nvSpPr>
        <p:spPr>
          <a:xfrm>
            <a:off x="1645920" y="3593592"/>
            <a:ext cx="87782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Delivering operations</a:t>
            </a:r>
          </a:p>
        </p:txBody>
      </p:sp>
      <p:sp>
        <p:nvSpPr>
          <p:cNvPr id="907" name="MC42.8"/>
          <p:cNvSpPr/>
          <p:nvPr/>
        </p:nvSpPr>
        <p:spPr>
          <a:xfrm>
            <a:off x="2560320" y="3593592"/>
            <a:ext cx="416966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60"/>
              </a:spcAft>
              <a:buNone/>
            </a:pPr>
            <a:r>
              <a:rPr lang="en-GB" sz="1050" b="1" i="0" dirty="0">
                <a:solidFill>
                  <a:srgbClr val="1A1A1A"/>
                </a:solidFill>
              </a:rPr>
              <a:t>Supply Chain Management</a:t>
            </a:r>
          </a:p>
          <a:p>
            <a:pPr marL="0" indent="0" algn="l">
              <a:spcBef>
                <a:spcPts val="0"/>
              </a:spcBef>
              <a:spcAft>
                <a:spcPts val="0"/>
              </a:spcAft>
              <a:buNone/>
            </a:pPr>
            <a:r>
              <a:rPr lang="en-GB" sz="900" b="0" i="0" dirty="0">
                <a:solidFill>
                  <a:srgbClr val="555555"/>
                </a:solidFill>
              </a:rPr>
              <a:t>Disruptions, resilience and sustainability.</a:t>
            </a:r>
          </a:p>
        </p:txBody>
      </p:sp>
      <p:sp>
        <p:nvSpPr>
          <p:cNvPr id="908" name="MC47.3999999999999995"/>
          <p:cNvSpPr/>
          <p:nvPr/>
        </p:nvSpPr>
        <p:spPr>
          <a:xfrm>
            <a:off x="6766560" y="3593592"/>
            <a:ext cx="2066544" cy="548640"/>
          </a:xfrm>
          <a:prstGeom prst="rect">
            <a:avLst/>
          </a:prstGeom>
          <a:solidFill>
            <a:srgbClr val="FFFFFF"/>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950" b="0" i="0" dirty="0">
                <a:solidFill>
                  <a:srgbClr val="1A1A1A"/>
                </a:solidFill>
              </a:rPr>
              <a:t>Tutorial 2: applying Week 4 (TOC, bottlenecks, idle time, balancing loss, productivity, ERP data)</a:t>
            </a:r>
          </a:p>
        </p:txBody>
      </p:sp>
      <p:sp>
        <p:nvSpPr>
          <p:cNvPr id="909" name="MC50.3"/>
          <p:cNvSpPr/>
          <p:nvPr/>
        </p:nvSpPr>
        <p:spPr>
          <a:xfrm>
            <a:off x="274320" y="4178808"/>
            <a:ext cx="37490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ctr">
              <a:spcBef>
                <a:spcPts val="0"/>
              </a:spcBef>
              <a:spcAft>
                <a:spcPts val="0"/>
              </a:spcAft>
              <a:buNone/>
            </a:pPr>
            <a:r>
              <a:rPr lang="en-GB" sz="1150" b="1" i="0" dirty="0">
                <a:solidFill>
                  <a:srgbClr val="1A1A1A"/>
                </a:solidFill>
              </a:rPr>
              <a:t>6</a:t>
            </a:r>
          </a:p>
        </p:txBody>
      </p:sp>
      <p:sp>
        <p:nvSpPr>
          <p:cNvPr id="910" name="MC50.75"/>
          <p:cNvSpPr/>
          <p:nvPr/>
        </p:nvSpPr>
        <p:spPr>
          <a:xfrm>
            <a:off x="685800" y="4178808"/>
            <a:ext cx="92354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2 Nov 2026</a:t>
            </a:r>
          </a:p>
        </p:txBody>
      </p:sp>
      <p:sp>
        <p:nvSpPr>
          <p:cNvPr id="911" name="MC51.8"/>
          <p:cNvSpPr/>
          <p:nvPr/>
        </p:nvSpPr>
        <p:spPr>
          <a:xfrm>
            <a:off x="1645920" y="4178808"/>
            <a:ext cx="87782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1000" b="0" i="0" dirty="0">
                <a:solidFill>
                  <a:srgbClr val="1A1A1A"/>
                </a:solidFill>
              </a:rPr>
              <a:t>Deliver</a:t>
            </a:r>
          </a:p>
        </p:txBody>
      </p:sp>
      <p:sp>
        <p:nvSpPr>
          <p:cNvPr id="912" name="MC52.8"/>
          <p:cNvSpPr/>
          <p:nvPr/>
        </p:nvSpPr>
        <p:spPr>
          <a:xfrm>
            <a:off x="2560320" y="4178808"/>
            <a:ext cx="416966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60"/>
              </a:spcAft>
              <a:buNone/>
            </a:pPr>
            <a:r>
              <a:rPr lang="en-GB" sz="1050" b="1" i="0" dirty="0">
                <a:solidFill>
                  <a:srgbClr val="1A1A1A"/>
                </a:solidFill>
              </a:rPr>
              <a:t>Make-or-Buy Decisions and Break-even Analysis</a:t>
            </a:r>
          </a:p>
        </p:txBody>
      </p:sp>
      <p:sp>
        <p:nvSpPr>
          <p:cNvPr id="913" name="MC57.3999999999999995"/>
          <p:cNvSpPr/>
          <p:nvPr/>
        </p:nvSpPr>
        <p:spPr>
          <a:xfrm>
            <a:off x="6766560" y="4178808"/>
            <a:ext cx="2066544" cy="548640"/>
          </a:xfrm>
          <a:prstGeom prst="rect">
            <a:avLst/>
          </a:prstGeom>
          <a:solidFill>
            <a:srgbClr val="F7F7F7"/>
          </a:solidFill>
          <a:ln w="12700">
            <a:solidFill>
              <a:srgbClr val="D5D0DE"/>
            </a:solidFill>
          </a:ln>
        </p:spPr>
        <p:txBody>
          <a:bodyPr wrap="square" lIns="45720" tIns="45720" rIns="45720" bIns="45720" anchor="ctr">
            <a:noAutofit/>
          </a:bodyPr>
          <a:lstStyle/>
          <a:p>
            <a:pPr marL="0" indent="0" algn="l">
              <a:spcBef>
                <a:spcPts val="0"/>
              </a:spcBef>
              <a:spcAft>
                <a:spcPts val="0"/>
              </a:spcAft>
              <a:buNone/>
            </a:pPr>
            <a:r>
              <a:rPr lang="en-GB" sz="950" b="0" i="0" dirty="0">
                <a:solidFill>
                  <a:srgbClr val="1A1A1A"/>
                </a:solidFill>
              </a:rPr>
              <a:t>No tutorial</a:t>
            </a:r>
          </a:p>
        </p:txBody>
      </p:sp>
    </p:spTree>
    <p:extLst>
      <p:ext uri="{BB962C8B-B14F-4D97-AF65-F5344CB8AC3E}">
        <p14:creationId xmlns:p14="http://schemas.microsoft.com/office/powerpoint/2010/main" val="3651354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5F45992C-81AE-E999-66E9-428C83700356}"/>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71349741-6AA3-86F5-339A-1D3C6AC0895E}"/>
              </a:ext>
            </a:extLst>
          </p:cNvPr>
          <p:cNvSpPr txBox="1">
            <a:spLocks noGrp="1"/>
          </p:cNvSpPr>
          <p:nvPr>
            <p:ph type="title"/>
          </p:nvPr>
        </p:nvSpPr>
        <p:spPr>
          <a:xfrm>
            <a:off x="2736493" y="315936"/>
            <a:ext cx="4243971" cy="572700"/>
          </a:xfrm>
        </p:spPr>
        <p:txBody>
          <a:bodyPr spcFirstLastPara="1" wrap="square" lIns="91425" tIns="91425" rIns="91425" bIns="91425" anchor="ctr" anchorCtr="0">
            <a:normAutofit/>
          </a:bodyPr>
          <a:lstStyle/>
          <a:p>
            <a:pPr marL="0" lvl="0" indent="0" rtl="0">
              <a:spcBef>
                <a:spcPts val="0"/>
              </a:spcBef>
              <a:spcAft>
                <a:spcPts val="0"/>
              </a:spcAft>
              <a:buNone/>
            </a:pPr>
            <a:r>
              <a:rPr lang="en-GB" sz="2500" b="1" dirty="0"/>
              <a:t>Answers</a:t>
            </a:r>
          </a:p>
        </p:txBody>
      </p:sp>
      <p:sp>
        <p:nvSpPr>
          <p:cNvPr id="73" name="Slide Number Placeholder 2">
            <a:extLst>
              <a:ext uri="{FF2B5EF4-FFF2-40B4-BE49-F238E27FC236}">
                <a16:creationId xmlns:a16="http://schemas.microsoft.com/office/drawing/2014/main" id="{2D96FEEC-E9D5-7281-CEB4-995941BDEC1C}"/>
              </a:ext>
            </a:extLst>
          </p:cNvPr>
          <p:cNvSpPr>
            <a:spLocks noGrp="1"/>
          </p:cNvSpPr>
          <p:nvPr>
            <p:ph type="sldNum" idx="12"/>
          </p:nvPr>
        </p:nvSpPr>
        <p:spPr>
          <a:xfrm>
            <a:off x="8444334" y="4745726"/>
            <a:ext cx="548700" cy="393600"/>
          </a:xfrm>
        </p:spPr>
        <p:txBody>
          <a:bodyPr wrap="square" anchor="t">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4</a:t>
            </a:fld>
            <a:endParaRPr lang="en" sz="900"/>
          </a:p>
        </p:txBody>
      </p:sp>
      <p:sp>
        <p:nvSpPr>
          <p:cNvPr id="9" name="TextBox 8">
            <a:extLst>
              <a:ext uri="{FF2B5EF4-FFF2-40B4-BE49-F238E27FC236}">
                <a16:creationId xmlns:a16="http://schemas.microsoft.com/office/drawing/2014/main" id="{317C1211-12FF-3215-2891-C93C74F98937}"/>
              </a:ext>
            </a:extLst>
          </p:cNvPr>
          <p:cNvSpPr txBox="1"/>
          <p:nvPr/>
        </p:nvSpPr>
        <p:spPr>
          <a:xfrm>
            <a:off x="4572000" y="4076450"/>
            <a:ext cx="5670096" cy="307777"/>
          </a:xfrm>
          <a:prstGeom prst="rect">
            <a:avLst/>
          </a:prstGeom>
          <a:noFill/>
        </p:spPr>
        <p:txBody>
          <a:bodyPr wrap="square">
            <a:spAutoFit/>
          </a:bodyPr>
          <a:lstStyle/>
          <a:p>
            <a:r>
              <a:rPr lang="en-GB" dirty="0">
                <a:hlinkClick r:id="rId3"/>
              </a:rPr>
              <a:t>Edit Productivity and Service Failure - </a:t>
            </a:r>
            <a:r>
              <a:rPr lang="en-GB" dirty="0" err="1">
                <a:hlinkClick r:id="rId3"/>
              </a:rPr>
              <a:t>Wooclap</a:t>
            </a:r>
            <a:endParaRPr lang="en-GB" dirty="0"/>
          </a:p>
        </p:txBody>
      </p:sp>
      <p:sp>
        <p:nvSpPr>
          <p:cNvPr id="3" name="TextBox 2">
            <a:extLst>
              <a:ext uri="{FF2B5EF4-FFF2-40B4-BE49-F238E27FC236}">
                <a16:creationId xmlns:a16="http://schemas.microsoft.com/office/drawing/2014/main" id="{EF236539-4699-ADE3-D014-83D4922F09A4}"/>
              </a:ext>
            </a:extLst>
          </p:cNvPr>
          <p:cNvSpPr txBox="1"/>
          <p:nvPr/>
        </p:nvSpPr>
        <p:spPr>
          <a:xfrm>
            <a:off x="4678134" y="2310140"/>
            <a:ext cx="3600451" cy="523220"/>
          </a:xfrm>
          <a:prstGeom prst="rect">
            <a:avLst/>
          </a:prstGeom>
          <a:noFill/>
        </p:spPr>
        <p:txBody>
          <a:bodyPr wrap="square">
            <a:spAutoFit/>
          </a:bodyPr>
          <a:lstStyle/>
          <a:p>
            <a:r>
              <a:rPr lang="en-GB" dirty="0"/>
              <a:t>https://app.wooclap.com/</a:t>
            </a:r>
            <a:r>
              <a:rPr lang="en-GB" b="1" dirty="0"/>
              <a:t>BQRYOLH</a:t>
            </a:r>
            <a:r>
              <a:rPr lang="en-GB" dirty="0"/>
              <a:t>?from=instruction-slide</a:t>
            </a:r>
          </a:p>
        </p:txBody>
      </p:sp>
      <p:pic>
        <p:nvPicPr>
          <p:cNvPr id="6" name="Picture 5">
            <a:extLst>
              <a:ext uri="{FF2B5EF4-FFF2-40B4-BE49-F238E27FC236}">
                <a16:creationId xmlns:a16="http://schemas.microsoft.com/office/drawing/2014/main" id="{D5D83284-BF7A-F4CE-BC79-D2F17B102560}"/>
              </a:ext>
            </a:extLst>
          </p:cNvPr>
          <p:cNvPicPr>
            <a:picLocks noChangeAspect="1"/>
          </p:cNvPicPr>
          <p:nvPr/>
        </p:nvPicPr>
        <p:blipFill>
          <a:blip r:embed="rId4"/>
          <a:stretch>
            <a:fillRect/>
          </a:stretch>
        </p:blipFill>
        <p:spPr>
          <a:xfrm>
            <a:off x="62689" y="930914"/>
            <a:ext cx="4243971" cy="4243971"/>
          </a:xfrm>
          <a:prstGeom prst="rect">
            <a:avLst/>
          </a:prstGeom>
        </p:spPr>
      </p:pic>
    </p:spTree>
    <p:extLst>
      <p:ext uri="{BB962C8B-B14F-4D97-AF65-F5344CB8AC3E}">
        <p14:creationId xmlns:p14="http://schemas.microsoft.com/office/powerpoint/2010/main" val="3755200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The Operational Performance Puzzle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5</a:t>
            </a:fld>
            <a:endParaRPr lang="en"/>
          </a:p>
        </p:txBody>
      </p:sp>
      <p:sp>
        <p:nvSpPr>
          <p:cNvPr id="513" name="C0Produc"/>
          <p:cNvSpPr/>
          <p:nvPr/>
        </p:nvSpPr>
        <p:spPr>
          <a:xfrm>
            <a:off x="274320" y="1051560"/>
            <a:ext cx="2761488" cy="1600200"/>
          </a:xfrm>
          <a:prstGeom prst="roundRect">
            <a:avLst>
              <a:gd name="adj" fmla="val 12000"/>
            </a:avLst>
          </a:prstGeom>
          <a:solidFill>
            <a:srgbClr val="440099"/>
          </a:solidFill>
          <a:ln>
            <a:no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FFFFFF"/>
                </a:solidFill>
              </a:rPr>
              <a:t>Productivity</a:t>
            </a:r>
          </a:p>
          <a:p>
            <a:pPr marL="0" indent="0" algn="l">
              <a:spcBef>
                <a:spcPts val="0"/>
              </a:spcBef>
              <a:spcAft>
                <a:spcPts val="0"/>
              </a:spcAft>
              <a:buNone/>
            </a:pPr>
            <a:r>
              <a:rPr lang="en-GB" sz="1700" b="0" i="0" dirty="0">
                <a:solidFill>
                  <a:srgbClr val="FFFFFF"/>
                </a:solidFill>
              </a:rPr>
              <a:t>How much output per unit of input?</a:t>
            </a:r>
          </a:p>
        </p:txBody>
      </p:sp>
      <p:sp>
        <p:nvSpPr>
          <p:cNvPr id="514" name="C1Throug"/>
          <p:cNvSpPr/>
          <p:nvPr/>
        </p:nvSpPr>
        <p:spPr>
          <a:xfrm>
            <a:off x="3191256" y="1051560"/>
            <a:ext cx="2761488" cy="1600200"/>
          </a:xfrm>
          <a:prstGeom prst="roundRect">
            <a:avLst>
              <a:gd name="adj" fmla="val 12000"/>
            </a:avLst>
          </a:prstGeom>
          <a:solidFill>
            <a:srgbClr val="440099"/>
          </a:solidFill>
          <a:ln>
            <a:no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FFFFFF"/>
                </a:solidFill>
              </a:rPr>
              <a:t>Throughput efficiency</a:t>
            </a:r>
          </a:p>
          <a:p>
            <a:pPr marL="0" indent="0" algn="l">
              <a:spcBef>
                <a:spcPts val="0"/>
              </a:spcBef>
              <a:spcAft>
                <a:spcPts val="0"/>
              </a:spcAft>
              <a:buNone/>
            </a:pPr>
            <a:r>
              <a:rPr lang="en-GB" sz="1700" b="0" i="0" dirty="0">
                <a:solidFill>
                  <a:srgbClr val="FFFFFF"/>
                </a:solidFill>
              </a:rPr>
              <a:t>What share of time in the process adds value?</a:t>
            </a:r>
          </a:p>
        </p:txBody>
      </p:sp>
      <p:sp>
        <p:nvSpPr>
          <p:cNvPr id="515" name="C2Servic"/>
          <p:cNvSpPr/>
          <p:nvPr/>
        </p:nvSpPr>
        <p:spPr>
          <a:xfrm>
            <a:off x="6108192" y="1051560"/>
            <a:ext cx="2761488" cy="1600200"/>
          </a:xfrm>
          <a:prstGeom prst="roundRect">
            <a:avLst>
              <a:gd name="adj" fmla="val 12000"/>
            </a:avLst>
          </a:prstGeom>
          <a:solidFill>
            <a:srgbClr val="440099"/>
          </a:solidFill>
          <a:ln>
            <a:no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FFFFFF"/>
                </a:solidFill>
              </a:rPr>
              <a:t>Service failure</a:t>
            </a:r>
          </a:p>
          <a:p>
            <a:pPr marL="0" indent="0" algn="l">
              <a:spcBef>
                <a:spcPts val="0"/>
              </a:spcBef>
              <a:spcAft>
                <a:spcPts val="0"/>
              </a:spcAft>
              <a:buNone/>
            </a:pPr>
            <a:r>
              <a:rPr lang="en-GB" sz="1700" b="0" i="0" dirty="0">
                <a:solidFill>
                  <a:srgbClr val="FFFFFF"/>
                </a:solidFill>
              </a:rPr>
              <a:t>When and why does service fall short of what was promised?</a:t>
            </a:r>
          </a:p>
        </p:txBody>
      </p:sp>
      <p:sp>
        <p:nvSpPr>
          <p:cNvPr id="516" name="Strip"/>
          <p:cNvSpPr/>
          <p:nvPr/>
        </p:nvSpPr>
        <p:spPr>
          <a:xfrm>
            <a:off x="274320" y="2788920"/>
            <a:ext cx="8595360" cy="64008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440099"/>
                </a:solidFill>
              </a:rPr>
              <a:t>These are different measures. </a:t>
            </a:r>
            <a:r>
              <a:rPr lang="en-GB" sz="1650" b="0" i="0" dirty="0">
                <a:solidFill>
                  <a:srgbClr val="1A1A1A"/>
                </a:solidFill>
              </a:rPr>
              <a:t>Improving one does not automatically improve the others.</a:t>
            </a:r>
          </a:p>
        </p:txBody>
      </p:sp>
      <p:sp>
        <p:nvSpPr>
          <p:cNvPr id="517" name="Note"/>
          <p:cNvSpPr/>
          <p:nvPr/>
        </p:nvSpPr>
        <p:spPr>
          <a:xfrm>
            <a:off x="274320" y="3566160"/>
            <a:ext cx="8595360" cy="59436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Today’s question:  </a:t>
            </a:r>
            <a:r>
              <a:rPr lang="en-GB" sz="1600" b="0" i="0" dirty="0">
                <a:solidFill>
                  <a:srgbClr val="1A1A1A"/>
                </a:solidFill>
              </a:rPr>
              <a:t>why can a productive operation still deliver poor service?</a:t>
            </a:r>
          </a:p>
        </p:txBody>
      </p:sp>
    </p:spTree>
    <p:extLst>
      <p:ext uri="{BB962C8B-B14F-4D97-AF65-F5344CB8AC3E}">
        <p14:creationId xmlns:p14="http://schemas.microsoft.com/office/powerpoint/2010/main" val="3651354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6695813-69D8-B3FA-DAEE-709E845D0D85}"/>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E3893D93-6336-79AB-FECE-CE080C308C8A}"/>
              </a:ext>
            </a:extLst>
          </p:cNvPr>
          <p:cNvSpPr txBox="1">
            <a:spLocks noGrp="1"/>
          </p:cNvSpPr>
          <p:nvPr>
            <p:ph type="title"/>
          </p:nvPr>
        </p:nvSpPr>
        <p:spPr>
          <a:xfrm>
            <a:off x="2687507" y="384505"/>
            <a:ext cx="5321657" cy="572700"/>
          </a:xfrm>
        </p:spPr>
        <p:txBody>
          <a:bodyPr spcFirstLastPara="1" wrap="square" lIns="91425" tIns="91425" rIns="91425" bIns="91425" anchor="ctr" anchorCtr="0">
            <a:noAutofit/>
          </a:bodyPr>
          <a:lstStyle/>
          <a:p>
            <a:pPr algn="ctr"/>
            <a:r>
              <a:rPr lang="en-GB" sz="3200" b="1" dirty="0">
                <a:latin typeface="+mj-lt"/>
              </a:rPr>
              <a:t>Operational Measures</a:t>
            </a:r>
            <a:br>
              <a:rPr lang="en-GB" sz="3200" b="1" dirty="0">
                <a:latin typeface="+mj-lt"/>
              </a:rPr>
            </a:br>
            <a:endParaRPr lang="en-GB" sz="3200" b="1" dirty="0">
              <a:latin typeface="+mj-lt"/>
            </a:endParaRPr>
          </a:p>
        </p:txBody>
      </p:sp>
      <p:sp>
        <p:nvSpPr>
          <p:cNvPr id="80" name="Google Shape;80;p16">
            <a:extLst>
              <a:ext uri="{FF2B5EF4-FFF2-40B4-BE49-F238E27FC236}">
                <a16:creationId xmlns:a16="http://schemas.microsoft.com/office/drawing/2014/main" id="{DB6C6108-4192-E45E-6368-A7683B00073D}"/>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a:pPr marL="0" lvl="0" indent="0" rtl="0">
                <a:lnSpc>
                  <a:spcPct val="90000"/>
                </a:lnSpc>
                <a:spcBef>
                  <a:spcPts val="0"/>
                </a:spcBef>
                <a:spcAft>
                  <a:spcPts val="600"/>
                </a:spcAft>
                <a:buNone/>
              </a:pPr>
              <a:t>6</a:t>
            </a:fld>
            <a:endParaRPr lang="en" sz="900"/>
          </a:p>
        </p:txBody>
      </p:sp>
      <p:sp>
        <p:nvSpPr>
          <p:cNvPr id="501" name="H0"/>
          <p:cNvSpPr/>
          <p:nvPr/>
        </p:nvSpPr>
        <p:spPr>
          <a:xfrm>
            <a:off x="274320" y="1024128"/>
            <a:ext cx="2057400" cy="621792"/>
          </a:xfrm>
          <a:prstGeom prst="roundRect">
            <a:avLst>
              <a:gd name="adj" fmla="val 12000"/>
            </a:avLst>
          </a:prstGeom>
          <a:solidFill>
            <a:srgbClr val="440099"/>
          </a:solidFill>
          <a:ln>
            <a:noFill/>
          </a:ln>
        </p:spPr>
        <p:txBody>
          <a:bodyPr wrap="square" lIns="54864" tIns="54864" rIns="54864" bIns="54864" anchor="ctr">
            <a:noAutofit/>
          </a:bodyPr>
          <a:lstStyle/>
          <a:p>
            <a:pPr marL="0" indent="0" algn="ctr">
              <a:spcBef>
                <a:spcPts val="0"/>
              </a:spcBef>
              <a:spcAft>
                <a:spcPts val="50"/>
              </a:spcAft>
              <a:buNone/>
            </a:pPr>
            <a:r>
              <a:rPr lang="en-GB" sz="1400" b="1" i="0" dirty="0">
                <a:solidFill>
                  <a:srgbClr val="FFFFFF"/>
                </a:solidFill>
              </a:rPr>
              <a:t>Capacity &amp; resources</a:t>
            </a:r>
          </a:p>
          <a:p>
            <a:pPr marL="0" indent="0" algn="ctr">
              <a:spcBef>
                <a:spcPts val="0"/>
              </a:spcBef>
              <a:spcAft>
                <a:spcPts val="0"/>
              </a:spcAft>
              <a:buNone/>
            </a:pPr>
            <a:r>
              <a:rPr lang="en-GB" sz="1050" b="0" i="0" dirty="0">
                <a:solidFill>
                  <a:srgbClr val="FFFFFF"/>
                </a:solidFill>
              </a:rPr>
              <a:t>Objective: Cost</a:t>
            </a:r>
          </a:p>
        </p:txBody>
      </p:sp>
      <p:sp>
        <p:nvSpPr>
          <p:cNvPr id="502" name="I00"/>
          <p:cNvSpPr/>
          <p:nvPr/>
        </p:nvSpPr>
        <p:spPr>
          <a:xfrm>
            <a:off x="274320" y="1719072"/>
            <a:ext cx="2057400" cy="466344"/>
          </a:xfrm>
          <a:prstGeom prst="roundRect">
            <a:avLst>
              <a:gd name="adj" fmla="val 12000"/>
            </a:avLst>
          </a:prstGeom>
          <a:solidFill>
            <a:srgbClr val="EDE6F7"/>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440099"/>
                </a:solidFill>
              </a:rPr>
              <a:t>Capacity</a:t>
            </a:r>
          </a:p>
          <a:p>
            <a:pPr marL="0" indent="0" algn="l">
              <a:spcBef>
                <a:spcPts val="0"/>
              </a:spcBef>
              <a:spcAft>
                <a:spcPts val="0"/>
              </a:spcAft>
              <a:buNone/>
            </a:pPr>
            <a:r>
              <a:rPr lang="en-GB" sz="1100" b="0" i="0" dirty="0">
                <a:solidFill>
                  <a:srgbClr val="1A1A1A"/>
                </a:solidFill>
              </a:rPr>
              <a:t>Maximum output possible</a:t>
            </a:r>
          </a:p>
        </p:txBody>
      </p:sp>
      <p:sp>
        <p:nvSpPr>
          <p:cNvPr id="503" name="I01"/>
          <p:cNvSpPr/>
          <p:nvPr/>
        </p:nvSpPr>
        <p:spPr>
          <a:xfrm>
            <a:off x="274320" y="2240280"/>
            <a:ext cx="2057400" cy="466344"/>
          </a:xfrm>
          <a:prstGeom prst="roundRect">
            <a:avLst>
              <a:gd name="adj" fmla="val 12000"/>
            </a:avLst>
          </a:prstGeom>
          <a:solidFill>
            <a:srgbClr val="EDE6F7"/>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440099"/>
                </a:solidFill>
              </a:rPr>
              <a:t>Utilisation</a:t>
            </a:r>
          </a:p>
          <a:p>
            <a:pPr marL="0" indent="0" algn="l">
              <a:spcBef>
                <a:spcPts val="0"/>
              </a:spcBef>
              <a:spcAft>
                <a:spcPts val="0"/>
              </a:spcAft>
              <a:buNone/>
            </a:pPr>
            <a:r>
              <a:rPr lang="en-GB" sz="1100" b="0" i="0" dirty="0">
                <a:solidFill>
                  <a:srgbClr val="1A1A1A"/>
                </a:solidFill>
              </a:rPr>
              <a:t>Share of capacity used</a:t>
            </a:r>
          </a:p>
        </p:txBody>
      </p:sp>
      <p:sp>
        <p:nvSpPr>
          <p:cNvPr id="504" name="I02"/>
          <p:cNvSpPr/>
          <p:nvPr/>
        </p:nvSpPr>
        <p:spPr>
          <a:xfrm>
            <a:off x="274320" y="2761488"/>
            <a:ext cx="2057400" cy="466344"/>
          </a:xfrm>
          <a:prstGeom prst="roundRect">
            <a:avLst>
              <a:gd name="adj" fmla="val 12000"/>
            </a:avLst>
          </a:prstGeom>
          <a:solidFill>
            <a:srgbClr val="EDE6F7"/>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440099"/>
                </a:solidFill>
              </a:rPr>
              <a:t>Efficiency</a:t>
            </a:r>
          </a:p>
          <a:p>
            <a:pPr marL="0" indent="0" algn="l">
              <a:spcBef>
                <a:spcPts val="0"/>
              </a:spcBef>
              <a:spcAft>
                <a:spcPts val="0"/>
              </a:spcAft>
              <a:buNone/>
            </a:pPr>
            <a:r>
              <a:rPr lang="en-GB" sz="1100" b="0" i="0" dirty="0">
                <a:solidFill>
                  <a:srgbClr val="1A1A1A"/>
                </a:solidFill>
              </a:rPr>
              <a:t>Achieved ÷ effective capacity</a:t>
            </a:r>
          </a:p>
        </p:txBody>
      </p:sp>
      <p:sp>
        <p:nvSpPr>
          <p:cNvPr id="505" name="I03"/>
          <p:cNvSpPr/>
          <p:nvPr/>
        </p:nvSpPr>
        <p:spPr>
          <a:xfrm>
            <a:off x="274320" y="3282696"/>
            <a:ext cx="2057400" cy="466344"/>
          </a:xfrm>
          <a:prstGeom prst="roundRect">
            <a:avLst>
              <a:gd name="adj" fmla="val 12000"/>
            </a:avLst>
          </a:prstGeom>
          <a:solidFill>
            <a:srgbClr val="EDE6F7"/>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440099"/>
                </a:solidFill>
              </a:rPr>
              <a:t>Productivity</a:t>
            </a:r>
          </a:p>
          <a:p>
            <a:pPr marL="0" indent="0" algn="l">
              <a:spcBef>
                <a:spcPts val="0"/>
              </a:spcBef>
              <a:spcAft>
                <a:spcPts val="0"/>
              </a:spcAft>
              <a:buNone/>
            </a:pPr>
            <a:r>
              <a:rPr lang="en-GB" sz="1100" b="0" i="0" dirty="0">
                <a:solidFill>
                  <a:srgbClr val="1A1A1A"/>
                </a:solidFill>
              </a:rPr>
              <a:t>Output per unit of input</a:t>
            </a:r>
          </a:p>
        </p:txBody>
      </p:sp>
      <p:sp>
        <p:nvSpPr>
          <p:cNvPr id="506" name="H1"/>
          <p:cNvSpPr/>
          <p:nvPr/>
        </p:nvSpPr>
        <p:spPr>
          <a:xfrm>
            <a:off x="2441448" y="1024128"/>
            <a:ext cx="2057400" cy="621792"/>
          </a:xfrm>
          <a:prstGeom prst="roundRect">
            <a:avLst>
              <a:gd name="adj" fmla="val 12000"/>
            </a:avLst>
          </a:prstGeom>
          <a:solidFill>
            <a:srgbClr val="0B7A75"/>
          </a:solidFill>
          <a:ln>
            <a:noFill/>
          </a:ln>
        </p:spPr>
        <p:txBody>
          <a:bodyPr wrap="square" lIns="54864" tIns="54864" rIns="54864" bIns="54864" anchor="ctr">
            <a:noAutofit/>
          </a:bodyPr>
          <a:lstStyle/>
          <a:p>
            <a:pPr marL="0" indent="0" algn="ctr">
              <a:spcBef>
                <a:spcPts val="0"/>
              </a:spcBef>
              <a:spcAft>
                <a:spcPts val="50"/>
              </a:spcAft>
              <a:buNone/>
            </a:pPr>
            <a:r>
              <a:rPr lang="en-GB" sz="1400" b="1" i="0" dirty="0">
                <a:solidFill>
                  <a:srgbClr val="FFFFFF"/>
                </a:solidFill>
              </a:rPr>
              <a:t>Flow &amp; speed</a:t>
            </a:r>
          </a:p>
          <a:p>
            <a:pPr marL="0" indent="0" algn="ctr">
              <a:spcBef>
                <a:spcPts val="0"/>
              </a:spcBef>
              <a:spcAft>
                <a:spcPts val="0"/>
              </a:spcAft>
              <a:buNone/>
            </a:pPr>
            <a:r>
              <a:rPr lang="en-GB" sz="1050" b="0" i="0" dirty="0">
                <a:solidFill>
                  <a:srgbClr val="FFFFFF"/>
                </a:solidFill>
              </a:rPr>
              <a:t>Objective: Speed</a:t>
            </a:r>
          </a:p>
        </p:txBody>
      </p:sp>
      <p:sp>
        <p:nvSpPr>
          <p:cNvPr id="507" name="I10"/>
          <p:cNvSpPr/>
          <p:nvPr/>
        </p:nvSpPr>
        <p:spPr>
          <a:xfrm>
            <a:off x="2441448" y="1719072"/>
            <a:ext cx="2057400" cy="466344"/>
          </a:xfrm>
          <a:prstGeom prst="roundRect">
            <a:avLst>
              <a:gd name="adj" fmla="val 12000"/>
            </a:avLst>
          </a:prstGeom>
          <a:solidFill>
            <a:srgbClr val="D5EFEC"/>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0B7A75"/>
                </a:solidFill>
              </a:rPr>
              <a:t>Throughput</a:t>
            </a:r>
          </a:p>
          <a:p>
            <a:pPr marL="0" indent="0" algn="l">
              <a:spcBef>
                <a:spcPts val="0"/>
              </a:spcBef>
              <a:spcAft>
                <a:spcPts val="0"/>
              </a:spcAft>
              <a:buNone/>
            </a:pPr>
            <a:r>
              <a:rPr lang="en-GB" sz="1100" b="0" i="0" dirty="0">
                <a:solidFill>
                  <a:srgbClr val="1A1A1A"/>
                </a:solidFill>
              </a:rPr>
              <a:t>Output per period</a:t>
            </a:r>
          </a:p>
        </p:txBody>
      </p:sp>
      <p:sp>
        <p:nvSpPr>
          <p:cNvPr id="508" name="I11"/>
          <p:cNvSpPr/>
          <p:nvPr/>
        </p:nvSpPr>
        <p:spPr>
          <a:xfrm>
            <a:off x="2441448" y="2240280"/>
            <a:ext cx="2057400" cy="466344"/>
          </a:xfrm>
          <a:prstGeom prst="roundRect">
            <a:avLst>
              <a:gd name="adj" fmla="val 12000"/>
            </a:avLst>
          </a:prstGeom>
          <a:solidFill>
            <a:srgbClr val="D5EFEC"/>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0B7A75"/>
                </a:solidFill>
              </a:rPr>
              <a:t>Work-in-progress</a:t>
            </a:r>
          </a:p>
          <a:p>
            <a:pPr marL="0" indent="0" algn="l">
              <a:spcBef>
                <a:spcPts val="0"/>
              </a:spcBef>
              <a:spcAft>
                <a:spcPts val="0"/>
              </a:spcAft>
              <a:buNone/>
            </a:pPr>
            <a:r>
              <a:rPr lang="en-GB" sz="1100" b="0" i="0" dirty="0">
                <a:solidFill>
                  <a:srgbClr val="1A1A1A"/>
                </a:solidFill>
              </a:rPr>
              <a:t>Items in the process now</a:t>
            </a:r>
          </a:p>
        </p:txBody>
      </p:sp>
      <p:sp>
        <p:nvSpPr>
          <p:cNvPr id="509" name="I12"/>
          <p:cNvSpPr/>
          <p:nvPr/>
        </p:nvSpPr>
        <p:spPr>
          <a:xfrm>
            <a:off x="2441448" y="2761488"/>
            <a:ext cx="2057400" cy="466344"/>
          </a:xfrm>
          <a:prstGeom prst="roundRect">
            <a:avLst>
              <a:gd name="adj" fmla="val 12000"/>
            </a:avLst>
          </a:prstGeom>
          <a:solidFill>
            <a:srgbClr val="D5EFEC"/>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0B7A75"/>
                </a:solidFill>
              </a:rPr>
              <a:t>Flow time</a:t>
            </a:r>
          </a:p>
          <a:p>
            <a:pPr marL="0" indent="0" algn="l">
              <a:spcBef>
                <a:spcPts val="0"/>
              </a:spcBef>
              <a:spcAft>
                <a:spcPts val="0"/>
              </a:spcAft>
              <a:buNone/>
            </a:pPr>
            <a:r>
              <a:rPr lang="en-GB" sz="1100" b="0" i="0" dirty="0">
                <a:solidFill>
                  <a:srgbClr val="1A1A1A"/>
                </a:solidFill>
              </a:rPr>
              <a:t>Time spent in the process</a:t>
            </a:r>
          </a:p>
        </p:txBody>
      </p:sp>
      <p:sp>
        <p:nvSpPr>
          <p:cNvPr id="510" name="I13"/>
          <p:cNvSpPr/>
          <p:nvPr/>
        </p:nvSpPr>
        <p:spPr>
          <a:xfrm>
            <a:off x="2441448" y="3282696"/>
            <a:ext cx="2057400" cy="466344"/>
          </a:xfrm>
          <a:prstGeom prst="roundRect">
            <a:avLst>
              <a:gd name="adj" fmla="val 12000"/>
            </a:avLst>
          </a:prstGeom>
          <a:solidFill>
            <a:srgbClr val="D5EFEC"/>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0B7A75"/>
                </a:solidFill>
              </a:rPr>
              <a:t>Waiting time</a:t>
            </a:r>
          </a:p>
          <a:p>
            <a:pPr marL="0" indent="0" algn="l">
              <a:spcBef>
                <a:spcPts val="0"/>
              </a:spcBef>
              <a:spcAft>
                <a:spcPts val="0"/>
              </a:spcAft>
              <a:buNone/>
            </a:pPr>
            <a:r>
              <a:rPr lang="en-GB" sz="1100" b="0" i="0" dirty="0">
                <a:solidFill>
                  <a:srgbClr val="1A1A1A"/>
                </a:solidFill>
              </a:rPr>
              <a:t>Time spent queueing</a:t>
            </a:r>
          </a:p>
        </p:txBody>
      </p:sp>
      <p:sp>
        <p:nvSpPr>
          <p:cNvPr id="511" name="I14"/>
          <p:cNvSpPr/>
          <p:nvPr/>
        </p:nvSpPr>
        <p:spPr>
          <a:xfrm>
            <a:off x="2441448" y="3803904"/>
            <a:ext cx="2057400" cy="466344"/>
          </a:xfrm>
          <a:prstGeom prst="roundRect">
            <a:avLst>
              <a:gd name="adj" fmla="val 12000"/>
            </a:avLst>
          </a:prstGeom>
          <a:solidFill>
            <a:srgbClr val="D5EFEC"/>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0B7A75"/>
                </a:solidFill>
              </a:rPr>
              <a:t>Inventory turnover</a:t>
            </a:r>
          </a:p>
          <a:p>
            <a:pPr marL="0" indent="0" algn="l">
              <a:spcBef>
                <a:spcPts val="0"/>
              </a:spcBef>
              <a:spcAft>
                <a:spcPts val="0"/>
              </a:spcAft>
              <a:buNone/>
            </a:pPr>
            <a:r>
              <a:rPr lang="en-GB" sz="1100" b="0" i="0" dirty="0">
                <a:solidFill>
                  <a:srgbClr val="1A1A1A"/>
                </a:solidFill>
              </a:rPr>
              <a:t>How fast stock moves</a:t>
            </a:r>
          </a:p>
        </p:txBody>
      </p:sp>
      <p:sp>
        <p:nvSpPr>
          <p:cNvPr id="512" name="H2"/>
          <p:cNvSpPr/>
          <p:nvPr/>
        </p:nvSpPr>
        <p:spPr>
          <a:xfrm>
            <a:off x="4608576" y="1024128"/>
            <a:ext cx="2057400" cy="621792"/>
          </a:xfrm>
          <a:prstGeom prst="roundRect">
            <a:avLst>
              <a:gd name="adj" fmla="val 12000"/>
            </a:avLst>
          </a:prstGeom>
          <a:solidFill>
            <a:srgbClr val="C2410C"/>
          </a:solidFill>
          <a:ln>
            <a:noFill/>
          </a:ln>
        </p:spPr>
        <p:txBody>
          <a:bodyPr wrap="square" lIns="54864" tIns="54864" rIns="54864" bIns="54864" anchor="ctr">
            <a:noAutofit/>
          </a:bodyPr>
          <a:lstStyle/>
          <a:p>
            <a:pPr marL="0" indent="0" algn="ctr">
              <a:spcBef>
                <a:spcPts val="0"/>
              </a:spcBef>
              <a:spcAft>
                <a:spcPts val="50"/>
              </a:spcAft>
              <a:buNone/>
            </a:pPr>
            <a:r>
              <a:rPr lang="en-GB" sz="1400" b="1" i="0" dirty="0">
                <a:solidFill>
                  <a:srgbClr val="FFFFFF"/>
                </a:solidFill>
              </a:rPr>
              <a:t>Quality &amp; reliability</a:t>
            </a:r>
          </a:p>
          <a:p>
            <a:pPr marL="0" indent="0" algn="ctr">
              <a:spcBef>
                <a:spcPts val="0"/>
              </a:spcBef>
              <a:spcAft>
                <a:spcPts val="0"/>
              </a:spcAft>
              <a:buNone/>
            </a:pPr>
            <a:r>
              <a:rPr lang="en-GB" sz="1050" b="0" i="0" dirty="0">
                <a:solidFill>
                  <a:srgbClr val="FFFFFF"/>
                </a:solidFill>
              </a:rPr>
              <a:t>Objective: Quality, dependability</a:t>
            </a:r>
          </a:p>
        </p:txBody>
      </p:sp>
      <p:sp>
        <p:nvSpPr>
          <p:cNvPr id="513" name="I20"/>
          <p:cNvSpPr/>
          <p:nvPr/>
        </p:nvSpPr>
        <p:spPr>
          <a:xfrm>
            <a:off x="4608576" y="1719072"/>
            <a:ext cx="2057400" cy="466344"/>
          </a:xfrm>
          <a:prstGeom prst="roundRect">
            <a:avLst>
              <a:gd name="adj" fmla="val 12000"/>
            </a:avLst>
          </a:prstGeom>
          <a:solidFill>
            <a:srgbClr val="FCE3D6"/>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C2410C"/>
                </a:solidFill>
              </a:rPr>
              <a:t>Defect / error rate</a:t>
            </a:r>
          </a:p>
          <a:p>
            <a:pPr marL="0" indent="0" algn="l">
              <a:spcBef>
                <a:spcPts val="0"/>
              </a:spcBef>
              <a:spcAft>
                <a:spcPts val="0"/>
              </a:spcAft>
              <a:buNone/>
            </a:pPr>
            <a:r>
              <a:rPr lang="en-GB" sz="1100" b="0" i="0" dirty="0">
                <a:solidFill>
                  <a:srgbClr val="1A1A1A"/>
                </a:solidFill>
              </a:rPr>
              <a:t>How often things go wrong</a:t>
            </a:r>
          </a:p>
        </p:txBody>
      </p:sp>
      <p:sp>
        <p:nvSpPr>
          <p:cNvPr id="514" name="I21"/>
          <p:cNvSpPr/>
          <p:nvPr/>
        </p:nvSpPr>
        <p:spPr>
          <a:xfrm>
            <a:off x="4608576" y="2240280"/>
            <a:ext cx="2057400" cy="466344"/>
          </a:xfrm>
          <a:prstGeom prst="roundRect">
            <a:avLst>
              <a:gd name="adj" fmla="val 12000"/>
            </a:avLst>
          </a:prstGeom>
          <a:solidFill>
            <a:srgbClr val="FCE3D6"/>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C2410C"/>
                </a:solidFill>
              </a:rPr>
              <a:t>On-time delivery</a:t>
            </a:r>
          </a:p>
          <a:p>
            <a:pPr marL="0" indent="0" algn="l">
              <a:spcBef>
                <a:spcPts val="0"/>
              </a:spcBef>
              <a:spcAft>
                <a:spcPts val="0"/>
              </a:spcAft>
              <a:buNone/>
            </a:pPr>
            <a:r>
              <a:rPr lang="en-GB" sz="1100" b="0" i="0" dirty="0">
                <a:solidFill>
                  <a:srgbClr val="1A1A1A"/>
                </a:solidFill>
              </a:rPr>
              <a:t>Promises kept on time</a:t>
            </a:r>
          </a:p>
        </p:txBody>
      </p:sp>
      <p:sp>
        <p:nvSpPr>
          <p:cNvPr id="515" name="I22"/>
          <p:cNvSpPr/>
          <p:nvPr/>
        </p:nvSpPr>
        <p:spPr>
          <a:xfrm>
            <a:off x="4608576" y="2761488"/>
            <a:ext cx="2057400" cy="466344"/>
          </a:xfrm>
          <a:prstGeom prst="roundRect">
            <a:avLst>
              <a:gd name="adj" fmla="val 12000"/>
            </a:avLst>
          </a:prstGeom>
          <a:solidFill>
            <a:srgbClr val="FCE3D6"/>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C2410C"/>
                </a:solidFill>
              </a:rPr>
              <a:t>Service level</a:t>
            </a:r>
          </a:p>
          <a:p>
            <a:pPr marL="0" indent="0" algn="l">
              <a:spcBef>
                <a:spcPts val="0"/>
              </a:spcBef>
              <a:spcAft>
                <a:spcPts val="0"/>
              </a:spcAft>
              <a:buNone/>
            </a:pPr>
            <a:r>
              <a:rPr lang="en-GB" sz="1100" b="0" i="0" dirty="0">
                <a:solidFill>
                  <a:srgbClr val="1A1A1A"/>
                </a:solidFill>
              </a:rPr>
              <a:t>How reliably demand is met</a:t>
            </a:r>
          </a:p>
        </p:txBody>
      </p:sp>
      <p:sp>
        <p:nvSpPr>
          <p:cNvPr id="516" name="H3"/>
          <p:cNvSpPr/>
          <p:nvPr/>
        </p:nvSpPr>
        <p:spPr>
          <a:xfrm>
            <a:off x="6775704" y="1024128"/>
            <a:ext cx="2057400" cy="621792"/>
          </a:xfrm>
          <a:prstGeom prst="roundRect">
            <a:avLst>
              <a:gd name="adj" fmla="val 12000"/>
            </a:avLst>
          </a:prstGeom>
          <a:solidFill>
            <a:srgbClr val="2E7D32"/>
          </a:solidFill>
          <a:ln>
            <a:noFill/>
          </a:ln>
        </p:spPr>
        <p:txBody>
          <a:bodyPr wrap="square" lIns="54864" tIns="54864" rIns="54864" bIns="54864" anchor="ctr">
            <a:noAutofit/>
          </a:bodyPr>
          <a:lstStyle/>
          <a:p>
            <a:pPr marL="0" indent="0" algn="ctr">
              <a:spcBef>
                <a:spcPts val="0"/>
              </a:spcBef>
              <a:spcAft>
                <a:spcPts val="50"/>
              </a:spcAft>
              <a:buNone/>
            </a:pPr>
            <a:r>
              <a:rPr lang="en-GB" sz="1400" b="1" i="0" dirty="0">
                <a:solidFill>
                  <a:srgbClr val="FFFFFF"/>
                </a:solidFill>
              </a:rPr>
              <a:t>Cost &amp; sustainability</a:t>
            </a:r>
          </a:p>
          <a:p>
            <a:pPr marL="0" indent="0" algn="ctr">
              <a:spcBef>
                <a:spcPts val="0"/>
              </a:spcBef>
              <a:spcAft>
                <a:spcPts val="0"/>
              </a:spcAft>
              <a:buNone/>
            </a:pPr>
            <a:r>
              <a:rPr lang="en-GB" sz="1050" b="0" i="0" dirty="0">
                <a:solidFill>
                  <a:srgbClr val="FFFFFF"/>
                </a:solidFill>
              </a:rPr>
              <a:t>Objective: Cost, sustainability</a:t>
            </a:r>
          </a:p>
        </p:txBody>
      </p:sp>
      <p:sp>
        <p:nvSpPr>
          <p:cNvPr id="517" name="I30"/>
          <p:cNvSpPr/>
          <p:nvPr/>
        </p:nvSpPr>
        <p:spPr>
          <a:xfrm>
            <a:off x="6775704" y="1719072"/>
            <a:ext cx="2057400" cy="466344"/>
          </a:xfrm>
          <a:prstGeom prst="roundRect">
            <a:avLst>
              <a:gd name="adj" fmla="val 12000"/>
            </a:avLst>
          </a:prstGeom>
          <a:solidFill>
            <a:srgbClr val="E2F0E3"/>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2E7D32"/>
                </a:solidFill>
              </a:rPr>
              <a:t>Cost per unit</a:t>
            </a:r>
          </a:p>
          <a:p>
            <a:pPr marL="0" indent="0" algn="l">
              <a:spcBef>
                <a:spcPts val="0"/>
              </a:spcBef>
              <a:spcAft>
                <a:spcPts val="0"/>
              </a:spcAft>
              <a:buNone/>
            </a:pPr>
            <a:r>
              <a:rPr lang="en-GB" sz="1100" b="0" i="0" dirty="0">
                <a:solidFill>
                  <a:srgbClr val="1A1A1A"/>
                </a:solidFill>
              </a:rPr>
              <a:t>Cost of one unit</a:t>
            </a:r>
          </a:p>
        </p:txBody>
      </p:sp>
      <p:sp>
        <p:nvSpPr>
          <p:cNvPr id="518" name="I31"/>
          <p:cNvSpPr/>
          <p:nvPr/>
        </p:nvSpPr>
        <p:spPr>
          <a:xfrm>
            <a:off x="6775704" y="2240280"/>
            <a:ext cx="2057400" cy="466344"/>
          </a:xfrm>
          <a:prstGeom prst="roundRect">
            <a:avLst>
              <a:gd name="adj" fmla="val 12000"/>
            </a:avLst>
          </a:prstGeom>
          <a:solidFill>
            <a:srgbClr val="E2F0E3"/>
          </a:solidFill>
          <a:ln>
            <a:noFill/>
          </a:ln>
        </p:spPr>
        <p:txBody>
          <a:bodyPr wrap="square" lIns="73152" tIns="73152" rIns="73152" bIns="73152" anchor="ctr">
            <a:noAutofit/>
          </a:bodyPr>
          <a:lstStyle/>
          <a:p>
            <a:pPr marL="0" indent="0" algn="l">
              <a:spcBef>
                <a:spcPts val="0"/>
              </a:spcBef>
              <a:spcAft>
                <a:spcPts val="20"/>
              </a:spcAft>
              <a:buNone/>
            </a:pPr>
            <a:r>
              <a:rPr lang="en-GB" sz="1300" b="1" i="0" dirty="0">
                <a:solidFill>
                  <a:srgbClr val="2E7D32"/>
                </a:solidFill>
              </a:rPr>
              <a:t>Energy use / waste</a:t>
            </a:r>
          </a:p>
          <a:p>
            <a:pPr marL="0" indent="0" algn="l">
              <a:spcBef>
                <a:spcPts val="0"/>
              </a:spcBef>
              <a:spcAft>
                <a:spcPts val="0"/>
              </a:spcAft>
              <a:buNone/>
            </a:pPr>
            <a:r>
              <a:rPr lang="en-GB" sz="1100" b="0" i="0" dirty="0">
                <a:solidFill>
                  <a:srgbClr val="1A1A1A"/>
                </a:solidFill>
              </a:rPr>
              <a:t>Environmental impact</a:t>
            </a:r>
          </a:p>
        </p:txBody>
      </p:sp>
      <p:sp>
        <p:nvSpPr>
          <p:cNvPr id="519" name="Foot"/>
          <p:cNvSpPr/>
          <p:nvPr/>
        </p:nvSpPr>
        <p:spPr>
          <a:xfrm>
            <a:off x="274320" y="4389120"/>
            <a:ext cx="8046720" cy="365760"/>
          </a:xfrm>
          <a:prstGeom prst="roundRect">
            <a:avLst>
              <a:gd name="adj" fmla="val 12000"/>
            </a:avLst>
          </a:prstGeom>
          <a:solidFill>
            <a:srgbClr val="EDE6F7"/>
          </a:solidFill>
          <a:ln>
            <a:noFill/>
          </a:ln>
        </p:spPr>
        <p:txBody>
          <a:bodyPr wrap="square" lIns="109728" tIns="109728" rIns="109728" bIns="109728" anchor="ctr">
            <a:noAutofit/>
          </a:bodyPr>
          <a:lstStyle/>
          <a:p>
            <a:pPr marL="0" indent="0" algn="l">
              <a:spcBef>
                <a:spcPts val="0"/>
              </a:spcBef>
              <a:spcAft>
                <a:spcPts val="0"/>
              </a:spcAft>
              <a:buNone/>
            </a:pPr>
            <a:r>
              <a:rPr lang="en-GB" sz="1250" b="1" i="0" dirty="0">
                <a:solidFill>
                  <a:srgbClr val="440099"/>
                </a:solidFill>
              </a:rPr>
              <a:t>Today’s focus:  </a:t>
            </a:r>
            <a:r>
              <a:rPr lang="en-GB" sz="1250" b="1" dirty="0">
                <a:solidFill>
                  <a:srgbClr val="1A1A1A"/>
                </a:solidFill>
              </a:rPr>
              <a:t>Productivity, efficiency, service level and sustainability</a:t>
            </a:r>
            <a:endParaRPr lang="en-GB" sz="1250" b="1" i="0" dirty="0">
              <a:solidFill>
                <a:srgbClr val="1A1A1A"/>
              </a:solidFill>
            </a:endParaRPr>
          </a:p>
        </p:txBody>
      </p:sp>
    </p:spTree>
    <p:extLst>
      <p:ext uri="{BB962C8B-B14F-4D97-AF65-F5344CB8AC3E}">
        <p14:creationId xmlns:p14="http://schemas.microsoft.com/office/powerpoint/2010/main" val="634326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Part 1</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7</a:t>
            </a:fld>
            <a:endParaRPr lang="en"/>
          </a:p>
        </p:txBody>
      </p:sp>
      <p:sp>
        <p:nvSpPr>
          <p:cNvPr id="518" name="DB"/>
          <p:cNvSpPr/>
          <p:nvPr/>
        </p:nvSpPr>
        <p:spPr>
          <a:xfrm>
            <a:off x="274320" y="1280160"/>
            <a:ext cx="8595360" cy="1188720"/>
          </a:xfrm>
          <a:prstGeom prst="roundRect">
            <a:avLst>
              <a:gd name="adj" fmla="val 12000"/>
            </a:avLst>
          </a:prstGeom>
          <a:solidFill>
            <a:srgbClr val="440099"/>
          </a:solidFill>
          <a:ln>
            <a:noFill/>
          </a:ln>
        </p:spPr>
        <p:txBody>
          <a:bodyPr wrap="square" lIns="274320" tIns="274320" rIns="274320" bIns="274320" anchor="ctr">
            <a:noAutofit/>
          </a:bodyPr>
          <a:lstStyle/>
          <a:p>
            <a:pPr marL="0" indent="0" algn="l">
              <a:spcBef>
                <a:spcPts val="0"/>
              </a:spcBef>
              <a:spcAft>
                <a:spcPts val="150"/>
              </a:spcAft>
              <a:buNone/>
            </a:pPr>
            <a:r>
              <a:rPr lang="en-GB" sz="1400" b="1" i="0" dirty="0">
                <a:solidFill>
                  <a:srgbClr val="FFFFFF"/>
                </a:solidFill>
              </a:rPr>
              <a:t>PART 1</a:t>
            </a:r>
          </a:p>
          <a:p>
            <a:pPr marL="0" indent="0" algn="l">
              <a:spcBef>
                <a:spcPts val="0"/>
              </a:spcBef>
              <a:spcAft>
                <a:spcPts val="0"/>
              </a:spcAft>
              <a:buNone/>
            </a:pPr>
            <a:r>
              <a:rPr lang="en-GB" sz="2800" b="1" i="0" dirty="0">
                <a:solidFill>
                  <a:srgbClr val="FFFFFF"/>
                </a:solidFill>
              </a:rPr>
              <a:t>Productivity</a:t>
            </a:r>
          </a:p>
        </p:txBody>
      </p:sp>
      <p:sp>
        <p:nvSpPr>
          <p:cNvPr id="519" name="Strip"/>
          <p:cNvSpPr/>
          <p:nvPr/>
        </p:nvSpPr>
        <p:spPr>
          <a:xfrm>
            <a:off x="274320" y="2651760"/>
            <a:ext cx="8595360" cy="73152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700" b="1" i="0" dirty="0">
                <a:solidFill>
                  <a:srgbClr val="440099"/>
                </a:solidFill>
              </a:rPr>
              <a:t>Key question: </a:t>
            </a:r>
            <a:r>
              <a:rPr lang="en-GB" sz="1700" b="0" i="0" dirty="0">
                <a:solidFill>
                  <a:srgbClr val="1A1A1A"/>
                </a:solidFill>
              </a:rPr>
              <a:t>how well does an operation convert inputs into outputs?</a:t>
            </a:r>
          </a:p>
        </p:txBody>
      </p:sp>
    </p:spTree>
    <p:extLst>
      <p:ext uri="{BB962C8B-B14F-4D97-AF65-F5344CB8AC3E}">
        <p14:creationId xmlns:p14="http://schemas.microsoft.com/office/powerpoint/2010/main" val="3651354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Productivity: Why It Matters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8</a:t>
            </a:fld>
            <a:endParaRPr lang="en"/>
          </a:p>
        </p:txBody>
      </p:sp>
      <p:sp>
        <p:nvSpPr>
          <p:cNvPr id="775" name="PD"/>
          <p:cNvSpPr/>
          <p:nvPr/>
        </p:nvSpPr>
        <p:spPr>
          <a:xfrm>
            <a:off x="274320" y="914400"/>
            <a:ext cx="8595360" cy="868680"/>
          </a:xfrm>
          <a:prstGeom prst="roundRect">
            <a:avLst>
              <a:gd name="adj" fmla="val 12000"/>
            </a:avLst>
          </a:prstGeom>
          <a:solidFill>
            <a:srgbClr val="EDE6F7"/>
          </a:solidFill>
          <a:ln>
            <a:noFill/>
          </a:ln>
        </p:spPr>
        <p:txBody>
          <a:bodyPr wrap="square" lIns="109728" tIns="109728" rIns="109728" bIns="109728" anchor="ctr">
            <a:noAutofit/>
          </a:bodyPr>
          <a:lstStyle/>
          <a:p>
            <a:pPr marL="0" indent="0" algn="ctr">
              <a:spcBef>
                <a:spcPts val="0"/>
              </a:spcBef>
              <a:spcAft>
                <a:spcPts val="120"/>
              </a:spcAft>
              <a:buNone/>
            </a:pPr>
            <a:r>
              <a:rPr lang="en-GB" sz="1650" b="1" i="0" dirty="0">
                <a:solidFill>
                  <a:srgbClr val="440099"/>
                </a:solidFill>
              </a:rPr>
              <a:t>Productivity </a:t>
            </a:r>
            <a:r>
              <a:rPr lang="en-GB" sz="1650" b="0" i="0" dirty="0">
                <a:solidFill>
                  <a:srgbClr val="1A1A1A"/>
                </a:solidFill>
              </a:rPr>
              <a:t>measures how well an operation turns inputs into outputs.</a:t>
            </a:r>
          </a:p>
          <a:p>
            <a:pPr marL="0" indent="0" algn="ctr">
              <a:spcBef>
                <a:spcPts val="0"/>
              </a:spcBef>
              <a:spcAft>
                <a:spcPts val="0"/>
              </a:spcAft>
              <a:buNone/>
            </a:pPr>
            <a:r>
              <a:rPr lang="en-GB" sz="2000" b="1" i="0" dirty="0">
                <a:solidFill>
                  <a:srgbClr val="1A1A1A"/>
                </a:solidFill>
              </a:rPr>
              <a:t>Productivity = Output ÷ Input</a:t>
            </a:r>
          </a:p>
        </p:txBody>
      </p:sp>
      <p:sp>
        <p:nvSpPr>
          <p:cNvPr id="776" name="WH"/>
          <p:cNvSpPr/>
          <p:nvPr/>
        </p:nvSpPr>
        <p:spPr>
          <a:xfrm>
            <a:off x="274320" y="1874520"/>
            <a:ext cx="8595360" cy="320040"/>
          </a:xfrm>
          <a:prstGeom prst="rect">
            <a:avLst/>
          </a:prstGeom>
          <a:noFill/>
          <a:ln>
            <a:noFill/>
          </a:ln>
        </p:spPr>
        <p:txBody>
          <a:bodyPr wrap="square" lIns="18288" tIns="18288" rIns="18288" bIns="18288" anchor="ctr">
            <a:noAutofit/>
          </a:bodyPr>
          <a:lstStyle/>
          <a:p>
            <a:pPr marL="0" indent="0" algn="l">
              <a:spcBef>
                <a:spcPts val="0"/>
              </a:spcBef>
              <a:spcAft>
                <a:spcPts val="0"/>
              </a:spcAft>
              <a:buNone/>
            </a:pPr>
            <a:r>
              <a:rPr lang="en-GB" sz="1500" b="1" i="0" dirty="0">
                <a:solidFill>
                  <a:srgbClr val="C2410C"/>
                </a:solidFill>
              </a:rPr>
              <a:t>Why measure it in operations management?</a:t>
            </a:r>
          </a:p>
        </p:txBody>
      </p:sp>
      <p:sp>
        <p:nvSpPr>
          <p:cNvPr id="777" name="W0"/>
          <p:cNvSpPr/>
          <p:nvPr/>
        </p:nvSpPr>
        <p:spPr>
          <a:xfrm>
            <a:off x="274320" y="2240280"/>
            <a:ext cx="4251960" cy="822960"/>
          </a:xfrm>
          <a:prstGeom prst="roundRect">
            <a:avLst>
              <a:gd name="adj" fmla="val 12000"/>
            </a:avLst>
          </a:prstGeom>
          <a:solidFill>
            <a:srgbClr val="FFFFFF"/>
          </a:solidFill>
          <a:ln w="12700">
            <a:solidFill>
              <a:srgbClr val="D5D0DE"/>
            </a:solidFill>
          </a:ln>
        </p:spPr>
        <p:txBody>
          <a:bodyPr wrap="square" lIns="118872" tIns="118872" rIns="118872" bIns="118872" anchor="ctr">
            <a:noAutofit/>
          </a:bodyPr>
          <a:lstStyle/>
          <a:p>
            <a:pPr marL="0" indent="0" algn="l">
              <a:spcBef>
                <a:spcPts val="0"/>
              </a:spcBef>
              <a:spcAft>
                <a:spcPts val="0"/>
              </a:spcAft>
              <a:buNone/>
            </a:pPr>
            <a:r>
              <a:rPr lang="en-GB" sz="1550" b="1" i="0" dirty="0">
                <a:solidFill>
                  <a:srgbClr val="440099"/>
                </a:solidFill>
              </a:rPr>
              <a:t>Control costs:  </a:t>
            </a:r>
            <a:r>
              <a:rPr lang="en-GB" sz="1400" b="0" i="0" dirty="0">
                <a:solidFill>
                  <a:srgbClr val="1A1A1A"/>
                </a:solidFill>
              </a:rPr>
              <a:t>Doing more with the same resources is the basis of competing on cost.</a:t>
            </a:r>
          </a:p>
        </p:txBody>
      </p:sp>
      <p:sp>
        <p:nvSpPr>
          <p:cNvPr id="778" name="W1"/>
          <p:cNvSpPr/>
          <p:nvPr/>
        </p:nvSpPr>
        <p:spPr>
          <a:xfrm>
            <a:off x="4617720" y="2240280"/>
            <a:ext cx="4251960" cy="822960"/>
          </a:xfrm>
          <a:prstGeom prst="roundRect">
            <a:avLst>
              <a:gd name="adj" fmla="val 12000"/>
            </a:avLst>
          </a:prstGeom>
          <a:solidFill>
            <a:srgbClr val="FFFFFF"/>
          </a:solidFill>
          <a:ln w="12700">
            <a:solidFill>
              <a:srgbClr val="D5D0DE"/>
            </a:solidFill>
          </a:ln>
        </p:spPr>
        <p:txBody>
          <a:bodyPr wrap="square" lIns="118872" tIns="118872" rIns="118872" bIns="118872" anchor="ctr">
            <a:noAutofit/>
          </a:bodyPr>
          <a:lstStyle/>
          <a:p>
            <a:pPr marL="0" indent="0" algn="l">
              <a:spcBef>
                <a:spcPts val="0"/>
              </a:spcBef>
              <a:spcAft>
                <a:spcPts val="0"/>
              </a:spcAft>
              <a:buNone/>
            </a:pPr>
            <a:r>
              <a:rPr lang="en-GB" sz="1550" b="1" i="0" dirty="0">
                <a:solidFill>
                  <a:srgbClr val="440099"/>
                </a:solidFill>
              </a:rPr>
              <a:t>Track performance:  </a:t>
            </a:r>
            <a:r>
              <a:rPr lang="en-GB" sz="1400" b="0" i="0" dirty="0">
                <a:solidFill>
                  <a:srgbClr val="1A1A1A"/>
                </a:solidFill>
              </a:rPr>
              <a:t>Compare over time, between sites, or against competitors.</a:t>
            </a:r>
          </a:p>
        </p:txBody>
      </p:sp>
      <p:sp>
        <p:nvSpPr>
          <p:cNvPr id="779" name="W2"/>
          <p:cNvSpPr/>
          <p:nvPr/>
        </p:nvSpPr>
        <p:spPr>
          <a:xfrm>
            <a:off x="274320" y="3154680"/>
            <a:ext cx="4251960" cy="822960"/>
          </a:xfrm>
          <a:prstGeom prst="roundRect">
            <a:avLst>
              <a:gd name="adj" fmla="val 12000"/>
            </a:avLst>
          </a:prstGeom>
          <a:solidFill>
            <a:srgbClr val="FFFFFF"/>
          </a:solidFill>
          <a:ln w="12700">
            <a:solidFill>
              <a:srgbClr val="D5D0DE"/>
            </a:solidFill>
          </a:ln>
        </p:spPr>
        <p:txBody>
          <a:bodyPr wrap="square" lIns="118872" tIns="118872" rIns="118872" bIns="118872" anchor="ctr">
            <a:noAutofit/>
          </a:bodyPr>
          <a:lstStyle/>
          <a:p>
            <a:pPr marL="0" indent="0" algn="l">
              <a:spcBef>
                <a:spcPts val="0"/>
              </a:spcBef>
              <a:spcAft>
                <a:spcPts val="0"/>
              </a:spcAft>
              <a:buNone/>
            </a:pPr>
            <a:r>
              <a:rPr lang="en-GB" sz="1550" b="1" i="0" dirty="0">
                <a:solidFill>
                  <a:srgbClr val="440099"/>
                </a:solidFill>
              </a:rPr>
              <a:t>Guide decisions:  </a:t>
            </a:r>
            <a:r>
              <a:rPr lang="en-GB" sz="1400" b="0" i="0" dirty="0">
                <a:solidFill>
                  <a:srgbClr val="1A1A1A"/>
                </a:solidFill>
              </a:rPr>
              <a:t>Staffing, capacity and investment, such as whether automation pays off.</a:t>
            </a:r>
          </a:p>
        </p:txBody>
      </p:sp>
      <p:sp>
        <p:nvSpPr>
          <p:cNvPr id="780" name="W3"/>
          <p:cNvSpPr/>
          <p:nvPr/>
        </p:nvSpPr>
        <p:spPr>
          <a:xfrm>
            <a:off x="4617720" y="3154680"/>
            <a:ext cx="4251960" cy="822960"/>
          </a:xfrm>
          <a:prstGeom prst="roundRect">
            <a:avLst>
              <a:gd name="adj" fmla="val 12000"/>
            </a:avLst>
          </a:prstGeom>
          <a:solidFill>
            <a:srgbClr val="FFFFFF"/>
          </a:solidFill>
          <a:ln w="12700">
            <a:solidFill>
              <a:srgbClr val="D5D0DE"/>
            </a:solidFill>
          </a:ln>
        </p:spPr>
        <p:txBody>
          <a:bodyPr wrap="square" lIns="118872" tIns="118872" rIns="118872" bIns="118872" anchor="ctr">
            <a:noAutofit/>
          </a:bodyPr>
          <a:lstStyle/>
          <a:p>
            <a:pPr marL="0" indent="0" algn="l">
              <a:spcBef>
                <a:spcPts val="0"/>
              </a:spcBef>
              <a:spcAft>
                <a:spcPts val="0"/>
              </a:spcAft>
              <a:buNone/>
            </a:pPr>
            <a:r>
              <a:rPr lang="en-GB" sz="1550" b="1" i="0" dirty="0">
                <a:solidFill>
                  <a:srgbClr val="440099"/>
                </a:solidFill>
              </a:rPr>
              <a:t>Find waste:  </a:t>
            </a:r>
            <a:r>
              <a:rPr lang="en-GB" sz="1400" b="0" i="0" dirty="0">
                <a:solidFill>
                  <a:srgbClr val="1A1A1A"/>
                </a:solidFill>
              </a:rPr>
              <a:t>Falling productivity points to problems worth investigating.</a:t>
            </a:r>
          </a:p>
        </p:txBody>
      </p:sp>
      <p:sp>
        <p:nvSpPr>
          <p:cNvPr id="781" name="EF"/>
          <p:cNvSpPr/>
          <p:nvPr/>
        </p:nvSpPr>
        <p:spPr>
          <a:xfrm>
            <a:off x="274320" y="4160520"/>
            <a:ext cx="8595360" cy="457200"/>
          </a:xfrm>
          <a:prstGeom prst="roundRect">
            <a:avLst>
              <a:gd name="adj" fmla="val 12000"/>
            </a:avLst>
          </a:prstGeom>
          <a:solidFill>
            <a:srgbClr val="FFFFFF"/>
          </a:solidFill>
          <a:ln w="25400">
            <a:solidFill>
              <a:srgbClr val="C2410C"/>
            </a:solidFill>
          </a:ln>
        </p:spPr>
        <p:txBody>
          <a:bodyPr wrap="square" lIns="109728" tIns="109728" rIns="109728" bIns="109728" anchor="ctr">
            <a:noAutofit/>
          </a:bodyPr>
          <a:lstStyle/>
          <a:p>
            <a:pPr marL="0" indent="0" algn="l">
              <a:spcBef>
                <a:spcPts val="0"/>
              </a:spcBef>
              <a:spcAft>
                <a:spcPts val="0"/>
              </a:spcAft>
              <a:buNone/>
            </a:pPr>
            <a:r>
              <a:rPr lang="en-GB" sz="1450" b="1" i="0" dirty="0">
                <a:solidFill>
                  <a:srgbClr val="C2410C"/>
                </a:solidFill>
              </a:rPr>
              <a:t>But: </a:t>
            </a:r>
            <a:r>
              <a:rPr lang="en-GB" sz="1450" b="0" i="0" dirty="0">
                <a:solidFill>
                  <a:srgbClr val="1A1A1A"/>
                </a:solidFill>
              </a:rPr>
              <a:t>it is an efficiency measure. It says nothing about quality or customer experience.</a:t>
            </a:r>
          </a:p>
        </p:txBody>
      </p:sp>
    </p:spTree>
    <p:extLst>
      <p:ext uri="{BB962C8B-B14F-4D97-AF65-F5344CB8AC3E}">
        <p14:creationId xmlns:p14="http://schemas.microsoft.com/office/powerpoint/2010/main" val="3651354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Productivity: Theoretical Lenses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9</a:t>
            </a:fld>
            <a:endParaRPr lang="en"/>
          </a:p>
        </p:txBody>
      </p:sp>
      <p:sp>
        <p:nvSpPr>
          <p:cNvPr id="544" name="C0Input–"/>
          <p:cNvSpPr/>
          <p:nvPr/>
        </p:nvSpPr>
        <p:spPr>
          <a:xfrm>
            <a:off x="274320" y="1051560"/>
            <a:ext cx="4219956" cy="160020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440099"/>
                </a:solidFill>
              </a:rPr>
              <a:t>Input–output view</a:t>
            </a:r>
          </a:p>
          <a:p>
            <a:pPr marL="0" indent="0" algn="l">
              <a:spcBef>
                <a:spcPts val="0"/>
              </a:spcBef>
              <a:spcAft>
                <a:spcPts val="0"/>
              </a:spcAft>
              <a:buNone/>
            </a:pPr>
            <a:r>
              <a:rPr lang="en-GB" sz="1700" b="0" i="0" dirty="0">
                <a:solidFill>
                  <a:srgbClr val="1A1A1A"/>
                </a:solidFill>
              </a:rPr>
              <a:t>Operations transform labour, materials, equipment and information into outputs.</a:t>
            </a:r>
          </a:p>
        </p:txBody>
      </p:sp>
      <p:sp>
        <p:nvSpPr>
          <p:cNvPr id="545" name="C1Lean v"/>
          <p:cNvSpPr/>
          <p:nvPr/>
        </p:nvSpPr>
        <p:spPr>
          <a:xfrm>
            <a:off x="4649724" y="1051560"/>
            <a:ext cx="4219956" cy="160020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440099"/>
                </a:solidFill>
              </a:rPr>
              <a:t>Lean view</a:t>
            </a:r>
          </a:p>
          <a:p>
            <a:pPr marL="0" indent="0" algn="l">
              <a:spcBef>
                <a:spcPts val="0"/>
              </a:spcBef>
              <a:spcAft>
                <a:spcPts val="0"/>
              </a:spcAft>
              <a:buNone/>
            </a:pPr>
            <a:r>
              <a:rPr lang="en-GB" sz="1700" b="0" i="0" dirty="0">
                <a:solidFill>
                  <a:srgbClr val="1A1A1A"/>
                </a:solidFill>
              </a:rPr>
              <a:t>Activities that consume resources without creating customer value are waste.</a:t>
            </a:r>
          </a:p>
        </p:txBody>
      </p:sp>
      <p:sp>
        <p:nvSpPr>
          <p:cNvPr id="546" name="Strip"/>
          <p:cNvSpPr/>
          <p:nvPr/>
        </p:nvSpPr>
        <p:spPr>
          <a:xfrm>
            <a:off x="274320" y="2788920"/>
            <a:ext cx="8595360" cy="68580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440099"/>
                </a:solidFill>
              </a:rPr>
              <a:t>What productivity does not tell you: </a:t>
            </a:r>
            <a:r>
              <a:rPr lang="en-GB" sz="1650" b="0" i="0" dirty="0">
                <a:solidFill>
                  <a:srgbClr val="1A1A1A"/>
                </a:solidFill>
              </a:rPr>
              <a:t>whether output meets quality standards, or whether customers wait.</a:t>
            </a:r>
          </a:p>
        </p:txBody>
      </p:sp>
      <p:sp>
        <p:nvSpPr>
          <p:cNvPr id="547" name="Note"/>
          <p:cNvSpPr/>
          <p:nvPr/>
        </p:nvSpPr>
        <p:spPr>
          <a:xfrm>
            <a:off x="274320" y="3611880"/>
            <a:ext cx="8595360" cy="59436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Critical question:  </a:t>
            </a:r>
            <a:r>
              <a:rPr lang="en-GB" sz="1600" b="0" i="0" dirty="0">
                <a:solidFill>
                  <a:srgbClr val="1A1A1A"/>
                </a:solidFill>
              </a:rPr>
              <a:t>does productivity really improve if rework and complaints rise?</a:t>
            </a:r>
          </a:p>
        </p:txBody>
      </p:sp>
    </p:spTree>
    <p:extLst>
      <p:ext uri="{BB962C8B-B14F-4D97-AF65-F5344CB8AC3E}">
        <p14:creationId xmlns:p14="http://schemas.microsoft.com/office/powerpoint/2010/main" val="3651354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Types of Productivity</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10</a:t>
            </a:fld>
            <a:endParaRPr lang="en"/>
          </a:p>
        </p:txBody>
      </p:sp>
      <p:sp>
        <p:nvSpPr>
          <p:cNvPr id="719" name="TN0"/>
          <p:cNvSpPr/>
          <p:nvPr/>
        </p:nvSpPr>
        <p:spPr>
          <a:xfrm>
            <a:off x="274320" y="960120"/>
            <a:ext cx="2194560" cy="914400"/>
          </a:xfrm>
          <a:prstGeom prst="roundRect">
            <a:avLst>
              <a:gd name="adj" fmla="val 12000"/>
            </a:avLst>
          </a:prstGeom>
          <a:solidFill>
            <a:srgbClr val="440099"/>
          </a:solidFill>
          <a:ln>
            <a:noFill/>
          </a:ln>
        </p:spPr>
        <p:txBody>
          <a:bodyPr wrap="square" lIns="73152" tIns="73152" rIns="73152" bIns="73152" anchor="ctr">
            <a:noAutofit/>
          </a:bodyPr>
          <a:lstStyle/>
          <a:p>
            <a:pPr marL="0" indent="0" algn="ctr">
              <a:spcBef>
                <a:spcPts val="0"/>
              </a:spcBef>
              <a:spcAft>
                <a:spcPts val="0"/>
              </a:spcAft>
              <a:buNone/>
            </a:pPr>
            <a:r>
              <a:rPr lang="en-GB" sz="2000" b="1" i="0" dirty="0">
                <a:solidFill>
                  <a:srgbClr val="FFFFFF"/>
                </a:solidFill>
              </a:rPr>
              <a:t>Productivity</a:t>
            </a:r>
          </a:p>
        </p:txBody>
      </p:sp>
      <p:sp>
        <p:nvSpPr>
          <p:cNvPr id="720" name="TF0"/>
          <p:cNvSpPr/>
          <p:nvPr/>
        </p:nvSpPr>
        <p:spPr>
          <a:xfrm>
            <a:off x="2560320" y="960120"/>
            <a:ext cx="3108960" cy="914400"/>
          </a:xfrm>
          <a:prstGeom prst="roundRect">
            <a:avLst>
              <a:gd name="adj" fmla="val 12000"/>
            </a:avLst>
          </a:prstGeom>
          <a:solidFill>
            <a:srgbClr val="FFFFFF"/>
          </a:solidFill>
          <a:ln w="12700">
            <a:solidFill>
              <a:srgbClr val="D5D0DE"/>
            </a:solidFill>
          </a:ln>
        </p:spPr>
        <p:txBody>
          <a:bodyPr wrap="square" lIns="73152" tIns="73152" rIns="73152" bIns="73152" anchor="t">
            <a:noAutofit/>
          </a:bodyPr>
          <a:lstStyle/>
          <a:p>
            <a:pPr marL="0" indent="0" algn="ctr">
              <a:spcBef>
                <a:spcPts val="0"/>
              </a:spcBef>
              <a:spcAft>
                <a:spcPts val="0"/>
              </a:spcAft>
              <a:buNone/>
            </a:pPr>
            <a:r>
              <a:rPr lang="en-GB" sz="1900" b="1" i="0" dirty="0">
                <a:solidFill>
                  <a:srgbClr val="1A1A1A"/>
                </a:solidFill>
              </a:rPr>
              <a:t>Output</a:t>
            </a:r>
          </a:p>
        </p:txBody>
      </p:sp>
      <p:sp>
        <p:nvSpPr>
          <p:cNvPr id="721" name="TL0"/>
          <p:cNvSpPr/>
          <p:nvPr/>
        </p:nvSpPr>
        <p:spPr>
          <a:xfrm>
            <a:off x="2926080" y="1417320"/>
            <a:ext cx="2377440" cy="27432"/>
          </a:xfrm>
          <a:prstGeom prst="rect">
            <a:avLst/>
          </a:prstGeom>
          <a:solidFill>
            <a:srgbClr val="1A1A1A"/>
          </a:solidFill>
          <a:ln>
            <a:noFill/>
          </a:ln>
        </p:spPr>
        <p:txBody>
          <a:bodyPr wrap="square" lIns="0" tIns="0" rIns="0" bIns="0" anchor="t">
            <a:noAutofit/>
          </a:bodyPr>
          <a:lstStyle/>
          <a:p>
            <a:pPr marL="0" indent="0" algn="l">
              <a:spcBef>
                <a:spcPts val="0"/>
              </a:spcBef>
              <a:spcAft>
                <a:spcPts val="0"/>
              </a:spcAft>
              <a:buNone/>
            </a:pPr>
            <a:endParaRPr/>
          </a:p>
        </p:txBody>
      </p:sp>
      <p:sp>
        <p:nvSpPr>
          <p:cNvPr id="722" name="TD0"/>
          <p:cNvSpPr/>
          <p:nvPr/>
        </p:nvSpPr>
        <p:spPr>
          <a:xfrm>
            <a:off x="2560320" y="1444752"/>
            <a:ext cx="3108960" cy="41148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900" b="1" i="0" dirty="0">
                <a:solidFill>
                  <a:srgbClr val="1A1A1A"/>
                </a:solidFill>
              </a:rPr>
              <a:t>Input</a:t>
            </a:r>
          </a:p>
        </p:txBody>
      </p:sp>
      <p:sp>
        <p:nvSpPr>
          <p:cNvPr id="723" name="TE0"/>
          <p:cNvSpPr/>
          <p:nvPr/>
        </p:nvSpPr>
        <p:spPr>
          <a:xfrm>
            <a:off x="5760720" y="960120"/>
            <a:ext cx="3108960" cy="914400"/>
          </a:xfrm>
          <a:prstGeom prst="roundRect">
            <a:avLst>
              <a:gd name="adj" fmla="val 12000"/>
            </a:avLst>
          </a:prstGeom>
          <a:solidFill>
            <a:srgbClr val="EDE6F7"/>
          </a:solidFill>
          <a:ln>
            <a:noFill/>
          </a:ln>
        </p:spPr>
        <p:txBody>
          <a:bodyPr wrap="square" lIns="137160" tIns="137160" rIns="137160" bIns="137160" anchor="ctr">
            <a:noAutofit/>
          </a:bodyPr>
          <a:lstStyle/>
          <a:p>
            <a:pPr marL="0" indent="0" algn="l">
              <a:spcBef>
                <a:spcPts val="0"/>
              </a:spcBef>
              <a:spcAft>
                <a:spcPts val="0"/>
              </a:spcAft>
              <a:buNone/>
            </a:pPr>
            <a:r>
              <a:rPr lang="en-GB" sz="1600" b="0" i="0" dirty="0">
                <a:solidFill>
                  <a:srgbClr val="1A1A1A"/>
                </a:solidFill>
              </a:rPr>
              <a:t>Any output-to-input ratio</a:t>
            </a:r>
          </a:p>
        </p:txBody>
      </p:sp>
      <p:sp>
        <p:nvSpPr>
          <p:cNvPr id="724" name="TN1"/>
          <p:cNvSpPr/>
          <p:nvPr/>
        </p:nvSpPr>
        <p:spPr>
          <a:xfrm>
            <a:off x="274320" y="2011680"/>
            <a:ext cx="2194560" cy="914400"/>
          </a:xfrm>
          <a:prstGeom prst="roundRect">
            <a:avLst>
              <a:gd name="adj" fmla="val 12000"/>
            </a:avLst>
          </a:prstGeom>
          <a:solidFill>
            <a:srgbClr val="0B7A75"/>
          </a:solidFill>
          <a:ln>
            <a:noFill/>
          </a:ln>
        </p:spPr>
        <p:txBody>
          <a:bodyPr wrap="square" lIns="73152" tIns="73152" rIns="73152" bIns="73152" anchor="ctr">
            <a:noAutofit/>
          </a:bodyPr>
          <a:lstStyle/>
          <a:p>
            <a:pPr marL="0" indent="0" algn="ctr">
              <a:spcBef>
                <a:spcPts val="0"/>
              </a:spcBef>
              <a:spcAft>
                <a:spcPts val="0"/>
              </a:spcAft>
              <a:buNone/>
            </a:pPr>
            <a:r>
              <a:rPr lang="en-GB" sz="2000" b="1" i="0" dirty="0">
                <a:solidFill>
                  <a:srgbClr val="FFFFFF"/>
                </a:solidFill>
              </a:rPr>
              <a:t>Single-factor (Labour)</a:t>
            </a:r>
          </a:p>
        </p:txBody>
      </p:sp>
      <p:sp>
        <p:nvSpPr>
          <p:cNvPr id="725" name="TF1"/>
          <p:cNvSpPr/>
          <p:nvPr/>
        </p:nvSpPr>
        <p:spPr>
          <a:xfrm>
            <a:off x="2560320" y="2011680"/>
            <a:ext cx="3108960" cy="914400"/>
          </a:xfrm>
          <a:prstGeom prst="roundRect">
            <a:avLst>
              <a:gd name="adj" fmla="val 12000"/>
            </a:avLst>
          </a:prstGeom>
          <a:solidFill>
            <a:srgbClr val="FFFFFF"/>
          </a:solidFill>
          <a:ln w="12700">
            <a:solidFill>
              <a:srgbClr val="D5D0DE"/>
            </a:solidFill>
          </a:ln>
        </p:spPr>
        <p:txBody>
          <a:bodyPr wrap="square" lIns="73152" tIns="73152" rIns="73152" bIns="73152" anchor="t">
            <a:noAutofit/>
          </a:bodyPr>
          <a:lstStyle/>
          <a:p>
            <a:pPr marL="0" indent="0" algn="ctr">
              <a:spcBef>
                <a:spcPts val="0"/>
              </a:spcBef>
              <a:spcAft>
                <a:spcPts val="0"/>
              </a:spcAft>
              <a:buNone/>
            </a:pPr>
            <a:r>
              <a:rPr lang="en-GB" sz="1900" b="1" i="0" dirty="0">
                <a:solidFill>
                  <a:srgbClr val="1A1A1A"/>
                </a:solidFill>
              </a:rPr>
              <a:t>Output</a:t>
            </a:r>
          </a:p>
        </p:txBody>
      </p:sp>
      <p:sp>
        <p:nvSpPr>
          <p:cNvPr id="726" name="TL1"/>
          <p:cNvSpPr/>
          <p:nvPr/>
        </p:nvSpPr>
        <p:spPr>
          <a:xfrm>
            <a:off x="2926080" y="2468880"/>
            <a:ext cx="2377440" cy="27432"/>
          </a:xfrm>
          <a:prstGeom prst="rect">
            <a:avLst/>
          </a:prstGeom>
          <a:solidFill>
            <a:srgbClr val="1A1A1A"/>
          </a:solidFill>
          <a:ln>
            <a:noFill/>
          </a:ln>
        </p:spPr>
        <p:txBody>
          <a:bodyPr wrap="square" lIns="0" tIns="0" rIns="0" bIns="0" anchor="t">
            <a:noAutofit/>
          </a:bodyPr>
          <a:lstStyle/>
          <a:p>
            <a:pPr marL="0" indent="0" algn="l">
              <a:spcBef>
                <a:spcPts val="0"/>
              </a:spcBef>
              <a:spcAft>
                <a:spcPts val="0"/>
              </a:spcAft>
              <a:buNone/>
            </a:pPr>
            <a:endParaRPr/>
          </a:p>
        </p:txBody>
      </p:sp>
      <p:sp>
        <p:nvSpPr>
          <p:cNvPr id="727" name="TD1"/>
          <p:cNvSpPr/>
          <p:nvPr/>
        </p:nvSpPr>
        <p:spPr>
          <a:xfrm>
            <a:off x="2560320" y="2496312"/>
            <a:ext cx="3108960" cy="41148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900" b="1" i="0" dirty="0">
                <a:solidFill>
                  <a:srgbClr val="1A1A1A"/>
                </a:solidFill>
              </a:rPr>
              <a:t>One input</a:t>
            </a:r>
          </a:p>
        </p:txBody>
      </p:sp>
      <p:sp>
        <p:nvSpPr>
          <p:cNvPr id="728" name="TE1"/>
          <p:cNvSpPr/>
          <p:nvPr/>
        </p:nvSpPr>
        <p:spPr>
          <a:xfrm>
            <a:off x="5760720" y="2011680"/>
            <a:ext cx="3108960" cy="914400"/>
          </a:xfrm>
          <a:prstGeom prst="roundRect">
            <a:avLst>
              <a:gd name="adj" fmla="val 12000"/>
            </a:avLst>
          </a:prstGeom>
          <a:solidFill>
            <a:srgbClr val="D5EFEC"/>
          </a:solidFill>
          <a:ln>
            <a:noFill/>
          </a:ln>
        </p:spPr>
        <p:txBody>
          <a:bodyPr wrap="square" lIns="137160" tIns="137160" rIns="137160" bIns="137160" anchor="ctr">
            <a:noAutofit/>
          </a:bodyPr>
          <a:lstStyle/>
          <a:p>
            <a:pPr marL="0" indent="0" algn="l">
              <a:spcBef>
                <a:spcPts val="0"/>
              </a:spcBef>
              <a:spcAft>
                <a:spcPts val="0"/>
              </a:spcAft>
              <a:buNone/>
            </a:pPr>
            <a:r>
              <a:rPr lang="en-GB" sz="1600" b="0" i="0" dirty="0">
                <a:solidFill>
                  <a:srgbClr val="1A1A1A"/>
                </a:solidFill>
              </a:rPr>
              <a:t>e.g. drinks per labour hour</a:t>
            </a:r>
          </a:p>
        </p:txBody>
      </p:sp>
      <p:sp>
        <p:nvSpPr>
          <p:cNvPr id="729" name="TN2"/>
          <p:cNvSpPr/>
          <p:nvPr/>
        </p:nvSpPr>
        <p:spPr>
          <a:xfrm>
            <a:off x="274320" y="3063240"/>
            <a:ext cx="2194560" cy="914400"/>
          </a:xfrm>
          <a:prstGeom prst="roundRect">
            <a:avLst>
              <a:gd name="adj" fmla="val 12000"/>
            </a:avLst>
          </a:prstGeom>
          <a:solidFill>
            <a:srgbClr val="1F5FAD"/>
          </a:solidFill>
          <a:ln>
            <a:noFill/>
          </a:ln>
        </p:spPr>
        <p:txBody>
          <a:bodyPr wrap="square" lIns="73152" tIns="73152" rIns="73152" bIns="73152" anchor="ctr">
            <a:noAutofit/>
          </a:bodyPr>
          <a:lstStyle/>
          <a:p>
            <a:pPr marL="0" indent="0" algn="ctr">
              <a:spcBef>
                <a:spcPts val="0"/>
              </a:spcBef>
              <a:spcAft>
                <a:spcPts val="0"/>
              </a:spcAft>
              <a:buNone/>
            </a:pPr>
            <a:r>
              <a:rPr lang="en-GB" sz="2000" b="1" i="0" dirty="0">
                <a:solidFill>
                  <a:srgbClr val="FFFFFF"/>
                </a:solidFill>
              </a:rPr>
              <a:t>Multifactor</a:t>
            </a:r>
          </a:p>
        </p:txBody>
      </p:sp>
      <p:sp>
        <p:nvSpPr>
          <p:cNvPr id="730" name="TF2"/>
          <p:cNvSpPr/>
          <p:nvPr/>
        </p:nvSpPr>
        <p:spPr>
          <a:xfrm>
            <a:off x="2560320" y="3063240"/>
            <a:ext cx="3108960" cy="914400"/>
          </a:xfrm>
          <a:prstGeom prst="roundRect">
            <a:avLst>
              <a:gd name="adj" fmla="val 12000"/>
            </a:avLst>
          </a:prstGeom>
          <a:solidFill>
            <a:srgbClr val="FFFFFF"/>
          </a:solidFill>
          <a:ln w="12700">
            <a:solidFill>
              <a:srgbClr val="D5D0DE"/>
            </a:solidFill>
          </a:ln>
        </p:spPr>
        <p:txBody>
          <a:bodyPr wrap="square" lIns="73152" tIns="73152" rIns="73152" bIns="73152" anchor="t">
            <a:noAutofit/>
          </a:bodyPr>
          <a:lstStyle/>
          <a:p>
            <a:pPr marL="0" indent="0" algn="ctr">
              <a:spcBef>
                <a:spcPts val="0"/>
              </a:spcBef>
              <a:spcAft>
                <a:spcPts val="0"/>
              </a:spcAft>
              <a:buNone/>
            </a:pPr>
            <a:r>
              <a:rPr lang="en-GB" sz="1900" b="1" i="0" dirty="0">
                <a:solidFill>
                  <a:srgbClr val="1A1A1A"/>
                </a:solidFill>
              </a:rPr>
              <a:t>Output</a:t>
            </a:r>
          </a:p>
        </p:txBody>
      </p:sp>
      <p:sp>
        <p:nvSpPr>
          <p:cNvPr id="731" name="TL2"/>
          <p:cNvSpPr/>
          <p:nvPr/>
        </p:nvSpPr>
        <p:spPr>
          <a:xfrm>
            <a:off x="2926080" y="3520440"/>
            <a:ext cx="2377440" cy="27432"/>
          </a:xfrm>
          <a:prstGeom prst="rect">
            <a:avLst/>
          </a:prstGeom>
          <a:solidFill>
            <a:srgbClr val="1A1A1A"/>
          </a:solidFill>
          <a:ln>
            <a:noFill/>
          </a:ln>
        </p:spPr>
        <p:txBody>
          <a:bodyPr wrap="square" lIns="0" tIns="0" rIns="0" bIns="0" anchor="t">
            <a:noAutofit/>
          </a:bodyPr>
          <a:lstStyle/>
          <a:p>
            <a:pPr marL="0" indent="0" algn="l">
              <a:spcBef>
                <a:spcPts val="0"/>
              </a:spcBef>
              <a:spcAft>
                <a:spcPts val="0"/>
              </a:spcAft>
              <a:buNone/>
            </a:pPr>
            <a:endParaRPr/>
          </a:p>
        </p:txBody>
      </p:sp>
      <p:sp>
        <p:nvSpPr>
          <p:cNvPr id="732" name="TD2"/>
          <p:cNvSpPr/>
          <p:nvPr/>
        </p:nvSpPr>
        <p:spPr>
          <a:xfrm>
            <a:off x="2560320" y="3547872"/>
            <a:ext cx="3108960" cy="41148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900" b="1" i="0" dirty="0">
                <a:solidFill>
                  <a:srgbClr val="1A1A1A"/>
                </a:solidFill>
              </a:rPr>
              <a:t>All inputs (in £)</a:t>
            </a:r>
          </a:p>
        </p:txBody>
      </p:sp>
      <p:sp>
        <p:nvSpPr>
          <p:cNvPr id="733" name="TE2"/>
          <p:cNvSpPr/>
          <p:nvPr/>
        </p:nvSpPr>
        <p:spPr>
          <a:xfrm>
            <a:off x="5760720" y="3063240"/>
            <a:ext cx="3108960" cy="914400"/>
          </a:xfrm>
          <a:prstGeom prst="roundRect">
            <a:avLst>
              <a:gd name="adj" fmla="val 12000"/>
            </a:avLst>
          </a:prstGeom>
          <a:solidFill>
            <a:srgbClr val="DCE8F7"/>
          </a:solidFill>
          <a:ln>
            <a:noFill/>
          </a:ln>
        </p:spPr>
        <p:txBody>
          <a:bodyPr wrap="square" lIns="137160" tIns="137160" rIns="137160" bIns="137160" anchor="ctr">
            <a:noAutofit/>
          </a:bodyPr>
          <a:lstStyle/>
          <a:p>
            <a:pPr marL="0" indent="0" algn="l">
              <a:spcBef>
                <a:spcPts val="0"/>
              </a:spcBef>
              <a:spcAft>
                <a:spcPts val="0"/>
              </a:spcAft>
              <a:buNone/>
            </a:pPr>
            <a:r>
              <a:rPr lang="en-GB" sz="1600" b="0" i="0" dirty="0">
                <a:solidFill>
                  <a:srgbClr val="1A1A1A"/>
                </a:solidFill>
              </a:rPr>
              <a:t>e.g. drinks per £ of total cost</a:t>
            </a:r>
          </a:p>
        </p:txBody>
      </p:sp>
      <p:sp>
        <p:nvSpPr>
          <p:cNvPr id="734" name="TU"/>
          <p:cNvSpPr/>
          <p:nvPr/>
        </p:nvSpPr>
        <p:spPr>
          <a:xfrm>
            <a:off x="274320" y="4114800"/>
            <a:ext cx="8595360" cy="50292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700" b="1" i="0" dirty="0">
                <a:solidFill>
                  <a:srgbClr val="C2410C"/>
                </a:solidFill>
              </a:rPr>
              <a:t>Always state the units.  </a:t>
            </a:r>
            <a:r>
              <a:rPr lang="en-GB" sz="1700" b="0" i="0" dirty="0">
                <a:solidFill>
                  <a:srgbClr val="1A1A1A"/>
                </a:solidFill>
              </a:rPr>
              <a:t>Drinks per hour, orders per £…</a:t>
            </a:r>
          </a:p>
        </p:txBody>
      </p:sp>
    </p:spTree>
    <p:extLst>
      <p:ext uri="{BB962C8B-B14F-4D97-AF65-F5344CB8AC3E}">
        <p14:creationId xmlns:p14="http://schemas.microsoft.com/office/powerpoint/2010/main" val="36513543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Worked Example: A Coffee Shop</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11</a:t>
            </a:fld>
            <a:endParaRPr lang="en"/>
          </a:p>
        </p:txBody>
      </p:sp>
      <p:sp>
        <p:nvSpPr>
          <p:cNvPr id="735" name="Chip"/>
          <p:cNvSpPr/>
          <p:nvPr/>
        </p:nvSpPr>
        <p:spPr>
          <a:xfrm>
            <a:off x="274320" y="914400"/>
            <a:ext cx="1591056" cy="292608"/>
          </a:xfrm>
          <a:prstGeom prst="roundRect">
            <a:avLst>
              <a:gd name="adj" fmla="val 12000"/>
            </a:avLst>
          </a:prstGeom>
          <a:solidFill>
            <a:srgbClr val="440099"/>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WORKED EXAMPLE</a:t>
            </a:r>
          </a:p>
        </p:txBody>
      </p:sp>
      <p:sp>
        <p:nvSpPr>
          <p:cNvPr id="736" name="Strip"/>
          <p:cNvSpPr/>
          <p:nvPr/>
        </p:nvSpPr>
        <p:spPr>
          <a:xfrm>
            <a:off x="274320" y="1325880"/>
            <a:ext cx="8595360" cy="59436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440099"/>
                </a:solidFill>
              </a:rPr>
              <a:t>A busy city-centre coffee shop </a:t>
            </a:r>
            <a:r>
              <a:rPr lang="en-GB" sz="1650" b="0" i="0" dirty="0">
                <a:solidFill>
                  <a:srgbClr val="1A1A1A"/>
                </a:solidFill>
              </a:rPr>
              <a:t>compares two years of trading.</a:t>
            </a:r>
          </a:p>
        </p:txBody>
      </p:sp>
      <p:sp>
        <p:nvSpPr>
          <p:cNvPr id="737" name="G00"/>
          <p:cNvSpPr/>
          <p:nvPr/>
        </p:nvSpPr>
        <p:spPr>
          <a:xfrm>
            <a:off x="1417320" y="2011680"/>
            <a:ext cx="2606040" cy="347472"/>
          </a:xfrm>
          <a:prstGeom prst="rect">
            <a:avLst/>
          </a:prstGeom>
          <a:solidFill>
            <a:srgbClr val="440099"/>
          </a:solidFill>
          <a:ln>
            <a:noFill/>
          </a:ln>
        </p:spPr>
        <p:txBody>
          <a:bodyPr wrap="square" lIns="91440" tIns="91440" rIns="91440" bIns="91440" anchor="ctr">
            <a:noAutofit/>
          </a:bodyPr>
          <a:lstStyle/>
          <a:p>
            <a:pPr marL="0" indent="0" algn="l">
              <a:spcBef>
                <a:spcPts val="0"/>
              </a:spcBef>
              <a:spcAft>
                <a:spcPts val="0"/>
              </a:spcAft>
              <a:buNone/>
            </a:pPr>
            <a:endParaRPr/>
          </a:p>
        </p:txBody>
      </p:sp>
      <p:sp>
        <p:nvSpPr>
          <p:cNvPr id="738" name="G01"/>
          <p:cNvSpPr/>
          <p:nvPr/>
        </p:nvSpPr>
        <p:spPr>
          <a:xfrm>
            <a:off x="4114800" y="2011680"/>
            <a:ext cx="2286000" cy="347472"/>
          </a:xfrm>
          <a:prstGeom prst="rect">
            <a:avLst/>
          </a:prstGeom>
          <a:solidFill>
            <a:srgbClr val="440099"/>
          </a:solidFill>
          <a:ln>
            <a:noFill/>
          </a:ln>
        </p:spPr>
        <p:txBody>
          <a:bodyPr wrap="square" lIns="91440" tIns="91440" rIns="91440" bIns="91440" anchor="ctr">
            <a:noAutofit/>
          </a:bodyPr>
          <a:lstStyle/>
          <a:p>
            <a:pPr marL="0" indent="0" algn="ctr">
              <a:spcBef>
                <a:spcPts val="0"/>
              </a:spcBef>
              <a:spcAft>
                <a:spcPts val="0"/>
              </a:spcAft>
              <a:buNone/>
            </a:pPr>
            <a:r>
              <a:rPr lang="en-GB" sz="1550" b="1" i="0" dirty="0">
                <a:solidFill>
                  <a:srgbClr val="FFFFFF"/>
                </a:solidFill>
              </a:rPr>
              <a:t>Year 1</a:t>
            </a:r>
          </a:p>
        </p:txBody>
      </p:sp>
      <p:sp>
        <p:nvSpPr>
          <p:cNvPr id="739" name="G02"/>
          <p:cNvSpPr/>
          <p:nvPr/>
        </p:nvSpPr>
        <p:spPr>
          <a:xfrm>
            <a:off x="6492240" y="2011680"/>
            <a:ext cx="2377440" cy="347472"/>
          </a:xfrm>
          <a:prstGeom prst="rect">
            <a:avLst/>
          </a:prstGeom>
          <a:solidFill>
            <a:srgbClr val="440099"/>
          </a:solidFill>
          <a:ln>
            <a:noFill/>
          </a:ln>
        </p:spPr>
        <p:txBody>
          <a:bodyPr wrap="square" lIns="91440" tIns="91440" rIns="91440" bIns="91440" anchor="ctr">
            <a:noAutofit/>
          </a:bodyPr>
          <a:lstStyle/>
          <a:p>
            <a:pPr marL="0" indent="0" algn="ctr">
              <a:spcBef>
                <a:spcPts val="0"/>
              </a:spcBef>
              <a:spcAft>
                <a:spcPts val="0"/>
              </a:spcAft>
              <a:buNone/>
            </a:pPr>
            <a:r>
              <a:rPr lang="en-GB" sz="1550" b="1" i="0" dirty="0">
                <a:solidFill>
                  <a:srgbClr val="FFFFFF"/>
                </a:solidFill>
              </a:rPr>
              <a:t>Year 2</a:t>
            </a:r>
          </a:p>
        </p:txBody>
      </p:sp>
      <p:sp>
        <p:nvSpPr>
          <p:cNvPr id="740" name="G10"/>
          <p:cNvSpPr/>
          <p:nvPr/>
        </p:nvSpPr>
        <p:spPr>
          <a:xfrm>
            <a:off x="1417320" y="2395728"/>
            <a:ext cx="260604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550" b="1" i="0" dirty="0">
                <a:solidFill>
                  <a:srgbClr val="0B7A75"/>
                </a:solidFill>
              </a:rPr>
              <a:t>Staff costs</a:t>
            </a:r>
          </a:p>
        </p:txBody>
      </p:sp>
      <p:sp>
        <p:nvSpPr>
          <p:cNvPr id="741" name="G11"/>
          <p:cNvSpPr/>
          <p:nvPr/>
        </p:nvSpPr>
        <p:spPr>
          <a:xfrm>
            <a:off x="4114800" y="2395728"/>
            <a:ext cx="228600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0" i="0" dirty="0">
                <a:solidFill>
                  <a:srgbClr val="1A1A1A"/>
                </a:solidFill>
              </a:rPr>
              <a:t>£180,000</a:t>
            </a:r>
          </a:p>
        </p:txBody>
      </p:sp>
      <p:sp>
        <p:nvSpPr>
          <p:cNvPr id="742" name="G12"/>
          <p:cNvSpPr/>
          <p:nvPr/>
        </p:nvSpPr>
        <p:spPr>
          <a:xfrm>
            <a:off x="6492240" y="2395728"/>
            <a:ext cx="237744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0" i="0" dirty="0">
                <a:solidFill>
                  <a:srgbClr val="1A1A1A"/>
                </a:solidFill>
              </a:rPr>
              <a:t>£350,000</a:t>
            </a:r>
          </a:p>
        </p:txBody>
      </p:sp>
      <p:sp>
        <p:nvSpPr>
          <p:cNvPr id="743" name="G20"/>
          <p:cNvSpPr/>
          <p:nvPr/>
        </p:nvSpPr>
        <p:spPr>
          <a:xfrm>
            <a:off x="1417320" y="2779776"/>
            <a:ext cx="260604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550" b="1" i="0" dirty="0">
                <a:solidFill>
                  <a:srgbClr val="0B7A75"/>
                </a:solidFill>
              </a:rPr>
              <a:t>Coffee, milk and cups</a:t>
            </a:r>
          </a:p>
        </p:txBody>
      </p:sp>
      <p:sp>
        <p:nvSpPr>
          <p:cNvPr id="744" name="G21"/>
          <p:cNvSpPr/>
          <p:nvPr/>
        </p:nvSpPr>
        <p:spPr>
          <a:xfrm>
            <a:off x="4114800" y="2779776"/>
            <a:ext cx="228600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0" i="0" dirty="0">
                <a:solidFill>
                  <a:srgbClr val="1A1A1A"/>
                </a:solidFill>
              </a:rPr>
              <a:t>£30,000</a:t>
            </a:r>
          </a:p>
        </p:txBody>
      </p:sp>
      <p:sp>
        <p:nvSpPr>
          <p:cNvPr id="745" name="G22"/>
          <p:cNvSpPr/>
          <p:nvPr/>
        </p:nvSpPr>
        <p:spPr>
          <a:xfrm>
            <a:off x="6492240" y="2779776"/>
            <a:ext cx="237744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0" i="0" dirty="0">
                <a:solidFill>
                  <a:srgbClr val="1A1A1A"/>
                </a:solidFill>
              </a:rPr>
              <a:t>£40,000</a:t>
            </a:r>
          </a:p>
        </p:txBody>
      </p:sp>
      <p:sp>
        <p:nvSpPr>
          <p:cNvPr id="746" name="G30"/>
          <p:cNvSpPr/>
          <p:nvPr/>
        </p:nvSpPr>
        <p:spPr>
          <a:xfrm>
            <a:off x="1417320" y="3163824"/>
            <a:ext cx="260604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550" b="1" i="0" dirty="0">
                <a:solidFill>
                  <a:srgbClr val="0B7A75"/>
                </a:solidFill>
              </a:rPr>
              <a:t>Energy</a:t>
            </a:r>
          </a:p>
        </p:txBody>
      </p:sp>
      <p:sp>
        <p:nvSpPr>
          <p:cNvPr id="747" name="G31"/>
          <p:cNvSpPr/>
          <p:nvPr/>
        </p:nvSpPr>
        <p:spPr>
          <a:xfrm>
            <a:off x="4114800" y="3163824"/>
            <a:ext cx="228600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0" i="0" dirty="0">
                <a:solidFill>
                  <a:srgbClr val="1A1A1A"/>
                </a:solidFill>
              </a:rPr>
              <a:t>£5,000</a:t>
            </a:r>
          </a:p>
        </p:txBody>
      </p:sp>
      <p:sp>
        <p:nvSpPr>
          <p:cNvPr id="748" name="G32"/>
          <p:cNvSpPr/>
          <p:nvPr/>
        </p:nvSpPr>
        <p:spPr>
          <a:xfrm>
            <a:off x="6492240" y="3163824"/>
            <a:ext cx="2377440" cy="347472"/>
          </a:xfrm>
          <a:prstGeom prst="rect">
            <a:avLst/>
          </a:prstGeom>
          <a:solidFill>
            <a:srgbClr val="D5EFEC"/>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0" i="0" dirty="0">
                <a:solidFill>
                  <a:srgbClr val="1A1A1A"/>
                </a:solidFill>
              </a:rPr>
              <a:t>£6,000</a:t>
            </a:r>
          </a:p>
        </p:txBody>
      </p:sp>
      <p:sp>
        <p:nvSpPr>
          <p:cNvPr id="749" name="G40"/>
          <p:cNvSpPr/>
          <p:nvPr/>
        </p:nvSpPr>
        <p:spPr>
          <a:xfrm>
            <a:off x="1417320" y="3547872"/>
            <a:ext cx="2606040" cy="347472"/>
          </a:xfrm>
          <a:prstGeom prst="rect">
            <a:avLst/>
          </a:prstGeom>
          <a:solidFill>
            <a:srgbClr val="FCE3D6"/>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550" b="1" i="0" dirty="0">
                <a:solidFill>
                  <a:srgbClr val="C2410C"/>
                </a:solidFill>
              </a:rPr>
              <a:t>Drinks sold</a:t>
            </a:r>
          </a:p>
        </p:txBody>
      </p:sp>
      <p:sp>
        <p:nvSpPr>
          <p:cNvPr id="750" name="G41"/>
          <p:cNvSpPr/>
          <p:nvPr/>
        </p:nvSpPr>
        <p:spPr>
          <a:xfrm>
            <a:off x="4114800" y="3547872"/>
            <a:ext cx="2286000" cy="347472"/>
          </a:xfrm>
          <a:prstGeom prst="rect">
            <a:avLst/>
          </a:prstGeom>
          <a:solidFill>
            <a:srgbClr val="FCE3D6"/>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1" i="0" dirty="0">
                <a:solidFill>
                  <a:srgbClr val="C2410C"/>
                </a:solidFill>
              </a:rPr>
              <a:t>100,000</a:t>
            </a:r>
          </a:p>
        </p:txBody>
      </p:sp>
      <p:sp>
        <p:nvSpPr>
          <p:cNvPr id="751" name="G42"/>
          <p:cNvSpPr/>
          <p:nvPr/>
        </p:nvSpPr>
        <p:spPr>
          <a:xfrm>
            <a:off x="6492240" y="3547872"/>
            <a:ext cx="2377440" cy="347472"/>
          </a:xfrm>
          <a:prstGeom prst="rect">
            <a:avLst/>
          </a:prstGeom>
          <a:solidFill>
            <a:srgbClr val="FCE3D6"/>
          </a:solidFill>
          <a:ln w="12700">
            <a:solidFill>
              <a:srgbClr val="D5D0DE"/>
            </a:solidFill>
          </a:ln>
        </p:spPr>
        <p:txBody>
          <a:bodyPr wrap="square" lIns="91440" tIns="91440" rIns="91440" bIns="91440" anchor="ctr">
            <a:noAutofit/>
          </a:bodyPr>
          <a:lstStyle/>
          <a:p>
            <a:pPr marL="0" indent="0" algn="ctr">
              <a:spcBef>
                <a:spcPts val="0"/>
              </a:spcBef>
              <a:spcAft>
                <a:spcPts val="0"/>
              </a:spcAft>
              <a:buNone/>
            </a:pPr>
            <a:r>
              <a:rPr lang="en-GB" sz="1550" b="1" i="0" dirty="0">
                <a:solidFill>
                  <a:srgbClr val="C2410C"/>
                </a:solidFill>
              </a:rPr>
              <a:t>150,000</a:t>
            </a:r>
          </a:p>
        </p:txBody>
      </p:sp>
      <p:sp>
        <p:nvSpPr>
          <p:cNvPr id="752" name="INP"/>
          <p:cNvSpPr/>
          <p:nvPr/>
        </p:nvSpPr>
        <p:spPr>
          <a:xfrm>
            <a:off x="274320" y="2395728"/>
            <a:ext cx="1051560" cy="1115568"/>
          </a:xfrm>
          <a:prstGeom prst="roundRect">
            <a:avLst>
              <a:gd name="adj" fmla="val 12000"/>
            </a:avLst>
          </a:prstGeom>
          <a:solidFill>
            <a:srgbClr val="0B7A75"/>
          </a:solidFill>
          <a:ln>
            <a:noFill/>
          </a:ln>
        </p:spPr>
        <p:txBody>
          <a:bodyPr wrap="square" lIns="27432" tIns="27432" rIns="27432" bIns="27432" anchor="ctr">
            <a:noAutofit/>
          </a:bodyPr>
          <a:lstStyle/>
          <a:p>
            <a:pPr marL="0" indent="0" algn="ctr">
              <a:spcBef>
                <a:spcPts val="0"/>
              </a:spcBef>
              <a:spcAft>
                <a:spcPts val="0"/>
              </a:spcAft>
              <a:buNone/>
            </a:pPr>
            <a:r>
              <a:rPr lang="en-GB" sz="1500" b="1" i="0" dirty="0">
                <a:solidFill>
                  <a:srgbClr val="FFFFFF"/>
                </a:solidFill>
              </a:rPr>
              <a:t>INPUTS</a:t>
            </a:r>
          </a:p>
        </p:txBody>
      </p:sp>
      <p:sp>
        <p:nvSpPr>
          <p:cNvPr id="753" name="OUT"/>
          <p:cNvSpPr/>
          <p:nvPr/>
        </p:nvSpPr>
        <p:spPr>
          <a:xfrm>
            <a:off x="274320" y="3547872"/>
            <a:ext cx="1051560" cy="347472"/>
          </a:xfrm>
          <a:prstGeom prst="roundRect">
            <a:avLst>
              <a:gd name="adj" fmla="val 12000"/>
            </a:avLst>
          </a:prstGeom>
          <a:solidFill>
            <a:srgbClr val="C2410C"/>
          </a:solidFill>
          <a:ln>
            <a:noFill/>
          </a:ln>
        </p:spPr>
        <p:txBody>
          <a:bodyPr wrap="square" lIns="18288" tIns="18288" rIns="18288" bIns="18288" anchor="ctr">
            <a:noAutofit/>
          </a:bodyPr>
          <a:lstStyle/>
          <a:p>
            <a:pPr marL="0" indent="0" algn="ctr">
              <a:spcBef>
                <a:spcPts val="0"/>
              </a:spcBef>
              <a:spcAft>
                <a:spcPts val="0"/>
              </a:spcAft>
              <a:buNone/>
            </a:pPr>
            <a:r>
              <a:rPr lang="en-GB" sz="1400" b="1" i="0" dirty="0">
                <a:solidFill>
                  <a:srgbClr val="FFFFFF"/>
                </a:solidFill>
              </a:rPr>
              <a:t>OUTPUT</a:t>
            </a:r>
          </a:p>
        </p:txBody>
      </p:sp>
      <p:sp>
        <p:nvSpPr>
          <p:cNvPr id="754" name="Note"/>
          <p:cNvSpPr/>
          <p:nvPr/>
        </p:nvSpPr>
        <p:spPr>
          <a:xfrm>
            <a:off x="274320" y="4069080"/>
            <a:ext cx="8595360" cy="548640"/>
          </a:xfrm>
          <a:prstGeom prst="roundRect">
            <a:avLst>
              <a:gd name="adj" fmla="val 12000"/>
            </a:avLst>
          </a:prstGeom>
          <a:solidFill>
            <a:srgbClr val="FFFFFF"/>
          </a:solidFill>
          <a:ln w="25400">
            <a:solidFill>
              <a:srgbClr val="440099"/>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440099"/>
                </a:solidFill>
              </a:rPr>
              <a:t>Task:  </a:t>
            </a:r>
            <a:r>
              <a:rPr lang="en-GB" sz="1600" b="0" i="0" dirty="0">
                <a:solidFill>
                  <a:srgbClr val="1A1A1A"/>
                </a:solidFill>
              </a:rPr>
              <a:t>calculate labour and multifactor productivity for each year. Has productivity improved?</a:t>
            </a:r>
          </a:p>
        </p:txBody>
      </p:sp>
    </p:spTree>
    <p:extLst>
      <p:ext uri="{BB962C8B-B14F-4D97-AF65-F5344CB8AC3E}">
        <p14:creationId xmlns:p14="http://schemas.microsoft.com/office/powerpoint/2010/main" val="36513543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40FA06AC-BEAA-0BA8-88EC-9A056CF6BF00}"/>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9002D881-5AE9-55D4-A52E-82E89340E4B2}"/>
              </a:ext>
            </a:extLst>
          </p:cNvPr>
          <p:cNvSpPr txBox="1">
            <a:spLocks noGrp="1"/>
          </p:cNvSpPr>
          <p:nvPr>
            <p:ph type="title"/>
          </p:nvPr>
        </p:nvSpPr>
        <p:spPr>
          <a:xfrm>
            <a:off x="2736493" y="315936"/>
            <a:ext cx="4243971" cy="572700"/>
          </a:xfrm>
        </p:spPr>
        <p:txBody>
          <a:bodyPr spcFirstLastPara="1" wrap="square" lIns="91425" tIns="91425" rIns="91425" bIns="91425" anchor="ctr" anchorCtr="0">
            <a:normAutofit/>
          </a:bodyPr>
          <a:lstStyle/>
          <a:p>
            <a:pPr marL="0" lvl="0" indent="0" rtl="0">
              <a:spcBef>
                <a:spcPts val="0"/>
              </a:spcBef>
              <a:spcAft>
                <a:spcPts val="0"/>
              </a:spcAft>
              <a:buNone/>
            </a:pPr>
            <a:r>
              <a:rPr lang="en-GB" sz="2500" b="1" dirty="0"/>
              <a:t>Answers</a:t>
            </a:r>
          </a:p>
        </p:txBody>
      </p:sp>
      <p:sp>
        <p:nvSpPr>
          <p:cNvPr id="73" name="Slide Number Placeholder 2">
            <a:extLst>
              <a:ext uri="{FF2B5EF4-FFF2-40B4-BE49-F238E27FC236}">
                <a16:creationId xmlns:a16="http://schemas.microsoft.com/office/drawing/2014/main" id="{1DD36B70-4C5E-1772-3178-8B19231D1767}"/>
              </a:ext>
            </a:extLst>
          </p:cNvPr>
          <p:cNvSpPr>
            <a:spLocks noGrp="1"/>
          </p:cNvSpPr>
          <p:nvPr>
            <p:ph type="sldNum" idx="12"/>
          </p:nvPr>
        </p:nvSpPr>
        <p:spPr>
          <a:xfrm>
            <a:off x="8444334" y="4745726"/>
            <a:ext cx="548700" cy="393600"/>
          </a:xfrm>
        </p:spPr>
        <p:txBody>
          <a:bodyPr wrap="square" anchor="t">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12</a:t>
            </a:fld>
            <a:endParaRPr lang="en" sz="900"/>
          </a:p>
        </p:txBody>
      </p:sp>
      <p:sp>
        <p:nvSpPr>
          <p:cNvPr id="9" name="TextBox 8">
            <a:extLst>
              <a:ext uri="{FF2B5EF4-FFF2-40B4-BE49-F238E27FC236}">
                <a16:creationId xmlns:a16="http://schemas.microsoft.com/office/drawing/2014/main" id="{E7AC365B-1A01-A32F-4087-678CE9A06022}"/>
              </a:ext>
            </a:extLst>
          </p:cNvPr>
          <p:cNvSpPr txBox="1"/>
          <p:nvPr/>
        </p:nvSpPr>
        <p:spPr>
          <a:xfrm>
            <a:off x="4572000" y="4076450"/>
            <a:ext cx="5670096" cy="307777"/>
          </a:xfrm>
          <a:prstGeom prst="rect">
            <a:avLst/>
          </a:prstGeom>
          <a:noFill/>
        </p:spPr>
        <p:txBody>
          <a:bodyPr wrap="square">
            <a:spAutoFit/>
          </a:bodyPr>
          <a:lstStyle/>
          <a:p>
            <a:r>
              <a:rPr lang="en-GB" dirty="0">
                <a:hlinkClick r:id="rId3"/>
              </a:rPr>
              <a:t>Edit Productivity and Service Failure - </a:t>
            </a:r>
            <a:r>
              <a:rPr lang="en-GB" dirty="0" err="1">
                <a:hlinkClick r:id="rId3"/>
              </a:rPr>
              <a:t>Wooclap</a:t>
            </a:r>
            <a:endParaRPr lang="en-GB" dirty="0"/>
          </a:p>
        </p:txBody>
      </p:sp>
      <p:sp>
        <p:nvSpPr>
          <p:cNvPr id="3" name="TextBox 2">
            <a:extLst>
              <a:ext uri="{FF2B5EF4-FFF2-40B4-BE49-F238E27FC236}">
                <a16:creationId xmlns:a16="http://schemas.microsoft.com/office/drawing/2014/main" id="{B64AA759-40DD-F4B9-06B7-163DD2273D6C}"/>
              </a:ext>
            </a:extLst>
          </p:cNvPr>
          <p:cNvSpPr txBox="1"/>
          <p:nvPr/>
        </p:nvSpPr>
        <p:spPr>
          <a:xfrm>
            <a:off x="4678134" y="2310140"/>
            <a:ext cx="3600451" cy="523220"/>
          </a:xfrm>
          <a:prstGeom prst="rect">
            <a:avLst/>
          </a:prstGeom>
          <a:noFill/>
        </p:spPr>
        <p:txBody>
          <a:bodyPr wrap="square">
            <a:spAutoFit/>
          </a:bodyPr>
          <a:lstStyle/>
          <a:p>
            <a:r>
              <a:rPr lang="en-GB" dirty="0"/>
              <a:t>https://app.wooclap.com/</a:t>
            </a:r>
            <a:r>
              <a:rPr lang="en-GB" b="1" dirty="0"/>
              <a:t>BQRYOLH</a:t>
            </a:r>
            <a:r>
              <a:rPr lang="en-GB" dirty="0"/>
              <a:t>?from=instruction-slide</a:t>
            </a:r>
          </a:p>
        </p:txBody>
      </p:sp>
      <p:pic>
        <p:nvPicPr>
          <p:cNvPr id="6" name="Picture 5">
            <a:extLst>
              <a:ext uri="{FF2B5EF4-FFF2-40B4-BE49-F238E27FC236}">
                <a16:creationId xmlns:a16="http://schemas.microsoft.com/office/drawing/2014/main" id="{EB3A6A19-1101-FF17-5A8B-61631F6C615F}"/>
              </a:ext>
            </a:extLst>
          </p:cNvPr>
          <p:cNvPicPr>
            <a:picLocks noChangeAspect="1"/>
          </p:cNvPicPr>
          <p:nvPr/>
        </p:nvPicPr>
        <p:blipFill>
          <a:blip r:embed="rId4"/>
          <a:stretch>
            <a:fillRect/>
          </a:stretch>
        </p:blipFill>
        <p:spPr>
          <a:xfrm>
            <a:off x="20411" y="888636"/>
            <a:ext cx="4286250" cy="4286250"/>
          </a:xfrm>
          <a:prstGeom prst="rect">
            <a:avLst/>
          </a:prstGeom>
        </p:spPr>
      </p:pic>
    </p:spTree>
    <p:extLst>
      <p:ext uri="{BB962C8B-B14F-4D97-AF65-F5344CB8AC3E}">
        <p14:creationId xmlns:p14="http://schemas.microsoft.com/office/powerpoint/2010/main" val="25351367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Output Rises, Productivity Falls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13</a:t>
            </a:fld>
            <a:endParaRPr lang="en"/>
          </a:p>
        </p:txBody>
      </p:sp>
      <p:sp>
        <p:nvSpPr>
          <p:cNvPr id="526" name="C0Drinks"/>
          <p:cNvSpPr/>
          <p:nvPr/>
        </p:nvSpPr>
        <p:spPr>
          <a:xfrm>
            <a:off x="274320" y="1051560"/>
            <a:ext cx="2761488" cy="1188720"/>
          </a:xfrm>
          <a:prstGeom prst="roundRect">
            <a:avLst>
              <a:gd name="adj" fmla="val 12000"/>
            </a:avLst>
          </a:prstGeom>
          <a:solidFill>
            <a:srgbClr val="440099"/>
          </a:solidFill>
          <a:ln>
            <a:noFill/>
          </a:ln>
        </p:spPr>
        <p:txBody>
          <a:bodyPr wrap="square" lIns="128016" tIns="128016" rIns="128016" bIns="128016" anchor="t">
            <a:noAutofit/>
          </a:bodyPr>
          <a:lstStyle/>
          <a:p>
            <a:pPr marL="0" indent="0" algn="l">
              <a:spcBef>
                <a:spcPts val="0"/>
              </a:spcBef>
              <a:spcAft>
                <a:spcPts val="300"/>
              </a:spcAft>
              <a:buNone/>
            </a:pPr>
            <a:r>
              <a:rPr lang="en-GB" sz="1700" b="1" i="0" dirty="0">
                <a:solidFill>
                  <a:srgbClr val="FFFFFF"/>
                </a:solidFill>
              </a:rPr>
              <a:t>Drinks sold</a:t>
            </a:r>
          </a:p>
          <a:p>
            <a:pPr marL="0" indent="0" algn="l">
              <a:spcBef>
                <a:spcPts val="0"/>
              </a:spcBef>
              <a:spcAft>
                <a:spcPts val="0"/>
              </a:spcAft>
              <a:buNone/>
            </a:pPr>
            <a:r>
              <a:rPr lang="en-GB" sz="2200" b="0" i="0" dirty="0">
                <a:solidFill>
                  <a:srgbClr val="FFFFFF"/>
                </a:solidFill>
              </a:rPr>
              <a:t>up 50%</a:t>
            </a:r>
          </a:p>
        </p:txBody>
      </p:sp>
      <p:sp>
        <p:nvSpPr>
          <p:cNvPr id="527" name="C1Staff "/>
          <p:cNvSpPr/>
          <p:nvPr/>
        </p:nvSpPr>
        <p:spPr>
          <a:xfrm>
            <a:off x="3191256" y="1051560"/>
            <a:ext cx="2761488" cy="1188720"/>
          </a:xfrm>
          <a:prstGeom prst="roundRect">
            <a:avLst>
              <a:gd name="adj" fmla="val 12000"/>
            </a:avLst>
          </a:prstGeom>
          <a:solidFill>
            <a:srgbClr val="440099"/>
          </a:solidFill>
          <a:ln>
            <a:noFill/>
          </a:ln>
        </p:spPr>
        <p:txBody>
          <a:bodyPr wrap="square" lIns="128016" tIns="128016" rIns="128016" bIns="128016" anchor="t">
            <a:noAutofit/>
          </a:bodyPr>
          <a:lstStyle/>
          <a:p>
            <a:pPr marL="0" indent="0" algn="l">
              <a:spcBef>
                <a:spcPts val="0"/>
              </a:spcBef>
              <a:spcAft>
                <a:spcPts val="300"/>
              </a:spcAft>
              <a:buNone/>
            </a:pPr>
            <a:r>
              <a:rPr lang="en-GB" sz="1700" b="1" i="0" dirty="0">
                <a:solidFill>
                  <a:srgbClr val="FFFFFF"/>
                </a:solidFill>
              </a:rPr>
              <a:t>Staff cost</a:t>
            </a:r>
          </a:p>
          <a:p>
            <a:pPr marL="0" indent="0" algn="l">
              <a:spcBef>
                <a:spcPts val="0"/>
              </a:spcBef>
              <a:spcAft>
                <a:spcPts val="0"/>
              </a:spcAft>
              <a:buNone/>
            </a:pPr>
            <a:r>
              <a:rPr lang="en-GB" sz="2200" b="0" i="0" dirty="0">
                <a:solidFill>
                  <a:srgbClr val="FFFFFF"/>
                </a:solidFill>
              </a:rPr>
              <a:t>up 94%</a:t>
            </a:r>
          </a:p>
        </p:txBody>
      </p:sp>
      <p:sp>
        <p:nvSpPr>
          <p:cNvPr id="528" name="C2Total "/>
          <p:cNvSpPr/>
          <p:nvPr/>
        </p:nvSpPr>
        <p:spPr>
          <a:xfrm>
            <a:off x="6108192" y="1051560"/>
            <a:ext cx="2761488" cy="1188720"/>
          </a:xfrm>
          <a:prstGeom prst="roundRect">
            <a:avLst>
              <a:gd name="adj" fmla="val 12000"/>
            </a:avLst>
          </a:prstGeom>
          <a:solidFill>
            <a:srgbClr val="440099"/>
          </a:solidFill>
          <a:ln>
            <a:noFill/>
          </a:ln>
        </p:spPr>
        <p:txBody>
          <a:bodyPr wrap="square" lIns="128016" tIns="128016" rIns="128016" bIns="128016" anchor="t">
            <a:noAutofit/>
          </a:bodyPr>
          <a:lstStyle/>
          <a:p>
            <a:pPr marL="0" indent="0" algn="l">
              <a:spcBef>
                <a:spcPts val="0"/>
              </a:spcBef>
              <a:spcAft>
                <a:spcPts val="300"/>
              </a:spcAft>
              <a:buNone/>
            </a:pPr>
            <a:r>
              <a:rPr lang="en-GB" sz="1700" b="1" i="0" dirty="0">
                <a:solidFill>
                  <a:srgbClr val="FFFFFF"/>
                </a:solidFill>
              </a:rPr>
              <a:t>Total cost</a:t>
            </a:r>
          </a:p>
          <a:p>
            <a:pPr marL="0" indent="0" algn="l">
              <a:spcBef>
                <a:spcPts val="0"/>
              </a:spcBef>
              <a:spcAft>
                <a:spcPts val="0"/>
              </a:spcAft>
              <a:buNone/>
            </a:pPr>
            <a:r>
              <a:rPr lang="en-GB" sz="2200" b="0" i="0" dirty="0">
                <a:solidFill>
                  <a:srgbClr val="FFFFFF"/>
                </a:solidFill>
              </a:rPr>
              <a:t>up 84%</a:t>
            </a:r>
          </a:p>
        </p:txBody>
      </p:sp>
      <p:sp>
        <p:nvSpPr>
          <p:cNvPr id="529" name="Strip"/>
          <p:cNvSpPr/>
          <p:nvPr/>
        </p:nvSpPr>
        <p:spPr>
          <a:xfrm>
            <a:off x="274320" y="2423160"/>
            <a:ext cx="8595360" cy="86868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440099"/>
                </a:solidFill>
              </a:rPr>
              <a:t>Inputs grew faster than output. </a:t>
            </a:r>
            <a:r>
              <a:rPr lang="en-GB" sz="1650" b="0" i="0" dirty="0">
                <a:solidFill>
                  <a:srgbClr val="1A1A1A"/>
                </a:solidFill>
              </a:rPr>
              <a:t>Labour productivity fell from 0.556 to 0.429 drinks per £; multifactor fell from 0.465 to 0.379 drinks per £.</a:t>
            </a:r>
          </a:p>
        </p:txBody>
      </p:sp>
      <p:sp>
        <p:nvSpPr>
          <p:cNvPr id="530" name="Note"/>
          <p:cNvSpPr/>
          <p:nvPr/>
        </p:nvSpPr>
        <p:spPr>
          <a:xfrm>
            <a:off x="274320" y="3474720"/>
            <a:ext cx="8595360" cy="594360"/>
          </a:xfrm>
          <a:prstGeom prst="roundRect">
            <a:avLst>
              <a:gd name="adj" fmla="val 12000"/>
            </a:avLst>
          </a:prstGeom>
          <a:solidFill>
            <a:srgbClr val="FFFFFF"/>
          </a:solidFill>
          <a:ln w="25400">
            <a:solidFill>
              <a:srgbClr val="440099"/>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440099"/>
                </a:solidFill>
              </a:rPr>
              <a:t>Discuss:  </a:t>
            </a:r>
            <a:r>
              <a:rPr lang="en-GB" sz="1600" b="0" i="0" dirty="0">
                <a:solidFill>
                  <a:srgbClr val="1A1A1A"/>
                </a:solidFill>
              </a:rPr>
              <a:t>why might staff costs rise so much faster than drinks sold?</a:t>
            </a:r>
          </a:p>
        </p:txBody>
      </p:sp>
    </p:spTree>
    <p:extLst>
      <p:ext uri="{BB962C8B-B14F-4D97-AF65-F5344CB8AC3E}">
        <p14:creationId xmlns:p14="http://schemas.microsoft.com/office/powerpoint/2010/main" val="3651354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Worked Example: A Merch Studio</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14</a:t>
            </a:fld>
            <a:endParaRPr lang="en"/>
          </a:p>
        </p:txBody>
      </p:sp>
      <p:sp>
        <p:nvSpPr>
          <p:cNvPr id="531" name="Chip"/>
          <p:cNvSpPr/>
          <p:nvPr/>
        </p:nvSpPr>
        <p:spPr>
          <a:xfrm>
            <a:off x="274320" y="914400"/>
            <a:ext cx="1591056" cy="292608"/>
          </a:xfrm>
          <a:prstGeom prst="roundRect">
            <a:avLst>
              <a:gd name="adj" fmla="val 12000"/>
            </a:avLst>
          </a:prstGeom>
          <a:solidFill>
            <a:srgbClr val="440099"/>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WORKED EXAMPLE</a:t>
            </a:r>
          </a:p>
        </p:txBody>
      </p:sp>
      <p:sp>
        <p:nvSpPr>
          <p:cNvPr id="532" name="Strip"/>
          <p:cNvSpPr/>
          <p:nvPr/>
        </p:nvSpPr>
        <p:spPr>
          <a:xfrm>
            <a:off x="274320" y="1325880"/>
            <a:ext cx="8595360" cy="109728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440099"/>
                </a:solidFill>
              </a:rPr>
              <a:t>A print-on-demand merch studio </a:t>
            </a:r>
            <a:r>
              <a:rPr lang="en-GB" sz="1550" b="0" i="0" dirty="0">
                <a:solidFill>
                  <a:srgbClr val="1A1A1A"/>
                </a:solidFill>
              </a:rPr>
              <a:t>prints custom hoodies and phone cases for online creators. 15 staff each work 8 hours a day, 5 days a week, and ship 3,000 orders a week. Weekly costs: wages £7,800, materials £4,200, overheads £1,500.</a:t>
            </a:r>
          </a:p>
        </p:txBody>
      </p:sp>
      <p:sp>
        <p:nvSpPr>
          <p:cNvPr id="533" name="C0(a)"/>
          <p:cNvSpPr/>
          <p:nvPr/>
        </p:nvSpPr>
        <p:spPr>
          <a:xfrm>
            <a:off x="274320" y="2606040"/>
            <a:ext cx="4219956" cy="114300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440099"/>
                </a:solidFill>
              </a:rPr>
              <a:t>(a)</a:t>
            </a:r>
          </a:p>
          <a:p>
            <a:pPr marL="0" indent="0" algn="l">
              <a:spcBef>
                <a:spcPts val="0"/>
              </a:spcBef>
              <a:spcAft>
                <a:spcPts val="0"/>
              </a:spcAft>
              <a:buNone/>
            </a:pPr>
            <a:r>
              <a:rPr lang="en-GB" sz="1700" b="0" i="0" dirty="0">
                <a:solidFill>
                  <a:srgbClr val="1A1A1A"/>
                </a:solidFill>
              </a:rPr>
              <a:t>Labour productivity, in orders per labour hour?</a:t>
            </a:r>
          </a:p>
        </p:txBody>
      </p:sp>
      <p:sp>
        <p:nvSpPr>
          <p:cNvPr id="534" name="C1(b)"/>
          <p:cNvSpPr/>
          <p:nvPr/>
        </p:nvSpPr>
        <p:spPr>
          <a:xfrm>
            <a:off x="4649724" y="2606040"/>
            <a:ext cx="4219956" cy="114300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440099"/>
                </a:solidFill>
              </a:rPr>
              <a:t>(b)</a:t>
            </a:r>
          </a:p>
          <a:p>
            <a:pPr marL="0" indent="0" algn="l">
              <a:spcBef>
                <a:spcPts val="0"/>
              </a:spcBef>
              <a:spcAft>
                <a:spcPts val="0"/>
              </a:spcAft>
              <a:buNone/>
            </a:pPr>
            <a:r>
              <a:rPr lang="en-GB" sz="1700" b="0" i="0" dirty="0">
                <a:solidFill>
                  <a:srgbClr val="1A1A1A"/>
                </a:solidFill>
              </a:rPr>
              <a:t>Multifactor productivity, in orders per £?</a:t>
            </a:r>
          </a:p>
        </p:txBody>
      </p:sp>
    </p:spTree>
    <p:extLst>
      <p:ext uri="{BB962C8B-B14F-4D97-AF65-F5344CB8AC3E}">
        <p14:creationId xmlns:p14="http://schemas.microsoft.com/office/powerpoint/2010/main" val="36513543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Solution: A Merch Studio</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15</a:t>
            </a:fld>
            <a:endParaRPr lang="en"/>
          </a:p>
        </p:txBody>
      </p:sp>
      <p:sp>
        <p:nvSpPr>
          <p:cNvPr id="535" name="Chip"/>
          <p:cNvSpPr/>
          <p:nvPr/>
        </p:nvSpPr>
        <p:spPr>
          <a:xfrm>
            <a:off x="274320" y="914400"/>
            <a:ext cx="987552" cy="292608"/>
          </a:xfrm>
          <a:prstGeom prst="roundRect">
            <a:avLst>
              <a:gd name="adj" fmla="val 12000"/>
            </a:avLst>
          </a:prstGeom>
          <a:solidFill>
            <a:srgbClr val="440099"/>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SOLUTION</a:t>
            </a:r>
          </a:p>
        </p:txBody>
      </p:sp>
      <p:sp>
        <p:nvSpPr>
          <p:cNvPr id="536" name="Formula"/>
          <p:cNvSpPr/>
          <p:nvPr/>
        </p:nvSpPr>
        <p:spPr>
          <a:xfrm>
            <a:off x="274320" y="1280160"/>
            <a:ext cx="8595360" cy="1078992"/>
          </a:xfrm>
          <a:prstGeom prst="roundRect">
            <a:avLst>
              <a:gd name="adj" fmla="val 12000"/>
            </a:avLst>
          </a:prstGeom>
          <a:solidFill>
            <a:srgbClr val="EDE6F7"/>
          </a:solidFill>
          <a:ln w="19050">
            <a:solidFill>
              <a:srgbClr val="440099"/>
            </a:solidFill>
          </a:ln>
        </p:spPr>
        <p:txBody>
          <a:bodyPr wrap="square" lIns="128016" tIns="128016" rIns="128016" bIns="128016" anchor="ctr">
            <a:noAutofit/>
          </a:bodyPr>
          <a:lstStyle/>
          <a:p>
            <a:pPr marL="0" indent="0" algn="l">
              <a:spcBef>
                <a:spcPts val="0"/>
              </a:spcBef>
              <a:spcAft>
                <a:spcPts val="120"/>
              </a:spcAft>
              <a:buNone/>
            </a:pPr>
            <a:r>
              <a:rPr lang="en-GB" sz="1350" b="1" i="0" dirty="0">
                <a:solidFill>
                  <a:srgbClr val="440099"/>
                </a:solidFill>
              </a:rPr>
              <a:t>Formula</a:t>
            </a:r>
          </a:p>
          <a:p>
            <a:pPr marL="0" indent="0" algn="l">
              <a:spcBef>
                <a:spcPts val="0"/>
              </a:spcBef>
              <a:spcAft>
                <a:spcPts val="80"/>
              </a:spcAft>
              <a:buNone/>
            </a:pPr>
            <a:r>
              <a:rPr lang="en-GB" sz="1650" b="1" i="0" dirty="0">
                <a:solidFill>
                  <a:srgbClr val="1A1A1A"/>
                </a:solidFill>
              </a:rPr>
              <a:t>Labour productivity = Output ÷ Labour hours</a:t>
            </a:r>
          </a:p>
          <a:p>
            <a:pPr marL="0" indent="0" algn="l">
              <a:spcBef>
                <a:spcPts val="0"/>
              </a:spcBef>
              <a:spcAft>
                <a:spcPts val="80"/>
              </a:spcAft>
              <a:buNone/>
            </a:pPr>
            <a:r>
              <a:rPr lang="en-GB" sz="1650" b="1" i="0" dirty="0">
                <a:solidFill>
                  <a:srgbClr val="1A1A1A"/>
                </a:solidFill>
              </a:rPr>
              <a:t>Multifactor productivity = Output ÷ Total input costs (£)</a:t>
            </a:r>
          </a:p>
        </p:txBody>
      </p:sp>
      <p:sp>
        <p:nvSpPr>
          <p:cNvPr id="537" name="RL0"/>
          <p:cNvSpPr/>
          <p:nvPr/>
        </p:nvSpPr>
        <p:spPr>
          <a:xfrm>
            <a:off x="274320" y="2468880"/>
            <a:ext cx="822960" cy="640080"/>
          </a:xfrm>
          <a:prstGeom prst="roundRect">
            <a:avLst>
              <a:gd name="adj" fmla="val 12000"/>
            </a:avLst>
          </a:prstGeom>
          <a:solidFill>
            <a:srgbClr val="440099"/>
          </a:solidFill>
          <a:ln>
            <a:noFill/>
          </a:ln>
        </p:spPr>
        <p:txBody>
          <a:bodyPr wrap="square" lIns="27432" tIns="27432" rIns="27432" bIns="27432" anchor="ctr">
            <a:noAutofit/>
          </a:bodyPr>
          <a:lstStyle/>
          <a:p>
            <a:pPr marL="0" indent="0" algn="ctr">
              <a:spcBef>
                <a:spcPts val="0"/>
              </a:spcBef>
              <a:spcAft>
                <a:spcPts val="0"/>
              </a:spcAft>
              <a:buNone/>
            </a:pPr>
            <a:r>
              <a:rPr lang="en-GB" sz="1550" b="1" i="0" dirty="0">
                <a:solidFill>
                  <a:srgbClr val="FFFFFF"/>
                </a:solidFill>
              </a:rPr>
              <a:t>(a)</a:t>
            </a:r>
          </a:p>
        </p:txBody>
      </p:sp>
      <p:sp>
        <p:nvSpPr>
          <p:cNvPr id="538" name="RW0"/>
          <p:cNvSpPr/>
          <p:nvPr/>
        </p:nvSpPr>
        <p:spPr>
          <a:xfrm>
            <a:off x="1188720" y="2468880"/>
            <a:ext cx="4937760" cy="64008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550" b="0" i="0" dirty="0">
                <a:solidFill>
                  <a:srgbClr val="1A1A1A"/>
                </a:solidFill>
              </a:rPr>
              <a:t>3,000 ÷ (15 × 8 × 5) = 3,000 ÷ 600</a:t>
            </a:r>
          </a:p>
        </p:txBody>
      </p:sp>
      <p:sp>
        <p:nvSpPr>
          <p:cNvPr id="539" name="RA0"/>
          <p:cNvSpPr/>
          <p:nvPr/>
        </p:nvSpPr>
        <p:spPr>
          <a:xfrm>
            <a:off x="6217920" y="2468880"/>
            <a:ext cx="2651760" cy="640080"/>
          </a:xfrm>
          <a:prstGeom prst="roundRect">
            <a:avLst>
              <a:gd name="adj" fmla="val 12000"/>
            </a:avLst>
          </a:prstGeom>
          <a:solidFill>
            <a:srgbClr val="EDE6F7"/>
          </a:solidFill>
          <a:ln>
            <a:noFill/>
          </a:ln>
        </p:spPr>
        <p:txBody>
          <a:bodyPr wrap="square" lIns="45720" tIns="45720" rIns="45720" bIns="45720" anchor="ctr">
            <a:noAutofit/>
          </a:bodyPr>
          <a:lstStyle/>
          <a:p>
            <a:pPr marL="0" indent="0" algn="ctr">
              <a:spcBef>
                <a:spcPts val="0"/>
              </a:spcBef>
              <a:spcAft>
                <a:spcPts val="0"/>
              </a:spcAft>
              <a:buNone/>
            </a:pPr>
            <a:r>
              <a:rPr lang="en-GB" sz="1550" b="1" i="0" dirty="0">
                <a:solidFill>
                  <a:srgbClr val="440099"/>
                </a:solidFill>
              </a:rPr>
              <a:t>5 orders per labour hour</a:t>
            </a:r>
          </a:p>
        </p:txBody>
      </p:sp>
      <p:sp>
        <p:nvSpPr>
          <p:cNvPr id="540" name="RL1"/>
          <p:cNvSpPr/>
          <p:nvPr/>
        </p:nvSpPr>
        <p:spPr>
          <a:xfrm>
            <a:off x="274320" y="3218688"/>
            <a:ext cx="822960" cy="640080"/>
          </a:xfrm>
          <a:prstGeom prst="roundRect">
            <a:avLst>
              <a:gd name="adj" fmla="val 12000"/>
            </a:avLst>
          </a:prstGeom>
          <a:solidFill>
            <a:srgbClr val="440099"/>
          </a:solidFill>
          <a:ln>
            <a:noFill/>
          </a:ln>
        </p:spPr>
        <p:txBody>
          <a:bodyPr wrap="square" lIns="27432" tIns="27432" rIns="27432" bIns="27432" anchor="ctr">
            <a:noAutofit/>
          </a:bodyPr>
          <a:lstStyle/>
          <a:p>
            <a:pPr marL="0" indent="0" algn="ctr">
              <a:spcBef>
                <a:spcPts val="0"/>
              </a:spcBef>
              <a:spcAft>
                <a:spcPts val="0"/>
              </a:spcAft>
              <a:buNone/>
            </a:pPr>
            <a:r>
              <a:rPr lang="en-GB" sz="1550" b="1" i="0" dirty="0">
                <a:solidFill>
                  <a:srgbClr val="FFFFFF"/>
                </a:solidFill>
              </a:rPr>
              <a:t>(b)</a:t>
            </a:r>
          </a:p>
        </p:txBody>
      </p:sp>
      <p:sp>
        <p:nvSpPr>
          <p:cNvPr id="541" name="RW1"/>
          <p:cNvSpPr/>
          <p:nvPr/>
        </p:nvSpPr>
        <p:spPr>
          <a:xfrm>
            <a:off x="1188720" y="3218688"/>
            <a:ext cx="4937760" cy="64008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550" b="0" i="0" dirty="0">
                <a:solidFill>
                  <a:srgbClr val="1A1A1A"/>
                </a:solidFill>
              </a:rPr>
              <a:t>3,000 ÷ (7,800 + 4,200 + 1,500) = 3,000 ÷ 13,500</a:t>
            </a:r>
          </a:p>
        </p:txBody>
      </p:sp>
      <p:sp>
        <p:nvSpPr>
          <p:cNvPr id="542" name="RA1"/>
          <p:cNvSpPr/>
          <p:nvPr/>
        </p:nvSpPr>
        <p:spPr>
          <a:xfrm>
            <a:off x="6217920" y="3218688"/>
            <a:ext cx="2651760" cy="640080"/>
          </a:xfrm>
          <a:prstGeom prst="roundRect">
            <a:avLst>
              <a:gd name="adj" fmla="val 12000"/>
            </a:avLst>
          </a:prstGeom>
          <a:solidFill>
            <a:srgbClr val="EDE6F7"/>
          </a:solidFill>
          <a:ln>
            <a:noFill/>
          </a:ln>
        </p:spPr>
        <p:txBody>
          <a:bodyPr wrap="square" lIns="45720" tIns="45720" rIns="45720" bIns="45720" anchor="ctr">
            <a:noAutofit/>
          </a:bodyPr>
          <a:lstStyle/>
          <a:p>
            <a:pPr marL="0" indent="0" algn="ctr">
              <a:spcBef>
                <a:spcPts val="0"/>
              </a:spcBef>
              <a:spcAft>
                <a:spcPts val="0"/>
              </a:spcAft>
              <a:buNone/>
            </a:pPr>
            <a:r>
              <a:rPr lang="en-GB" sz="1550" b="1" i="0" dirty="0">
                <a:solidFill>
                  <a:srgbClr val="440099"/>
                </a:solidFill>
              </a:rPr>
              <a:t>0.222 orders per £</a:t>
            </a:r>
          </a:p>
        </p:txBody>
      </p:sp>
      <p:sp>
        <p:nvSpPr>
          <p:cNvPr id="543" name="Note"/>
          <p:cNvSpPr/>
          <p:nvPr/>
        </p:nvSpPr>
        <p:spPr>
          <a:xfrm>
            <a:off x="274320" y="4069080"/>
            <a:ext cx="8595360" cy="548640"/>
          </a:xfrm>
          <a:prstGeom prst="roundRect">
            <a:avLst>
              <a:gd name="adj" fmla="val 12000"/>
            </a:avLst>
          </a:prstGeom>
          <a:solidFill>
            <a:srgbClr val="FFFFFF"/>
          </a:solidFill>
          <a:ln w="25400">
            <a:solidFill>
              <a:srgbClr val="440099"/>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440099"/>
                </a:solidFill>
              </a:rPr>
              <a:t>Note:  </a:t>
            </a:r>
            <a:r>
              <a:rPr lang="en-GB" sz="1600" b="0" i="0" dirty="0">
                <a:solidFill>
                  <a:srgbClr val="1A1A1A"/>
                </a:solidFill>
              </a:rPr>
              <a:t>every input must be in the same unit, here £.</a:t>
            </a:r>
          </a:p>
        </p:txBody>
      </p:sp>
    </p:spTree>
    <p:extLst>
      <p:ext uri="{BB962C8B-B14F-4D97-AF65-F5344CB8AC3E}">
        <p14:creationId xmlns:p14="http://schemas.microsoft.com/office/powerpoint/2010/main" val="3651354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Your Turn: Zara Warehouse Productivity</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16</a:t>
            </a:fld>
            <a:endParaRPr lang="en"/>
          </a:p>
        </p:txBody>
      </p:sp>
      <p:sp>
        <p:nvSpPr>
          <p:cNvPr id="548" name="Chip"/>
          <p:cNvSpPr/>
          <p:nvPr/>
        </p:nvSpPr>
        <p:spPr>
          <a:xfrm>
            <a:off x="274320" y="914400"/>
            <a:ext cx="1088136" cy="292608"/>
          </a:xfrm>
          <a:prstGeom prst="roundRect">
            <a:avLst>
              <a:gd name="adj" fmla="val 12000"/>
            </a:avLst>
          </a:prstGeom>
          <a:solidFill>
            <a:srgbClr val="440099"/>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YOUR TURN</a:t>
            </a:r>
          </a:p>
        </p:txBody>
      </p:sp>
      <p:sp>
        <p:nvSpPr>
          <p:cNvPr id="549" name="Tag8 minutes"/>
          <p:cNvSpPr/>
          <p:nvPr/>
        </p:nvSpPr>
        <p:spPr>
          <a:xfrm>
            <a:off x="1453896" y="914400"/>
            <a:ext cx="882396" cy="292608"/>
          </a:xfrm>
          <a:prstGeom prst="roundRect">
            <a:avLst>
              <a:gd name="adj" fmla="val 12000"/>
            </a:avLst>
          </a:prstGeom>
          <a:solidFill>
            <a:srgbClr val="FFFFFF"/>
          </a:solidFill>
          <a:ln w="12700">
            <a:solidFill>
              <a:srgbClr val="440099"/>
            </a:solid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440099"/>
                </a:solidFill>
              </a:rPr>
              <a:t>8 minutes</a:t>
            </a:r>
          </a:p>
        </p:txBody>
      </p:sp>
      <p:sp>
        <p:nvSpPr>
          <p:cNvPr id="550" name="TagIn pairs"/>
          <p:cNvSpPr/>
          <p:nvPr/>
        </p:nvSpPr>
        <p:spPr>
          <a:xfrm>
            <a:off x="2427732" y="914400"/>
            <a:ext cx="804672" cy="292608"/>
          </a:xfrm>
          <a:prstGeom prst="roundRect">
            <a:avLst>
              <a:gd name="adj" fmla="val 12000"/>
            </a:avLst>
          </a:prstGeom>
          <a:solidFill>
            <a:srgbClr val="FFFFFF"/>
          </a:solidFill>
          <a:ln w="12700">
            <a:solidFill>
              <a:srgbClr val="440099"/>
            </a:solid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440099"/>
                </a:solidFill>
              </a:rPr>
              <a:t>In pairs</a:t>
            </a:r>
          </a:p>
        </p:txBody>
      </p:sp>
      <p:sp>
        <p:nvSpPr>
          <p:cNvPr id="551" name="Strip"/>
          <p:cNvSpPr/>
          <p:nvPr/>
        </p:nvSpPr>
        <p:spPr>
          <a:xfrm>
            <a:off x="274320" y="1325880"/>
            <a:ext cx="8595360" cy="86868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440099"/>
                </a:solidFill>
              </a:rPr>
              <a:t>A Zara warehouse: </a:t>
            </a:r>
            <a:r>
              <a:rPr lang="en-GB" sz="1650" b="0" i="0" dirty="0">
                <a:solidFill>
                  <a:srgbClr val="1A1A1A"/>
                </a:solidFill>
              </a:rPr>
              <a:t>4 operatives each work an 8-hour shift and pack 960 online orders. Costs: labour £480, packaging £720, energy £120.</a:t>
            </a:r>
          </a:p>
        </p:txBody>
      </p:sp>
      <p:sp>
        <p:nvSpPr>
          <p:cNvPr id="552" name="C0(a)"/>
          <p:cNvSpPr/>
          <p:nvPr/>
        </p:nvSpPr>
        <p:spPr>
          <a:xfrm>
            <a:off x="274320" y="2331720"/>
            <a:ext cx="2761488" cy="146304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440099"/>
                </a:solidFill>
              </a:rPr>
              <a:t>(a)</a:t>
            </a:r>
          </a:p>
          <a:p>
            <a:pPr marL="0" indent="0" algn="l">
              <a:spcBef>
                <a:spcPts val="0"/>
              </a:spcBef>
              <a:spcAft>
                <a:spcPts val="0"/>
              </a:spcAft>
              <a:buNone/>
            </a:pPr>
            <a:r>
              <a:rPr lang="en-GB" sz="1650" b="0" i="0" dirty="0">
                <a:solidFill>
                  <a:srgbClr val="1A1A1A"/>
                </a:solidFill>
              </a:rPr>
              <a:t>Labour productivity, in orders per labour hour?</a:t>
            </a:r>
          </a:p>
        </p:txBody>
      </p:sp>
      <p:sp>
        <p:nvSpPr>
          <p:cNvPr id="553" name="C1(b)"/>
          <p:cNvSpPr/>
          <p:nvPr/>
        </p:nvSpPr>
        <p:spPr>
          <a:xfrm>
            <a:off x="3191256" y="2331720"/>
            <a:ext cx="2761488" cy="146304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440099"/>
                </a:solidFill>
              </a:rPr>
              <a:t>(b)</a:t>
            </a:r>
          </a:p>
          <a:p>
            <a:pPr marL="0" indent="0" algn="l">
              <a:spcBef>
                <a:spcPts val="0"/>
              </a:spcBef>
              <a:spcAft>
                <a:spcPts val="0"/>
              </a:spcAft>
              <a:buNone/>
            </a:pPr>
            <a:r>
              <a:rPr lang="en-GB" sz="1650" b="0" i="0" dirty="0">
                <a:solidFill>
                  <a:srgbClr val="1A1A1A"/>
                </a:solidFill>
              </a:rPr>
              <a:t>Multifactor productivity, in orders per £?</a:t>
            </a:r>
          </a:p>
        </p:txBody>
      </p:sp>
      <p:sp>
        <p:nvSpPr>
          <p:cNvPr id="554" name="C2(c)"/>
          <p:cNvSpPr/>
          <p:nvPr/>
        </p:nvSpPr>
        <p:spPr>
          <a:xfrm>
            <a:off x="6108192" y="2331720"/>
            <a:ext cx="2761488" cy="146304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440099"/>
                </a:solidFill>
              </a:rPr>
              <a:t>(c)</a:t>
            </a:r>
          </a:p>
          <a:p>
            <a:pPr marL="0" indent="0" algn="l">
              <a:spcBef>
                <a:spcPts val="0"/>
              </a:spcBef>
              <a:spcAft>
                <a:spcPts val="0"/>
              </a:spcAft>
              <a:buNone/>
            </a:pPr>
            <a:r>
              <a:rPr lang="en-GB" sz="1650" b="0" i="0" dirty="0">
                <a:solidFill>
                  <a:srgbClr val="1A1A1A"/>
                </a:solidFill>
              </a:rPr>
              <a:t>New sorting robot: 1,120 orders; packaging £840, energy £200.</a:t>
            </a:r>
          </a:p>
        </p:txBody>
      </p:sp>
      <p:sp>
        <p:nvSpPr>
          <p:cNvPr id="555" name="Note"/>
          <p:cNvSpPr/>
          <p:nvPr/>
        </p:nvSpPr>
        <p:spPr>
          <a:xfrm>
            <a:off x="274320" y="3931920"/>
            <a:ext cx="8595360" cy="502920"/>
          </a:xfrm>
          <a:prstGeom prst="roundRect">
            <a:avLst>
              <a:gd name="adj" fmla="val 12000"/>
            </a:avLst>
          </a:prstGeom>
          <a:solidFill>
            <a:srgbClr val="FFFFFF"/>
          </a:solidFill>
          <a:ln w="25400">
            <a:solidFill>
              <a:srgbClr val="440099"/>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440099"/>
                </a:solidFill>
              </a:rPr>
              <a:t>Interpret:  </a:t>
            </a:r>
            <a:r>
              <a:rPr lang="en-GB" sz="1600" b="0" i="0" dirty="0">
                <a:solidFill>
                  <a:srgbClr val="1A1A1A"/>
                </a:solidFill>
              </a:rPr>
              <a:t>which measure improved more, and why?</a:t>
            </a:r>
          </a:p>
        </p:txBody>
      </p:sp>
    </p:spTree>
    <p:extLst>
      <p:ext uri="{BB962C8B-B14F-4D97-AF65-F5344CB8AC3E}">
        <p14:creationId xmlns:p14="http://schemas.microsoft.com/office/powerpoint/2010/main" val="3651354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51387FCF-F4DD-EEC1-5EF1-B86C6A31B853}"/>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0EAE5EBB-F5AD-3705-731A-75BB9505F4F5}"/>
              </a:ext>
            </a:extLst>
          </p:cNvPr>
          <p:cNvSpPr txBox="1">
            <a:spLocks noGrp="1"/>
          </p:cNvSpPr>
          <p:nvPr>
            <p:ph type="title"/>
          </p:nvPr>
        </p:nvSpPr>
        <p:spPr>
          <a:xfrm>
            <a:off x="2736493" y="315936"/>
            <a:ext cx="4243971" cy="572700"/>
          </a:xfrm>
        </p:spPr>
        <p:txBody>
          <a:bodyPr spcFirstLastPara="1" wrap="square" lIns="91425" tIns="91425" rIns="91425" bIns="91425" anchor="ctr" anchorCtr="0">
            <a:normAutofit/>
          </a:bodyPr>
          <a:lstStyle/>
          <a:p>
            <a:pPr marL="0" lvl="0" indent="0" rtl="0">
              <a:spcBef>
                <a:spcPts val="0"/>
              </a:spcBef>
              <a:spcAft>
                <a:spcPts val="0"/>
              </a:spcAft>
              <a:buNone/>
            </a:pPr>
            <a:r>
              <a:rPr lang="en-GB" sz="2500" b="1" dirty="0"/>
              <a:t>Answers</a:t>
            </a:r>
          </a:p>
        </p:txBody>
      </p:sp>
      <p:sp>
        <p:nvSpPr>
          <p:cNvPr id="73" name="Slide Number Placeholder 2">
            <a:extLst>
              <a:ext uri="{FF2B5EF4-FFF2-40B4-BE49-F238E27FC236}">
                <a16:creationId xmlns:a16="http://schemas.microsoft.com/office/drawing/2014/main" id="{D7B90BBB-7F06-142E-6700-F1BDD7836C8F}"/>
              </a:ext>
            </a:extLst>
          </p:cNvPr>
          <p:cNvSpPr>
            <a:spLocks noGrp="1"/>
          </p:cNvSpPr>
          <p:nvPr>
            <p:ph type="sldNum" idx="12"/>
          </p:nvPr>
        </p:nvSpPr>
        <p:spPr>
          <a:xfrm>
            <a:off x="8444334" y="4745726"/>
            <a:ext cx="548700" cy="393600"/>
          </a:xfrm>
        </p:spPr>
        <p:txBody>
          <a:bodyPr wrap="square" anchor="t">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17</a:t>
            </a:fld>
            <a:endParaRPr lang="en" sz="900"/>
          </a:p>
        </p:txBody>
      </p:sp>
      <p:sp>
        <p:nvSpPr>
          <p:cNvPr id="9" name="TextBox 8">
            <a:extLst>
              <a:ext uri="{FF2B5EF4-FFF2-40B4-BE49-F238E27FC236}">
                <a16:creationId xmlns:a16="http://schemas.microsoft.com/office/drawing/2014/main" id="{6BA6C013-934E-E75C-0C7E-4FFDC95BA195}"/>
              </a:ext>
            </a:extLst>
          </p:cNvPr>
          <p:cNvSpPr txBox="1"/>
          <p:nvPr/>
        </p:nvSpPr>
        <p:spPr>
          <a:xfrm>
            <a:off x="4572000" y="4076450"/>
            <a:ext cx="5670096" cy="307777"/>
          </a:xfrm>
          <a:prstGeom prst="rect">
            <a:avLst/>
          </a:prstGeom>
          <a:noFill/>
        </p:spPr>
        <p:txBody>
          <a:bodyPr wrap="square">
            <a:spAutoFit/>
          </a:bodyPr>
          <a:lstStyle/>
          <a:p>
            <a:r>
              <a:rPr lang="en-GB" dirty="0">
                <a:hlinkClick r:id="rId3"/>
              </a:rPr>
              <a:t>Edit Productivity and Service Failure - </a:t>
            </a:r>
            <a:r>
              <a:rPr lang="en-GB" dirty="0" err="1">
                <a:hlinkClick r:id="rId3"/>
              </a:rPr>
              <a:t>Wooclap</a:t>
            </a:r>
            <a:endParaRPr lang="en-GB" dirty="0"/>
          </a:p>
        </p:txBody>
      </p:sp>
      <p:sp>
        <p:nvSpPr>
          <p:cNvPr id="3" name="TextBox 2">
            <a:extLst>
              <a:ext uri="{FF2B5EF4-FFF2-40B4-BE49-F238E27FC236}">
                <a16:creationId xmlns:a16="http://schemas.microsoft.com/office/drawing/2014/main" id="{6B36B9D6-8397-A676-FB2F-61E78950474F}"/>
              </a:ext>
            </a:extLst>
          </p:cNvPr>
          <p:cNvSpPr txBox="1"/>
          <p:nvPr/>
        </p:nvSpPr>
        <p:spPr>
          <a:xfrm>
            <a:off x="4678134" y="2310140"/>
            <a:ext cx="3600451" cy="523220"/>
          </a:xfrm>
          <a:prstGeom prst="rect">
            <a:avLst/>
          </a:prstGeom>
          <a:noFill/>
        </p:spPr>
        <p:txBody>
          <a:bodyPr wrap="square">
            <a:spAutoFit/>
          </a:bodyPr>
          <a:lstStyle/>
          <a:p>
            <a:r>
              <a:rPr lang="en-GB" dirty="0"/>
              <a:t>https://app.wooclap.com/</a:t>
            </a:r>
            <a:r>
              <a:rPr lang="en-GB" b="1" dirty="0"/>
              <a:t>BQRYOLH</a:t>
            </a:r>
            <a:r>
              <a:rPr lang="en-GB" dirty="0"/>
              <a:t>?from=instruction-slide</a:t>
            </a:r>
          </a:p>
        </p:txBody>
      </p:sp>
      <p:pic>
        <p:nvPicPr>
          <p:cNvPr id="6" name="Picture 5">
            <a:extLst>
              <a:ext uri="{FF2B5EF4-FFF2-40B4-BE49-F238E27FC236}">
                <a16:creationId xmlns:a16="http://schemas.microsoft.com/office/drawing/2014/main" id="{8AF7DBBA-1721-A108-F6BD-3A4F34927314}"/>
              </a:ext>
            </a:extLst>
          </p:cNvPr>
          <p:cNvPicPr>
            <a:picLocks noChangeAspect="1"/>
          </p:cNvPicPr>
          <p:nvPr/>
        </p:nvPicPr>
        <p:blipFill>
          <a:blip r:embed="rId4"/>
          <a:stretch>
            <a:fillRect/>
          </a:stretch>
        </p:blipFill>
        <p:spPr>
          <a:xfrm>
            <a:off x="62689" y="930914"/>
            <a:ext cx="4243971" cy="4243971"/>
          </a:xfrm>
          <a:prstGeom prst="rect">
            <a:avLst/>
          </a:prstGeom>
        </p:spPr>
      </p:pic>
    </p:spTree>
    <p:extLst>
      <p:ext uri="{BB962C8B-B14F-4D97-AF65-F5344CB8AC3E}">
        <p14:creationId xmlns:p14="http://schemas.microsoft.com/office/powerpoint/2010/main" val="3638271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Part 2</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18</a:t>
            </a:fld>
            <a:endParaRPr lang="en"/>
          </a:p>
        </p:txBody>
      </p:sp>
      <p:sp>
        <p:nvSpPr>
          <p:cNvPr id="520" name="DB"/>
          <p:cNvSpPr/>
          <p:nvPr/>
        </p:nvSpPr>
        <p:spPr>
          <a:xfrm>
            <a:off x="274320" y="1280160"/>
            <a:ext cx="8595360" cy="1188720"/>
          </a:xfrm>
          <a:prstGeom prst="roundRect">
            <a:avLst>
              <a:gd name="adj" fmla="val 12000"/>
            </a:avLst>
          </a:prstGeom>
          <a:solidFill>
            <a:srgbClr val="0B7A75"/>
          </a:solidFill>
          <a:ln>
            <a:noFill/>
          </a:ln>
        </p:spPr>
        <p:txBody>
          <a:bodyPr wrap="square" lIns="274320" tIns="274320" rIns="274320" bIns="274320" anchor="ctr">
            <a:noAutofit/>
          </a:bodyPr>
          <a:lstStyle/>
          <a:p>
            <a:pPr marL="0" indent="0" algn="l">
              <a:spcBef>
                <a:spcPts val="0"/>
              </a:spcBef>
              <a:spcAft>
                <a:spcPts val="150"/>
              </a:spcAft>
              <a:buNone/>
            </a:pPr>
            <a:r>
              <a:rPr lang="en-GB" sz="1400" b="1" i="0" dirty="0">
                <a:solidFill>
                  <a:srgbClr val="FFFFFF"/>
                </a:solidFill>
              </a:rPr>
              <a:t>PART 2</a:t>
            </a:r>
          </a:p>
          <a:p>
            <a:pPr marL="0" indent="0" algn="l">
              <a:spcBef>
                <a:spcPts val="0"/>
              </a:spcBef>
              <a:spcAft>
                <a:spcPts val="0"/>
              </a:spcAft>
              <a:buNone/>
            </a:pPr>
            <a:r>
              <a:rPr lang="en-GB" sz="2800" b="1" i="0" dirty="0">
                <a:solidFill>
                  <a:srgbClr val="FFFFFF"/>
                </a:solidFill>
              </a:rPr>
              <a:t>Throughput Efficiency</a:t>
            </a:r>
          </a:p>
        </p:txBody>
      </p:sp>
      <p:sp>
        <p:nvSpPr>
          <p:cNvPr id="521" name="Strip"/>
          <p:cNvSpPr/>
          <p:nvPr/>
        </p:nvSpPr>
        <p:spPr>
          <a:xfrm>
            <a:off x="274320" y="2651760"/>
            <a:ext cx="8595360" cy="73152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700" b="1" i="0" dirty="0">
                <a:solidFill>
                  <a:srgbClr val="0B7A75"/>
                </a:solidFill>
              </a:rPr>
              <a:t>Key question: </a:t>
            </a:r>
            <a:r>
              <a:rPr lang="en-GB" sz="1700" b="0" i="0" dirty="0">
                <a:solidFill>
                  <a:srgbClr val="1A1A1A"/>
                </a:solidFill>
              </a:rPr>
              <a:t>how much of the time in a process actually adds value?</a:t>
            </a:r>
          </a:p>
        </p:txBody>
      </p:sp>
    </p:spTree>
    <p:extLst>
      <p:ext uri="{BB962C8B-B14F-4D97-AF65-F5344CB8AC3E}">
        <p14:creationId xmlns:p14="http://schemas.microsoft.com/office/powerpoint/2010/main" val="3651354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Lean Operations and Throughput Efficiency</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19</a:t>
            </a:fld>
            <a:endParaRPr lang="en"/>
          </a:p>
        </p:txBody>
      </p:sp>
      <p:sp>
        <p:nvSpPr>
          <p:cNvPr id="782" name="LD"/>
          <p:cNvSpPr/>
          <p:nvPr/>
        </p:nvSpPr>
        <p:spPr>
          <a:xfrm>
            <a:off x="274320" y="914400"/>
            <a:ext cx="8595360" cy="685800"/>
          </a:xfrm>
          <a:prstGeom prst="roundRect">
            <a:avLst>
              <a:gd name="adj" fmla="val 12000"/>
            </a:avLst>
          </a:prstGeom>
          <a:solidFill>
            <a:srgbClr val="D5EFEC"/>
          </a:solidFill>
          <a:ln>
            <a:noFill/>
          </a:ln>
        </p:spPr>
        <p:txBody>
          <a:bodyPr wrap="square" lIns="128016" tIns="128016" rIns="128016" bIns="128016" anchor="ctr">
            <a:noAutofit/>
          </a:bodyPr>
          <a:lstStyle/>
          <a:p>
            <a:pPr marL="0" indent="0" algn="l">
              <a:spcBef>
                <a:spcPts val="0"/>
              </a:spcBef>
              <a:spcAft>
                <a:spcPts val="0"/>
              </a:spcAft>
              <a:buNone/>
            </a:pPr>
            <a:r>
              <a:rPr lang="en-GB" sz="1550" b="1" i="0" dirty="0">
                <a:solidFill>
                  <a:srgbClr val="0B7A75"/>
                </a:solidFill>
              </a:rPr>
              <a:t>Lean Operations: </a:t>
            </a:r>
            <a:r>
              <a:rPr lang="en-GB" sz="1550" b="0" i="0" dirty="0">
                <a:solidFill>
                  <a:srgbClr val="1A1A1A"/>
                </a:solidFill>
              </a:rPr>
              <a:t>maximise customer value by systematically eliminating waste. Not every activity adds value.</a:t>
            </a:r>
          </a:p>
        </p:txBody>
      </p:sp>
      <p:sp>
        <p:nvSpPr>
          <p:cNvPr id="783" name="LC0"/>
          <p:cNvSpPr/>
          <p:nvPr/>
        </p:nvSpPr>
        <p:spPr>
          <a:xfrm>
            <a:off x="274320" y="1737360"/>
            <a:ext cx="2697480" cy="1325880"/>
          </a:xfrm>
          <a:prstGeom prst="roundRect">
            <a:avLst>
              <a:gd name="adj" fmla="val 12000"/>
            </a:avLst>
          </a:prstGeom>
          <a:solidFill>
            <a:srgbClr val="0B7A75"/>
          </a:solidFill>
          <a:ln>
            <a:noFill/>
          </a:ln>
        </p:spPr>
        <p:txBody>
          <a:bodyPr wrap="square" lIns="128016" tIns="128016" rIns="128016" bIns="128016" anchor="t">
            <a:noAutofit/>
          </a:bodyPr>
          <a:lstStyle/>
          <a:p>
            <a:pPr marL="0" indent="0" algn="l">
              <a:spcBef>
                <a:spcPts val="0"/>
              </a:spcBef>
              <a:spcAft>
                <a:spcPts val="200"/>
              </a:spcAft>
              <a:buNone/>
            </a:pPr>
            <a:r>
              <a:rPr lang="en-GB" sz="1550" b="1" i="0" dirty="0">
                <a:solidFill>
                  <a:srgbClr val="FFFFFF"/>
                </a:solidFill>
              </a:rPr>
              <a:t>Value-adding</a:t>
            </a:r>
          </a:p>
          <a:p>
            <a:pPr marL="0" indent="0" algn="l">
              <a:spcBef>
                <a:spcPts val="0"/>
              </a:spcBef>
              <a:spcAft>
                <a:spcPts val="0"/>
              </a:spcAft>
              <a:buNone/>
            </a:pPr>
            <a:r>
              <a:rPr lang="en-GB" sz="1300" b="0" i="0" dirty="0">
                <a:solidFill>
                  <a:srgbClr val="FFFFFF"/>
                </a:solidFill>
              </a:rPr>
              <a:t>Transforms the product or service in ways the customer values.</a:t>
            </a:r>
          </a:p>
        </p:txBody>
      </p:sp>
      <p:sp>
        <p:nvSpPr>
          <p:cNvPr id="784" name="LC1"/>
          <p:cNvSpPr/>
          <p:nvPr/>
        </p:nvSpPr>
        <p:spPr>
          <a:xfrm>
            <a:off x="3172968" y="1737360"/>
            <a:ext cx="2697480" cy="1325880"/>
          </a:xfrm>
          <a:prstGeom prst="roundRect">
            <a:avLst>
              <a:gd name="adj" fmla="val 12000"/>
            </a:avLst>
          </a:prstGeom>
          <a:solidFill>
            <a:srgbClr val="D9A441"/>
          </a:solidFill>
          <a:ln>
            <a:noFill/>
          </a:ln>
        </p:spPr>
        <p:txBody>
          <a:bodyPr wrap="square" lIns="128016" tIns="128016" rIns="128016" bIns="128016" anchor="t">
            <a:noAutofit/>
          </a:bodyPr>
          <a:lstStyle/>
          <a:p>
            <a:pPr marL="0" indent="0" algn="l">
              <a:spcBef>
                <a:spcPts val="0"/>
              </a:spcBef>
              <a:spcAft>
                <a:spcPts val="200"/>
              </a:spcAft>
              <a:buNone/>
            </a:pPr>
            <a:r>
              <a:rPr lang="en-GB" sz="1550" b="1" i="0" dirty="0">
                <a:solidFill>
                  <a:srgbClr val="FFFFFF"/>
                </a:solidFill>
              </a:rPr>
              <a:t>Necessary non-value</a:t>
            </a:r>
          </a:p>
          <a:p>
            <a:pPr marL="0" indent="0" algn="l">
              <a:spcBef>
                <a:spcPts val="0"/>
              </a:spcBef>
              <a:spcAft>
                <a:spcPts val="0"/>
              </a:spcAft>
              <a:buNone/>
            </a:pPr>
            <a:r>
              <a:rPr lang="en-GB" sz="1300" b="0" i="0" dirty="0">
                <a:solidFill>
                  <a:srgbClr val="FFFFFF"/>
                </a:solidFill>
              </a:rPr>
              <a:t>Needed for safety, regulation or operations. Minimise it.</a:t>
            </a:r>
          </a:p>
        </p:txBody>
      </p:sp>
      <p:sp>
        <p:nvSpPr>
          <p:cNvPr id="785" name="LC2"/>
          <p:cNvSpPr/>
          <p:nvPr/>
        </p:nvSpPr>
        <p:spPr>
          <a:xfrm>
            <a:off x="6071616" y="1737360"/>
            <a:ext cx="2697480" cy="1325880"/>
          </a:xfrm>
          <a:prstGeom prst="roundRect">
            <a:avLst>
              <a:gd name="adj" fmla="val 12000"/>
            </a:avLst>
          </a:prstGeom>
          <a:solidFill>
            <a:srgbClr val="C2410C"/>
          </a:solidFill>
          <a:ln>
            <a:noFill/>
          </a:ln>
        </p:spPr>
        <p:txBody>
          <a:bodyPr wrap="square" lIns="128016" tIns="128016" rIns="128016" bIns="128016" anchor="t">
            <a:noAutofit/>
          </a:bodyPr>
          <a:lstStyle/>
          <a:p>
            <a:pPr marL="0" indent="0" algn="l">
              <a:spcBef>
                <a:spcPts val="0"/>
              </a:spcBef>
              <a:spcAft>
                <a:spcPts val="200"/>
              </a:spcAft>
              <a:buNone/>
            </a:pPr>
            <a:r>
              <a:rPr lang="en-GB" sz="1550" b="1" i="0" dirty="0">
                <a:solidFill>
                  <a:srgbClr val="FFFFFF"/>
                </a:solidFill>
              </a:rPr>
              <a:t>Unnecessary waste</a:t>
            </a:r>
          </a:p>
          <a:p>
            <a:pPr marL="0" indent="0" algn="l">
              <a:spcBef>
                <a:spcPts val="0"/>
              </a:spcBef>
              <a:spcAft>
                <a:spcPts val="0"/>
              </a:spcAft>
              <a:buNone/>
            </a:pPr>
            <a:r>
              <a:rPr lang="en-GB" sz="1300" b="0" i="0" dirty="0">
                <a:solidFill>
                  <a:srgbClr val="FFFFFF"/>
                </a:solidFill>
              </a:rPr>
              <a:t>Uses resources but creates no value. Eliminate it.</a:t>
            </a:r>
          </a:p>
        </p:txBody>
      </p:sp>
      <p:sp>
        <p:nvSpPr>
          <p:cNvPr id="786" name="LF"/>
          <p:cNvSpPr/>
          <p:nvPr/>
        </p:nvSpPr>
        <p:spPr>
          <a:xfrm>
            <a:off x="274320" y="3200400"/>
            <a:ext cx="8595360" cy="640080"/>
          </a:xfrm>
          <a:prstGeom prst="roundRect">
            <a:avLst>
              <a:gd name="adj" fmla="val 12000"/>
            </a:avLst>
          </a:prstGeom>
          <a:solidFill>
            <a:srgbClr val="FFFFFF"/>
          </a:solidFill>
          <a:ln w="25400">
            <a:solidFill>
              <a:srgbClr val="0B7A75"/>
            </a:solidFill>
          </a:ln>
        </p:spPr>
        <p:txBody>
          <a:bodyPr wrap="square" lIns="91440" tIns="91440" rIns="91440" bIns="91440" anchor="ctr">
            <a:noAutofit/>
          </a:bodyPr>
          <a:lstStyle/>
          <a:p>
            <a:pPr marL="0" indent="0" algn="ctr">
              <a:spcBef>
                <a:spcPts val="0"/>
              </a:spcBef>
              <a:spcAft>
                <a:spcPts val="0"/>
              </a:spcAft>
              <a:buNone/>
            </a:pPr>
            <a:r>
              <a:rPr lang="en-GB" sz="1900" b="1" i="0" dirty="0">
                <a:solidFill>
                  <a:srgbClr val="1A1A1A"/>
                </a:solidFill>
              </a:rPr>
              <a:t>Throughput efficiency = (Value-added time ÷ Total throughput time) × 100</a:t>
            </a:r>
          </a:p>
        </p:txBody>
      </p:sp>
      <p:sp>
        <p:nvSpPr>
          <p:cNvPr id="787" name="LK"/>
          <p:cNvSpPr/>
          <p:nvPr/>
        </p:nvSpPr>
        <p:spPr>
          <a:xfrm>
            <a:off x="274320" y="3977640"/>
            <a:ext cx="8595360" cy="594360"/>
          </a:xfrm>
          <a:prstGeom prst="roundRect">
            <a:avLst>
              <a:gd name="adj" fmla="val 12000"/>
            </a:avLst>
          </a:prstGeom>
          <a:solidFill>
            <a:srgbClr val="D5EFEC"/>
          </a:solidFill>
          <a:ln>
            <a:noFill/>
          </a:ln>
        </p:spPr>
        <p:txBody>
          <a:bodyPr wrap="square" lIns="118872" tIns="118872" rIns="118872" bIns="118872" anchor="ctr">
            <a:noAutofit/>
          </a:bodyPr>
          <a:lstStyle/>
          <a:p>
            <a:pPr marL="0" indent="0" algn="l">
              <a:spcBef>
                <a:spcPts val="0"/>
              </a:spcBef>
              <a:spcAft>
                <a:spcPts val="0"/>
              </a:spcAft>
              <a:buNone/>
            </a:pPr>
            <a:r>
              <a:rPr lang="en-GB" sz="1450" b="1" i="0" dirty="0">
                <a:solidFill>
                  <a:srgbClr val="0B7A75"/>
                </a:solidFill>
              </a:rPr>
              <a:t>The link: </a:t>
            </a:r>
            <a:r>
              <a:rPr lang="en-GB" sz="1450" b="0" i="0" dirty="0">
                <a:solidFill>
                  <a:srgbClr val="1A1A1A"/>
                </a:solidFill>
              </a:rPr>
              <a:t>Lean identifies waste; throughput efficiency measures how much process time is value-adding.</a:t>
            </a:r>
          </a:p>
        </p:txBody>
      </p:sp>
    </p:spTree>
    <p:extLst>
      <p:ext uri="{BB962C8B-B14F-4D97-AF65-F5344CB8AC3E}">
        <p14:creationId xmlns:p14="http://schemas.microsoft.com/office/powerpoint/2010/main" val="3651354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Lean Operations: Five Principles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20</a:t>
            </a:fld>
            <a:endParaRPr lang="en"/>
          </a:p>
        </p:txBody>
      </p:sp>
      <p:sp>
        <p:nvSpPr>
          <p:cNvPr id="879" name="LO"/>
          <p:cNvSpPr/>
          <p:nvPr/>
        </p:nvSpPr>
        <p:spPr>
          <a:xfrm>
            <a:off x="274320" y="914400"/>
            <a:ext cx="8595360" cy="685800"/>
          </a:xfrm>
          <a:prstGeom prst="roundRect">
            <a:avLst>
              <a:gd name="adj" fmla="val 12000"/>
            </a:avLst>
          </a:prstGeom>
          <a:solidFill>
            <a:srgbClr val="D5EFEC"/>
          </a:solidFill>
          <a:ln>
            <a:noFill/>
          </a:ln>
        </p:spPr>
        <p:txBody>
          <a:bodyPr wrap="square" lIns="137160" tIns="137160" rIns="137160" bIns="137160" anchor="ctr">
            <a:noAutofit/>
          </a:bodyPr>
          <a:lstStyle/>
          <a:p>
            <a:pPr marL="0" indent="0" algn="l">
              <a:spcBef>
                <a:spcPts val="0"/>
              </a:spcBef>
              <a:spcAft>
                <a:spcPts val="0"/>
              </a:spcAft>
              <a:buNone/>
            </a:pPr>
            <a:r>
              <a:rPr lang="en-GB" sz="1500" b="1" i="0" dirty="0">
                <a:solidFill>
                  <a:srgbClr val="0B7A75"/>
                </a:solidFill>
              </a:rPr>
              <a:t>Lean </a:t>
            </a:r>
            <a:r>
              <a:rPr lang="en-GB" sz="1500" b="0" i="0" dirty="0">
                <a:solidFill>
                  <a:srgbClr val="1A1A1A"/>
                </a:solidFill>
              </a:rPr>
              <a:t>grew out of the Toyota Production System (Taiichi Ohno) and was popularised by Womack and Jones (1996). Its five principles:</a:t>
            </a:r>
          </a:p>
        </p:txBody>
      </p:sp>
      <p:sp>
        <p:nvSpPr>
          <p:cNvPr id="880" name="PC0"/>
          <p:cNvSpPr/>
          <p:nvPr/>
        </p:nvSpPr>
        <p:spPr>
          <a:xfrm>
            <a:off x="274320" y="1737360"/>
            <a:ext cx="1664208" cy="960120"/>
          </a:xfrm>
          <a:prstGeom prst="homePlate">
            <a:avLst/>
          </a:prstGeom>
          <a:solidFill>
            <a:srgbClr val="0B7A75"/>
          </a:solidFill>
          <a:ln>
            <a:noFill/>
          </a:ln>
        </p:spPr>
        <p:txBody>
          <a:bodyPr wrap="square" lIns="91440" tIns="91440" rIns="91440" bIns="91440" anchor="ctr">
            <a:noAutofit/>
          </a:bodyPr>
          <a:lstStyle/>
          <a:p>
            <a:pPr marL="0" indent="0" algn="l">
              <a:spcBef>
                <a:spcPts val="0"/>
              </a:spcBef>
              <a:spcAft>
                <a:spcPts val="120"/>
              </a:spcAft>
              <a:buNone/>
            </a:pPr>
            <a:r>
              <a:rPr lang="en-GB" sz="1450" b="1" i="0" dirty="0">
                <a:solidFill>
                  <a:srgbClr val="FFFFFF"/>
                </a:solidFill>
              </a:rPr>
              <a:t>1. Value</a:t>
            </a:r>
          </a:p>
          <a:p>
            <a:pPr marL="0" indent="0" algn="l">
              <a:spcBef>
                <a:spcPts val="0"/>
              </a:spcBef>
              <a:spcAft>
                <a:spcPts val="0"/>
              </a:spcAft>
              <a:buNone/>
            </a:pPr>
            <a:r>
              <a:rPr lang="en-GB" sz="1150" b="0" i="0" dirty="0">
                <a:solidFill>
                  <a:srgbClr val="FFFFFF"/>
                </a:solidFill>
              </a:rPr>
              <a:t>Define what the customer values.</a:t>
            </a:r>
          </a:p>
        </p:txBody>
      </p:sp>
      <p:sp>
        <p:nvSpPr>
          <p:cNvPr id="881" name="PE0"/>
          <p:cNvSpPr/>
          <p:nvPr/>
        </p:nvSpPr>
        <p:spPr>
          <a:xfrm>
            <a:off x="274320" y="2788920"/>
            <a:ext cx="1572768" cy="1051560"/>
          </a:xfrm>
          <a:prstGeom prst="roundRect">
            <a:avLst>
              <a:gd name="adj" fmla="val 12000"/>
            </a:avLst>
          </a:prstGeom>
          <a:solidFill>
            <a:srgbClr val="FFFFFF"/>
          </a:solidFill>
          <a:ln w="12700">
            <a:solidFill>
              <a:srgbClr val="D5D0DE"/>
            </a:solidFill>
          </a:ln>
        </p:spPr>
        <p:txBody>
          <a:bodyPr wrap="square" lIns="91440" tIns="91440" rIns="91440" bIns="91440" anchor="t">
            <a:noAutofit/>
          </a:bodyPr>
          <a:lstStyle/>
          <a:p>
            <a:pPr marL="0" indent="0" algn="l">
              <a:spcBef>
                <a:spcPts val="0"/>
              </a:spcBef>
              <a:spcAft>
                <a:spcPts val="100"/>
              </a:spcAft>
              <a:buNone/>
            </a:pPr>
            <a:r>
              <a:rPr lang="en-GB" sz="1050" b="1" i="0" dirty="0">
                <a:solidFill>
                  <a:srgbClr val="0B7A75"/>
                </a:solidFill>
              </a:rPr>
              <a:t>Coffee shop</a:t>
            </a:r>
          </a:p>
          <a:p>
            <a:pPr marL="0" indent="0" algn="l">
              <a:spcBef>
                <a:spcPts val="0"/>
              </a:spcBef>
              <a:spcAft>
                <a:spcPts val="0"/>
              </a:spcAft>
              <a:buNone/>
            </a:pPr>
            <a:r>
              <a:rPr lang="en-GB" sz="1200" b="0" i="0" dirty="0">
                <a:solidFill>
                  <a:srgbClr val="1A1A1A"/>
                </a:solidFill>
              </a:rPr>
              <a:t>A good drink, made right, quickly.</a:t>
            </a:r>
          </a:p>
        </p:txBody>
      </p:sp>
      <p:sp>
        <p:nvSpPr>
          <p:cNvPr id="882" name="PC1"/>
          <p:cNvSpPr/>
          <p:nvPr/>
        </p:nvSpPr>
        <p:spPr>
          <a:xfrm>
            <a:off x="2011680" y="1737360"/>
            <a:ext cx="1664208" cy="960120"/>
          </a:xfrm>
          <a:prstGeom prst="homePlate">
            <a:avLst/>
          </a:prstGeom>
          <a:solidFill>
            <a:srgbClr val="0B7A75"/>
          </a:solidFill>
          <a:ln>
            <a:noFill/>
          </a:ln>
        </p:spPr>
        <p:txBody>
          <a:bodyPr wrap="square" lIns="91440" tIns="91440" rIns="91440" bIns="91440" anchor="ctr">
            <a:noAutofit/>
          </a:bodyPr>
          <a:lstStyle/>
          <a:p>
            <a:pPr marL="0" indent="0" algn="l">
              <a:spcBef>
                <a:spcPts val="0"/>
              </a:spcBef>
              <a:spcAft>
                <a:spcPts val="120"/>
              </a:spcAft>
              <a:buNone/>
            </a:pPr>
            <a:r>
              <a:rPr lang="en-GB" sz="1450" b="1" i="0" dirty="0">
                <a:solidFill>
                  <a:srgbClr val="FFFFFF"/>
                </a:solidFill>
              </a:rPr>
              <a:t>2. Value stream</a:t>
            </a:r>
          </a:p>
          <a:p>
            <a:pPr marL="0" indent="0" algn="l">
              <a:spcBef>
                <a:spcPts val="0"/>
              </a:spcBef>
              <a:spcAft>
                <a:spcPts val="0"/>
              </a:spcAft>
              <a:buNone/>
            </a:pPr>
            <a:r>
              <a:rPr lang="en-GB" sz="1150" b="0" i="0" dirty="0">
                <a:solidFill>
                  <a:srgbClr val="FFFFFF"/>
                </a:solidFill>
              </a:rPr>
              <a:t>Map the steps; find waste.</a:t>
            </a:r>
          </a:p>
        </p:txBody>
      </p:sp>
      <p:sp>
        <p:nvSpPr>
          <p:cNvPr id="883" name="PE1"/>
          <p:cNvSpPr/>
          <p:nvPr/>
        </p:nvSpPr>
        <p:spPr>
          <a:xfrm>
            <a:off x="2011680" y="2788920"/>
            <a:ext cx="1572768" cy="1051560"/>
          </a:xfrm>
          <a:prstGeom prst="roundRect">
            <a:avLst>
              <a:gd name="adj" fmla="val 12000"/>
            </a:avLst>
          </a:prstGeom>
          <a:solidFill>
            <a:srgbClr val="FFFFFF"/>
          </a:solidFill>
          <a:ln w="12700">
            <a:solidFill>
              <a:srgbClr val="D5D0DE"/>
            </a:solidFill>
          </a:ln>
        </p:spPr>
        <p:txBody>
          <a:bodyPr wrap="square" lIns="91440" tIns="91440" rIns="91440" bIns="91440" anchor="t">
            <a:noAutofit/>
          </a:bodyPr>
          <a:lstStyle/>
          <a:p>
            <a:pPr marL="0" indent="0" algn="l">
              <a:spcBef>
                <a:spcPts val="0"/>
              </a:spcBef>
              <a:spcAft>
                <a:spcPts val="100"/>
              </a:spcAft>
              <a:buNone/>
            </a:pPr>
            <a:r>
              <a:rPr lang="en-GB" sz="1050" b="1" i="0" dirty="0">
                <a:solidFill>
                  <a:srgbClr val="0B7A75"/>
                </a:solidFill>
              </a:rPr>
              <a:t>Coffee shop</a:t>
            </a:r>
          </a:p>
          <a:p>
            <a:pPr marL="0" indent="0" algn="l">
              <a:spcBef>
                <a:spcPts val="0"/>
              </a:spcBef>
              <a:spcAft>
                <a:spcPts val="0"/>
              </a:spcAft>
              <a:buNone/>
            </a:pPr>
            <a:r>
              <a:rPr lang="en-GB" sz="1200" b="0" i="0" dirty="0">
                <a:solidFill>
                  <a:srgbClr val="1A1A1A"/>
                </a:solidFill>
              </a:rPr>
              <a:t>Queue → order → make → collect.</a:t>
            </a:r>
          </a:p>
        </p:txBody>
      </p:sp>
      <p:sp>
        <p:nvSpPr>
          <p:cNvPr id="884" name="PC2"/>
          <p:cNvSpPr/>
          <p:nvPr/>
        </p:nvSpPr>
        <p:spPr>
          <a:xfrm>
            <a:off x="3749040" y="1737360"/>
            <a:ext cx="1664208" cy="960120"/>
          </a:xfrm>
          <a:prstGeom prst="homePlate">
            <a:avLst/>
          </a:prstGeom>
          <a:solidFill>
            <a:srgbClr val="0B7A75"/>
          </a:solidFill>
          <a:ln>
            <a:noFill/>
          </a:ln>
        </p:spPr>
        <p:txBody>
          <a:bodyPr wrap="square" lIns="91440" tIns="91440" rIns="91440" bIns="91440" anchor="ctr">
            <a:noAutofit/>
          </a:bodyPr>
          <a:lstStyle/>
          <a:p>
            <a:pPr marL="0" indent="0" algn="l">
              <a:spcBef>
                <a:spcPts val="0"/>
              </a:spcBef>
              <a:spcAft>
                <a:spcPts val="120"/>
              </a:spcAft>
              <a:buNone/>
            </a:pPr>
            <a:r>
              <a:rPr lang="en-GB" sz="1450" b="1" i="0" dirty="0">
                <a:solidFill>
                  <a:srgbClr val="FFFFFF"/>
                </a:solidFill>
              </a:rPr>
              <a:t>3. Flow</a:t>
            </a:r>
          </a:p>
          <a:p>
            <a:pPr marL="0" indent="0" algn="l">
              <a:spcBef>
                <a:spcPts val="0"/>
              </a:spcBef>
              <a:spcAft>
                <a:spcPts val="0"/>
              </a:spcAft>
              <a:buNone/>
            </a:pPr>
            <a:r>
              <a:rPr lang="en-GB" sz="1150" b="0" i="0" dirty="0">
                <a:solidFill>
                  <a:srgbClr val="FFFFFF"/>
                </a:solidFill>
              </a:rPr>
              <a:t>Keep work moving.</a:t>
            </a:r>
          </a:p>
        </p:txBody>
      </p:sp>
      <p:sp>
        <p:nvSpPr>
          <p:cNvPr id="885" name="PE2"/>
          <p:cNvSpPr/>
          <p:nvPr/>
        </p:nvSpPr>
        <p:spPr>
          <a:xfrm>
            <a:off x="3749040" y="2788920"/>
            <a:ext cx="1572768" cy="1051560"/>
          </a:xfrm>
          <a:prstGeom prst="roundRect">
            <a:avLst>
              <a:gd name="adj" fmla="val 12000"/>
            </a:avLst>
          </a:prstGeom>
          <a:solidFill>
            <a:srgbClr val="FFFFFF"/>
          </a:solidFill>
          <a:ln w="12700">
            <a:solidFill>
              <a:srgbClr val="D5D0DE"/>
            </a:solidFill>
          </a:ln>
        </p:spPr>
        <p:txBody>
          <a:bodyPr wrap="square" lIns="91440" tIns="91440" rIns="91440" bIns="91440" anchor="t">
            <a:noAutofit/>
          </a:bodyPr>
          <a:lstStyle/>
          <a:p>
            <a:pPr marL="0" indent="0" algn="l">
              <a:spcBef>
                <a:spcPts val="0"/>
              </a:spcBef>
              <a:spcAft>
                <a:spcPts val="100"/>
              </a:spcAft>
              <a:buNone/>
            </a:pPr>
            <a:r>
              <a:rPr lang="en-GB" sz="1050" b="1" i="0" dirty="0">
                <a:solidFill>
                  <a:srgbClr val="0B7A75"/>
                </a:solidFill>
              </a:rPr>
              <a:t>Coffee shop</a:t>
            </a:r>
          </a:p>
          <a:p>
            <a:pPr marL="0" indent="0" algn="l">
              <a:spcBef>
                <a:spcPts val="0"/>
              </a:spcBef>
              <a:spcAft>
                <a:spcPts val="0"/>
              </a:spcAft>
              <a:buNone/>
            </a:pPr>
            <a:r>
              <a:rPr lang="en-GB" sz="1200" b="0" i="0" dirty="0">
                <a:solidFill>
                  <a:srgbClr val="1A1A1A"/>
                </a:solidFill>
              </a:rPr>
              <a:t>Ingredients within the barista’s reach.</a:t>
            </a:r>
          </a:p>
        </p:txBody>
      </p:sp>
      <p:sp>
        <p:nvSpPr>
          <p:cNvPr id="886" name="PC3"/>
          <p:cNvSpPr/>
          <p:nvPr/>
        </p:nvSpPr>
        <p:spPr>
          <a:xfrm>
            <a:off x="5486400" y="1737360"/>
            <a:ext cx="1664208" cy="960120"/>
          </a:xfrm>
          <a:prstGeom prst="homePlate">
            <a:avLst/>
          </a:prstGeom>
          <a:solidFill>
            <a:srgbClr val="0B7A75"/>
          </a:solidFill>
          <a:ln>
            <a:noFill/>
          </a:ln>
        </p:spPr>
        <p:txBody>
          <a:bodyPr wrap="square" lIns="91440" tIns="91440" rIns="91440" bIns="91440" anchor="ctr">
            <a:noAutofit/>
          </a:bodyPr>
          <a:lstStyle/>
          <a:p>
            <a:pPr marL="0" indent="0" algn="l">
              <a:spcBef>
                <a:spcPts val="0"/>
              </a:spcBef>
              <a:spcAft>
                <a:spcPts val="120"/>
              </a:spcAft>
              <a:buNone/>
            </a:pPr>
            <a:r>
              <a:rPr lang="en-GB" sz="1450" b="1" i="0" dirty="0">
                <a:solidFill>
                  <a:srgbClr val="FFFFFF"/>
                </a:solidFill>
              </a:rPr>
              <a:t>4. Pull</a:t>
            </a:r>
          </a:p>
          <a:p>
            <a:pPr marL="0" indent="0" algn="l">
              <a:spcBef>
                <a:spcPts val="0"/>
              </a:spcBef>
              <a:spcAft>
                <a:spcPts val="0"/>
              </a:spcAft>
              <a:buNone/>
            </a:pPr>
            <a:r>
              <a:rPr lang="en-GB" sz="1150" b="0" i="0" dirty="0">
                <a:solidFill>
                  <a:srgbClr val="FFFFFF"/>
                </a:solidFill>
              </a:rPr>
              <a:t>Make only what is ordered.</a:t>
            </a:r>
          </a:p>
        </p:txBody>
      </p:sp>
      <p:sp>
        <p:nvSpPr>
          <p:cNvPr id="887" name="PE3"/>
          <p:cNvSpPr/>
          <p:nvPr/>
        </p:nvSpPr>
        <p:spPr>
          <a:xfrm>
            <a:off x="5486400" y="2788920"/>
            <a:ext cx="1572768" cy="1051560"/>
          </a:xfrm>
          <a:prstGeom prst="roundRect">
            <a:avLst>
              <a:gd name="adj" fmla="val 12000"/>
            </a:avLst>
          </a:prstGeom>
          <a:solidFill>
            <a:srgbClr val="FFFFFF"/>
          </a:solidFill>
          <a:ln w="12700">
            <a:solidFill>
              <a:srgbClr val="D5D0DE"/>
            </a:solidFill>
          </a:ln>
        </p:spPr>
        <p:txBody>
          <a:bodyPr wrap="square" lIns="91440" tIns="91440" rIns="91440" bIns="91440" anchor="t">
            <a:noAutofit/>
          </a:bodyPr>
          <a:lstStyle/>
          <a:p>
            <a:pPr marL="0" indent="0" algn="l">
              <a:spcBef>
                <a:spcPts val="0"/>
              </a:spcBef>
              <a:spcAft>
                <a:spcPts val="100"/>
              </a:spcAft>
              <a:buNone/>
            </a:pPr>
            <a:r>
              <a:rPr lang="en-GB" sz="1050" b="1" i="0" dirty="0">
                <a:solidFill>
                  <a:srgbClr val="0B7A75"/>
                </a:solidFill>
              </a:rPr>
              <a:t>Coffee shop</a:t>
            </a:r>
          </a:p>
          <a:p>
            <a:pPr marL="0" indent="0" algn="l">
              <a:spcBef>
                <a:spcPts val="0"/>
              </a:spcBef>
              <a:spcAft>
                <a:spcPts val="0"/>
              </a:spcAft>
              <a:buNone/>
            </a:pPr>
            <a:r>
              <a:rPr lang="en-GB" sz="1200" b="0" i="0" dirty="0">
                <a:solidFill>
                  <a:srgbClr val="1A1A1A"/>
                </a:solidFill>
              </a:rPr>
              <a:t>Make drinks to order, not in advance.</a:t>
            </a:r>
          </a:p>
        </p:txBody>
      </p:sp>
      <p:sp>
        <p:nvSpPr>
          <p:cNvPr id="888" name="PC4"/>
          <p:cNvSpPr/>
          <p:nvPr/>
        </p:nvSpPr>
        <p:spPr>
          <a:xfrm>
            <a:off x="7223760" y="1737360"/>
            <a:ext cx="1664208" cy="960120"/>
          </a:xfrm>
          <a:prstGeom prst="rect">
            <a:avLst/>
          </a:prstGeom>
          <a:solidFill>
            <a:srgbClr val="0B7A75"/>
          </a:solidFill>
          <a:ln>
            <a:noFill/>
          </a:ln>
        </p:spPr>
        <p:txBody>
          <a:bodyPr wrap="square" lIns="91440" tIns="91440" rIns="91440" bIns="91440" anchor="ctr">
            <a:noAutofit/>
          </a:bodyPr>
          <a:lstStyle/>
          <a:p>
            <a:pPr marL="0" indent="0" algn="l">
              <a:spcBef>
                <a:spcPts val="0"/>
              </a:spcBef>
              <a:spcAft>
                <a:spcPts val="120"/>
              </a:spcAft>
              <a:buNone/>
            </a:pPr>
            <a:r>
              <a:rPr lang="en-GB" sz="1450" b="1" i="0" dirty="0">
                <a:solidFill>
                  <a:srgbClr val="FFFFFF"/>
                </a:solidFill>
              </a:rPr>
              <a:t>5. Perfection</a:t>
            </a:r>
          </a:p>
          <a:p>
            <a:pPr marL="0" indent="0" algn="l">
              <a:spcBef>
                <a:spcPts val="0"/>
              </a:spcBef>
              <a:spcAft>
                <a:spcPts val="0"/>
              </a:spcAft>
              <a:buNone/>
            </a:pPr>
            <a:r>
              <a:rPr lang="en-GB" sz="1150" b="0" i="0" dirty="0">
                <a:solidFill>
                  <a:srgbClr val="FFFFFF"/>
                </a:solidFill>
              </a:rPr>
              <a:t>Improve continuously (kaizen).</a:t>
            </a:r>
          </a:p>
        </p:txBody>
      </p:sp>
      <p:sp>
        <p:nvSpPr>
          <p:cNvPr id="889" name="PE4"/>
          <p:cNvSpPr/>
          <p:nvPr/>
        </p:nvSpPr>
        <p:spPr>
          <a:xfrm>
            <a:off x="7223760" y="2788920"/>
            <a:ext cx="1572768" cy="1051560"/>
          </a:xfrm>
          <a:prstGeom prst="roundRect">
            <a:avLst>
              <a:gd name="adj" fmla="val 12000"/>
            </a:avLst>
          </a:prstGeom>
          <a:solidFill>
            <a:srgbClr val="FFFFFF"/>
          </a:solidFill>
          <a:ln w="12700">
            <a:solidFill>
              <a:srgbClr val="D5D0DE"/>
            </a:solidFill>
          </a:ln>
        </p:spPr>
        <p:txBody>
          <a:bodyPr wrap="square" lIns="91440" tIns="91440" rIns="91440" bIns="91440" anchor="t">
            <a:noAutofit/>
          </a:bodyPr>
          <a:lstStyle/>
          <a:p>
            <a:pPr marL="0" indent="0" algn="l">
              <a:spcBef>
                <a:spcPts val="0"/>
              </a:spcBef>
              <a:spcAft>
                <a:spcPts val="100"/>
              </a:spcAft>
              <a:buNone/>
            </a:pPr>
            <a:r>
              <a:rPr lang="en-GB" sz="1050" b="1" i="0" dirty="0">
                <a:solidFill>
                  <a:srgbClr val="0B7A75"/>
                </a:solidFill>
              </a:rPr>
              <a:t>Coffee shop</a:t>
            </a:r>
          </a:p>
          <a:p>
            <a:pPr marL="0" indent="0" algn="l">
              <a:spcBef>
                <a:spcPts val="0"/>
              </a:spcBef>
              <a:spcAft>
                <a:spcPts val="0"/>
              </a:spcAft>
              <a:buNone/>
            </a:pPr>
            <a:r>
              <a:rPr lang="en-GB" sz="1200" b="0" i="0" dirty="0">
                <a:solidFill>
                  <a:srgbClr val="1A1A1A"/>
                </a:solidFill>
              </a:rPr>
              <a:t>Review waiting times every week.</a:t>
            </a:r>
          </a:p>
        </p:txBody>
      </p:sp>
      <p:sp>
        <p:nvSpPr>
          <p:cNvPr id="890" name="LG"/>
          <p:cNvSpPr/>
          <p:nvPr/>
        </p:nvSpPr>
        <p:spPr>
          <a:xfrm>
            <a:off x="274320" y="4023360"/>
            <a:ext cx="8595360" cy="59436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500" b="1" i="0" dirty="0">
                <a:solidFill>
                  <a:srgbClr val="C2410C"/>
                </a:solidFill>
              </a:rPr>
              <a:t>The goal: </a:t>
            </a:r>
            <a:r>
              <a:rPr lang="en-GB" sz="1500" b="0" i="0" dirty="0">
                <a:solidFill>
                  <a:srgbClr val="1A1A1A"/>
                </a:solidFill>
              </a:rPr>
              <a:t>more customer value with less waste, time and cost.</a:t>
            </a:r>
          </a:p>
        </p:txBody>
      </p:sp>
    </p:spTree>
    <p:extLst>
      <p:ext uri="{BB962C8B-B14F-4D97-AF65-F5344CB8AC3E}">
        <p14:creationId xmlns:p14="http://schemas.microsoft.com/office/powerpoint/2010/main" val="14474763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Taiichi Ohno’s Three Roadblocks: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21</a:t>
            </a:fld>
            <a:endParaRPr lang="en"/>
          </a:p>
        </p:txBody>
      </p:sp>
      <p:sp>
        <p:nvSpPr>
          <p:cNvPr id="901" name="Muda"/>
          <p:cNvSpPr/>
          <p:nvPr/>
        </p:nvSpPr>
        <p:spPr>
          <a:xfrm>
            <a:off x="1508760" y="960120"/>
            <a:ext cx="1828800" cy="1828800"/>
          </a:xfrm>
          <a:prstGeom prst="ellipse">
            <a:avLst/>
          </a:prstGeom>
          <a:solidFill>
            <a:srgbClr val="2E8BC0">
              <a:alpha val="85000"/>
            </a:srgbClr>
          </a:solidFill>
          <a:ln>
            <a:noFill/>
          </a:ln>
        </p:spPr>
        <p:txBody>
          <a:bodyPr wrap="square" anchor="ctr"/>
          <a:lstStyle/>
          <a:p>
            <a:pPr marL="0" indent="0" algn="ctr">
              <a:spcBef>
                <a:spcPts val="0"/>
              </a:spcBef>
              <a:spcAft>
                <a:spcPts val="0"/>
              </a:spcAft>
              <a:buNone/>
            </a:pPr>
            <a:r>
              <a:rPr lang="en-GB" sz="2000" b="1" i="0" dirty="0">
                <a:solidFill>
                  <a:srgbClr val="FFFFFF"/>
                </a:solidFill>
              </a:rPr>
              <a:t>Muda</a:t>
            </a:r>
          </a:p>
          <a:p>
            <a:pPr marL="0" indent="0" algn="ctr">
              <a:spcBef>
                <a:spcPts val="0"/>
              </a:spcBef>
              <a:spcAft>
                <a:spcPts val="0"/>
              </a:spcAft>
              <a:buNone/>
            </a:pPr>
            <a:r>
              <a:rPr lang="en-GB" sz="1200" b="0" i="0" dirty="0">
                <a:solidFill>
                  <a:srgbClr val="FFFFFF"/>
                </a:solidFill>
              </a:rPr>
              <a:t>Waste</a:t>
            </a:r>
          </a:p>
        </p:txBody>
      </p:sp>
      <p:sp>
        <p:nvSpPr>
          <p:cNvPr id="902" name="Mura"/>
          <p:cNvSpPr/>
          <p:nvPr/>
        </p:nvSpPr>
        <p:spPr>
          <a:xfrm>
            <a:off x="731520" y="2240280"/>
            <a:ext cx="1828800" cy="1828800"/>
          </a:xfrm>
          <a:prstGeom prst="ellipse">
            <a:avLst/>
          </a:prstGeom>
          <a:solidFill>
            <a:srgbClr val="F2A33A">
              <a:alpha val="85000"/>
            </a:srgbClr>
          </a:solidFill>
          <a:ln>
            <a:noFill/>
          </a:ln>
        </p:spPr>
        <p:txBody>
          <a:bodyPr wrap="square" anchor="ctr"/>
          <a:lstStyle/>
          <a:p>
            <a:pPr marL="0" indent="0" algn="ctr">
              <a:spcBef>
                <a:spcPts val="0"/>
              </a:spcBef>
              <a:spcAft>
                <a:spcPts val="0"/>
              </a:spcAft>
              <a:buNone/>
            </a:pPr>
            <a:r>
              <a:rPr lang="en-GB" sz="2000" b="1" i="0" dirty="0">
                <a:solidFill>
                  <a:srgbClr val="FFFFFF"/>
                </a:solidFill>
              </a:rPr>
              <a:t>Mura</a:t>
            </a:r>
          </a:p>
          <a:p>
            <a:pPr marL="0" indent="0" algn="ctr">
              <a:spcBef>
                <a:spcPts val="0"/>
              </a:spcBef>
              <a:spcAft>
                <a:spcPts val="0"/>
              </a:spcAft>
              <a:buNone/>
            </a:pPr>
            <a:r>
              <a:rPr lang="en-GB" sz="1200" b="0" i="0" dirty="0">
                <a:solidFill>
                  <a:srgbClr val="FFFFFF"/>
                </a:solidFill>
              </a:rPr>
              <a:t>Unevenness</a:t>
            </a:r>
          </a:p>
        </p:txBody>
      </p:sp>
      <p:sp>
        <p:nvSpPr>
          <p:cNvPr id="903" name="Muri"/>
          <p:cNvSpPr/>
          <p:nvPr/>
        </p:nvSpPr>
        <p:spPr>
          <a:xfrm>
            <a:off x="2286000" y="2240280"/>
            <a:ext cx="1828800" cy="1828800"/>
          </a:xfrm>
          <a:prstGeom prst="ellipse">
            <a:avLst/>
          </a:prstGeom>
          <a:solidFill>
            <a:srgbClr val="E2483D">
              <a:alpha val="85000"/>
            </a:srgbClr>
          </a:solidFill>
          <a:ln>
            <a:noFill/>
          </a:ln>
        </p:spPr>
        <p:txBody>
          <a:bodyPr wrap="square" anchor="ctr"/>
          <a:lstStyle/>
          <a:p>
            <a:pPr marL="0" indent="0" algn="ctr">
              <a:spcBef>
                <a:spcPts val="0"/>
              </a:spcBef>
              <a:spcAft>
                <a:spcPts val="0"/>
              </a:spcAft>
              <a:buNone/>
            </a:pPr>
            <a:r>
              <a:rPr lang="en-GB" sz="2000" b="1" i="0" dirty="0">
                <a:solidFill>
                  <a:srgbClr val="FFFFFF"/>
                </a:solidFill>
              </a:rPr>
              <a:t>Muri</a:t>
            </a:r>
          </a:p>
          <a:p>
            <a:pPr marL="0" indent="0" algn="ctr">
              <a:spcBef>
                <a:spcPts val="0"/>
              </a:spcBef>
              <a:spcAft>
                <a:spcPts val="0"/>
              </a:spcAft>
              <a:buNone/>
            </a:pPr>
            <a:r>
              <a:rPr lang="en-GB" sz="1200" b="0" i="0" dirty="0">
                <a:solidFill>
                  <a:srgbClr val="FFFFFF"/>
                </a:solidFill>
              </a:rPr>
              <a:t>Overburden</a:t>
            </a:r>
          </a:p>
        </p:txBody>
      </p:sp>
      <p:sp>
        <p:nvSpPr>
          <p:cNvPr id="897" name="MD0"/>
          <p:cNvSpPr/>
          <p:nvPr/>
        </p:nvSpPr>
        <p:spPr>
          <a:xfrm>
            <a:off x="4572000" y="960120"/>
            <a:ext cx="4297680" cy="960120"/>
          </a:xfrm>
          <a:prstGeom prst="roundRect">
            <a:avLst>
              <a:gd name="adj" fmla="val 12000"/>
            </a:avLst>
          </a:prstGeom>
          <a:solidFill>
            <a:srgbClr val="FFFFFF"/>
          </a:solidFill>
          <a:ln w="19050">
            <a:solidFill>
              <a:srgbClr val="2E8BC0"/>
            </a:solidFill>
          </a:ln>
        </p:spPr>
        <p:txBody>
          <a:bodyPr wrap="square" lIns="128016" tIns="128016" rIns="128016" bIns="128016" anchor="ctr">
            <a:noAutofit/>
          </a:bodyPr>
          <a:lstStyle/>
          <a:p>
            <a:pPr marL="0" indent="0" algn="l">
              <a:spcBef>
                <a:spcPts val="0"/>
              </a:spcBef>
              <a:spcAft>
                <a:spcPts val="120"/>
              </a:spcAft>
              <a:buNone/>
            </a:pPr>
            <a:r>
              <a:rPr lang="en-GB" sz="1550" b="1" i="0" dirty="0">
                <a:solidFill>
                  <a:srgbClr val="2E8BC0"/>
                </a:solidFill>
              </a:rPr>
              <a:t>Muda: waste</a:t>
            </a:r>
          </a:p>
          <a:p>
            <a:pPr marL="0" indent="0" algn="l">
              <a:spcBef>
                <a:spcPts val="0"/>
              </a:spcBef>
              <a:spcAft>
                <a:spcPts val="0"/>
              </a:spcAft>
              <a:buNone/>
            </a:pPr>
            <a:r>
              <a:rPr lang="en-GB" sz="1350" b="0" i="0" dirty="0">
                <a:solidFill>
                  <a:srgbClr val="1A1A1A"/>
                </a:solidFill>
              </a:rPr>
              <a:t>Activities that use resources but add no value. The seven wastes.</a:t>
            </a:r>
          </a:p>
        </p:txBody>
      </p:sp>
      <p:sp>
        <p:nvSpPr>
          <p:cNvPr id="898" name="MD1"/>
          <p:cNvSpPr/>
          <p:nvPr/>
        </p:nvSpPr>
        <p:spPr>
          <a:xfrm>
            <a:off x="4572000" y="2011680"/>
            <a:ext cx="4297680" cy="960120"/>
          </a:xfrm>
          <a:prstGeom prst="roundRect">
            <a:avLst>
              <a:gd name="adj" fmla="val 12000"/>
            </a:avLst>
          </a:prstGeom>
          <a:solidFill>
            <a:srgbClr val="FFFFFF"/>
          </a:solidFill>
          <a:ln w="19050">
            <a:solidFill>
              <a:srgbClr val="F2A33A"/>
            </a:solidFill>
          </a:ln>
        </p:spPr>
        <p:txBody>
          <a:bodyPr wrap="square" lIns="128016" tIns="128016" rIns="128016" bIns="128016" anchor="ctr">
            <a:noAutofit/>
          </a:bodyPr>
          <a:lstStyle/>
          <a:p>
            <a:pPr marL="0" indent="0" algn="l">
              <a:spcBef>
                <a:spcPts val="0"/>
              </a:spcBef>
              <a:spcAft>
                <a:spcPts val="120"/>
              </a:spcAft>
              <a:buNone/>
            </a:pPr>
            <a:r>
              <a:rPr lang="en-GB" sz="1550" b="1" i="0" dirty="0">
                <a:solidFill>
                  <a:srgbClr val="F2A33A"/>
                </a:solidFill>
              </a:rPr>
              <a:t>Mura: unevenness</a:t>
            </a:r>
          </a:p>
          <a:p>
            <a:pPr marL="0" indent="0" algn="l">
              <a:spcBef>
                <a:spcPts val="0"/>
              </a:spcBef>
              <a:spcAft>
                <a:spcPts val="0"/>
              </a:spcAft>
              <a:buNone/>
            </a:pPr>
            <a:r>
              <a:rPr lang="en-GB" sz="1350" b="0" i="0" dirty="0">
                <a:solidFill>
                  <a:srgbClr val="1A1A1A"/>
                </a:solidFill>
              </a:rPr>
              <a:t>Uneven demand or workload, such as the morning coffee rush.</a:t>
            </a:r>
          </a:p>
        </p:txBody>
      </p:sp>
      <p:sp>
        <p:nvSpPr>
          <p:cNvPr id="899" name="MD2"/>
          <p:cNvSpPr/>
          <p:nvPr/>
        </p:nvSpPr>
        <p:spPr>
          <a:xfrm>
            <a:off x="4572000" y="3063240"/>
            <a:ext cx="4297680" cy="960120"/>
          </a:xfrm>
          <a:prstGeom prst="roundRect">
            <a:avLst>
              <a:gd name="adj" fmla="val 12000"/>
            </a:avLst>
          </a:prstGeom>
          <a:solidFill>
            <a:srgbClr val="FFFFFF"/>
          </a:solidFill>
          <a:ln w="19050">
            <a:solidFill>
              <a:srgbClr val="E2483D"/>
            </a:solidFill>
          </a:ln>
        </p:spPr>
        <p:txBody>
          <a:bodyPr wrap="square" lIns="128016" tIns="128016" rIns="128016" bIns="128016" anchor="ctr">
            <a:noAutofit/>
          </a:bodyPr>
          <a:lstStyle/>
          <a:p>
            <a:pPr marL="0" indent="0" algn="l">
              <a:spcBef>
                <a:spcPts val="0"/>
              </a:spcBef>
              <a:spcAft>
                <a:spcPts val="120"/>
              </a:spcAft>
              <a:buNone/>
            </a:pPr>
            <a:r>
              <a:rPr lang="en-GB" sz="1550" b="1" i="0" dirty="0">
                <a:solidFill>
                  <a:srgbClr val="E2483D"/>
                </a:solidFill>
              </a:rPr>
              <a:t>Muri: overburden</a:t>
            </a:r>
          </a:p>
          <a:p>
            <a:pPr marL="0" indent="0" algn="l">
              <a:spcBef>
                <a:spcPts val="0"/>
              </a:spcBef>
              <a:spcAft>
                <a:spcPts val="0"/>
              </a:spcAft>
              <a:buNone/>
            </a:pPr>
            <a:r>
              <a:rPr lang="en-GB" sz="1350" b="0" i="0" dirty="0">
                <a:solidFill>
                  <a:srgbClr val="1A1A1A"/>
                </a:solidFill>
              </a:rPr>
              <a:t>Overloading people or equipment, such as one barista at peak time.</a:t>
            </a:r>
          </a:p>
        </p:txBody>
      </p:sp>
      <p:sp>
        <p:nvSpPr>
          <p:cNvPr id="900" name="MM"/>
          <p:cNvSpPr/>
          <p:nvPr/>
        </p:nvSpPr>
        <p:spPr>
          <a:xfrm>
            <a:off x="274320" y="4206240"/>
            <a:ext cx="8595360" cy="457200"/>
          </a:xfrm>
          <a:prstGeom prst="roundRect">
            <a:avLst>
              <a:gd name="adj" fmla="val 12000"/>
            </a:avLst>
          </a:prstGeom>
          <a:solidFill>
            <a:srgbClr val="EDE6F7"/>
          </a:solidFill>
          <a:ln>
            <a:noFill/>
          </a:ln>
        </p:spPr>
        <p:txBody>
          <a:bodyPr wrap="square" lIns="109728" tIns="109728" rIns="109728" bIns="109728" anchor="ctr">
            <a:noAutofit/>
          </a:bodyPr>
          <a:lstStyle/>
          <a:p>
            <a:pPr marL="0" indent="0" algn="l">
              <a:spcBef>
                <a:spcPts val="0"/>
              </a:spcBef>
              <a:spcAft>
                <a:spcPts val="0"/>
              </a:spcAft>
              <a:buNone/>
            </a:pPr>
            <a:r>
              <a:rPr lang="en-GB" sz="1400" b="1" i="0" dirty="0">
                <a:solidFill>
                  <a:srgbClr val="440099"/>
                </a:solidFill>
              </a:rPr>
              <a:t>How they connect: </a:t>
            </a:r>
            <a:r>
              <a:rPr lang="en-GB" sz="1400" b="0" i="0" dirty="0">
                <a:solidFill>
                  <a:srgbClr val="1A1A1A"/>
                </a:solidFill>
              </a:rPr>
              <a:t>unevenness (Mura) causes overburden (Muri), which creates waste (Muda).</a:t>
            </a:r>
          </a:p>
        </p:txBody>
      </p:sp>
    </p:spTree>
    <p:extLst>
      <p:ext uri="{BB962C8B-B14F-4D97-AF65-F5344CB8AC3E}">
        <p14:creationId xmlns:p14="http://schemas.microsoft.com/office/powerpoint/2010/main" val="16203980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The Seven Wastes (1): T, I, M, W</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22</a:t>
            </a:fld>
            <a:endParaRPr lang="en"/>
          </a:p>
        </p:txBody>
      </p:sp>
      <p:sp>
        <p:nvSpPr>
          <p:cNvPr id="910" name="Cardtransport"/>
          <p:cNvSpPr/>
          <p:nvPr/>
        </p:nvSpPr>
        <p:spPr>
          <a:xfrm>
            <a:off x="274320"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912" name="Icon transport" descr="transport icon"/>
          <p:cNvPicPr>
            <a:picLocks noChangeAspect="1"/>
          </p:cNvPicPr>
          <p:nvPr/>
        </p:nvPicPr>
        <p:blipFill>
          <a:blip r:embed="rId2"/>
          <a:stretch>
            <a:fillRect/>
          </a:stretch>
        </p:blipFill>
        <p:spPr>
          <a:xfrm>
            <a:off x="822960" y="1024128"/>
            <a:ext cx="960120" cy="960120"/>
          </a:xfrm>
          <a:prstGeom prst="rect">
            <a:avLst/>
          </a:prstGeom>
        </p:spPr>
      </p:pic>
      <p:sp>
        <p:nvSpPr>
          <p:cNvPr id="911" name="DNtransport"/>
          <p:cNvSpPr/>
          <p:nvPr/>
        </p:nvSpPr>
        <p:spPr>
          <a:xfrm>
            <a:off x="347472"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C2410C"/>
                </a:solidFill>
              </a:rPr>
              <a:t>Transport</a:t>
            </a:r>
          </a:p>
        </p:txBody>
      </p:sp>
      <p:sp>
        <p:nvSpPr>
          <p:cNvPr id="2" name="DDtransport"/>
          <p:cNvSpPr/>
          <p:nvPr/>
        </p:nvSpPr>
        <p:spPr>
          <a:xfrm>
            <a:off x="365760"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Unnecessary movement of materials or products.</a:t>
            </a:r>
          </a:p>
        </p:txBody>
      </p:sp>
      <p:sp>
        <p:nvSpPr>
          <p:cNvPr id="913" name="DEtransport"/>
          <p:cNvSpPr/>
          <p:nvPr/>
        </p:nvSpPr>
        <p:spPr>
          <a:xfrm>
            <a:off x="365760"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Moving stock between storerooms.</a:t>
            </a:r>
          </a:p>
        </p:txBody>
      </p:sp>
      <p:sp>
        <p:nvSpPr>
          <p:cNvPr id="914" name="Cardinventory"/>
          <p:cNvSpPr/>
          <p:nvPr/>
        </p:nvSpPr>
        <p:spPr>
          <a:xfrm>
            <a:off x="2441448"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3" name="Icon inventory" descr="inventory icon"/>
          <p:cNvPicPr>
            <a:picLocks noChangeAspect="1"/>
          </p:cNvPicPr>
          <p:nvPr/>
        </p:nvPicPr>
        <p:blipFill>
          <a:blip r:embed="rId3"/>
          <a:stretch>
            <a:fillRect/>
          </a:stretch>
        </p:blipFill>
        <p:spPr>
          <a:xfrm>
            <a:off x="2990088" y="1024128"/>
            <a:ext cx="960120" cy="960120"/>
          </a:xfrm>
          <a:prstGeom prst="rect">
            <a:avLst/>
          </a:prstGeom>
        </p:spPr>
      </p:pic>
      <p:sp>
        <p:nvSpPr>
          <p:cNvPr id="915" name="DNinventory"/>
          <p:cNvSpPr/>
          <p:nvPr/>
        </p:nvSpPr>
        <p:spPr>
          <a:xfrm>
            <a:off x="2514600"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C2410C"/>
                </a:solidFill>
              </a:rPr>
              <a:t>Inventory</a:t>
            </a:r>
          </a:p>
        </p:txBody>
      </p:sp>
      <p:sp>
        <p:nvSpPr>
          <p:cNvPr id="916" name="DDinventory"/>
          <p:cNvSpPr/>
          <p:nvPr/>
        </p:nvSpPr>
        <p:spPr>
          <a:xfrm>
            <a:off x="2532888"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More stock or work-in-progress than demand needs.</a:t>
            </a:r>
          </a:p>
        </p:txBody>
      </p:sp>
      <p:sp>
        <p:nvSpPr>
          <p:cNvPr id="917" name="DEinventory"/>
          <p:cNvSpPr/>
          <p:nvPr/>
        </p:nvSpPr>
        <p:spPr>
          <a:xfrm>
            <a:off x="2532888"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Milk going out of date.</a:t>
            </a:r>
          </a:p>
        </p:txBody>
      </p:sp>
      <p:sp>
        <p:nvSpPr>
          <p:cNvPr id="918" name="Cardmotion"/>
          <p:cNvSpPr/>
          <p:nvPr/>
        </p:nvSpPr>
        <p:spPr>
          <a:xfrm>
            <a:off x="4608576"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4" name="Icon motion" descr="motion icon"/>
          <p:cNvPicPr>
            <a:picLocks noChangeAspect="1"/>
          </p:cNvPicPr>
          <p:nvPr/>
        </p:nvPicPr>
        <p:blipFill>
          <a:blip r:embed="rId4"/>
          <a:stretch>
            <a:fillRect/>
          </a:stretch>
        </p:blipFill>
        <p:spPr>
          <a:xfrm>
            <a:off x="5157216" y="1024128"/>
            <a:ext cx="960120" cy="960120"/>
          </a:xfrm>
          <a:prstGeom prst="rect">
            <a:avLst/>
          </a:prstGeom>
        </p:spPr>
      </p:pic>
      <p:sp>
        <p:nvSpPr>
          <p:cNvPr id="919" name="DNmotion"/>
          <p:cNvSpPr/>
          <p:nvPr/>
        </p:nvSpPr>
        <p:spPr>
          <a:xfrm>
            <a:off x="4681728"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C2410C"/>
                </a:solidFill>
              </a:rPr>
              <a:t>Motion</a:t>
            </a:r>
          </a:p>
        </p:txBody>
      </p:sp>
      <p:sp>
        <p:nvSpPr>
          <p:cNvPr id="920" name="DDmotion"/>
          <p:cNvSpPr/>
          <p:nvPr/>
        </p:nvSpPr>
        <p:spPr>
          <a:xfrm>
            <a:off x="4700016"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Unnecessary movement by people.</a:t>
            </a:r>
          </a:p>
        </p:txBody>
      </p:sp>
      <p:sp>
        <p:nvSpPr>
          <p:cNvPr id="921" name="DEmotion"/>
          <p:cNvSpPr/>
          <p:nvPr/>
        </p:nvSpPr>
        <p:spPr>
          <a:xfrm>
            <a:off x="4700016"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Walking to the storeroom for cups.</a:t>
            </a:r>
          </a:p>
        </p:txBody>
      </p:sp>
      <p:sp>
        <p:nvSpPr>
          <p:cNvPr id="922" name="Cardwaiting"/>
          <p:cNvSpPr/>
          <p:nvPr/>
        </p:nvSpPr>
        <p:spPr>
          <a:xfrm>
            <a:off x="6775704"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5" name="Icon waiting" descr="waiting icon"/>
          <p:cNvPicPr>
            <a:picLocks noChangeAspect="1"/>
          </p:cNvPicPr>
          <p:nvPr/>
        </p:nvPicPr>
        <p:blipFill>
          <a:blip r:embed="rId5"/>
          <a:stretch>
            <a:fillRect/>
          </a:stretch>
        </p:blipFill>
        <p:spPr>
          <a:xfrm>
            <a:off x="7324344" y="1024128"/>
            <a:ext cx="960120" cy="960120"/>
          </a:xfrm>
          <a:prstGeom prst="rect">
            <a:avLst/>
          </a:prstGeom>
        </p:spPr>
      </p:pic>
      <p:sp>
        <p:nvSpPr>
          <p:cNvPr id="923" name="DNwaiting"/>
          <p:cNvSpPr/>
          <p:nvPr/>
        </p:nvSpPr>
        <p:spPr>
          <a:xfrm>
            <a:off x="6848856"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C2410C"/>
                </a:solidFill>
              </a:rPr>
              <a:t>Waiting</a:t>
            </a:r>
          </a:p>
        </p:txBody>
      </p:sp>
      <p:sp>
        <p:nvSpPr>
          <p:cNvPr id="924" name="DDwaiting"/>
          <p:cNvSpPr/>
          <p:nvPr/>
        </p:nvSpPr>
        <p:spPr>
          <a:xfrm>
            <a:off x="6867144"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Idle time caused by delays.</a:t>
            </a:r>
          </a:p>
        </p:txBody>
      </p:sp>
      <p:sp>
        <p:nvSpPr>
          <p:cNvPr id="925" name="DEwaiting"/>
          <p:cNvSpPr/>
          <p:nvPr/>
        </p:nvSpPr>
        <p:spPr>
          <a:xfrm>
            <a:off x="6867144"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Customers queueing to order.</a:t>
            </a:r>
          </a:p>
        </p:txBody>
      </p:sp>
    </p:spTree>
    <p:extLst>
      <p:ext uri="{BB962C8B-B14F-4D97-AF65-F5344CB8AC3E}">
        <p14:creationId xmlns:p14="http://schemas.microsoft.com/office/powerpoint/2010/main" val="36452392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The Seven Wastes (2): O, O, D, plus Talent</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23</a:t>
            </a:fld>
            <a:endParaRPr lang="en"/>
          </a:p>
        </p:txBody>
      </p:sp>
      <p:sp>
        <p:nvSpPr>
          <p:cNvPr id="926" name="Cardoverproduction"/>
          <p:cNvSpPr/>
          <p:nvPr/>
        </p:nvSpPr>
        <p:spPr>
          <a:xfrm>
            <a:off x="274320"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916" name="Icon overproduction" descr="overproduction icon"/>
          <p:cNvPicPr>
            <a:picLocks noChangeAspect="1"/>
          </p:cNvPicPr>
          <p:nvPr/>
        </p:nvPicPr>
        <p:blipFill>
          <a:blip r:embed="rId2"/>
          <a:stretch>
            <a:fillRect/>
          </a:stretch>
        </p:blipFill>
        <p:spPr>
          <a:xfrm>
            <a:off x="822960" y="1024128"/>
            <a:ext cx="960120" cy="960120"/>
          </a:xfrm>
          <a:prstGeom prst="rect">
            <a:avLst/>
          </a:prstGeom>
        </p:spPr>
      </p:pic>
      <p:sp>
        <p:nvSpPr>
          <p:cNvPr id="927" name="DNoverproduction"/>
          <p:cNvSpPr/>
          <p:nvPr/>
        </p:nvSpPr>
        <p:spPr>
          <a:xfrm>
            <a:off x="347472"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C2410C"/>
                </a:solidFill>
              </a:rPr>
              <a:t>Overproduction</a:t>
            </a:r>
          </a:p>
        </p:txBody>
      </p:sp>
      <p:sp>
        <p:nvSpPr>
          <p:cNvPr id="928" name="DDoverproduction"/>
          <p:cNvSpPr/>
          <p:nvPr/>
        </p:nvSpPr>
        <p:spPr>
          <a:xfrm>
            <a:off x="365760"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Making more, or earlier, than needed.</a:t>
            </a:r>
          </a:p>
        </p:txBody>
      </p:sp>
      <p:sp>
        <p:nvSpPr>
          <p:cNvPr id="929" name="DEoverproduction"/>
          <p:cNvSpPr/>
          <p:nvPr/>
        </p:nvSpPr>
        <p:spPr>
          <a:xfrm>
            <a:off x="365760"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Sandwiches made too early, then binned.</a:t>
            </a:r>
          </a:p>
        </p:txBody>
      </p:sp>
      <p:sp>
        <p:nvSpPr>
          <p:cNvPr id="930" name="Cardoverprocessing"/>
          <p:cNvSpPr/>
          <p:nvPr/>
        </p:nvSpPr>
        <p:spPr>
          <a:xfrm>
            <a:off x="2441448"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917" name="Icon overprocessing" descr="overprocessing icon"/>
          <p:cNvPicPr>
            <a:picLocks noChangeAspect="1"/>
          </p:cNvPicPr>
          <p:nvPr/>
        </p:nvPicPr>
        <p:blipFill>
          <a:blip r:embed="rId3"/>
          <a:stretch>
            <a:fillRect/>
          </a:stretch>
        </p:blipFill>
        <p:spPr>
          <a:xfrm>
            <a:off x="2990088" y="1024128"/>
            <a:ext cx="960120" cy="960120"/>
          </a:xfrm>
          <a:prstGeom prst="rect">
            <a:avLst/>
          </a:prstGeom>
        </p:spPr>
      </p:pic>
      <p:sp>
        <p:nvSpPr>
          <p:cNvPr id="931" name="DNoverprocessing"/>
          <p:cNvSpPr/>
          <p:nvPr/>
        </p:nvSpPr>
        <p:spPr>
          <a:xfrm>
            <a:off x="2514600"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C2410C"/>
                </a:solidFill>
              </a:rPr>
              <a:t>Overprocessing</a:t>
            </a:r>
          </a:p>
        </p:txBody>
      </p:sp>
      <p:sp>
        <p:nvSpPr>
          <p:cNvPr id="932" name="DDoverprocessing"/>
          <p:cNvSpPr/>
          <p:nvPr/>
        </p:nvSpPr>
        <p:spPr>
          <a:xfrm>
            <a:off x="2532888"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More work than the customer values.</a:t>
            </a:r>
          </a:p>
        </p:txBody>
      </p:sp>
      <p:sp>
        <p:nvSpPr>
          <p:cNvPr id="933" name="DEoverprocessing"/>
          <p:cNvSpPr/>
          <p:nvPr/>
        </p:nvSpPr>
        <p:spPr>
          <a:xfrm>
            <a:off x="2532888"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Checking the same order twice.</a:t>
            </a:r>
          </a:p>
        </p:txBody>
      </p:sp>
      <p:sp>
        <p:nvSpPr>
          <p:cNvPr id="934" name="Carddefects"/>
          <p:cNvSpPr/>
          <p:nvPr/>
        </p:nvSpPr>
        <p:spPr>
          <a:xfrm>
            <a:off x="4608576"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918" name="Icon defects" descr="defects icon"/>
          <p:cNvPicPr>
            <a:picLocks noChangeAspect="1"/>
          </p:cNvPicPr>
          <p:nvPr/>
        </p:nvPicPr>
        <p:blipFill>
          <a:blip r:embed="rId4"/>
          <a:stretch>
            <a:fillRect/>
          </a:stretch>
        </p:blipFill>
        <p:spPr>
          <a:xfrm>
            <a:off x="5157216" y="1024128"/>
            <a:ext cx="960120" cy="960120"/>
          </a:xfrm>
          <a:prstGeom prst="rect">
            <a:avLst/>
          </a:prstGeom>
        </p:spPr>
      </p:pic>
      <p:sp>
        <p:nvSpPr>
          <p:cNvPr id="935" name="DNdefects"/>
          <p:cNvSpPr/>
          <p:nvPr/>
        </p:nvSpPr>
        <p:spPr>
          <a:xfrm>
            <a:off x="4681728"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C2410C"/>
                </a:solidFill>
              </a:rPr>
              <a:t>Defects</a:t>
            </a:r>
          </a:p>
        </p:txBody>
      </p:sp>
      <p:sp>
        <p:nvSpPr>
          <p:cNvPr id="936" name="DDdefects"/>
          <p:cNvSpPr/>
          <p:nvPr/>
        </p:nvSpPr>
        <p:spPr>
          <a:xfrm>
            <a:off x="4700016"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Errors needing rework or scrap.</a:t>
            </a:r>
          </a:p>
        </p:txBody>
      </p:sp>
      <p:sp>
        <p:nvSpPr>
          <p:cNvPr id="937" name="DEdefects"/>
          <p:cNvSpPr/>
          <p:nvPr/>
        </p:nvSpPr>
        <p:spPr>
          <a:xfrm>
            <a:off x="4700016"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A wrong drink remade.</a:t>
            </a:r>
          </a:p>
        </p:txBody>
      </p:sp>
      <p:sp>
        <p:nvSpPr>
          <p:cNvPr id="938" name="Cardtalent"/>
          <p:cNvSpPr/>
          <p:nvPr/>
        </p:nvSpPr>
        <p:spPr>
          <a:xfrm>
            <a:off x="6775704" y="914400"/>
            <a:ext cx="2057400" cy="3703320"/>
          </a:xfrm>
          <a:prstGeom prst="roundRect">
            <a:avLst>
              <a:gd name="adj" fmla="val 12000"/>
            </a:avLst>
          </a:prstGeom>
          <a:solidFill>
            <a:srgbClr val="FFFFFF"/>
          </a:solidFill>
          <a:ln w="12700">
            <a:solidFill>
              <a:srgbClr val="D5D0DE"/>
            </a:solidFill>
          </a:ln>
        </p:spPr>
        <p:txBody>
          <a:bodyPr wrap="square" lIns="0" tIns="0" rIns="0" bIns="0" anchor="t">
            <a:noAutofit/>
          </a:bodyPr>
          <a:lstStyle/>
          <a:p>
            <a:pPr marL="0" indent="0" algn="l">
              <a:spcBef>
                <a:spcPts val="0"/>
              </a:spcBef>
              <a:spcAft>
                <a:spcPts val="0"/>
              </a:spcAft>
              <a:buNone/>
            </a:pPr>
            <a:endParaRPr/>
          </a:p>
        </p:txBody>
      </p:sp>
      <p:pic>
        <p:nvPicPr>
          <p:cNvPr id="919" name="Icon talent" descr="talent icon"/>
          <p:cNvPicPr>
            <a:picLocks noChangeAspect="1"/>
          </p:cNvPicPr>
          <p:nvPr/>
        </p:nvPicPr>
        <p:blipFill>
          <a:blip r:embed="rId5"/>
          <a:stretch>
            <a:fillRect/>
          </a:stretch>
        </p:blipFill>
        <p:spPr>
          <a:xfrm>
            <a:off x="7324344" y="1024128"/>
            <a:ext cx="960120" cy="960120"/>
          </a:xfrm>
          <a:prstGeom prst="rect">
            <a:avLst/>
          </a:prstGeom>
        </p:spPr>
      </p:pic>
      <p:sp>
        <p:nvSpPr>
          <p:cNvPr id="939" name="DNtalent"/>
          <p:cNvSpPr/>
          <p:nvPr/>
        </p:nvSpPr>
        <p:spPr>
          <a:xfrm>
            <a:off x="6848856" y="2029968"/>
            <a:ext cx="1911096" cy="457200"/>
          </a:xfrm>
          <a:prstGeom prst="rect">
            <a:avLst/>
          </a:prstGeom>
          <a:noFill/>
          <a:ln>
            <a:noFill/>
          </a:ln>
        </p:spPr>
        <p:txBody>
          <a:bodyPr wrap="square" lIns="18288" tIns="18288" rIns="18288" bIns="18288" anchor="ctr">
            <a:noAutofit/>
          </a:bodyPr>
          <a:lstStyle/>
          <a:p>
            <a:pPr marL="0" indent="0" algn="ctr">
              <a:spcBef>
                <a:spcPts val="0"/>
              </a:spcBef>
              <a:spcAft>
                <a:spcPts val="0"/>
              </a:spcAft>
              <a:buNone/>
            </a:pPr>
            <a:r>
              <a:rPr lang="en-GB" sz="1600" b="1" i="0" dirty="0">
                <a:solidFill>
                  <a:srgbClr val="0B7A75"/>
                </a:solidFill>
              </a:rPr>
              <a:t>Underused talent (8th)</a:t>
            </a:r>
          </a:p>
        </p:txBody>
      </p:sp>
      <p:sp>
        <p:nvSpPr>
          <p:cNvPr id="940" name="DDtalent"/>
          <p:cNvSpPr/>
          <p:nvPr/>
        </p:nvSpPr>
        <p:spPr>
          <a:xfrm>
            <a:off x="6867144" y="2514600"/>
            <a:ext cx="1874520" cy="1005840"/>
          </a:xfrm>
          <a:prstGeom prst="rect">
            <a:avLst/>
          </a:prstGeom>
          <a:noFill/>
          <a:ln>
            <a:noFill/>
          </a:ln>
        </p:spPr>
        <p:txBody>
          <a:bodyPr wrap="square" lIns="36576" tIns="36576" rIns="36576" bIns="36576" anchor="t">
            <a:noAutofit/>
          </a:bodyPr>
          <a:lstStyle/>
          <a:p>
            <a:pPr marL="0" indent="0" algn="ctr">
              <a:spcBef>
                <a:spcPts val="0"/>
              </a:spcBef>
              <a:spcAft>
                <a:spcPts val="0"/>
              </a:spcAft>
              <a:buNone/>
            </a:pPr>
            <a:r>
              <a:rPr lang="en-GB" sz="1350" b="0" i="0" dirty="0">
                <a:solidFill>
                  <a:srgbClr val="1A1A1A"/>
                </a:solidFill>
              </a:rPr>
              <a:t>Not using people’s skills and ideas.</a:t>
            </a:r>
          </a:p>
        </p:txBody>
      </p:sp>
      <p:sp>
        <p:nvSpPr>
          <p:cNvPr id="941" name="DEtalent"/>
          <p:cNvSpPr/>
          <p:nvPr/>
        </p:nvSpPr>
        <p:spPr>
          <a:xfrm>
            <a:off x="6867144" y="3566160"/>
            <a:ext cx="1874520" cy="960120"/>
          </a:xfrm>
          <a:prstGeom prst="roundRect">
            <a:avLst>
              <a:gd name="adj" fmla="val 12000"/>
            </a:avLst>
          </a:prstGeom>
          <a:solidFill>
            <a:srgbClr val="D5EFEC"/>
          </a:solidFill>
          <a:ln>
            <a:noFill/>
          </a:ln>
        </p:spPr>
        <p:txBody>
          <a:bodyPr wrap="square" lIns="54864" tIns="54864" rIns="54864" bIns="54864" anchor="ctr">
            <a:noAutofit/>
          </a:bodyPr>
          <a:lstStyle/>
          <a:p>
            <a:pPr marL="0" indent="0" algn="ctr">
              <a:spcBef>
                <a:spcPts val="0"/>
              </a:spcBef>
              <a:spcAft>
                <a:spcPts val="80"/>
              </a:spcAft>
              <a:buNone/>
            </a:pPr>
            <a:r>
              <a:rPr lang="en-GB" sz="1100" b="1" i="0" dirty="0">
                <a:solidFill>
                  <a:srgbClr val="0B7A75"/>
                </a:solidFill>
              </a:rPr>
              <a:t>Coffee shop</a:t>
            </a:r>
          </a:p>
          <a:p>
            <a:pPr marL="0" indent="0" algn="ctr">
              <a:spcBef>
                <a:spcPts val="0"/>
              </a:spcBef>
              <a:spcAft>
                <a:spcPts val="0"/>
              </a:spcAft>
              <a:buNone/>
            </a:pPr>
            <a:r>
              <a:rPr lang="en-GB" sz="1250" b="0" i="0" dirty="0">
                <a:solidFill>
                  <a:srgbClr val="1A1A1A"/>
                </a:solidFill>
              </a:rPr>
              <a:t>Ignoring baristas’ ideas to speed up service.</a:t>
            </a:r>
          </a:p>
        </p:txBody>
      </p:sp>
    </p:spTree>
    <p:extLst>
      <p:ext uri="{BB962C8B-B14F-4D97-AF65-F5344CB8AC3E}">
        <p14:creationId xmlns:p14="http://schemas.microsoft.com/office/powerpoint/2010/main" val="42616444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Worked Example: Waste in a Coffee Shop</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24</a:t>
            </a:fld>
            <a:endParaRPr lang="en"/>
          </a:p>
        </p:txBody>
      </p:sp>
      <p:sp>
        <p:nvSpPr>
          <p:cNvPr id="822" name="Chip"/>
          <p:cNvSpPr/>
          <p:nvPr/>
        </p:nvSpPr>
        <p:spPr>
          <a:xfrm>
            <a:off x="274320" y="914400"/>
            <a:ext cx="1591056" cy="292608"/>
          </a:xfrm>
          <a:prstGeom prst="roundRect">
            <a:avLst>
              <a:gd name="adj" fmla="val 12000"/>
            </a:avLst>
          </a:prstGeom>
          <a:solidFill>
            <a:srgbClr val="0B7A75"/>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WORKED EXAMPLE</a:t>
            </a:r>
          </a:p>
        </p:txBody>
      </p:sp>
      <p:sp>
        <p:nvSpPr>
          <p:cNvPr id="823" name="Q"/>
          <p:cNvSpPr/>
          <p:nvPr/>
        </p:nvSpPr>
        <p:spPr>
          <a:xfrm>
            <a:off x="274320" y="1325880"/>
            <a:ext cx="8595360" cy="640080"/>
          </a:xfrm>
          <a:prstGeom prst="roundRect">
            <a:avLst>
              <a:gd name="adj" fmla="val 12000"/>
            </a:avLst>
          </a:prstGeom>
          <a:solidFill>
            <a:srgbClr val="D5EFEC"/>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0B7A75"/>
                </a:solidFill>
              </a:rPr>
              <a:t>A customer’s visit to a coffee shop lasts 10 minutes. </a:t>
            </a:r>
            <a:r>
              <a:rPr lang="en-GB" sz="1650" b="0" i="0" dirty="0">
                <a:solidFill>
                  <a:srgbClr val="1A1A1A"/>
                </a:solidFill>
              </a:rPr>
              <a:t>Here is what happens:</a:t>
            </a:r>
          </a:p>
        </p:txBody>
      </p:sp>
      <p:sp>
        <p:nvSpPr>
          <p:cNvPr id="824" name="SN1"/>
          <p:cNvSpPr/>
          <p:nvPr/>
        </p:nvSpPr>
        <p:spPr>
          <a:xfrm>
            <a:off x="274320" y="2103120"/>
            <a:ext cx="457200" cy="384048"/>
          </a:xfrm>
          <a:prstGeom prst="roundRect">
            <a:avLst>
              <a:gd name="adj" fmla="val 12000"/>
            </a:avLst>
          </a:prstGeom>
          <a:solidFill>
            <a:srgbClr val="0B7A75"/>
          </a:solidFill>
          <a:ln>
            <a:noFill/>
          </a:ln>
        </p:spPr>
        <p:txBody>
          <a:bodyPr wrap="square" lIns="0" tIns="0" rIns="0" bIns="0" anchor="ctr">
            <a:noAutofit/>
          </a:bodyPr>
          <a:lstStyle/>
          <a:p>
            <a:pPr marL="0" indent="0" algn="ctr">
              <a:spcBef>
                <a:spcPts val="0"/>
              </a:spcBef>
              <a:spcAft>
                <a:spcPts val="0"/>
              </a:spcAft>
              <a:buNone/>
            </a:pPr>
            <a:r>
              <a:rPr lang="en-GB" sz="1500" b="1" i="0" dirty="0">
                <a:solidFill>
                  <a:srgbClr val="FFFFFF"/>
                </a:solidFill>
              </a:rPr>
              <a:t>1</a:t>
            </a:r>
          </a:p>
        </p:txBody>
      </p:sp>
      <p:sp>
        <p:nvSpPr>
          <p:cNvPr id="825" name="ST1"/>
          <p:cNvSpPr/>
          <p:nvPr/>
        </p:nvSpPr>
        <p:spPr>
          <a:xfrm>
            <a:off x="822960" y="2103120"/>
            <a:ext cx="603504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550" b="0" i="0" dirty="0">
                <a:solidFill>
                  <a:srgbClr val="1A1A1A"/>
                </a:solidFill>
              </a:rPr>
              <a:t>Waits in the queue to order</a:t>
            </a:r>
          </a:p>
        </p:txBody>
      </p:sp>
      <p:sp>
        <p:nvSpPr>
          <p:cNvPr id="826" name="SM1"/>
          <p:cNvSpPr/>
          <p:nvPr/>
        </p:nvSpPr>
        <p:spPr>
          <a:xfrm>
            <a:off x="6949440" y="2103120"/>
            <a:ext cx="192024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550" b="1" i="0" dirty="0">
                <a:solidFill>
                  <a:srgbClr val="0B7A75"/>
                </a:solidFill>
              </a:rPr>
              <a:t>3 min</a:t>
            </a:r>
          </a:p>
        </p:txBody>
      </p:sp>
      <p:sp>
        <p:nvSpPr>
          <p:cNvPr id="827" name="SN2"/>
          <p:cNvSpPr/>
          <p:nvPr/>
        </p:nvSpPr>
        <p:spPr>
          <a:xfrm>
            <a:off x="274320" y="2560320"/>
            <a:ext cx="457200" cy="384048"/>
          </a:xfrm>
          <a:prstGeom prst="roundRect">
            <a:avLst>
              <a:gd name="adj" fmla="val 12000"/>
            </a:avLst>
          </a:prstGeom>
          <a:solidFill>
            <a:srgbClr val="0B7A75"/>
          </a:solidFill>
          <a:ln>
            <a:noFill/>
          </a:ln>
        </p:spPr>
        <p:txBody>
          <a:bodyPr wrap="square" lIns="0" tIns="0" rIns="0" bIns="0" anchor="ctr">
            <a:noAutofit/>
          </a:bodyPr>
          <a:lstStyle/>
          <a:p>
            <a:pPr marL="0" indent="0" algn="ctr">
              <a:spcBef>
                <a:spcPts val="0"/>
              </a:spcBef>
              <a:spcAft>
                <a:spcPts val="0"/>
              </a:spcAft>
              <a:buNone/>
            </a:pPr>
            <a:r>
              <a:rPr lang="en-GB" sz="1500" b="1" i="0" dirty="0">
                <a:solidFill>
                  <a:srgbClr val="FFFFFF"/>
                </a:solidFill>
              </a:rPr>
              <a:t>2</a:t>
            </a:r>
          </a:p>
        </p:txBody>
      </p:sp>
      <p:sp>
        <p:nvSpPr>
          <p:cNvPr id="828" name="ST2"/>
          <p:cNvSpPr/>
          <p:nvPr/>
        </p:nvSpPr>
        <p:spPr>
          <a:xfrm>
            <a:off x="822960" y="2560320"/>
            <a:ext cx="603504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550" b="0" i="0" dirty="0">
                <a:solidFill>
                  <a:srgbClr val="1A1A1A"/>
                </a:solidFill>
              </a:rPr>
              <a:t>Barista prepares the drink</a:t>
            </a:r>
          </a:p>
        </p:txBody>
      </p:sp>
      <p:sp>
        <p:nvSpPr>
          <p:cNvPr id="829" name="SM2"/>
          <p:cNvSpPr/>
          <p:nvPr/>
        </p:nvSpPr>
        <p:spPr>
          <a:xfrm>
            <a:off x="6949440" y="2560320"/>
            <a:ext cx="192024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550" b="1" i="0" dirty="0">
                <a:solidFill>
                  <a:srgbClr val="0B7A75"/>
                </a:solidFill>
              </a:rPr>
              <a:t>2 min</a:t>
            </a:r>
          </a:p>
        </p:txBody>
      </p:sp>
      <p:sp>
        <p:nvSpPr>
          <p:cNvPr id="830" name="SN3"/>
          <p:cNvSpPr/>
          <p:nvPr/>
        </p:nvSpPr>
        <p:spPr>
          <a:xfrm>
            <a:off x="274320" y="3017520"/>
            <a:ext cx="457200" cy="384048"/>
          </a:xfrm>
          <a:prstGeom prst="roundRect">
            <a:avLst>
              <a:gd name="adj" fmla="val 12000"/>
            </a:avLst>
          </a:prstGeom>
          <a:solidFill>
            <a:srgbClr val="0B7A75"/>
          </a:solidFill>
          <a:ln>
            <a:noFill/>
          </a:ln>
        </p:spPr>
        <p:txBody>
          <a:bodyPr wrap="square" lIns="0" tIns="0" rIns="0" bIns="0" anchor="ctr">
            <a:noAutofit/>
          </a:bodyPr>
          <a:lstStyle/>
          <a:p>
            <a:pPr marL="0" indent="0" algn="ctr">
              <a:spcBef>
                <a:spcPts val="0"/>
              </a:spcBef>
              <a:spcAft>
                <a:spcPts val="0"/>
              </a:spcAft>
              <a:buNone/>
            </a:pPr>
            <a:r>
              <a:rPr lang="en-GB" sz="1500" b="1" i="0" dirty="0">
                <a:solidFill>
                  <a:srgbClr val="FFFFFF"/>
                </a:solidFill>
              </a:rPr>
              <a:t>3</a:t>
            </a:r>
          </a:p>
        </p:txBody>
      </p:sp>
      <p:sp>
        <p:nvSpPr>
          <p:cNvPr id="831" name="ST3"/>
          <p:cNvSpPr/>
          <p:nvPr/>
        </p:nvSpPr>
        <p:spPr>
          <a:xfrm>
            <a:off x="822960" y="3017520"/>
            <a:ext cx="603504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550" b="0" i="0" dirty="0">
                <a:solidFill>
                  <a:srgbClr val="1A1A1A"/>
                </a:solidFill>
              </a:rPr>
              <a:t>Barista searches for ingredients</a:t>
            </a:r>
          </a:p>
        </p:txBody>
      </p:sp>
      <p:sp>
        <p:nvSpPr>
          <p:cNvPr id="832" name="SM3"/>
          <p:cNvSpPr/>
          <p:nvPr/>
        </p:nvSpPr>
        <p:spPr>
          <a:xfrm>
            <a:off x="6949440" y="3017520"/>
            <a:ext cx="192024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550" b="1" i="0" dirty="0">
                <a:solidFill>
                  <a:srgbClr val="0B7A75"/>
                </a:solidFill>
              </a:rPr>
              <a:t>1 min</a:t>
            </a:r>
          </a:p>
        </p:txBody>
      </p:sp>
      <p:sp>
        <p:nvSpPr>
          <p:cNvPr id="833" name="SN4"/>
          <p:cNvSpPr/>
          <p:nvPr/>
        </p:nvSpPr>
        <p:spPr>
          <a:xfrm>
            <a:off x="274320" y="3474720"/>
            <a:ext cx="457200" cy="384048"/>
          </a:xfrm>
          <a:prstGeom prst="roundRect">
            <a:avLst>
              <a:gd name="adj" fmla="val 12000"/>
            </a:avLst>
          </a:prstGeom>
          <a:solidFill>
            <a:srgbClr val="0B7A75"/>
          </a:solidFill>
          <a:ln>
            <a:noFill/>
          </a:ln>
        </p:spPr>
        <p:txBody>
          <a:bodyPr wrap="square" lIns="0" tIns="0" rIns="0" bIns="0" anchor="ctr">
            <a:noAutofit/>
          </a:bodyPr>
          <a:lstStyle/>
          <a:p>
            <a:pPr marL="0" indent="0" algn="ctr">
              <a:spcBef>
                <a:spcPts val="0"/>
              </a:spcBef>
              <a:spcAft>
                <a:spcPts val="0"/>
              </a:spcAft>
              <a:buNone/>
            </a:pPr>
            <a:r>
              <a:rPr lang="en-GB" sz="1500" b="1" i="0" dirty="0">
                <a:solidFill>
                  <a:srgbClr val="FFFFFF"/>
                </a:solidFill>
              </a:rPr>
              <a:t>4</a:t>
            </a:r>
          </a:p>
        </p:txBody>
      </p:sp>
      <p:sp>
        <p:nvSpPr>
          <p:cNvPr id="834" name="ST4"/>
          <p:cNvSpPr/>
          <p:nvPr/>
        </p:nvSpPr>
        <p:spPr>
          <a:xfrm>
            <a:off x="822960" y="3474720"/>
            <a:ext cx="603504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550" b="0" i="0" dirty="0">
                <a:solidFill>
                  <a:srgbClr val="1A1A1A"/>
                </a:solidFill>
              </a:rPr>
              <a:t>Waits at the counter to collect</a:t>
            </a:r>
          </a:p>
        </p:txBody>
      </p:sp>
      <p:sp>
        <p:nvSpPr>
          <p:cNvPr id="835" name="SM4"/>
          <p:cNvSpPr/>
          <p:nvPr/>
        </p:nvSpPr>
        <p:spPr>
          <a:xfrm>
            <a:off x="6949440" y="3474720"/>
            <a:ext cx="192024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550" b="1" i="0" dirty="0">
                <a:solidFill>
                  <a:srgbClr val="0B7A75"/>
                </a:solidFill>
              </a:rPr>
              <a:t>4 min</a:t>
            </a:r>
          </a:p>
        </p:txBody>
      </p:sp>
      <p:sp>
        <p:nvSpPr>
          <p:cNvPr id="836" name="QT"/>
          <p:cNvSpPr/>
          <p:nvPr/>
        </p:nvSpPr>
        <p:spPr>
          <a:xfrm>
            <a:off x="274320" y="4023360"/>
            <a:ext cx="8595360" cy="59436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500" b="1" i="0" dirty="0">
                <a:solidFill>
                  <a:srgbClr val="C2410C"/>
                </a:solidFill>
              </a:rPr>
              <a:t>(a) </a:t>
            </a:r>
            <a:r>
              <a:rPr lang="en-GB" sz="1500" b="0" i="0" dirty="0">
                <a:solidFill>
                  <a:srgbClr val="1A1A1A"/>
                </a:solidFill>
              </a:rPr>
              <a:t>Classify each activity using Lean.   </a:t>
            </a:r>
            <a:r>
              <a:rPr lang="en-GB" sz="1500" b="1" i="0" dirty="0">
                <a:solidFill>
                  <a:srgbClr val="C2410C"/>
                </a:solidFill>
              </a:rPr>
              <a:t>(b) </a:t>
            </a:r>
            <a:r>
              <a:rPr lang="en-GB" sz="1500" b="0" i="0" dirty="0">
                <a:solidFill>
                  <a:srgbClr val="1A1A1A"/>
                </a:solidFill>
              </a:rPr>
              <a:t>Calculate throughput efficiency.</a:t>
            </a:r>
          </a:p>
        </p:txBody>
      </p:sp>
    </p:spTree>
    <p:extLst>
      <p:ext uri="{BB962C8B-B14F-4D97-AF65-F5344CB8AC3E}">
        <p14:creationId xmlns:p14="http://schemas.microsoft.com/office/powerpoint/2010/main" val="3651354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Coffee Shop: Follow the 10 Minutes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25</a:t>
            </a:fld>
            <a:endParaRPr lang="en"/>
          </a:p>
        </p:txBody>
      </p:sp>
      <p:sp>
        <p:nvSpPr>
          <p:cNvPr id="575" name="SegQueue: 4 min"/>
          <p:cNvSpPr/>
          <p:nvPr/>
        </p:nvSpPr>
        <p:spPr>
          <a:xfrm>
            <a:off x="731520" y="1188720"/>
            <a:ext cx="3072384" cy="777240"/>
          </a:xfrm>
          <a:prstGeom prst="roundRect">
            <a:avLst>
              <a:gd name="adj" fmla="val 12000"/>
            </a:avLst>
          </a:prstGeom>
          <a:solidFill>
            <a:srgbClr val="D9A441"/>
          </a:solidFill>
          <a:ln>
            <a:noFill/>
          </a:ln>
        </p:spPr>
        <p:txBody>
          <a:bodyPr wrap="square" lIns="27432" tIns="27432" rIns="27432" bIns="27432" anchor="ctr">
            <a:noAutofit/>
          </a:bodyPr>
          <a:lstStyle/>
          <a:p>
            <a:pPr marL="0" indent="0" algn="ctr">
              <a:spcBef>
                <a:spcPts val="0"/>
              </a:spcBef>
              <a:spcAft>
                <a:spcPts val="0"/>
              </a:spcAft>
              <a:buNone/>
            </a:pPr>
            <a:r>
              <a:rPr lang="en-GB" sz="1500" b="1" i="0" dirty="0">
                <a:solidFill>
                  <a:srgbClr val="FFFFFF"/>
                </a:solidFill>
              </a:rPr>
              <a:t>Queue: 4 min</a:t>
            </a:r>
          </a:p>
        </p:txBody>
      </p:sp>
      <p:sp>
        <p:nvSpPr>
          <p:cNvPr id="576" name="SegMake: 2 min"/>
          <p:cNvSpPr/>
          <p:nvPr/>
        </p:nvSpPr>
        <p:spPr>
          <a:xfrm>
            <a:off x="3803904" y="1188720"/>
            <a:ext cx="1536192" cy="777240"/>
          </a:xfrm>
          <a:prstGeom prst="roundRect">
            <a:avLst>
              <a:gd name="adj" fmla="val 12000"/>
            </a:avLst>
          </a:prstGeom>
          <a:solidFill>
            <a:srgbClr val="0B7A75"/>
          </a:solidFill>
          <a:ln>
            <a:noFill/>
          </a:ln>
        </p:spPr>
        <p:txBody>
          <a:bodyPr wrap="square" lIns="27432" tIns="27432" rIns="27432" bIns="27432" anchor="ctr">
            <a:noAutofit/>
          </a:bodyPr>
          <a:lstStyle/>
          <a:p>
            <a:pPr marL="0" indent="0" algn="ctr">
              <a:spcBef>
                <a:spcPts val="0"/>
              </a:spcBef>
              <a:spcAft>
                <a:spcPts val="0"/>
              </a:spcAft>
              <a:buNone/>
            </a:pPr>
            <a:r>
              <a:rPr lang="en-GB" sz="1500" b="1" i="0" dirty="0">
                <a:solidFill>
                  <a:srgbClr val="FFFFFF"/>
                </a:solidFill>
              </a:rPr>
              <a:t>Make: 2 min</a:t>
            </a:r>
          </a:p>
        </p:txBody>
      </p:sp>
      <p:sp>
        <p:nvSpPr>
          <p:cNvPr id="577" name="SegCollect: 4 min"/>
          <p:cNvSpPr/>
          <p:nvPr/>
        </p:nvSpPr>
        <p:spPr>
          <a:xfrm>
            <a:off x="5340096" y="1188720"/>
            <a:ext cx="3072384" cy="777240"/>
          </a:xfrm>
          <a:prstGeom prst="roundRect">
            <a:avLst>
              <a:gd name="adj" fmla="val 12000"/>
            </a:avLst>
          </a:prstGeom>
          <a:solidFill>
            <a:srgbClr val="D9A441"/>
          </a:solidFill>
          <a:ln>
            <a:noFill/>
          </a:ln>
        </p:spPr>
        <p:txBody>
          <a:bodyPr wrap="square" lIns="27432" tIns="27432" rIns="27432" bIns="27432" anchor="ctr">
            <a:noAutofit/>
          </a:bodyPr>
          <a:lstStyle/>
          <a:p>
            <a:pPr marL="0" indent="0" algn="ctr">
              <a:spcBef>
                <a:spcPts val="0"/>
              </a:spcBef>
              <a:spcAft>
                <a:spcPts val="0"/>
              </a:spcAft>
              <a:buNone/>
            </a:pPr>
            <a:r>
              <a:rPr lang="en-GB" sz="1500" b="1" i="0" dirty="0">
                <a:solidFill>
                  <a:srgbClr val="FFFFFF"/>
                </a:solidFill>
              </a:rPr>
              <a:t>Collect: 4 min</a:t>
            </a:r>
          </a:p>
        </p:txBody>
      </p:sp>
      <p:sp>
        <p:nvSpPr>
          <p:cNvPr id="578" name="E1"/>
          <p:cNvSpPr/>
          <p:nvPr/>
        </p:nvSpPr>
        <p:spPr>
          <a:xfrm>
            <a:off x="731520" y="2103120"/>
            <a:ext cx="3840480" cy="411480"/>
          </a:xfrm>
          <a:prstGeom prst="rect">
            <a:avLst/>
          </a:prstGeom>
          <a:noFill/>
          <a:ln>
            <a:noFill/>
          </a:ln>
        </p:spPr>
        <p:txBody>
          <a:bodyPr wrap="square" lIns="18288" tIns="18288" rIns="18288" bIns="18288" anchor="ctr">
            <a:noAutofit/>
          </a:bodyPr>
          <a:lstStyle/>
          <a:p>
            <a:pPr marL="0" indent="0" algn="l">
              <a:spcBef>
                <a:spcPts val="0"/>
              </a:spcBef>
              <a:spcAft>
                <a:spcPts val="0"/>
              </a:spcAft>
              <a:buNone/>
            </a:pPr>
            <a:r>
              <a:rPr lang="en-GB" sz="1500" b="0" i="0" dirty="0">
                <a:solidFill>
                  <a:srgbClr val="1A1A1A"/>
                </a:solidFill>
              </a:rPr>
              <a:t>Elapsed time = 10 minutes</a:t>
            </a:r>
          </a:p>
        </p:txBody>
      </p:sp>
      <p:sp>
        <p:nvSpPr>
          <p:cNvPr id="579" name="E2"/>
          <p:cNvSpPr/>
          <p:nvPr/>
        </p:nvSpPr>
        <p:spPr>
          <a:xfrm>
            <a:off x="4754880" y="2103120"/>
            <a:ext cx="3657600" cy="411480"/>
          </a:xfrm>
          <a:prstGeom prst="rect">
            <a:avLst/>
          </a:prstGeom>
          <a:noFill/>
          <a:ln>
            <a:noFill/>
          </a:ln>
        </p:spPr>
        <p:txBody>
          <a:bodyPr wrap="square" lIns="18288" tIns="18288" rIns="18288" bIns="18288" anchor="ctr">
            <a:noAutofit/>
          </a:bodyPr>
          <a:lstStyle/>
          <a:p>
            <a:pPr marL="0" indent="0" algn="l">
              <a:spcBef>
                <a:spcPts val="0"/>
              </a:spcBef>
              <a:spcAft>
                <a:spcPts val="0"/>
              </a:spcAft>
              <a:buNone/>
            </a:pPr>
            <a:r>
              <a:rPr lang="en-GB" sz="1500" b="0" i="0" dirty="0">
                <a:solidFill>
                  <a:srgbClr val="1A1A1A"/>
                </a:solidFill>
              </a:rPr>
              <a:t>Value-added time = 2 minutes</a:t>
            </a:r>
          </a:p>
        </p:txBody>
      </p:sp>
      <p:sp>
        <p:nvSpPr>
          <p:cNvPr id="580" name="TEF"/>
          <p:cNvSpPr/>
          <p:nvPr/>
        </p:nvSpPr>
        <p:spPr>
          <a:xfrm>
            <a:off x="274320" y="2606040"/>
            <a:ext cx="8595360" cy="868680"/>
          </a:xfrm>
          <a:prstGeom prst="roundRect">
            <a:avLst>
              <a:gd name="adj" fmla="val 12000"/>
            </a:avLst>
          </a:prstGeom>
          <a:solidFill>
            <a:srgbClr val="D5EFEC"/>
          </a:solidFill>
          <a:ln>
            <a:noFill/>
          </a:ln>
        </p:spPr>
        <p:txBody>
          <a:bodyPr wrap="square" lIns="91440" tIns="91440" rIns="91440" bIns="91440" anchor="ctr">
            <a:noAutofit/>
          </a:bodyPr>
          <a:lstStyle/>
          <a:p>
            <a:pPr marL="0" indent="0" algn="ctr">
              <a:spcBef>
                <a:spcPts val="0"/>
              </a:spcBef>
              <a:spcAft>
                <a:spcPts val="150"/>
              </a:spcAft>
              <a:buNone/>
            </a:pPr>
            <a:r>
              <a:rPr lang="en-GB" sz="1600" b="1" i="0" dirty="0">
                <a:solidFill>
                  <a:srgbClr val="0B7A75"/>
                </a:solidFill>
              </a:rPr>
              <a:t>Throughput efficiency = Value-added time ÷ Throughput time × 100</a:t>
            </a:r>
          </a:p>
          <a:p>
            <a:pPr marL="0" indent="0" algn="ctr">
              <a:spcBef>
                <a:spcPts val="0"/>
              </a:spcBef>
              <a:spcAft>
                <a:spcPts val="0"/>
              </a:spcAft>
              <a:buNone/>
            </a:pPr>
            <a:r>
              <a:rPr lang="en-GB" sz="2000" b="1" i="0" dirty="0">
                <a:solidFill>
                  <a:srgbClr val="1A1A1A"/>
                </a:solidFill>
              </a:rPr>
              <a:t>= 2 ÷ 10 × 100 = 20%</a:t>
            </a:r>
          </a:p>
        </p:txBody>
      </p:sp>
      <p:sp>
        <p:nvSpPr>
          <p:cNvPr id="581" name="Note"/>
          <p:cNvSpPr/>
          <p:nvPr/>
        </p:nvSpPr>
        <p:spPr>
          <a:xfrm>
            <a:off x="274320" y="3657600"/>
            <a:ext cx="8595360" cy="548640"/>
          </a:xfrm>
          <a:prstGeom prst="roundRect">
            <a:avLst>
              <a:gd name="adj" fmla="val 12000"/>
            </a:avLst>
          </a:prstGeom>
          <a:solidFill>
            <a:srgbClr val="FFFFFF"/>
          </a:solidFill>
          <a:ln w="25400">
            <a:solidFill>
              <a:srgbClr val="0B7A75"/>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0B7A75"/>
                </a:solidFill>
              </a:rPr>
              <a:t>Discuss:  </a:t>
            </a:r>
            <a:r>
              <a:rPr lang="en-GB" sz="1600" b="0" i="0" dirty="0">
                <a:solidFill>
                  <a:srgbClr val="1A1A1A"/>
                </a:solidFill>
              </a:rPr>
              <a:t>which part would you attack first?</a:t>
            </a:r>
          </a:p>
        </p:txBody>
      </p:sp>
    </p:spTree>
    <p:extLst>
      <p:ext uri="{BB962C8B-B14F-4D97-AF65-F5344CB8AC3E}">
        <p14:creationId xmlns:p14="http://schemas.microsoft.com/office/powerpoint/2010/main" val="13675768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Class Activity: Spot the Waste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26</a:t>
            </a:fld>
            <a:endParaRPr lang="en"/>
          </a:p>
        </p:txBody>
      </p:sp>
      <p:sp>
        <p:nvSpPr>
          <p:cNvPr id="816" name="Chip"/>
          <p:cNvSpPr/>
          <p:nvPr/>
        </p:nvSpPr>
        <p:spPr>
          <a:xfrm>
            <a:off x="274320" y="914400"/>
            <a:ext cx="1591056" cy="292608"/>
          </a:xfrm>
          <a:prstGeom prst="roundRect">
            <a:avLst>
              <a:gd name="adj" fmla="val 12000"/>
            </a:avLst>
          </a:prstGeom>
          <a:solidFill>
            <a:srgbClr val="C2410C"/>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CLASS ACTIVITY</a:t>
            </a:r>
          </a:p>
        </p:txBody>
      </p:sp>
      <p:sp>
        <p:nvSpPr>
          <p:cNvPr id="817" name="Tag5 minutes"/>
          <p:cNvSpPr/>
          <p:nvPr/>
        </p:nvSpPr>
        <p:spPr>
          <a:xfrm>
            <a:off x="1956816" y="914400"/>
            <a:ext cx="882396" cy="292608"/>
          </a:xfrm>
          <a:prstGeom prst="roundRect">
            <a:avLst>
              <a:gd name="adj" fmla="val 12000"/>
            </a:avLst>
          </a:prstGeom>
          <a:solidFill>
            <a:srgbClr val="FFFFFF"/>
          </a:solidFill>
          <a:ln w="12700">
            <a:solidFill>
              <a:srgbClr val="C2410C"/>
            </a:solid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C2410C"/>
                </a:solidFill>
              </a:rPr>
              <a:t>5 minutes</a:t>
            </a:r>
          </a:p>
        </p:txBody>
      </p:sp>
      <p:sp>
        <p:nvSpPr>
          <p:cNvPr id="818" name="TagIn groups"/>
          <p:cNvSpPr/>
          <p:nvPr/>
        </p:nvSpPr>
        <p:spPr>
          <a:xfrm>
            <a:off x="2930652" y="914400"/>
            <a:ext cx="882396" cy="292608"/>
          </a:xfrm>
          <a:prstGeom prst="roundRect">
            <a:avLst>
              <a:gd name="adj" fmla="val 12000"/>
            </a:avLst>
          </a:prstGeom>
          <a:solidFill>
            <a:srgbClr val="FFFFFF"/>
          </a:solidFill>
          <a:ln w="12700">
            <a:solidFill>
              <a:srgbClr val="C2410C"/>
            </a:solid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C2410C"/>
                </a:solidFill>
              </a:rPr>
              <a:t>In groups</a:t>
            </a:r>
          </a:p>
        </p:txBody>
      </p:sp>
      <p:sp>
        <p:nvSpPr>
          <p:cNvPr id="819" name="SC"/>
          <p:cNvSpPr/>
          <p:nvPr/>
        </p:nvSpPr>
        <p:spPr>
          <a:xfrm>
            <a:off x="274320" y="1325880"/>
            <a:ext cx="8595360" cy="1371600"/>
          </a:xfrm>
          <a:prstGeom prst="roundRect">
            <a:avLst>
              <a:gd name="adj" fmla="val 12000"/>
            </a:avLst>
          </a:prstGeom>
          <a:solidFill>
            <a:srgbClr val="FCE3D6"/>
          </a:solidFill>
          <a:ln>
            <a:noFill/>
          </a:ln>
        </p:spPr>
        <p:txBody>
          <a:bodyPr wrap="square" lIns="164592" tIns="164592" rIns="164592" bIns="164592" anchor="t">
            <a:noAutofit/>
          </a:bodyPr>
          <a:lstStyle/>
          <a:p>
            <a:r>
              <a:rPr lang="en-GB" sz="1200" b="1" dirty="0"/>
              <a:t>A busy hospital outpatient clinic</a:t>
            </a:r>
          </a:p>
          <a:p>
            <a:r>
              <a:rPr lang="en-GB" sz="1200" dirty="0"/>
              <a:t>Patients arrive for scheduled appointments but often wait more than an hour to see a doctor. Nurses repeatedly walk between consultation rooms and a distant supply cupboard to collect medical equipment. Some patients have their details entered incorrectly and must repeat their registration. Doctors occasionally request tests that have already been completed because the results are not immediately accessible. Meanwhile, several consultation rooms remain unused because the necessary staff are unavailable.</a:t>
            </a:r>
          </a:p>
          <a:p>
            <a:pPr marL="0" indent="0" algn="l">
              <a:spcBef>
                <a:spcPts val="0"/>
              </a:spcBef>
              <a:spcAft>
                <a:spcPts val="200"/>
              </a:spcAft>
              <a:buNone/>
            </a:pPr>
            <a:endParaRPr lang="en-GB" sz="1700" b="1" i="0" dirty="0">
              <a:solidFill>
                <a:srgbClr val="C2410C"/>
              </a:solidFill>
            </a:endParaRPr>
          </a:p>
        </p:txBody>
      </p:sp>
      <p:sp>
        <p:nvSpPr>
          <p:cNvPr id="820" name="C01. Spo"/>
          <p:cNvSpPr/>
          <p:nvPr/>
        </p:nvSpPr>
        <p:spPr>
          <a:xfrm>
            <a:off x="274320" y="2834640"/>
            <a:ext cx="4219956" cy="11887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1. Spot it</a:t>
            </a:r>
          </a:p>
          <a:p>
            <a:pPr marL="0" indent="0" algn="l">
              <a:spcBef>
                <a:spcPts val="0"/>
              </a:spcBef>
              <a:spcAft>
                <a:spcPts val="0"/>
              </a:spcAft>
              <a:buNone/>
            </a:pPr>
            <a:r>
              <a:rPr lang="en-GB" sz="1600" b="0" i="0" dirty="0">
                <a:solidFill>
                  <a:srgbClr val="1A1A1A"/>
                </a:solidFill>
              </a:rPr>
              <a:t>Which of the seven wastes can you find?</a:t>
            </a:r>
          </a:p>
        </p:txBody>
      </p:sp>
      <p:sp>
        <p:nvSpPr>
          <p:cNvPr id="821" name="C12. Fix"/>
          <p:cNvSpPr/>
          <p:nvPr/>
        </p:nvSpPr>
        <p:spPr>
          <a:xfrm>
            <a:off x="4649724" y="2834640"/>
            <a:ext cx="4219956" cy="11887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2. Fix it</a:t>
            </a:r>
          </a:p>
          <a:p>
            <a:pPr marL="0" indent="0" algn="l">
              <a:spcBef>
                <a:spcPts val="0"/>
              </a:spcBef>
              <a:spcAft>
                <a:spcPts val="0"/>
              </a:spcAft>
              <a:buNone/>
            </a:pPr>
            <a:r>
              <a:rPr lang="en-GB" sz="1600" b="0" i="0" dirty="0">
                <a:solidFill>
                  <a:srgbClr val="1A1A1A"/>
                </a:solidFill>
              </a:rPr>
              <a:t>Suggest one Lean improvement for each waste.</a:t>
            </a:r>
          </a:p>
        </p:txBody>
      </p:sp>
    </p:spTree>
    <p:extLst>
      <p:ext uri="{BB962C8B-B14F-4D97-AF65-F5344CB8AC3E}">
        <p14:creationId xmlns:p14="http://schemas.microsoft.com/office/powerpoint/2010/main" val="25623125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BB97AB10-E2C1-6FC9-3EA7-B7F89E1BB0CA}"/>
            </a:ext>
          </a:extLst>
        </p:cNvPr>
        <p:cNvGrpSpPr/>
        <p:nvPr/>
      </p:nvGrpSpPr>
      <p:grpSpPr>
        <a:xfrm>
          <a:off x="0" y="0"/>
          <a:ext cx="0" cy="0"/>
          <a:chOff x="0" y="0"/>
          <a:chExt cx="0" cy="0"/>
        </a:xfrm>
      </p:grpSpPr>
      <p:sp>
        <p:nvSpPr>
          <p:cNvPr id="66" name="Google Shape;66;p14">
            <a:extLst>
              <a:ext uri="{FF2B5EF4-FFF2-40B4-BE49-F238E27FC236}">
                <a16:creationId xmlns:a16="http://schemas.microsoft.com/office/drawing/2014/main" id="{0F46C668-7952-A809-39E2-95BB3DA50FEC}"/>
              </a:ext>
            </a:extLst>
          </p:cNvPr>
          <p:cNvSpPr txBox="1">
            <a:spLocks noGrp="1"/>
          </p:cNvSpPr>
          <p:nvPr>
            <p:ph type="title"/>
          </p:nvPr>
        </p:nvSpPr>
        <p:spPr>
          <a:xfrm>
            <a:off x="2736493" y="315936"/>
            <a:ext cx="4243971" cy="572700"/>
          </a:xfrm>
        </p:spPr>
        <p:txBody>
          <a:bodyPr spcFirstLastPara="1" wrap="square" lIns="91425" tIns="91425" rIns="91425" bIns="91425" anchor="ctr" anchorCtr="0">
            <a:normAutofit/>
          </a:bodyPr>
          <a:lstStyle/>
          <a:p>
            <a:pPr marL="0" lvl="0" indent="0" rtl="0">
              <a:spcBef>
                <a:spcPts val="0"/>
              </a:spcBef>
              <a:spcAft>
                <a:spcPts val="0"/>
              </a:spcAft>
              <a:buNone/>
            </a:pPr>
            <a:r>
              <a:rPr lang="en-GB" sz="2500" b="1" dirty="0"/>
              <a:t>Answers</a:t>
            </a:r>
          </a:p>
        </p:txBody>
      </p:sp>
      <p:sp>
        <p:nvSpPr>
          <p:cNvPr id="73" name="Slide Number Placeholder 2">
            <a:extLst>
              <a:ext uri="{FF2B5EF4-FFF2-40B4-BE49-F238E27FC236}">
                <a16:creationId xmlns:a16="http://schemas.microsoft.com/office/drawing/2014/main" id="{6CA60668-AEC5-CE89-9FA7-1C6CFD89C171}"/>
              </a:ext>
            </a:extLst>
          </p:cNvPr>
          <p:cNvSpPr>
            <a:spLocks noGrp="1"/>
          </p:cNvSpPr>
          <p:nvPr>
            <p:ph type="sldNum" idx="12"/>
          </p:nvPr>
        </p:nvSpPr>
        <p:spPr>
          <a:xfrm>
            <a:off x="8444334" y="4745726"/>
            <a:ext cx="548700" cy="393600"/>
          </a:xfrm>
        </p:spPr>
        <p:txBody>
          <a:bodyPr wrap="square" anchor="t">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27</a:t>
            </a:fld>
            <a:endParaRPr lang="en" sz="900"/>
          </a:p>
        </p:txBody>
      </p:sp>
      <p:sp>
        <p:nvSpPr>
          <p:cNvPr id="9" name="TextBox 8">
            <a:extLst>
              <a:ext uri="{FF2B5EF4-FFF2-40B4-BE49-F238E27FC236}">
                <a16:creationId xmlns:a16="http://schemas.microsoft.com/office/drawing/2014/main" id="{5D2D71F1-FA99-A41F-91F6-20BA2AF8D759}"/>
              </a:ext>
            </a:extLst>
          </p:cNvPr>
          <p:cNvSpPr txBox="1"/>
          <p:nvPr/>
        </p:nvSpPr>
        <p:spPr>
          <a:xfrm>
            <a:off x="4572000" y="4076450"/>
            <a:ext cx="5670096" cy="307777"/>
          </a:xfrm>
          <a:prstGeom prst="rect">
            <a:avLst/>
          </a:prstGeom>
          <a:noFill/>
        </p:spPr>
        <p:txBody>
          <a:bodyPr wrap="square">
            <a:spAutoFit/>
          </a:bodyPr>
          <a:lstStyle/>
          <a:p>
            <a:r>
              <a:rPr lang="en-GB" dirty="0">
                <a:hlinkClick r:id="rId3"/>
              </a:rPr>
              <a:t>Edit Productivity and Service Failure - </a:t>
            </a:r>
            <a:r>
              <a:rPr lang="en-GB" dirty="0" err="1">
                <a:hlinkClick r:id="rId3"/>
              </a:rPr>
              <a:t>Wooclap</a:t>
            </a:r>
            <a:endParaRPr lang="en-GB" dirty="0"/>
          </a:p>
        </p:txBody>
      </p:sp>
      <p:sp>
        <p:nvSpPr>
          <p:cNvPr id="3" name="TextBox 2">
            <a:extLst>
              <a:ext uri="{FF2B5EF4-FFF2-40B4-BE49-F238E27FC236}">
                <a16:creationId xmlns:a16="http://schemas.microsoft.com/office/drawing/2014/main" id="{48FC0DD5-2E98-5CEC-452F-7738CEE31ECD}"/>
              </a:ext>
            </a:extLst>
          </p:cNvPr>
          <p:cNvSpPr txBox="1"/>
          <p:nvPr/>
        </p:nvSpPr>
        <p:spPr>
          <a:xfrm>
            <a:off x="4678134" y="2310140"/>
            <a:ext cx="3600451" cy="523220"/>
          </a:xfrm>
          <a:prstGeom prst="rect">
            <a:avLst/>
          </a:prstGeom>
          <a:noFill/>
        </p:spPr>
        <p:txBody>
          <a:bodyPr wrap="square">
            <a:spAutoFit/>
          </a:bodyPr>
          <a:lstStyle/>
          <a:p>
            <a:r>
              <a:rPr lang="en-GB" dirty="0"/>
              <a:t>https://app.wooclap.com/</a:t>
            </a:r>
            <a:r>
              <a:rPr lang="en-GB" b="1" dirty="0"/>
              <a:t>BQRYOLH</a:t>
            </a:r>
            <a:r>
              <a:rPr lang="en-GB" dirty="0"/>
              <a:t>?from=instruction-slide</a:t>
            </a:r>
          </a:p>
        </p:txBody>
      </p:sp>
      <p:pic>
        <p:nvPicPr>
          <p:cNvPr id="6" name="Picture 5">
            <a:extLst>
              <a:ext uri="{FF2B5EF4-FFF2-40B4-BE49-F238E27FC236}">
                <a16:creationId xmlns:a16="http://schemas.microsoft.com/office/drawing/2014/main" id="{B0D91328-1EDD-5FF0-E0CB-FC655A93950F}"/>
              </a:ext>
            </a:extLst>
          </p:cNvPr>
          <p:cNvPicPr>
            <a:picLocks noChangeAspect="1"/>
          </p:cNvPicPr>
          <p:nvPr/>
        </p:nvPicPr>
        <p:blipFill>
          <a:blip r:embed="rId4"/>
          <a:stretch>
            <a:fillRect/>
          </a:stretch>
        </p:blipFill>
        <p:spPr>
          <a:xfrm>
            <a:off x="62689" y="930914"/>
            <a:ext cx="4243971" cy="4243971"/>
          </a:xfrm>
          <a:prstGeom prst="rect">
            <a:avLst/>
          </a:prstGeom>
        </p:spPr>
      </p:pic>
    </p:spTree>
    <p:extLst>
      <p:ext uri="{BB962C8B-B14F-4D97-AF65-F5344CB8AC3E}">
        <p14:creationId xmlns:p14="http://schemas.microsoft.com/office/powerpoint/2010/main" val="184346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Throughput Efficiency Across Sectors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28</a:t>
            </a:fld>
            <a:endParaRPr lang="en"/>
          </a:p>
        </p:txBody>
      </p:sp>
      <p:sp>
        <p:nvSpPr>
          <p:cNvPr id="582" name="Chip"/>
          <p:cNvSpPr/>
          <p:nvPr/>
        </p:nvSpPr>
        <p:spPr>
          <a:xfrm>
            <a:off x="274320" y="914400"/>
            <a:ext cx="1088136" cy="292608"/>
          </a:xfrm>
          <a:prstGeom prst="roundRect">
            <a:avLst>
              <a:gd name="adj" fmla="val 12000"/>
            </a:avLst>
          </a:prstGeom>
          <a:solidFill>
            <a:srgbClr val="0B7A75"/>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YOUR TURN</a:t>
            </a:r>
          </a:p>
        </p:txBody>
      </p:sp>
      <p:sp>
        <p:nvSpPr>
          <p:cNvPr id="583" name="Tag5 minutes"/>
          <p:cNvSpPr/>
          <p:nvPr/>
        </p:nvSpPr>
        <p:spPr>
          <a:xfrm>
            <a:off x="1453896" y="914400"/>
            <a:ext cx="882396" cy="292608"/>
          </a:xfrm>
          <a:prstGeom prst="roundRect">
            <a:avLst>
              <a:gd name="adj" fmla="val 12000"/>
            </a:avLst>
          </a:prstGeom>
          <a:solidFill>
            <a:srgbClr val="FFFFFF"/>
          </a:solidFill>
          <a:ln w="12700">
            <a:solidFill>
              <a:srgbClr val="0B7A75"/>
            </a:solid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0B7A75"/>
                </a:solidFill>
              </a:rPr>
              <a:t>5 minutes</a:t>
            </a:r>
          </a:p>
        </p:txBody>
      </p:sp>
      <p:sp>
        <p:nvSpPr>
          <p:cNvPr id="584" name="Formula"/>
          <p:cNvSpPr/>
          <p:nvPr/>
        </p:nvSpPr>
        <p:spPr>
          <a:xfrm>
            <a:off x="274320" y="1280160"/>
            <a:ext cx="8595360" cy="731520"/>
          </a:xfrm>
          <a:prstGeom prst="roundRect">
            <a:avLst>
              <a:gd name="adj" fmla="val 12000"/>
            </a:avLst>
          </a:prstGeom>
          <a:solidFill>
            <a:srgbClr val="D5EFEC"/>
          </a:solidFill>
          <a:ln w="19050">
            <a:solidFill>
              <a:srgbClr val="0B7A75"/>
            </a:solidFill>
          </a:ln>
        </p:spPr>
        <p:txBody>
          <a:bodyPr wrap="square" lIns="128016" tIns="128016" rIns="128016" bIns="128016" anchor="ctr">
            <a:noAutofit/>
          </a:bodyPr>
          <a:lstStyle/>
          <a:p>
            <a:pPr marL="0" indent="0" algn="l">
              <a:spcBef>
                <a:spcPts val="0"/>
              </a:spcBef>
              <a:spcAft>
                <a:spcPts val="120"/>
              </a:spcAft>
              <a:buNone/>
            </a:pPr>
            <a:r>
              <a:rPr lang="en-GB" sz="1350" b="1" i="0" dirty="0">
                <a:solidFill>
                  <a:srgbClr val="0B7A75"/>
                </a:solidFill>
              </a:rPr>
              <a:t>Formula</a:t>
            </a:r>
          </a:p>
          <a:p>
            <a:pPr marL="0" indent="0" algn="l">
              <a:spcBef>
                <a:spcPts val="0"/>
              </a:spcBef>
              <a:spcAft>
                <a:spcPts val="80"/>
              </a:spcAft>
              <a:buNone/>
            </a:pPr>
            <a:r>
              <a:rPr lang="en-GB" sz="1650" b="1" i="0" dirty="0">
                <a:solidFill>
                  <a:srgbClr val="1A1A1A"/>
                </a:solidFill>
              </a:rPr>
              <a:t>Throughput efficiency = Value-added time ÷ Throughput time × 100</a:t>
            </a:r>
          </a:p>
        </p:txBody>
      </p:sp>
      <p:sp>
        <p:nvSpPr>
          <p:cNvPr id="585" name="RL0"/>
          <p:cNvSpPr/>
          <p:nvPr/>
        </p:nvSpPr>
        <p:spPr>
          <a:xfrm>
            <a:off x="274320" y="2103120"/>
            <a:ext cx="2194560" cy="384048"/>
          </a:xfrm>
          <a:prstGeom prst="roundRect">
            <a:avLst>
              <a:gd name="adj" fmla="val 12000"/>
            </a:avLst>
          </a:prstGeom>
          <a:solidFill>
            <a:srgbClr val="0B7A75"/>
          </a:solidFill>
          <a:ln>
            <a:noFill/>
          </a:ln>
        </p:spPr>
        <p:txBody>
          <a:bodyPr wrap="square" lIns="27432" tIns="27432" rIns="27432" bIns="27432" anchor="ctr">
            <a:noAutofit/>
          </a:bodyPr>
          <a:lstStyle/>
          <a:p>
            <a:pPr marL="0" indent="0" algn="ctr">
              <a:spcBef>
                <a:spcPts val="0"/>
              </a:spcBef>
              <a:spcAft>
                <a:spcPts val="0"/>
              </a:spcAft>
              <a:buNone/>
            </a:pPr>
            <a:r>
              <a:rPr lang="en-GB" sz="1600" b="1" i="0" dirty="0">
                <a:solidFill>
                  <a:srgbClr val="FFFFFF"/>
                </a:solidFill>
              </a:rPr>
              <a:t>A&amp;E</a:t>
            </a:r>
          </a:p>
        </p:txBody>
      </p:sp>
      <p:sp>
        <p:nvSpPr>
          <p:cNvPr id="586" name="RW0"/>
          <p:cNvSpPr/>
          <p:nvPr/>
        </p:nvSpPr>
        <p:spPr>
          <a:xfrm>
            <a:off x="2560320" y="2103120"/>
            <a:ext cx="457200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00" b="0" i="0" dirty="0">
                <a:solidFill>
                  <a:srgbClr val="1A1A1A"/>
                </a:solidFill>
              </a:rPr>
              <a:t>45 min treatment ÷ 240 min visit × 100</a:t>
            </a:r>
          </a:p>
        </p:txBody>
      </p:sp>
      <p:sp>
        <p:nvSpPr>
          <p:cNvPr id="587" name="RA0"/>
          <p:cNvSpPr/>
          <p:nvPr/>
        </p:nvSpPr>
        <p:spPr>
          <a:xfrm>
            <a:off x="7223760" y="2103120"/>
            <a:ext cx="164592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600" b="1" i="0" dirty="0">
                <a:solidFill>
                  <a:srgbClr val="0B7A75"/>
                </a:solidFill>
              </a:rPr>
              <a:t>18.8%</a:t>
            </a:r>
          </a:p>
        </p:txBody>
      </p:sp>
      <p:sp>
        <p:nvSpPr>
          <p:cNvPr id="588" name="RL1"/>
          <p:cNvSpPr/>
          <p:nvPr/>
        </p:nvSpPr>
        <p:spPr>
          <a:xfrm>
            <a:off x="274320" y="2542032"/>
            <a:ext cx="2194560" cy="384048"/>
          </a:xfrm>
          <a:prstGeom prst="roundRect">
            <a:avLst>
              <a:gd name="adj" fmla="val 12000"/>
            </a:avLst>
          </a:prstGeom>
          <a:solidFill>
            <a:srgbClr val="0B7A75"/>
          </a:solidFill>
          <a:ln>
            <a:noFill/>
          </a:ln>
        </p:spPr>
        <p:txBody>
          <a:bodyPr wrap="square" lIns="27432" tIns="27432" rIns="27432" bIns="27432" anchor="ctr">
            <a:noAutofit/>
          </a:bodyPr>
          <a:lstStyle/>
          <a:p>
            <a:pPr marL="0" indent="0" algn="ctr">
              <a:spcBef>
                <a:spcPts val="0"/>
              </a:spcBef>
              <a:spcAft>
                <a:spcPts val="0"/>
              </a:spcAft>
              <a:buNone/>
            </a:pPr>
            <a:r>
              <a:rPr lang="en-GB" sz="1600" b="1" i="0" dirty="0">
                <a:solidFill>
                  <a:srgbClr val="FFFFFF"/>
                </a:solidFill>
              </a:rPr>
              <a:t>Airport security</a:t>
            </a:r>
          </a:p>
        </p:txBody>
      </p:sp>
      <p:sp>
        <p:nvSpPr>
          <p:cNvPr id="589" name="RW1"/>
          <p:cNvSpPr/>
          <p:nvPr/>
        </p:nvSpPr>
        <p:spPr>
          <a:xfrm>
            <a:off x="2560320" y="2542032"/>
            <a:ext cx="457200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00" b="0" i="0" dirty="0">
                <a:solidFill>
                  <a:srgbClr val="1A1A1A"/>
                </a:solidFill>
              </a:rPr>
              <a:t>3 min screening ÷ 20 min × 100</a:t>
            </a:r>
          </a:p>
        </p:txBody>
      </p:sp>
      <p:sp>
        <p:nvSpPr>
          <p:cNvPr id="590" name="RA1"/>
          <p:cNvSpPr/>
          <p:nvPr/>
        </p:nvSpPr>
        <p:spPr>
          <a:xfrm>
            <a:off x="7223760" y="2542032"/>
            <a:ext cx="164592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600" b="1" i="0" dirty="0">
                <a:solidFill>
                  <a:srgbClr val="0B7A75"/>
                </a:solidFill>
              </a:rPr>
              <a:t>15.0%</a:t>
            </a:r>
          </a:p>
        </p:txBody>
      </p:sp>
      <p:sp>
        <p:nvSpPr>
          <p:cNvPr id="591" name="RL2"/>
          <p:cNvSpPr/>
          <p:nvPr/>
        </p:nvSpPr>
        <p:spPr>
          <a:xfrm>
            <a:off x="274320" y="2980944"/>
            <a:ext cx="2194560" cy="384048"/>
          </a:xfrm>
          <a:prstGeom prst="roundRect">
            <a:avLst>
              <a:gd name="adj" fmla="val 12000"/>
            </a:avLst>
          </a:prstGeom>
          <a:solidFill>
            <a:srgbClr val="0B7A75"/>
          </a:solidFill>
          <a:ln>
            <a:noFill/>
          </a:ln>
        </p:spPr>
        <p:txBody>
          <a:bodyPr wrap="square" lIns="27432" tIns="27432" rIns="27432" bIns="27432" anchor="ctr">
            <a:noAutofit/>
          </a:bodyPr>
          <a:lstStyle/>
          <a:p>
            <a:pPr marL="0" indent="0" algn="ctr">
              <a:spcBef>
                <a:spcPts val="0"/>
              </a:spcBef>
              <a:spcAft>
                <a:spcPts val="0"/>
              </a:spcAft>
              <a:buNone/>
            </a:pPr>
            <a:r>
              <a:rPr lang="en-GB" sz="1600" b="1" i="0" dirty="0">
                <a:solidFill>
                  <a:srgbClr val="FFFFFF"/>
                </a:solidFill>
              </a:rPr>
              <a:t>Restaurant</a:t>
            </a:r>
          </a:p>
        </p:txBody>
      </p:sp>
      <p:sp>
        <p:nvSpPr>
          <p:cNvPr id="592" name="RW2"/>
          <p:cNvSpPr/>
          <p:nvPr/>
        </p:nvSpPr>
        <p:spPr>
          <a:xfrm>
            <a:off x="2560320" y="2980944"/>
            <a:ext cx="457200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00" b="0" i="0" dirty="0">
                <a:solidFill>
                  <a:srgbClr val="1A1A1A"/>
                </a:solidFill>
              </a:rPr>
              <a:t>12 min cooking ÷ 35 min wait × 100</a:t>
            </a:r>
          </a:p>
        </p:txBody>
      </p:sp>
      <p:sp>
        <p:nvSpPr>
          <p:cNvPr id="593" name="RA2"/>
          <p:cNvSpPr/>
          <p:nvPr/>
        </p:nvSpPr>
        <p:spPr>
          <a:xfrm>
            <a:off x="7223760" y="2980944"/>
            <a:ext cx="164592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600" b="1" i="0" dirty="0">
                <a:solidFill>
                  <a:srgbClr val="0B7A75"/>
                </a:solidFill>
              </a:rPr>
              <a:t>34.3%</a:t>
            </a:r>
          </a:p>
        </p:txBody>
      </p:sp>
      <p:sp>
        <p:nvSpPr>
          <p:cNvPr id="594" name="RL3"/>
          <p:cNvSpPr/>
          <p:nvPr/>
        </p:nvSpPr>
        <p:spPr>
          <a:xfrm>
            <a:off x="274320" y="3419856"/>
            <a:ext cx="2194560" cy="384048"/>
          </a:xfrm>
          <a:prstGeom prst="roundRect">
            <a:avLst>
              <a:gd name="adj" fmla="val 12000"/>
            </a:avLst>
          </a:prstGeom>
          <a:solidFill>
            <a:srgbClr val="0B7A75"/>
          </a:solidFill>
          <a:ln>
            <a:noFill/>
          </a:ln>
        </p:spPr>
        <p:txBody>
          <a:bodyPr wrap="square" lIns="27432" tIns="27432" rIns="27432" bIns="27432" anchor="ctr">
            <a:noAutofit/>
          </a:bodyPr>
          <a:lstStyle/>
          <a:p>
            <a:pPr marL="0" indent="0" algn="ctr">
              <a:spcBef>
                <a:spcPts val="0"/>
              </a:spcBef>
              <a:spcAft>
                <a:spcPts val="0"/>
              </a:spcAft>
              <a:buNone/>
            </a:pPr>
            <a:r>
              <a:rPr lang="en-GB" sz="1600" b="1" i="0" dirty="0">
                <a:solidFill>
                  <a:srgbClr val="FFFFFF"/>
                </a:solidFill>
              </a:rPr>
              <a:t>Amazon fulfilment</a:t>
            </a:r>
          </a:p>
        </p:txBody>
      </p:sp>
      <p:sp>
        <p:nvSpPr>
          <p:cNvPr id="595" name="RW3"/>
          <p:cNvSpPr/>
          <p:nvPr/>
        </p:nvSpPr>
        <p:spPr>
          <a:xfrm>
            <a:off x="2560320" y="3419856"/>
            <a:ext cx="457200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00" b="0" i="0" dirty="0">
                <a:solidFill>
                  <a:srgbClr val="1A1A1A"/>
                </a:solidFill>
              </a:rPr>
              <a:t>25 min handling ÷ 360 min × 100</a:t>
            </a:r>
          </a:p>
        </p:txBody>
      </p:sp>
      <p:sp>
        <p:nvSpPr>
          <p:cNvPr id="596" name="RA3"/>
          <p:cNvSpPr/>
          <p:nvPr/>
        </p:nvSpPr>
        <p:spPr>
          <a:xfrm>
            <a:off x="7223760" y="3419856"/>
            <a:ext cx="164592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600" b="1" i="0" dirty="0">
                <a:solidFill>
                  <a:srgbClr val="0B7A75"/>
                </a:solidFill>
              </a:rPr>
              <a:t>6.9%</a:t>
            </a:r>
          </a:p>
        </p:txBody>
      </p:sp>
      <p:sp>
        <p:nvSpPr>
          <p:cNvPr id="597" name="RL4"/>
          <p:cNvSpPr/>
          <p:nvPr/>
        </p:nvSpPr>
        <p:spPr>
          <a:xfrm>
            <a:off x="274320" y="3858768"/>
            <a:ext cx="2194560" cy="384048"/>
          </a:xfrm>
          <a:prstGeom prst="roundRect">
            <a:avLst>
              <a:gd name="adj" fmla="val 12000"/>
            </a:avLst>
          </a:prstGeom>
          <a:solidFill>
            <a:srgbClr val="0B7A75"/>
          </a:solidFill>
          <a:ln>
            <a:noFill/>
          </a:ln>
        </p:spPr>
        <p:txBody>
          <a:bodyPr wrap="square" lIns="27432" tIns="27432" rIns="27432" bIns="27432" anchor="ctr">
            <a:noAutofit/>
          </a:bodyPr>
          <a:lstStyle/>
          <a:p>
            <a:pPr marL="0" indent="0" algn="ctr">
              <a:spcBef>
                <a:spcPts val="0"/>
              </a:spcBef>
              <a:spcAft>
                <a:spcPts val="0"/>
              </a:spcAft>
              <a:buNone/>
            </a:pPr>
            <a:r>
              <a:rPr lang="en-GB" sz="1600" b="1" i="0" dirty="0">
                <a:solidFill>
                  <a:srgbClr val="FFFFFF"/>
                </a:solidFill>
              </a:rPr>
              <a:t>Factory</a:t>
            </a:r>
          </a:p>
        </p:txBody>
      </p:sp>
      <p:sp>
        <p:nvSpPr>
          <p:cNvPr id="598" name="RW4"/>
          <p:cNvSpPr/>
          <p:nvPr/>
        </p:nvSpPr>
        <p:spPr>
          <a:xfrm>
            <a:off x="2560320" y="3858768"/>
            <a:ext cx="4572000" cy="384048"/>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00" b="0" i="0" dirty="0">
                <a:solidFill>
                  <a:srgbClr val="1A1A1A"/>
                </a:solidFill>
              </a:rPr>
              <a:t>3 h processing ÷ 10 h × 100</a:t>
            </a:r>
          </a:p>
        </p:txBody>
      </p:sp>
      <p:sp>
        <p:nvSpPr>
          <p:cNvPr id="599" name="RA4"/>
          <p:cNvSpPr/>
          <p:nvPr/>
        </p:nvSpPr>
        <p:spPr>
          <a:xfrm>
            <a:off x="7223760" y="3858768"/>
            <a:ext cx="1645920" cy="384048"/>
          </a:xfrm>
          <a:prstGeom prst="roundRect">
            <a:avLst>
              <a:gd name="adj" fmla="val 12000"/>
            </a:avLst>
          </a:prstGeom>
          <a:solidFill>
            <a:srgbClr val="D5EFEC"/>
          </a:solidFill>
          <a:ln>
            <a:noFill/>
          </a:ln>
        </p:spPr>
        <p:txBody>
          <a:bodyPr wrap="square" lIns="45720" tIns="45720" rIns="45720" bIns="45720" anchor="ctr">
            <a:noAutofit/>
          </a:bodyPr>
          <a:lstStyle/>
          <a:p>
            <a:pPr marL="0" indent="0" algn="ctr">
              <a:spcBef>
                <a:spcPts val="0"/>
              </a:spcBef>
              <a:spcAft>
                <a:spcPts val="0"/>
              </a:spcAft>
              <a:buNone/>
            </a:pPr>
            <a:r>
              <a:rPr lang="en-GB" sz="1600" b="1" i="0" dirty="0">
                <a:solidFill>
                  <a:srgbClr val="0B7A75"/>
                </a:solidFill>
              </a:rPr>
              <a:t>30.0%</a:t>
            </a:r>
          </a:p>
        </p:txBody>
      </p:sp>
      <p:sp>
        <p:nvSpPr>
          <p:cNvPr id="600" name="Note"/>
          <p:cNvSpPr/>
          <p:nvPr/>
        </p:nvSpPr>
        <p:spPr>
          <a:xfrm>
            <a:off x="274320" y="4343400"/>
            <a:ext cx="8595360" cy="411480"/>
          </a:xfrm>
          <a:prstGeom prst="roundRect">
            <a:avLst>
              <a:gd name="adj" fmla="val 12000"/>
            </a:avLst>
          </a:prstGeom>
          <a:solidFill>
            <a:srgbClr val="FFFFFF"/>
          </a:solidFill>
          <a:ln w="25400">
            <a:solidFill>
              <a:srgbClr val="0B7A75"/>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0B7A75"/>
                </a:solidFill>
              </a:rPr>
              <a:t>Pattern:  </a:t>
            </a:r>
            <a:r>
              <a:rPr lang="en-GB" sz="1600" b="0" i="0" dirty="0">
                <a:solidFill>
                  <a:srgbClr val="1A1A1A"/>
                </a:solidFill>
              </a:rPr>
              <a:t>waiting time dwarfs working time in most processes.</a:t>
            </a:r>
          </a:p>
        </p:txBody>
      </p:sp>
    </p:spTree>
    <p:extLst>
      <p:ext uri="{BB962C8B-B14F-4D97-AF65-F5344CB8AC3E}">
        <p14:creationId xmlns:p14="http://schemas.microsoft.com/office/powerpoint/2010/main" val="3651354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Little’s Law and Throughput Time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29</a:t>
            </a:fld>
            <a:endParaRPr lang="en"/>
          </a:p>
        </p:txBody>
      </p:sp>
      <p:sp>
        <p:nvSpPr>
          <p:cNvPr id="601" name="Strip"/>
          <p:cNvSpPr/>
          <p:nvPr/>
        </p:nvSpPr>
        <p:spPr>
          <a:xfrm>
            <a:off x="274320" y="1051560"/>
            <a:ext cx="8595360" cy="685800"/>
          </a:xfrm>
          <a:prstGeom prst="roundRect">
            <a:avLst>
              <a:gd name="adj" fmla="val 12000"/>
            </a:avLst>
          </a:prstGeom>
          <a:solidFill>
            <a:srgbClr val="D5EFEC"/>
          </a:solidFill>
          <a:ln>
            <a:noFill/>
          </a:ln>
        </p:spPr>
        <p:txBody>
          <a:bodyPr wrap="square" lIns="128016" tIns="128016" rIns="128016" bIns="128016" anchor="ctr">
            <a:noAutofit/>
          </a:bodyPr>
          <a:lstStyle/>
          <a:p>
            <a:pPr marL="0" indent="0" algn="l">
              <a:spcBef>
                <a:spcPts val="0"/>
              </a:spcBef>
              <a:spcAft>
                <a:spcPts val="0"/>
              </a:spcAft>
              <a:buNone/>
            </a:pPr>
            <a:r>
              <a:rPr lang="en-GB" sz="2000" b="1" i="0" dirty="0">
                <a:solidFill>
                  <a:srgbClr val="0B7A75"/>
                </a:solidFill>
              </a:rPr>
              <a:t>WIP = Throughput rate × Throughput time</a:t>
            </a:r>
          </a:p>
        </p:txBody>
      </p:sp>
      <p:sp>
        <p:nvSpPr>
          <p:cNvPr id="602" name="C0Rearra"/>
          <p:cNvSpPr/>
          <p:nvPr/>
        </p:nvSpPr>
        <p:spPr>
          <a:xfrm>
            <a:off x="274320" y="1874520"/>
            <a:ext cx="4219956" cy="14173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Rearrange</a:t>
            </a:r>
          </a:p>
          <a:p>
            <a:pPr marL="0" indent="0" algn="l">
              <a:spcBef>
                <a:spcPts val="0"/>
              </a:spcBef>
              <a:spcAft>
                <a:spcPts val="0"/>
              </a:spcAft>
              <a:buNone/>
            </a:pPr>
            <a:r>
              <a:rPr lang="en-GB" sz="1700" b="0" i="0" dirty="0">
                <a:solidFill>
                  <a:srgbClr val="1A1A1A"/>
                </a:solidFill>
              </a:rPr>
              <a:t>Throughput time = WIP ÷ throughput rate.</a:t>
            </a:r>
          </a:p>
        </p:txBody>
      </p:sp>
      <p:sp>
        <p:nvSpPr>
          <p:cNvPr id="603" name="C1Implic"/>
          <p:cNvSpPr/>
          <p:nvPr/>
        </p:nvSpPr>
        <p:spPr>
          <a:xfrm>
            <a:off x="4649724" y="1874520"/>
            <a:ext cx="4219956" cy="14173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Implication</a:t>
            </a:r>
          </a:p>
          <a:p>
            <a:pPr marL="0" indent="0" algn="l">
              <a:spcBef>
                <a:spcPts val="0"/>
              </a:spcBef>
              <a:spcAft>
                <a:spcPts val="0"/>
              </a:spcAft>
              <a:buNone/>
            </a:pPr>
            <a:r>
              <a:rPr lang="en-GB" sz="1700" b="0" i="0" dirty="0">
                <a:solidFill>
                  <a:srgbClr val="1A1A1A"/>
                </a:solidFill>
              </a:rPr>
              <a:t>For a stable flow, cutting WIP </a:t>
            </a:r>
            <a:r>
              <a:rPr lang="en-GB" sz="1700" dirty="0">
                <a:solidFill>
                  <a:srgbClr val="1A1A1A"/>
                </a:solidFill>
              </a:rPr>
              <a:t>reduces </a:t>
            </a:r>
            <a:r>
              <a:rPr lang="en-GB" sz="1700" b="0" i="0" dirty="0">
                <a:solidFill>
                  <a:srgbClr val="1A1A1A"/>
                </a:solidFill>
              </a:rPr>
              <a:t>the time each item spends inside.</a:t>
            </a:r>
          </a:p>
        </p:txBody>
      </p:sp>
      <p:sp>
        <p:nvSpPr>
          <p:cNvPr id="604" name="Note"/>
          <p:cNvSpPr/>
          <p:nvPr/>
        </p:nvSpPr>
        <p:spPr>
          <a:xfrm>
            <a:off x="274320" y="3474720"/>
            <a:ext cx="8595360" cy="548640"/>
          </a:xfrm>
          <a:prstGeom prst="roundRect">
            <a:avLst>
              <a:gd name="adj" fmla="val 12000"/>
            </a:avLst>
          </a:prstGeom>
          <a:solidFill>
            <a:srgbClr val="FFFFFF"/>
          </a:solidFill>
          <a:ln w="25400">
            <a:solidFill>
              <a:srgbClr val="0B7A75"/>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0B7A75"/>
                </a:solidFill>
              </a:rPr>
              <a:t>Link to Week 2:  </a:t>
            </a:r>
            <a:r>
              <a:rPr lang="en-GB" sz="1600" b="0" i="0" dirty="0">
                <a:solidFill>
                  <a:srgbClr val="1A1A1A"/>
                </a:solidFill>
              </a:rPr>
              <a:t>this is Little’s Law. We use it next for Zucchero.</a:t>
            </a:r>
          </a:p>
        </p:txBody>
      </p:sp>
    </p:spTree>
    <p:extLst>
      <p:ext uri="{BB962C8B-B14F-4D97-AF65-F5344CB8AC3E}">
        <p14:creationId xmlns:p14="http://schemas.microsoft.com/office/powerpoint/2010/main" val="3651354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Worked Example: Zucchero Mail Order</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30</a:t>
            </a:fld>
            <a:endParaRPr lang="en"/>
          </a:p>
        </p:txBody>
      </p:sp>
      <p:sp>
        <p:nvSpPr>
          <p:cNvPr id="837" name="Chip"/>
          <p:cNvSpPr/>
          <p:nvPr/>
        </p:nvSpPr>
        <p:spPr>
          <a:xfrm>
            <a:off x="274320" y="914400"/>
            <a:ext cx="1591056" cy="292608"/>
          </a:xfrm>
          <a:prstGeom prst="roundRect">
            <a:avLst>
              <a:gd name="adj" fmla="val 12000"/>
            </a:avLst>
          </a:prstGeom>
          <a:solidFill>
            <a:srgbClr val="0B7A75"/>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WORKED EXAMPLE</a:t>
            </a:r>
          </a:p>
        </p:txBody>
      </p:sp>
      <p:sp>
        <p:nvSpPr>
          <p:cNvPr id="838" name="ZQ"/>
          <p:cNvSpPr/>
          <p:nvPr/>
        </p:nvSpPr>
        <p:spPr>
          <a:xfrm>
            <a:off x="274320" y="1325880"/>
            <a:ext cx="8595360" cy="1143000"/>
          </a:xfrm>
          <a:prstGeom prst="roundRect">
            <a:avLst>
              <a:gd name="adj" fmla="val 12000"/>
            </a:avLst>
          </a:prstGeom>
          <a:solidFill>
            <a:srgbClr val="D5EFEC"/>
          </a:solidFill>
          <a:ln>
            <a:noFill/>
          </a:ln>
        </p:spPr>
        <p:txBody>
          <a:bodyPr wrap="square" lIns="146304" tIns="146304" rIns="146304" bIns="146304" anchor="ctr">
            <a:noAutofit/>
          </a:bodyPr>
          <a:lstStyle/>
          <a:p>
            <a:pPr marL="0" indent="0" algn="l">
              <a:spcBef>
                <a:spcPts val="0"/>
              </a:spcBef>
              <a:spcAft>
                <a:spcPts val="0"/>
              </a:spcAft>
              <a:buNone/>
            </a:pPr>
            <a:r>
              <a:rPr lang="en-GB" sz="1650" b="1" i="0" dirty="0">
                <a:solidFill>
                  <a:srgbClr val="0B7A75"/>
                </a:solidFill>
              </a:rPr>
              <a:t>Zucchero, </a:t>
            </a:r>
            <a:r>
              <a:rPr lang="en-GB" sz="1650" b="0" i="0" dirty="0">
                <a:solidFill>
                  <a:srgbClr val="1A1A1A"/>
                </a:solidFill>
              </a:rPr>
              <a:t>a mail-order clothing company in Milan, receives order forms. Staff type in customer details, check the information and stock, confirm payment and process the order.</a:t>
            </a:r>
          </a:p>
        </p:txBody>
      </p:sp>
      <p:sp>
        <p:nvSpPr>
          <p:cNvPr id="839" name="ZF0"/>
          <p:cNvSpPr/>
          <p:nvPr/>
        </p:nvSpPr>
        <p:spPr>
          <a:xfrm>
            <a:off x="274320" y="2606040"/>
            <a:ext cx="2057400" cy="960120"/>
          </a:xfrm>
          <a:prstGeom prst="roundRect">
            <a:avLst>
              <a:gd name="adj" fmla="val 12000"/>
            </a:avLst>
          </a:prstGeom>
          <a:solidFill>
            <a:srgbClr val="FFFFFF"/>
          </a:solidFill>
          <a:ln w="12700">
            <a:solidFill>
              <a:srgbClr val="D5D0DE"/>
            </a:solidFill>
          </a:ln>
        </p:spPr>
        <p:txBody>
          <a:bodyPr wrap="square" lIns="73152" tIns="73152" rIns="73152" bIns="73152" anchor="ctr">
            <a:noAutofit/>
          </a:bodyPr>
          <a:lstStyle/>
          <a:p>
            <a:pPr marL="0" indent="0" algn="ctr">
              <a:spcBef>
                <a:spcPts val="0"/>
              </a:spcBef>
              <a:spcAft>
                <a:spcPts val="100"/>
              </a:spcAft>
              <a:buNone/>
            </a:pPr>
            <a:r>
              <a:rPr lang="en-GB" sz="2000" b="1" i="0" dirty="0">
                <a:solidFill>
                  <a:srgbClr val="0B7A75"/>
                </a:solidFill>
              </a:rPr>
              <a:t>8 hours</a:t>
            </a:r>
          </a:p>
          <a:p>
            <a:pPr marL="0" indent="0" algn="ctr">
              <a:spcBef>
                <a:spcPts val="0"/>
              </a:spcBef>
              <a:spcAft>
                <a:spcPts val="0"/>
              </a:spcAft>
              <a:buNone/>
            </a:pPr>
            <a:r>
              <a:rPr lang="en-GB" sz="1300" b="0" i="0" dirty="0">
                <a:solidFill>
                  <a:srgbClr val="1A1A1A"/>
                </a:solidFill>
              </a:rPr>
              <a:t>working day</a:t>
            </a:r>
          </a:p>
        </p:txBody>
      </p:sp>
      <p:sp>
        <p:nvSpPr>
          <p:cNvPr id="840" name="ZF1"/>
          <p:cNvSpPr/>
          <p:nvPr/>
        </p:nvSpPr>
        <p:spPr>
          <a:xfrm>
            <a:off x="2441448" y="2606040"/>
            <a:ext cx="2057400" cy="960120"/>
          </a:xfrm>
          <a:prstGeom prst="roundRect">
            <a:avLst>
              <a:gd name="adj" fmla="val 12000"/>
            </a:avLst>
          </a:prstGeom>
          <a:solidFill>
            <a:srgbClr val="FFFFFF"/>
          </a:solidFill>
          <a:ln w="12700">
            <a:solidFill>
              <a:srgbClr val="D5D0DE"/>
            </a:solidFill>
          </a:ln>
        </p:spPr>
        <p:txBody>
          <a:bodyPr wrap="square" lIns="73152" tIns="73152" rIns="73152" bIns="73152" anchor="ctr">
            <a:noAutofit/>
          </a:bodyPr>
          <a:lstStyle/>
          <a:p>
            <a:pPr marL="0" indent="0" algn="ctr">
              <a:spcBef>
                <a:spcPts val="0"/>
              </a:spcBef>
              <a:spcAft>
                <a:spcPts val="100"/>
              </a:spcAft>
              <a:buNone/>
            </a:pPr>
            <a:r>
              <a:rPr lang="en-GB" sz="2000" b="1" i="0" dirty="0">
                <a:solidFill>
                  <a:srgbClr val="0B7A75"/>
                </a:solidFill>
              </a:rPr>
              <a:t>150 orders</a:t>
            </a:r>
          </a:p>
          <a:p>
            <a:pPr marL="0" indent="0" algn="ctr">
              <a:spcBef>
                <a:spcPts val="0"/>
              </a:spcBef>
              <a:spcAft>
                <a:spcPts val="0"/>
              </a:spcAft>
              <a:buNone/>
            </a:pPr>
            <a:r>
              <a:rPr lang="en-GB" sz="1300" b="0" i="0" dirty="0">
                <a:solidFill>
                  <a:srgbClr val="1A1A1A"/>
                </a:solidFill>
              </a:rPr>
              <a:t>processed per day</a:t>
            </a:r>
          </a:p>
        </p:txBody>
      </p:sp>
      <p:sp>
        <p:nvSpPr>
          <p:cNvPr id="841" name="ZF2"/>
          <p:cNvSpPr/>
          <p:nvPr/>
        </p:nvSpPr>
        <p:spPr>
          <a:xfrm>
            <a:off x="4608576" y="2606040"/>
            <a:ext cx="2057400" cy="960120"/>
          </a:xfrm>
          <a:prstGeom prst="roundRect">
            <a:avLst>
              <a:gd name="adj" fmla="val 12000"/>
            </a:avLst>
          </a:prstGeom>
          <a:solidFill>
            <a:srgbClr val="FFFFFF"/>
          </a:solidFill>
          <a:ln w="12700">
            <a:solidFill>
              <a:srgbClr val="D5D0DE"/>
            </a:solidFill>
          </a:ln>
        </p:spPr>
        <p:txBody>
          <a:bodyPr wrap="square" lIns="73152" tIns="73152" rIns="73152" bIns="73152" anchor="ctr">
            <a:noAutofit/>
          </a:bodyPr>
          <a:lstStyle/>
          <a:p>
            <a:pPr marL="0" indent="0" algn="ctr">
              <a:spcBef>
                <a:spcPts val="0"/>
              </a:spcBef>
              <a:spcAft>
                <a:spcPts val="100"/>
              </a:spcAft>
              <a:buNone/>
            </a:pPr>
            <a:r>
              <a:rPr lang="en-GB" sz="2000" b="1" i="0" dirty="0">
                <a:solidFill>
                  <a:srgbClr val="0B7A75"/>
                </a:solidFill>
              </a:rPr>
              <a:t>225 orders</a:t>
            </a:r>
          </a:p>
          <a:p>
            <a:pPr marL="0" indent="0" algn="ctr">
              <a:spcBef>
                <a:spcPts val="0"/>
              </a:spcBef>
              <a:spcAft>
                <a:spcPts val="0"/>
              </a:spcAft>
              <a:buNone/>
            </a:pPr>
            <a:r>
              <a:rPr lang="en-GB" sz="1300" b="0" i="0" dirty="0">
                <a:solidFill>
                  <a:srgbClr val="1A1A1A"/>
                </a:solidFill>
              </a:rPr>
              <a:t>waiting or in progress (WIP)</a:t>
            </a:r>
          </a:p>
        </p:txBody>
      </p:sp>
      <p:sp>
        <p:nvSpPr>
          <p:cNvPr id="842" name="ZF3"/>
          <p:cNvSpPr/>
          <p:nvPr/>
        </p:nvSpPr>
        <p:spPr>
          <a:xfrm>
            <a:off x="6775704" y="2606040"/>
            <a:ext cx="2057400" cy="960120"/>
          </a:xfrm>
          <a:prstGeom prst="roundRect">
            <a:avLst>
              <a:gd name="adj" fmla="val 12000"/>
            </a:avLst>
          </a:prstGeom>
          <a:solidFill>
            <a:srgbClr val="FFFFFF"/>
          </a:solidFill>
          <a:ln w="12700">
            <a:solidFill>
              <a:srgbClr val="D5D0DE"/>
            </a:solidFill>
          </a:ln>
        </p:spPr>
        <p:txBody>
          <a:bodyPr wrap="square" lIns="73152" tIns="73152" rIns="73152" bIns="73152" anchor="ctr">
            <a:noAutofit/>
          </a:bodyPr>
          <a:lstStyle/>
          <a:p>
            <a:pPr marL="0" indent="0" algn="ctr">
              <a:spcBef>
                <a:spcPts val="0"/>
              </a:spcBef>
              <a:spcAft>
                <a:spcPts val="100"/>
              </a:spcAft>
              <a:buNone/>
            </a:pPr>
            <a:r>
              <a:rPr lang="en-GB" sz="2000" b="1" i="0" dirty="0">
                <a:solidFill>
                  <a:srgbClr val="0B7A75"/>
                </a:solidFill>
              </a:rPr>
              <a:t>20 minutes</a:t>
            </a:r>
          </a:p>
          <a:p>
            <a:pPr marL="0" indent="0" algn="ctr">
              <a:spcBef>
                <a:spcPts val="0"/>
              </a:spcBef>
              <a:spcAft>
                <a:spcPts val="0"/>
              </a:spcAft>
              <a:buNone/>
            </a:pPr>
            <a:r>
              <a:rPr lang="en-GB" sz="1300" b="0" i="0" dirty="0">
                <a:solidFill>
                  <a:srgbClr val="1A1A1A"/>
                </a:solidFill>
              </a:rPr>
              <a:t>of work per order</a:t>
            </a:r>
          </a:p>
        </p:txBody>
      </p:sp>
      <p:sp>
        <p:nvSpPr>
          <p:cNvPr id="843" name="ZT"/>
          <p:cNvSpPr/>
          <p:nvPr/>
        </p:nvSpPr>
        <p:spPr>
          <a:xfrm>
            <a:off x="274320" y="3749040"/>
            <a:ext cx="8595360" cy="54864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550" b="1" i="0" dirty="0">
                <a:solidFill>
                  <a:srgbClr val="C2410C"/>
                </a:solidFill>
              </a:rPr>
              <a:t>Question: </a:t>
            </a:r>
            <a:r>
              <a:rPr lang="en-GB" sz="1550" b="0" i="0" dirty="0">
                <a:solidFill>
                  <a:srgbClr val="1A1A1A"/>
                </a:solidFill>
              </a:rPr>
              <a:t>what is the throughput efficiency of Zucchero’s order process?</a:t>
            </a:r>
          </a:p>
        </p:txBody>
      </p:sp>
    </p:spTree>
    <p:extLst>
      <p:ext uri="{BB962C8B-B14F-4D97-AF65-F5344CB8AC3E}">
        <p14:creationId xmlns:p14="http://schemas.microsoft.com/office/powerpoint/2010/main" val="36513543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Solution: Zucchero Mail Order</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31</a:t>
            </a:fld>
            <a:endParaRPr lang="en"/>
          </a:p>
        </p:txBody>
      </p:sp>
      <p:sp>
        <p:nvSpPr>
          <p:cNvPr id="844" name="Chip"/>
          <p:cNvSpPr/>
          <p:nvPr/>
        </p:nvSpPr>
        <p:spPr>
          <a:xfrm>
            <a:off x="274320" y="914400"/>
            <a:ext cx="987552" cy="292608"/>
          </a:xfrm>
          <a:prstGeom prst="roundRect">
            <a:avLst>
              <a:gd name="adj" fmla="val 12000"/>
            </a:avLst>
          </a:prstGeom>
          <a:solidFill>
            <a:srgbClr val="0B7A75"/>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SOLUTION</a:t>
            </a:r>
          </a:p>
        </p:txBody>
      </p:sp>
      <p:sp>
        <p:nvSpPr>
          <p:cNvPr id="845" name="ZS0"/>
          <p:cNvSpPr/>
          <p:nvPr/>
        </p:nvSpPr>
        <p:spPr>
          <a:xfrm>
            <a:off x="274320" y="1280160"/>
            <a:ext cx="2468880" cy="822960"/>
          </a:xfrm>
          <a:prstGeom prst="roundRect">
            <a:avLst>
              <a:gd name="adj" fmla="val 12000"/>
            </a:avLst>
          </a:prstGeom>
          <a:solidFill>
            <a:srgbClr val="0B7A75"/>
          </a:solidFill>
          <a:ln>
            <a:noFill/>
          </a:ln>
        </p:spPr>
        <p:txBody>
          <a:bodyPr wrap="square" lIns="109728" tIns="109728" rIns="109728" bIns="109728" anchor="ctr">
            <a:noAutofit/>
          </a:bodyPr>
          <a:lstStyle/>
          <a:p>
            <a:pPr marL="0" indent="0" algn="l">
              <a:spcBef>
                <a:spcPts val="0"/>
              </a:spcBef>
              <a:spcAft>
                <a:spcPts val="0"/>
              </a:spcAft>
              <a:buNone/>
            </a:pPr>
            <a:r>
              <a:rPr lang="en-GB" sz="1400" b="1" i="0" dirty="0">
                <a:solidFill>
                  <a:srgbClr val="FFFFFF"/>
                </a:solidFill>
              </a:rPr>
              <a:t>Step 1: Cycle time</a:t>
            </a:r>
          </a:p>
        </p:txBody>
      </p:sp>
      <p:sp>
        <p:nvSpPr>
          <p:cNvPr id="846" name="ZW0"/>
          <p:cNvSpPr/>
          <p:nvPr/>
        </p:nvSpPr>
        <p:spPr>
          <a:xfrm>
            <a:off x="2834640" y="1280160"/>
            <a:ext cx="6035040" cy="822960"/>
          </a:xfrm>
          <a:prstGeom prst="roundRect">
            <a:avLst>
              <a:gd name="adj" fmla="val 12000"/>
            </a:avLst>
          </a:prstGeom>
          <a:solidFill>
            <a:srgbClr val="FFFFFF"/>
          </a:solidFill>
          <a:ln w="12700">
            <a:solidFill>
              <a:srgbClr val="D5D0DE"/>
            </a:solidFill>
          </a:ln>
        </p:spPr>
        <p:txBody>
          <a:bodyPr wrap="square" lIns="128016" tIns="128016" rIns="128016" bIns="128016" anchor="ctr">
            <a:noAutofit/>
          </a:bodyPr>
          <a:lstStyle/>
          <a:p>
            <a:pPr marL="0" indent="0" algn="l">
              <a:spcBef>
                <a:spcPts val="0"/>
              </a:spcBef>
              <a:spcAft>
                <a:spcPts val="120"/>
              </a:spcAft>
              <a:buNone/>
            </a:pPr>
            <a:r>
              <a:rPr lang="en-GB" sz="1400" b="1" i="0" dirty="0">
                <a:solidFill>
                  <a:srgbClr val="0B7A75"/>
                </a:solidFill>
              </a:rPr>
              <a:t>Cycle time = Processing time ÷ Number processed</a:t>
            </a:r>
          </a:p>
          <a:p>
            <a:pPr marL="0" indent="0" algn="l">
              <a:spcBef>
                <a:spcPts val="0"/>
              </a:spcBef>
              <a:spcAft>
                <a:spcPts val="0"/>
              </a:spcAft>
              <a:buNone/>
            </a:pPr>
            <a:r>
              <a:rPr lang="en-GB" sz="1550" b="1" i="0" dirty="0">
                <a:solidFill>
                  <a:srgbClr val="1A1A1A"/>
                </a:solidFill>
              </a:rPr>
              <a:t>= 480 minutes ÷ 150 orders = 3.2 minutes per order</a:t>
            </a:r>
          </a:p>
        </p:txBody>
      </p:sp>
      <p:sp>
        <p:nvSpPr>
          <p:cNvPr id="847" name="ZS1"/>
          <p:cNvSpPr/>
          <p:nvPr/>
        </p:nvSpPr>
        <p:spPr>
          <a:xfrm>
            <a:off x="274320" y="2194560"/>
            <a:ext cx="2468880" cy="822960"/>
          </a:xfrm>
          <a:prstGeom prst="roundRect">
            <a:avLst>
              <a:gd name="adj" fmla="val 12000"/>
            </a:avLst>
          </a:prstGeom>
          <a:solidFill>
            <a:srgbClr val="0B7A75"/>
          </a:solidFill>
          <a:ln>
            <a:noFill/>
          </a:ln>
        </p:spPr>
        <p:txBody>
          <a:bodyPr wrap="square" lIns="109728" tIns="109728" rIns="109728" bIns="109728" anchor="ctr">
            <a:noAutofit/>
          </a:bodyPr>
          <a:lstStyle/>
          <a:p>
            <a:pPr marL="0" indent="0" algn="l">
              <a:spcBef>
                <a:spcPts val="0"/>
              </a:spcBef>
              <a:spcAft>
                <a:spcPts val="0"/>
              </a:spcAft>
              <a:buNone/>
            </a:pPr>
            <a:r>
              <a:rPr lang="en-GB" sz="1400" b="1" i="0" dirty="0">
                <a:solidFill>
                  <a:srgbClr val="FFFFFF"/>
                </a:solidFill>
              </a:rPr>
              <a:t>Step 2: Throughput time (Little’s Law)</a:t>
            </a:r>
          </a:p>
        </p:txBody>
      </p:sp>
      <p:sp>
        <p:nvSpPr>
          <p:cNvPr id="848" name="ZW1"/>
          <p:cNvSpPr/>
          <p:nvPr/>
        </p:nvSpPr>
        <p:spPr>
          <a:xfrm>
            <a:off x="2834640" y="2194560"/>
            <a:ext cx="6035040" cy="822960"/>
          </a:xfrm>
          <a:prstGeom prst="roundRect">
            <a:avLst>
              <a:gd name="adj" fmla="val 12000"/>
            </a:avLst>
          </a:prstGeom>
          <a:solidFill>
            <a:srgbClr val="FFFFFF"/>
          </a:solidFill>
          <a:ln w="12700">
            <a:solidFill>
              <a:srgbClr val="D5D0DE"/>
            </a:solidFill>
          </a:ln>
        </p:spPr>
        <p:txBody>
          <a:bodyPr wrap="square" lIns="128016" tIns="128016" rIns="128016" bIns="128016" anchor="ctr">
            <a:noAutofit/>
          </a:bodyPr>
          <a:lstStyle/>
          <a:p>
            <a:pPr marL="0" indent="0" algn="l">
              <a:spcBef>
                <a:spcPts val="0"/>
              </a:spcBef>
              <a:spcAft>
                <a:spcPts val="120"/>
              </a:spcAft>
              <a:buNone/>
            </a:pPr>
            <a:r>
              <a:rPr lang="en-GB" sz="1400" b="1" i="0" dirty="0">
                <a:solidFill>
                  <a:srgbClr val="0B7A75"/>
                </a:solidFill>
              </a:rPr>
              <a:t>Throughput time = WIP × Cycle time</a:t>
            </a:r>
          </a:p>
          <a:p>
            <a:pPr marL="0" indent="0" algn="l">
              <a:spcBef>
                <a:spcPts val="0"/>
              </a:spcBef>
              <a:spcAft>
                <a:spcPts val="0"/>
              </a:spcAft>
              <a:buNone/>
            </a:pPr>
            <a:r>
              <a:rPr lang="en-GB" sz="1550" b="1" i="0" dirty="0">
                <a:solidFill>
                  <a:srgbClr val="1A1A1A"/>
                </a:solidFill>
              </a:rPr>
              <a:t>= 225 × 3.2 = 720 minutes (12 hours)</a:t>
            </a:r>
          </a:p>
        </p:txBody>
      </p:sp>
      <p:sp>
        <p:nvSpPr>
          <p:cNvPr id="849" name="ZS2"/>
          <p:cNvSpPr/>
          <p:nvPr/>
        </p:nvSpPr>
        <p:spPr>
          <a:xfrm>
            <a:off x="274320" y="3108960"/>
            <a:ext cx="2468880" cy="822960"/>
          </a:xfrm>
          <a:prstGeom prst="roundRect">
            <a:avLst>
              <a:gd name="adj" fmla="val 12000"/>
            </a:avLst>
          </a:prstGeom>
          <a:solidFill>
            <a:srgbClr val="0B7A75"/>
          </a:solidFill>
          <a:ln>
            <a:noFill/>
          </a:ln>
        </p:spPr>
        <p:txBody>
          <a:bodyPr wrap="square" lIns="109728" tIns="109728" rIns="109728" bIns="109728" anchor="ctr">
            <a:noAutofit/>
          </a:bodyPr>
          <a:lstStyle/>
          <a:p>
            <a:pPr marL="0" indent="0" algn="l">
              <a:spcBef>
                <a:spcPts val="0"/>
              </a:spcBef>
              <a:spcAft>
                <a:spcPts val="0"/>
              </a:spcAft>
              <a:buNone/>
            </a:pPr>
            <a:r>
              <a:rPr lang="en-GB" sz="1400" b="1" i="0" dirty="0">
                <a:solidFill>
                  <a:srgbClr val="FFFFFF"/>
                </a:solidFill>
              </a:rPr>
              <a:t>Step 3: Throughput efficiency</a:t>
            </a:r>
          </a:p>
        </p:txBody>
      </p:sp>
      <p:sp>
        <p:nvSpPr>
          <p:cNvPr id="850" name="ZW2"/>
          <p:cNvSpPr/>
          <p:nvPr/>
        </p:nvSpPr>
        <p:spPr>
          <a:xfrm>
            <a:off x="2834640" y="3108960"/>
            <a:ext cx="6035040" cy="822960"/>
          </a:xfrm>
          <a:prstGeom prst="roundRect">
            <a:avLst>
              <a:gd name="adj" fmla="val 12000"/>
            </a:avLst>
          </a:prstGeom>
          <a:solidFill>
            <a:srgbClr val="FFFFFF"/>
          </a:solidFill>
          <a:ln w="12700">
            <a:solidFill>
              <a:srgbClr val="D5D0DE"/>
            </a:solidFill>
          </a:ln>
        </p:spPr>
        <p:txBody>
          <a:bodyPr wrap="square" lIns="128016" tIns="128016" rIns="128016" bIns="128016" anchor="ctr">
            <a:noAutofit/>
          </a:bodyPr>
          <a:lstStyle/>
          <a:p>
            <a:pPr marL="0" indent="0" algn="l">
              <a:spcBef>
                <a:spcPts val="0"/>
              </a:spcBef>
              <a:spcAft>
                <a:spcPts val="120"/>
              </a:spcAft>
              <a:buNone/>
            </a:pPr>
            <a:r>
              <a:rPr lang="en-GB" sz="1400" b="1" i="0" dirty="0">
                <a:solidFill>
                  <a:srgbClr val="0B7A75"/>
                </a:solidFill>
              </a:rPr>
              <a:t>Throughput efficiency = Work content ÷ Throughput time × 100</a:t>
            </a:r>
          </a:p>
          <a:p>
            <a:pPr marL="0" indent="0" algn="l">
              <a:spcBef>
                <a:spcPts val="0"/>
              </a:spcBef>
              <a:spcAft>
                <a:spcPts val="0"/>
              </a:spcAft>
              <a:buNone/>
            </a:pPr>
            <a:r>
              <a:rPr lang="en-GB" sz="1550" b="1" i="0" dirty="0">
                <a:solidFill>
                  <a:srgbClr val="1A1A1A"/>
                </a:solidFill>
              </a:rPr>
              <a:t>= 20 ÷ 720 × 100 = 2.78%</a:t>
            </a:r>
          </a:p>
        </p:txBody>
      </p:sp>
      <p:sp>
        <p:nvSpPr>
          <p:cNvPr id="851" name="ZI"/>
          <p:cNvSpPr/>
          <p:nvPr/>
        </p:nvSpPr>
        <p:spPr>
          <a:xfrm>
            <a:off x="274320" y="4069080"/>
            <a:ext cx="8595360" cy="548640"/>
          </a:xfrm>
          <a:prstGeom prst="roundRect">
            <a:avLst>
              <a:gd name="adj" fmla="val 12000"/>
            </a:avLst>
          </a:prstGeom>
          <a:solidFill>
            <a:srgbClr val="FCE3D6"/>
          </a:solidFill>
          <a:ln>
            <a:noFill/>
          </a:ln>
        </p:spPr>
        <p:txBody>
          <a:bodyPr wrap="square" lIns="128016" tIns="128016" rIns="128016" bIns="128016" anchor="ctr">
            <a:noAutofit/>
          </a:bodyPr>
          <a:lstStyle/>
          <a:p>
            <a:pPr marL="0" indent="0" algn="l">
              <a:spcBef>
                <a:spcPts val="0"/>
              </a:spcBef>
              <a:spcAft>
                <a:spcPts val="0"/>
              </a:spcAft>
              <a:buNone/>
            </a:pPr>
            <a:r>
              <a:rPr lang="en-GB" sz="1450" b="1" i="0" dirty="0">
                <a:solidFill>
                  <a:srgbClr val="C2410C"/>
                </a:solidFill>
              </a:rPr>
              <a:t>Interpretation: </a:t>
            </a:r>
            <a:r>
              <a:rPr lang="en-GB" sz="1450" b="0" i="0" dirty="0">
                <a:solidFill>
                  <a:srgbClr val="1A1A1A"/>
                </a:solidFill>
              </a:rPr>
              <a:t>over 97% of the time an order spends in the system, nobody is working on it.</a:t>
            </a:r>
          </a:p>
        </p:txBody>
      </p:sp>
    </p:spTree>
    <p:extLst>
      <p:ext uri="{BB962C8B-B14F-4D97-AF65-F5344CB8AC3E}">
        <p14:creationId xmlns:p14="http://schemas.microsoft.com/office/powerpoint/2010/main" val="36513543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Why Is Throughput Efficiency Low?</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32</a:t>
            </a:fld>
            <a:endParaRPr lang="en"/>
          </a:p>
        </p:txBody>
      </p:sp>
      <p:sp>
        <p:nvSpPr>
          <p:cNvPr id="605" name="C0Lean"/>
          <p:cNvSpPr/>
          <p:nvPr/>
        </p:nvSpPr>
        <p:spPr>
          <a:xfrm>
            <a:off x="274320" y="105156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Lean</a:t>
            </a:r>
          </a:p>
          <a:p>
            <a:pPr marL="0" indent="0" algn="l">
              <a:spcBef>
                <a:spcPts val="0"/>
              </a:spcBef>
              <a:spcAft>
                <a:spcPts val="0"/>
              </a:spcAft>
              <a:buNone/>
            </a:pPr>
            <a:r>
              <a:rPr lang="en-GB" sz="1700" b="0" i="0" dirty="0">
                <a:solidFill>
                  <a:srgbClr val="1A1A1A"/>
                </a:solidFill>
              </a:rPr>
              <a:t>Waiting, handoffs, movement and rework.</a:t>
            </a:r>
          </a:p>
        </p:txBody>
      </p:sp>
      <p:sp>
        <p:nvSpPr>
          <p:cNvPr id="606" name="C1Theory"/>
          <p:cNvSpPr/>
          <p:nvPr/>
        </p:nvSpPr>
        <p:spPr>
          <a:xfrm>
            <a:off x="4649724" y="105156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Theory of Constraints</a:t>
            </a:r>
          </a:p>
          <a:p>
            <a:pPr marL="0" indent="0" algn="l">
              <a:spcBef>
                <a:spcPts val="0"/>
              </a:spcBef>
              <a:spcAft>
                <a:spcPts val="0"/>
              </a:spcAft>
              <a:buNone/>
            </a:pPr>
            <a:r>
              <a:rPr lang="en-GB" sz="1700" b="0" i="0" dirty="0">
                <a:solidFill>
                  <a:srgbClr val="1A1A1A"/>
                </a:solidFill>
              </a:rPr>
              <a:t>A bottleneck restricts flow.</a:t>
            </a:r>
          </a:p>
        </p:txBody>
      </p:sp>
      <p:sp>
        <p:nvSpPr>
          <p:cNvPr id="607" name="C2Queuei"/>
          <p:cNvSpPr/>
          <p:nvPr/>
        </p:nvSpPr>
        <p:spPr>
          <a:xfrm>
            <a:off x="274320" y="246888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Queueing theory</a:t>
            </a:r>
          </a:p>
          <a:p>
            <a:pPr marL="0" indent="0" algn="l">
              <a:spcBef>
                <a:spcPts val="0"/>
              </a:spcBef>
              <a:spcAft>
                <a:spcPts val="0"/>
              </a:spcAft>
              <a:buNone/>
            </a:pPr>
            <a:r>
              <a:rPr lang="en-GB" sz="1700" b="0" i="0" dirty="0">
                <a:solidFill>
                  <a:srgbClr val="1A1A1A"/>
                </a:solidFill>
              </a:rPr>
              <a:t>Variability and high utilisation create queues.</a:t>
            </a:r>
          </a:p>
        </p:txBody>
      </p:sp>
      <p:sp>
        <p:nvSpPr>
          <p:cNvPr id="608" name="C3Little"/>
          <p:cNvSpPr/>
          <p:nvPr/>
        </p:nvSpPr>
        <p:spPr>
          <a:xfrm>
            <a:off x="4649724" y="246888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Little’s Law</a:t>
            </a:r>
          </a:p>
          <a:p>
            <a:pPr marL="0" indent="0" algn="l">
              <a:spcBef>
                <a:spcPts val="0"/>
              </a:spcBef>
              <a:spcAft>
                <a:spcPts val="0"/>
              </a:spcAft>
              <a:buNone/>
            </a:pPr>
            <a:r>
              <a:rPr lang="en-GB" sz="1700" b="0" i="0" dirty="0">
                <a:solidFill>
                  <a:srgbClr val="1A1A1A"/>
                </a:solidFill>
              </a:rPr>
              <a:t>More WIP means longer throughput time.</a:t>
            </a:r>
          </a:p>
        </p:txBody>
      </p:sp>
      <p:sp>
        <p:nvSpPr>
          <p:cNvPr id="609" name="Note"/>
          <p:cNvSpPr/>
          <p:nvPr/>
        </p:nvSpPr>
        <p:spPr>
          <a:xfrm>
            <a:off x="274320" y="3886200"/>
            <a:ext cx="8595360" cy="502920"/>
          </a:xfrm>
          <a:prstGeom prst="roundRect">
            <a:avLst>
              <a:gd name="adj" fmla="val 12000"/>
            </a:avLst>
          </a:prstGeom>
          <a:solidFill>
            <a:srgbClr val="FFFFFF"/>
          </a:solidFill>
          <a:ln w="25400">
            <a:solidFill>
              <a:srgbClr val="0B7A75"/>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0B7A75"/>
                </a:solidFill>
              </a:rPr>
              <a:t>Use them together:  </a:t>
            </a:r>
            <a:r>
              <a:rPr lang="en-GB" sz="1600" b="0" i="0" dirty="0">
                <a:solidFill>
                  <a:srgbClr val="1A1A1A"/>
                </a:solidFill>
              </a:rPr>
              <a:t>each explains part of the delay.</a:t>
            </a:r>
          </a:p>
        </p:txBody>
      </p:sp>
    </p:spTree>
    <p:extLst>
      <p:ext uri="{BB962C8B-B14F-4D97-AF65-F5344CB8AC3E}">
        <p14:creationId xmlns:p14="http://schemas.microsoft.com/office/powerpoint/2010/main" val="3651354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High Utilisation Increases Waiting</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33</a:t>
            </a:fld>
            <a:endParaRPr lang="en"/>
          </a:p>
        </p:txBody>
      </p:sp>
      <p:sp>
        <p:nvSpPr>
          <p:cNvPr id="610" name="Strip"/>
          <p:cNvSpPr/>
          <p:nvPr/>
        </p:nvSpPr>
        <p:spPr>
          <a:xfrm>
            <a:off x="274320" y="1051560"/>
            <a:ext cx="8595360" cy="731520"/>
          </a:xfrm>
          <a:prstGeom prst="roundRect">
            <a:avLst>
              <a:gd name="adj" fmla="val 12000"/>
            </a:avLst>
          </a:prstGeom>
          <a:solidFill>
            <a:srgbClr val="D5EFEC"/>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0B7A75"/>
                </a:solidFill>
              </a:rPr>
              <a:t>A fully occupied server has no spare capacity to absorb variable arrivals.</a:t>
            </a:r>
          </a:p>
        </p:txBody>
      </p:sp>
      <p:sp>
        <p:nvSpPr>
          <p:cNvPr id="611" name="C0Looks "/>
          <p:cNvSpPr/>
          <p:nvPr/>
        </p:nvSpPr>
        <p:spPr>
          <a:xfrm>
            <a:off x="274320" y="1920240"/>
            <a:ext cx="4219956" cy="132588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Looks good</a:t>
            </a:r>
          </a:p>
          <a:p>
            <a:pPr marL="0" indent="0" algn="l">
              <a:spcBef>
                <a:spcPts val="0"/>
              </a:spcBef>
              <a:spcAft>
                <a:spcPts val="0"/>
              </a:spcAft>
              <a:buNone/>
            </a:pPr>
            <a:r>
              <a:rPr lang="en-GB" sz="1700" b="0" i="0" dirty="0">
                <a:solidFill>
                  <a:srgbClr val="1A1A1A"/>
                </a:solidFill>
              </a:rPr>
              <a:t>Higher utilisation raises apparent labour efficiency.</a:t>
            </a:r>
          </a:p>
        </p:txBody>
      </p:sp>
      <p:sp>
        <p:nvSpPr>
          <p:cNvPr id="612" name="C1Feels "/>
          <p:cNvSpPr/>
          <p:nvPr/>
        </p:nvSpPr>
        <p:spPr>
          <a:xfrm>
            <a:off x="4649724" y="1920240"/>
            <a:ext cx="4219956" cy="132588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0B7A75"/>
                </a:solidFill>
              </a:rPr>
              <a:t>Feels bad</a:t>
            </a:r>
          </a:p>
          <a:p>
            <a:pPr marL="0" indent="0" algn="l">
              <a:spcBef>
                <a:spcPts val="0"/>
              </a:spcBef>
              <a:spcAft>
                <a:spcPts val="0"/>
              </a:spcAft>
              <a:buNone/>
            </a:pPr>
            <a:r>
              <a:rPr lang="en-GB" sz="1700" b="0" i="0" dirty="0">
                <a:solidFill>
                  <a:srgbClr val="1A1A1A"/>
                </a:solidFill>
              </a:rPr>
              <a:t>Queues grow sharply as utilisation nears 100%.</a:t>
            </a:r>
          </a:p>
        </p:txBody>
      </p:sp>
      <p:sp>
        <p:nvSpPr>
          <p:cNvPr id="613" name="Note"/>
          <p:cNvSpPr/>
          <p:nvPr/>
        </p:nvSpPr>
        <p:spPr>
          <a:xfrm>
            <a:off x="274320" y="3474720"/>
            <a:ext cx="8595360" cy="594360"/>
          </a:xfrm>
          <a:prstGeom prst="roundRect">
            <a:avLst>
              <a:gd name="adj" fmla="val 12000"/>
            </a:avLst>
          </a:prstGeom>
          <a:solidFill>
            <a:srgbClr val="FFFFFF"/>
          </a:solidFill>
          <a:ln w="25400">
            <a:solidFill>
              <a:srgbClr val="0B7A75"/>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0B7A75"/>
                </a:solidFill>
              </a:rPr>
              <a:t>Link to Week 2:  </a:t>
            </a:r>
            <a:r>
              <a:rPr lang="en-GB" sz="1600" b="0" i="0" dirty="0">
                <a:solidFill>
                  <a:srgbClr val="1A1A1A"/>
                </a:solidFill>
              </a:rPr>
              <a:t>Kingman’s curve. Keep a capacity buffer.</a:t>
            </a:r>
          </a:p>
        </p:txBody>
      </p:sp>
    </p:spTree>
    <p:extLst>
      <p:ext uri="{BB962C8B-B14F-4D97-AF65-F5344CB8AC3E}">
        <p14:creationId xmlns:p14="http://schemas.microsoft.com/office/powerpoint/2010/main" val="3651354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DEB11151-FC92-AF20-B286-F76058A19E9C}"/>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BF46BE91-6874-F99D-2490-DC27A768795E}"/>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Part 3</a:t>
            </a:r>
          </a:p>
        </p:txBody>
      </p:sp>
      <p:sp>
        <p:nvSpPr>
          <p:cNvPr id="80" name="Google Shape;80;p16">
            <a:extLst>
              <a:ext uri="{FF2B5EF4-FFF2-40B4-BE49-F238E27FC236}">
                <a16:creationId xmlns:a16="http://schemas.microsoft.com/office/drawing/2014/main" id="{E6AE1684-9E4A-6EB7-AC17-41DFC93E30C8}"/>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34</a:t>
            </a:fld>
            <a:endParaRPr lang="en"/>
          </a:p>
        </p:txBody>
      </p:sp>
      <p:sp>
        <p:nvSpPr>
          <p:cNvPr id="522" name="DB">
            <a:extLst>
              <a:ext uri="{FF2B5EF4-FFF2-40B4-BE49-F238E27FC236}">
                <a16:creationId xmlns:a16="http://schemas.microsoft.com/office/drawing/2014/main" id="{658CACF7-5382-CE2A-6B42-91959963D281}"/>
              </a:ext>
            </a:extLst>
          </p:cNvPr>
          <p:cNvSpPr/>
          <p:nvPr/>
        </p:nvSpPr>
        <p:spPr>
          <a:xfrm>
            <a:off x="274320" y="1280160"/>
            <a:ext cx="8595360" cy="1188720"/>
          </a:xfrm>
          <a:prstGeom prst="roundRect">
            <a:avLst>
              <a:gd name="adj" fmla="val 12000"/>
            </a:avLst>
          </a:prstGeom>
          <a:solidFill>
            <a:srgbClr val="C2410C"/>
          </a:solidFill>
          <a:ln>
            <a:noFill/>
          </a:ln>
        </p:spPr>
        <p:txBody>
          <a:bodyPr wrap="square" lIns="274320" tIns="274320" rIns="274320" bIns="274320" anchor="ctr">
            <a:noAutofit/>
          </a:bodyPr>
          <a:lstStyle/>
          <a:p>
            <a:pPr marL="0" indent="0" algn="l">
              <a:spcBef>
                <a:spcPts val="0"/>
              </a:spcBef>
              <a:spcAft>
                <a:spcPts val="150"/>
              </a:spcAft>
              <a:buNone/>
            </a:pPr>
            <a:r>
              <a:rPr lang="en-GB" sz="1400" b="1" i="0" dirty="0">
                <a:solidFill>
                  <a:srgbClr val="FFFFFF"/>
                </a:solidFill>
              </a:rPr>
              <a:t>PART 3</a:t>
            </a:r>
          </a:p>
          <a:p>
            <a:pPr marL="0" indent="0" algn="l">
              <a:spcBef>
                <a:spcPts val="0"/>
              </a:spcBef>
              <a:spcAft>
                <a:spcPts val="0"/>
              </a:spcAft>
              <a:buNone/>
            </a:pPr>
            <a:r>
              <a:rPr lang="en-GB" sz="2800" b="1" i="0" dirty="0">
                <a:solidFill>
                  <a:srgbClr val="FFFFFF"/>
                </a:solidFill>
              </a:rPr>
              <a:t>Service Failure and Sabotage</a:t>
            </a:r>
          </a:p>
        </p:txBody>
      </p:sp>
      <p:sp>
        <p:nvSpPr>
          <p:cNvPr id="523" name="Strip">
            <a:extLst>
              <a:ext uri="{FF2B5EF4-FFF2-40B4-BE49-F238E27FC236}">
                <a16:creationId xmlns:a16="http://schemas.microsoft.com/office/drawing/2014/main" id="{1149C8B6-9B16-D87F-D19C-103A5FCFEB64}"/>
              </a:ext>
            </a:extLst>
          </p:cNvPr>
          <p:cNvSpPr/>
          <p:nvPr/>
        </p:nvSpPr>
        <p:spPr>
          <a:xfrm>
            <a:off x="274320" y="2651760"/>
            <a:ext cx="8595360" cy="73152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700" b="1" i="0" dirty="0">
                <a:solidFill>
                  <a:srgbClr val="C2410C"/>
                </a:solidFill>
              </a:rPr>
              <a:t>Key question: </a:t>
            </a:r>
            <a:r>
              <a:rPr lang="en-GB" sz="1700" b="0" i="0" dirty="0">
                <a:solidFill>
                  <a:srgbClr val="1A1A1A"/>
                </a:solidFill>
              </a:rPr>
              <a:t>why do services fail, and what should managers do?</a:t>
            </a:r>
          </a:p>
        </p:txBody>
      </p:sp>
    </p:spTree>
    <p:extLst>
      <p:ext uri="{BB962C8B-B14F-4D97-AF65-F5344CB8AC3E}">
        <p14:creationId xmlns:p14="http://schemas.microsoft.com/office/powerpoint/2010/main" val="40337035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What Is Service Failure?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35</a:t>
            </a:fld>
            <a:endParaRPr lang="en"/>
          </a:p>
        </p:txBody>
      </p:sp>
      <p:sp>
        <p:nvSpPr>
          <p:cNvPr id="619" name="Strip"/>
          <p:cNvSpPr/>
          <p:nvPr/>
        </p:nvSpPr>
        <p:spPr>
          <a:xfrm>
            <a:off x="274320" y="1051560"/>
            <a:ext cx="8595360" cy="868680"/>
          </a:xfrm>
          <a:prstGeom prst="roundRect">
            <a:avLst>
              <a:gd name="adj" fmla="val 12000"/>
            </a:avLst>
          </a:prstGeom>
          <a:solidFill>
            <a:srgbClr val="FCE3D6"/>
          </a:solidFill>
          <a:ln>
            <a:noFill/>
          </a:ln>
        </p:spPr>
        <p:txBody>
          <a:bodyPr wrap="square" lIns="128016" tIns="128016" rIns="128016" bIns="128016" anchor="ctr">
            <a:noAutofit/>
          </a:bodyPr>
          <a:lstStyle/>
          <a:p>
            <a:pPr marL="0" indent="0" algn="l">
              <a:spcBef>
                <a:spcPts val="0"/>
              </a:spcBef>
              <a:spcAft>
                <a:spcPts val="0"/>
              </a:spcAft>
              <a:buNone/>
            </a:pPr>
            <a:r>
              <a:rPr lang="en-GB" sz="1700" b="1" i="0" dirty="0">
                <a:solidFill>
                  <a:srgbClr val="C2410C"/>
                </a:solidFill>
              </a:rPr>
              <a:t>Service failure: </a:t>
            </a:r>
            <a:r>
              <a:rPr lang="en-GB" sz="1700" b="0" i="0" dirty="0">
                <a:solidFill>
                  <a:srgbClr val="1A1A1A"/>
                </a:solidFill>
              </a:rPr>
              <a:t>service delivery falls short of a required, promised or expected standard.</a:t>
            </a:r>
          </a:p>
        </p:txBody>
      </p:sp>
      <p:sp>
        <p:nvSpPr>
          <p:cNvPr id="620" name="C0Operat"/>
          <p:cNvSpPr/>
          <p:nvPr/>
        </p:nvSpPr>
        <p:spPr>
          <a:xfrm>
            <a:off x="274320" y="2103120"/>
            <a:ext cx="4219956" cy="14173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Operational symptoms</a:t>
            </a:r>
          </a:p>
          <a:p>
            <a:pPr marL="0" indent="0" algn="l">
              <a:spcBef>
                <a:spcPts val="0"/>
              </a:spcBef>
              <a:spcAft>
                <a:spcPts val="0"/>
              </a:spcAft>
              <a:buNone/>
            </a:pPr>
            <a:r>
              <a:rPr lang="en-GB" sz="1700" b="0" i="0" dirty="0">
                <a:solidFill>
                  <a:srgbClr val="1A1A1A"/>
                </a:solidFill>
              </a:rPr>
              <a:t>Delays, errors, outages, lost orders.</a:t>
            </a:r>
          </a:p>
        </p:txBody>
      </p:sp>
      <p:sp>
        <p:nvSpPr>
          <p:cNvPr id="621" name="C1Custom"/>
          <p:cNvSpPr/>
          <p:nvPr/>
        </p:nvSpPr>
        <p:spPr>
          <a:xfrm>
            <a:off x="4649724" y="2103120"/>
            <a:ext cx="4219956" cy="14173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Customer consequences</a:t>
            </a:r>
          </a:p>
          <a:p>
            <a:pPr marL="0" indent="0" algn="l">
              <a:spcBef>
                <a:spcPts val="0"/>
              </a:spcBef>
              <a:spcAft>
                <a:spcPts val="0"/>
              </a:spcAft>
              <a:buNone/>
            </a:pPr>
            <a:r>
              <a:rPr lang="en-GB" sz="1700" b="0" i="0" dirty="0">
                <a:solidFill>
                  <a:srgbClr val="1A1A1A"/>
                </a:solidFill>
              </a:rPr>
              <a:t>Distrust, complaints and switching.</a:t>
            </a:r>
          </a:p>
        </p:txBody>
      </p:sp>
    </p:spTree>
    <p:extLst>
      <p:ext uri="{BB962C8B-B14F-4D97-AF65-F5344CB8AC3E}">
        <p14:creationId xmlns:p14="http://schemas.microsoft.com/office/powerpoint/2010/main" val="36513543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Service Failure Analysis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36</a:t>
            </a:fld>
            <a:endParaRPr lang="en"/>
          </a:p>
        </p:txBody>
      </p:sp>
      <p:sp>
        <p:nvSpPr>
          <p:cNvPr id="852" name="SD"/>
          <p:cNvSpPr/>
          <p:nvPr/>
        </p:nvSpPr>
        <p:spPr>
          <a:xfrm>
            <a:off x="274320" y="960120"/>
            <a:ext cx="8595360" cy="777240"/>
          </a:xfrm>
          <a:prstGeom prst="roundRect">
            <a:avLst>
              <a:gd name="adj" fmla="val 12000"/>
            </a:avLst>
          </a:prstGeom>
          <a:solidFill>
            <a:srgbClr val="FCE3D6"/>
          </a:solidFill>
          <a:ln>
            <a:noFill/>
          </a:ln>
        </p:spPr>
        <p:txBody>
          <a:bodyPr wrap="square" lIns="137160" tIns="137160" rIns="137160" bIns="137160" anchor="ctr">
            <a:noAutofit/>
          </a:bodyPr>
          <a:lstStyle/>
          <a:p>
            <a:pPr marL="0" indent="0" algn="l">
              <a:spcBef>
                <a:spcPts val="0"/>
              </a:spcBef>
              <a:spcAft>
                <a:spcPts val="0"/>
              </a:spcAft>
              <a:buNone/>
            </a:pPr>
            <a:r>
              <a:rPr lang="en-GB" sz="1600" b="1" i="0" dirty="0">
                <a:solidFill>
                  <a:srgbClr val="C2410C"/>
                </a:solidFill>
              </a:rPr>
              <a:t>Service failure analysis </a:t>
            </a:r>
            <a:r>
              <a:rPr lang="en-GB" sz="1600" b="0" i="0" dirty="0">
                <a:solidFill>
                  <a:srgbClr val="1A1A1A"/>
                </a:solidFill>
              </a:rPr>
              <a:t>is the systematic process of examining a service problem to understand:</a:t>
            </a:r>
          </a:p>
        </p:txBody>
      </p:sp>
      <p:sp>
        <p:nvSpPr>
          <p:cNvPr id="853" name="SQ0"/>
          <p:cNvSpPr/>
          <p:nvPr/>
        </p:nvSpPr>
        <p:spPr>
          <a:xfrm>
            <a:off x="274320" y="1874520"/>
            <a:ext cx="2057400" cy="1371600"/>
          </a:xfrm>
          <a:prstGeom prst="roundRect">
            <a:avLst>
              <a:gd name="adj" fmla="val 12000"/>
            </a:avLst>
          </a:prstGeom>
          <a:solidFill>
            <a:srgbClr val="C2410C"/>
          </a:solidFill>
          <a:ln>
            <a:noFill/>
          </a:ln>
        </p:spPr>
        <p:txBody>
          <a:bodyPr wrap="square" lIns="91440" tIns="91440" rIns="91440" bIns="91440" anchor="ctr">
            <a:noAutofit/>
          </a:bodyPr>
          <a:lstStyle/>
          <a:p>
            <a:pPr marL="0" indent="0" algn="ctr">
              <a:spcBef>
                <a:spcPts val="0"/>
              </a:spcBef>
              <a:spcAft>
                <a:spcPts val="100"/>
              </a:spcAft>
              <a:buNone/>
            </a:pPr>
            <a:r>
              <a:rPr lang="en-GB" sz="2400" b="1" i="0" dirty="0">
                <a:solidFill>
                  <a:srgbClr val="FFFFFF"/>
                </a:solidFill>
              </a:rPr>
              <a:t>1</a:t>
            </a:r>
          </a:p>
          <a:p>
            <a:pPr marL="0" indent="0" algn="ctr">
              <a:spcBef>
                <a:spcPts val="0"/>
              </a:spcBef>
              <a:spcAft>
                <a:spcPts val="100"/>
              </a:spcAft>
              <a:buNone/>
            </a:pPr>
            <a:r>
              <a:rPr lang="en-GB" sz="1500" b="1" i="0" dirty="0">
                <a:solidFill>
                  <a:srgbClr val="FFFFFF"/>
                </a:solidFill>
              </a:rPr>
              <a:t>What went wrong?</a:t>
            </a:r>
          </a:p>
          <a:p>
            <a:pPr marL="0" indent="0" algn="ctr">
              <a:spcBef>
                <a:spcPts val="0"/>
              </a:spcBef>
              <a:spcAft>
                <a:spcPts val="0"/>
              </a:spcAft>
              <a:buNone/>
            </a:pPr>
            <a:r>
              <a:rPr lang="en-GB" sz="1250" b="0" i="0" dirty="0">
                <a:solidFill>
                  <a:srgbClr val="FFFFFF"/>
                </a:solidFill>
              </a:rPr>
              <a:t>The failure itself</a:t>
            </a:r>
          </a:p>
        </p:txBody>
      </p:sp>
      <p:sp>
        <p:nvSpPr>
          <p:cNvPr id="854" name="SQ1"/>
          <p:cNvSpPr/>
          <p:nvPr/>
        </p:nvSpPr>
        <p:spPr>
          <a:xfrm>
            <a:off x="2441448" y="1874520"/>
            <a:ext cx="2057400" cy="1371600"/>
          </a:xfrm>
          <a:prstGeom prst="roundRect">
            <a:avLst>
              <a:gd name="adj" fmla="val 12000"/>
            </a:avLst>
          </a:prstGeom>
          <a:solidFill>
            <a:srgbClr val="C2410C"/>
          </a:solidFill>
          <a:ln>
            <a:noFill/>
          </a:ln>
        </p:spPr>
        <p:txBody>
          <a:bodyPr wrap="square" lIns="91440" tIns="91440" rIns="91440" bIns="91440" anchor="ctr">
            <a:noAutofit/>
          </a:bodyPr>
          <a:lstStyle/>
          <a:p>
            <a:pPr marL="0" indent="0" algn="ctr">
              <a:spcBef>
                <a:spcPts val="0"/>
              </a:spcBef>
              <a:spcAft>
                <a:spcPts val="100"/>
              </a:spcAft>
              <a:buNone/>
            </a:pPr>
            <a:r>
              <a:rPr lang="en-GB" sz="2400" b="1" i="0" dirty="0">
                <a:solidFill>
                  <a:srgbClr val="FFFFFF"/>
                </a:solidFill>
              </a:rPr>
              <a:t>2</a:t>
            </a:r>
          </a:p>
          <a:p>
            <a:pPr marL="0" indent="0" algn="ctr">
              <a:spcBef>
                <a:spcPts val="0"/>
              </a:spcBef>
              <a:spcAft>
                <a:spcPts val="100"/>
              </a:spcAft>
              <a:buNone/>
            </a:pPr>
            <a:r>
              <a:rPr lang="en-GB" sz="1500" b="1" i="0" dirty="0">
                <a:solidFill>
                  <a:srgbClr val="FFFFFF"/>
                </a:solidFill>
              </a:rPr>
              <a:t>Why did it happen?</a:t>
            </a:r>
          </a:p>
          <a:p>
            <a:pPr marL="0" indent="0" algn="ctr">
              <a:spcBef>
                <a:spcPts val="0"/>
              </a:spcBef>
              <a:spcAft>
                <a:spcPts val="0"/>
              </a:spcAft>
              <a:buNone/>
            </a:pPr>
            <a:r>
              <a:rPr lang="en-GB" sz="1250" b="0" i="0" dirty="0">
                <a:solidFill>
                  <a:srgbClr val="FFFFFF"/>
                </a:solidFill>
              </a:rPr>
              <a:t>The root cause</a:t>
            </a:r>
          </a:p>
        </p:txBody>
      </p:sp>
      <p:sp>
        <p:nvSpPr>
          <p:cNvPr id="855" name="SQ2"/>
          <p:cNvSpPr/>
          <p:nvPr/>
        </p:nvSpPr>
        <p:spPr>
          <a:xfrm>
            <a:off x="4608576" y="1874520"/>
            <a:ext cx="2057400" cy="1371600"/>
          </a:xfrm>
          <a:prstGeom prst="roundRect">
            <a:avLst>
              <a:gd name="adj" fmla="val 12000"/>
            </a:avLst>
          </a:prstGeom>
          <a:solidFill>
            <a:srgbClr val="C2410C"/>
          </a:solidFill>
          <a:ln>
            <a:noFill/>
          </a:ln>
        </p:spPr>
        <p:txBody>
          <a:bodyPr wrap="square" lIns="91440" tIns="91440" rIns="91440" bIns="91440" anchor="ctr">
            <a:noAutofit/>
          </a:bodyPr>
          <a:lstStyle/>
          <a:p>
            <a:pPr marL="0" indent="0" algn="ctr">
              <a:spcBef>
                <a:spcPts val="0"/>
              </a:spcBef>
              <a:spcAft>
                <a:spcPts val="100"/>
              </a:spcAft>
              <a:buNone/>
            </a:pPr>
            <a:r>
              <a:rPr lang="en-GB" sz="2400" b="1" i="0" dirty="0">
                <a:solidFill>
                  <a:srgbClr val="FFFFFF"/>
                </a:solidFill>
              </a:rPr>
              <a:t>3</a:t>
            </a:r>
          </a:p>
          <a:p>
            <a:pPr marL="0" indent="0" algn="ctr">
              <a:spcBef>
                <a:spcPts val="0"/>
              </a:spcBef>
              <a:spcAft>
                <a:spcPts val="100"/>
              </a:spcAft>
              <a:buNone/>
            </a:pPr>
            <a:r>
              <a:rPr lang="en-GB" sz="1500" b="1" i="0" dirty="0">
                <a:solidFill>
                  <a:srgbClr val="FFFFFF"/>
                </a:solidFill>
              </a:rPr>
              <a:t>What was the impact?</a:t>
            </a:r>
          </a:p>
          <a:p>
            <a:pPr marL="0" indent="0" algn="ctr">
              <a:spcBef>
                <a:spcPts val="0"/>
              </a:spcBef>
              <a:spcAft>
                <a:spcPts val="0"/>
              </a:spcAft>
              <a:buNone/>
            </a:pPr>
            <a:r>
              <a:rPr lang="en-GB" sz="1250" b="0" i="0" dirty="0">
                <a:solidFill>
                  <a:srgbClr val="FFFFFF"/>
                </a:solidFill>
              </a:rPr>
              <a:t>On customers and the business</a:t>
            </a:r>
          </a:p>
        </p:txBody>
      </p:sp>
      <p:sp>
        <p:nvSpPr>
          <p:cNvPr id="856" name="SQ3"/>
          <p:cNvSpPr/>
          <p:nvPr/>
        </p:nvSpPr>
        <p:spPr>
          <a:xfrm>
            <a:off x="6775704" y="1874520"/>
            <a:ext cx="2057400" cy="1371600"/>
          </a:xfrm>
          <a:prstGeom prst="roundRect">
            <a:avLst>
              <a:gd name="adj" fmla="val 12000"/>
            </a:avLst>
          </a:prstGeom>
          <a:solidFill>
            <a:srgbClr val="C2410C"/>
          </a:solidFill>
          <a:ln>
            <a:noFill/>
          </a:ln>
        </p:spPr>
        <p:txBody>
          <a:bodyPr wrap="square" lIns="91440" tIns="91440" rIns="91440" bIns="91440" anchor="ctr">
            <a:noAutofit/>
          </a:bodyPr>
          <a:lstStyle/>
          <a:p>
            <a:pPr marL="0" indent="0" algn="ctr">
              <a:spcBef>
                <a:spcPts val="0"/>
              </a:spcBef>
              <a:spcAft>
                <a:spcPts val="100"/>
              </a:spcAft>
              <a:buNone/>
            </a:pPr>
            <a:r>
              <a:rPr lang="en-GB" sz="2400" b="1" i="0" dirty="0">
                <a:solidFill>
                  <a:srgbClr val="FFFFFF"/>
                </a:solidFill>
              </a:rPr>
              <a:t>4</a:t>
            </a:r>
          </a:p>
          <a:p>
            <a:pPr marL="0" indent="0" algn="ctr">
              <a:spcBef>
                <a:spcPts val="0"/>
              </a:spcBef>
              <a:spcAft>
                <a:spcPts val="100"/>
              </a:spcAft>
              <a:buNone/>
            </a:pPr>
            <a:r>
              <a:rPr lang="en-GB" sz="1500" b="1" i="0" dirty="0">
                <a:solidFill>
                  <a:srgbClr val="FFFFFF"/>
                </a:solidFill>
              </a:rPr>
              <a:t>How can it be fixed?</a:t>
            </a:r>
          </a:p>
          <a:p>
            <a:pPr marL="0" indent="0" algn="ctr">
              <a:spcBef>
                <a:spcPts val="0"/>
              </a:spcBef>
              <a:spcAft>
                <a:spcPts val="0"/>
              </a:spcAft>
              <a:buNone/>
            </a:pPr>
            <a:r>
              <a:rPr lang="en-GB" sz="1250" b="0" i="0" dirty="0">
                <a:solidFill>
                  <a:srgbClr val="FFFFFF"/>
                </a:solidFill>
              </a:rPr>
              <a:t>Prevention and recovery</a:t>
            </a:r>
          </a:p>
        </p:txBody>
      </p:sp>
      <p:sp>
        <p:nvSpPr>
          <p:cNvPr id="857" name="SQq"/>
          <p:cNvSpPr/>
          <p:nvPr/>
        </p:nvSpPr>
        <p:spPr>
          <a:xfrm>
            <a:off x="274320" y="3429000"/>
            <a:ext cx="8595360" cy="685800"/>
          </a:xfrm>
          <a:prstGeom prst="roundRect">
            <a:avLst>
              <a:gd name="adj" fmla="val 12000"/>
            </a:avLst>
          </a:prstGeom>
          <a:solidFill>
            <a:srgbClr val="FFFFFF"/>
          </a:solidFill>
          <a:ln w="25400">
            <a:solidFill>
              <a:srgbClr val="440099"/>
            </a:solidFill>
          </a:ln>
        </p:spPr>
        <p:txBody>
          <a:bodyPr wrap="square" lIns="128016" tIns="128016" rIns="128016" bIns="128016" anchor="ctr">
            <a:noAutofit/>
          </a:bodyPr>
          <a:lstStyle/>
          <a:p>
            <a:pPr marL="0" indent="0" algn="ctr">
              <a:spcBef>
                <a:spcPts val="0"/>
              </a:spcBef>
              <a:spcAft>
                <a:spcPts val="0"/>
              </a:spcAft>
              <a:buNone/>
            </a:pPr>
            <a:r>
              <a:rPr lang="en-GB" sz="1700" b="1" i="0" dirty="0">
                <a:solidFill>
                  <a:srgbClr val="440099"/>
                </a:solidFill>
              </a:rPr>
              <a:t>Discuss: </a:t>
            </a:r>
            <a:r>
              <a:rPr lang="en-GB" sz="1700" b="0" i="0" dirty="0">
                <a:solidFill>
                  <a:srgbClr val="1A1A1A"/>
                </a:solidFill>
              </a:rPr>
              <a:t>when does an IT incident become an operations failure?</a:t>
            </a:r>
          </a:p>
        </p:txBody>
      </p:sp>
    </p:spTree>
    <p:extLst>
      <p:ext uri="{BB962C8B-B14F-4D97-AF65-F5344CB8AC3E}">
        <p14:creationId xmlns:p14="http://schemas.microsoft.com/office/powerpoint/2010/main" val="36513543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Why Do Services Fail? Four Categories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37</a:t>
            </a:fld>
            <a:endParaRPr lang="en"/>
          </a:p>
        </p:txBody>
      </p:sp>
      <p:sp>
        <p:nvSpPr>
          <p:cNvPr id="622" name="C0Proces"/>
          <p:cNvSpPr/>
          <p:nvPr/>
        </p:nvSpPr>
        <p:spPr>
          <a:xfrm>
            <a:off x="274320" y="105156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Process design</a:t>
            </a:r>
          </a:p>
          <a:p>
            <a:pPr marL="0" indent="0" algn="l">
              <a:spcBef>
                <a:spcPts val="0"/>
              </a:spcBef>
              <a:spcAft>
                <a:spcPts val="0"/>
              </a:spcAft>
              <a:buNone/>
            </a:pPr>
            <a:r>
              <a:rPr lang="en-GB" sz="1700" b="0" i="0" dirty="0">
                <a:solidFill>
                  <a:srgbClr val="1A1A1A"/>
                </a:solidFill>
              </a:rPr>
              <a:t>Unclear handoffs and bottlenecks.</a:t>
            </a:r>
          </a:p>
        </p:txBody>
      </p:sp>
      <p:sp>
        <p:nvSpPr>
          <p:cNvPr id="623" name="C1Capaci"/>
          <p:cNvSpPr/>
          <p:nvPr/>
        </p:nvSpPr>
        <p:spPr>
          <a:xfrm>
            <a:off x="4649724" y="105156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Capacity and demand</a:t>
            </a:r>
          </a:p>
          <a:p>
            <a:pPr marL="0" indent="0" algn="l">
              <a:spcBef>
                <a:spcPts val="0"/>
              </a:spcBef>
              <a:spcAft>
                <a:spcPts val="0"/>
              </a:spcAft>
              <a:buNone/>
            </a:pPr>
            <a:r>
              <a:rPr lang="en-GB" sz="1700" b="0" i="0" dirty="0">
                <a:solidFill>
                  <a:srgbClr val="1A1A1A"/>
                </a:solidFill>
              </a:rPr>
              <a:t>Variable demand and poor planning.</a:t>
            </a:r>
          </a:p>
        </p:txBody>
      </p:sp>
      <p:sp>
        <p:nvSpPr>
          <p:cNvPr id="624" name="C2People"/>
          <p:cNvSpPr/>
          <p:nvPr/>
        </p:nvSpPr>
        <p:spPr>
          <a:xfrm>
            <a:off x="274320" y="246888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People and work design</a:t>
            </a:r>
          </a:p>
          <a:p>
            <a:pPr marL="0" indent="0" algn="l">
              <a:spcBef>
                <a:spcPts val="0"/>
              </a:spcBef>
              <a:spcAft>
                <a:spcPts val="0"/>
              </a:spcAft>
              <a:buNone/>
            </a:pPr>
            <a:r>
              <a:rPr lang="en-GB" sz="1700" b="0" i="0" dirty="0">
                <a:solidFill>
                  <a:srgbClr val="1A1A1A"/>
                </a:solidFill>
              </a:rPr>
              <a:t>Overload, poor training, bad incentives.</a:t>
            </a:r>
          </a:p>
        </p:txBody>
      </p:sp>
      <p:sp>
        <p:nvSpPr>
          <p:cNvPr id="625" name="C3Techno"/>
          <p:cNvSpPr/>
          <p:nvPr/>
        </p:nvSpPr>
        <p:spPr>
          <a:xfrm>
            <a:off x="4649724" y="2468880"/>
            <a:ext cx="4219956" cy="128016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Technology</a:t>
            </a:r>
          </a:p>
          <a:p>
            <a:pPr marL="0" indent="0" algn="l">
              <a:spcBef>
                <a:spcPts val="0"/>
              </a:spcBef>
              <a:spcAft>
                <a:spcPts val="0"/>
              </a:spcAft>
              <a:buNone/>
            </a:pPr>
            <a:r>
              <a:rPr lang="en-GB" sz="1700" b="0" i="0" dirty="0">
                <a:solidFill>
                  <a:srgbClr val="1A1A1A"/>
                </a:solidFill>
              </a:rPr>
              <a:t>Outages and cascading disruptions.</a:t>
            </a:r>
          </a:p>
        </p:txBody>
      </p:sp>
    </p:spTree>
    <p:extLst>
      <p:ext uri="{BB962C8B-B14F-4D97-AF65-F5344CB8AC3E}">
        <p14:creationId xmlns:p14="http://schemas.microsoft.com/office/powerpoint/2010/main" val="3651354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BD8533EB-957D-BF63-2C90-BE2D3DB78676}"/>
            </a:ext>
          </a:extLst>
        </p:cNvPr>
        <p:cNvGrpSpPr/>
        <p:nvPr/>
      </p:nvGrpSpPr>
      <p:grpSpPr>
        <a:xfrm>
          <a:off x="0" y="0"/>
          <a:ext cx="0" cy="0"/>
          <a:chOff x="0" y="0"/>
          <a:chExt cx="0" cy="0"/>
        </a:xfrm>
      </p:grpSpPr>
      <p:sp>
        <p:nvSpPr>
          <p:cNvPr id="73" name="Slide Number Placeholder 2">
            <a:extLst>
              <a:ext uri="{FF2B5EF4-FFF2-40B4-BE49-F238E27FC236}">
                <a16:creationId xmlns:a16="http://schemas.microsoft.com/office/drawing/2014/main" id="{4E84F9F5-0E6B-D5B5-17E0-21F0C39F937A}"/>
              </a:ext>
            </a:extLst>
          </p:cNvPr>
          <p:cNvSpPr>
            <a:spLocks noGrp="1"/>
          </p:cNvSpPr>
          <p:nvPr>
            <p:ph type="sldNum" idx="12"/>
          </p:nvPr>
        </p:nvSpPr>
        <p:spPr>
          <a:xfrm>
            <a:off x="8444334" y="4745726"/>
            <a:ext cx="548700" cy="393600"/>
          </a:xfrm>
        </p:spPr>
        <p:txBody>
          <a:bodyPr wrap="square" anchor="t">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38</a:t>
            </a:fld>
            <a:endParaRPr lang="en" sz="900"/>
          </a:p>
        </p:txBody>
      </p:sp>
      <p:sp>
        <p:nvSpPr>
          <p:cNvPr id="9" name="TextBox 8">
            <a:extLst>
              <a:ext uri="{FF2B5EF4-FFF2-40B4-BE49-F238E27FC236}">
                <a16:creationId xmlns:a16="http://schemas.microsoft.com/office/drawing/2014/main" id="{DD357D1A-D0C5-E228-FE9B-B1A5EECC2FE4}"/>
              </a:ext>
            </a:extLst>
          </p:cNvPr>
          <p:cNvSpPr txBox="1"/>
          <p:nvPr/>
        </p:nvSpPr>
        <p:spPr>
          <a:xfrm>
            <a:off x="4572000" y="4076450"/>
            <a:ext cx="5670096" cy="307777"/>
          </a:xfrm>
          <a:prstGeom prst="rect">
            <a:avLst/>
          </a:prstGeom>
          <a:noFill/>
        </p:spPr>
        <p:txBody>
          <a:bodyPr wrap="square">
            <a:spAutoFit/>
          </a:bodyPr>
          <a:lstStyle/>
          <a:p>
            <a:r>
              <a:rPr lang="en-GB" dirty="0">
                <a:hlinkClick r:id="rId3"/>
              </a:rPr>
              <a:t>Edit Productivity and Service Failure - </a:t>
            </a:r>
            <a:r>
              <a:rPr lang="en-GB" dirty="0" err="1">
                <a:hlinkClick r:id="rId3"/>
              </a:rPr>
              <a:t>Wooclap</a:t>
            </a:r>
            <a:endParaRPr lang="en-GB" dirty="0"/>
          </a:p>
        </p:txBody>
      </p:sp>
      <p:sp>
        <p:nvSpPr>
          <p:cNvPr id="3" name="TextBox 2">
            <a:extLst>
              <a:ext uri="{FF2B5EF4-FFF2-40B4-BE49-F238E27FC236}">
                <a16:creationId xmlns:a16="http://schemas.microsoft.com/office/drawing/2014/main" id="{A14A9A37-8B26-D266-57A1-3960F7C5ADD6}"/>
              </a:ext>
            </a:extLst>
          </p:cNvPr>
          <p:cNvSpPr txBox="1"/>
          <p:nvPr/>
        </p:nvSpPr>
        <p:spPr>
          <a:xfrm>
            <a:off x="4678134" y="2310140"/>
            <a:ext cx="3600451" cy="523220"/>
          </a:xfrm>
          <a:prstGeom prst="rect">
            <a:avLst/>
          </a:prstGeom>
          <a:noFill/>
        </p:spPr>
        <p:txBody>
          <a:bodyPr wrap="square">
            <a:spAutoFit/>
          </a:bodyPr>
          <a:lstStyle/>
          <a:p>
            <a:r>
              <a:rPr lang="en-GB" dirty="0"/>
              <a:t>https://app.wooclap.com/</a:t>
            </a:r>
            <a:r>
              <a:rPr lang="en-GB" b="1" dirty="0"/>
              <a:t>BQRYOLH</a:t>
            </a:r>
            <a:r>
              <a:rPr lang="en-GB" dirty="0"/>
              <a:t>?from=instruction-slide</a:t>
            </a:r>
          </a:p>
        </p:txBody>
      </p:sp>
      <p:pic>
        <p:nvPicPr>
          <p:cNvPr id="6" name="Picture 5">
            <a:extLst>
              <a:ext uri="{FF2B5EF4-FFF2-40B4-BE49-F238E27FC236}">
                <a16:creationId xmlns:a16="http://schemas.microsoft.com/office/drawing/2014/main" id="{86B4E5A6-358A-A78F-C290-9D5F1BBBB123}"/>
              </a:ext>
            </a:extLst>
          </p:cNvPr>
          <p:cNvPicPr>
            <a:picLocks noChangeAspect="1"/>
          </p:cNvPicPr>
          <p:nvPr/>
        </p:nvPicPr>
        <p:blipFill>
          <a:blip r:embed="rId4"/>
          <a:stretch>
            <a:fillRect/>
          </a:stretch>
        </p:blipFill>
        <p:spPr>
          <a:xfrm>
            <a:off x="150965" y="1019190"/>
            <a:ext cx="4155695" cy="4155695"/>
          </a:xfrm>
          <a:prstGeom prst="rect">
            <a:avLst/>
          </a:prstGeom>
        </p:spPr>
      </p:pic>
      <p:sp>
        <p:nvSpPr>
          <p:cNvPr id="7" name="Note">
            <a:extLst>
              <a:ext uri="{FF2B5EF4-FFF2-40B4-BE49-F238E27FC236}">
                <a16:creationId xmlns:a16="http://schemas.microsoft.com/office/drawing/2014/main" id="{A0649641-135C-4CC6-057F-2447781C144F}"/>
              </a:ext>
            </a:extLst>
          </p:cNvPr>
          <p:cNvSpPr/>
          <p:nvPr/>
        </p:nvSpPr>
        <p:spPr>
          <a:xfrm>
            <a:off x="2486842" y="335521"/>
            <a:ext cx="6428558" cy="50292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dirty="0">
                <a:solidFill>
                  <a:srgbClr val="C2410C"/>
                </a:solidFill>
              </a:rPr>
              <a:t>W</a:t>
            </a:r>
            <a:r>
              <a:rPr lang="en-GB" sz="1600" b="0" i="0" dirty="0">
                <a:solidFill>
                  <a:srgbClr val="1A1A1A"/>
                </a:solidFill>
              </a:rPr>
              <a:t>hich of these categories explain the failure you observed from your two businesses?</a:t>
            </a:r>
          </a:p>
        </p:txBody>
      </p:sp>
    </p:spTree>
    <p:extLst>
      <p:ext uri="{BB962C8B-B14F-4D97-AF65-F5344CB8AC3E}">
        <p14:creationId xmlns:p14="http://schemas.microsoft.com/office/powerpoint/2010/main" val="88679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Theoretical Lens: Service Quality Gaps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39</a:t>
            </a:fld>
            <a:endParaRPr lang="en"/>
          </a:p>
        </p:txBody>
      </p:sp>
      <p:sp>
        <p:nvSpPr>
          <p:cNvPr id="627" name="G0"/>
          <p:cNvSpPr/>
          <p:nvPr/>
        </p:nvSpPr>
        <p:spPr>
          <a:xfrm>
            <a:off x="274320" y="1051560"/>
            <a:ext cx="1627632" cy="2103120"/>
          </a:xfrm>
          <a:prstGeom prst="roundRect">
            <a:avLst>
              <a:gd name="adj" fmla="val 12000"/>
            </a:avLst>
          </a:prstGeom>
          <a:solidFill>
            <a:srgbClr val="9C3A12"/>
          </a:solidFill>
          <a:ln>
            <a:noFill/>
          </a:ln>
        </p:spPr>
        <p:txBody>
          <a:bodyPr wrap="square" lIns="118872" tIns="118872" rIns="118872" bIns="118872" anchor="t">
            <a:noAutofit/>
          </a:bodyPr>
          <a:lstStyle/>
          <a:p>
            <a:pPr marL="0" indent="0" algn="l">
              <a:spcBef>
                <a:spcPts val="0"/>
              </a:spcBef>
              <a:spcAft>
                <a:spcPts val="300"/>
              </a:spcAft>
              <a:buNone/>
            </a:pPr>
            <a:r>
              <a:rPr lang="en-GB" sz="1700" b="1" i="0" dirty="0">
                <a:solidFill>
                  <a:srgbClr val="FFFFFF"/>
                </a:solidFill>
              </a:rPr>
              <a:t>Gap 1</a:t>
            </a:r>
          </a:p>
          <a:p>
            <a:pPr marL="0" indent="0" algn="l">
              <a:spcBef>
                <a:spcPts val="0"/>
              </a:spcBef>
              <a:spcAft>
                <a:spcPts val="0"/>
              </a:spcAft>
              <a:buNone/>
            </a:pPr>
            <a:r>
              <a:rPr lang="en-GB" sz="1550" b="0" i="0" dirty="0">
                <a:solidFill>
                  <a:srgbClr val="FFFFFF"/>
                </a:solidFill>
              </a:rPr>
              <a:t>Managers misread what customers expect.</a:t>
            </a:r>
          </a:p>
        </p:txBody>
      </p:sp>
      <p:sp>
        <p:nvSpPr>
          <p:cNvPr id="628" name="G1"/>
          <p:cNvSpPr/>
          <p:nvPr/>
        </p:nvSpPr>
        <p:spPr>
          <a:xfrm>
            <a:off x="2011680" y="1051560"/>
            <a:ext cx="1627632" cy="2103120"/>
          </a:xfrm>
          <a:prstGeom prst="roundRect">
            <a:avLst>
              <a:gd name="adj" fmla="val 12000"/>
            </a:avLst>
          </a:prstGeom>
          <a:solidFill>
            <a:srgbClr val="9C3A12"/>
          </a:solidFill>
          <a:ln>
            <a:noFill/>
          </a:ln>
        </p:spPr>
        <p:txBody>
          <a:bodyPr wrap="square" lIns="118872" tIns="118872" rIns="118872" bIns="118872" anchor="t">
            <a:noAutofit/>
          </a:bodyPr>
          <a:lstStyle/>
          <a:p>
            <a:pPr marL="0" indent="0" algn="l">
              <a:spcBef>
                <a:spcPts val="0"/>
              </a:spcBef>
              <a:spcAft>
                <a:spcPts val="300"/>
              </a:spcAft>
              <a:buNone/>
            </a:pPr>
            <a:r>
              <a:rPr lang="en-GB" sz="1700" b="1" i="0" dirty="0">
                <a:solidFill>
                  <a:srgbClr val="FFFFFF"/>
                </a:solidFill>
              </a:rPr>
              <a:t>Gap 2</a:t>
            </a:r>
          </a:p>
          <a:p>
            <a:pPr marL="0" indent="0" algn="l">
              <a:spcBef>
                <a:spcPts val="0"/>
              </a:spcBef>
              <a:spcAft>
                <a:spcPts val="0"/>
              </a:spcAft>
              <a:buNone/>
            </a:pPr>
            <a:r>
              <a:rPr lang="en-GB" sz="1550" b="0" i="0" dirty="0">
                <a:solidFill>
                  <a:srgbClr val="FFFFFF"/>
                </a:solidFill>
              </a:rPr>
              <a:t>Standards do not reflect expectations.</a:t>
            </a:r>
          </a:p>
        </p:txBody>
      </p:sp>
      <p:sp>
        <p:nvSpPr>
          <p:cNvPr id="629" name="G2"/>
          <p:cNvSpPr/>
          <p:nvPr/>
        </p:nvSpPr>
        <p:spPr>
          <a:xfrm>
            <a:off x="3749040" y="1051560"/>
            <a:ext cx="1627632" cy="2103120"/>
          </a:xfrm>
          <a:prstGeom prst="roundRect">
            <a:avLst>
              <a:gd name="adj" fmla="val 12000"/>
            </a:avLst>
          </a:prstGeom>
          <a:solidFill>
            <a:srgbClr val="9C3A12"/>
          </a:solidFill>
          <a:ln>
            <a:noFill/>
          </a:ln>
        </p:spPr>
        <p:txBody>
          <a:bodyPr wrap="square" lIns="118872" tIns="118872" rIns="118872" bIns="118872" anchor="t">
            <a:noAutofit/>
          </a:bodyPr>
          <a:lstStyle/>
          <a:p>
            <a:pPr marL="0" indent="0" algn="l">
              <a:spcBef>
                <a:spcPts val="0"/>
              </a:spcBef>
              <a:spcAft>
                <a:spcPts val="300"/>
              </a:spcAft>
              <a:buNone/>
            </a:pPr>
            <a:r>
              <a:rPr lang="en-GB" sz="1700" b="1" i="0" dirty="0">
                <a:solidFill>
                  <a:srgbClr val="FFFFFF"/>
                </a:solidFill>
              </a:rPr>
              <a:t>Gap 3</a:t>
            </a:r>
          </a:p>
          <a:p>
            <a:pPr marL="0" indent="0" algn="l">
              <a:spcBef>
                <a:spcPts val="0"/>
              </a:spcBef>
              <a:spcAft>
                <a:spcPts val="0"/>
              </a:spcAft>
              <a:buNone/>
            </a:pPr>
            <a:r>
              <a:rPr lang="en-GB" sz="1550" b="0" i="0" dirty="0">
                <a:solidFill>
                  <a:srgbClr val="FFFFFF"/>
                </a:solidFill>
              </a:rPr>
              <a:t>Delivery falls short of standards.</a:t>
            </a:r>
          </a:p>
        </p:txBody>
      </p:sp>
      <p:sp>
        <p:nvSpPr>
          <p:cNvPr id="630" name="G3"/>
          <p:cNvSpPr/>
          <p:nvPr/>
        </p:nvSpPr>
        <p:spPr>
          <a:xfrm>
            <a:off x="5486400" y="1051560"/>
            <a:ext cx="1627632" cy="2103120"/>
          </a:xfrm>
          <a:prstGeom prst="roundRect">
            <a:avLst>
              <a:gd name="adj" fmla="val 12000"/>
            </a:avLst>
          </a:prstGeom>
          <a:solidFill>
            <a:srgbClr val="9C3A12"/>
          </a:solidFill>
          <a:ln>
            <a:noFill/>
          </a:ln>
        </p:spPr>
        <p:txBody>
          <a:bodyPr wrap="square" lIns="118872" tIns="118872" rIns="118872" bIns="118872" anchor="t">
            <a:noAutofit/>
          </a:bodyPr>
          <a:lstStyle/>
          <a:p>
            <a:pPr marL="0" indent="0" algn="l">
              <a:spcBef>
                <a:spcPts val="0"/>
              </a:spcBef>
              <a:spcAft>
                <a:spcPts val="300"/>
              </a:spcAft>
              <a:buNone/>
            </a:pPr>
            <a:r>
              <a:rPr lang="en-GB" sz="1700" b="1" i="0" dirty="0">
                <a:solidFill>
                  <a:srgbClr val="FFFFFF"/>
                </a:solidFill>
              </a:rPr>
              <a:t>Gap 4</a:t>
            </a:r>
          </a:p>
          <a:p>
            <a:pPr marL="0" indent="0" algn="l">
              <a:spcBef>
                <a:spcPts val="0"/>
              </a:spcBef>
              <a:spcAft>
                <a:spcPts val="0"/>
              </a:spcAft>
              <a:buNone/>
            </a:pPr>
            <a:r>
              <a:rPr lang="en-GB" sz="1550" b="0" i="0" dirty="0">
                <a:solidFill>
                  <a:srgbClr val="FFFFFF"/>
                </a:solidFill>
              </a:rPr>
              <a:t>Promises exceed delivery.</a:t>
            </a:r>
          </a:p>
        </p:txBody>
      </p:sp>
      <p:sp>
        <p:nvSpPr>
          <p:cNvPr id="631" name="G4"/>
          <p:cNvSpPr/>
          <p:nvPr/>
        </p:nvSpPr>
        <p:spPr>
          <a:xfrm>
            <a:off x="7223760" y="1051560"/>
            <a:ext cx="1627632" cy="2103120"/>
          </a:xfrm>
          <a:prstGeom prst="roundRect">
            <a:avLst>
              <a:gd name="adj" fmla="val 12000"/>
            </a:avLst>
          </a:prstGeom>
          <a:solidFill>
            <a:srgbClr val="C2410C"/>
          </a:solidFill>
          <a:ln>
            <a:noFill/>
          </a:ln>
        </p:spPr>
        <p:txBody>
          <a:bodyPr wrap="square" lIns="118872" tIns="118872" rIns="118872" bIns="118872" anchor="t">
            <a:noAutofit/>
          </a:bodyPr>
          <a:lstStyle/>
          <a:p>
            <a:pPr marL="0" indent="0" algn="l">
              <a:spcBef>
                <a:spcPts val="0"/>
              </a:spcBef>
              <a:spcAft>
                <a:spcPts val="300"/>
              </a:spcAft>
              <a:buNone/>
            </a:pPr>
            <a:r>
              <a:rPr lang="en-GB" sz="1700" b="1" i="0" dirty="0">
                <a:solidFill>
                  <a:srgbClr val="FFFFFF"/>
                </a:solidFill>
              </a:rPr>
              <a:t>Gap 5</a:t>
            </a:r>
          </a:p>
          <a:p>
            <a:pPr marL="0" indent="0" algn="l">
              <a:spcBef>
                <a:spcPts val="0"/>
              </a:spcBef>
              <a:spcAft>
                <a:spcPts val="0"/>
              </a:spcAft>
              <a:buNone/>
            </a:pPr>
            <a:r>
              <a:rPr lang="en-GB" sz="1550" b="0" i="0" dirty="0">
                <a:solidFill>
                  <a:srgbClr val="FFFFFF"/>
                </a:solidFill>
              </a:rPr>
              <a:t>Customers’ expectations exceed what they perceive.</a:t>
            </a:r>
          </a:p>
        </p:txBody>
      </p:sp>
      <p:sp>
        <p:nvSpPr>
          <p:cNvPr id="632" name="Note"/>
          <p:cNvSpPr/>
          <p:nvPr/>
        </p:nvSpPr>
        <p:spPr>
          <a:xfrm>
            <a:off x="274320" y="3337560"/>
            <a:ext cx="8595360" cy="68580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Key point:  </a:t>
            </a:r>
            <a:r>
              <a:rPr lang="en-GB" sz="1600" b="0" i="0" dirty="0">
                <a:solidFill>
                  <a:srgbClr val="1A1A1A"/>
                </a:solidFill>
              </a:rPr>
              <a:t>an efficient process can still deliver the wrong service (Parasuraman et al., 1985).</a:t>
            </a:r>
          </a:p>
        </p:txBody>
      </p:sp>
    </p:spTree>
    <p:extLst>
      <p:ext uri="{BB962C8B-B14F-4D97-AF65-F5344CB8AC3E}">
        <p14:creationId xmlns:p14="http://schemas.microsoft.com/office/powerpoint/2010/main" val="3651354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77">
          <a:extLst>
            <a:ext uri="{FF2B5EF4-FFF2-40B4-BE49-F238E27FC236}">
              <a16:creationId xmlns:a16="http://schemas.microsoft.com/office/drawing/2014/main" id="{EB9C9210-9846-B7EC-214F-CADFD58C4070}"/>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8661F452-AA3A-95B1-F3FF-01676AA932EA}"/>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b="1" dirty="0"/>
              <a:t>Mini-case: Microsoft Azure Service Outage</a:t>
            </a:r>
            <a:br>
              <a:rPr lang="en-GB" sz="3600" b="1" dirty="0"/>
            </a:br>
            <a:endParaRPr lang="en-GB" sz="3600" dirty="0">
              <a:latin typeface="+mj-lt"/>
            </a:endParaRPr>
          </a:p>
        </p:txBody>
      </p:sp>
      <p:sp>
        <p:nvSpPr>
          <p:cNvPr id="80" name="Google Shape;80;p16">
            <a:extLst>
              <a:ext uri="{FF2B5EF4-FFF2-40B4-BE49-F238E27FC236}">
                <a16:creationId xmlns:a16="http://schemas.microsoft.com/office/drawing/2014/main" id="{7D877167-0A68-4774-7A7E-504180DFD61E}"/>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40</a:t>
            </a:fld>
            <a:endParaRPr lang="en"/>
          </a:p>
        </p:txBody>
      </p:sp>
      <p:sp>
        <p:nvSpPr>
          <p:cNvPr id="7" name="TextBox 6">
            <a:extLst>
              <a:ext uri="{FF2B5EF4-FFF2-40B4-BE49-F238E27FC236}">
                <a16:creationId xmlns:a16="http://schemas.microsoft.com/office/drawing/2014/main" id="{63AA6973-86EF-BF88-116B-6429A454BC9F}"/>
              </a:ext>
            </a:extLst>
          </p:cNvPr>
          <p:cNvSpPr txBox="1"/>
          <p:nvPr/>
        </p:nvSpPr>
        <p:spPr>
          <a:xfrm>
            <a:off x="187778" y="1002089"/>
            <a:ext cx="8324100" cy="3139321"/>
          </a:xfrm>
          <a:prstGeom prst="rect">
            <a:avLst/>
          </a:prstGeom>
          <a:noFill/>
        </p:spPr>
        <p:txBody>
          <a:bodyPr wrap="square">
            <a:spAutoFit/>
          </a:bodyPr>
          <a:lstStyle/>
          <a:p>
            <a:pPr algn="just">
              <a:buNone/>
            </a:pPr>
            <a:r>
              <a:rPr lang="en-GB" sz="1800" dirty="0"/>
              <a:t>On 29 October 2025, Microsoft Azure experienced a major cloud-service outage lasting more than eight hours. The disruption affected Azure-dependent services, including Microsoft 365, and also caused operational problems for organisations such as Alaska Airlines, Heathrow Airport and Vodafone.</a:t>
            </a:r>
          </a:p>
          <a:p>
            <a:pPr algn="just">
              <a:buNone/>
            </a:pPr>
            <a:endParaRPr lang="en-GB" sz="1800" dirty="0"/>
          </a:p>
          <a:p>
            <a:pPr algn="just">
              <a:buNone/>
            </a:pPr>
            <a:endParaRPr lang="en-GB" sz="1800" dirty="0"/>
          </a:p>
          <a:p>
            <a:pPr algn="just">
              <a:buNone/>
            </a:pPr>
            <a:r>
              <a:rPr lang="en-GB" sz="1800" dirty="0"/>
              <a:t>Microsoft traced the incident to Azure Front Door, a key component of its global application-delivery infrastructure. Because many organisations depend on Azure to support digital applications and customer-facing services, the outage propagated beyond Microsoft’s own systems and created downstream service disruptions across multiple sectors.</a:t>
            </a:r>
          </a:p>
        </p:txBody>
      </p:sp>
    </p:spTree>
    <p:extLst>
      <p:ext uri="{BB962C8B-B14F-4D97-AF65-F5344CB8AC3E}">
        <p14:creationId xmlns:p14="http://schemas.microsoft.com/office/powerpoint/2010/main" val="13627158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Theoretical Lens: Sociotechnical Systems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41</a:t>
            </a:fld>
            <a:endParaRPr lang="en"/>
          </a:p>
        </p:txBody>
      </p:sp>
      <p:sp>
        <p:nvSpPr>
          <p:cNvPr id="633" name="C0Techni"/>
          <p:cNvSpPr/>
          <p:nvPr/>
        </p:nvSpPr>
        <p:spPr>
          <a:xfrm>
            <a:off x="274320" y="1051560"/>
            <a:ext cx="4219956" cy="146304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Technical system</a:t>
            </a:r>
          </a:p>
          <a:p>
            <a:pPr marL="0" indent="0" algn="l">
              <a:spcBef>
                <a:spcPts val="0"/>
              </a:spcBef>
              <a:spcAft>
                <a:spcPts val="0"/>
              </a:spcAft>
              <a:buNone/>
            </a:pPr>
            <a:r>
              <a:rPr lang="en-GB" sz="1700" b="0" i="0" dirty="0">
                <a:solidFill>
                  <a:srgbClr val="1A1A1A"/>
                </a:solidFill>
              </a:rPr>
              <a:t>Equipment, data, rules and interfaces.</a:t>
            </a:r>
          </a:p>
        </p:txBody>
      </p:sp>
      <p:sp>
        <p:nvSpPr>
          <p:cNvPr id="634" name="C1Social"/>
          <p:cNvSpPr/>
          <p:nvPr/>
        </p:nvSpPr>
        <p:spPr>
          <a:xfrm>
            <a:off x="4649724" y="1051560"/>
            <a:ext cx="4219956" cy="146304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Social system</a:t>
            </a:r>
          </a:p>
          <a:p>
            <a:pPr marL="0" indent="0" algn="l">
              <a:spcBef>
                <a:spcPts val="0"/>
              </a:spcBef>
              <a:spcAft>
                <a:spcPts val="0"/>
              </a:spcAft>
              <a:buNone/>
            </a:pPr>
            <a:r>
              <a:rPr lang="en-GB" sz="1700" b="0" i="0" dirty="0">
                <a:solidFill>
                  <a:srgbClr val="1A1A1A"/>
                </a:solidFill>
              </a:rPr>
              <a:t>People, teams, supervision and incentives.</a:t>
            </a:r>
          </a:p>
        </p:txBody>
      </p:sp>
      <p:sp>
        <p:nvSpPr>
          <p:cNvPr id="635" name="Strip"/>
          <p:cNvSpPr/>
          <p:nvPr/>
        </p:nvSpPr>
        <p:spPr>
          <a:xfrm>
            <a:off x="274320" y="2651760"/>
            <a:ext cx="8595360" cy="731520"/>
          </a:xfrm>
          <a:prstGeom prst="roundRect">
            <a:avLst>
              <a:gd name="adj" fmla="val 12000"/>
            </a:avLst>
          </a:prstGeom>
          <a:solidFill>
            <a:srgbClr val="FCE3D6"/>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C2410C"/>
                </a:solidFill>
              </a:rPr>
              <a:t>Failures often emerge from how people, technology and process interact </a:t>
            </a:r>
            <a:r>
              <a:rPr lang="en-GB" sz="1650" b="0" i="0" dirty="0">
                <a:solidFill>
                  <a:srgbClr val="1A1A1A"/>
                </a:solidFill>
              </a:rPr>
              <a:t>(Trist and Bamforth, 1951).</a:t>
            </a:r>
          </a:p>
        </p:txBody>
      </p:sp>
      <p:sp>
        <p:nvSpPr>
          <p:cNvPr id="636" name="Note"/>
          <p:cNvSpPr/>
          <p:nvPr/>
        </p:nvSpPr>
        <p:spPr>
          <a:xfrm>
            <a:off x="274320" y="3520440"/>
            <a:ext cx="8595360" cy="54864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Apply it:  </a:t>
            </a:r>
            <a:r>
              <a:rPr lang="en-GB" sz="1600" b="0" i="0" dirty="0">
                <a:solidFill>
                  <a:srgbClr val="1A1A1A"/>
                </a:solidFill>
              </a:rPr>
              <a:t>in the Azure outage, what was technical, and what was social?</a:t>
            </a:r>
          </a:p>
        </p:txBody>
      </p:sp>
    </p:spTree>
    <p:extLst>
      <p:ext uri="{BB962C8B-B14F-4D97-AF65-F5344CB8AC3E}">
        <p14:creationId xmlns:p14="http://schemas.microsoft.com/office/powerpoint/2010/main" val="3651354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Diagnose Root Causes, Not Symptoms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42</a:t>
            </a:fld>
            <a:endParaRPr lang="en"/>
          </a:p>
        </p:txBody>
      </p:sp>
      <p:sp>
        <p:nvSpPr>
          <p:cNvPr id="637" name="Strip"/>
          <p:cNvSpPr/>
          <p:nvPr/>
        </p:nvSpPr>
        <p:spPr>
          <a:xfrm>
            <a:off x="274320" y="1051560"/>
            <a:ext cx="8595360" cy="594360"/>
          </a:xfrm>
          <a:prstGeom prst="roundRect">
            <a:avLst>
              <a:gd name="adj" fmla="val 12000"/>
            </a:avLst>
          </a:prstGeom>
          <a:solidFill>
            <a:srgbClr val="FCE3D6"/>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C2410C"/>
                </a:solidFill>
              </a:rPr>
              <a:t>Symptom: </a:t>
            </a:r>
            <a:r>
              <a:rPr lang="en-GB" sz="1650" b="0" i="0" dirty="0">
                <a:solidFill>
                  <a:srgbClr val="1A1A1A"/>
                </a:solidFill>
              </a:rPr>
              <a:t>“Customers waited 35 minutes for their food.”</a:t>
            </a:r>
          </a:p>
        </p:txBody>
      </p:sp>
      <p:sp>
        <p:nvSpPr>
          <p:cNvPr id="638" name="C0Five w"/>
          <p:cNvSpPr/>
          <p:nvPr/>
        </p:nvSpPr>
        <p:spPr>
          <a:xfrm>
            <a:off x="274320" y="1783080"/>
            <a:ext cx="4219956" cy="169164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Five whys</a:t>
            </a:r>
          </a:p>
          <a:p>
            <a:pPr marL="0" indent="0" algn="l">
              <a:spcBef>
                <a:spcPts val="0"/>
              </a:spcBef>
              <a:spcAft>
                <a:spcPts val="0"/>
              </a:spcAft>
              <a:buNone/>
            </a:pPr>
            <a:r>
              <a:rPr lang="en-GB" sz="1700" b="0" i="0" dirty="0">
                <a:solidFill>
                  <a:srgbClr val="1A1A1A"/>
                </a:solidFill>
              </a:rPr>
              <a:t>Keep asking “why?” until you reach a cause you can act on.</a:t>
            </a:r>
          </a:p>
        </p:txBody>
      </p:sp>
      <p:sp>
        <p:nvSpPr>
          <p:cNvPr id="639" name="C1Fishbo"/>
          <p:cNvSpPr/>
          <p:nvPr/>
        </p:nvSpPr>
        <p:spPr>
          <a:xfrm>
            <a:off x="4649724" y="1783080"/>
            <a:ext cx="4219956" cy="169164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Fishbone</a:t>
            </a:r>
          </a:p>
          <a:p>
            <a:pPr marL="0" indent="0" algn="l">
              <a:spcBef>
                <a:spcPts val="0"/>
              </a:spcBef>
              <a:spcAft>
                <a:spcPts val="0"/>
              </a:spcAft>
              <a:buNone/>
            </a:pPr>
            <a:r>
              <a:rPr lang="en-GB" sz="1700" b="0" i="0" dirty="0">
                <a:solidFill>
                  <a:srgbClr val="1A1A1A"/>
                </a:solidFill>
              </a:rPr>
              <a:t>Sort causes under people, methods, machines, materials, measurement and environment.</a:t>
            </a:r>
          </a:p>
        </p:txBody>
      </p:sp>
      <p:sp>
        <p:nvSpPr>
          <p:cNvPr id="640" name="Note"/>
          <p:cNvSpPr/>
          <p:nvPr/>
        </p:nvSpPr>
        <p:spPr>
          <a:xfrm>
            <a:off x="274320" y="3657600"/>
            <a:ext cx="8595360" cy="54864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Then:  </a:t>
            </a:r>
            <a:r>
              <a:rPr lang="en-GB" sz="1600" b="0" i="0" dirty="0">
                <a:solidFill>
                  <a:srgbClr val="1A1A1A"/>
                </a:solidFill>
              </a:rPr>
              <a:t>verify the root cause with data before choosing a remedy.</a:t>
            </a:r>
          </a:p>
        </p:txBody>
      </p:sp>
    </p:spTree>
    <p:extLst>
      <p:ext uri="{BB962C8B-B14F-4D97-AF65-F5344CB8AC3E}">
        <p14:creationId xmlns:p14="http://schemas.microsoft.com/office/powerpoint/2010/main" val="36513543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Service Recovery: What Should Managers Do?</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43</a:t>
            </a:fld>
            <a:endParaRPr lang="en"/>
          </a:p>
        </p:txBody>
      </p:sp>
      <p:sp>
        <p:nvSpPr>
          <p:cNvPr id="641" name="RS0"/>
          <p:cNvSpPr/>
          <p:nvPr/>
        </p:nvSpPr>
        <p:spPr>
          <a:xfrm>
            <a:off x="274320" y="1097280"/>
            <a:ext cx="1600200" cy="1920240"/>
          </a:xfrm>
          <a:prstGeom prst="roundRect">
            <a:avLst>
              <a:gd name="adj" fmla="val 12000"/>
            </a:avLst>
          </a:prstGeom>
          <a:solidFill>
            <a:srgbClr val="C2410C"/>
          </a:solidFill>
          <a:ln>
            <a:noFill/>
          </a:ln>
        </p:spPr>
        <p:txBody>
          <a:bodyPr wrap="square" lIns="118872" tIns="118872" rIns="118872" bIns="118872" anchor="t">
            <a:noAutofit/>
          </a:bodyPr>
          <a:lstStyle/>
          <a:p>
            <a:pPr marL="0" indent="0" algn="l">
              <a:spcBef>
                <a:spcPts val="0"/>
              </a:spcBef>
              <a:spcAft>
                <a:spcPts val="250"/>
              </a:spcAft>
              <a:buNone/>
            </a:pPr>
            <a:r>
              <a:rPr lang="en-GB" sz="2200" b="1" i="0" dirty="0">
                <a:solidFill>
                  <a:srgbClr val="FFFFFF"/>
                </a:solidFill>
              </a:rPr>
              <a:t>1</a:t>
            </a:r>
          </a:p>
          <a:p>
            <a:pPr marL="0" indent="0" algn="l">
              <a:spcBef>
                <a:spcPts val="0"/>
              </a:spcBef>
              <a:spcAft>
                <a:spcPts val="0"/>
              </a:spcAft>
              <a:buNone/>
            </a:pPr>
            <a:r>
              <a:rPr lang="en-GB" sz="1550" b="1" i="0" dirty="0">
                <a:solidFill>
                  <a:srgbClr val="FFFFFF"/>
                </a:solidFill>
              </a:rPr>
              <a:t>Contain the disruption</a:t>
            </a:r>
          </a:p>
        </p:txBody>
      </p:sp>
      <p:sp>
        <p:nvSpPr>
          <p:cNvPr id="642" name="RA0"/>
          <p:cNvSpPr/>
          <p:nvPr/>
        </p:nvSpPr>
        <p:spPr>
          <a:xfrm>
            <a:off x="1892808" y="1920240"/>
            <a:ext cx="100584" cy="274320"/>
          </a:xfrm>
          <a:prstGeom prst="rightArrow">
            <a:avLst/>
          </a:prstGeom>
          <a:solidFill>
            <a:srgbClr val="9A90B0"/>
          </a:solidFill>
          <a:ln>
            <a:noFill/>
          </a:ln>
        </p:spPr>
        <p:txBody>
          <a:bodyPr wrap="square" lIns="0" tIns="0" rIns="0" bIns="0" anchor="t">
            <a:noAutofit/>
          </a:bodyPr>
          <a:lstStyle/>
          <a:p>
            <a:pPr marL="0" indent="0" algn="l">
              <a:spcBef>
                <a:spcPts val="0"/>
              </a:spcBef>
              <a:spcAft>
                <a:spcPts val="0"/>
              </a:spcAft>
              <a:buNone/>
            </a:pPr>
            <a:endParaRPr/>
          </a:p>
        </p:txBody>
      </p:sp>
      <p:sp>
        <p:nvSpPr>
          <p:cNvPr id="643" name="RS1"/>
          <p:cNvSpPr/>
          <p:nvPr/>
        </p:nvSpPr>
        <p:spPr>
          <a:xfrm>
            <a:off x="2011680" y="1097280"/>
            <a:ext cx="1600200" cy="1920240"/>
          </a:xfrm>
          <a:prstGeom prst="roundRect">
            <a:avLst>
              <a:gd name="adj" fmla="val 12000"/>
            </a:avLst>
          </a:prstGeom>
          <a:solidFill>
            <a:srgbClr val="C2410C"/>
          </a:solidFill>
          <a:ln>
            <a:noFill/>
          </a:ln>
        </p:spPr>
        <p:txBody>
          <a:bodyPr wrap="square" lIns="118872" tIns="118872" rIns="118872" bIns="118872" anchor="t">
            <a:noAutofit/>
          </a:bodyPr>
          <a:lstStyle/>
          <a:p>
            <a:pPr marL="0" indent="0" algn="l">
              <a:spcBef>
                <a:spcPts val="0"/>
              </a:spcBef>
              <a:spcAft>
                <a:spcPts val="250"/>
              </a:spcAft>
              <a:buNone/>
            </a:pPr>
            <a:r>
              <a:rPr lang="en-GB" sz="2200" b="1" i="0" dirty="0">
                <a:solidFill>
                  <a:srgbClr val="FFFFFF"/>
                </a:solidFill>
              </a:rPr>
              <a:t>2</a:t>
            </a:r>
          </a:p>
          <a:p>
            <a:pPr marL="0" indent="0" algn="l">
              <a:spcBef>
                <a:spcPts val="0"/>
              </a:spcBef>
              <a:spcAft>
                <a:spcPts val="0"/>
              </a:spcAft>
              <a:buNone/>
            </a:pPr>
            <a:r>
              <a:rPr lang="en-GB" sz="1550" b="1" i="0" dirty="0">
                <a:solidFill>
                  <a:srgbClr val="FFFFFF"/>
                </a:solidFill>
              </a:rPr>
              <a:t>Explain promptly and honestly</a:t>
            </a:r>
          </a:p>
        </p:txBody>
      </p:sp>
      <p:sp>
        <p:nvSpPr>
          <p:cNvPr id="644" name="RA1"/>
          <p:cNvSpPr/>
          <p:nvPr/>
        </p:nvSpPr>
        <p:spPr>
          <a:xfrm>
            <a:off x="3630168" y="1920240"/>
            <a:ext cx="100584" cy="274320"/>
          </a:xfrm>
          <a:prstGeom prst="rightArrow">
            <a:avLst/>
          </a:prstGeom>
          <a:solidFill>
            <a:srgbClr val="9A90B0"/>
          </a:solidFill>
          <a:ln>
            <a:noFill/>
          </a:ln>
        </p:spPr>
        <p:txBody>
          <a:bodyPr wrap="square" lIns="0" tIns="0" rIns="0" bIns="0" anchor="t">
            <a:noAutofit/>
          </a:bodyPr>
          <a:lstStyle/>
          <a:p>
            <a:pPr marL="0" indent="0" algn="l">
              <a:spcBef>
                <a:spcPts val="0"/>
              </a:spcBef>
              <a:spcAft>
                <a:spcPts val="0"/>
              </a:spcAft>
              <a:buNone/>
            </a:pPr>
            <a:endParaRPr/>
          </a:p>
        </p:txBody>
      </p:sp>
      <p:sp>
        <p:nvSpPr>
          <p:cNvPr id="645" name="RS2"/>
          <p:cNvSpPr/>
          <p:nvPr/>
        </p:nvSpPr>
        <p:spPr>
          <a:xfrm>
            <a:off x="3749040" y="1097280"/>
            <a:ext cx="1600200" cy="1920240"/>
          </a:xfrm>
          <a:prstGeom prst="roundRect">
            <a:avLst>
              <a:gd name="adj" fmla="val 12000"/>
            </a:avLst>
          </a:prstGeom>
          <a:solidFill>
            <a:srgbClr val="C2410C"/>
          </a:solidFill>
          <a:ln>
            <a:noFill/>
          </a:ln>
        </p:spPr>
        <p:txBody>
          <a:bodyPr wrap="square" lIns="118872" tIns="118872" rIns="118872" bIns="118872" anchor="t">
            <a:noAutofit/>
          </a:bodyPr>
          <a:lstStyle/>
          <a:p>
            <a:pPr marL="0" indent="0" algn="l">
              <a:spcBef>
                <a:spcPts val="0"/>
              </a:spcBef>
              <a:spcAft>
                <a:spcPts val="250"/>
              </a:spcAft>
              <a:buNone/>
            </a:pPr>
            <a:r>
              <a:rPr lang="en-GB" sz="2200" b="1" i="0" dirty="0">
                <a:solidFill>
                  <a:srgbClr val="FFFFFF"/>
                </a:solidFill>
              </a:rPr>
              <a:t>3</a:t>
            </a:r>
          </a:p>
          <a:p>
            <a:pPr marL="0" indent="0" algn="l">
              <a:spcBef>
                <a:spcPts val="0"/>
              </a:spcBef>
              <a:spcAft>
                <a:spcPts val="0"/>
              </a:spcAft>
              <a:buNone/>
            </a:pPr>
            <a:r>
              <a:rPr lang="en-GB" sz="1550" b="1" i="0" dirty="0">
                <a:solidFill>
                  <a:srgbClr val="FFFFFF"/>
                </a:solidFill>
              </a:rPr>
              <a:t>Restore service or offer redress</a:t>
            </a:r>
          </a:p>
        </p:txBody>
      </p:sp>
      <p:sp>
        <p:nvSpPr>
          <p:cNvPr id="646" name="RA2"/>
          <p:cNvSpPr/>
          <p:nvPr/>
        </p:nvSpPr>
        <p:spPr>
          <a:xfrm>
            <a:off x="5367528" y="1920240"/>
            <a:ext cx="100584" cy="274320"/>
          </a:xfrm>
          <a:prstGeom prst="rightArrow">
            <a:avLst/>
          </a:prstGeom>
          <a:solidFill>
            <a:srgbClr val="9A90B0"/>
          </a:solidFill>
          <a:ln>
            <a:noFill/>
          </a:ln>
        </p:spPr>
        <p:txBody>
          <a:bodyPr wrap="square" lIns="0" tIns="0" rIns="0" bIns="0" anchor="t">
            <a:noAutofit/>
          </a:bodyPr>
          <a:lstStyle/>
          <a:p>
            <a:pPr marL="0" indent="0" algn="l">
              <a:spcBef>
                <a:spcPts val="0"/>
              </a:spcBef>
              <a:spcAft>
                <a:spcPts val="0"/>
              </a:spcAft>
              <a:buNone/>
            </a:pPr>
            <a:endParaRPr/>
          </a:p>
        </p:txBody>
      </p:sp>
      <p:sp>
        <p:nvSpPr>
          <p:cNvPr id="647" name="RS3"/>
          <p:cNvSpPr/>
          <p:nvPr/>
        </p:nvSpPr>
        <p:spPr>
          <a:xfrm>
            <a:off x="5486400" y="1097280"/>
            <a:ext cx="1600200" cy="1920240"/>
          </a:xfrm>
          <a:prstGeom prst="roundRect">
            <a:avLst>
              <a:gd name="adj" fmla="val 12000"/>
            </a:avLst>
          </a:prstGeom>
          <a:solidFill>
            <a:srgbClr val="C2410C"/>
          </a:solidFill>
          <a:ln>
            <a:noFill/>
          </a:ln>
        </p:spPr>
        <p:txBody>
          <a:bodyPr wrap="square" lIns="118872" tIns="118872" rIns="118872" bIns="118872" anchor="t">
            <a:noAutofit/>
          </a:bodyPr>
          <a:lstStyle/>
          <a:p>
            <a:pPr marL="0" indent="0" algn="l">
              <a:spcBef>
                <a:spcPts val="0"/>
              </a:spcBef>
              <a:spcAft>
                <a:spcPts val="250"/>
              </a:spcAft>
              <a:buNone/>
            </a:pPr>
            <a:r>
              <a:rPr lang="en-GB" sz="2200" b="1" i="0" dirty="0">
                <a:solidFill>
                  <a:srgbClr val="FFFFFF"/>
                </a:solidFill>
              </a:rPr>
              <a:t>4</a:t>
            </a:r>
          </a:p>
          <a:p>
            <a:pPr marL="0" indent="0" algn="l">
              <a:spcBef>
                <a:spcPts val="0"/>
              </a:spcBef>
              <a:spcAft>
                <a:spcPts val="0"/>
              </a:spcAft>
              <a:buNone/>
            </a:pPr>
            <a:r>
              <a:rPr lang="en-GB" sz="1550" b="1" i="0" dirty="0">
                <a:solidFill>
                  <a:srgbClr val="FFFFFF"/>
                </a:solidFill>
              </a:rPr>
              <a:t>Find the root cause</a:t>
            </a:r>
          </a:p>
        </p:txBody>
      </p:sp>
      <p:sp>
        <p:nvSpPr>
          <p:cNvPr id="648" name="RA3"/>
          <p:cNvSpPr/>
          <p:nvPr/>
        </p:nvSpPr>
        <p:spPr>
          <a:xfrm>
            <a:off x="7104888" y="1920240"/>
            <a:ext cx="100584" cy="274320"/>
          </a:xfrm>
          <a:prstGeom prst="rightArrow">
            <a:avLst/>
          </a:prstGeom>
          <a:solidFill>
            <a:srgbClr val="9A90B0"/>
          </a:solidFill>
          <a:ln>
            <a:noFill/>
          </a:ln>
        </p:spPr>
        <p:txBody>
          <a:bodyPr wrap="square" lIns="0" tIns="0" rIns="0" bIns="0" anchor="t">
            <a:noAutofit/>
          </a:bodyPr>
          <a:lstStyle/>
          <a:p>
            <a:pPr marL="0" indent="0" algn="l">
              <a:spcBef>
                <a:spcPts val="0"/>
              </a:spcBef>
              <a:spcAft>
                <a:spcPts val="0"/>
              </a:spcAft>
              <a:buNone/>
            </a:pPr>
            <a:endParaRPr/>
          </a:p>
        </p:txBody>
      </p:sp>
      <p:sp>
        <p:nvSpPr>
          <p:cNvPr id="649" name="RS4"/>
          <p:cNvSpPr/>
          <p:nvPr/>
        </p:nvSpPr>
        <p:spPr>
          <a:xfrm>
            <a:off x="7223760" y="1097280"/>
            <a:ext cx="1600200" cy="1920240"/>
          </a:xfrm>
          <a:prstGeom prst="roundRect">
            <a:avLst>
              <a:gd name="adj" fmla="val 12000"/>
            </a:avLst>
          </a:prstGeom>
          <a:solidFill>
            <a:srgbClr val="C2410C"/>
          </a:solidFill>
          <a:ln>
            <a:noFill/>
          </a:ln>
        </p:spPr>
        <p:txBody>
          <a:bodyPr wrap="square" lIns="118872" tIns="118872" rIns="118872" bIns="118872" anchor="t">
            <a:noAutofit/>
          </a:bodyPr>
          <a:lstStyle/>
          <a:p>
            <a:pPr marL="0" indent="0" algn="l">
              <a:spcBef>
                <a:spcPts val="0"/>
              </a:spcBef>
              <a:spcAft>
                <a:spcPts val="250"/>
              </a:spcAft>
              <a:buNone/>
            </a:pPr>
            <a:r>
              <a:rPr lang="en-GB" sz="2200" b="1" i="0" dirty="0">
                <a:solidFill>
                  <a:srgbClr val="FFFFFF"/>
                </a:solidFill>
              </a:rPr>
              <a:t>5</a:t>
            </a:r>
          </a:p>
          <a:p>
            <a:pPr marL="0" indent="0" algn="l">
              <a:spcBef>
                <a:spcPts val="0"/>
              </a:spcBef>
              <a:spcAft>
                <a:spcPts val="0"/>
              </a:spcAft>
              <a:buNone/>
            </a:pPr>
            <a:r>
              <a:rPr lang="en-GB" sz="1550" b="1" i="0" dirty="0">
                <a:solidFill>
                  <a:srgbClr val="FFFFFF"/>
                </a:solidFill>
              </a:rPr>
              <a:t>Redesign and monitor</a:t>
            </a:r>
          </a:p>
        </p:txBody>
      </p:sp>
      <p:sp>
        <p:nvSpPr>
          <p:cNvPr id="650" name="Note"/>
          <p:cNvSpPr/>
          <p:nvPr/>
        </p:nvSpPr>
        <p:spPr>
          <a:xfrm>
            <a:off x="274320" y="3246120"/>
            <a:ext cx="8595360" cy="68580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Remember:  </a:t>
            </a:r>
            <a:r>
              <a:rPr lang="en-GB" sz="1600" b="0" i="0" dirty="0">
                <a:solidFill>
                  <a:srgbClr val="1A1A1A"/>
                </a:solidFill>
              </a:rPr>
              <a:t>recovery fixes the customer’s problem; redesign fixes the operation’s problem.</a:t>
            </a:r>
          </a:p>
        </p:txBody>
      </p:sp>
    </p:spTree>
    <p:extLst>
      <p:ext uri="{BB962C8B-B14F-4D97-AF65-F5344CB8AC3E}">
        <p14:creationId xmlns:p14="http://schemas.microsoft.com/office/powerpoint/2010/main" val="3651354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Service Sabotage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44</a:t>
            </a:fld>
            <a:endParaRPr lang="en"/>
          </a:p>
        </p:txBody>
      </p:sp>
      <p:sp>
        <p:nvSpPr>
          <p:cNvPr id="871" name="SD"/>
          <p:cNvSpPr/>
          <p:nvPr/>
        </p:nvSpPr>
        <p:spPr>
          <a:xfrm>
            <a:off x="274320" y="914400"/>
            <a:ext cx="8595360" cy="960120"/>
          </a:xfrm>
          <a:prstGeom prst="roundRect">
            <a:avLst>
              <a:gd name="adj" fmla="val 12000"/>
            </a:avLst>
          </a:prstGeom>
          <a:solidFill>
            <a:srgbClr val="FCE3D6"/>
          </a:solidFill>
          <a:ln>
            <a:noFill/>
          </a:ln>
        </p:spPr>
        <p:txBody>
          <a:bodyPr wrap="square" lIns="164592" tIns="164592" rIns="164592" bIns="164592" anchor="ctr">
            <a:noAutofit/>
          </a:bodyPr>
          <a:lstStyle/>
          <a:p>
            <a:pPr marL="0" indent="0" algn="l">
              <a:spcBef>
                <a:spcPts val="0"/>
              </a:spcBef>
              <a:spcAft>
                <a:spcPts val="100"/>
              </a:spcAft>
              <a:buNone/>
            </a:pPr>
            <a:r>
              <a:rPr lang="en-GB" sz="1700" b="1" i="0" dirty="0">
                <a:solidFill>
                  <a:srgbClr val="C2410C"/>
                </a:solidFill>
              </a:rPr>
              <a:t>Service sabotage: </a:t>
            </a:r>
            <a:r>
              <a:rPr lang="en-GB" sz="1700" b="0" i="0" dirty="0">
                <a:solidFill>
                  <a:srgbClr val="1A1A1A"/>
                </a:solidFill>
              </a:rPr>
              <a:t>employee behaviour deliberately designed to harm the service experience or disrupt service delivery.</a:t>
            </a:r>
          </a:p>
          <a:p>
            <a:pPr marL="0" indent="0" algn="l">
              <a:spcBef>
                <a:spcPts val="0"/>
              </a:spcBef>
              <a:spcAft>
                <a:spcPts val="0"/>
              </a:spcAft>
              <a:buNone/>
            </a:pPr>
            <a:r>
              <a:rPr lang="en-GB" sz="1250" b="0" i="0" dirty="0">
                <a:solidFill>
                  <a:srgbClr val="555555"/>
                </a:solidFill>
              </a:rPr>
              <a:t>Harris and Ogbonna (2006, 2012)</a:t>
            </a:r>
          </a:p>
        </p:txBody>
      </p:sp>
      <p:sp>
        <p:nvSpPr>
          <p:cNvPr id="872" name="FH"/>
          <p:cNvSpPr/>
          <p:nvPr/>
        </p:nvSpPr>
        <p:spPr>
          <a:xfrm>
            <a:off x="274320" y="2011680"/>
            <a:ext cx="8595360" cy="347472"/>
          </a:xfrm>
          <a:prstGeom prst="rect">
            <a:avLst/>
          </a:prstGeom>
          <a:noFill/>
          <a:ln>
            <a:noFill/>
          </a:ln>
        </p:spPr>
        <p:txBody>
          <a:bodyPr wrap="square" lIns="18288" tIns="18288" rIns="18288" bIns="18288" anchor="ctr">
            <a:noAutofit/>
          </a:bodyPr>
          <a:lstStyle/>
          <a:p>
            <a:pPr marL="0" indent="0" algn="l">
              <a:spcBef>
                <a:spcPts val="0"/>
              </a:spcBef>
              <a:spcAft>
                <a:spcPts val="0"/>
              </a:spcAft>
              <a:buNone/>
            </a:pPr>
            <a:r>
              <a:rPr lang="en-GB" sz="1500" b="1" i="0" dirty="0">
                <a:solidFill>
                  <a:srgbClr val="C2410C"/>
                </a:solidFill>
              </a:rPr>
              <a:t>What it looks like</a:t>
            </a:r>
          </a:p>
        </p:txBody>
      </p:sp>
      <p:sp>
        <p:nvSpPr>
          <p:cNvPr id="873" name="B0"/>
          <p:cNvSpPr/>
          <p:nvPr/>
        </p:nvSpPr>
        <p:spPr>
          <a:xfrm>
            <a:off x="274320" y="2423160"/>
            <a:ext cx="1627632" cy="1051560"/>
          </a:xfrm>
          <a:prstGeom prst="roundRect">
            <a:avLst>
              <a:gd name="adj" fmla="val 12000"/>
            </a:avLst>
          </a:prstGeom>
          <a:solidFill>
            <a:srgbClr val="C2410C"/>
          </a:solidFill>
          <a:ln>
            <a:noFill/>
          </a:ln>
        </p:spPr>
        <p:txBody>
          <a:bodyPr wrap="square" lIns="91440" tIns="91440" rIns="91440" bIns="91440" anchor="ctr">
            <a:noAutofit/>
          </a:bodyPr>
          <a:lstStyle/>
          <a:p>
            <a:pPr marL="0" indent="0" algn="ctr">
              <a:spcBef>
                <a:spcPts val="0"/>
              </a:spcBef>
              <a:spcAft>
                <a:spcPts val="0"/>
              </a:spcAft>
              <a:buNone/>
            </a:pPr>
            <a:r>
              <a:rPr lang="en-GB" sz="1400" b="1" i="0" dirty="0">
                <a:solidFill>
                  <a:srgbClr val="FFFFFF"/>
                </a:solidFill>
              </a:rPr>
              <a:t>Slowing service on purpose</a:t>
            </a:r>
          </a:p>
        </p:txBody>
      </p:sp>
      <p:sp>
        <p:nvSpPr>
          <p:cNvPr id="874" name="B1"/>
          <p:cNvSpPr/>
          <p:nvPr/>
        </p:nvSpPr>
        <p:spPr>
          <a:xfrm>
            <a:off x="2011680" y="2423160"/>
            <a:ext cx="1627632" cy="1051560"/>
          </a:xfrm>
          <a:prstGeom prst="roundRect">
            <a:avLst>
              <a:gd name="adj" fmla="val 12000"/>
            </a:avLst>
          </a:prstGeom>
          <a:solidFill>
            <a:srgbClr val="9C3A12"/>
          </a:solidFill>
          <a:ln>
            <a:noFill/>
          </a:ln>
        </p:spPr>
        <p:txBody>
          <a:bodyPr wrap="square" lIns="91440" tIns="91440" rIns="91440" bIns="91440" anchor="ctr">
            <a:noAutofit/>
          </a:bodyPr>
          <a:lstStyle/>
          <a:p>
            <a:pPr marL="0" indent="0" algn="ctr">
              <a:spcBef>
                <a:spcPts val="0"/>
              </a:spcBef>
              <a:spcAft>
                <a:spcPts val="0"/>
              </a:spcAft>
              <a:buNone/>
            </a:pPr>
            <a:r>
              <a:rPr lang="en-GB" sz="1400" b="1" i="0" dirty="0">
                <a:solidFill>
                  <a:srgbClr val="FFFFFF"/>
                </a:solidFill>
              </a:rPr>
              <a:t>Ignoring service standards</a:t>
            </a:r>
          </a:p>
        </p:txBody>
      </p:sp>
      <p:sp>
        <p:nvSpPr>
          <p:cNvPr id="875" name="B2"/>
          <p:cNvSpPr/>
          <p:nvPr/>
        </p:nvSpPr>
        <p:spPr>
          <a:xfrm>
            <a:off x="3749040" y="2423160"/>
            <a:ext cx="1627632" cy="1051560"/>
          </a:xfrm>
          <a:prstGeom prst="roundRect">
            <a:avLst>
              <a:gd name="adj" fmla="val 12000"/>
            </a:avLst>
          </a:prstGeom>
          <a:solidFill>
            <a:srgbClr val="C2410C"/>
          </a:solidFill>
          <a:ln>
            <a:noFill/>
          </a:ln>
        </p:spPr>
        <p:txBody>
          <a:bodyPr wrap="square" lIns="91440" tIns="91440" rIns="91440" bIns="91440" anchor="ctr">
            <a:noAutofit/>
          </a:bodyPr>
          <a:lstStyle/>
          <a:p>
            <a:pPr marL="0" indent="0" algn="ctr">
              <a:spcBef>
                <a:spcPts val="0"/>
              </a:spcBef>
              <a:spcAft>
                <a:spcPts val="0"/>
              </a:spcAft>
              <a:buNone/>
            </a:pPr>
            <a:r>
              <a:rPr lang="en-GB" sz="1400" b="1" i="0" dirty="0">
                <a:solidFill>
                  <a:srgbClr val="FFFFFF"/>
                </a:solidFill>
              </a:rPr>
              <a:t>Being rude to customers</a:t>
            </a:r>
          </a:p>
        </p:txBody>
      </p:sp>
      <p:sp>
        <p:nvSpPr>
          <p:cNvPr id="876" name="B3"/>
          <p:cNvSpPr/>
          <p:nvPr/>
        </p:nvSpPr>
        <p:spPr>
          <a:xfrm>
            <a:off x="5486400" y="2423160"/>
            <a:ext cx="1627632" cy="1051560"/>
          </a:xfrm>
          <a:prstGeom prst="roundRect">
            <a:avLst>
              <a:gd name="adj" fmla="val 12000"/>
            </a:avLst>
          </a:prstGeom>
          <a:solidFill>
            <a:srgbClr val="9C3A12"/>
          </a:solidFill>
          <a:ln>
            <a:noFill/>
          </a:ln>
        </p:spPr>
        <p:txBody>
          <a:bodyPr wrap="square" lIns="91440" tIns="91440" rIns="91440" bIns="91440" anchor="ctr">
            <a:noAutofit/>
          </a:bodyPr>
          <a:lstStyle/>
          <a:p>
            <a:pPr marL="0" indent="0" algn="ctr">
              <a:spcBef>
                <a:spcPts val="0"/>
              </a:spcBef>
              <a:spcAft>
                <a:spcPts val="0"/>
              </a:spcAft>
              <a:buNone/>
            </a:pPr>
            <a:r>
              <a:rPr lang="en-GB" sz="1400" b="1" i="0" dirty="0">
                <a:solidFill>
                  <a:srgbClr val="FFFFFF"/>
                </a:solidFill>
              </a:rPr>
              <a:t>Following rules rigidly to frustrate</a:t>
            </a:r>
          </a:p>
        </p:txBody>
      </p:sp>
      <p:sp>
        <p:nvSpPr>
          <p:cNvPr id="877" name="B4"/>
          <p:cNvSpPr/>
          <p:nvPr/>
        </p:nvSpPr>
        <p:spPr>
          <a:xfrm>
            <a:off x="7223760" y="2423160"/>
            <a:ext cx="1627632" cy="1051560"/>
          </a:xfrm>
          <a:prstGeom prst="roundRect">
            <a:avLst>
              <a:gd name="adj" fmla="val 12000"/>
            </a:avLst>
          </a:prstGeom>
          <a:solidFill>
            <a:srgbClr val="C2410C"/>
          </a:solidFill>
          <a:ln>
            <a:noFill/>
          </a:ln>
        </p:spPr>
        <p:txBody>
          <a:bodyPr wrap="square" lIns="91440" tIns="91440" rIns="91440" bIns="91440" anchor="ctr">
            <a:noAutofit/>
          </a:bodyPr>
          <a:lstStyle/>
          <a:p>
            <a:pPr marL="0" indent="0" algn="ctr">
              <a:spcBef>
                <a:spcPts val="0"/>
              </a:spcBef>
              <a:spcAft>
                <a:spcPts val="0"/>
              </a:spcAft>
              <a:buNone/>
            </a:pPr>
            <a:r>
              <a:rPr lang="en-GB" sz="1400" b="1" i="0" dirty="0">
                <a:solidFill>
                  <a:srgbClr val="FFFFFF"/>
                </a:solidFill>
              </a:rPr>
              <a:t>Mishandling a customer on purpose</a:t>
            </a:r>
          </a:p>
        </p:txBody>
      </p:sp>
      <p:sp>
        <p:nvSpPr>
          <p:cNvPr id="878" name="KI"/>
          <p:cNvSpPr/>
          <p:nvPr/>
        </p:nvSpPr>
        <p:spPr>
          <a:xfrm>
            <a:off x="274320" y="3657600"/>
            <a:ext cx="8595360" cy="731520"/>
          </a:xfrm>
          <a:prstGeom prst="roundRect">
            <a:avLst>
              <a:gd name="adj" fmla="val 12000"/>
            </a:avLst>
          </a:prstGeom>
          <a:solidFill>
            <a:srgbClr val="FFFFFF"/>
          </a:solidFill>
          <a:ln w="25400">
            <a:solidFill>
              <a:srgbClr val="440099"/>
            </a:solidFill>
          </a:ln>
        </p:spPr>
        <p:txBody>
          <a:bodyPr wrap="square" lIns="128016" tIns="128016" rIns="128016" bIns="128016" anchor="ctr">
            <a:noAutofit/>
          </a:bodyPr>
          <a:lstStyle/>
          <a:p>
            <a:pPr marL="0" indent="0" algn="ctr">
              <a:spcBef>
                <a:spcPts val="0"/>
              </a:spcBef>
              <a:spcAft>
                <a:spcPts val="0"/>
              </a:spcAft>
              <a:buNone/>
            </a:pPr>
            <a:r>
              <a:rPr lang="en-GB" sz="1600" b="1" i="0" dirty="0">
                <a:solidFill>
                  <a:srgbClr val="440099"/>
                </a:solidFill>
              </a:rPr>
              <a:t>The key is intent. </a:t>
            </a:r>
            <a:r>
              <a:rPr lang="en-GB" sz="1550" b="0" i="0" dirty="0">
                <a:solidFill>
                  <a:srgbClr val="1A1A1A"/>
                </a:solidFill>
              </a:rPr>
              <a:t>An honest mistake, or an overloaded employee, is service failure, not sabotage.</a:t>
            </a:r>
          </a:p>
        </p:txBody>
      </p:sp>
    </p:spTree>
    <p:extLst>
      <p:ext uri="{BB962C8B-B14F-4D97-AF65-F5344CB8AC3E}">
        <p14:creationId xmlns:p14="http://schemas.microsoft.com/office/powerpoint/2010/main" val="36513543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4208F75E-8C2F-F1D4-FBBB-71F1DB09C744}"/>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F149DE9-7B8B-6681-E79B-C52761DF4580}"/>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Service Failure</a:t>
            </a:r>
          </a:p>
        </p:txBody>
      </p:sp>
      <p:sp>
        <p:nvSpPr>
          <p:cNvPr id="80" name="Google Shape;80;p16">
            <a:extLst>
              <a:ext uri="{FF2B5EF4-FFF2-40B4-BE49-F238E27FC236}">
                <a16:creationId xmlns:a16="http://schemas.microsoft.com/office/drawing/2014/main" id="{C169653E-C69D-E777-6323-BE6C12374193}"/>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45</a:t>
            </a:fld>
            <a:endParaRPr lang="en"/>
          </a:p>
        </p:txBody>
      </p:sp>
      <p:pic>
        <p:nvPicPr>
          <p:cNvPr id="4" name="Picture 3" descr="QR code graphic designed for scanning to quickly access encoded information or a website. It features a square grid pattern with three larger squares positioned at three corners for alignment and detection.">
            <a:extLst>
              <a:ext uri="{FF2B5EF4-FFF2-40B4-BE49-F238E27FC236}">
                <a16:creationId xmlns:a16="http://schemas.microsoft.com/office/drawing/2014/main" id="{80DA7351-5894-E21A-2E48-D3AF5BB1135B}"/>
              </a:ext>
            </a:extLst>
          </p:cNvPr>
          <p:cNvPicPr>
            <a:picLocks noChangeAspect="1"/>
          </p:cNvPicPr>
          <p:nvPr/>
        </p:nvPicPr>
        <p:blipFill>
          <a:blip r:embed="rId3"/>
          <a:stretch>
            <a:fillRect/>
          </a:stretch>
        </p:blipFill>
        <p:spPr>
          <a:xfrm>
            <a:off x="150966" y="796511"/>
            <a:ext cx="3878355" cy="4346989"/>
          </a:xfrm>
          <a:prstGeom prst="rect">
            <a:avLst/>
          </a:prstGeom>
        </p:spPr>
      </p:pic>
      <p:sp>
        <p:nvSpPr>
          <p:cNvPr id="6" name="TextBox 5">
            <a:extLst>
              <a:ext uri="{FF2B5EF4-FFF2-40B4-BE49-F238E27FC236}">
                <a16:creationId xmlns:a16="http://schemas.microsoft.com/office/drawing/2014/main" id="{5464CE50-490A-5F2A-9893-86076DAC89B4}"/>
              </a:ext>
            </a:extLst>
          </p:cNvPr>
          <p:cNvSpPr txBox="1"/>
          <p:nvPr/>
        </p:nvSpPr>
        <p:spPr>
          <a:xfrm>
            <a:off x="4343400" y="2571750"/>
            <a:ext cx="4572000" cy="738664"/>
          </a:xfrm>
          <a:prstGeom prst="rect">
            <a:avLst/>
          </a:prstGeom>
          <a:noFill/>
        </p:spPr>
        <p:txBody>
          <a:bodyPr wrap="square">
            <a:spAutoFit/>
          </a:bodyPr>
          <a:lstStyle/>
          <a:p>
            <a:r>
              <a:rPr lang="en-GB" dirty="0">
                <a:hlinkClick r:id="rId4"/>
              </a:rPr>
              <a:t>https://youtu.be/MI-0W3_ndCg?si=CHA4y3xDX-HgvB4q</a:t>
            </a:r>
            <a:r>
              <a:rPr lang="en-GB" dirty="0"/>
              <a:t>.</a:t>
            </a:r>
          </a:p>
          <a:p>
            <a:endParaRPr lang="en-GB" dirty="0"/>
          </a:p>
        </p:txBody>
      </p:sp>
    </p:spTree>
    <p:extLst>
      <p:ext uri="{BB962C8B-B14F-4D97-AF65-F5344CB8AC3E}">
        <p14:creationId xmlns:p14="http://schemas.microsoft.com/office/powerpoint/2010/main" val="3477248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5">
          <a:extLst>
            <a:ext uri="{FF2B5EF4-FFF2-40B4-BE49-F238E27FC236}">
              <a16:creationId xmlns:a16="http://schemas.microsoft.com/office/drawing/2014/main" id="{3B620300-9DE6-A8FA-3C0C-69E2CC925EA9}"/>
            </a:ext>
          </a:extLst>
        </p:cNvPr>
        <p:cNvGrpSpPr/>
        <p:nvPr/>
      </p:nvGrpSpPr>
      <p:grpSpPr>
        <a:xfrm>
          <a:off x="0" y="0"/>
          <a:ext cx="0" cy="0"/>
          <a:chOff x="0" y="0"/>
          <a:chExt cx="0" cy="0"/>
        </a:xfrm>
      </p:grpSpPr>
      <p:sp>
        <p:nvSpPr>
          <p:cNvPr id="73" name="Slide Number Placeholder 2">
            <a:extLst>
              <a:ext uri="{FF2B5EF4-FFF2-40B4-BE49-F238E27FC236}">
                <a16:creationId xmlns:a16="http://schemas.microsoft.com/office/drawing/2014/main" id="{80B06972-56CA-D901-2DD3-25A982888320}"/>
              </a:ext>
            </a:extLst>
          </p:cNvPr>
          <p:cNvSpPr>
            <a:spLocks noGrp="1"/>
          </p:cNvSpPr>
          <p:nvPr>
            <p:ph type="sldNum" idx="12"/>
          </p:nvPr>
        </p:nvSpPr>
        <p:spPr>
          <a:xfrm>
            <a:off x="8444334" y="4745726"/>
            <a:ext cx="548700" cy="393600"/>
          </a:xfrm>
        </p:spPr>
        <p:txBody>
          <a:bodyPr wrap="square" anchor="t">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46</a:t>
            </a:fld>
            <a:endParaRPr lang="en" sz="900"/>
          </a:p>
        </p:txBody>
      </p:sp>
      <p:sp>
        <p:nvSpPr>
          <p:cNvPr id="9" name="TextBox 8">
            <a:extLst>
              <a:ext uri="{FF2B5EF4-FFF2-40B4-BE49-F238E27FC236}">
                <a16:creationId xmlns:a16="http://schemas.microsoft.com/office/drawing/2014/main" id="{84008BF4-E190-A99A-E187-EAC55347B968}"/>
              </a:ext>
            </a:extLst>
          </p:cNvPr>
          <p:cNvSpPr txBox="1"/>
          <p:nvPr/>
        </p:nvSpPr>
        <p:spPr>
          <a:xfrm>
            <a:off x="4572000" y="4076450"/>
            <a:ext cx="5670096" cy="307777"/>
          </a:xfrm>
          <a:prstGeom prst="rect">
            <a:avLst/>
          </a:prstGeom>
          <a:noFill/>
        </p:spPr>
        <p:txBody>
          <a:bodyPr wrap="square">
            <a:spAutoFit/>
          </a:bodyPr>
          <a:lstStyle/>
          <a:p>
            <a:r>
              <a:rPr lang="en-GB" dirty="0">
                <a:hlinkClick r:id="rId3"/>
              </a:rPr>
              <a:t>Edit Productivity and Service Failure - </a:t>
            </a:r>
            <a:r>
              <a:rPr lang="en-GB" dirty="0" err="1">
                <a:hlinkClick r:id="rId3"/>
              </a:rPr>
              <a:t>Wooclap</a:t>
            </a:r>
            <a:endParaRPr lang="en-GB" dirty="0"/>
          </a:p>
        </p:txBody>
      </p:sp>
      <p:sp>
        <p:nvSpPr>
          <p:cNvPr id="3" name="TextBox 2">
            <a:extLst>
              <a:ext uri="{FF2B5EF4-FFF2-40B4-BE49-F238E27FC236}">
                <a16:creationId xmlns:a16="http://schemas.microsoft.com/office/drawing/2014/main" id="{F4130D65-D855-B023-EBD1-30CBC236C69A}"/>
              </a:ext>
            </a:extLst>
          </p:cNvPr>
          <p:cNvSpPr txBox="1"/>
          <p:nvPr/>
        </p:nvSpPr>
        <p:spPr>
          <a:xfrm>
            <a:off x="4678134" y="2310140"/>
            <a:ext cx="3600451" cy="523220"/>
          </a:xfrm>
          <a:prstGeom prst="rect">
            <a:avLst/>
          </a:prstGeom>
          <a:noFill/>
        </p:spPr>
        <p:txBody>
          <a:bodyPr wrap="square">
            <a:spAutoFit/>
          </a:bodyPr>
          <a:lstStyle/>
          <a:p>
            <a:r>
              <a:rPr lang="en-GB" dirty="0"/>
              <a:t>https://app.wooclap.com/</a:t>
            </a:r>
            <a:r>
              <a:rPr lang="en-GB" b="1" dirty="0"/>
              <a:t>BQRYOLH</a:t>
            </a:r>
            <a:r>
              <a:rPr lang="en-GB" dirty="0"/>
              <a:t>?from=instruction-slide</a:t>
            </a:r>
          </a:p>
        </p:txBody>
      </p:sp>
      <p:pic>
        <p:nvPicPr>
          <p:cNvPr id="6" name="Picture 5">
            <a:extLst>
              <a:ext uri="{FF2B5EF4-FFF2-40B4-BE49-F238E27FC236}">
                <a16:creationId xmlns:a16="http://schemas.microsoft.com/office/drawing/2014/main" id="{E0840366-676E-89EC-0210-92CA0BBA1A45}"/>
              </a:ext>
            </a:extLst>
          </p:cNvPr>
          <p:cNvPicPr>
            <a:picLocks noChangeAspect="1"/>
          </p:cNvPicPr>
          <p:nvPr/>
        </p:nvPicPr>
        <p:blipFill>
          <a:blip r:embed="rId4"/>
          <a:stretch>
            <a:fillRect/>
          </a:stretch>
        </p:blipFill>
        <p:spPr>
          <a:xfrm>
            <a:off x="150965" y="1019190"/>
            <a:ext cx="4155695" cy="4155695"/>
          </a:xfrm>
          <a:prstGeom prst="rect">
            <a:avLst/>
          </a:prstGeom>
        </p:spPr>
      </p:pic>
    </p:spTree>
    <p:extLst>
      <p:ext uri="{BB962C8B-B14F-4D97-AF65-F5344CB8AC3E}">
        <p14:creationId xmlns:p14="http://schemas.microsoft.com/office/powerpoint/2010/main" val="479466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Motivation for Service Sabotage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47</a:t>
            </a:fld>
            <a:endParaRPr lang="en"/>
          </a:p>
        </p:txBody>
      </p:sp>
      <p:sp>
        <p:nvSpPr>
          <p:cNvPr id="858" name="MG0"/>
          <p:cNvSpPr/>
          <p:nvPr/>
        </p:nvSpPr>
        <p:spPr>
          <a:xfrm>
            <a:off x="274320" y="960120"/>
            <a:ext cx="2057400" cy="548640"/>
          </a:xfrm>
          <a:prstGeom prst="roundRect">
            <a:avLst>
              <a:gd name="adj" fmla="val 12000"/>
            </a:avLst>
          </a:prstGeom>
          <a:solidFill>
            <a:srgbClr val="D9A441"/>
          </a:solidFill>
          <a:ln>
            <a:noFill/>
          </a:ln>
        </p:spPr>
        <p:txBody>
          <a:bodyPr wrap="square" lIns="45720" tIns="45720" rIns="45720" bIns="45720" anchor="ctr">
            <a:noAutofit/>
          </a:bodyPr>
          <a:lstStyle/>
          <a:p>
            <a:pPr marL="0" indent="0" algn="ctr">
              <a:spcBef>
                <a:spcPts val="0"/>
              </a:spcBef>
              <a:spcAft>
                <a:spcPts val="0"/>
              </a:spcAft>
              <a:buNone/>
            </a:pPr>
            <a:r>
              <a:rPr lang="en-GB" sz="1700" b="1" i="0" dirty="0">
                <a:solidFill>
                  <a:srgbClr val="FFFFFF"/>
                </a:solidFill>
              </a:rPr>
              <a:t>Pressure</a:t>
            </a:r>
          </a:p>
        </p:txBody>
      </p:sp>
      <p:sp>
        <p:nvSpPr>
          <p:cNvPr id="859" name="MI0"/>
          <p:cNvSpPr/>
          <p:nvPr/>
        </p:nvSpPr>
        <p:spPr>
          <a:xfrm>
            <a:off x="274320" y="1554480"/>
            <a:ext cx="2057400" cy="2103120"/>
          </a:xfrm>
          <a:prstGeom prst="roundRect">
            <a:avLst>
              <a:gd name="adj" fmla="val 12000"/>
            </a:avLst>
          </a:prstGeom>
          <a:solidFill>
            <a:srgbClr val="FFFFFF"/>
          </a:solidFill>
          <a:ln w="19050">
            <a:solidFill>
              <a:srgbClr val="D9A441"/>
            </a:solidFill>
          </a:ln>
        </p:spPr>
        <p:txBody>
          <a:bodyPr wrap="square" lIns="128016" tIns="128016" rIns="128016" bIns="128016" anchor="t">
            <a:noAutofit/>
          </a:bodyPr>
          <a:lstStyle/>
          <a:p>
            <a:pPr marL="171450" indent="-171450" algn="l">
              <a:spcBef>
                <a:spcPts val="0"/>
              </a:spcBef>
              <a:spcAft>
                <a:spcPts val="200"/>
              </a:spcAft>
              <a:buFont typeface="Arial"/>
              <a:buChar char="•"/>
            </a:pPr>
            <a:r>
              <a:rPr lang="en-GB" sz="1450" b="0" i="0" dirty="0">
                <a:solidFill>
                  <a:srgbClr val="1A1A1A"/>
                </a:solidFill>
              </a:rPr>
              <a:t>Stress and overload</a:t>
            </a:r>
          </a:p>
          <a:p>
            <a:pPr marL="171450" indent="-171450" algn="l">
              <a:spcBef>
                <a:spcPts val="0"/>
              </a:spcBef>
              <a:spcAft>
                <a:spcPts val="200"/>
              </a:spcAft>
              <a:buFont typeface="Arial"/>
              <a:buChar char="•"/>
            </a:pPr>
            <a:r>
              <a:rPr lang="en-GB" sz="1450" b="0" i="0" dirty="0">
                <a:solidFill>
                  <a:srgbClr val="1A1A1A"/>
                </a:solidFill>
              </a:rPr>
              <a:t>Boredom or disengagement</a:t>
            </a:r>
          </a:p>
        </p:txBody>
      </p:sp>
      <p:sp>
        <p:nvSpPr>
          <p:cNvPr id="860" name="MG1"/>
          <p:cNvSpPr/>
          <p:nvPr/>
        </p:nvSpPr>
        <p:spPr>
          <a:xfrm>
            <a:off x="2441448" y="960120"/>
            <a:ext cx="2057400" cy="548640"/>
          </a:xfrm>
          <a:prstGeom prst="roundRect">
            <a:avLst>
              <a:gd name="adj" fmla="val 12000"/>
            </a:avLst>
          </a:prstGeom>
          <a:solidFill>
            <a:srgbClr val="C2410C"/>
          </a:solidFill>
          <a:ln>
            <a:noFill/>
          </a:ln>
        </p:spPr>
        <p:txBody>
          <a:bodyPr wrap="square" lIns="45720" tIns="45720" rIns="45720" bIns="45720" anchor="ctr">
            <a:noAutofit/>
          </a:bodyPr>
          <a:lstStyle/>
          <a:p>
            <a:pPr marL="0" indent="0" algn="ctr">
              <a:spcBef>
                <a:spcPts val="0"/>
              </a:spcBef>
              <a:spcAft>
                <a:spcPts val="0"/>
              </a:spcAft>
              <a:buNone/>
            </a:pPr>
            <a:r>
              <a:rPr lang="en-GB" sz="1700" b="1" i="0" dirty="0">
                <a:solidFill>
                  <a:srgbClr val="FFFFFF"/>
                </a:solidFill>
              </a:rPr>
              <a:t>Unfairness</a:t>
            </a:r>
          </a:p>
        </p:txBody>
      </p:sp>
      <p:sp>
        <p:nvSpPr>
          <p:cNvPr id="861" name="MI1"/>
          <p:cNvSpPr/>
          <p:nvPr/>
        </p:nvSpPr>
        <p:spPr>
          <a:xfrm>
            <a:off x="2441448" y="1554480"/>
            <a:ext cx="2057400" cy="2103120"/>
          </a:xfrm>
          <a:prstGeom prst="roundRect">
            <a:avLst>
              <a:gd name="adj" fmla="val 12000"/>
            </a:avLst>
          </a:prstGeom>
          <a:solidFill>
            <a:srgbClr val="FFFFFF"/>
          </a:solidFill>
          <a:ln w="19050">
            <a:solidFill>
              <a:srgbClr val="C2410C"/>
            </a:solidFill>
          </a:ln>
        </p:spPr>
        <p:txBody>
          <a:bodyPr wrap="square" lIns="128016" tIns="128016" rIns="128016" bIns="128016" anchor="t">
            <a:noAutofit/>
          </a:bodyPr>
          <a:lstStyle/>
          <a:p>
            <a:pPr marL="171450" indent="-171450" algn="l">
              <a:spcBef>
                <a:spcPts val="0"/>
              </a:spcBef>
              <a:spcAft>
                <a:spcPts val="200"/>
              </a:spcAft>
              <a:buFont typeface="Arial"/>
              <a:buChar char="•"/>
            </a:pPr>
            <a:r>
              <a:rPr lang="en-GB" sz="1450" b="0" i="0" dirty="0">
                <a:solidFill>
                  <a:srgbClr val="1A1A1A"/>
                </a:solidFill>
              </a:rPr>
              <a:t>Retaliation</a:t>
            </a:r>
          </a:p>
          <a:p>
            <a:pPr marL="171450" indent="-171450" algn="l">
              <a:spcBef>
                <a:spcPts val="0"/>
              </a:spcBef>
              <a:spcAft>
                <a:spcPts val="200"/>
              </a:spcAft>
              <a:buFont typeface="Arial"/>
              <a:buChar char="•"/>
            </a:pPr>
            <a:r>
              <a:rPr lang="en-GB" sz="1450" b="0" i="0" dirty="0">
                <a:solidFill>
                  <a:srgbClr val="1A1A1A"/>
                </a:solidFill>
              </a:rPr>
              <a:t>Perceived unfairness</a:t>
            </a:r>
          </a:p>
          <a:p>
            <a:pPr marL="171450" indent="-171450" algn="l">
              <a:spcBef>
                <a:spcPts val="0"/>
              </a:spcBef>
              <a:spcAft>
                <a:spcPts val="200"/>
              </a:spcAft>
              <a:buFont typeface="Arial"/>
              <a:buChar char="•"/>
            </a:pPr>
            <a:r>
              <a:rPr lang="en-GB" sz="1450" b="0" i="0" dirty="0">
                <a:solidFill>
                  <a:srgbClr val="1A1A1A"/>
                </a:solidFill>
              </a:rPr>
              <a:t>Customer incivility</a:t>
            </a:r>
          </a:p>
        </p:txBody>
      </p:sp>
      <p:sp>
        <p:nvSpPr>
          <p:cNvPr id="862" name="MG2"/>
          <p:cNvSpPr/>
          <p:nvPr/>
        </p:nvSpPr>
        <p:spPr>
          <a:xfrm>
            <a:off x="4608576" y="960120"/>
            <a:ext cx="2057400" cy="548640"/>
          </a:xfrm>
          <a:prstGeom prst="roundRect">
            <a:avLst>
              <a:gd name="adj" fmla="val 12000"/>
            </a:avLst>
          </a:prstGeom>
          <a:solidFill>
            <a:srgbClr val="440099"/>
          </a:solidFill>
          <a:ln>
            <a:noFill/>
          </a:ln>
        </p:spPr>
        <p:txBody>
          <a:bodyPr wrap="square" lIns="45720" tIns="45720" rIns="45720" bIns="45720" anchor="ctr">
            <a:noAutofit/>
          </a:bodyPr>
          <a:lstStyle/>
          <a:p>
            <a:pPr marL="0" indent="0" algn="ctr">
              <a:spcBef>
                <a:spcPts val="0"/>
              </a:spcBef>
              <a:spcAft>
                <a:spcPts val="0"/>
              </a:spcAft>
              <a:buNone/>
            </a:pPr>
            <a:r>
              <a:rPr lang="en-GB" sz="1700" b="1" i="0" dirty="0">
                <a:solidFill>
                  <a:srgbClr val="FFFFFF"/>
                </a:solidFill>
              </a:rPr>
              <a:t>Weak control</a:t>
            </a:r>
          </a:p>
        </p:txBody>
      </p:sp>
      <p:sp>
        <p:nvSpPr>
          <p:cNvPr id="863" name="MI2"/>
          <p:cNvSpPr/>
          <p:nvPr/>
        </p:nvSpPr>
        <p:spPr>
          <a:xfrm>
            <a:off x="4608576" y="1554480"/>
            <a:ext cx="2057400" cy="2103120"/>
          </a:xfrm>
          <a:prstGeom prst="roundRect">
            <a:avLst>
              <a:gd name="adj" fmla="val 12000"/>
            </a:avLst>
          </a:prstGeom>
          <a:solidFill>
            <a:srgbClr val="FFFFFF"/>
          </a:solidFill>
          <a:ln w="19050">
            <a:solidFill>
              <a:srgbClr val="440099"/>
            </a:solidFill>
          </a:ln>
        </p:spPr>
        <p:txBody>
          <a:bodyPr wrap="square" lIns="128016" tIns="128016" rIns="128016" bIns="128016" anchor="t">
            <a:noAutofit/>
          </a:bodyPr>
          <a:lstStyle/>
          <a:p>
            <a:pPr marL="171450" indent="-171450" algn="l">
              <a:spcBef>
                <a:spcPts val="0"/>
              </a:spcBef>
              <a:spcAft>
                <a:spcPts val="200"/>
              </a:spcAft>
              <a:buFont typeface="Arial"/>
              <a:buChar char="•"/>
            </a:pPr>
            <a:r>
              <a:rPr lang="en-GB" sz="1450" b="0" i="0" dirty="0">
                <a:solidFill>
                  <a:srgbClr val="1A1A1A"/>
                </a:solidFill>
              </a:rPr>
              <a:t>Poor supervision</a:t>
            </a:r>
          </a:p>
          <a:p>
            <a:pPr marL="171450" indent="-171450" algn="l">
              <a:spcBef>
                <a:spcPts val="0"/>
              </a:spcBef>
              <a:spcAft>
                <a:spcPts val="200"/>
              </a:spcAft>
              <a:buFont typeface="Arial"/>
              <a:buChar char="•"/>
            </a:pPr>
            <a:r>
              <a:rPr lang="en-GB" sz="1450" b="0" i="0" dirty="0">
                <a:solidFill>
                  <a:srgbClr val="1A1A1A"/>
                </a:solidFill>
              </a:rPr>
              <a:t>Loss of control</a:t>
            </a:r>
          </a:p>
          <a:p>
            <a:pPr marL="171450" indent="-171450" algn="l">
              <a:spcBef>
                <a:spcPts val="0"/>
              </a:spcBef>
              <a:spcAft>
                <a:spcPts val="200"/>
              </a:spcAft>
              <a:buFont typeface="Arial"/>
              <a:buChar char="•"/>
            </a:pPr>
            <a:r>
              <a:rPr lang="en-GB" sz="1450" b="0" i="0" dirty="0">
                <a:solidFill>
                  <a:srgbClr val="1A1A1A"/>
                </a:solidFill>
              </a:rPr>
              <a:t>Low commitment</a:t>
            </a:r>
          </a:p>
          <a:p>
            <a:pPr marL="171450" indent="-171450" algn="l">
              <a:spcBef>
                <a:spcPts val="0"/>
              </a:spcBef>
              <a:spcAft>
                <a:spcPts val="200"/>
              </a:spcAft>
              <a:buFont typeface="Arial"/>
              <a:buChar char="•"/>
            </a:pPr>
            <a:r>
              <a:rPr lang="en-GB" sz="1450" b="0" i="0" dirty="0">
                <a:solidFill>
                  <a:srgbClr val="1A1A1A"/>
                </a:solidFill>
              </a:rPr>
              <a:t>Peer norms</a:t>
            </a:r>
          </a:p>
        </p:txBody>
      </p:sp>
      <p:sp>
        <p:nvSpPr>
          <p:cNvPr id="864" name="MG3"/>
          <p:cNvSpPr/>
          <p:nvPr/>
        </p:nvSpPr>
        <p:spPr>
          <a:xfrm>
            <a:off x="6775704" y="960120"/>
            <a:ext cx="2057400" cy="548640"/>
          </a:xfrm>
          <a:prstGeom prst="roundRect">
            <a:avLst>
              <a:gd name="adj" fmla="val 12000"/>
            </a:avLst>
          </a:prstGeom>
          <a:solidFill>
            <a:srgbClr val="0B7A75"/>
          </a:solidFill>
          <a:ln>
            <a:noFill/>
          </a:ln>
        </p:spPr>
        <p:txBody>
          <a:bodyPr wrap="square" lIns="45720" tIns="45720" rIns="45720" bIns="45720" anchor="ctr">
            <a:noAutofit/>
          </a:bodyPr>
          <a:lstStyle/>
          <a:p>
            <a:pPr marL="0" indent="0" algn="ctr">
              <a:spcBef>
                <a:spcPts val="0"/>
              </a:spcBef>
              <a:spcAft>
                <a:spcPts val="0"/>
              </a:spcAft>
              <a:buNone/>
            </a:pPr>
            <a:r>
              <a:rPr lang="en-GB" sz="1700" b="1" i="0" dirty="0">
                <a:solidFill>
                  <a:srgbClr val="FFFFFF"/>
                </a:solidFill>
              </a:rPr>
              <a:t>Personal gain</a:t>
            </a:r>
          </a:p>
        </p:txBody>
      </p:sp>
      <p:sp>
        <p:nvSpPr>
          <p:cNvPr id="865" name="MI3"/>
          <p:cNvSpPr/>
          <p:nvPr/>
        </p:nvSpPr>
        <p:spPr>
          <a:xfrm>
            <a:off x="6775704" y="1554480"/>
            <a:ext cx="2057400" cy="2103120"/>
          </a:xfrm>
          <a:prstGeom prst="roundRect">
            <a:avLst>
              <a:gd name="adj" fmla="val 12000"/>
            </a:avLst>
          </a:prstGeom>
          <a:solidFill>
            <a:srgbClr val="FFFFFF"/>
          </a:solidFill>
          <a:ln w="19050">
            <a:solidFill>
              <a:srgbClr val="0B7A75"/>
            </a:solidFill>
          </a:ln>
        </p:spPr>
        <p:txBody>
          <a:bodyPr wrap="square" lIns="128016" tIns="128016" rIns="128016" bIns="128016" anchor="t">
            <a:noAutofit/>
          </a:bodyPr>
          <a:lstStyle/>
          <a:p>
            <a:pPr marL="171450" indent="-171450" algn="l">
              <a:spcBef>
                <a:spcPts val="0"/>
              </a:spcBef>
              <a:spcAft>
                <a:spcPts val="200"/>
              </a:spcAft>
              <a:buFont typeface="Arial"/>
              <a:buChar char="•"/>
            </a:pPr>
            <a:r>
              <a:rPr lang="en-GB" sz="1450" b="0" i="0" dirty="0">
                <a:solidFill>
                  <a:srgbClr val="1A1A1A"/>
                </a:solidFill>
              </a:rPr>
              <a:t>Convenience</a:t>
            </a:r>
          </a:p>
          <a:p>
            <a:pPr marL="171450" indent="-171450" algn="l">
              <a:spcBef>
                <a:spcPts val="0"/>
              </a:spcBef>
              <a:spcAft>
                <a:spcPts val="200"/>
              </a:spcAft>
              <a:buFont typeface="Arial"/>
              <a:buChar char="•"/>
            </a:pPr>
            <a:r>
              <a:rPr lang="en-GB" sz="1450" b="0" i="0" dirty="0">
                <a:solidFill>
                  <a:srgbClr val="1A1A1A"/>
                </a:solidFill>
              </a:rPr>
              <a:t>Reduced workload</a:t>
            </a:r>
          </a:p>
          <a:p>
            <a:pPr marL="171450" indent="-171450" algn="l">
              <a:spcBef>
                <a:spcPts val="0"/>
              </a:spcBef>
              <a:spcAft>
                <a:spcPts val="200"/>
              </a:spcAft>
              <a:buFont typeface="Arial"/>
              <a:buChar char="•"/>
            </a:pPr>
            <a:r>
              <a:rPr lang="en-GB" sz="1450" b="0" i="0" dirty="0">
                <a:solidFill>
                  <a:srgbClr val="1A1A1A"/>
                </a:solidFill>
              </a:rPr>
              <a:t>Tips or other benefits</a:t>
            </a:r>
          </a:p>
        </p:txBody>
      </p:sp>
      <p:sp>
        <p:nvSpPr>
          <p:cNvPr id="866" name="MN"/>
          <p:cNvSpPr/>
          <p:nvPr/>
        </p:nvSpPr>
        <p:spPr>
          <a:xfrm>
            <a:off x="274320" y="3840480"/>
            <a:ext cx="8595360" cy="59436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500" b="1" i="0" dirty="0">
                <a:solidFill>
                  <a:srgbClr val="440099"/>
                </a:solidFill>
              </a:rPr>
              <a:t>Note: </a:t>
            </a:r>
            <a:r>
              <a:rPr lang="en-GB" sz="1500" b="0" i="0" dirty="0">
                <a:solidFill>
                  <a:srgbClr val="1A1A1A"/>
                </a:solidFill>
              </a:rPr>
              <a:t>most of these motives are shaped by how work is designed and managed.</a:t>
            </a:r>
          </a:p>
        </p:txBody>
      </p:sp>
    </p:spTree>
    <p:extLst>
      <p:ext uri="{BB962C8B-B14F-4D97-AF65-F5344CB8AC3E}">
        <p14:creationId xmlns:p14="http://schemas.microsoft.com/office/powerpoint/2010/main" val="36513543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Why Work Design Matters for Sabotage</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48</a:t>
            </a:fld>
            <a:endParaRPr lang="en"/>
          </a:p>
        </p:txBody>
      </p:sp>
      <p:sp>
        <p:nvSpPr>
          <p:cNvPr id="663" name="C0Job De"/>
          <p:cNvSpPr/>
          <p:nvPr/>
        </p:nvSpPr>
        <p:spPr>
          <a:xfrm>
            <a:off x="274320" y="1051560"/>
            <a:ext cx="4219956" cy="178308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Job Demands–Resources</a:t>
            </a:r>
          </a:p>
          <a:p>
            <a:pPr marL="0" indent="0" algn="l">
              <a:spcBef>
                <a:spcPts val="0"/>
              </a:spcBef>
              <a:spcAft>
                <a:spcPts val="0"/>
              </a:spcAft>
              <a:buNone/>
            </a:pPr>
            <a:r>
              <a:rPr lang="en-GB" sz="1700" b="0" i="0" dirty="0">
                <a:solidFill>
                  <a:srgbClr val="1A1A1A"/>
                </a:solidFill>
              </a:rPr>
              <a:t>High demands with too few resources raise strain and disengagement (Bakker and Demerouti, 2007).</a:t>
            </a:r>
          </a:p>
        </p:txBody>
      </p:sp>
      <p:sp>
        <p:nvSpPr>
          <p:cNvPr id="664" name="C1Organi"/>
          <p:cNvSpPr/>
          <p:nvPr/>
        </p:nvSpPr>
        <p:spPr>
          <a:xfrm>
            <a:off x="4649724" y="1051560"/>
            <a:ext cx="4219956" cy="178308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Organisational justice</a:t>
            </a:r>
          </a:p>
          <a:p>
            <a:pPr marL="0" indent="0" algn="l">
              <a:spcBef>
                <a:spcPts val="0"/>
              </a:spcBef>
              <a:spcAft>
                <a:spcPts val="0"/>
              </a:spcAft>
              <a:buNone/>
            </a:pPr>
            <a:r>
              <a:rPr lang="en-GB" sz="1700" b="0" i="0" dirty="0">
                <a:solidFill>
                  <a:srgbClr val="1A1A1A"/>
                </a:solidFill>
              </a:rPr>
              <a:t>Perceived unfairness can provoke retaliation (Colquitt, 2001).</a:t>
            </a:r>
          </a:p>
        </p:txBody>
      </p:sp>
      <p:sp>
        <p:nvSpPr>
          <p:cNvPr id="665" name="Note"/>
          <p:cNvSpPr/>
          <p:nvPr/>
        </p:nvSpPr>
        <p:spPr>
          <a:xfrm>
            <a:off x="274320" y="3017520"/>
            <a:ext cx="8595360" cy="68580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But:  </a:t>
            </a:r>
            <a:r>
              <a:rPr lang="en-GB" sz="1600" b="0" i="0" dirty="0">
                <a:solidFill>
                  <a:srgbClr val="1A1A1A"/>
                </a:solidFill>
              </a:rPr>
              <a:t>an error, or an overloaded employee, is not automatically sabotage.</a:t>
            </a:r>
          </a:p>
        </p:txBody>
      </p:sp>
    </p:spTree>
    <p:extLst>
      <p:ext uri="{BB962C8B-B14F-4D97-AF65-F5344CB8AC3E}">
        <p14:creationId xmlns:p14="http://schemas.microsoft.com/office/powerpoint/2010/main" val="36513543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Service Sabotage and Designing Operations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49</a:t>
            </a:fld>
            <a:endParaRPr lang="en"/>
          </a:p>
        </p:txBody>
      </p:sp>
      <p:sp>
        <p:nvSpPr>
          <p:cNvPr id="867" name="DQ"/>
          <p:cNvSpPr/>
          <p:nvPr/>
        </p:nvSpPr>
        <p:spPr>
          <a:xfrm>
            <a:off x="274320" y="960120"/>
            <a:ext cx="8595360" cy="960120"/>
          </a:xfrm>
          <a:prstGeom prst="roundRect">
            <a:avLst>
              <a:gd name="adj" fmla="val 12000"/>
            </a:avLst>
          </a:prstGeom>
          <a:solidFill>
            <a:srgbClr val="EDE6F7"/>
          </a:solidFill>
          <a:ln>
            <a:noFill/>
          </a:ln>
        </p:spPr>
        <p:txBody>
          <a:bodyPr wrap="square" lIns="182880" tIns="182880" rIns="182880" bIns="182880" anchor="ctr">
            <a:noAutofit/>
          </a:bodyPr>
          <a:lstStyle/>
          <a:p>
            <a:pPr marL="0" indent="0" algn="ctr">
              <a:spcBef>
                <a:spcPts val="0"/>
              </a:spcBef>
              <a:spcAft>
                <a:spcPts val="0"/>
              </a:spcAft>
              <a:buNone/>
            </a:pPr>
            <a:r>
              <a:rPr lang="en-GB" sz="1800" b="1" i="0" dirty="0">
                <a:solidFill>
                  <a:srgbClr val="440099"/>
                </a:solidFill>
              </a:rPr>
              <a:t>Is service sabotage mainly an employee problem, or can poor operations design create the conditions for it?</a:t>
            </a:r>
          </a:p>
        </p:txBody>
      </p:sp>
      <p:sp>
        <p:nvSpPr>
          <p:cNvPr id="868" name="C0An emp"/>
          <p:cNvSpPr/>
          <p:nvPr/>
        </p:nvSpPr>
        <p:spPr>
          <a:xfrm>
            <a:off x="274320" y="2103120"/>
            <a:ext cx="4219956" cy="155448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An employee problem?</a:t>
            </a:r>
          </a:p>
          <a:p>
            <a:pPr marL="171450" indent="-171450" algn="l">
              <a:spcBef>
                <a:spcPts val="0"/>
              </a:spcBef>
              <a:spcAft>
                <a:spcPts val="150"/>
              </a:spcAft>
              <a:buFont typeface="Arial"/>
              <a:buChar char="•"/>
            </a:pPr>
            <a:r>
              <a:rPr lang="en-GB" sz="1500" b="0" i="0" dirty="0">
                <a:solidFill>
                  <a:srgbClr val="1A1A1A"/>
                </a:solidFill>
              </a:rPr>
              <a:t>Individual choice and attitude</a:t>
            </a:r>
          </a:p>
          <a:p>
            <a:pPr marL="171450" indent="-171450" algn="l">
              <a:spcBef>
                <a:spcPts val="0"/>
              </a:spcBef>
              <a:spcAft>
                <a:spcPts val="150"/>
              </a:spcAft>
              <a:buFont typeface="Arial"/>
              <a:buChar char="•"/>
            </a:pPr>
            <a:r>
              <a:rPr lang="en-GB" sz="1500" b="0" i="0" dirty="0">
                <a:solidFill>
                  <a:srgbClr val="1A1A1A"/>
                </a:solidFill>
              </a:rPr>
              <a:t>Fix through hiring, rules and discipline</a:t>
            </a:r>
          </a:p>
        </p:txBody>
      </p:sp>
      <p:sp>
        <p:nvSpPr>
          <p:cNvPr id="869" name="C1A desi"/>
          <p:cNvSpPr/>
          <p:nvPr/>
        </p:nvSpPr>
        <p:spPr>
          <a:xfrm>
            <a:off x="4649724" y="2103120"/>
            <a:ext cx="4219956" cy="155448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C2410C"/>
                </a:solidFill>
              </a:rPr>
              <a:t>A design problem?</a:t>
            </a:r>
          </a:p>
          <a:p>
            <a:pPr marL="171450" indent="-171450" algn="l">
              <a:spcBef>
                <a:spcPts val="0"/>
              </a:spcBef>
              <a:spcAft>
                <a:spcPts val="150"/>
              </a:spcAft>
              <a:buFont typeface="Arial"/>
              <a:buChar char="•"/>
            </a:pPr>
            <a:r>
              <a:rPr lang="en-GB" sz="1500" b="0" i="0" dirty="0">
                <a:solidFill>
                  <a:srgbClr val="1A1A1A"/>
                </a:solidFill>
              </a:rPr>
              <a:t>Overload, unfair targets, weak supervision</a:t>
            </a:r>
          </a:p>
          <a:p>
            <a:pPr marL="171450" indent="-171450" algn="l">
              <a:spcBef>
                <a:spcPts val="0"/>
              </a:spcBef>
              <a:spcAft>
                <a:spcPts val="150"/>
              </a:spcAft>
              <a:buFont typeface="Arial"/>
              <a:buChar char="•"/>
            </a:pPr>
            <a:r>
              <a:rPr lang="en-GB" sz="1500" b="0" i="0" dirty="0">
                <a:solidFill>
                  <a:srgbClr val="1A1A1A"/>
                </a:solidFill>
              </a:rPr>
              <a:t>Fix through workload, fairness and process design</a:t>
            </a:r>
          </a:p>
        </p:txBody>
      </p:sp>
      <p:sp>
        <p:nvSpPr>
          <p:cNvPr id="870" name="DT"/>
          <p:cNvSpPr/>
          <p:nvPr/>
        </p:nvSpPr>
        <p:spPr>
          <a:xfrm>
            <a:off x="274320" y="3840480"/>
            <a:ext cx="8595360" cy="59436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500" b="1" i="0" dirty="0">
                <a:solidFill>
                  <a:srgbClr val="C2410C"/>
                </a:solidFill>
              </a:rPr>
              <a:t>In pairs: </a:t>
            </a:r>
            <a:r>
              <a:rPr lang="en-GB" sz="1500" b="0" i="0" dirty="0">
                <a:solidFill>
                  <a:srgbClr val="1A1A1A"/>
                </a:solidFill>
              </a:rPr>
              <a:t>take a side, then name one design change that would reduce sabotage.</a:t>
            </a:r>
          </a:p>
        </p:txBody>
      </p:sp>
    </p:spTree>
    <p:extLst>
      <p:ext uri="{BB962C8B-B14F-4D97-AF65-F5344CB8AC3E}">
        <p14:creationId xmlns:p14="http://schemas.microsoft.com/office/powerpoint/2010/main" val="36513543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Part 4</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50</a:t>
            </a:fld>
            <a:endParaRPr lang="en"/>
          </a:p>
        </p:txBody>
      </p:sp>
      <p:sp>
        <p:nvSpPr>
          <p:cNvPr id="524" name="DB"/>
          <p:cNvSpPr/>
          <p:nvPr/>
        </p:nvSpPr>
        <p:spPr>
          <a:xfrm>
            <a:off x="274320" y="1280160"/>
            <a:ext cx="8595360" cy="1188720"/>
          </a:xfrm>
          <a:prstGeom prst="roundRect">
            <a:avLst>
              <a:gd name="adj" fmla="val 12000"/>
            </a:avLst>
          </a:prstGeom>
          <a:solidFill>
            <a:srgbClr val="1F5FAD"/>
          </a:solidFill>
          <a:ln>
            <a:noFill/>
          </a:ln>
        </p:spPr>
        <p:txBody>
          <a:bodyPr wrap="square" lIns="274320" tIns="274320" rIns="274320" bIns="274320" anchor="ctr">
            <a:noAutofit/>
          </a:bodyPr>
          <a:lstStyle/>
          <a:p>
            <a:pPr marL="0" indent="0" algn="l">
              <a:spcBef>
                <a:spcPts val="0"/>
              </a:spcBef>
              <a:spcAft>
                <a:spcPts val="150"/>
              </a:spcAft>
              <a:buNone/>
            </a:pPr>
            <a:r>
              <a:rPr lang="en-GB" sz="1400" b="1" i="0" dirty="0">
                <a:solidFill>
                  <a:srgbClr val="FFFFFF"/>
                </a:solidFill>
              </a:rPr>
              <a:t>PART 4</a:t>
            </a:r>
          </a:p>
          <a:p>
            <a:pPr marL="0" indent="0" algn="l">
              <a:spcBef>
                <a:spcPts val="0"/>
              </a:spcBef>
              <a:spcAft>
                <a:spcPts val="0"/>
              </a:spcAft>
              <a:buNone/>
            </a:pPr>
            <a:r>
              <a:rPr lang="en-GB" sz="2800" b="1" i="0" dirty="0">
                <a:solidFill>
                  <a:srgbClr val="FFFFFF"/>
                </a:solidFill>
              </a:rPr>
              <a:t>Application</a:t>
            </a:r>
          </a:p>
        </p:txBody>
      </p:sp>
      <p:sp>
        <p:nvSpPr>
          <p:cNvPr id="525" name="Strip"/>
          <p:cNvSpPr/>
          <p:nvPr/>
        </p:nvSpPr>
        <p:spPr>
          <a:xfrm>
            <a:off x="274320" y="2651760"/>
            <a:ext cx="8595360" cy="731520"/>
          </a:xfrm>
          <a:prstGeom prst="roundRect">
            <a:avLst>
              <a:gd name="adj" fmla="val 12000"/>
            </a:avLst>
          </a:prstGeom>
          <a:solidFill>
            <a:srgbClr val="EDE6F7"/>
          </a:solidFill>
          <a:ln>
            <a:noFill/>
          </a:ln>
        </p:spPr>
        <p:txBody>
          <a:bodyPr wrap="square" lIns="128016" tIns="128016" rIns="128016" bIns="128016" anchor="ctr">
            <a:noAutofit/>
          </a:bodyPr>
          <a:lstStyle/>
          <a:p>
            <a:pPr marL="0" indent="0" algn="l">
              <a:spcBef>
                <a:spcPts val="0"/>
              </a:spcBef>
              <a:spcAft>
                <a:spcPts val="0"/>
              </a:spcAft>
              <a:buNone/>
            </a:pPr>
            <a:r>
              <a:rPr lang="en-GB" sz="1700" b="1" i="0" dirty="0">
                <a:solidFill>
                  <a:srgbClr val="1F5FAD"/>
                </a:solidFill>
              </a:rPr>
              <a:t>Key question: </a:t>
            </a:r>
            <a:r>
              <a:rPr lang="en-GB" sz="1700" b="0" i="0" dirty="0">
                <a:solidFill>
                  <a:srgbClr val="1A1A1A"/>
                </a:solidFill>
              </a:rPr>
              <a:t>can you bring productivity, flow and service failure together?</a:t>
            </a:r>
          </a:p>
        </p:txBody>
      </p:sp>
    </p:spTree>
    <p:extLst>
      <p:ext uri="{BB962C8B-B14F-4D97-AF65-F5344CB8AC3E}">
        <p14:creationId xmlns:p14="http://schemas.microsoft.com/office/powerpoint/2010/main" val="36513543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Integrated Activity: The Overloaded Café</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51</a:t>
            </a:fld>
            <a:endParaRPr lang="en"/>
          </a:p>
        </p:txBody>
      </p:sp>
      <p:sp>
        <p:nvSpPr>
          <p:cNvPr id="666" name="Chip"/>
          <p:cNvSpPr/>
          <p:nvPr/>
        </p:nvSpPr>
        <p:spPr>
          <a:xfrm>
            <a:off x="274320" y="914400"/>
            <a:ext cx="987552" cy="292608"/>
          </a:xfrm>
          <a:prstGeom prst="roundRect">
            <a:avLst>
              <a:gd name="adj" fmla="val 12000"/>
            </a:avLst>
          </a:prstGeom>
          <a:solidFill>
            <a:srgbClr val="1F5FAD"/>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ACTIVITY</a:t>
            </a:r>
          </a:p>
        </p:txBody>
      </p:sp>
      <p:sp>
        <p:nvSpPr>
          <p:cNvPr id="667" name="Tag15–20 minutes"/>
          <p:cNvSpPr/>
          <p:nvPr/>
        </p:nvSpPr>
        <p:spPr>
          <a:xfrm>
            <a:off x="1353312" y="914400"/>
            <a:ext cx="1193292" cy="292608"/>
          </a:xfrm>
          <a:prstGeom prst="roundRect">
            <a:avLst>
              <a:gd name="adj" fmla="val 12000"/>
            </a:avLst>
          </a:prstGeom>
          <a:solidFill>
            <a:srgbClr val="FFFFFF"/>
          </a:solidFill>
          <a:ln w="12700">
            <a:solidFill>
              <a:srgbClr val="1F5FAD"/>
            </a:solid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1F5FAD"/>
                </a:solidFill>
              </a:rPr>
              <a:t>15–20 minutes</a:t>
            </a:r>
          </a:p>
        </p:txBody>
      </p:sp>
      <p:sp>
        <p:nvSpPr>
          <p:cNvPr id="668" name="TagGroups of 4–5"/>
          <p:cNvSpPr/>
          <p:nvPr/>
        </p:nvSpPr>
        <p:spPr>
          <a:xfrm>
            <a:off x="2638044" y="914400"/>
            <a:ext cx="1193292" cy="292608"/>
          </a:xfrm>
          <a:prstGeom prst="roundRect">
            <a:avLst>
              <a:gd name="adj" fmla="val 12000"/>
            </a:avLst>
          </a:prstGeom>
          <a:solidFill>
            <a:srgbClr val="FFFFFF"/>
          </a:solidFill>
          <a:ln w="12700">
            <a:solidFill>
              <a:srgbClr val="1F5FAD"/>
            </a:solid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1F5FAD"/>
                </a:solidFill>
              </a:rPr>
              <a:t>Groups of 4–5</a:t>
            </a:r>
          </a:p>
        </p:txBody>
      </p:sp>
      <p:sp>
        <p:nvSpPr>
          <p:cNvPr id="669" name="C0Scenar"/>
          <p:cNvSpPr/>
          <p:nvPr/>
        </p:nvSpPr>
        <p:spPr>
          <a:xfrm>
            <a:off x="274320" y="1325880"/>
            <a:ext cx="4219956" cy="21031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1F5FAD"/>
                </a:solidFill>
              </a:rPr>
              <a:t>Scenario</a:t>
            </a:r>
          </a:p>
          <a:p>
            <a:pPr marL="171450" indent="-171450" algn="l">
              <a:spcBef>
                <a:spcPts val="0"/>
              </a:spcBef>
              <a:spcAft>
                <a:spcPts val="150"/>
              </a:spcAft>
              <a:buFont typeface="Arial"/>
              <a:buChar char="•"/>
            </a:pPr>
            <a:r>
              <a:rPr lang="en-GB" sz="1550" b="0" i="0" dirty="0">
                <a:solidFill>
                  <a:srgbClr val="1A1A1A"/>
                </a:solidFill>
              </a:rPr>
              <a:t>2 baristas complete 48 drinks in an hour</a:t>
            </a:r>
          </a:p>
          <a:p>
            <a:pPr marL="171450" indent="-171450" algn="l">
              <a:spcBef>
                <a:spcPts val="0"/>
              </a:spcBef>
              <a:spcAft>
                <a:spcPts val="150"/>
              </a:spcAft>
              <a:buFont typeface="Arial"/>
              <a:buChar char="•"/>
            </a:pPr>
            <a:r>
              <a:rPr lang="en-GB" sz="1550" b="0" i="0" dirty="0">
                <a:solidFill>
                  <a:srgbClr val="1A1A1A"/>
                </a:solidFill>
              </a:rPr>
              <a:t>A customer: 6 min queue, 3 min preparation, 5 min waiting to collect</a:t>
            </a:r>
          </a:p>
        </p:txBody>
      </p:sp>
      <p:sp>
        <p:nvSpPr>
          <p:cNvPr id="670" name="C1Your t"/>
          <p:cNvSpPr/>
          <p:nvPr/>
        </p:nvSpPr>
        <p:spPr>
          <a:xfrm>
            <a:off x="4649724" y="1325880"/>
            <a:ext cx="4219956" cy="2103120"/>
          </a:xfrm>
          <a:prstGeom prst="roundRect">
            <a:avLst>
              <a:gd name="adj" fmla="val 12000"/>
            </a:avLst>
          </a:prstGeom>
          <a:solidFill>
            <a:srgbClr val="FFFFFF"/>
          </a:solidFill>
          <a:ln w="12700">
            <a:solidFill>
              <a:srgbClr val="D5D0DE"/>
            </a:solidFill>
          </a:ln>
        </p:spPr>
        <p:txBody>
          <a:bodyPr wrap="square" lIns="128016" tIns="128016" rIns="128016" bIns="128016" anchor="t">
            <a:noAutofit/>
          </a:bodyPr>
          <a:lstStyle/>
          <a:p>
            <a:pPr marL="0" indent="0" algn="l">
              <a:spcBef>
                <a:spcPts val="0"/>
              </a:spcBef>
              <a:spcAft>
                <a:spcPts val="300"/>
              </a:spcAft>
              <a:buNone/>
            </a:pPr>
            <a:r>
              <a:rPr lang="en-GB" sz="1900" b="1" i="0" dirty="0">
                <a:solidFill>
                  <a:srgbClr val="1F5FAD"/>
                </a:solidFill>
              </a:rPr>
              <a:t>Your tasks</a:t>
            </a:r>
          </a:p>
          <a:p>
            <a:pPr marL="171450" indent="-171450" algn="l">
              <a:spcBef>
                <a:spcPts val="0"/>
              </a:spcBef>
              <a:spcAft>
                <a:spcPts val="150"/>
              </a:spcAft>
              <a:buFont typeface="Arial"/>
              <a:buChar char="•"/>
            </a:pPr>
            <a:r>
              <a:rPr lang="en-GB" sz="1550" b="0" i="0" dirty="0">
                <a:solidFill>
                  <a:srgbClr val="1A1A1A"/>
                </a:solidFill>
              </a:rPr>
              <a:t>Calculate labour productivity and throughput efficiency</a:t>
            </a:r>
          </a:p>
          <a:p>
            <a:pPr marL="171450" indent="-171450" algn="l">
              <a:spcBef>
                <a:spcPts val="0"/>
              </a:spcBef>
              <a:spcAft>
                <a:spcPts val="150"/>
              </a:spcAft>
              <a:buFont typeface="Arial"/>
              <a:buChar char="•"/>
            </a:pPr>
            <a:r>
              <a:rPr lang="en-GB" sz="1550" b="0" i="0" dirty="0">
                <a:solidFill>
                  <a:srgbClr val="1A1A1A"/>
                </a:solidFill>
              </a:rPr>
              <a:t>Find the bottleneck and failure risks</a:t>
            </a:r>
          </a:p>
          <a:p>
            <a:pPr marL="171450" indent="-171450" algn="l">
              <a:spcBef>
                <a:spcPts val="0"/>
              </a:spcBef>
              <a:spcAft>
                <a:spcPts val="150"/>
              </a:spcAft>
              <a:buFont typeface="Arial"/>
              <a:buChar char="•"/>
            </a:pPr>
            <a:r>
              <a:rPr lang="en-GB" sz="1550" b="0" i="0" dirty="0">
                <a:solidFill>
                  <a:srgbClr val="1A1A1A"/>
                </a:solidFill>
              </a:rPr>
              <a:t>Recommend two changes and the KPIs to test them</a:t>
            </a:r>
          </a:p>
        </p:txBody>
      </p:sp>
      <p:sp>
        <p:nvSpPr>
          <p:cNvPr id="671" name="Note"/>
          <p:cNvSpPr/>
          <p:nvPr/>
        </p:nvSpPr>
        <p:spPr>
          <a:xfrm>
            <a:off x="274320" y="3611880"/>
            <a:ext cx="8595360" cy="548640"/>
          </a:xfrm>
          <a:prstGeom prst="roundRect">
            <a:avLst>
              <a:gd name="adj" fmla="val 12000"/>
            </a:avLst>
          </a:prstGeom>
          <a:solidFill>
            <a:srgbClr val="FFFFFF"/>
          </a:solidFill>
          <a:ln w="25400">
            <a:solidFill>
              <a:srgbClr val="1F5FAD"/>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1F5FAD"/>
                </a:solidFill>
              </a:rPr>
              <a:t>Use the theory:  </a:t>
            </a:r>
            <a:r>
              <a:rPr lang="en-GB" sz="1600" b="0" i="0" dirty="0">
                <a:solidFill>
                  <a:srgbClr val="1A1A1A"/>
                </a:solidFill>
              </a:rPr>
              <a:t>Lean, TOC, queueing or the gaps model.</a:t>
            </a:r>
          </a:p>
        </p:txBody>
      </p:sp>
    </p:spTree>
    <p:extLst>
      <p:ext uri="{BB962C8B-B14F-4D97-AF65-F5344CB8AC3E}">
        <p14:creationId xmlns:p14="http://schemas.microsoft.com/office/powerpoint/2010/main" val="36513543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Integrated Activity: Model Answer</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52</a:t>
            </a:fld>
            <a:endParaRPr lang="en"/>
          </a:p>
        </p:txBody>
      </p:sp>
      <p:sp>
        <p:nvSpPr>
          <p:cNvPr id="672" name="Chip"/>
          <p:cNvSpPr/>
          <p:nvPr/>
        </p:nvSpPr>
        <p:spPr>
          <a:xfrm>
            <a:off x="274320" y="914400"/>
            <a:ext cx="1389888" cy="292608"/>
          </a:xfrm>
          <a:prstGeom prst="roundRect">
            <a:avLst>
              <a:gd name="adj" fmla="val 12000"/>
            </a:avLst>
          </a:prstGeom>
          <a:solidFill>
            <a:srgbClr val="1F5FAD"/>
          </a:solidFill>
          <a:ln>
            <a:noFill/>
          </a:ln>
        </p:spPr>
        <p:txBody>
          <a:bodyPr wrap="square" lIns="18288" tIns="18288" rIns="18288" bIns="18288" anchor="ctr">
            <a:noAutofit/>
          </a:bodyPr>
          <a:lstStyle/>
          <a:p>
            <a:pPr marL="0" indent="0" algn="ctr">
              <a:spcBef>
                <a:spcPts val="0"/>
              </a:spcBef>
              <a:spcAft>
                <a:spcPts val="0"/>
              </a:spcAft>
              <a:buNone/>
            </a:pPr>
            <a:r>
              <a:rPr lang="en-GB" sz="1100" b="1" i="0" dirty="0">
                <a:solidFill>
                  <a:srgbClr val="FFFFFF"/>
                </a:solidFill>
              </a:rPr>
              <a:t>MODEL ANSWER</a:t>
            </a:r>
          </a:p>
        </p:txBody>
      </p:sp>
      <p:sp>
        <p:nvSpPr>
          <p:cNvPr id="673" name="RL0"/>
          <p:cNvSpPr/>
          <p:nvPr/>
        </p:nvSpPr>
        <p:spPr>
          <a:xfrm>
            <a:off x="274320" y="1325880"/>
            <a:ext cx="1828800" cy="594360"/>
          </a:xfrm>
          <a:prstGeom prst="roundRect">
            <a:avLst>
              <a:gd name="adj" fmla="val 12000"/>
            </a:avLst>
          </a:prstGeom>
          <a:solidFill>
            <a:srgbClr val="1F5FAD"/>
          </a:solidFill>
          <a:ln>
            <a:noFill/>
          </a:ln>
        </p:spPr>
        <p:txBody>
          <a:bodyPr wrap="square" lIns="27432" tIns="27432" rIns="27432" bIns="27432" anchor="ctr">
            <a:noAutofit/>
          </a:bodyPr>
          <a:lstStyle/>
          <a:p>
            <a:pPr marL="0" indent="0" algn="ctr">
              <a:spcBef>
                <a:spcPts val="0"/>
              </a:spcBef>
              <a:spcAft>
                <a:spcPts val="0"/>
              </a:spcAft>
              <a:buNone/>
            </a:pPr>
            <a:r>
              <a:rPr lang="en-GB" sz="1600" b="1" i="0" dirty="0">
                <a:solidFill>
                  <a:srgbClr val="FFFFFF"/>
                </a:solidFill>
              </a:rPr>
              <a:t>Productivity</a:t>
            </a:r>
          </a:p>
        </p:txBody>
      </p:sp>
      <p:sp>
        <p:nvSpPr>
          <p:cNvPr id="674" name="RW0"/>
          <p:cNvSpPr/>
          <p:nvPr/>
        </p:nvSpPr>
        <p:spPr>
          <a:xfrm>
            <a:off x="2194560" y="1325880"/>
            <a:ext cx="4754880" cy="59436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00" b="0" i="0" dirty="0">
                <a:solidFill>
                  <a:srgbClr val="1A1A1A"/>
                </a:solidFill>
              </a:rPr>
              <a:t>Output ÷ labour hours = 48 ÷ 2</a:t>
            </a:r>
          </a:p>
        </p:txBody>
      </p:sp>
      <p:sp>
        <p:nvSpPr>
          <p:cNvPr id="675" name="RA0"/>
          <p:cNvSpPr/>
          <p:nvPr/>
        </p:nvSpPr>
        <p:spPr>
          <a:xfrm>
            <a:off x="7040880" y="1325880"/>
            <a:ext cx="1828800" cy="594360"/>
          </a:xfrm>
          <a:prstGeom prst="roundRect">
            <a:avLst>
              <a:gd name="adj" fmla="val 12000"/>
            </a:avLst>
          </a:prstGeom>
          <a:solidFill>
            <a:srgbClr val="FCE3D6"/>
          </a:solidFill>
          <a:ln>
            <a:noFill/>
          </a:ln>
        </p:spPr>
        <p:txBody>
          <a:bodyPr wrap="square" lIns="45720" tIns="45720" rIns="45720" bIns="45720" anchor="ctr">
            <a:noAutofit/>
          </a:bodyPr>
          <a:lstStyle/>
          <a:p>
            <a:pPr marL="0" indent="0" algn="ctr">
              <a:spcBef>
                <a:spcPts val="0"/>
              </a:spcBef>
              <a:spcAft>
                <a:spcPts val="0"/>
              </a:spcAft>
              <a:buNone/>
            </a:pPr>
            <a:r>
              <a:rPr lang="en-GB" sz="1600" b="1" i="0" dirty="0">
                <a:solidFill>
                  <a:srgbClr val="1F5FAD"/>
                </a:solidFill>
              </a:rPr>
              <a:t>24 per labour hour</a:t>
            </a:r>
          </a:p>
        </p:txBody>
      </p:sp>
      <p:sp>
        <p:nvSpPr>
          <p:cNvPr id="676" name="RL1"/>
          <p:cNvSpPr/>
          <p:nvPr/>
        </p:nvSpPr>
        <p:spPr>
          <a:xfrm>
            <a:off x="274320" y="2039112"/>
            <a:ext cx="1828800" cy="594360"/>
          </a:xfrm>
          <a:prstGeom prst="roundRect">
            <a:avLst>
              <a:gd name="adj" fmla="val 12000"/>
            </a:avLst>
          </a:prstGeom>
          <a:solidFill>
            <a:srgbClr val="1F5FAD"/>
          </a:solidFill>
          <a:ln>
            <a:noFill/>
          </a:ln>
        </p:spPr>
        <p:txBody>
          <a:bodyPr wrap="square" lIns="27432" tIns="27432" rIns="27432" bIns="27432" anchor="ctr">
            <a:noAutofit/>
          </a:bodyPr>
          <a:lstStyle/>
          <a:p>
            <a:pPr marL="0" indent="0" algn="ctr">
              <a:spcBef>
                <a:spcPts val="0"/>
              </a:spcBef>
              <a:spcAft>
                <a:spcPts val="0"/>
              </a:spcAft>
              <a:buNone/>
            </a:pPr>
            <a:r>
              <a:rPr lang="en-GB" sz="1600" b="1" i="0" dirty="0">
                <a:solidFill>
                  <a:srgbClr val="FFFFFF"/>
                </a:solidFill>
              </a:rPr>
              <a:t>Efficiency</a:t>
            </a:r>
          </a:p>
        </p:txBody>
      </p:sp>
      <p:sp>
        <p:nvSpPr>
          <p:cNvPr id="677" name="RW1"/>
          <p:cNvSpPr/>
          <p:nvPr/>
        </p:nvSpPr>
        <p:spPr>
          <a:xfrm>
            <a:off x="2194560" y="2039112"/>
            <a:ext cx="4754880" cy="59436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600" b="0" i="0" dirty="0">
                <a:solidFill>
                  <a:srgbClr val="1A1A1A"/>
                </a:solidFill>
              </a:rPr>
              <a:t>Value-added ÷ total time × 100 = 3 ÷ 14 × 100</a:t>
            </a:r>
          </a:p>
        </p:txBody>
      </p:sp>
      <p:sp>
        <p:nvSpPr>
          <p:cNvPr id="678" name="RA1"/>
          <p:cNvSpPr/>
          <p:nvPr/>
        </p:nvSpPr>
        <p:spPr>
          <a:xfrm>
            <a:off x="7040880" y="2039112"/>
            <a:ext cx="1828800" cy="594360"/>
          </a:xfrm>
          <a:prstGeom prst="roundRect">
            <a:avLst>
              <a:gd name="adj" fmla="val 12000"/>
            </a:avLst>
          </a:prstGeom>
          <a:solidFill>
            <a:srgbClr val="FCE3D6"/>
          </a:solidFill>
          <a:ln>
            <a:noFill/>
          </a:ln>
        </p:spPr>
        <p:txBody>
          <a:bodyPr wrap="square" lIns="45720" tIns="45720" rIns="45720" bIns="45720" anchor="ctr">
            <a:noAutofit/>
          </a:bodyPr>
          <a:lstStyle/>
          <a:p>
            <a:pPr marL="0" indent="0" algn="ctr">
              <a:spcBef>
                <a:spcPts val="0"/>
              </a:spcBef>
              <a:spcAft>
                <a:spcPts val="0"/>
              </a:spcAft>
              <a:buNone/>
            </a:pPr>
            <a:r>
              <a:rPr lang="en-GB" sz="1600" b="1" i="0" dirty="0">
                <a:solidFill>
                  <a:srgbClr val="1F5FAD"/>
                </a:solidFill>
              </a:rPr>
              <a:t>21.4%</a:t>
            </a:r>
          </a:p>
        </p:txBody>
      </p:sp>
      <p:sp>
        <p:nvSpPr>
          <p:cNvPr id="679" name="Strip"/>
          <p:cNvSpPr/>
          <p:nvPr/>
        </p:nvSpPr>
        <p:spPr>
          <a:xfrm>
            <a:off x="274320" y="2834640"/>
            <a:ext cx="8595360" cy="777240"/>
          </a:xfrm>
          <a:prstGeom prst="roundRect">
            <a:avLst>
              <a:gd name="adj" fmla="val 12000"/>
            </a:avLst>
          </a:prstGeom>
          <a:solidFill>
            <a:srgbClr val="DCE8F7"/>
          </a:solidFill>
          <a:ln>
            <a:noFill/>
          </a:ln>
        </p:spPr>
        <p:txBody>
          <a:bodyPr wrap="square" lIns="128016" tIns="128016" rIns="128016" bIns="128016" anchor="ctr">
            <a:noAutofit/>
          </a:bodyPr>
          <a:lstStyle/>
          <a:p>
            <a:pPr marL="0" indent="0" algn="l">
              <a:spcBef>
                <a:spcPts val="0"/>
              </a:spcBef>
              <a:spcAft>
                <a:spcPts val="0"/>
              </a:spcAft>
              <a:buNone/>
            </a:pPr>
            <a:r>
              <a:rPr lang="en-GB" sz="1650" b="1" i="0" dirty="0">
                <a:solidFill>
                  <a:srgbClr val="1F5FAD"/>
                </a:solidFill>
              </a:rPr>
              <a:t>Responses: </a:t>
            </a:r>
            <a:r>
              <a:rPr lang="en-GB" sz="1650" b="0" i="0" dirty="0">
                <a:solidFill>
                  <a:srgbClr val="1A1A1A"/>
                </a:solidFill>
              </a:rPr>
              <a:t>remove handoffs (Lean), relieve the bottleneck (TOC), match staff to arrivals (queueing), manage expectations (gaps).</a:t>
            </a:r>
          </a:p>
        </p:txBody>
      </p:sp>
      <p:sp>
        <p:nvSpPr>
          <p:cNvPr id="680" name="Note"/>
          <p:cNvSpPr/>
          <p:nvPr/>
        </p:nvSpPr>
        <p:spPr>
          <a:xfrm>
            <a:off x="274320" y="3749040"/>
            <a:ext cx="8595360" cy="502920"/>
          </a:xfrm>
          <a:prstGeom prst="roundRect">
            <a:avLst>
              <a:gd name="adj" fmla="val 12000"/>
            </a:avLst>
          </a:prstGeom>
          <a:solidFill>
            <a:srgbClr val="FFFFFF"/>
          </a:solidFill>
          <a:ln w="25400">
            <a:solidFill>
              <a:srgbClr val="C2410C"/>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C2410C"/>
                </a:solidFill>
              </a:rPr>
              <a:t>Discuss:  </a:t>
            </a:r>
            <a:r>
              <a:rPr lang="en-GB" sz="1600" b="0" i="0" dirty="0">
                <a:solidFill>
                  <a:srgbClr val="1A1A1A"/>
                </a:solidFill>
              </a:rPr>
              <a:t>would cutting one barista really improve the operation?</a:t>
            </a:r>
          </a:p>
        </p:txBody>
      </p:sp>
    </p:spTree>
    <p:extLst>
      <p:ext uri="{BB962C8B-B14F-4D97-AF65-F5344CB8AC3E}">
        <p14:creationId xmlns:p14="http://schemas.microsoft.com/office/powerpoint/2010/main" val="36513543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0" y="-224028"/>
            <a:ext cx="91440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Operational Performance Measures Scorecard</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53</a:t>
            </a:fld>
            <a:endParaRPr lang="en"/>
          </a:p>
        </p:txBody>
      </p:sp>
      <p:sp>
        <p:nvSpPr>
          <p:cNvPr id="681" name="SHPerformance area"/>
          <p:cNvSpPr/>
          <p:nvPr/>
        </p:nvSpPr>
        <p:spPr>
          <a:xfrm>
            <a:off x="274320" y="914400"/>
            <a:ext cx="1783080" cy="384048"/>
          </a:xfrm>
          <a:prstGeom prst="rect">
            <a:avLst/>
          </a:prstGeom>
          <a:solidFill>
            <a:srgbClr val="440099"/>
          </a:solidFill>
          <a:ln>
            <a:noFill/>
          </a:ln>
        </p:spPr>
        <p:txBody>
          <a:bodyPr wrap="square" lIns="91440" tIns="91440" rIns="91440" bIns="91440" anchor="ctr">
            <a:noAutofit/>
          </a:bodyPr>
          <a:lstStyle/>
          <a:p>
            <a:pPr marL="0" indent="0" algn="l">
              <a:spcBef>
                <a:spcPts val="0"/>
              </a:spcBef>
              <a:spcAft>
                <a:spcPts val="0"/>
              </a:spcAft>
              <a:buNone/>
            </a:pPr>
            <a:r>
              <a:rPr lang="en-GB" sz="1300" b="1" i="0" dirty="0">
                <a:solidFill>
                  <a:srgbClr val="FFFFFF"/>
                </a:solidFill>
              </a:rPr>
              <a:t>Performance area</a:t>
            </a:r>
          </a:p>
        </p:txBody>
      </p:sp>
      <p:sp>
        <p:nvSpPr>
          <p:cNvPr id="682" name="SHMeasure"/>
          <p:cNvSpPr/>
          <p:nvPr/>
        </p:nvSpPr>
        <p:spPr>
          <a:xfrm>
            <a:off x="2148840" y="914400"/>
            <a:ext cx="2423160" cy="384048"/>
          </a:xfrm>
          <a:prstGeom prst="rect">
            <a:avLst/>
          </a:prstGeom>
          <a:solidFill>
            <a:srgbClr val="440099"/>
          </a:solidFill>
          <a:ln>
            <a:noFill/>
          </a:ln>
        </p:spPr>
        <p:txBody>
          <a:bodyPr wrap="square" lIns="91440" tIns="91440" rIns="91440" bIns="91440" anchor="ctr">
            <a:noAutofit/>
          </a:bodyPr>
          <a:lstStyle/>
          <a:p>
            <a:pPr marL="0" indent="0" algn="l">
              <a:spcBef>
                <a:spcPts val="0"/>
              </a:spcBef>
              <a:spcAft>
                <a:spcPts val="0"/>
              </a:spcAft>
              <a:buNone/>
            </a:pPr>
            <a:r>
              <a:rPr lang="en-GB" sz="1300" b="1" i="0" dirty="0">
                <a:solidFill>
                  <a:srgbClr val="FFFFFF"/>
                </a:solidFill>
              </a:rPr>
              <a:t>Measure</a:t>
            </a:r>
          </a:p>
        </p:txBody>
      </p:sp>
      <p:sp>
        <p:nvSpPr>
          <p:cNvPr id="683" name="SHWhat it tells managers"/>
          <p:cNvSpPr/>
          <p:nvPr/>
        </p:nvSpPr>
        <p:spPr>
          <a:xfrm>
            <a:off x="4663440" y="914400"/>
            <a:ext cx="2240280" cy="384048"/>
          </a:xfrm>
          <a:prstGeom prst="rect">
            <a:avLst/>
          </a:prstGeom>
          <a:solidFill>
            <a:srgbClr val="440099"/>
          </a:solidFill>
          <a:ln>
            <a:noFill/>
          </a:ln>
        </p:spPr>
        <p:txBody>
          <a:bodyPr wrap="square" lIns="91440" tIns="91440" rIns="91440" bIns="91440" anchor="ctr">
            <a:noAutofit/>
          </a:bodyPr>
          <a:lstStyle/>
          <a:p>
            <a:pPr marL="0" indent="0" algn="l">
              <a:spcBef>
                <a:spcPts val="0"/>
              </a:spcBef>
              <a:spcAft>
                <a:spcPts val="0"/>
              </a:spcAft>
              <a:buNone/>
            </a:pPr>
            <a:r>
              <a:rPr lang="en-GB" sz="1300" b="1" i="0" dirty="0">
                <a:solidFill>
                  <a:srgbClr val="FFFFFF"/>
                </a:solidFill>
              </a:rPr>
              <a:t>What it tells managers</a:t>
            </a:r>
          </a:p>
        </p:txBody>
      </p:sp>
      <p:sp>
        <p:nvSpPr>
          <p:cNvPr id="684" name="SHToday’s example"/>
          <p:cNvSpPr/>
          <p:nvPr/>
        </p:nvSpPr>
        <p:spPr>
          <a:xfrm>
            <a:off x="6995160" y="914400"/>
            <a:ext cx="1828800" cy="384048"/>
          </a:xfrm>
          <a:prstGeom prst="rect">
            <a:avLst/>
          </a:prstGeom>
          <a:solidFill>
            <a:srgbClr val="440099"/>
          </a:solidFill>
          <a:ln>
            <a:noFill/>
          </a:ln>
        </p:spPr>
        <p:txBody>
          <a:bodyPr wrap="square" lIns="91440" tIns="91440" rIns="91440" bIns="91440" anchor="ctr">
            <a:noAutofit/>
          </a:bodyPr>
          <a:lstStyle/>
          <a:p>
            <a:pPr marL="0" indent="0" algn="l">
              <a:spcBef>
                <a:spcPts val="0"/>
              </a:spcBef>
              <a:spcAft>
                <a:spcPts val="0"/>
              </a:spcAft>
              <a:buNone/>
            </a:pPr>
            <a:r>
              <a:rPr lang="en-GB" sz="1300" b="1" i="0" dirty="0">
                <a:solidFill>
                  <a:srgbClr val="FFFFFF"/>
                </a:solidFill>
              </a:rPr>
              <a:t>Today’s example</a:t>
            </a:r>
          </a:p>
        </p:txBody>
      </p:sp>
      <p:sp>
        <p:nvSpPr>
          <p:cNvPr id="685" name="A0"/>
          <p:cNvSpPr/>
          <p:nvPr/>
        </p:nvSpPr>
        <p:spPr>
          <a:xfrm>
            <a:off x="274320" y="1344168"/>
            <a:ext cx="1783080" cy="548640"/>
          </a:xfrm>
          <a:prstGeom prst="rect">
            <a:avLst/>
          </a:prstGeom>
          <a:solidFill>
            <a:srgbClr val="440099"/>
          </a:solidFill>
          <a:ln>
            <a:noFill/>
          </a:ln>
        </p:spPr>
        <p:txBody>
          <a:bodyPr wrap="square" lIns="91440" tIns="91440" rIns="91440" bIns="91440" anchor="ctr">
            <a:noAutofit/>
          </a:bodyPr>
          <a:lstStyle/>
          <a:p>
            <a:pPr marL="0" indent="0" algn="l">
              <a:spcBef>
                <a:spcPts val="0"/>
              </a:spcBef>
              <a:spcAft>
                <a:spcPts val="0"/>
              </a:spcAft>
              <a:buNone/>
            </a:pPr>
            <a:r>
              <a:rPr lang="en-GB" sz="1350" b="1" i="0" dirty="0">
                <a:solidFill>
                  <a:srgbClr val="FFFFFF"/>
                </a:solidFill>
              </a:rPr>
              <a:t>Productivity</a:t>
            </a:r>
          </a:p>
        </p:txBody>
      </p:sp>
      <p:sp>
        <p:nvSpPr>
          <p:cNvPr id="686" name="M0"/>
          <p:cNvSpPr/>
          <p:nvPr/>
        </p:nvSpPr>
        <p:spPr>
          <a:xfrm>
            <a:off x="2148840" y="1344168"/>
            <a:ext cx="2423160" cy="548640"/>
          </a:xfrm>
          <a:prstGeom prst="rect">
            <a:avLst/>
          </a:prstGeom>
          <a:solidFill>
            <a:srgbClr val="EDE6F7"/>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50" b="1" i="0" dirty="0">
                <a:solidFill>
                  <a:srgbClr val="1A1A1A"/>
                </a:solidFill>
              </a:rPr>
              <a:t>Output ÷ Input</a:t>
            </a:r>
          </a:p>
        </p:txBody>
      </p:sp>
      <p:sp>
        <p:nvSpPr>
          <p:cNvPr id="687" name="T0"/>
          <p:cNvSpPr/>
          <p:nvPr/>
        </p:nvSpPr>
        <p:spPr>
          <a:xfrm>
            <a:off x="4663440" y="1344168"/>
            <a:ext cx="2240280" cy="548640"/>
          </a:xfrm>
          <a:prstGeom prst="rect">
            <a:avLst/>
          </a:prstGeom>
          <a:solidFill>
            <a:srgbClr val="FFFFFF"/>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00" b="0" i="0" dirty="0">
                <a:solidFill>
                  <a:srgbClr val="1A1A1A"/>
                </a:solidFill>
              </a:rPr>
              <a:t>How efficiently resources are used</a:t>
            </a:r>
          </a:p>
        </p:txBody>
      </p:sp>
      <p:sp>
        <p:nvSpPr>
          <p:cNvPr id="688" name="E0"/>
          <p:cNvSpPr/>
          <p:nvPr/>
        </p:nvSpPr>
        <p:spPr>
          <a:xfrm>
            <a:off x="6995160" y="1344168"/>
            <a:ext cx="1874520" cy="548640"/>
          </a:xfrm>
          <a:prstGeom prst="rect">
            <a:avLst/>
          </a:prstGeom>
          <a:solidFill>
            <a:srgbClr val="FFFFFF"/>
          </a:solidFill>
          <a:ln w="12700">
            <a:solidFill>
              <a:srgbClr val="D5D0DE"/>
            </a:solidFill>
          </a:ln>
        </p:spPr>
        <p:txBody>
          <a:bodyPr wrap="square" lIns="73152" tIns="73152" rIns="73152" bIns="73152" anchor="ctr">
            <a:noAutofit/>
          </a:bodyPr>
          <a:lstStyle/>
          <a:p>
            <a:pPr marL="0" indent="0" algn="l">
              <a:spcBef>
                <a:spcPts val="0"/>
              </a:spcBef>
              <a:spcAft>
                <a:spcPts val="0"/>
              </a:spcAft>
              <a:buNone/>
            </a:pPr>
            <a:r>
              <a:rPr lang="en-GB" sz="1150" b="0" i="0" dirty="0">
                <a:solidFill>
                  <a:srgbClr val="1A1A1A"/>
                </a:solidFill>
              </a:rPr>
              <a:t>Coffee shop: 0.556 → 0.429 drinks per £</a:t>
            </a:r>
          </a:p>
        </p:txBody>
      </p:sp>
      <p:sp>
        <p:nvSpPr>
          <p:cNvPr id="689" name="A1"/>
          <p:cNvSpPr/>
          <p:nvPr/>
        </p:nvSpPr>
        <p:spPr>
          <a:xfrm>
            <a:off x="274320" y="1947672"/>
            <a:ext cx="1783080" cy="548640"/>
          </a:xfrm>
          <a:prstGeom prst="rect">
            <a:avLst/>
          </a:prstGeom>
          <a:solidFill>
            <a:srgbClr val="0B7A75"/>
          </a:solidFill>
          <a:ln>
            <a:noFill/>
          </a:ln>
        </p:spPr>
        <p:txBody>
          <a:bodyPr wrap="square" lIns="91440" tIns="91440" rIns="91440" bIns="91440" anchor="ctr">
            <a:noAutofit/>
          </a:bodyPr>
          <a:lstStyle/>
          <a:p>
            <a:pPr marL="0" indent="0" algn="l">
              <a:spcBef>
                <a:spcPts val="0"/>
              </a:spcBef>
              <a:spcAft>
                <a:spcPts val="0"/>
              </a:spcAft>
              <a:buNone/>
            </a:pPr>
            <a:r>
              <a:rPr lang="en-GB" sz="1350" b="1" i="0" dirty="0">
                <a:solidFill>
                  <a:srgbClr val="FFFFFF"/>
                </a:solidFill>
              </a:rPr>
              <a:t>Throughput efficiency</a:t>
            </a:r>
          </a:p>
        </p:txBody>
      </p:sp>
      <p:sp>
        <p:nvSpPr>
          <p:cNvPr id="690" name="M1"/>
          <p:cNvSpPr/>
          <p:nvPr/>
        </p:nvSpPr>
        <p:spPr>
          <a:xfrm>
            <a:off x="2148840" y="1947672"/>
            <a:ext cx="2423160" cy="548640"/>
          </a:xfrm>
          <a:prstGeom prst="rect">
            <a:avLst/>
          </a:prstGeom>
          <a:solidFill>
            <a:srgbClr val="D5EFEC"/>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50" b="1" i="0" dirty="0">
                <a:solidFill>
                  <a:srgbClr val="1A1A1A"/>
                </a:solidFill>
              </a:rPr>
              <a:t>Value-added time ÷ Throughput time × 100</a:t>
            </a:r>
          </a:p>
        </p:txBody>
      </p:sp>
      <p:sp>
        <p:nvSpPr>
          <p:cNvPr id="691" name="T1"/>
          <p:cNvSpPr/>
          <p:nvPr/>
        </p:nvSpPr>
        <p:spPr>
          <a:xfrm>
            <a:off x="4663440" y="1947672"/>
            <a:ext cx="2240280" cy="548640"/>
          </a:xfrm>
          <a:prstGeom prst="rect">
            <a:avLst/>
          </a:prstGeom>
          <a:solidFill>
            <a:srgbClr val="FFFFFF"/>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00" b="0" i="0" dirty="0">
                <a:solidFill>
                  <a:srgbClr val="1A1A1A"/>
                </a:solidFill>
              </a:rPr>
              <a:t>How much process time adds value</a:t>
            </a:r>
          </a:p>
        </p:txBody>
      </p:sp>
      <p:sp>
        <p:nvSpPr>
          <p:cNvPr id="692" name="E1"/>
          <p:cNvSpPr/>
          <p:nvPr/>
        </p:nvSpPr>
        <p:spPr>
          <a:xfrm>
            <a:off x="6995160" y="1947672"/>
            <a:ext cx="1874520" cy="548640"/>
          </a:xfrm>
          <a:prstGeom prst="rect">
            <a:avLst/>
          </a:prstGeom>
          <a:solidFill>
            <a:srgbClr val="FFFFFF"/>
          </a:solidFill>
          <a:ln w="12700">
            <a:solidFill>
              <a:srgbClr val="D5D0DE"/>
            </a:solidFill>
          </a:ln>
        </p:spPr>
        <p:txBody>
          <a:bodyPr wrap="square" lIns="73152" tIns="73152" rIns="73152" bIns="73152" anchor="ctr">
            <a:noAutofit/>
          </a:bodyPr>
          <a:lstStyle/>
          <a:p>
            <a:pPr marL="0" indent="0" algn="l">
              <a:spcBef>
                <a:spcPts val="0"/>
              </a:spcBef>
              <a:spcAft>
                <a:spcPts val="0"/>
              </a:spcAft>
              <a:buNone/>
            </a:pPr>
            <a:r>
              <a:rPr lang="en-GB" sz="1150" b="0" i="0" dirty="0">
                <a:solidFill>
                  <a:srgbClr val="1A1A1A"/>
                </a:solidFill>
              </a:rPr>
              <a:t>Coffee visit: 20%</a:t>
            </a:r>
          </a:p>
        </p:txBody>
      </p:sp>
      <p:sp>
        <p:nvSpPr>
          <p:cNvPr id="693" name="A2"/>
          <p:cNvSpPr/>
          <p:nvPr/>
        </p:nvSpPr>
        <p:spPr>
          <a:xfrm>
            <a:off x="274320" y="2551176"/>
            <a:ext cx="1783080" cy="548640"/>
          </a:xfrm>
          <a:prstGeom prst="rect">
            <a:avLst/>
          </a:prstGeom>
          <a:solidFill>
            <a:srgbClr val="0B7A75"/>
          </a:solidFill>
          <a:ln>
            <a:noFill/>
          </a:ln>
        </p:spPr>
        <p:txBody>
          <a:bodyPr wrap="square" lIns="91440" tIns="91440" rIns="91440" bIns="91440" anchor="ctr">
            <a:noAutofit/>
          </a:bodyPr>
          <a:lstStyle/>
          <a:p>
            <a:pPr marL="0" indent="0" algn="l">
              <a:spcBef>
                <a:spcPts val="0"/>
              </a:spcBef>
              <a:spcAft>
                <a:spcPts val="0"/>
              </a:spcAft>
              <a:buNone/>
            </a:pPr>
            <a:r>
              <a:rPr lang="en-GB" sz="1350" b="1" i="0" dirty="0">
                <a:solidFill>
                  <a:srgbClr val="FFFFFF"/>
                </a:solidFill>
              </a:rPr>
              <a:t>Flow</a:t>
            </a:r>
          </a:p>
        </p:txBody>
      </p:sp>
      <p:sp>
        <p:nvSpPr>
          <p:cNvPr id="694" name="M2"/>
          <p:cNvSpPr/>
          <p:nvPr/>
        </p:nvSpPr>
        <p:spPr>
          <a:xfrm>
            <a:off x="2148840" y="2551176"/>
            <a:ext cx="2423160" cy="548640"/>
          </a:xfrm>
          <a:prstGeom prst="rect">
            <a:avLst/>
          </a:prstGeom>
          <a:solidFill>
            <a:srgbClr val="D5EFEC"/>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50" b="1" i="0" dirty="0">
                <a:solidFill>
                  <a:srgbClr val="1A1A1A"/>
                </a:solidFill>
              </a:rPr>
              <a:t>WIP = Throughput rate × Throughput time</a:t>
            </a:r>
          </a:p>
        </p:txBody>
      </p:sp>
      <p:sp>
        <p:nvSpPr>
          <p:cNvPr id="695" name="T2"/>
          <p:cNvSpPr/>
          <p:nvPr/>
        </p:nvSpPr>
        <p:spPr>
          <a:xfrm>
            <a:off x="4663440" y="2551176"/>
            <a:ext cx="2240280" cy="548640"/>
          </a:xfrm>
          <a:prstGeom prst="rect">
            <a:avLst/>
          </a:prstGeom>
          <a:solidFill>
            <a:srgbClr val="FFFFFF"/>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00" b="0" i="0" dirty="0">
                <a:solidFill>
                  <a:srgbClr val="1A1A1A"/>
                </a:solidFill>
              </a:rPr>
              <a:t>How long work waits in the system</a:t>
            </a:r>
          </a:p>
        </p:txBody>
      </p:sp>
      <p:sp>
        <p:nvSpPr>
          <p:cNvPr id="696" name="E2"/>
          <p:cNvSpPr/>
          <p:nvPr/>
        </p:nvSpPr>
        <p:spPr>
          <a:xfrm>
            <a:off x="6995160" y="2551176"/>
            <a:ext cx="1874520" cy="548640"/>
          </a:xfrm>
          <a:prstGeom prst="rect">
            <a:avLst/>
          </a:prstGeom>
          <a:solidFill>
            <a:srgbClr val="FFFFFF"/>
          </a:solidFill>
          <a:ln w="12700">
            <a:solidFill>
              <a:srgbClr val="D5D0DE"/>
            </a:solidFill>
          </a:ln>
        </p:spPr>
        <p:txBody>
          <a:bodyPr wrap="square" lIns="73152" tIns="73152" rIns="73152" bIns="73152" anchor="ctr">
            <a:noAutofit/>
          </a:bodyPr>
          <a:lstStyle/>
          <a:p>
            <a:pPr marL="0" indent="0" algn="l">
              <a:spcBef>
                <a:spcPts val="0"/>
              </a:spcBef>
              <a:spcAft>
                <a:spcPts val="0"/>
              </a:spcAft>
              <a:buNone/>
            </a:pPr>
            <a:r>
              <a:rPr lang="en-GB" sz="1150" b="0" i="0" dirty="0">
                <a:solidFill>
                  <a:srgbClr val="1A1A1A"/>
                </a:solidFill>
              </a:rPr>
              <a:t>Zucchero: 720-minute throughput time</a:t>
            </a:r>
          </a:p>
        </p:txBody>
      </p:sp>
      <p:sp>
        <p:nvSpPr>
          <p:cNvPr id="697" name="A3"/>
          <p:cNvSpPr/>
          <p:nvPr/>
        </p:nvSpPr>
        <p:spPr>
          <a:xfrm>
            <a:off x="274320" y="3154680"/>
            <a:ext cx="1783080" cy="548640"/>
          </a:xfrm>
          <a:prstGeom prst="rect">
            <a:avLst/>
          </a:prstGeom>
          <a:solidFill>
            <a:srgbClr val="1F5FAD"/>
          </a:solidFill>
          <a:ln>
            <a:noFill/>
          </a:ln>
        </p:spPr>
        <p:txBody>
          <a:bodyPr wrap="square" lIns="91440" tIns="91440" rIns="91440" bIns="91440" anchor="ctr">
            <a:noAutofit/>
          </a:bodyPr>
          <a:lstStyle/>
          <a:p>
            <a:pPr marL="0" indent="0" algn="l">
              <a:spcBef>
                <a:spcPts val="0"/>
              </a:spcBef>
              <a:spcAft>
                <a:spcPts val="0"/>
              </a:spcAft>
              <a:buNone/>
            </a:pPr>
            <a:r>
              <a:rPr lang="en-GB" sz="1350" b="1" i="0" dirty="0">
                <a:solidFill>
                  <a:srgbClr val="FFFFFF"/>
                </a:solidFill>
              </a:rPr>
              <a:t>Capacity</a:t>
            </a:r>
          </a:p>
        </p:txBody>
      </p:sp>
      <p:sp>
        <p:nvSpPr>
          <p:cNvPr id="698" name="M3"/>
          <p:cNvSpPr/>
          <p:nvPr/>
        </p:nvSpPr>
        <p:spPr>
          <a:xfrm>
            <a:off x="2148840" y="3154680"/>
            <a:ext cx="2423160" cy="548640"/>
          </a:xfrm>
          <a:prstGeom prst="rect">
            <a:avLst/>
          </a:prstGeom>
          <a:solidFill>
            <a:srgbClr val="DCE8F7"/>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50" b="1" i="0" dirty="0">
                <a:solidFill>
                  <a:srgbClr val="1A1A1A"/>
                </a:solidFill>
              </a:rPr>
              <a:t>Utilisation = Actual output ÷ Design capacity</a:t>
            </a:r>
          </a:p>
        </p:txBody>
      </p:sp>
      <p:sp>
        <p:nvSpPr>
          <p:cNvPr id="699" name="T3"/>
          <p:cNvSpPr/>
          <p:nvPr/>
        </p:nvSpPr>
        <p:spPr>
          <a:xfrm>
            <a:off x="4663440" y="3154680"/>
            <a:ext cx="2240280" cy="548640"/>
          </a:xfrm>
          <a:prstGeom prst="rect">
            <a:avLst/>
          </a:prstGeom>
          <a:solidFill>
            <a:srgbClr val="FFFFFF"/>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00" b="0" i="0" dirty="0">
                <a:solidFill>
                  <a:srgbClr val="1A1A1A"/>
                </a:solidFill>
              </a:rPr>
              <a:t>How busy resources are, and the risk of queues</a:t>
            </a:r>
          </a:p>
        </p:txBody>
      </p:sp>
      <p:sp>
        <p:nvSpPr>
          <p:cNvPr id="700" name="E3"/>
          <p:cNvSpPr/>
          <p:nvPr/>
        </p:nvSpPr>
        <p:spPr>
          <a:xfrm>
            <a:off x="6995160" y="3154680"/>
            <a:ext cx="1874520" cy="548640"/>
          </a:xfrm>
          <a:prstGeom prst="rect">
            <a:avLst/>
          </a:prstGeom>
          <a:solidFill>
            <a:srgbClr val="FFFFFF"/>
          </a:solidFill>
          <a:ln w="12700">
            <a:solidFill>
              <a:srgbClr val="D5D0DE"/>
            </a:solidFill>
          </a:ln>
        </p:spPr>
        <p:txBody>
          <a:bodyPr wrap="square" lIns="73152" tIns="73152" rIns="73152" bIns="73152" anchor="ctr">
            <a:noAutofit/>
          </a:bodyPr>
          <a:lstStyle/>
          <a:p>
            <a:pPr marL="0" indent="0" algn="l">
              <a:spcBef>
                <a:spcPts val="0"/>
              </a:spcBef>
              <a:spcAft>
                <a:spcPts val="0"/>
              </a:spcAft>
              <a:buNone/>
            </a:pPr>
            <a:r>
              <a:rPr lang="en-GB" sz="1150" b="0" i="0" dirty="0">
                <a:solidFill>
                  <a:srgbClr val="1A1A1A"/>
                </a:solidFill>
              </a:rPr>
              <a:t>High utilisation increases waiting</a:t>
            </a:r>
          </a:p>
        </p:txBody>
      </p:sp>
      <p:sp>
        <p:nvSpPr>
          <p:cNvPr id="701" name="A4"/>
          <p:cNvSpPr/>
          <p:nvPr/>
        </p:nvSpPr>
        <p:spPr>
          <a:xfrm>
            <a:off x="274320" y="3758184"/>
            <a:ext cx="1783080" cy="548640"/>
          </a:xfrm>
          <a:prstGeom prst="rect">
            <a:avLst/>
          </a:prstGeom>
          <a:solidFill>
            <a:srgbClr val="C2410C"/>
          </a:solidFill>
          <a:ln>
            <a:noFill/>
          </a:ln>
        </p:spPr>
        <p:txBody>
          <a:bodyPr wrap="square" lIns="91440" tIns="91440" rIns="91440" bIns="91440" anchor="ctr">
            <a:noAutofit/>
          </a:bodyPr>
          <a:lstStyle/>
          <a:p>
            <a:pPr marL="0" indent="0" algn="l">
              <a:spcBef>
                <a:spcPts val="0"/>
              </a:spcBef>
              <a:spcAft>
                <a:spcPts val="0"/>
              </a:spcAft>
              <a:buNone/>
            </a:pPr>
            <a:r>
              <a:rPr lang="en-GB" sz="1350" b="1" i="0" dirty="0">
                <a:solidFill>
                  <a:srgbClr val="FFFFFF"/>
                </a:solidFill>
              </a:rPr>
              <a:t>Service performance</a:t>
            </a:r>
          </a:p>
        </p:txBody>
      </p:sp>
      <p:sp>
        <p:nvSpPr>
          <p:cNvPr id="702" name="M4"/>
          <p:cNvSpPr/>
          <p:nvPr/>
        </p:nvSpPr>
        <p:spPr>
          <a:xfrm>
            <a:off x="2148840" y="3758184"/>
            <a:ext cx="2423160" cy="548640"/>
          </a:xfrm>
          <a:prstGeom prst="rect">
            <a:avLst/>
          </a:prstGeom>
          <a:solidFill>
            <a:srgbClr val="FCE3D6"/>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50" b="1" i="0" dirty="0">
                <a:solidFill>
                  <a:srgbClr val="1A1A1A"/>
                </a:solidFill>
              </a:rPr>
              <a:t>Errors, complaints, recovery time</a:t>
            </a:r>
          </a:p>
        </p:txBody>
      </p:sp>
      <p:sp>
        <p:nvSpPr>
          <p:cNvPr id="703" name="T4"/>
          <p:cNvSpPr/>
          <p:nvPr/>
        </p:nvSpPr>
        <p:spPr>
          <a:xfrm>
            <a:off x="4663440" y="3758184"/>
            <a:ext cx="2240280" cy="548640"/>
          </a:xfrm>
          <a:prstGeom prst="rect">
            <a:avLst/>
          </a:prstGeom>
          <a:solidFill>
            <a:srgbClr val="FFFFFF"/>
          </a:solidFill>
          <a:ln w="12700">
            <a:solidFill>
              <a:srgbClr val="D5D0DE"/>
            </a:solidFill>
          </a:ln>
        </p:spPr>
        <p:txBody>
          <a:bodyPr wrap="square" lIns="91440" tIns="91440" rIns="91440" bIns="91440" anchor="ctr">
            <a:noAutofit/>
          </a:bodyPr>
          <a:lstStyle/>
          <a:p>
            <a:pPr marL="0" indent="0" algn="l">
              <a:spcBef>
                <a:spcPts val="0"/>
              </a:spcBef>
              <a:spcAft>
                <a:spcPts val="0"/>
              </a:spcAft>
              <a:buNone/>
            </a:pPr>
            <a:r>
              <a:rPr lang="en-GB" sz="1200" b="0" i="0" dirty="0">
                <a:solidFill>
                  <a:srgbClr val="1A1A1A"/>
                </a:solidFill>
              </a:rPr>
              <a:t>Whether customers get what was promised</a:t>
            </a:r>
          </a:p>
        </p:txBody>
      </p:sp>
      <p:sp>
        <p:nvSpPr>
          <p:cNvPr id="704" name="E4"/>
          <p:cNvSpPr/>
          <p:nvPr/>
        </p:nvSpPr>
        <p:spPr>
          <a:xfrm>
            <a:off x="6995160" y="3758184"/>
            <a:ext cx="1874520" cy="548640"/>
          </a:xfrm>
          <a:prstGeom prst="rect">
            <a:avLst/>
          </a:prstGeom>
          <a:solidFill>
            <a:srgbClr val="FFFFFF"/>
          </a:solidFill>
          <a:ln w="12700">
            <a:solidFill>
              <a:srgbClr val="D5D0DE"/>
            </a:solidFill>
          </a:ln>
        </p:spPr>
        <p:txBody>
          <a:bodyPr wrap="square" lIns="73152" tIns="73152" rIns="73152" bIns="73152" anchor="ctr">
            <a:noAutofit/>
          </a:bodyPr>
          <a:lstStyle/>
          <a:p>
            <a:pPr marL="0" indent="0" algn="l">
              <a:spcBef>
                <a:spcPts val="0"/>
              </a:spcBef>
              <a:spcAft>
                <a:spcPts val="0"/>
              </a:spcAft>
              <a:buNone/>
            </a:pPr>
            <a:r>
              <a:rPr lang="en-GB" sz="1150" b="0" i="0" dirty="0">
                <a:solidFill>
                  <a:srgbClr val="1A1A1A"/>
                </a:solidFill>
              </a:rPr>
              <a:t>Azure outage</a:t>
            </a:r>
          </a:p>
        </p:txBody>
      </p:sp>
      <p:sp>
        <p:nvSpPr>
          <p:cNvPr id="705" name="Note"/>
          <p:cNvSpPr/>
          <p:nvPr/>
        </p:nvSpPr>
        <p:spPr>
          <a:xfrm>
            <a:off x="274320" y="4407408"/>
            <a:ext cx="8595360" cy="384048"/>
          </a:xfrm>
          <a:prstGeom prst="roundRect">
            <a:avLst>
              <a:gd name="adj" fmla="val 12000"/>
            </a:avLst>
          </a:prstGeom>
          <a:solidFill>
            <a:srgbClr val="FFFFFF"/>
          </a:solidFill>
          <a:ln w="25400">
            <a:solidFill>
              <a:srgbClr val="440099"/>
            </a:solidFill>
          </a:ln>
        </p:spPr>
        <p:txBody>
          <a:bodyPr wrap="square" lIns="128016" tIns="128016" rIns="128016" bIns="128016" anchor="ctr">
            <a:noAutofit/>
          </a:bodyPr>
          <a:lstStyle/>
          <a:p>
            <a:pPr marL="0" indent="0" algn="l">
              <a:spcBef>
                <a:spcPts val="0"/>
              </a:spcBef>
              <a:spcAft>
                <a:spcPts val="0"/>
              </a:spcAft>
              <a:buNone/>
            </a:pPr>
            <a:r>
              <a:rPr lang="en-GB" sz="1600" b="1" i="0" dirty="0">
                <a:solidFill>
                  <a:srgbClr val="440099"/>
                </a:solidFill>
              </a:rPr>
              <a:t>Balance:  </a:t>
            </a:r>
            <a:r>
              <a:rPr lang="en-GB" sz="1600" b="0" i="0" dirty="0">
                <a:solidFill>
                  <a:srgbClr val="1A1A1A"/>
                </a:solidFill>
              </a:rPr>
              <a:t>track these together. Improving one can worsen another.</a:t>
            </a:r>
          </a:p>
        </p:txBody>
      </p:sp>
    </p:spTree>
    <p:extLst>
      <p:ext uri="{BB962C8B-B14F-4D97-AF65-F5344CB8AC3E}">
        <p14:creationId xmlns:p14="http://schemas.microsoft.com/office/powerpoint/2010/main" val="36513543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Key Takeaways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54</a:t>
            </a:fld>
            <a:endParaRPr lang="en"/>
          </a:p>
        </p:txBody>
      </p:sp>
      <p:sp>
        <p:nvSpPr>
          <p:cNvPr id="706" name="TN0"/>
          <p:cNvSpPr/>
          <p:nvPr/>
        </p:nvSpPr>
        <p:spPr>
          <a:xfrm>
            <a:off x="274320" y="1005840"/>
            <a:ext cx="411480" cy="411480"/>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1</a:t>
            </a:r>
          </a:p>
        </p:txBody>
      </p:sp>
      <p:sp>
        <p:nvSpPr>
          <p:cNvPr id="707" name="TT0"/>
          <p:cNvSpPr/>
          <p:nvPr/>
        </p:nvSpPr>
        <p:spPr>
          <a:xfrm>
            <a:off x="777240" y="960120"/>
            <a:ext cx="8092440" cy="50292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750" b="0" i="0" dirty="0">
                <a:solidFill>
                  <a:srgbClr val="1A1A1A"/>
                </a:solidFill>
              </a:rPr>
              <a:t>More output is not always more productivity.</a:t>
            </a:r>
          </a:p>
        </p:txBody>
      </p:sp>
      <p:sp>
        <p:nvSpPr>
          <p:cNvPr id="708" name="TN1"/>
          <p:cNvSpPr/>
          <p:nvPr/>
        </p:nvSpPr>
        <p:spPr>
          <a:xfrm>
            <a:off x="274320" y="1572768"/>
            <a:ext cx="411480" cy="411480"/>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2</a:t>
            </a:r>
          </a:p>
        </p:txBody>
      </p:sp>
      <p:sp>
        <p:nvSpPr>
          <p:cNvPr id="709" name="TT1"/>
          <p:cNvSpPr/>
          <p:nvPr/>
        </p:nvSpPr>
        <p:spPr>
          <a:xfrm>
            <a:off x="777240" y="1527048"/>
            <a:ext cx="8092440" cy="50292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750" b="0" i="0" dirty="0">
                <a:solidFill>
                  <a:srgbClr val="1A1A1A"/>
                </a:solidFill>
              </a:rPr>
              <a:t>High productivity does not guarantee good flow.</a:t>
            </a:r>
          </a:p>
        </p:txBody>
      </p:sp>
      <p:sp>
        <p:nvSpPr>
          <p:cNvPr id="710" name="TN2"/>
          <p:cNvSpPr/>
          <p:nvPr/>
        </p:nvSpPr>
        <p:spPr>
          <a:xfrm>
            <a:off x="274320" y="2139696"/>
            <a:ext cx="411480" cy="411480"/>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3</a:t>
            </a:r>
          </a:p>
        </p:txBody>
      </p:sp>
      <p:sp>
        <p:nvSpPr>
          <p:cNvPr id="711" name="TT2"/>
          <p:cNvSpPr/>
          <p:nvPr/>
        </p:nvSpPr>
        <p:spPr>
          <a:xfrm>
            <a:off x="777240" y="2093976"/>
            <a:ext cx="8092440" cy="50292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750" b="0" i="0" dirty="0">
                <a:solidFill>
                  <a:srgbClr val="1A1A1A"/>
                </a:solidFill>
              </a:rPr>
              <a:t>Lean, TOC and queueing each explain part of a delay.</a:t>
            </a:r>
          </a:p>
        </p:txBody>
      </p:sp>
      <p:sp>
        <p:nvSpPr>
          <p:cNvPr id="712" name="TN3"/>
          <p:cNvSpPr/>
          <p:nvPr/>
        </p:nvSpPr>
        <p:spPr>
          <a:xfrm>
            <a:off x="274320" y="2706624"/>
            <a:ext cx="411480" cy="411480"/>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4</a:t>
            </a:r>
          </a:p>
        </p:txBody>
      </p:sp>
      <p:sp>
        <p:nvSpPr>
          <p:cNvPr id="713" name="TT3"/>
          <p:cNvSpPr/>
          <p:nvPr/>
        </p:nvSpPr>
        <p:spPr>
          <a:xfrm>
            <a:off x="777240" y="2660904"/>
            <a:ext cx="8092440" cy="50292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750" b="0" i="0" dirty="0">
                <a:solidFill>
                  <a:srgbClr val="1A1A1A"/>
                </a:solidFill>
              </a:rPr>
              <a:t>Failure can come from process, capacity, people or technology.</a:t>
            </a:r>
          </a:p>
        </p:txBody>
      </p:sp>
      <p:sp>
        <p:nvSpPr>
          <p:cNvPr id="714" name="TN4"/>
          <p:cNvSpPr/>
          <p:nvPr/>
        </p:nvSpPr>
        <p:spPr>
          <a:xfrm>
            <a:off x="274320" y="3273552"/>
            <a:ext cx="411480" cy="411480"/>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5</a:t>
            </a:r>
          </a:p>
        </p:txBody>
      </p:sp>
      <p:sp>
        <p:nvSpPr>
          <p:cNvPr id="715" name="TT4"/>
          <p:cNvSpPr/>
          <p:nvPr/>
        </p:nvSpPr>
        <p:spPr>
          <a:xfrm>
            <a:off x="777240" y="3227832"/>
            <a:ext cx="8092440" cy="50292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750" b="0" i="0" dirty="0">
                <a:solidFill>
                  <a:srgbClr val="1A1A1A"/>
                </a:solidFill>
              </a:rPr>
              <a:t>Sabotage is deliberate, and work design shapes it.</a:t>
            </a:r>
          </a:p>
        </p:txBody>
      </p:sp>
      <p:sp>
        <p:nvSpPr>
          <p:cNvPr id="716" name="TN5"/>
          <p:cNvSpPr/>
          <p:nvPr/>
        </p:nvSpPr>
        <p:spPr>
          <a:xfrm>
            <a:off x="274320" y="3840480"/>
            <a:ext cx="411480" cy="411480"/>
          </a:xfrm>
          <a:prstGeom prst="ellipse">
            <a:avLst/>
          </a:prstGeom>
          <a:solidFill>
            <a:srgbClr val="440099"/>
          </a:solidFill>
          <a:ln>
            <a:noFill/>
          </a:ln>
        </p:spPr>
        <p:txBody>
          <a:bodyPr wrap="square" lIns="0" tIns="0" rIns="0" bIns="0" anchor="ctr">
            <a:noAutofit/>
          </a:bodyPr>
          <a:lstStyle/>
          <a:p>
            <a:pPr marL="0" indent="0" algn="ctr">
              <a:spcBef>
                <a:spcPts val="0"/>
              </a:spcBef>
              <a:spcAft>
                <a:spcPts val="0"/>
              </a:spcAft>
              <a:buNone/>
            </a:pPr>
            <a:r>
              <a:rPr lang="en-GB" sz="1300" b="1" i="0" dirty="0">
                <a:solidFill>
                  <a:srgbClr val="FFFFFF"/>
                </a:solidFill>
              </a:rPr>
              <a:t>6</a:t>
            </a:r>
          </a:p>
        </p:txBody>
      </p:sp>
      <p:sp>
        <p:nvSpPr>
          <p:cNvPr id="717" name="TT5"/>
          <p:cNvSpPr/>
          <p:nvPr/>
        </p:nvSpPr>
        <p:spPr>
          <a:xfrm>
            <a:off x="777240" y="3794760"/>
            <a:ext cx="8092440" cy="502920"/>
          </a:xfrm>
          <a:prstGeom prst="roundRect">
            <a:avLst>
              <a:gd name="adj" fmla="val 12000"/>
            </a:avLst>
          </a:prstGeom>
          <a:solidFill>
            <a:srgbClr val="FFFFFF"/>
          </a:solidFill>
          <a:ln w="12700">
            <a:solidFill>
              <a:srgbClr val="D5D0DE"/>
            </a:solidFill>
          </a:ln>
        </p:spPr>
        <p:txBody>
          <a:bodyPr wrap="square" lIns="109728" tIns="109728" rIns="109728" bIns="109728" anchor="ctr">
            <a:noAutofit/>
          </a:bodyPr>
          <a:lstStyle/>
          <a:p>
            <a:pPr marL="0" indent="0" algn="l">
              <a:spcBef>
                <a:spcPts val="0"/>
              </a:spcBef>
              <a:spcAft>
                <a:spcPts val="0"/>
              </a:spcAft>
              <a:buNone/>
            </a:pPr>
            <a:r>
              <a:rPr lang="en-GB" sz="1750" b="0" i="0" dirty="0">
                <a:solidFill>
                  <a:srgbClr val="1A1A1A"/>
                </a:solidFill>
              </a:rPr>
              <a:t>Aim for balanced performance, not one metric.</a:t>
            </a:r>
          </a:p>
        </p:txBody>
      </p:sp>
    </p:spTree>
    <p:extLst>
      <p:ext uri="{BB962C8B-B14F-4D97-AF65-F5344CB8AC3E}">
        <p14:creationId xmlns:p14="http://schemas.microsoft.com/office/powerpoint/2010/main" val="36513543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7DA4A7DF-500A-9627-B3F8-7D3FC01D4B47}"/>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2A847E2A-DB70-8485-08F1-FF6DDEB1EE22}"/>
              </a:ext>
            </a:extLst>
          </p:cNvPr>
          <p:cNvSpPr txBox="1">
            <a:spLocks noGrp="1"/>
          </p:cNvSpPr>
          <p:nvPr>
            <p:ph type="title"/>
          </p:nvPr>
        </p:nvSpPr>
        <p:spPr>
          <a:xfrm>
            <a:off x="472434" y="852292"/>
            <a:ext cx="8520600" cy="572700"/>
          </a:xfrm>
        </p:spPr>
        <p:txBody>
          <a:bodyPr spcFirstLastPara="1" wrap="square" lIns="91425" tIns="91425" rIns="91425" bIns="91425" anchor="ctr" anchorCtr="0">
            <a:normAutofit fontScale="90000"/>
          </a:bodyPr>
          <a:lstStyle/>
          <a:p>
            <a:pPr algn="ctr"/>
            <a:r>
              <a:rPr lang="en-GB" sz="3600" dirty="0">
                <a:latin typeface="+mj-lt"/>
              </a:rPr>
              <a:t>Operations in Practice</a:t>
            </a:r>
          </a:p>
        </p:txBody>
      </p:sp>
      <p:sp>
        <p:nvSpPr>
          <p:cNvPr id="80" name="Google Shape;80;p16">
            <a:extLst>
              <a:ext uri="{FF2B5EF4-FFF2-40B4-BE49-F238E27FC236}">
                <a16:creationId xmlns:a16="http://schemas.microsoft.com/office/drawing/2014/main" id="{0DD612E9-2C75-7F49-AECF-F72A822A4F6E}"/>
              </a:ext>
            </a:extLst>
          </p:cNvPr>
          <p:cNvSpPr txBox="1">
            <a:spLocks noGrp="1"/>
          </p:cNvSpPr>
          <p:nvPr>
            <p:ph type="sldNum" idx="12"/>
          </p:nvPr>
        </p:nvSpPr>
        <p:spPr>
          <a:xfrm>
            <a:off x="8444334" y="4745726"/>
            <a:ext cx="548700" cy="393600"/>
          </a:xfrm>
        </p:spPr>
        <p:txBody>
          <a:bodyPr spcFirstLastPara="1" wrap="square" lIns="91425" tIns="91425" rIns="91425" bIns="91425" anchor="t" anchorCtr="0">
            <a:normAutofit/>
          </a:bodyPr>
          <a:lstStyle/>
          <a:p>
            <a:pPr marL="0" lvl="0" indent="0" rtl="0">
              <a:lnSpc>
                <a:spcPct val="90000"/>
              </a:lnSpc>
              <a:spcBef>
                <a:spcPts val="0"/>
              </a:spcBef>
              <a:spcAft>
                <a:spcPts val="600"/>
              </a:spcAft>
              <a:buNone/>
            </a:pPr>
            <a:fld id="{00000000-1234-1234-1234-123412341234}" type="slidenum">
              <a:rPr lang="en" sz="900" smtClean="0"/>
              <a:pPr marL="0" lvl="0" indent="0" rtl="0">
                <a:lnSpc>
                  <a:spcPct val="90000"/>
                </a:lnSpc>
                <a:spcBef>
                  <a:spcPts val="0"/>
                </a:spcBef>
                <a:spcAft>
                  <a:spcPts val="600"/>
                </a:spcAft>
                <a:buNone/>
              </a:pPr>
              <a:t>55</a:t>
            </a:fld>
            <a:endParaRPr lang="en" sz="900"/>
          </a:p>
        </p:txBody>
      </p:sp>
      <p:sp>
        <p:nvSpPr>
          <p:cNvPr id="6" name="TextBox 5">
            <a:extLst>
              <a:ext uri="{FF2B5EF4-FFF2-40B4-BE49-F238E27FC236}">
                <a16:creationId xmlns:a16="http://schemas.microsoft.com/office/drawing/2014/main" id="{85F4467F-2243-7516-46FE-721575295656}"/>
              </a:ext>
            </a:extLst>
          </p:cNvPr>
          <p:cNvSpPr txBox="1"/>
          <p:nvPr/>
        </p:nvSpPr>
        <p:spPr>
          <a:xfrm>
            <a:off x="150966" y="1353674"/>
            <a:ext cx="8368393" cy="3785652"/>
          </a:xfrm>
          <a:prstGeom prst="rect">
            <a:avLst/>
          </a:prstGeom>
          <a:noFill/>
        </p:spPr>
        <p:txBody>
          <a:bodyPr wrap="square">
            <a:spAutoFit/>
          </a:bodyPr>
          <a:lstStyle/>
          <a:p>
            <a:pPr>
              <a:buNone/>
            </a:pPr>
            <a:r>
              <a:rPr lang="en-GB" sz="2400" dirty="0"/>
              <a:t>Food Retail Layout</a:t>
            </a:r>
          </a:p>
          <a:p>
            <a:pPr marL="342900" indent="-342900">
              <a:buFont typeface="Courier New" panose="02070309020205020404" pitchFamily="49" charset="0"/>
              <a:buChar char="o"/>
            </a:pPr>
            <a:r>
              <a:rPr lang="en-GB" sz="2400" dirty="0"/>
              <a:t>Visit any food retail store and observe its layout.</a:t>
            </a:r>
          </a:p>
          <a:p>
            <a:pPr>
              <a:buNone/>
            </a:pPr>
            <a:r>
              <a:rPr lang="en-GB" sz="2400" dirty="0"/>
              <a:t>Post a short response to the discussion board (with pictures where necessary)</a:t>
            </a:r>
          </a:p>
          <a:p>
            <a:pPr marL="342900" lvl="0" indent="-342900">
              <a:buFont typeface="Arial" panose="020B0604020202020204" pitchFamily="34" charset="0"/>
              <a:buChar char="•"/>
            </a:pPr>
            <a:r>
              <a:rPr lang="en-GB" sz="2400" dirty="0"/>
              <a:t>What type of layout do you observe?</a:t>
            </a:r>
          </a:p>
          <a:p>
            <a:pPr marL="342900" lvl="0" indent="-342900">
              <a:buFont typeface="Arial" panose="020B0604020202020204" pitchFamily="34" charset="0"/>
              <a:buChar char="•"/>
            </a:pPr>
            <a:r>
              <a:rPr lang="en-GB" sz="2400" dirty="0"/>
              <a:t>Where is the main bottleneck or congestion point?</a:t>
            </a:r>
          </a:p>
          <a:p>
            <a:pPr marL="342900" lvl="0" indent="-342900">
              <a:buFont typeface="Arial" panose="020B0604020202020204" pitchFamily="34" charset="0"/>
              <a:buChar char="•"/>
            </a:pPr>
            <a:r>
              <a:rPr lang="en-GB" sz="2400" dirty="0"/>
              <a:t>How does the layout affect customer flow or staff productivity?</a:t>
            </a:r>
          </a:p>
          <a:p>
            <a:pPr marL="342900" lvl="0" indent="-342900">
              <a:buFont typeface="Arial" panose="020B0604020202020204" pitchFamily="34" charset="0"/>
              <a:buChar char="•"/>
            </a:pPr>
            <a:r>
              <a:rPr lang="en-GB" sz="2400" dirty="0"/>
              <a:t>Suggest one improvement.</a:t>
            </a:r>
          </a:p>
          <a:p>
            <a:pPr marL="342900" indent="-342900">
              <a:buFont typeface="Courier New" panose="02070309020205020404" pitchFamily="49" charset="0"/>
              <a:buChar char="o"/>
            </a:pPr>
            <a:r>
              <a:rPr lang="en-GB" sz="2400" dirty="0"/>
              <a:t>Maximum: 100 words.</a:t>
            </a:r>
          </a:p>
        </p:txBody>
      </p:sp>
    </p:spTree>
    <p:extLst>
      <p:ext uri="{BB962C8B-B14F-4D97-AF65-F5344CB8AC3E}">
        <p14:creationId xmlns:p14="http://schemas.microsoft.com/office/powerpoint/2010/main" val="2753060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7">
          <a:extLst>
            <a:ext uri="{FF2B5EF4-FFF2-40B4-BE49-F238E27FC236}">
              <a16:creationId xmlns:a16="http://schemas.microsoft.com/office/drawing/2014/main" id="{B2AD348B-E222-0B6D-507B-F06E7F8379F1}"/>
            </a:ext>
          </a:extLst>
        </p:cNvPr>
        <p:cNvGrpSpPr/>
        <p:nvPr/>
      </p:nvGrpSpPr>
      <p:grpSpPr>
        <a:xfrm>
          <a:off x="0" y="0"/>
          <a:ext cx="0" cy="0"/>
          <a:chOff x="0" y="0"/>
          <a:chExt cx="0" cy="0"/>
        </a:xfrm>
      </p:grpSpPr>
      <p:sp>
        <p:nvSpPr>
          <p:cNvPr id="78" name="Google Shape;78;p16">
            <a:extLst>
              <a:ext uri="{FF2B5EF4-FFF2-40B4-BE49-F238E27FC236}">
                <a16:creationId xmlns:a16="http://schemas.microsoft.com/office/drawing/2014/main" id="{6DFBBD6F-8F8A-7725-412F-273B0F8BE85F}"/>
              </a:ext>
            </a:extLst>
          </p:cNvPr>
          <p:cNvSpPr txBox="1">
            <a:spLocks noGrp="1"/>
          </p:cNvSpPr>
          <p:nvPr>
            <p:ph type="title"/>
          </p:nvPr>
        </p:nvSpPr>
        <p:spPr>
          <a:xfrm>
            <a:off x="275238" y="-277586"/>
            <a:ext cx="8324100" cy="914400"/>
          </a:xfrm>
          <a:prstGeom prst="rect">
            <a:avLst/>
          </a:prstGeom>
        </p:spPr>
        <p:txBody>
          <a:bodyPr spcFirstLastPara="1" wrap="square" lIns="91425" tIns="91425" rIns="91425" bIns="91425" anchor="t" anchorCtr="0">
            <a:normAutofit fontScale="90000"/>
          </a:bodyPr>
          <a:lstStyle/>
          <a:p>
            <a:pPr algn="ctr"/>
            <a:br>
              <a:rPr lang="en-GB" dirty="0"/>
            </a:br>
            <a:r>
              <a:rPr lang="en-GB" sz="3600" dirty="0">
                <a:latin typeface="+mj-lt"/>
              </a:rPr>
              <a:t>References</a:t>
            </a:r>
          </a:p>
        </p:txBody>
      </p:sp>
      <p:sp>
        <p:nvSpPr>
          <p:cNvPr id="80" name="Google Shape;80;p16">
            <a:extLst>
              <a:ext uri="{FF2B5EF4-FFF2-40B4-BE49-F238E27FC236}">
                <a16:creationId xmlns:a16="http://schemas.microsoft.com/office/drawing/2014/main" id="{E4453AA2-C322-D1A3-0477-24722A9FC5B9}"/>
              </a:ext>
            </a:extLst>
          </p:cNvPr>
          <p:cNvSpPr txBox="1">
            <a:spLocks noGrp="1"/>
          </p:cNvSpPr>
          <p:nvPr>
            <p:ph type="sldNum" idx="12"/>
          </p:nvPr>
        </p:nvSpPr>
        <p:spPr>
          <a:xfrm>
            <a:off x="8444334" y="4745726"/>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smtClean="0"/>
              <a:t>56</a:t>
            </a:fld>
            <a:endParaRPr lang="en"/>
          </a:p>
        </p:txBody>
      </p:sp>
      <p:sp>
        <p:nvSpPr>
          <p:cNvPr id="718" name="Refs"/>
          <p:cNvSpPr/>
          <p:nvPr/>
        </p:nvSpPr>
        <p:spPr>
          <a:xfrm>
            <a:off x="274320" y="914400"/>
            <a:ext cx="8595360" cy="3749040"/>
          </a:xfrm>
          <a:prstGeom prst="roundRect">
            <a:avLst>
              <a:gd name="adj" fmla="val 12000"/>
            </a:avLst>
          </a:prstGeom>
          <a:solidFill>
            <a:srgbClr val="FFFFFF"/>
          </a:solidFill>
          <a:ln w="12700">
            <a:solidFill>
              <a:srgbClr val="D5D0DE"/>
            </a:solidFill>
          </a:ln>
        </p:spPr>
        <p:txBody>
          <a:bodyPr wrap="square" lIns="137160" tIns="137160" rIns="137160" bIns="137160" anchor="t">
            <a:noAutofit/>
          </a:bodyPr>
          <a:lstStyle/>
          <a:p>
            <a:pPr marL="171450" indent="-171450" algn="l">
              <a:spcBef>
                <a:spcPts val="0"/>
              </a:spcBef>
              <a:spcAft>
                <a:spcPts val="220"/>
              </a:spcAft>
              <a:buFont typeface="Arial"/>
              <a:buChar char="•"/>
            </a:pPr>
            <a:r>
              <a:rPr lang="en-GB" sz="1350" b="0" i="0" dirty="0">
                <a:solidFill>
                  <a:srgbClr val="1A1A1A"/>
                </a:solidFill>
              </a:rPr>
              <a:t>Bakker &amp; Demerouti (2007). The Job Demands–Resources model. Journal of Managerial Psychology, 22(3).</a:t>
            </a:r>
          </a:p>
          <a:p>
            <a:pPr marL="171450" indent="-171450" algn="l">
              <a:spcBef>
                <a:spcPts val="0"/>
              </a:spcBef>
              <a:spcAft>
                <a:spcPts val="220"/>
              </a:spcAft>
              <a:buFont typeface="Arial"/>
              <a:buChar char="•"/>
            </a:pPr>
            <a:r>
              <a:rPr lang="en-GB" sz="1350" b="0" i="0" dirty="0">
                <a:solidFill>
                  <a:srgbClr val="1A1A1A"/>
                </a:solidFill>
              </a:rPr>
              <a:t>Colquitt (2001). On the dimensionality of organizational justice. Journal of Applied Psychology, 86(3).</a:t>
            </a:r>
          </a:p>
          <a:p>
            <a:pPr marL="171450" indent="-171450" algn="l">
              <a:spcBef>
                <a:spcPts val="0"/>
              </a:spcBef>
              <a:spcAft>
                <a:spcPts val="220"/>
              </a:spcAft>
              <a:buFont typeface="Arial"/>
              <a:buChar char="•"/>
            </a:pPr>
            <a:r>
              <a:rPr lang="en-GB" sz="1350" b="0" i="0" dirty="0">
                <a:solidFill>
                  <a:srgbClr val="1A1A1A"/>
                </a:solidFill>
              </a:rPr>
              <a:t>Goldratt &amp; Cox (1984). The Goal. North River Press.</a:t>
            </a:r>
          </a:p>
          <a:p>
            <a:pPr marL="171450" indent="-171450" algn="l">
              <a:spcBef>
                <a:spcPts val="0"/>
              </a:spcBef>
              <a:spcAft>
                <a:spcPts val="220"/>
              </a:spcAft>
              <a:buFont typeface="Arial"/>
              <a:buChar char="•"/>
            </a:pPr>
            <a:r>
              <a:rPr lang="en-GB" sz="1350" b="0" i="0" dirty="0">
                <a:solidFill>
                  <a:srgbClr val="1A1A1A"/>
                </a:solidFill>
              </a:rPr>
              <a:t>Harris &amp; Ogbonna (2006). Service sabotage. Journal of the Academy of Marketing Science, 34(4).</a:t>
            </a:r>
          </a:p>
          <a:p>
            <a:pPr marL="171450" indent="-171450" algn="l">
              <a:spcBef>
                <a:spcPts val="0"/>
              </a:spcBef>
              <a:spcAft>
                <a:spcPts val="220"/>
              </a:spcAft>
              <a:buFont typeface="Arial"/>
              <a:buChar char="•"/>
            </a:pPr>
            <a:r>
              <a:rPr lang="en-GB" sz="1350" b="0" i="0" dirty="0">
                <a:solidFill>
                  <a:srgbClr val="1A1A1A"/>
                </a:solidFill>
              </a:rPr>
              <a:t>Little (1961). A proof for the queuing formula L = λW. Operations Research, 9(3).</a:t>
            </a:r>
          </a:p>
          <a:p>
            <a:pPr marL="171450" indent="-171450" algn="l">
              <a:spcBef>
                <a:spcPts val="0"/>
              </a:spcBef>
              <a:spcAft>
                <a:spcPts val="220"/>
              </a:spcAft>
              <a:buFont typeface="Arial"/>
              <a:buChar char="•"/>
            </a:pPr>
            <a:r>
              <a:rPr lang="en-GB" sz="1350" b="0" i="0" dirty="0">
                <a:solidFill>
                  <a:srgbClr val="1A1A1A"/>
                </a:solidFill>
              </a:rPr>
              <a:t>Nazifi et al. (2022). Bad intentions. Journal of Travel Research, 61(8).</a:t>
            </a:r>
          </a:p>
          <a:p>
            <a:pPr marL="171450" indent="-171450" algn="l">
              <a:spcBef>
                <a:spcPts val="0"/>
              </a:spcBef>
              <a:spcAft>
                <a:spcPts val="220"/>
              </a:spcAft>
              <a:buFont typeface="Arial"/>
              <a:buChar char="•"/>
            </a:pPr>
            <a:r>
              <a:rPr lang="en-GB" sz="1350" b="0" i="0" dirty="0">
                <a:solidFill>
                  <a:srgbClr val="1A1A1A"/>
                </a:solidFill>
              </a:rPr>
              <a:t>Parasuraman, Zeithaml &amp; Berry (1985). A conceptual model of service quality. Journal of Marketing, 49(4).</a:t>
            </a:r>
          </a:p>
          <a:p>
            <a:pPr marL="171450" indent="-171450" algn="l">
              <a:spcBef>
                <a:spcPts val="0"/>
              </a:spcBef>
              <a:spcAft>
                <a:spcPts val="220"/>
              </a:spcAft>
              <a:buFont typeface="Arial"/>
              <a:buChar char="•"/>
            </a:pPr>
            <a:r>
              <a:rPr lang="en-GB" sz="1350" b="0" i="0" dirty="0">
                <a:solidFill>
                  <a:srgbClr val="1A1A1A"/>
                </a:solidFill>
              </a:rPr>
              <a:t>Trist &amp; Bamforth (1951). The longwall method of coal-getting. Human Relations, 4(1).</a:t>
            </a:r>
          </a:p>
          <a:p>
            <a:pPr marL="171450" indent="-171450" algn="l">
              <a:spcBef>
                <a:spcPts val="0"/>
              </a:spcBef>
              <a:spcAft>
                <a:spcPts val="220"/>
              </a:spcAft>
              <a:buFont typeface="Arial"/>
              <a:buChar char="•"/>
            </a:pPr>
            <a:r>
              <a:rPr lang="en-GB" sz="1350" b="0" i="0" dirty="0">
                <a:solidFill>
                  <a:srgbClr val="1A1A1A"/>
                </a:solidFill>
              </a:rPr>
              <a:t>Womack &amp; Jones (1996). Lean Thinking. Simon &amp; Schuster.</a:t>
            </a:r>
          </a:p>
        </p:txBody>
      </p:sp>
    </p:spTree>
    <p:extLst>
      <p:ext uri="{BB962C8B-B14F-4D97-AF65-F5344CB8AC3E}">
        <p14:creationId xmlns:p14="http://schemas.microsoft.com/office/powerpoint/2010/main" val="3651354389"/>
      </p:ext>
    </p:extLst>
  </p:cSld>
  <p:clrMapOvr>
    <a:masterClrMapping/>
  </p:clrMapOvr>
</p:sld>
</file>

<file path=ppt/theme/theme1.xml><?xml version="1.0" encoding="utf-8"?>
<a:theme xmlns:a="http://schemas.openxmlformats.org/drawingml/2006/main" name="Simple Light">
  <a:themeElements>
    <a:clrScheme name="Simple Light">
      <a:dk1>
        <a:srgbClr val="131E29"/>
      </a:dk1>
      <a:lt1>
        <a:srgbClr val="FFFFFF"/>
      </a:lt1>
      <a:dk2>
        <a:srgbClr val="440099"/>
      </a:dk2>
      <a:lt2>
        <a:srgbClr val="F3F3F3"/>
      </a:lt2>
      <a:accent1>
        <a:srgbClr val="005A8F"/>
      </a:accent1>
      <a:accent2>
        <a:srgbClr val="FF6371"/>
      </a:accent2>
      <a:accent3>
        <a:srgbClr val="C2E9F1"/>
      </a:accent3>
      <a:accent4>
        <a:srgbClr val="9ADBE8"/>
      </a:accent4>
      <a:accent5>
        <a:srgbClr val="981F92"/>
      </a:accent5>
      <a:accent6>
        <a:srgbClr val="663DB3"/>
      </a:accent6>
      <a:hlink>
        <a:srgbClr val="00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8577</TotalTime>
  <Words>3848</Words>
  <Application>Microsoft Office PowerPoint</Application>
  <PresentationFormat>On-screen Show (16:9)</PresentationFormat>
  <Paragraphs>666</Paragraphs>
  <Slides>56</Slides>
  <Notes>12</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56</vt:i4>
      </vt:variant>
    </vt:vector>
  </HeadingPairs>
  <TitlesOfParts>
    <vt:vector size="61" baseType="lpstr">
      <vt:lpstr>Arial</vt:lpstr>
      <vt:lpstr>Courier New</vt:lpstr>
      <vt:lpstr>Source Sans Pro</vt:lpstr>
      <vt:lpstr>Source Serif Pro</vt:lpstr>
      <vt:lpstr>Simple Light</vt:lpstr>
      <vt:lpstr>PowerPoint Presentation</vt:lpstr>
      <vt:lpstr>Learning Outcomes</vt:lpstr>
      <vt:lpstr> Module Outline</vt:lpstr>
      <vt:lpstr>Answers</vt:lpstr>
      <vt:lpstr> The Operational Performance Puzzle</vt:lpstr>
      <vt:lpstr>Operational Measures </vt:lpstr>
      <vt:lpstr> Part 1</vt:lpstr>
      <vt:lpstr> Productivity: Why It Matters</vt:lpstr>
      <vt:lpstr> Productivity: Theoretical Lenses</vt:lpstr>
      <vt:lpstr> Types of Productivity</vt:lpstr>
      <vt:lpstr> Worked Example: A Coffee Shop</vt:lpstr>
      <vt:lpstr>Answers</vt:lpstr>
      <vt:lpstr> Output Rises, Productivity Falls</vt:lpstr>
      <vt:lpstr> Worked Example: A Merch Studio</vt:lpstr>
      <vt:lpstr> Solution: A Merch Studio</vt:lpstr>
      <vt:lpstr> Your Turn: Zara Warehouse Productivity</vt:lpstr>
      <vt:lpstr>Answers</vt:lpstr>
      <vt:lpstr> Part 2</vt:lpstr>
      <vt:lpstr> Lean Operations and Throughput Efficiency</vt:lpstr>
      <vt:lpstr> Lean Operations: Five Principles</vt:lpstr>
      <vt:lpstr> Taiichi Ohno’s Three Roadblocks:</vt:lpstr>
      <vt:lpstr> The Seven Wastes (1): T, I, M, W</vt:lpstr>
      <vt:lpstr> The Seven Wastes (2): O, O, D, plus Talent</vt:lpstr>
      <vt:lpstr> Worked Example: Waste in a Coffee Shop</vt:lpstr>
      <vt:lpstr> Coffee Shop: Follow the 10 Minutes</vt:lpstr>
      <vt:lpstr> Class Activity: Spot the Waste</vt:lpstr>
      <vt:lpstr>Answers</vt:lpstr>
      <vt:lpstr> Throughput Efficiency Across Sectors</vt:lpstr>
      <vt:lpstr> Little’s Law and Throughput Time</vt:lpstr>
      <vt:lpstr> Worked Example: Zucchero Mail Order</vt:lpstr>
      <vt:lpstr> Solution: Zucchero Mail Order</vt:lpstr>
      <vt:lpstr> Why Is Throughput Efficiency Low?</vt:lpstr>
      <vt:lpstr> High Utilisation Increases Waiting</vt:lpstr>
      <vt:lpstr> Part 3</vt:lpstr>
      <vt:lpstr> What Is Service Failure?</vt:lpstr>
      <vt:lpstr> Service Failure Analysis</vt:lpstr>
      <vt:lpstr> Why Do Services Fail? Four Categories</vt:lpstr>
      <vt:lpstr>PowerPoint Presentation</vt:lpstr>
      <vt:lpstr> Theoretical Lens: Service Quality Gaps</vt:lpstr>
      <vt:lpstr> Mini-case: Microsoft Azure Service Outage </vt:lpstr>
      <vt:lpstr> Theoretical Lens: Sociotechnical Systems</vt:lpstr>
      <vt:lpstr> Diagnose Root Causes, Not Symptoms</vt:lpstr>
      <vt:lpstr> Service Recovery: What Should Managers Do?</vt:lpstr>
      <vt:lpstr> Service Sabotage</vt:lpstr>
      <vt:lpstr> Service Failure</vt:lpstr>
      <vt:lpstr>PowerPoint Presentation</vt:lpstr>
      <vt:lpstr> Motivation for Service Sabotage</vt:lpstr>
      <vt:lpstr> Why Work Design Matters for Sabotage</vt:lpstr>
      <vt:lpstr> Service Sabotage and Designing Operations</vt:lpstr>
      <vt:lpstr> Part 4</vt:lpstr>
      <vt:lpstr> Integrated Activity: The Overloaded Café</vt:lpstr>
      <vt:lpstr> Integrated Activity: Model Answer</vt:lpstr>
      <vt:lpstr> Operational Performance Measures Scorecard</vt:lpstr>
      <vt:lpstr> Key Takeaways</vt:lpstr>
      <vt:lpstr>Operations in Practice</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Emilia Vann Yaroson</dc:creator>
  <cp:lastModifiedBy>Emilia Vann Yaroson</cp:lastModifiedBy>
  <cp:revision>25</cp:revision>
  <dcterms:modified xsi:type="dcterms:W3CDTF">2026-10-14T09:31:00Z</dcterms:modified>
</cp:coreProperties>
</file>