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78" r:id="rId3"/>
    <p:sldId id="259" r:id="rId4"/>
    <p:sldId id="277" r:id="rId5"/>
    <p:sldId id="276" r:id="rId6"/>
    <p:sldId id="287" r:id="rId7"/>
    <p:sldId id="260" r:id="rId8"/>
    <p:sldId id="261" r:id="rId9"/>
    <p:sldId id="283" r:id="rId10"/>
    <p:sldId id="293" r:id="rId11"/>
    <p:sldId id="304" r:id="rId12"/>
    <p:sldId id="284" r:id="rId13"/>
    <p:sldId id="281" r:id="rId14"/>
    <p:sldId id="290" r:id="rId15"/>
    <p:sldId id="288" r:id="rId16"/>
    <p:sldId id="262" r:id="rId17"/>
    <p:sldId id="282" r:id="rId18"/>
    <p:sldId id="302" r:id="rId19"/>
    <p:sldId id="286" r:id="rId20"/>
    <p:sldId id="301" r:id="rId21"/>
    <p:sldId id="292" r:id="rId22"/>
    <p:sldId id="298" r:id="rId23"/>
    <p:sldId id="303" r:id="rId24"/>
    <p:sldId id="295" r:id="rId25"/>
    <p:sldId id="297" r:id="rId26"/>
    <p:sldId id="299" r:id="rId27"/>
    <p:sldId id="289" r:id="rId28"/>
    <p:sldId id="300" r:id="rId29"/>
    <p:sldId id="274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2">
          <p15:clr>
            <a:srgbClr val="747775"/>
          </p15:clr>
        </p15:guide>
        <p15:guide id="4" orient="horz" pos="30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80" y="120"/>
      </p:cViewPr>
      <p:guideLst>
        <p:guide orient="horz" pos="1620"/>
        <p:guide pos="2880"/>
        <p:guide orient="horz" pos="432"/>
        <p:guide orient="horz" pos="30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bb6d15d2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bb6d15d2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0B3A71F-86C5-6606-6380-32634E5E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3367c67fa_0_21:notes">
            <a:extLst>
              <a:ext uri="{FF2B5EF4-FFF2-40B4-BE49-F238E27FC236}">
                <a16:creationId xmlns:a16="http://schemas.microsoft.com/office/drawing/2014/main" id="{0BDFCBC2-8092-9995-235C-FC98B4A4C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3367c67fa_0_21:notes">
            <a:extLst>
              <a:ext uri="{FF2B5EF4-FFF2-40B4-BE49-F238E27FC236}">
                <a16:creationId xmlns:a16="http://schemas.microsoft.com/office/drawing/2014/main" id="{8B3A56EA-B5D7-C43F-651E-8C34D8912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28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442437b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7442437b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CE56419-3CEA-17B9-8632-5FC6A914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442437b2_0_2:notes">
            <a:extLst>
              <a:ext uri="{FF2B5EF4-FFF2-40B4-BE49-F238E27FC236}">
                <a16:creationId xmlns:a16="http://schemas.microsoft.com/office/drawing/2014/main" id="{42D64FB8-3B1D-E610-7C49-FB8D08199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7442437b2_0_2:notes">
            <a:extLst>
              <a:ext uri="{FF2B5EF4-FFF2-40B4-BE49-F238E27FC236}">
                <a16:creationId xmlns:a16="http://schemas.microsoft.com/office/drawing/2014/main" id="{1ABA3F18-665F-B79E-9CEF-A29F7196F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766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C4DB110-1544-CC33-2598-FF72AEFF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442437b2_0_2:notes">
            <a:extLst>
              <a:ext uri="{FF2B5EF4-FFF2-40B4-BE49-F238E27FC236}">
                <a16:creationId xmlns:a16="http://schemas.microsoft.com/office/drawing/2014/main" id="{BCB60E14-0C87-DF51-B79B-5BBF29039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7442437b2_0_2:notes">
            <a:extLst>
              <a:ext uri="{FF2B5EF4-FFF2-40B4-BE49-F238E27FC236}">
                <a16:creationId xmlns:a16="http://schemas.microsoft.com/office/drawing/2014/main" id="{33D8B695-0A4D-BD77-E4A4-EEE26BCEA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734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E2F0BD6-AB37-4755-B7EA-19A1F0E6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442437b2_0_2:notes">
            <a:extLst>
              <a:ext uri="{FF2B5EF4-FFF2-40B4-BE49-F238E27FC236}">
                <a16:creationId xmlns:a16="http://schemas.microsoft.com/office/drawing/2014/main" id="{0A9B53C0-8F9D-E94B-2A35-32419CB0B9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7442437b2_0_2:notes">
            <a:extLst>
              <a:ext uri="{FF2B5EF4-FFF2-40B4-BE49-F238E27FC236}">
                <a16:creationId xmlns:a16="http://schemas.microsoft.com/office/drawing/2014/main" id="{3762E5A3-6165-4E2B-9168-F7F617D54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8110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442437b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442437b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442437b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442437b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E6C293EB-4F37-7373-4404-579FFF7E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442437b2_0_14:notes">
            <a:extLst>
              <a:ext uri="{FF2B5EF4-FFF2-40B4-BE49-F238E27FC236}">
                <a16:creationId xmlns:a16="http://schemas.microsoft.com/office/drawing/2014/main" id="{E9E08F27-87E3-C46E-DEF3-E43D4E7D4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442437b2_0_14:notes">
            <a:extLst>
              <a:ext uri="{FF2B5EF4-FFF2-40B4-BE49-F238E27FC236}">
                <a16:creationId xmlns:a16="http://schemas.microsoft.com/office/drawing/2014/main" id="{0B9C865D-CC8F-A22D-CA50-EE92D2C39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508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636BBA83-7262-1779-9EBF-426FB39B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442437b2_0_14:notes">
            <a:extLst>
              <a:ext uri="{FF2B5EF4-FFF2-40B4-BE49-F238E27FC236}">
                <a16:creationId xmlns:a16="http://schemas.microsoft.com/office/drawing/2014/main" id="{819AF779-0788-066D-4D98-DE0D81FBE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442437b2_0_14:notes">
            <a:extLst>
              <a:ext uri="{FF2B5EF4-FFF2-40B4-BE49-F238E27FC236}">
                <a16:creationId xmlns:a16="http://schemas.microsoft.com/office/drawing/2014/main" id="{82ECF48C-6F0B-8602-E1C6-D04C43D89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1744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C988B806-2A9E-B74E-A851-27E4A7B3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442437b2_0_14:notes">
            <a:extLst>
              <a:ext uri="{FF2B5EF4-FFF2-40B4-BE49-F238E27FC236}">
                <a16:creationId xmlns:a16="http://schemas.microsoft.com/office/drawing/2014/main" id="{EDFE8748-0E1E-7B40-7D4E-F6C1CF2F8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442437b2_0_14:notes">
            <a:extLst>
              <a:ext uri="{FF2B5EF4-FFF2-40B4-BE49-F238E27FC236}">
                <a16:creationId xmlns:a16="http://schemas.microsoft.com/office/drawing/2014/main" id="{1D181982-BFEC-6DD7-862D-A6FBF3F21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089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63C57ECF-D71F-A279-6839-29A6E846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442437b2_0_14:notes">
            <a:extLst>
              <a:ext uri="{FF2B5EF4-FFF2-40B4-BE49-F238E27FC236}">
                <a16:creationId xmlns:a16="http://schemas.microsoft.com/office/drawing/2014/main" id="{AB506AE3-CEDA-17C3-F8E6-5199B0256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442437b2_0_14:notes">
            <a:extLst>
              <a:ext uri="{FF2B5EF4-FFF2-40B4-BE49-F238E27FC236}">
                <a16:creationId xmlns:a16="http://schemas.microsoft.com/office/drawing/2014/main" id="{03292E8E-15A9-C2B0-3FE5-91EAE9561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776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EBA5F4A-19DE-3DD4-84C0-0D237C48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442437b2_0_21:notes">
            <a:extLst>
              <a:ext uri="{FF2B5EF4-FFF2-40B4-BE49-F238E27FC236}">
                <a16:creationId xmlns:a16="http://schemas.microsoft.com/office/drawing/2014/main" id="{09C90423-DD96-FA4D-D94C-BD9EB56ED5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442437b2_0_21:notes">
            <a:extLst>
              <a:ext uri="{FF2B5EF4-FFF2-40B4-BE49-F238E27FC236}">
                <a16:creationId xmlns:a16="http://schemas.microsoft.com/office/drawing/2014/main" id="{B8F3EEA1-F683-CC09-3970-BF9F6BA38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153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7442437b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7442437b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29DAC17-F589-EE0E-8741-D179613C1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442437b2_0_21:notes">
            <a:extLst>
              <a:ext uri="{FF2B5EF4-FFF2-40B4-BE49-F238E27FC236}">
                <a16:creationId xmlns:a16="http://schemas.microsoft.com/office/drawing/2014/main" id="{060F14A4-C40E-317E-7371-501DC19BF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442437b2_0_21:notes">
            <a:extLst>
              <a:ext uri="{FF2B5EF4-FFF2-40B4-BE49-F238E27FC236}">
                <a16:creationId xmlns:a16="http://schemas.microsoft.com/office/drawing/2014/main" id="{AE4B5AFF-3017-F115-0822-D54B06E39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418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F6A0034-7FE9-1A55-04AA-8EE245BD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442437b2_0_21:notes">
            <a:extLst>
              <a:ext uri="{FF2B5EF4-FFF2-40B4-BE49-F238E27FC236}">
                <a16:creationId xmlns:a16="http://schemas.microsoft.com/office/drawing/2014/main" id="{5F95986E-9572-38CA-0ECA-B57C48A97D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442437b2_0_21:notes">
            <a:extLst>
              <a:ext uri="{FF2B5EF4-FFF2-40B4-BE49-F238E27FC236}">
                <a16:creationId xmlns:a16="http://schemas.microsoft.com/office/drawing/2014/main" id="{35D19F03-9C8D-1D46-5148-AC4F2C9C9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512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3367c67fa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e3367c67fa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Title slide">
  <p:cSld name="CUSTOM_2_1">
    <p:bg>
      <p:bgPr>
        <a:solidFill>
          <a:srgbClr val="F3F3F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298500" y="251150"/>
            <a:ext cx="83922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Source Serif Pro"/>
              <a:buNone/>
              <a:defRPr sz="54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25925" y="2117000"/>
            <a:ext cx="8364600" cy="11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12;p2" descr="University of Sheffield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2529" y="4309700"/>
            <a:ext cx="1813500" cy="5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885" y="4349059"/>
            <a:ext cx="1495202" cy="5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Title text" type="blank">
  <p:cSld name="BLANK">
    <p:bg>
      <p:bgPr>
        <a:solidFill>
          <a:srgbClr val="F3F3F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379526" y="801485"/>
            <a:ext cx="820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82743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Two equal columns">
  <p:cSld name="BLANK_2">
    <p:bg>
      <p:bgPr>
        <a:solidFill>
          <a:srgbClr val="F3F3F3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2743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379526" y="801485"/>
            <a:ext cx="820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3901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661100" y="1073200"/>
            <a:ext cx="3901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Blank">
  <p:cSld name="CUSTOM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book)">
  <p:cSld name="CUSTOM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9145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crown)">
  <p:cSld name="CUSTOM_3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9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5026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rose)">
  <p:cSld name="CUSTOM_3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0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9847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Closing slide">
  <p:cSld name="CUSTOM_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1" descr="University of Sheffield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85300" y="1371942"/>
            <a:ext cx="3891251" cy="11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1707800" y="3134325"/>
            <a:ext cx="5454900" cy="17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E29"/>
              </a:buClr>
              <a:buSzPts val="1800"/>
              <a:buFont typeface="Source Sans Pro"/>
              <a:buChar char="●"/>
              <a:defRPr sz="1800">
                <a:solidFill>
                  <a:srgbClr val="131E2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wooclap.com/events/PJDHAEA/live-sessi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SduLFWWnJQ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effield.ac.uk/?hom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389700" y="770107"/>
            <a:ext cx="8364600" cy="11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Aft>
                <a:spcPts val="1200"/>
              </a:spcAft>
            </a:pPr>
            <a:r>
              <a:rPr lang="en-GB" sz="2800" b="1" dirty="0">
                <a:solidFill>
                  <a:schemeClr val="bg2"/>
                </a:solidFill>
              </a:rPr>
              <a:t>Operations and Supply Chain Management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PT" sz="2800" b="1" dirty="0">
                <a:solidFill>
                  <a:schemeClr val="bg2"/>
                </a:solidFill>
              </a:rPr>
              <a:t>MGT6046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PT" sz="2800" b="1" dirty="0">
                <a:solidFill>
                  <a:schemeClr val="bg2"/>
                </a:solidFill>
              </a:rPr>
              <a:t>Dr Emilia Vann Yaroson</a:t>
            </a:r>
            <a:endParaRPr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8137C71E-FD1F-A15E-F317-1CC33A425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630B6023-BB80-1810-1E90-E34536580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9807" y="0"/>
            <a:ext cx="9446077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/>
              <a:t>Welcome to the Module</a:t>
            </a:r>
            <a:endParaRPr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F85EA-43FA-573C-FD81-854239E1DA6F}"/>
              </a:ext>
            </a:extLst>
          </p:cNvPr>
          <p:cNvSpPr txBox="1"/>
          <p:nvPr/>
        </p:nvSpPr>
        <p:spPr>
          <a:xfrm>
            <a:off x="0" y="457200"/>
            <a:ext cx="9144000" cy="4166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Develop → Design → Deliver → Direct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These four areas provide the structure for the module and show how operational decisions fit together.</a:t>
            </a:r>
          </a:p>
          <a:p>
            <a:pPr marL="342900" lvl="7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Develop</a:t>
            </a:r>
            <a:r>
              <a:rPr lang="ar-SA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How do organisations develop the operational capability required to meet customer and organisational needs?</a:t>
            </a:r>
          </a:p>
          <a:p>
            <a:pPr marL="342900" lvl="7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Design</a:t>
            </a:r>
            <a:r>
              <a:rPr lang="ar-SA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How should processes, technologies, information systems and resources be designed?</a:t>
            </a:r>
          </a:p>
          <a:p>
            <a:pPr marL="342900" lvl="7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Deliver</a:t>
            </a:r>
            <a:r>
              <a:rPr lang="ar-SA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How should organisations source, locate, manage inventory and coordinate supply chain activities to deliver products and services?</a:t>
            </a:r>
          </a:p>
          <a:p>
            <a:pPr marL="342900" lvl="7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Direct</a:t>
            </a:r>
            <a:r>
              <a:rPr lang="ar-SA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How should operational activities, projects and resources be planned, coordinated and controlled?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kern="100" dirty="0">
                <a:solidFill>
                  <a:schemeClr val="tx1"/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Throughout the module, you will combine conceptual understanding, quantitative analysis and practical managerial decision-making.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b="1" kern="1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 </a:t>
            </a:r>
            <a:endParaRPr lang="en-GB" sz="1600" kern="100" dirty="0">
              <a:solidFill>
                <a:schemeClr val="bg2">
                  <a:lumMod val="75000"/>
                </a:schemeClr>
              </a:solidFill>
              <a:effectLst/>
              <a:latin typeface="+mn-lt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-GB" b="1" dirty="0"/>
              <a:t>Module Outline</a:t>
            </a:r>
            <a:br>
              <a:rPr lang="en-GB" dirty="0"/>
            </a:br>
            <a:endParaRPr dirty="0"/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681F7B-AA43-DFF0-0220-8258FF8C5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440619"/>
              </p:ext>
            </p:extLst>
          </p:nvPr>
        </p:nvGraphicFramePr>
        <p:xfrm>
          <a:off x="2" y="813715"/>
          <a:ext cx="9143998" cy="465938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40871">
                  <a:extLst>
                    <a:ext uri="{9D8B030D-6E8A-4147-A177-3AD203B41FA5}">
                      <a16:colId xmlns:a16="http://schemas.microsoft.com/office/drawing/2014/main" val="546269751"/>
                    </a:ext>
                  </a:extLst>
                </a:gridCol>
                <a:gridCol w="955222">
                  <a:extLst>
                    <a:ext uri="{9D8B030D-6E8A-4147-A177-3AD203B41FA5}">
                      <a16:colId xmlns:a16="http://schemas.microsoft.com/office/drawing/2014/main" val="2308941238"/>
                    </a:ext>
                  </a:extLst>
                </a:gridCol>
                <a:gridCol w="930726">
                  <a:extLst>
                    <a:ext uri="{9D8B030D-6E8A-4147-A177-3AD203B41FA5}">
                      <a16:colId xmlns:a16="http://schemas.microsoft.com/office/drawing/2014/main" val="103969090"/>
                    </a:ext>
                  </a:extLst>
                </a:gridCol>
                <a:gridCol w="4269922">
                  <a:extLst>
                    <a:ext uri="{9D8B030D-6E8A-4147-A177-3AD203B41FA5}">
                      <a16:colId xmlns:a16="http://schemas.microsoft.com/office/drawing/2014/main" val="1803515743"/>
                    </a:ext>
                  </a:extLst>
                </a:gridCol>
                <a:gridCol w="2547257">
                  <a:extLst>
                    <a:ext uri="{9D8B030D-6E8A-4147-A177-3AD203B41FA5}">
                      <a16:colId xmlns:a16="http://schemas.microsoft.com/office/drawing/2014/main" val="2139903092"/>
                    </a:ext>
                  </a:extLst>
                </a:gridCol>
              </a:tblGrid>
              <a:tr h="3904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effectLst/>
                          <a:latin typeface="+mn-lt"/>
                        </a:rPr>
                        <a:t>Week</a:t>
                      </a:r>
                      <a:endParaRPr lang="en-GB" sz="900" b="1" kern="100" dirty="0"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Week commencing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4D Component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Lecture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Tutorial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extLst>
                  <a:ext uri="{0D108BD9-81ED-4DB2-BD59-A6C34878D82A}">
                    <a16:rowId xmlns:a16="http://schemas.microsoft.com/office/drawing/2014/main" val="2112287733"/>
                  </a:ext>
                </a:extLst>
              </a:tr>
              <a:tr h="541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effectLst/>
                          <a:latin typeface="+mn-lt"/>
                        </a:rPr>
                        <a:t>1</a:t>
                      </a:r>
                      <a:endParaRPr lang="en-GB" sz="900" b="1" kern="100" dirty="0"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 September 2026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Develop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Operations and Supply Chain Management Foundations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</a:t>
                      </a:r>
                      <a:r>
                        <a:rPr lang="en-GB" sz="9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perations</a:t>
                      </a: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strategy, performance objectives, interdependencies and customer value.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tutorial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extLst>
                  <a:ext uri="{0D108BD9-81ED-4DB2-BD59-A6C34878D82A}">
                    <a16:rowId xmlns:a16="http://schemas.microsoft.com/office/drawing/2014/main" val="3933236625"/>
                  </a:ext>
                </a:extLst>
              </a:tr>
              <a:tr h="541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effectLst/>
                          <a:latin typeface="+mn-lt"/>
                        </a:rPr>
                        <a:t>2</a:t>
                      </a:r>
                      <a:endParaRPr lang="en-GB" sz="900" b="1" kern="100" dirty="0"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October 2026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Develop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Capacity, Utilisation, Efficiency and Little’s Law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Design and effective capacity, utilisation, efficiency, WIP, throughput, flow time and demand-capacity relationships.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tutorial</a:t>
                      </a:r>
                      <a:endParaRPr lang="en-GB" sz="9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extLst>
                  <a:ext uri="{0D108BD9-81ED-4DB2-BD59-A6C34878D82A}">
                    <a16:rowId xmlns:a16="http://schemas.microsoft.com/office/drawing/2014/main" val="2112289316"/>
                  </a:ext>
                </a:extLst>
              </a:tr>
              <a:tr h="692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>
                          <a:effectLst/>
                          <a:latin typeface="+mn-lt"/>
                        </a:rPr>
                        <a:t>3</a:t>
                      </a:r>
                      <a:endParaRPr lang="en-GB" sz="900" b="1" kern="100"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 October 2026</a:t>
                      </a:r>
                      <a:endParaRPr lang="en-GB" sz="9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Productivity, Throughput and Service Failure Analysis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Productivity, throughput efficiency, process performance, waiting, delays, capacity-demand mismatch and service failure. Operational and ERP-derived data will be introduced to support process analysis.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Tutorial 1 – Applying Week 2: Capacity, utilisation and efficiency calculations; Little’s Law; WIP and throughput time; server and capacity calculations; operations strategy and performance objectives.</a:t>
                      </a:r>
                      <a:endParaRPr lang="en-GB" sz="9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extLst>
                  <a:ext uri="{0D108BD9-81ED-4DB2-BD59-A6C34878D82A}">
                    <a16:rowId xmlns:a16="http://schemas.microsoft.com/office/drawing/2014/main" val="2397790138"/>
                  </a:ext>
                </a:extLst>
              </a:tr>
              <a:tr h="6644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>
                          <a:effectLst/>
                          <a:latin typeface="+mn-lt"/>
                        </a:rPr>
                        <a:t>4</a:t>
                      </a:r>
                      <a:endParaRPr lang="en-GB" sz="900" b="1" kern="100"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 October 2026</a:t>
                      </a:r>
                      <a:endParaRPr lang="en-GB" sz="9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Designing Operations: Theory of Constraints, Line Balancing, ERP and Digitalisation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Process design, bottlenecks, cycle time, idle time, line balancing, ERP-enabled process integration, automation, AI, IoT and real-time operational visibility.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tutorial</a:t>
                      </a:r>
                      <a:endParaRPr lang="en-GB" sz="9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extLst>
                  <a:ext uri="{0D108BD9-81ED-4DB2-BD59-A6C34878D82A}">
                    <a16:rowId xmlns:a16="http://schemas.microsoft.com/office/drawing/2014/main" val="628534482"/>
                  </a:ext>
                </a:extLst>
              </a:tr>
              <a:tr h="7842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>
                          <a:effectLst/>
                          <a:latin typeface="+mn-lt"/>
                        </a:rPr>
                        <a:t>5</a:t>
                      </a:r>
                      <a:endParaRPr lang="en-GB" sz="900" b="1" kern="100"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 October 2026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Cost Analysis for Operational Decisions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Relevant costs, operational trade-offs, productivity and throughput consequences, service performance and cost implications of operational constraints.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Tutorial 2 – Applying Week 4: Theory of Constraints; bottlenecks; idle time; balancing loss; revised balancing loss; productivity and throughput efficiency. Process and ERP data may be used to interpret operational constraints.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3227" marR="13227" marT="0" marB="0"/>
                </a:tc>
                <a:extLst>
                  <a:ext uri="{0D108BD9-81ED-4DB2-BD59-A6C34878D82A}">
                    <a16:rowId xmlns:a16="http://schemas.microsoft.com/office/drawing/2014/main" val="886836345"/>
                  </a:ext>
                </a:extLst>
              </a:tr>
              <a:tr h="541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GB" sz="900" b="1" kern="10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November 2026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Deliver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Make-or-Buy Decisions and Break-even Analysis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Internal versus external supply, outsourcing, sourcing decisions, fixed and variable costs, relevant costs and break-even quantity.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tutorial</a:t>
                      </a:r>
                      <a:endParaRPr lang="en-GB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extLst>
                  <a:ext uri="{0D108BD9-81ED-4DB2-BD59-A6C34878D82A}">
                    <a16:rowId xmlns:a16="http://schemas.microsoft.com/office/drawing/2014/main" val="1402714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C410D183-449F-83FE-2AFD-3F59DC1A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82E395A8-C223-DECE-42C6-76CB14B78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-GB" b="1" dirty="0"/>
              <a:t>Module Outline</a:t>
            </a:r>
            <a:br>
              <a:rPr lang="en-GB" b="1" dirty="0"/>
            </a:br>
            <a:endParaRPr b="1" dirty="0"/>
          </a:p>
        </p:txBody>
      </p:sp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D9A2FEF-4A8E-4FEB-E776-97326BEE14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0098D0-9319-CF1B-9677-7A34874CF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25071"/>
              </p:ext>
            </p:extLst>
          </p:nvPr>
        </p:nvGraphicFramePr>
        <p:xfrm>
          <a:off x="12246" y="836605"/>
          <a:ext cx="9119507" cy="472922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1775">
                  <a:extLst>
                    <a:ext uri="{9D8B030D-6E8A-4147-A177-3AD203B41FA5}">
                      <a16:colId xmlns:a16="http://schemas.microsoft.com/office/drawing/2014/main" val="3978730470"/>
                    </a:ext>
                  </a:extLst>
                </a:gridCol>
                <a:gridCol w="904034">
                  <a:extLst>
                    <a:ext uri="{9D8B030D-6E8A-4147-A177-3AD203B41FA5}">
                      <a16:colId xmlns:a16="http://schemas.microsoft.com/office/drawing/2014/main" val="3273182891"/>
                    </a:ext>
                  </a:extLst>
                </a:gridCol>
                <a:gridCol w="1097004">
                  <a:extLst>
                    <a:ext uri="{9D8B030D-6E8A-4147-A177-3AD203B41FA5}">
                      <a16:colId xmlns:a16="http://schemas.microsoft.com/office/drawing/2014/main" val="3342533419"/>
                    </a:ext>
                  </a:extLst>
                </a:gridCol>
                <a:gridCol w="3735087">
                  <a:extLst>
                    <a:ext uri="{9D8B030D-6E8A-4147-A177-3AD203B41FA5}">
                      <a16:colId xmlns:a16="http://schemas.microsoft.com/office/drawing/2014/main" val="1984876429"/>
                    </a:ext>
                  </a:extLst>
                </a:gridCol>
                <a:gridCol w="3061607">
                  <a:extLst>
                    <a:ext uri="{9D8B030D-6E8A-4147-A177-3AD203B41FA5}">
                      <a16:colId xmlns:a16="http://schemas.microsoft.com/office/drawing/2014/main" val="119607719"/>
                    </a:ext>
                  </a:extLst>
                </a:gridCol>
              </a:tblGrid>
              <a:tr h="5856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GB" sz="1050" b="1" kern="10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 November 2026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Deliver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Inventory Management and ABC Analysis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Inventory roles and costs, stock availability, ABC classification, information sharing and supply-chain coordination.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Tutorial 3 – Applying Week 6: Make-or-buy costs; break-even quantity; relevant costs; sensitivity analysis and interpretation of sourcing decisions.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extLst>
                  <a:ext uri="{0D108BD9-81ED-4DB2-BD59-A6C34878D82A}">
                    <a16:rowId xmlns:a16="http://schemas.microsoft.com/office/drawing/2014/main" val="4097131512"/>
                  </a:ext>
                </a:extLst>
              </a:tr>
              <a:tr h="7414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GB" sz="1050" b="1" kern="10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 November 2026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Deliver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Location Decisions and Location Models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Facility location, supply network configuration, Centre of Gravity, cost-volume analysis, weighted scoring and strategic location considerations.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tutorial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extLst>
                  <a:ext uri="{0D108BD9-81ED-4DB2-BD59-A6C34878D82A}">
                    <a16:rowId xmlns:a16="http://schemas.microsoft.com/office/drawing/2014/main" val="2888607189"/>
                  </a:ext>
                </a:extLst>
              </a:tr>
              <a:tr h="7252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n-GB" sz="1050" b="1" kern="10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 November 2026</a:t>
                      </a:r>
                      <a:endParaRPr lang="en-GB" sz="105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Direct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Project Management I: Planning and Precedence Networks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Project activities, dependencies, sequencing, precedence relationships, network construction and operational planning.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Tutorial 4 – Applying Week 8: Centre of Gravity; changing loads; cost-volume analysis; weighted scoring; consolidation of inventory management and ABC analysis where appropriate.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extLst>
                  <a:ext uri="{0D108BD9-81ED-4DB2-BD59-A6C34878D82A}">
                    <a16:rowId xmlns:a16="http://schemas.microsoft.com/office/drawing/2014/main" val="2738401974"/>
                  </a:ext>
                </a:extLst>
              </a:tr>
              <a:tr h="3136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n-GB" sz="1050" b="1" kern="10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 November 2026</a:t>
                      </a:r>
                      <a:endParaRPr lang="en-GB" sz="105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Direct</a:t>
                      </a:r>
                      <a:endParaRPr lang="en-GB" sz="105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Project Management II: Critical Path Analysis and Resource Planning.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tutorial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extLst>
                  <a:ext uri="{0D108BD9-81ED-4DB2-BD59-A6C34878D82A}">
                    <a16:rowId xmlns:a16="http://schemas.microsoft.com/office/drawing/2014/main" val="3497386447"/>
                  </a:ext>
                </a:extLst>
              </a:tr>
              <a:tr h="637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n-GB" sz="1050" b="1" kern="10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 December 2026</a:t>
                      </a:r>
                      <a:endParaRPr lang="en-GB" sz="105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Integration and Revision</a:t>
                      </a:r>
                      <a:endParaRPr lang="en-GB" sz="105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Mock Examination, Worked Solutions and Final Revision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Tutorial 5 – Applying Week 10: Precedence networks; forward and backward passes; float; critical path; project duration; Gantt charts; resource histograms; project risk and resource levelling.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extLst>
                  <a:ext uri="{0D108BD9-81ED-4DB2-BD59-A6C34878D82A}">
                    <a16:rowId xmlns:a16="http://schemas.microsoft.com/office/drawing/2014/main" val="626474808"/>
                  </a:ext>
                </a:extLst>
              </a:tr>
              <a:tr h="6764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12</a:t>
                      </a:r>
                      <a:endParaRPr lang="en-GB" sz="1050" b="1" kern="10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 December 2026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Online Support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Online Lecture and Revision Support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Clarification of lecture material, quantitative techniques and examination preparation. No new substantive teaching.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tutorial</a:t>
                      </a:r>
                      <a:endParaRPr lang="en-GB" sz="105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4268" marR="24268" marT="0" marB="0"/>
                </a:tc>
                <a:extLst>
                  <a:ext uri="{0D108BD9-81ED-4DB2-BD59-A6C34878D82A}">
                    <a16:rowId xmlns:a16="http://schemas.microsoft.com/office/drawing/2014/main" val="1333215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52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865C5345-09A1-7F8B-8DEC-B9494D1CC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98D92185-9B19-4EFC-A0C2-44072373E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-GB" b="1" dirty="0">
                <a:latin typeface="+mj-lt"/>
              </a:rPr>
              <a:t>How Lectures and Tutorials Work Together</a:t>
            </a:r>
            <a:br>
              <a:rPr lang="en-GB" dirty="0">
                <a:latin typeface="+mj-lt"/>
              </a:rPr>
            </a:br>
            <a:endParaRPr dirty="0">
              <a:latin typeface="+mj-lt"/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5655FD6A-9476-DF3A-3B2B-2F2481668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807" y="824593"/>
            <a:ext cx="8502193" cy="3786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en-GB" dirty="0">
                <a:solidFill>
                  <a:schemeClr val="tx1"/>
                </a:solidFill>
                <a:latin typeface="+mn-lt"/>
              </a:rPr>
              <a:t>Tutorials take place bi-weekly and are deliberately designed to follow the relevant lecture content. </a:t>
            </a:r>
          </a:p>
          <a:p>
            <a:pPr marL="114300" indent="0">
              <a:buNone/>
            </a:pPr>
            <a:endParaRPr lang="en-GB" dirty="0">
              <a:solidFill>
                <a:schemeClr val="tx1"/>
              </a:solidFill>
              <a:latin typeface="+mn-lt"/>
            </a:endParaRPr>
          </a:p>
          <a:p>
            <a:r>
              <a:rPr lang="en-GB" dirty="0">
                <a:solidFill>
                  <a:schemeClr val="tx1"/>
                </a:solidFill>
                <a:latin typeface="+mn-lt"/>
              </a:rPr>
              <a:t>This means that you will normally:</a:t>
            </a:r>
          </a:p>
          <a:p>
            <a:pPr marL="1771650" lvl="3" indent="-28575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+mn-lt"/>
              </a:rPr>
              <a:t>Attend the lecture </a:t>
            </a:r>
          </a:p>
          <a:p>
            <a:pPr marL="1771650" lvl="3" indent="-28575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+mn-lt"/>
              </a:rPr>
              <a:t>Attempt the exercises independently </a:t>
            </a:r>
          </a:p>
          <a:p>
            <a:pPr marL="1771650" lvl="3" indent="-28575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+mn-lt"/>
              </a:rPr>
              <a:t>Attend the following tutorial </a:t>
            </a:r>
          </a:p>
          <a:p>
            <a:pPr marL="1771650" lvl="3" indent="-28575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+mn-lt"/>
              </a:rPr>
              <a:t>Discuss your approach and resolve difficulties.</a:t>
            </a:r>
          </a:p>
          <a:p>
            <a:pPr marL="1485900" lvl="3" indent="0">
              <a:buNone/>
            </a:pPr>
            <a:endParaRPr lang="en-GB" dirty="0">
              <a:solidFill>
                <a:schemeClr val="tx1"/>
              </a:solidFill>
              <a:latin typeface="+mn-lt"/>
            </a:endParaRPr>
          </a:p>
          <a:p>
            <a:r>
              <a:rPr lang="en-GB" dirty="0">
                <a:solidFill>
                  <a:schemeClr val="tx1"/>
                </a:solidFill>
                <a:latin typeface="+mn-lt"/>
              </a:rPr>
              <a:t>Tutorials are therefore not intended to introduce the material for the first time.</a:t>
            </a:r>
          </a:p>
          <a:p>
            <a:r>
              <a:rPr lang="en-GB" dirty="0">
                <a:solidFill>
                  <a:schemeClr val="tx1"/>
                </a:solidFill>
                <a:latin typeface="+mn-lt"/>
              </a:rPr>
              <a:t>You should use lectures to understand the concepts and methods, complete the tutorial preparation independently, and then use the tutorial to strengthen your understanding.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85FC318-9D79-2ADA-2097-B772CCA7FF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62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6DFEB51A-EF37-E4D9-7888-58227C95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2992E791-B37F-DA52-01C4-5714D96AA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/>
            <a:r>
              <a:rPr lang="en-GB" dirty="0"/>
              <a:t>Reading List –Some Books</a:t>
            </a:r>
            <a:endParaRPr dirty="0"/>
          </a:p>
        </p:txBody>
      </p:sp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FECFA1C-3FF7-775E-D829-EC61F21A0F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FF1C404-A8EF-A028-9771-85EF92CE854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4605" y="269422"/>
            <a:ext cx="8379729" cy="4998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" algn="l"/>
                <a:tab pos="38100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indent="0" eaLnBrk="1" hangingPunct="1">
              <a:buNone/>
            </a:pPr>
            <a:endParaRPr lang="en-GB" altLang="en-US" sz="2000" dirty="0">
              <a:solidFill>
                <a:srgbClr val="003399"/>
              </a:solidFill>
            </a:endParaRPr>
          </a:p>
          <a:p>
            <a:r>
              <a:rPr lang="en-US" sz="1800" dirty="0">
                <a:latin typeface="Source Sans Pro SemiBold" panose="020B0603030403020204" pitchFamily="34" charset="0"/>
              </a:rPr>
              <a:t>Slack, N. and Brandon-Jones, A. (2024) </a:t>
            </a:r>
            <a:r>
              <a:rPr lang="en-US" sz="1800" i="1" dirty="0">
                <a:latin typeface="Source Sans Pro SemiBold" panose="020B0603030403020204" pitchFamily="34" charset="0"/>
              </a:rPr>
              <a:t>Operations Management</a:t>
            </a:r>
            <a:r>
              <a:rPr lang="en-US" sz="1800" dirty="0">
                <a:latin typeface="Source Sans Pro SemiBold" panose="020B0603030403020204" pitchFamily="34" charset="0"/>
              </a:rPr>
              <a:t> (11</a:t>
            </a:r>
            <a:r>
              <a:rPr lang="en-US" sz="1800" baseline="30000" dirty="0">
                <a:latin typeface="Source Sans Pro SemiBold" panose="020B0603030403020204" pitchFamily="34" charset="0"/>
              </a:rPr>
              <a:t>th</a:t>
            </a:r>
            <a:r>
              <a:rPr lang="en-US" sz="1800" dirty="0">
                <a:latin typeface="Source Sans Pro SemiBold" panose="020B0603030403020204" pitchFamily="34" charset="0"/>
              </a:rPr>
              <a:t> Ed.) Pearson</a:t>
            </a:r>
            <a:endParaRPr lang="en-GB" sz="1800" dirty="0">
              <a:latin typeface="Source Sans Pro SemiBold" panose="020B0603030403020204" pitchFamily="34" charset="0"/>
            </a:endParaRPr>
          </a:p>
          <a:p>
            <a:r>
              <a:rPr lang="en-US" sz="1800" dirty="0">
                <a:latin typeface="Source Sans Pro SemiBold" panose="020B0603030403020204" pitchFamily="34" charset="0"/>
              </a:rPr>
              <a:t>Harrison, A., Van Hoek, R. and </a:t>
            </a:r>
            <a:r>
              <a:rPr lang="en-US" sz="1800" dirty="0" err="1">
                <a:latin typeface="Source Sans Pro SemiBold" panose="020B0603030403020204" pitchFamily="34" charset="0"/>
              </a:rPr>
              <a:t>Skipworth</a:t>
            </a:r>
            <a:r>
              <a:rPr lang="en-US" sz="1800" dirty="0">
                <a:latin typeface="Source Sans Pro SemiBold" panose="020B0603030403020204" pitchFamily="34" charset="0"/>
              </a:rPr>
              <a:t>, H. (2017) </a:t>
            </a:r>
            <a:r>
              <a:rPr lang="en-US" sz="1800" i="1" dirty="0">
                <a:latin typeface="Source Sans Pro SemiBold" panose="020B0603030403020204" pitchFamily="34" charset="0"/>
              </a:rPr>
              <a:t>Logistics Management and Strategy: competing through the supply Chain</a:t>
            </a:r>
            <a:r>
              <a:rPr lang="en-US" sz="1800" dirty="0">
                <a:latin typeface="Source Sans Pro SemiBold" panose="020B0603030403020204" pitchFamily="34" charset="0"/>
              </a:rPr>
              <a:t> (6th ed.) Harlow: Financial Times Prentice Hall.</a:t>
            </a:r>
            <a:endParaRPr lang="en-GB" sz="1800" dirty="0">
              <a:latin typeface="Source Sans Pro SemiBold" panose="020B0603030403020204" pitchFamily="34" charset="0"/>
            </a:endParaRPr>
          </a:p>
          <a:p>
            <a:r>
              <a:rPr lang="en-GB" sz="1800" dirty="0">
                <a:latin typeface="Source Sans Pro SemiBold" panose="020B0603030403020204" pitchFamily="34" charset="0"/>
              </a:rPr>
              <a:t>Russell, S. and Taylor, B. (2016) Operations and Supply Chain Management (9th ed.). John Wiley </a:t>
            </a:r>
          </a:p>
          <a:p>
            <a:r>
              <a:rPr lang="en-GB" sz="1800" dirty="0" err="1">
                <a:latin typeface="Source Sans Pro SemiBold" panose="020B0603030403020204" pitchFamily="34" charset="0"/>
              </a:rPr>
              <a:t>Heizer</a:t>
            </a:r>
            <a:r>
              <a:rPr lang="en-GB" sz="1800" dirty="0">
                <a:latin typeface="Source Sans Pro SemiBold" panose="020B0603030403020204" pitchFamily="34" charset="0"/>
              </a:rPr>
              <a:t>, J., Render, B. and Munson, C. (2020) </a:t>
            </a:r>
            <a:r>
              <a:rPr lang="en-GB" sz="1800" i="1" dirty="0">
                <a:latin typeface="Source Sans Pro SemiBold" panose="020B0603030403020204" pitchFamily="34" charset="0"/>
              </a:rPr>
              <a:t>Principles of Operations Management: Sustainability and Supply Chain Management</a:t>
            </a:r>
            <a:r>
              <a:rPr lang="en-GB" sz="1800" dirty="0">
                <a:latin typeface="Source Sans Pro SemiBold" panose="020B0603030403020204" pitchFamily="34" charset="0"/>
              </a:rPr>
              <a:t> (13</a:t>
            </a:r>
            <a:r>
              <a:rPr lang="en-GB" sz="1800" baseline="30000" dirty="0">
                <a:latin typeface="Source Sans Pro SemiBold" panose="020B0603030403020204" pitchFamily="34" charset="0"/>
              </a:rPr>
              <a:t>th</a:t>
            </a:r>
            <a:r>
              <a:rPr lang="en-GB" sz="1800" dirty="0">
                <a:latin typeface="Source Sans Pro SemiBold" panose="020B0603030403020204" pitchFamily="34" charset="0"/>
              </a:rPr>
              <a:t> Edition) Pearson</a:t>
            </a:r>
          </a:p>
          <a:p>
            <a:r>
              <a:rPr lang="en-GB" sz="1800" dirty="0">
                <a:latin typeface="Source Sans Pro SemiBold" panose="020B0603030403020204" pitchFamily="34" charset="0"/>
              </a:rPr>
              <a:t>Dennis, L. (2017) </a:t>
            </a:r>
            <a:r>
              <a:rPr lang="en-GB" sz="1800" i="1" dirty="0">
                <a:latin typeface="Source Sans Pro SemiBold" panose="020B0603030403020204" pitchFamily="34" charset="0"/>
              </a:rPr>
              <a:t>The Essentials of Project Management</a:t>
            </a:r>
            <a:r>
              <a:rPr lang="en-GB" sz="1800" dirty="0">
                <a:latin typeface="Source Sans Pro SemiBold" panose="020B0603030403020204" pitchFamily="34" charset="0"/>
              </a:rPr>
              <a:t> (4</a:t>
            </a:r>
            <a:r>
              <a:rPr lang="en-GB" sz="1800" baseline="30000" dirty="0">
                <a:latin typeface="Source Sans Pro SemiBold" panose="020B0603030403020204" pitchFamily="34" charset="0"/>
              </a:rPr>
              <a:t>th</a:t>
            </a:r>
            <a:r>
              <a:rPr lang="en-GB" sz="1800" dirty="0">
                <a:latin typeface="Source Sans Pro SemiBold" panose="020B0603030403020204" pitchFamily="34" charset="0"/>
              </a:rPr>
              <a:t> Ed.). Farnham: Routledge</a:t>
            </a:r>
          </a:p>
          <a:p>
            <a:r>
              <a:rPr lang="en-GB" sz="1800" dirty="0">
                <a:latin typeface="Source Sans Pro SemiBold" panose="020B0603030403020204" pitchFamily="34" charset="0"/>
              </a:rPr>
              <a:t>Dennis, L. (2013) Project management (10</a:t>
            </a:r>
            <a:r>
              <a:rPr lang="en-GB" sz="1800" baseline="30000" dirty="0">
                <a:latin typeface="Source Sans Pro SemiBold" panose="020B0603030403020204" pitchFamily="34" charset="0"/>
              </a:rPr>
              <a:t>th</a:t>
            </a:r>
            <a:r>
              <a:rPr lang="en-GB" sz="1800" dirty="0">
                <a:latin typeface="Source Sans Pro SemiBold" panose="020B0603030403020204" pitchFamily="34" charset="0"/>
              </a:rPr>
              <a:t> ed.). Farnham: </a:t>
            </a:r>
            <a:r>
              <a:rPr lang="en-GB" sz="1800" dirty="0" err="1">
                <a:latin typeface="Source Sans Pro SemiBold" panose="020B0603030403020204" pitchFamily="34" charset="0"/>
              </a:rPr>
              <a:t>Ashgate</a:t>
            </a:r>
            <a:r>
              <a:rPr lang="en-GB" sz="1800" dirty="0">
                <a:latin typeface="Source Sans Pro SemiBold" panose="020B0603030403020204" pitchFamily="34" charset="0"/>
              </a:rPr>
              <a:t> Publishing, Limited </a:t>
            </a:r>
            <a:endParaRPr lang="en-GB" dirty="0">
              <a:latin typeface="Source Sans Pro SemiBold" panose="020B06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9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+mj-lt"/>
              </a:rPr>
              <a:t>Session Learning Objectives</a:t>
            </a:r>
            <a:endParaRPr b="1" dirty="0">
              <a:latin typeface="+mj-lt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82743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GB" dirty="0"/>
              <a:t>By the end of the session, students should be able to:</a:t>
            </a:r>
          </a:p>
          <a:p>
            <a:pPr lvl="1"/>
            <a:r>
              <a:rPr lang="en-GB" sz="1800" dirty="0"/>
              <a:t>Define operations management and supply chain management and explain their relationship. </a:t>
            </a:r>
          </a:p>
          <a:p>
            <a:pPr lvl="1"/>
            <a:r>
              <a:rPr lang="en-GB" sz="1800" dirty="0"/>
              <a:t>Explain how operations strategy supports organisational objectives and customer value. </a:t>
            </a:r>
          </a:p>
          <a:p>
            <a:pPr lvl="1"/>
            <a:r>
              <a:rPr lang="en-GB" sz="1800" dirty="0"/>
              <a:t>Identify the key performance objectives of cost, quality, speed, dependability and flexibility.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1095471" y="362432"/>
            <a:ext cx="85206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/>
              <a:t>                     </a:t>
            </a:r>
            <a:r>
              <a:rPr lang="en-GB" sz="3200" dirty="0">
                <a:latin typeface="+mj-lt"/>
              </a:rPr>
              <a:t>Ice Breaker Activity</a:t>
            </a: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" sz="9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C9E7D5-B467-BCE1-8F1B-58C25B90F3E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699" y="1208224"/>
            <a:ext cx="4257837" cy="3537501"/>
          </a:xfrm>
        </p:spPr>
        <p:txBody>
          <a:bodyPr anchor="t">
            <a:normAutofit fontScale="92500"/>
          </a:bodyPr>
          <a:lstStyle/>
          <a:p>
            <a:pPr marL="11430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700" b="0" i="0" u="none" strike="noStrike" cap="none" spc="0" dirty="0">
                <a:solidFill>
                  <a:schemeClr val="dk2"/>
                </a:solidFill>
              </a:rPr>
              <a:t>1</a:t>
            </a:r>
            <a:r>
              <a:rPr lang="en-US" sz="1700" b="0" i="0" u="none" strike="noStrike" cap="none" spc="0" dirty="0">
                <a:solidFill>
                  <a:schemeClr val="tx1"/>
                </a:solidFill>
                <a:latin typeface="+mn-lt"/>
              </a:rPr>
              <a:t>. Think of a product you used today. </a:t>
            </a:r>
          </a:p>
          <a:p>
            <a:pPr marL="1771650" lvl="3" indent="-285750"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tx1"/>
                </a:solidFill>
                <a:latin typeface="+mn-lt"/>
              </a:rPr>
              <a:t>How did this product get to you?</a:t>
            </a:r>
          </a:p>
          <a:p>
            <a:pPr marL="1771650" lvl="3" indent="-285750"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sz="1700" b="0" i="0" u="none" strike="noStrike" cap="none" spc="0" dirty="0">
                <a:solidFill>
                  <a:schemeClr val="tx1"/>
                </a:solidFill>
                <a:latin typeface="+mn-lt"/>
              </a:rPr>
              <a:t>Discuss with the person next to you for 2 minutes.</a:t>
            </a:r>
          </a:p>
          <a:p>
            <a:pPr marL="1485900" lvl="3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700" b="0" i="0" u="none" strike="noStrike" cap="none" spc="0" dirty="0"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AutoNum type="arabicPeriod" startAt="2"/>
            </a:pPr>
            <a:r>
              <a:rPr lang="en-US" sz="1700" b="0" i="0" u="none" strike="noStrike" cap="none" spc="0" dirty="0">
                <a:solidFill>
                  <a:schemeClr val="tx1"/>
                </a:solidFill>
                <a:latin typeface="+mn-lt"/>
              </a:rPr>
              <a:t>What is one word that describes what was needed to get that product to you? 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AutoNum type="arabicPeriod" startAt="2"/>
            </a:pPr>
            <a:r>
              <a:rPr lang="en-GB" sz="1600" dirty="0">
                <a:hlinkClick r:id="rId3"/>
              </a:rPr>
              <a:t>Edit Groups icebreakers - </a:t>
            </a:r>
            <a:r>
              <a:rPr lang="en-GB" sz="1600" dirty="0" err="1">
                <a:hlinkClick r:id="rId3"/>
              </a:rPr>
              <a:t>Wooclap</a:t>
            </a:r>
            <a:endParaRPr lang="en-US" sz="1700" b="1" i="0" u="none" strike="noStrike" cap="none" spc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Picture 8" descr="QR code for the Wooclap Icebreaker activity">
            <a:extLst>
              <a:ext uri="{FF2B5EF4-FFF2-40B4-BE49-F238E27FC236}">
                <a16:creationId xmlns:a16="http://schemas.microsoft.com/office/drawing/2014/main" id="{FC556E7D-95CF-656D-64CD-F0327C252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22" r="5" b="9372"/>
          <a:stretch>
            <a:fillRect/>
          </a:stretch>
        </p:blipFill>
        <p:spPr>
          <a:xfrm>
            <a:off x="4762500" y="1208225"/>
            <a:ext cx="406980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B9C34F-14FA-9BF4-0406-78163A85AAFD}"/>
              </a:ext>
            </a:extLst>
          </p:cNvPr>
          <p:cNvSpPr txBox="1"/>
          <p:nvPr/>
        </p:nvSpPr>
        <p:spPr>
          <a:xfrm>
            <a:off x="5037364" y="4745727"/>
            <a:ext cx="2939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2"/>
                </a:solidFill>
              </a:rPr>
              <a:t> Event Code  PJDHAEA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286ABE84-B290-4523-F47A-AEBC5943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2D0AF674-E34E-B78F-6179-FE8ABCC4CA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+mj-lt"/>
              </a:rPr>
              <a:t>Let’s make a cup of tea or coffee!</a:t>
            </a:r>
            <a:endParaRPr b="1" dirty="0">
              <a:latin typeface="+mj-lt"/>
            </a:endParaRPr>
          </a:p>
        </p:txBody>
      </p:sp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23CBB7B1-2D19-AF6D-6F67-1525AED2BF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462877-B33A-E315-05C3-92F380082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4150" y="836436"/>
            <a:ext cx="8274300" cy="103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 algn="ctr">
              <a:buNone/>
            </a:pPr>
            <a:r>
              <a:rPr lang="en-GB" sz="2400" dirty="0">
                <a:latin typeface="+mn-lt"/>
              </a:rPr>
              <a:t>Operations Management is a core organisational activity concerned with processes</a:t>
            </a:r>
          </a:p>
        </p:txBody>
      </p:sp>
      <p:pic>
        <p:nvPicPr>
          <p:cNvPr id="7" name="Picture 2" descr="cup of tea isolated">
            <a:extLst>
              <a:ext uri="{FF2B5EF4-FFF2-40B4-BE49-F238E27FC236}">
                <a16:creationId xmlns:a16="http://schemas.microsoft.com/office/drawing/2014/main" id="{99BE3ACF-E0DF-C6DA-9FAA-F23FD48B0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2" y="2245634"/>
            <a:ext cx="3898355" cy="239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hotograph showcasing a cup of freshly brewed coffee on a white saucer, surrounded by roasted coffee beans and cinnamon sticks. Warm lighting highlights crema, ceramic cup, burlap fabric, and rich brown tones, evoking coffee culture and morning preparation.">
            <a:extLst>
              <a:ext uri="{FF2B5EF4-FFF2-40B4-BE49-F238E27FC236}">
                <a16:creationId xmlns:a16="http://schemas.microsoft.com/office/drawing/2014/main" id="{A33473A7-DA9F-9DC9-5611-73286781D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157" y="2278893"/>
            <a:ext cx="4580877" cy="238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95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CD7B15C1-FC7A-405E-2B1D-55DE2853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789680AF-2537-7BB5-055E-260DC5EA91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Let’s make a cup of tea or coffee!</a:t>
            </a:r>
            <a:endParaRPr b="1" dirty="0"/>
          </a:p>
        </p:txBody>
      </p:sp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77FCFC53-9CD3-FE4A-6FE8-3F42A3BC8E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1708CD-76A5-1FEF-9C20-8D89C6B62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73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F82C2FA8-8E7C-F22B-49B5-62FAD42F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025EB4C8-77A7-B675-F064-212AB423F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7700" y="212629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2800" b="1" dirty="0"/>
              <a:t>How to Play</a:t>
            </a:r>
            <a:br>
              <a:rPr lang="en-GB" sz="2400" dirty="0"/>
            </a:br>
            <a:endParaRPr lang="en-GB" sz="2400" b="1" dirty="0"/>
          </a:p>
        </p:txBody>
      </p:sp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02821ABB-194C-FE34-E14A-FB867572B7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90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" sz="900"/>
          </a:p>
        </p:txBody>
      </p:sp>
      <p:pic>
        <p:nvPicPr>
          <p:cNvPr id="11" name="Picture 10" descr="QR Code to game">
            <a:extLst>
              <a:ext uri="{FF2B5EF4-FFF2-40B4-BE49-F238E27FC236}">
                <a16:creationId xmlns:a16="http://schemas.microsoft.com/office/drawing/2014/main" id="{6E7B4E45-E328-203B-0565-4DADD9FC09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71" r="5" b="11822"/>
          <a:stretch>
            <a:fillRect/>
          </a:stretch>
        </p:blipFill>
        <p:spPr>
          <a:xfrm>
            <a:off x="311700" y="1208225"/>
            <a:ext cx="406980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CD58DC-AEFE-BE1F-120D-5F3BE81845A5}"/>
              </a:ext>
            </a:extLst>
          </p:cNvPr>
          <p:cNvSpPr txBox="1"/>
          <p:nvPr/>
        </p:nvSpPr>
        <p:spPr>
          <a:xfrm>
            <a:off x="4762500" y="1208225"/>
            <a:ext cx="4069800" cy="326440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marL="342900" lvl="0" indent="-342900">
              <a:spcAft>
                <a:spcPts val="600"/>
              </a:spcAft>
              <a:buFont typeface="Arial"/>
              <a:buChar char="•"/>
            </a:pPr>
            <a:r>
              <a:rPr lang="en-US" sz="1800" b="0" i="0" u="none" strike="noStrike" cap="none" spc="0">
                <a:solidFill>
                  <a:schemeClr val="dk2"/>
                </a:solidFill>
              </a:rPr>
              <a:t>Work in groups of 5, using one device.</a:t>
            </a:r>
          </a:p>
          <a:p>
            <a:pPr marL="342900" lvl="0" indent="-342900">
              <a:spcAft>
                <a:spcPts val="600"/>
              </a:spcAft>
              <a:buFont typeface="Arial"/>
              <a:buChar char="•"/>
            </a:pPr>
            <a:r>
              <a:rPr lang="en-US" sz="1800" b="0" i="0" u="none" strike="noStrike" cap="none" spc="0">
                <a:solidFill>
                  <a:schemeClr val="dk2"/>
                </a:solidFill>
              </a:rPr>
              <a:t>Scan the QR code to open the game.</a:t>
            </a:r>
          </a:p>
          <a:p>
            <a:pPr marL="342900" lvl="0" indent="-342900">
              <a:spcAft>
                <a:spcPts val="600"/>
              </a:spcAft>
              <a:buFont typeface="Arial"/>
              <a:buChar char="•"/>
            </a:pPr>
            <a:r>
              <a:rPr lang="en-US" sz="1800" b="0" i="0" u="none" strike="noStrike" cap="none" spc="0">
                <a:solidFill>
                  <a:schemeClr val="dk2"/>
                </a:solidFill>
              </a:rPr>
              <a:t>Select the resources needed and arrange the coffee-making steps.</a:t>
            </a:r>
          </a:p>
          <a:p>
            <a:pPr marL="342900" lvl="0" indent="-342900">
              <a:spcAft>
                <a:spcPts val="600"/>
              </a:spcAft>
              <a:buFont typeface="Arial"/>
              <a:buChar char="•"/>
            </a:pPr>
            <a:r>
              <a:rPr lang="en-US" sz="1800" b="0" i="0" u="none" strike="noStrike" cap="none" spc="0">
                <a:solidFill>
                  <a:schemeClr val="dk2"/>
                </a:solidFill>
              </a:rPr>
              <a:t>Predict and compare the time to make one cup versus ten cups. Try different coffees and preparation methods.</a:t>
            </a:r>
          </a:p>
        </p:txBody>
      </p:sp>
    </p:spTree>
    <p:extLst>
      <p:ext uri="{BB962C8B-B14F-4D97-AF65-F5344CB8AC3E}">
        <p14:creationId xmlns:p14="http://schemas.microsoft.com/office/powerpoint/2010/main" val="643578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578F541E-A2E4-3B13-3096-8BF3AD87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F3C172CA-8299-4020-2B93-95243997CA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Let’s make a cup of tea/coffee!</a:t>
            </a:r>
            <a:endParaRPr b="1" dirty="0"/>
          </a:p>
        </p:txBody>
      </p:sp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31AFD718-24D8-C960-3302-979C6485D3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7" name="Picture 1" descr="Process diagram illustrates how transformed resources become customer value through a transformation process. Blue boxes list materials, information, customers, facilities, and staff; green arrows show inputs and outputs, while a central yellow box leads to products and services and purple value-added results.">
            <a:extLst>
              <a:ext uri="{FF2B5EF4-FFF2-40B4-BE49-F238E27FC236}">
                <a16:creationId xmlns:a16="http://schemas.microsoft.com/office/drawing/2014/main" id="{ADEB6C97-F70D-BC00-7273-B3D984FFA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79" y="768517"/>
            <a:ext cx="8801555" cy="4412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4336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7748CFBF-8C7E-1310-35F6-9A5EBBFD1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>
            <a:extLst>
              <a:ext uri="{FF2B5EF4-FFF2-40B4-BE49-F238E27FC236}">
                <a16:creationId xmlns:a16="http://schemas.microsoft.com/office/drawing/2014/main" id="{71852471-A01C-E0ED-0E1F-52FDFF1C14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is Operations Management?</a:t>
            </a:r>
            <a:endParaRPr dirty="0"/>
          </a:p>
        </p:txBody>
      </p:sp>
      <p:sp>
        <p:nvSpPr>
          <p:cNvPr id="94" name="Google Shape;94;p18">
            <a:extLst>
              <a:ext uri="{FF2B5EF4-FFF2-40B4-BE49-F238E27FC236}">
                <a16:creationId xmlns:a16="http://schemas.microsoft.com/office/drawing/2014/main" id="{DC975AA1-1C07-A065-0885-29666107A7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C3D040-2DFE-ACC4-1535-C085993A4B5D}"/>
              </a:ext>
            </a:extLst>
          </p:cNvPr>
          <p:cNvSpPr txBox="1">
            <a:spLocks/>
          </p:cNvSpPr>
          <p:nvPr/>
        </p:nvSpPr>
        <p:spPr>
          <a:xfrm>
            <a:off x="93623" y="783772"/>
            <a:ext cx="8817768" cy="4288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E29"/>
              </a:buClr>
              <a:buSzPts val="1800"/>
              <a:buFont typeface="Source Sans Pro"/>
              <a:buChar char="●"/>
              <a:defRPr sz="1800" b="0" i="0" u="none" strike="noStrike" cap="none" spc="0">
                <a:solidFill>
                  <a:srgbClr val="131E2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 spc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 spc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endParaRPr lang="en-GB" dirty="0"/>
          </a:p>
          <a:p>
            <a:pPr marL="0" indent="0">
              <a:buFont typeface="Source Sans Pro"/>
              <a:buNone/>
            </a:pPr>
            <a:endParaRPr lang="en-GB" dirty="0"/>
          </a:p>
          <a:p>
            <a:pPr marL="685800" indent="-685800">
              <a:lnSpc>
                <a:spcPct val="120000"/>
              </a:lnSpc>
            </a:pPr>
            <a:r>
              <a:rPr lang="en-GB" altLang="en-US" sz="6400" dirty="0">
                <a:latin typeface="+mn-lt"/>
              </a:rPr>
              <a:t>Operations are the processes by which </a:t>
            </a:r>
          </a:p>
          <a:p>
            <a:pPr lvl="3" indent="-4572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GB" altLang="en-US" sz="6400" dirty="0">
                <a:latin typeface="+mn-lt"/>
              </a:rPr>
              <a:t>people, capital and materials (inputs) are combined </a:t>
            </a:r>
          </a:p>
          <a:p>
            <a:pPr lvl="3" indent="-4572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GB" altLang="en-US" sz="6400" dirty="0">
                <a:latin typeface="+mn-lt"/>
              </a:rPr>
              <a:t>to produce the services and goods we consume (outputs). </a:t>
            </a:r>
          </a:p>
          <a:p>
            <a:pPr marL="914400" lvl="2" indent="0">
              <a:lnSpc>
                <a:spcPct val="120000"/>
              </a:lnSpc>
              <a:buNone/>
            </a:pPr>
            <a:endParaRPr lang="en-GB" altLang="en-US" sz="6000" dirty="0"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altLang="en-US" sz="6400" dirty="0"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altLang="en-US" sz="6400" dirty="0">
              <a:latin typeface="+mn-lt"/>
            </a:endParaRPr>
          </a:p>
          <a:p>
            <a:pPr marL="685800" indent="-685800">
              <a:lnSpc>
                <a:spcPct val="120000"/>
              </a:lnSpc>
            </a:pPr>
            <a:r>
              <a:rPr lang="en-GB" altLang="en-US" sz="6400" dirty="0">
                <a:latin typeface="+mn-lt"/>
              </a:rPr>
              <a:t>Operations employ labour and management (people) and use facilities and equipment (capital) to change materials into finished goods (e.g. Farm tractors) or to provide services (e.g. Computer software development).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6400" dirty="0"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45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>
              <a:latin typeface="+mn-lt"/>
            </a:endParaRPr>
          </a:p>
          <a:p>
            <a:pPr marL="0" indent="0" algn="ctr">
              <a:buNone/>
            </a:pPr>
            <a:r>
              <a:rPr lang="en-GB" sz="9600" i="1" dirty="0">
                <a:latin typeface="+mn-lt"/>
              </a:rPr>
              <a:t>“</a:t>
            </a:r>
            <a:r>
              <a:rPr lang="en-GB" sz="7200" i="1" dirty="0">
                <a:latin typeface="+mn-lt"/>
              </a:rPr>
              <a:t>Operations Management is the activity of managing the resources that create and deliver services and products to consumers ”.</a:t>
            </a:r>
          </a:p>
          <a:p>
            <a:pPr marL="0" indent="0" algn="ctr">
              <a:buNone/>
            </a:pPr>
            <a:endParaRPr lang="en-GB" sz="9600" i="1" dirty="0">
              <a:latin typeface="+mn-lt"/>
            </a:endParaRPr>
          </a:p>
          <a:p>
            <a:pPr marL="0" indent="0" algn="ctr">
              <a:buNone/>
            </a:pPr>
            <a:r>
              <a:rPr lang="en-GB" sz="3200" dirty="0"/>
              <a:t>Slack, N., Brandon-Jones, L., and Johnson, R. (2019). Operations Management, 9e, Pearson, p5</a:t>
            </a:r>
            <a:endParaRPr lang="en-US" sz="3200" i="1" dirty="0"/>
          </a:p>
          <a:p>
            <a:pPr marL="0" indent="0" algn="ctr">
              <a:buNone/>
            </a:pPr>
            <a:endParaRPr lang="en-GB" sz="3200" dirty="0">
              <a:latin typeface="+mn-lt"/>
            </a:endParaRPr>
          </a:p>
          <a:p>
            <a:pPr marL="0" indent="0">
              <a:buNone/>
            </a:pPr>
            <a:endParaRPr lang="en-GB" sz="9600" dirty="0">
              <a:latin typeface="+mn-lt"/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sz="3600" dirty="0"/>
          </a:p>
          <a:p>
            <a:pPr marL="0" indent="0">
              <a:buFont typeface="Source Sans Pro"/>
              <a:buNone/>
            </a:pP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599519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8B652-1173-2841-6198-08A4EC0EE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BE14-C016-B871-0D1B-CA1063B0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+mj-lt"/>
              </a:rPr>
              <a:t>           Three 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92A4-C576-D709-BD13-5317D22613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29E1C9-76B1-B8E7-FC5D-AA6054E5A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073150"/>
            <a:ext cx="8274050" cy="3538538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b="1" dirty="0">
                <a:latin typeface="+mn-lt"/>
              </a:rPr>
              <a:t>Efficiency</a:t>
            </a:r>
            <a:r>
              <a:rPr lang="en-GB" altLang="en-US" dirty="0">
                <a:latin typeface="+mn-lt"/>
              </a:rPr>
              <a:t>: Doing things right, producing the least waste, a ratio of useful work done by a machine, system or organisation.</a:t>
            </a:r>
            <a:endParaRPr lang="en-GB" altLang="en-US" b="1" dirty="0">
              <a:latin typeface="+mn-lt"/>
            </a:endParaRPr>
          </a:p>
          <a:p>
            <a:pPr eaLnBrk="1" hangingPunct="1">
              <a:lnSpc>
                <a:spcPct val="90000"/>
              </a:lnSpc>
              <a:spcBef>
                <a:spcPct val="100000"/>
              </a:spcBef>
            </a:pPr>
            <a:r>
              <a:rPr lang="en-GB" altLang="en-US" b="1" dirty="0">
                <a:latin typeface="+mn-lt"/>
              </a:rPr>
              <a:t>Effectiveness</a:t>
            </a:r>
            <a:r>
              <a:rPr lang="en-GB" altLang="en-US" dirty="0">
                <a:latin typeface="+mn-lt"/>
              </a:rPr>
              <a:t>: Doing the right things, making the right things for customers.</a:t>
            </a:r>
            <a:endParaRPr lang="en-GB" altLang="en-US" b="1" dirty="0">
              <a:latin typeface="+mn-lt"/>
            </a:endParaRPr>
          </a:p>
          <a:p>
            <a:pPr eaLnBrk="1" hangingPunct="1">
              <a:lnSpc>
                <a:spcPct val="90000"/>
              </a:lnSpc>
              <a:spcBef>
                <a:spcPct val="100000"/>
              </a:spcBef>
            </a:pPr>
            <a:r>
              <a:rPr lang="en-GB" altLang="en-US" b="1" dirty="0">
                <a:latin typeface="+mn-lt"/>
              </a:rPr>
              <a:t>Economy</a:t>
            </a:r>
            <a:r>
              <a:rPr lang="en-GB" altLang="en-US" dirty="0">
                <a:latin typeface="+mn-lt"/>
              </a:rPr>
              <a:t>: Careful use of money and resources to avoid unnecessary expenditure or waste.  Thrift.  Watching costs and reducing costs.</a:t>
            </a:r>
          </a:p>
        </p:txBody>
      </p:sp>
    </p:spTree>
    <p:extLst>
      <p:ext uri="{BB962C8B-B14F-4D97-AF65-F5344CB8AC3E}">
        <p14:creationId xmlns:p14="http://schemas.microsoft.com/office/powerpoint/2010/main" val="2700789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2C53-4D50-5F92-B447-ADA95390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A4A9-0845-95F6-D0C2-52573FCE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What do operations managers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21DE4-CC53-11EA-6863-843692D04C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F9AF154B-9617-2336-5141-01D92B8F7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50" y="807130"/>
            <a:ext cx="8312150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8286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4" name="Picture 5" descr="Photograph of a smiling healthcare professional wearing yellow scrubs and a stethoscope around the neck, holding a clipboard and pen. The setting suggests a clinical or medical environment, highlighting a moment of patient care or medical documentation.">
            <a:extLst>
              <a:ext uri="{FF2B5EF4-FFF2-40B4-BE49-F238E27FC236}">
                <a16:creationId xmlns:a16="http://schemas.microsoft.com/office/drawing/2014/main" id="{8895FE03-6994-1548-CF59-FD058F131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42790" y="883331"/>
            <a:ext cx="2603651" cy="3605055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" name="Picture 6" descr="Car manufacturer">
            <a:extLst>
              <a:ext uri="{FF2B5EF4-FFF2-40B4-BE49-F238E27FC236}">
                <a16:creationId xmlns:a16="http://schemas.microsoft.com/office/drawing/2014/main" id="{548331F7-8A21-245A-E1F4-2935CF8B6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22" y="929709"/>
            <a:ext cx="2426503" cy="22158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Photograph of a casual dining area with wooden tables and chairs arranged in front of a counter displaying menu boards featuring food and drink options. The space has a high, vaulted ceiling with exposed beams, a large potted plant, and small flower arrangements on each table, creating a welcoming atmosphere.">
            <a:extLst>
              <a:ext uri="{FF2B5EF4-FFF2-40B4-BE49-F238E27FC236}">
                <a16:creationId xmlns:a16="http://schemas.microsoft.com/office/drawing/2014/main" id="{B5980390-B87D-A0AF-B88B-3833C624E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50" y="883331"/>
            <a:ext cx="2446626" cy="22584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Photograph of a vintage clothing store display featuring mannequins dressed in colorful dresses and headscarves arranged along a tiled floor corridor. The scene highlights a variety of fashion styles with mannequins positioned near glass display cases and shelves filled with accessories.">
            <a:extLst>
              <a:ext uri="{FF2B5EF4-FFF2-40B4-BE49-F238E27FC236}">
                <a16:creationId xmlns:a16="http://schemas.microsoft.com/office/drawing/2014/main" id="{67A39D28-8E1C-4EF3-55C1-0BEA69480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07" y="3240865"/>
            <a:ext cx="2806700" cy="1866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3" descr="Photograph of two professionally dressed individuals walking on a subway platform next to a moving train. The scene captures a modern underground transit environment with a directional sign and a blurred train indicating motion and daily commute activity.">
            <a:extLst>
              <a:ext uri="{FF2B5EF4-FFF2-40B4-BE49-F238E27FC236}">
                <a16:creationId xmlns:a16="http://schemas.microsoft.com/office/drawing/2014/main" id="{67363FE1-BE62-8C53-FAD7-E58F49F64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651" y="3240865"/>
            <a:ext cx="2885810" cy="1866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>
            <a:extLst>
              <a:ext uri="{FF2B5EF4-FFF2-40B4-BE49-F238E27FC236}">
                <a16:creationId xmlns:a16="http://schemas.microsoft.com/office/drawing/2014/main" id="{AA64924C-6713-E4F2-90C1-E8BC70BBB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20" y="137889"/>
            <a:ext cx="81742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1800" b="1" dirty="0">
                <a:solidFill>
                  <a:schemeClr val="bg2">
                    <a:lumMod val="75000"/>
                  </a:schemeClr>
                </a:solidFill>
                <a:latin typeface="Source Sans Pro SemiBold" panose="020B0603030403020204" pitchFamily="34" charset="0"/>
              </a:rPr>
              <a:t>All organisations have ‘operations’ that produce mix of services and goods</a:t>
            </a:r>
            <a:endParaRPr lang="en-US" altLang="en-US" sz="1800" b="1" dirty="0">
              <a:solidFill>
                <a:schemeClr val="bg2">
                  <a:lumMod val="75000"/>
                </a:schemeClr>
              </a:solidFill>
              <a:latin typeface="Source Sans Pro SemiBold" panose="020B0603030403020204" pitchFamily="34" charset="0"/>
            </a:endParaRPr>
          </a:p>
        </p:txBody>
      </p:sp>
      <p:sp>
        <p:nvSpPr>
          <p:cNvPr id="11" name="Text Box 25">
            <a:extLst>
              <a:ext uri="{FF2B5EF4-FFF2-40B4-BE49-F238E27FC236}">
                <a16:creationId xmlns:a16="http://schemas.microsoft.com/office/drawing/2014/main" id="{E50FE35C-7D0D-FBE7-53C6-4FE2361B6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298" y="5852228"/>
            <a:ext cx="55531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/>
              <a:t>Competitive position is a management outcome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FF42482E-E2EA-F9FB-E7CC-ADC5C159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>
            <a:extLst>
              <a:ext uri="{FF2B5EF4-FFF2-40B4-BE49-F238E27FC236}">
                <a16:creationId xmlns:a16="http://schemas.microsoft.com/office/drawing/2014/main" id="{AD943BE3-9A1F-F40F-C9F6-1B595F6EFE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B57C969-24C2-4D37-B2EC-F3F9DF091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365187"/>
              </p:ext>
            </p:extLst>
          </p:nvPr>
        </p:nvGraphicFramePr>
        <p:xfrm>
          <a:off x="24494" y="1020285"/>
          <a:ext cx="9119506" cy="379664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476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1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8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 b="1" dirty="0"/>
                        <a:t>Operation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 b="1" dirty="0"/>
                        <a:t>Inputs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 b="1" dirty="0"/>
                        <a:t>Processes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 b="1" dirty="0"/>
                        <a:t>Outputs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6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Supermarkets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Goods for sale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Staff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Customers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Shelf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Fridge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Check out systems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Display goods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Provide sales advice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Sell goods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565"/>
                        </a:spcAft>
                        <a:tabLst>
                          <a:tab pos="143510" algn="l"/>
                        </a:tabLst>
                      </a:pPr>
                      <a:r>
                        <a:rPr lang="en-GB" sz="1600" dirty="0"/>
                        <a:t>Customers and goods ‘assembled’ together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extLst>
                  <a:ext uri="{0D108BD9-81ED-4DB2-BD59-A6C34878D82A}">
                    <a16:rowId xmlns:a16="http://schemas.microsoft.com/office/drawing/2014/main" val="2916285931"/>
                  </a:ext>
                </a:extLst>
              </a:tr>
              <a:tr h="1329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 dirty="0"/>
                        <a:t>Frozen food manufacturer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/>
                        <a:t>Fresh food</a:t>
                      </a:r>
                      <a:endParaRPr lang="en-GB" sz="160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/>
                        <a:t>Operators</a:t>
                      </a:r>
                      <a:endParaRPr lang="en-GB" sz="160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/>
                        <a:t>Processing technology</a:t>
                      </a:r>
                      <a:endParaRPr lang="en-GB" sz="160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/>
                        <a:t>Cold storage facilities</a:t>
                      </a:r>
                      <a:endParaRPr lang="en-GB" sz="16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/>
                        <a:t>Source raw materials</a:t>
                      </a:r>
                      <a:endParaRPr lang="en-GB" sz="160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/>
                        <a:t>Prepare food</a:t>
                      </a:r>
                      <a:endParaRPr lang="en-GB" sz="160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/>
                        <a:t>Freeze food</a:t>
                      </a:r>
                      <a:endParaRPr lang="en-GB" sz="160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/>
                        <a:t>Pack and freeze food</a:t>
                      </a:r>
                      <a:endParaRPr lang="en-GB" sz="16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tabLst>
                          <a:tab pos="143510" algn="l"/>
                        </a:tabLst>
                      </a:pPr>
                      <a:r>
                        <a:rPr lang="en-US" sz="1600" dirty="0"/>
                        <a:t>Frozen food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2747" marR="3274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Title 1">
            <a:extLst>
              <a:ext uri="{FF2B5EF4-FFF2-40B4-BE49-F238E27FC236}">
                <a16:creationId xmlns:a16="http://schemas.microsoft.com/office/drawing/2014/main" id="{A3700FFF-0E0A-3631-4241-3886FF8E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74625"/>
            <a:ext cx="8005763" cy="739775"/>
          </a:xfrm>
        </p:spPr>
        <p:txBody>
          <a:bodyPr/>
          <a:lstStyle/>
          <a:p>
            <a:r>
              <a:rPr lang="en-US" dirty="0"/>
              <a:t>            Operations as a transformation process</a:t>
            </a:r>
          </a:p>
        </p:txBody>
      </p:sp>
    </p:spTree>
    <p:extLst>
      <p:ext uri="{BB962C8B-B14F-4D97-AF65-F5344CB8AC3E}">
        <p14:creationId xmlns:p14="http://schemas.microsoft.com/office/powerpoint/2010/main" val="2783979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50343DB-46AC-DFE7-F313-863CC0DEB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>
            <a:extLst>
              <a:ext uri="{FF2B5EF4-FFF2-40B4-BE49-F238E27FC236}">
                <a16:creationId xmlns:a16="http://schemas.microsoft.com/office/drawing/2014/main" id="{92A5AF3A-75BB-4996-F018-863E6380CD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0" y="101471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                    Operations Management in Action</a:t>
            </a:r>
            <a:endParaRPr dirty="0"/>
          </a:p>
        </p:txBody>
      </p:sp>
      <p:sp>
        <p:nvSpPr>
          <p:cNvPr id="94" name="Google Shape;94;p18">
            <a:extLst>
              <a:ext uri="{FF2B5EF4-FFF2-40B4-BE49-F238E27FC236}">
                <a16:creationId xmlns:a16="http://schemas.microsoft.com/office/drawing/2014/main" id="{C255EDDF-0F52-3133-2C2D-7580EC3904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DCE38-4F4D-8C6D-C25C-20B1FAD6B3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6686" y="1971272"/>
            <a:ext cx="4499228" cy="82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Concept of McDonalds - The </a:t>
            </a:r>
            <a:r>
              <a:rPr lang="en-GB" dirty="0" err="1">
                <a:hlinkClick r:id="rId3"/>
              </a:rPr>
              <a:t>Speedee</a:t>
            </a:r>
            <a:r>
              <a:rPr lang="en-GB" dirty="0">
                <a:hlinkClick r:id="rId3"/>
              </a:rPr>
              <a:t> system – YouTube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CC7C6-1AB6-EEDF-3C04-A40DC02A1522}"/>
              </a:ext>
            </a:extLst>
          </p:cNvPr>
          <p:cNvSpPr txBox="1"/>
          <p:nvPr/>
        </p:nvSpPr>
        <p:spPr>
          <a:xfrm>
            <a:off x="233690" y="3145288"/>
            <a:ext cx="466180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Identify </a:t>
            </a:r>
            <a:r>
              <a:rPr lang="en-GB" dirty="0"/>
              <a:t> </a:t>
            </a:r>
            <a:r>
              <a:rPr lang="en-GB" b="1" dirty="0"/>
              <a:t>Inputs → What happens? → Outputs</a:t>
            </a:r>
            <a:endParaRPr lang="en-GB" dirty="0"/>
          </a:p>
          <a:p>
            <a:pPr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b="1" dirty="0"/>
              <a:t>What is the main transformation process you observed?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C2BB1-9A28-ED09-8B09-0E083B6B2E6F}"/>
              </a:ext>
            </a:extLst>
          </p:cNvPr>
          <p:cNvSpPr txBox="1"/>
          <p:nvPr/>
        </p:nvSpPr>
        <p:spPr>
          <a:xfrm>
            <a:off x="881743" y="11481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Source Sans Pro SemiBold" panose="020B0603030403020204" pitchFamily="34" charset="0"/>
              </a:rPr>
              <a:t>Watch the </a:t>
            </a:r>
            <a:r>
              <a:rPr lang="en-GB" sz="1800" dirty="0" err="1">
                <a:latin typeface="Source Sans Pro SemiBold" panose="020B0603030403020204" pitchFamily="34" charset="0"/>
              </a:rPr>
              <a:t>Speedee</a:t>
            </a:r>
            <a:r>
              <a:rPr lang="en-GB" sz="1800" dirty="0">
                <a:latin typeface="Source Sans Pro SemiBold" panose="020B0603030403020204" pitchFamily="34" charset="0"/>
              </a:rPr>
              <a:t> video</a:t>
            </a:r>
          </a:p>
        </p:txBody>
      </p:sp>
      <p:pic>
        <p:nvPicPr>
          <p:cNvPr id="7" name="Picture 6" descr="QR code to Wooclap to answer Operations Management in action&#10;">
            <a:extLst>
              <a:ext uri="{FF2B5EF4-FFF2-40B4-BE49-F238E27FC236}">
                <a16:creationId xmlns:a16="http://schemas.microsoft.com/office/drawing/2014/main" id="{A1A42483-C842-2F1C-5CB1-7A95329806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22" r="5" b="9372"/>
          <a:stretch>
            <a:fillRect/>
          </a:stretch>
        </p:blipFill>
        <p:spPr>
          <a:xfrm>
            <a:off x="4895497" y="1481318"/>
            <a:ext cx="406980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9928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9875-DEB4-778A-9C62-F79DE3BF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Operations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6B73F-B310-D85A-DEF3-5813E09A3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00" y="1073199"/>
            <a:ext cx="8675334" cy="376005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1900" i="1" dirty="0">
                <a:latin typeface="+mn-lt"/>
                <a:cs typeface="Times New Roman" panose="02020603050405020304" pitchFamily="18" charset="0"/>
              </a:rPr>
              <a:t>The specific decisions and actions that shape the long-term vision, objectives and capabilities of the operation and its contribution to the overall strategy of the business</a:t>
            </a:r>
            <a:r>
              <a:rPr lang="en-US" altLang="en-US" sz="1900" dirty="0">
                <a:latin typeface="+mn-lt"/>
                <a:cs typeface="Times New Roman" panose="02020603050405020304" pitchFamily="18" charset="0"/>
              </a:rPr>
              <a:t>.”</a:t>
            </a:r>
            <a:endParaRPr lang="en-GB" altLang="en-US" sz="1900" dirty="0">
              <a:latin typeface="+mn-lt"/>
              <a:cs typeface="Times New Roman" panose="02020603050405020304" pitchFamily="18" charset="0"/>
            </a:endParaRPr>
          </a:p>
          <a:p>
            <a:r>
              <a:rPr lang="en-GB" sz="1900" dirty="0">
                <a:latin typeface="+mn-lt"/>
              </a:rPr>
              <a:t>How an organisation designs and manages its operations so that they support the wider goals of the business.</a:t>
            </a:r>
          </a:p>
          <a:p>
            <a:endParaRPr lang="en-GB" sz="1900" dirty="0">
              <a:latin typeface="+mn-lt"/>
            </a:endParaRPr>
          </a:p>
          <a:p>
            <a:pPr lvl="1"/>
            <a:r>
              <a:rPr lang="en-GB" sz="1900" dirty="0">
                <a:latin typeface="+mn-lt"/>
              </a:rPr>
              <a:t>Implementing business strategy</a:t>
            </a:r>
          </a:p>
          <a:p>
            <a:pPr lvl="1"/>
            <a:r>
              <a:rPr lang="en-GB" sz="1900" dirty="0">
                <a:latin typeface="+mn-lt"/>
              </a:rPr>
              <a:t>Supporting business strategy</a:t>
            </a:r>
          </a:p>
          <a:p>
            <a:pPr lvl="1"/>
            <a:r>
              <a:rPr lang="en-GB" sz="1900" dirty="0">
                <a:latin typeface="+mn-lt"/>
              </a:rPr>
              <a:t>Driving business strategy    </a:t>
            </a:r>
          </a:p>
          <a:p>
            <a:pPr lvl="1"/>
            <a:endParaRPr lang="en-GB" sz="1800" dirty="0">
              <a:latin typeface="+mn-lt"/>
            </a:endParaRPr>
          </a:p>
          <a:p>
            <a:pPr lvl="1"/>
            <a:endParaRPr lang="en-GB" sz="1800" dirty="0">
              <a:latin typeface="+mn-lt"/>
            </a:endParaRPr>
          </a:p>
          <a:p>
            <a:pPr marL="0" indent="0" algn="ctr">
              <a:buNone/>
            </a:pPr>
            <a:r>
              <a:rPr lang="en-GB" sz="1400" dirty="0"/>
              <a:t>Slack, N., Brandon-Jones, L., and Johnson, R. (2019). Operations Management, 9e, Pearson, p5</a:t>
            </a:r>
            <a:endParaRPr lang="en-US" sz="1400" i="1" dirty="0"/>
          </a:p>
          <a:p>
            <a:pPr lvl="1"/>
            <a:endParaRPr lang="en-GB" sz="18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666BB-B706-A701-9005-0DFDD85C80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45079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1A19-3733-B535-7AD5-9FFB48A2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E619-8F78-9BEC-99AF-788156E6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           Operations 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A6A62-2794-2CC3-94BE-25D5647E98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8" name="Picture 7" descr="Diagram titled “4 Perspectives on Operations Strategy” presents four viewpoints shaping operations strategy around a central orange “Operations Strategy” oval. Blue top-down, green market requirements, green bottom-up, and purple operations resources perspectives show business needs, market demands, day-to-day experience, and available resources guiding operations decisions.">
            <a:extLst>
              <a:ext uri="{FF2B5EF4-FFF2-40B4-BE49-F238E27FC236}">
                <a16:creationId xmlns:a16="http://schemas.microsoft.com/office/drawing/2014/main" id="{88D9120A-EA9A-2ED6-05E7-DA700AA5A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55" y="807444"/>
            <a:ext cx="5731329" cy="43318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881BD2-879A-FA2A-70CD-7831D345E57B}"/>
              </a:ext>
            </a:extLst>
          </p:cNvPr>
          <p:cNvSpPr txBox="1"/>
          <p:nvPr/>
        </p:nvSpPr>
        <p:spPr>
          <a:xfrm>
            <a:off x="5449734" y="4821999"/>
            <a:ext cx="3543300" cy="34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800" dirty="0"/>
              <a:t>Slack, N., Brandon-Jones, L., and Johnson, R. (2019). Operations Management, 9e, Pearson, p5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2391338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A69A-8E13-60C3-D6EE-E53B93B39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75B0-11C6-90E1-425F-A22B276A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4 Vs of 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CBC62-91E5-4709-B89E-8F0F9D9835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6" name="Picture 1" descr="Operations-management diagram presents four characteristic scales—Volume, Variety, Variation in demand, and Visibility—with orange arrows marking opposing low/high ends. Green side panels summarize implications, contrasting low-volume, flexible, variable, and high-visibility operations with high-volume, standardized, stable, and low-visibility operations.">
            <a:extLst>
              <a:ext uri="{FF2B5EF4-FFF2-40B4-BE49-F238E27FC236}">
                <a16:creationId xmlns:a16="http://schemas.microsoft.com/office/drawing/2014/main" id="{83487A01-E613-7F5C-7F61-B616C6C457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38" y="778044"/>
            <a:ext cx="6541924" cy="4361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9611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3F90-81A3-4D58-46E9-34BF8A511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F87A-7C4C-1086-B60D-836A00636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263" y="362432"/>
            <a:ext cx="6251328" cy="572700"/>
          </a:xfrm>
        </p:spPr>
        <p:txBody>
          <a:bodyPr wrap="square" anchor="ctr">
            <a:normAutofit/>
          </a:bodyPr>
          <a:lstStyle/>
          <a:p>
            <a:r>
              <a:rPr lang="en-GB" sz="2500" dirty="0"/>
              <a:t>           4 Vs of 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22D44-5FA5-6F10-AC35-D4ACB2B1E7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900" smtClean="0"/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endParaRPr lang="en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EE648-4AFA-3A9D-5F50-E52A8126ABB7}"/>
              </a:ext>
            </a:extLst>
          </p:cNvPr>
          <p:cNvSpPr txBox="1"/>
          <p:nvPr/>
        </p:nvSpPr>
        <p:spPr>
          <a:xfrm>
            <a:off x="311700" y="1208225"/>
            <a:ext cx="4069800" cy="326440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sz="1800" b="0" i="0" u="none" strike="noStrike" cap="none" spc="0" dirty="0">
                <a:solidFill>
                  <a:schemeClr val="dk2"/>
                </a:solidFill>
              </a:rPr>
              <a:t>   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800" dirty="0"/>
              <a:t>Complete the </a:t>
            </a:r>
            <a:r>
              <a:rPr lang="en-GB" sz="1800" b="1" dirty="0"/>
              <a:t>4Vs challenge</a:t>
            </a:r>
            <a:r>
              <a:rPr lang="en-GB" sz="1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800" dirty="0"/>
              <a:t>Screenshot your results and prepare </a:t>
            </a:r>
            <a:r>
              <a:rPr lang="en-GB" sz="1800" b="1" dirty="0"/>
              <a:t>one key observation</a:t>
            </a:r>
            <a:r>
              <a:rPr lang="en-GB" sz="1800" dirty="0"/>
              <a:t> to share.</a:t>
            </a:r>
          </a:p>
          <a:p>
            <a:pPr>
              <a:spcAft>
                <a:spcPts val="600"/>
              </a:spcAft>
            </a:pPr>
            <a:endParaRPr lang="en-US" sz="1800" b="0" i="0" u="none" strike="noStrike" cap="none" spc="0" dirty="0">
              <a:solidFill>
                <a:schemeClr val="dk2"/>
              </a:solidFill>
            </a:endParaRPr>
          </a:p>
          <a:p>
            <a:pPr>
              <a:spcAft>
                <a:spcPts val="600"/>
              </a:spcAft>
            </a:pPr>
            <a:endParaRPr lang="en-US" sz="1800" b="0" i="0" u="none" strike="noStrike" cap="none" spc="0" dirty="0">
              <a:solidFill>
                <a:schemeClr val="dk2"/>
              </a:solidFill>
            </a:endParaRPr>
          </a:p>
          <a:p>
            <a:pPr>
              <a:spcAft>
                <a:spcPts val="600"/>
              </a:spcAft>
            </a:pPr>
            <a:endParaRPr lang="en-US" sz="1800" dirty="0">
              <a:solidFill>
                <a:schemeClr val="dk2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800" b="0" i="0" u="none" strike="noStrike" cap="none" spc="0" dirty="0">
                <a:solidFill>
                  <a:schemeClr val="dk2"/>
                </a:solidFill>
              </a:rPr>
              <a:t>How would making coffee at home differ from running a busy campus coffee shop across 4 V’s?</a:t>
            </a:r>
          </a:p>
          <a:p>
            <a:pPr>
              <a:spcAft>
                <a:spcPts val="600"/>
              </a:spcAft>
            </a:pPr>
            <a:endParaRPr lang="en-US" sz="1800" b="0" i="0" u="none" strike="noStrike" cap="none" spc="0" dirty="0">
              <a:solidFill>
                <a:schemeClr val="dk2"/>
              </a:solidFill>
            </a:endParaRPr>
          </a:p>
        </p:txBody>
      </p:sp>
      <p:pic>
        <p:nvPicPr>
          <p:cNvPr id="10" name="Picture 9" descr="QR code to game&#10;">
            <a:extLst>
              <a:ext uri="{FF2B5EF4-FFF2-40B4-BE49-F238E27FC236}">
                <a16:creationId xmlns:a16="http://schemas.microsoft.com/office/drawing/2014/main" id="{DA0D2726-ADF4-FB64-FB1F-280FF35A0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50" y="1208225"/>
            <a:ext cx="38671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67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9585-F5E0-7AE3-2D0E-3E5E283B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539D2-22B8-D454-F0CF-9C2DF04A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 fontScale="90000"/>
          </a:bodyPr>
          <a:lstStyle/>
          <a:p>
            <a:pPr algn="ctr"/>
            <a:r>
              <a:rPr lang="en-GB" sz="2500" dirty="0"/>
              <a:t>           </a:t>
            </a:r>
            <a:r>
              <a:rPr lang="en-GB" sz="3200" dirty="0"/>
              <a:t>Performance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A215A-BB60-8E95-9BFE-7C47E7C4D4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</p:spPr>
        <p:txBody>
          <a:bodyPr wrap="square" anchor="t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23</a:t>
            </a:fld>
            <a:endParaRPr lang="en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F8962-953A-C592-1B2D-DA9FB944DA39}"/>
              </a:ext>
            </a:extLst>
          </p:cNvPr>
          <p:cNvSpPr txBox="1"/>
          <p:nvPr/>
        </p:nvSpPr>
        <p:spPr>
          <a:xfrm>
            <a:off x="238221" y="793240"/>
            <a:ext cx="8311243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 SemiBold" panose="020B0603030403020204" pitchFamily="34" charset="0"/>
              </a:rPr>
              <a:t>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 SemiBold" panose="020B0603030403020204" pitchFamily="34" charset="0"/>
              </a:rPr>
              <a:t>Performance objectives describe what good performance looks like.</a:t>
            </a:r>
          </a:p>
          <a:p>
            <a:endParaRPr lang="en-GB" sz="2400" dirty="0">
              <a:latin typeface="Source Sans Pro SemiBold" panose="020B0603030403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 SemiBold" panose="020B0603030403020204" pitchFamily="34" charset="0"/>
              </a:rPr>
              <a:t> It asks the question:</a:t>
            </a:r>
          </a:p>
          <a:p>
            <a:r>
              <a:rPr lang="en-GB" sz="2400" dirty="0">
                <a:latin typeface="Source Sans Pro SemiBold" panose="020B0603030403020204" pitchFamily="34" charset="0"/>
              </a:rPr>
              <a:t>              “</a:t>
            </a:r>
            <a:r>
              <a:rPr lang="en-GB" sz="2400" i="1" dirty="0">
                <a:latin typeface="Source Sans Pro SemiBold" panose="020B0603030403020204" pitchFamily="34" charset="0"/>
              </a:rPr>
              <a:t>What does this operation need to be good at?</a:t>
            </a:r>
          </a:p>
          <a:p>
            <a:endParaRPr lang="en-GB" sz="2400" i="1" dirty="0">
              <a:latin typeface="Source Sans Pro SemiBold" panose="020B06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 SemiBold" panose="020B0603030403020204" pitchFamily="34" charset="0"/>
              </a:rPr>
              <a:t>‘Performance’ is not a straightforward concept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 SemiBold" panose="020B0603030403020204" pitchFamily="34" charset="0"/>
              </a:rPr>
              <a:t>A single measure can never fully communicate the success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i="1" dirty="0">
              <a:latin typeface="Source Sans Pro SemiBold" panose="020B0603030403020204" pitchFamily="34" charset="0"/>
            </a:endParaRPr>
          </a:p>
          <a:p>
            <a:endParaRPr lang="en-GB" sz="2400" i="1" dirty="0">
              <a:latin typeface="Source Sans Pro SemiBold" panose="020B0603030403020204" pitchFamily="34" charset="0"/>
            </a:endParaRPr>
          </a:p>
          <a:p>
            <a:endParaRPr lang="en-GB" sz="2400" i="1" dirty="0">
              <a:latin typeface="Source Sans Pro SemiBold" panose="020B06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156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825C-B7B8-6E1D-FD52-C2A91328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E849-4461-4571-71BE-07170C95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GB" sz="2500" dirty="0"/>
              <a:t>           Performance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4CCA8-CA42-6444-EB0F-DDC107F645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</p:spPr>
        <p:txBody>
          <a:bodyPr wrap="square" anchor="t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24</a:t>
            </a:fld>
            <a:endParaRPr lang="en" sz="9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C59E5C-A9C3-FA0E-24D9-DFB977D19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936526"/>
              </p:ext>
            </p:extLst>
          </p:nvPr>
        </p:nvGraphicFramePr>
        <p:xfrm>
          <a:off x="150966" y="1152525"/>
          <a:ext cx="8842068" cy="3986802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210517">
                  <a:extLst>
                    <a:ext uri="{9D8B030D-6E8A-4147-A177-3AD203B41FA5}">
                      <a16:colId xmlns:a16="http://schemas.microsoft.com/office/drawing/2014/main" val="4007548248"/>
                    </a:ext>
                  </a:extLst>
                </a:gridCol>
                <a:gridCol w="2210517">
                  <a:extLst>
                    <a:ext uri="{9D8B030D-6E8A-4147-A177-3AD203B41FA5}">
                      <a16:colId xmlns:a16="http://schemas.microsoft.com/office/drawing/2014/main" val="1568501047"/>
                    </a:ext>
                  </a:extLst>
                </a:gridCol>
                <a:gridCol w="2210517">
                  <a:extLst>
                    <a:ext uri="{9D8B030D-6E8A-4147-A177-3AD203B41FA5}">
                      <a16:colId xmlns:a16="http://schemas.microsoft.com/office/drawing/2014/main" val="2362764874"/>
                    </a:ext>
                  </a:extLst>
                </a:gridCol>
                <a:gridCol w="2210517">
                  <a:extLst>
                    <a:ext uri="{9D8B030D-6E8A-4147-A177-3AD203B41FA5}">
                      <a16:colId xmlns:a16="http://schemas.microsoft.com/office/drawing/2014/main" val="3594167517"/>
                    </a:ext>
                  </a:extLst>
                </a:gridCol>
              </a:tblGrid>
              <a:tr h="264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latin typeface="Source Sans Pro SemiBold" panose="020B0603030403020204" pitchFamily="34" charset="0"/>
                        </a:rPr>
                        <a:t>Performance objective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latin typeface="Source Sans Pro SemiBold" panose="020B0603030403020204" pitchFamily="34" charset="0"/>
                        </a:rPr>
                        <a:t>Simple meaning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latin typeface="Source Sans Pro SemiBold" panose="020B0603030403020204" pitchFamily="34" charset="0"/>
                        </a:rPr>
                        <a:t>Company example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latin typeface="Source Sans Pro SemiBold" panose="020B0603030403020204" pitchFamily="34" charset="0"/>
                        </a:rPr>
                        <a:t>Why?</a:t>
                      </a: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487014265"/>
                  </a:ext>
                </a:extLst>
              </a:tr>
              <a:tr h="52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Quality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Do things right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BMW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Consistent engineering, safety, reliability and finish</a:t>
                      </a: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3225726730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Speed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Do things fast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Amazon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Fast order processing and delivery</a:t>
                      </a: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2244593714"/>
                  </a:ext>
                </a:extLst>
              </a:tr>
              <a:tr h="660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Dependability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Do things on time, as promised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British Airways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Customers expect flights and baggage to operate as scheduled</a:t>
                      </a: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659807445"/>
                  </a:ext>
                </a:extLst>
              </a:tr>
              <a:tr h="683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Flexibility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Respond to change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Zara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Responds quickly to changing fashion demand and product mix</a:t>
                      </a: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2896235338"/>
                  </a:ext>
                </a:extLst>
              </a:tr>
              <a:tr h="858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Cost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Do things efficiently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Aldi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Limited product range, efficient stores, private-label focus and lean operating model help keep costs low</a:t>
                      </a: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4171404387"/>
                  </a:ext>
                </a:extLst>
              </a:tr>
              <a:tr h="52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Sustainability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Do things responsibly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>
                          <a:latin typeface="Source Sans Pro SemiBold" panose="020B0603030403020204" pitchFamily="34" charset="0"/>
                        </a:rPr>
                        <a:t>IKEA</a:t>
                      </a: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Source Sans Pro SemiBold" panose="020B0603030403020204" pitchFamily="34" charset="0"/>
                        </a:rPr>
                        <a:t>Focus on materials, sourcing, waste, energy and circularity</a:t>
                      </a: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748824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708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8EB2C-96BE-5E7C-876C-6CBC4194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6F31-BB72-99F8-CF3A-C3269AF0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92" y="1999050"/>
            <a:ext cx="2219229" cy="572700"/>
          </a:xfrm>
        </p:spPr>
        <p:txBody>
          <a:bodyPr wrap="square" anchor="ctr">
            <a:normAutofit fontScale="90000"/>
          </a:bodyPr>
          <a:lstStyle/>
          <a:p>
            <a:pPr algn="ctr"/>
            <a:r>
              <a:rPr lang="en-GB" sz="2500" dirty="0"/>
              <a:t>           Performance objectives occurs at different interdependent levels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312A1-634A-771C-0D86-66B2434030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</p:spPr>
        <p:txBody>
          <a:bodyPr wrap="square" anchor="t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25</a:t>
            </a:fld>
            <a:endParaRPr lang="en" sz="900"/>
          </a:p>
        </p:txBody>
      </p:sp>
      <p:pic>
        <p:nvPicPr>
          <p:cNvPr id="6" name="Picture 5" descr="Diagram links societal, strategic, and operational levels of sustainability and operations performance. Overlapping People, Planet, and Profit surround Sustainability; a green strategic-impact oval connects Learning, Risk, Capital, Cost, and Revenue to Operations strategic impact, while a blue objectives oval lists Quality, Speed, Dependability, Flexibility, and Cost.">
            <a:extLst>
              <a:ext uri="{FF2B5EF4-FFF2-40B4-BE49-F238E27FC236}">
                <a16:creationId xmlns:a16="http://schemas.microsoft.com/office/drawing/2014/main" id="{746EAA19-426A-9612-C12B-7313022F6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236" y="124500"/>
            <a:ext cx="6139543" cy="462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14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18F1-F4BA-DA56-92D5-BCA2A8A3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5D76-5BA1-DDCC-E921-AB759E8AF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434" y="-86307"/>
            <a:ext cx="8004900" cy="7392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         Interdependency between 4Vs and Performance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3F707-CDF0-46E7-1DBC-A2BE9CF7DA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B16E3-629F-8C6C-EFC1-3B9347436A6A}"/>
              </a:ext>
            </a:extLst>
          </p:cNvPr>
          <p:cNvSpPr txBox="1"/>
          <p:nvPr/>
        </p:nvSpPr>
        <p:spPr>
          <a:xfrm>
            <a:off x="433732" y="865406"/>
            <a:ext cx="855930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>
                <a:latin typeface="Source Sans Pro SemiBold" panose="020B0603030403020204" pitchFamily="34" charset="0"/>
              </a:rPr>
              <a:t>Example Starbucks</a:t>
            </a:r>
            <a:r>
              <a:rPr lang="en-GB" sz="1600" dirty="0">
                <a:latin typeface="Source Sans Pro SemiBold" panose="020B0603030403020204" pitchFamily="34" charset="0"/>
              </a:rPr>
              <a:t>.</a:t>
            </a:r>
          </a:p>
          <a:p>
            <a:pPr>
              <a:buNone/>
            </a:pPr>
            <a:endParaRPr lang="en-GB" sz="1600" dirty="0">
              <a:latin typeface="+mn-lt"/>
            </a:endParaRPr>
          </a:p>
          <a:p>
            <a:pPr lvl="4"/>
            <a:r>
              <a:rPr lang="en-GB" sz="1600" dirty="0">
                <a:latin typeface="Source Sans Pro SemiBold" panose="020B0603030403020204" pitchFamily="34" charset="0"/>
              </a:rPr>
              <a:t>Its 4Vs might be: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high volume; 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high variety; 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high variation in demand across the day; 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high visibility because customers directly experience the service. </a:t>
            </a:r>
          </a:p>
          <a:p>
            <a:pPr>
              <a:buNone/>
            </a:pPr>
            <a:r>
              <a:rPr lang="en-GB" sz="1600" dirty="0">
                <a:latin typeface="Source Sans Pro SemiBold" panose="020B0603030403020204" pitchFamily="34" charset="0"/>
              </a:rPr>
              <a:t>These characteristics influence how Starbucks designs staffing, layout, processes and technology.</a:t>
            </a:r>
          </a:p>
          <a:p>
            <a:pPr>
              <a:buNone/>
            </a:pPr>
            <a:endParaRPr lang="en-GB" sz="1600" dirty="0">
              <a:latin typeface="Source Sans Pro SemiBold" panose="020B0603030403020204" pitchFamily="34" charset="0"/>
            </a:endParaRPr>
          </a:p>
          <a:p>
            <a:pPr>
              <a:buNone/>
            </a:pPr>
            <a:r>
              <a:rPr lang="en-GB" sz="1600" dirty="0">
                <a:latin typeface="Source Sans Pro SemiBold" panose="020B0603030403020204" pitchFamily="34" charset="0"/>
              </a:rPr>
              <a:t>But its </a:t>
            </a:r>
            <a:r>
              <a:rPr lang="en-GB" sz="1600" b="1" dirty="0">
                <a:latin typeface="Source Sans Pro SemiBold" panose="020B0603030403020204" pitchFamily="34" charset="0"/>
              </a:rPr>
              <a:t>performance objectives</a:t>
            </a:r>
            <a:r>
              <a:rPr lang="en-GB" sz="1600" dirty="0">
                <a:latin typeface="Source Sans Pro SemiBold" panose="020B0603030403020204" pitchFamily="34" charset="0"/>
              </a:rPr>
              <a:t> might be: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b="1" dirty="0">
                <a:latin typeface="Source Sans Pro SemiBold" panose="020B0603030403020204" pitchFamily="34" charset="0"/>
              </a:rPr>
              <a:t>Quality</a:t>
            </a:r>
            <a:r>
              <a:rPr lang="en-GB" sz="1600" dirty="0">
                <a:latin typeface="Source Sans Pro SemiBold" panose="020B0603030403020204" pitchFamily="34" charset="0"/>
              </a:rPr>
              <a:t> — high-quality coffee, consistent taste;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b="1" dirty="0">
                <a:latin typeface="Source Sans Pro SemiBold" panose="020B0603030403020204" pitchFamily="34" charset="0"/>
              </a:rPr>
              <a:t>Speed</a:t>
            </a:r>
            <a:r>
              <a:rPr lang="en-GB" sz="1600" dirty="0">
                <a:latin typeface="Source Sans Pro SemiBold" panose="020B0603030403020204" pitchFamily="34" charset="0"/>
              </a:rPr>
              <a:t> — short waiting time;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b="1" dirty="0">
                <a:latin typeface="Source Sans Pro SemiBold" panose="020B0603030403020204" pitchFamily="34" charset="0"/>
              </a:rPr>
              <a:t>Dependability</a:t>
            </a:r>
            <a:r>
              <a:rPr lang="en-GB" sz="1600" dirty="0">
                <a:latin typeface="Source Sans Pro SemiBold" panose="020B0603030403020204" pitchFamily="34" charset="0"/>
              </a:rPr>
              <a:t> — order ready when expected;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b="1" dirty="0">
                <a:latin typeface="Source Sans Pro SemiBold" panose="020B0603030403020204" pitchFamily="34" charset="0"/>
              </a:rPr>
              <a:t>Flexibility</a:t>
            </a:r>
            <a:r>
              <a:rPr lang="en-GB" sz="1600" dirty="0">
                <a:latin typeface="Source Sans Pro SemiBold" panose="020B0603030403020204" pitchFamily="34" charset="0"/>
              </a:rPr>
              <a:t> — customise drinks;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b="1" dirty="0">
                <a:latin typeface="Source Sans Pro SemiBold" panose="020B0603030403020204" pitchFamily="34" charset="0"/>
              </a:rPr>
              <a:t>Cost</a:t>
            </a:r>
            <a:r>
              <a:rPr lang="en-GB" sz="1600" dirty="0">
                <a:latin typeface="Source Sans Pro SemiBold" panose="020B0603030403020204" pitchFamily="34" charset="0"/>
              </a:rPr>
              <a:t> — operate efficiently;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b="1" dirty="0">
                <a:latin typeface="Source Sans Pro SemiBold" panose="020B0603030403020204" pitchFamily="34" charset="0"/>
              </a:rPr>
              <a:t>Sustainability</a:t>
            </a:r>
            <a:r>
              <a:rPr lang="en-GB" sz="1600" dirty="0">
                <a:latin typeface="Source Sans Pro SemiBold" panose="020B0603030403020204" pitchFamily="34" charset="0"/>
              </a:rPr>
              <a:t> — responsible sourcing, waste reduction. </a:t>
            </a:r>
          </a:p>
        </p:txBody>
      </p:sp>
    </p:spTree>
    <p:extLst>
      <p:ext uri="{BB962C8B-B14F-4D97-AF65-F5344CB8AC3E}">
        <p14:creationId xmlns:p14="http://schemas.microsoft.com/office/powerpoint/2010/main" val="2737931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333A3-1927-433E-2A27-68EADEF1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FA6F-0379-7C09-A6A2-2FD9F8A3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0" y="174950"/>
            <a:ext cx="8838450" cy="739200"/>
          </a:xfrm>
        </p:spPr>
        <p:txBody>
          <a:bodyPr>
            <a:normAutofit/>
          </a:bodyPr>
          <a:lstStyle/>
          <a:p>
            <a:r>
              <a:rPr lang="en-GB" dirty="0"/>
              <a:t>           How do we measure operations?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240F9-FC11-7531-674C-F86289EFC2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6" name="Picture 5" descr="Infographic titled “Developments Shaping Operations and Supply Chains Today,” summarizing forces transforming operations and supply-chain strategy. Three color-coded panels cover new technologies, diverse supply arrangements, and social-environmental priorities, with bottom bands highlighting smarter faster operations, innovation enablers, and a future-ready outcome.">
            <a:extLst>
              <a:ext uri="{FF2B5EF4-FFF2-40B4-BE49-F238E27FC236}">
                <a16:creationId xmlns:a16="http://schemas.microsoft.com/office/drawing/2014/main" id="{614F40AA-55AE-243B-AB42-F23C256F3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39" y="797379"/>
            <a:ext cx="7241721" cy="43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92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9908-5D44-9084-2267-580FA771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6F03-FBDE-D34F-9A25-BCA9CF6A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434" y="-86307"/>
            <a:ext cx="8004900" cy="7392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Operations in Practice: Capacity and Flow in 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5AD2E-7F0F-1C5C-AC14-4A4A4DE21E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3B86E3-3F3D-5996-0FF5-E6E6AC301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29056"/>
              </p:ext>
            </p:extLst>
          </p:nvPr>
        </p:nvGraphicFramePr>
        <p:xfrm>
          <a:off x="195943" y="1461471"/>
          <a:ext cx="8487288" cy="2299944"/>
        </p:xfrm>
        <a:graphic>
          <a:graphicData uri="http://schemas.openxmlformats.org/drawingml/2006/table">
            <a:tbl>
              <a:tblPr/>
              <a:tblGrid>
                <a:gridCol w="4245941">
                  <a:extLst>
                    <a:ext uri="{9D8B030D-6E8A-4147-A177-3AD203B41FA5}">
                      <a16:colId xmlns:a16="http://schemas.microsoft.com/office/drawing/2014/main" val="3990574580"/>
                    </a:ext>
                  </a:extLst>
                </a:gridCol>
                <a:gridCol w="4241347">
                  <a:extLst>
                    <a:ext uri="{9D8B030D-6E8A-4147-A177-3AD203B41FA5}">
                      <a16:colId xmlns:a16="http://schemas.microsoft.com/office/drawing/2014/main" val="3407973150"/>
                    </a:ext>
                  </a:extLst>
                </a:gridCol>
              </a:tblGrid>
              <a:tr h="239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Concept</a:t>
                      </a:r>
                    </a:p>
                  </a:txBody>
                  <a:tcPr marL="71173" marR="71173" marT="35586" marB="35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What you should observe</a:t>
                      </a:r>
                    </a:p>
                  </a:txBody>
                  <a:tcPr marL="71173" marR="71173" marT="35586" marB="35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4231"/>
                  </a:ext>
                </a:extLst>
              </a:tr>
              <a:tr h="742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Design capacity</a:t>
                      </a:r>
                      <a:endParaRPr lang="en-GB" sz="1100" dirty="0"/>
                    </a:p>
                  </a:txBody>
                  <a:tcPr marL="71173" marR="71173" marT="35586" marB="35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What do you think is the maximum number of customers/orders the operation could handle? Look at the number of tills, tables, service counters, machines, staff or checkout points.</a:t>
                      </a:r>
                    </a:p>
                  </a:txBody>
                  <a:tcPr marL="71173" marR="71173" marT="35586" marB="35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191961"/>
                  </a:ext>
                </a:extLst>
              </a:tr>
              <a:tr h="574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Utilisation</a:t>
                      </a:r>
                      <a:endParaRPr lang="en-GB" sz="1100" dirty="0"/>
                    </a:p>
                  </a:txBody>
                  <a:tcPr marL="71173" marR="71173" marT="35586" marB="35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How much of the available capacity appears to be in use? Are tills, self-check-out, tables, staff or machines busy or idle? Can you observe wasted time?</a:t>
                      </a:r>
                    </a:p>
                  </a:txBody>
                  <a:tcPr marL="71173" marR="71173" marT="35586" marB="35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572979"/>
                  </a:ext>
                </a:extLst>
              </a:tr>
              <a:tr h="742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WIP</a:t>
                      </a:r>
                      <a:endParaRPr lang="en-GB" sz="1100" dirty="0"/>
                    </a:p>
                  </a:txBody>
                  <a:tcPr marL="71173" marR="71173" marT="35586" marB="35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What is waiting to be processed? This could be customers in a queue, orders awaiting preparation, baskets at checkouts or products awaiting replenishment.</a:t>
                      </a:r>
                    </a:p>
                    <a:p>
                      <a:pPr>
                        <a:buNone/>
                      </a:pPr>
                      <a:endParaRPr lang="en-GB" sz="1100" dirty="0"/>
                    </a:p>
                  </a:txBody>
                  <a:tcPr marL="71173" marR="71173" marT="35586" marB="35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6224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344287-FE76-5ACD-CCD8-0EC9590CDC98}"/>
              </a:ext>
            </a:extLst>
          </p:cNvPr>
          <p:cNvSpPr txBox="1"/>
          <p:nvPr/>
        </p:nvSpPr>
        <p:spPr>
          <a:xfrm>
            <a:off x="204107" y="776745"/>
            <a:ext cx="88664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+mn-lt"/>
              </a:rPr>
              <a:t>Walk through a single of businesses and examine how they manage capacity and customer/product flow. For example, a coffee shop, a supermarket,  a restaurant, a bank, fast-food outlet  or retail store. During your visit, observe the operation and answer: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A285DD-393B-D0A3-E247-FE90D1F0B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857620"/>
              </p:ext>
            </p:extLst>
          </p:nvPr>
        </p:nvGraphicFramePr>
        <p:xfrm>
          <a:off x="161531" y="3718994"/>
          <a:ext cx="8521700" cy="42672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224744474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313925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Throughput</a:t>
                      </a:r>
                      <a:endParaRPr lang="en-GB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Approximately how many customers/orders/products are completed in within  a 10 minutes  period?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16099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564BEA-6FCF-E3D6-F0BA-48F61C03E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316645"/>
              </p:ext>
            </p:extLst>
          </p:nvPr>
        </p:nvGraphicFramePr>
        <p:xfrm>
          <a:off x="152393" y="4532366"/>
          <a:ext cx="8539976" cy="426720"/>
        </p:xfrm>
        <a:graphic>
          <a:graphicData uri="http://schemas.openxmlformats.org/drawingml/2006/table">
            <a:tbl>
              <a:tblPr/>
              <a:tblGrid>
                <a:gridCol w="4269988">
                  <a:extLst>
                    <a:ext uri="{9D8B030D-6E8A-4147-A177-3AD203B41FA5}">
                      <a16:colId xmlns:a16="http://schemas.microsoft.com/office/drawing/2014/main" val="73319146"/>
                    </a:ext>
                  </a:extLst>
                </a:gridCol>
                <a:gridCol w="4269988">
                  <a:extLst>
                    <a:ext uri="{9D8B030D-6E8A-4147-A177-3AD203B41FA5}">
                      <a16:colId xmlns:a16="http://schemas.microsoft.com/office/drawing/2014/main" val="1234700782"/>
                    </a:ext>
                  </a:extLst>
                </a:gridCol>
              </a:tblGrid>
              <a:tr h="276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Flow time</a:t>
                      </a:r>
                      <a:endParaRPr lang="en-GB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Approximately how long does one customer/order take from entering the process to completion?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5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079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>
            <a:spLocks noGrp="1"/>
          </p:cNvSpPr>
          <p:nvPr>
            <p:ph type="body" idx="1"/>
          </p:nvPr>
        </p:nvSpPr>
        <p:spPr>
          <a:xfrm>
            <a:off x="1707800" y="3134325"/>
            <a:ext cx="5454900" cy="17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www.sheffield.ac.uk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86" name="Google Shape;186;p31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29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31E29"/>
      </a:dk1>
      <a:lt1>
        <a:srgbClr val="FFFFFF"/>
      </a:lt1>
      <a:dk2>
        <a:srgbClr val="440099"/>
      </a:dk2>
      <a:lt2>
        <a:srgbClr val="F3F3F3"/>
      </a:lt2>
      <a:accent1>
        <a:srgbClr val="005A8F"/>
      </a:accent1>
      <a:accent2>
        <a:srgbClr val="FF6371"/>
      </a:accent2>
      <a:accent3>
        <a:srgbClr val="C2E9F1"/>
      </a:accent3>
      <a:accent4>
        <a:srgbClr val="9ADBE8"/>
      </a:accent4>
      <a:accent5>
        <a:srgbClr val="981F92"/>
      </a:accent5>
      <a:accent6>
        <a:srgbClr val="663DB3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3633</TotalTime>
  <Words>2073</Words>
  <Application>Microsoft Office PowerPoint</Application>
  <PresentationFormat>On-screen Show (16:9)</PresentationFormat>
  <Paragraphs>322</Paragraphs>
  <Slides>29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 New</vt:lpstr>
      <vt:lpstr>Source Sans Pro</vt:lpstr>
      <vt:lpstr>Source Sans Pro SemiBold</vt:lpstr>
      <vt:lpstr>Source Serif Pro</vt:lpstr>
      <vt:lpstr>Simple Light</vt:lpstr>
      <vt:lpstr>PowerPoint Presentation</vt:lpstr>
      <vt:lpstr>Welcome to the Module</vt:lpstr>
      <vt:lpstr>Module Outline </vt:lpstr>
      <vt:lpstr>Module Outline </vt:lpstr>
      <vt:lpstr>How Lectures and Tutorials Work Together </vt:lpstr>
      <vt:lpstr>Reading List –Some Books</vt:lpstr>
      <vt:lpstr>Session Learning Objectives</vt:lpstr>
      <vt:lpstr>                     Ice Breaker Activity</vt:lpstr>
      <vt:lpstr>Let’s make a cup of tea or coffee!</vt:lpstr>
      <vt:lpstr>Let’s make a cup of tea or coffee!</vt:lpstr>
      <vt:lpstr>How to Play </vt:lpstr>
      <vt:lpstr>Let’s make a cup of tea/coffee!</vt:lpstr>
      <vt:lpstr>What is Operations Management?</vt:lpstr>
      <vt:lpstr>           Three Es</vt:lpstr>
      <vt:lpstr>                  What do operations managers do?</vt:lpstr>
      <vt:lpstr>PowerPoint Presentation</vt:lpstr>
      <vt:lpstr>            Operations as a transformation process</vt:lpstr>
      <vt:lpstr>                     Operations Management in Action</vt:lpstr>
      <vt:lpstr>           Operations Strategy</vt:lpstr>
      <vt:lpstr>           Operations Strategy</vt:lpstr>
      <vt:lpstr>                  4 Vs of Operations Management</vt:lpstr>
      <vt:lpstr>           4 Vs of Operations Management</vt:lpstr>
      <vt:lpstr>           Performance Objectives</vt:lpstr>
      <vt:lpstr>           Performance Objectives</vt:lpstr>
      <vt:lpstr>           Performance objectives occurs at different interdependent levels</vt:lpstr>
      <vt:lpstr>         Interdependency between 4Vs and Performance Objectives</vt:lpstr>
      <vt:lpstr>           How do we measure operations?</vt:lpstr>
      <vt:lpstr>Operations in Practice: Capacity and Flow in Action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Emilia Vann Yaroson</dc:creator>
  <cp:lastModifiedBy>Emilia Vann Yaroson</cp:lastModifiedBy>
  <cp:revision>15</cp:revision>
  <dcterms:modified xsi:type="dcterms:W3CDTF">2026-09-30T10:49:27Z</dcterms:modified>
</cp:coreProperties>
</file>