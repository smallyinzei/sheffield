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Lst>
  <p:notesMasterIdLst>
    <p:notesMasterId r:id="rId44"/>
  </p:notesMasterIdLst>
  <p:sldIdLst>
    <p:sldId id="256" r:id="rId2"/>
    <p:sldId id="329" r:id="rId3"/>
    <p:sldId id="337" r:id="rId4"/>
    <p:sldId id="338" r:id="rId5"/>
    <p:sldId id="339" r:id="rId6"/>
    <p:sldId id="334" r:id="rId7"/>
    <p:sldId id="335" r:id="rId8"/>
    <p:sldId id="258" r:id="rId9"/>
    <p:sldId id="264" r:id="rId10"/>
    <p:sldId id="262" r:id="rId11"/>
    <p:sldId id="269" r:id="rId12"/>
    <p:sldId id="340" r:id="rId13"/>
    <p:sldId id="341" r:id="rId14"/>
    <p:sldId id="266" r:id="rId15"/>
    <p:sldId id="272" r:id="rId16"/>
    <p:sldId id="273" r:id="rId17"/>
    <p:sldId id="274" r:id="rId18"/>
    <p:sldId id="290" r:id="rId19"/>
    <p:sldId id="2128752307" r:id="rId53"/>
    <p:sldId id="2128752308" r:id="rId54"/>
    <p:sldId id="342" r:id="rId20"/>
    <p:sldId id="278" r:id="rId21"/>
    <p:sldId id="288" r:id="rId22"/>
    <p:sldId id="285" r:id="rId23"/>
    <p:sldId id="343" r:id="rId24"/>
    <p:sldId id="291" r:id="rId25"/>
    <p:sldId id="293" r:id="rId26"/>
    <p:sldId id="294" r:id="rId27"/>
    <p:sldId id="295" r:id="rId28"/>
    <p:sldId id="257" r:id="rId29"/>
    <p:sldId id="2128752301" r:id="rId30"/>
    <p:sldId id="2128752302" r:id="rId31"/>
    <p:sldId id="298" r:id="rId32"/>
    <p:sldId id="2128752304" r:id="rId50"/>
    <p:sldId id="2128752305" r:id="rId51"/>
    <p:sldId id="2128752257" r:id="rId33"/>
    <p:sldId id="2128752284" r:id="rId34"/>
    <p:sldId id="2128752300" r:id="rId35"/>
    <p:sldId id="2128752283" r:id="rId36"/>
    <p:sldId id="2128752303" r:id="rId49"/>
    <p:sldId id="2128752306" r:id="rId52"/>
    <p:sldId id="301" r:id="rId37"/>
    <p:sldId id="344" r:id="rId38"/>
    <p:sldId id="345" r:id="rId39"/>
    <p:sldId id="268" r:id="rId40"/>
    <p:sldId id="310" r:id="rId41"/>
    <p:sldId id="313" r:id="rId42"/>
    <p:sldId id="315" r:id="rId43"/>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6.xml"/><Relationship Id="rId34" Type="http://schemas.openxmlformats.org/officeDocument/2006/relationships/slide" Target="slides/slide37.xml"/><Relationship Id="rId35" Type="http://schemas.openxmlformats.org/officeDocument/2006/relationships/slide" Target="slides/slide38.xml"/><Relationship Id="rId36" Type="http://schemas.openxmlformats.org/officeDocument/2006/relationships/slide" Target="slides/slide39.xml"/><Relationship Id="rId37" Type="http://schemas.openxmlformats.org/officeDocument/2006/relationships/slide" Target="slides/slide42.xml"/><Relationship Id="rId38" Type="http://schemas.openxmlformats.org/officeDocument/2006/relationships/slide" Target="slides/slide43.xml"/><Relationship Id="rId39" Type="http://schemas.openxmlformats.org/officeDocument/2006/relationships/slide" Target="slides/slide44.xml"/><Relationship Id="rId40" Type="http://schemas.openxmlformats.org/officeDocument/2006/relationships/slide" Target="slides/slide45.xml"/><Relationship Id="rId41" Type="http://schemas.openxmlformats.org/officeDocument/2006/relationships/slide" Target="slides/slide46.xml"/><Relationship Id="rId42" Type="http://schemas.openxmlformats.org/officeDocument/2006/relationships/slide" Target="slides/slide47.xml"/><Relationship Id="rId43" Type="http://schemas.openxmlformats.org/officeDocument/2006/relationships/slide" Target="slides/slide48.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slide" Target="slides/slide40.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41.xml"/><Relationship Id="rId53" Type="http://schemas.openxmlformats.org/officeDocument/2006/relationships/slide" Target="slides/slide19.xml"/><Relationship Id="rId54"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8925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two-hour session: about 110 minutes of teaching and activity with a 10-minute break at the one-hour mark. There is a Wooclap activity roughly every 20 minutes, so ask students to open Wooclap on their phones now. The aim is to position supply chain management as a core part of operations management rather than a separate subject.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Show this while students arrive and settle. Everyone should join before the opening puzzle, because its four questions run in Wooclap. Event code JXRSLXH. A smaller QR code also sits in the top-right corner of every Wooclap question slide for latecomers.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supply network, not a traced manufacturer supply chain. Component origins vary across models. The cobalt route includes intermediate refining and battery manufacturing, which the map omits for clarity. Material and component routes converge at assembly in China, with finished phones moving to UK distribution. Ask which missing component could delay assembly and whether good supplier performance guarantees availability of finished phones. Map geometry: Natural Earth via world-atlas countries-110m. Phone picture supplied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8B843-9FB2-C10E-AF1A-572C62718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1FD11-2D68-B7CC-F954-B792D0324C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73920-A8D9-0932-060C-3E628E11C882}"/>
              </a:ext>
            </a:extLst>
          </p:cNvPr>
          <p:cNvSpPr>
            <a:spLocks noGrp="1"/>
          </p:cNvSpPr>
          <p:nvPr>
            <p:ph type="body" idx="1"/>
          </p:nvPr>
        </p:nvSpPr>
        <p:spPr/>
        <p:txBody>
          <a:bodyPr/>
          <a:lstStyle/>
          <a:p>
            <a:r>
              <a:t>Illustrative supply network, not a traced manufacturer supply chain. Component origins vary across models. The cobalt route includes intermediate refining and battery manufacturing, which the map omits for clarity. Material and component routes converge at assembly in China, with finished phones moving to UK distribution. Ask which missing component could delay assembly and whether good supplier performance guarantees availability of finished phones. Map geometry: Natural Earth via world-atlas countries-110m. Phone picture supplied by the user.</a:t>
            </a:r>
          </a:p>
        </p:txBody>
      </p:sp>
      <p:sp>
        <p:nvSpPr>
          <p:cNvPr id="4" name="Slide Number Placeholder 3">
            <a:extLst>
              <a:ext uri="{FF2B5EF4-FFF2-40B4-BE49-F238E27FC236}">
                <a16:creationId xmlns:a16="http://schemas.microsoft.com/office/drawing/2014/main" id="{84B88749-5BAE-2BE8-69AF-B3788D27C7A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42651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Link the café to growers, processors, dairy, packaging producers, warehouses and transport providers. Materials move towards the café and customer. Orders, demand data and delivery updates move between partners. Payments connect the commercial transactions. This is an introductory teaching definition.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State the opening argument plainly: the operation (barista, machine, process) was perfect, yet the customer left without a latte, because performance depends on the supply chain around the operation. Every part of today’s session tests this argument: demand amplification (the bullwhip effect), disruption and resilience, and a case where supply is short. We return to the café at the end, before the takeaways. Optional extension: ask whether keeping more stock could create waste, particularly for milk. Core puzzle activity about 9–11 minutes depending on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four outcomes. Outcome 3 is the intellectual core: students should leave able to argue, with evidence, why supply chains fail, rather than just describe how they work. Outcome 4 runs through the case and the Wooclap votes.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classic definitions. Christopher stresses value for the end consumer; Mentzer stresses the flows and that a supply chain needs at least three parties. The bottom box gives the management definition: coordination across organisational boundaries, which is exactly what traditional operations management did inside one firm.</a:t>
            </a:r>
          </a:p>
          <a:p/>
          <a:p>
            <a:r>
              <a:t>MSc DISCUSSION (pairs or think-alone, then take two or three answers): Christopher calls it a network, yet we still say 'chain'. Does the metaphor matter? A chain implies one linear owner and one direction of flow; a network implies many actors with competing interests. Which definition would a supplier in Ghana or Bangladesh write? And does 'right product, right time, right price' reduce SCM to logistics?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Week 1 activity: let’s make a cup of tea or coffee. The green middle panel is classic operations management: ten simple steps the person controls. The two panels highlighted in coral are the supply chain. Sourcing the inputs: none of the equipment or materials were made in this kitchen. Coffee or tea has travelled thousands of miles, the milk a few dozen, and the kettle was probably made overseas. Delivering the output: at home it is handed to a guest, but in a café it might be collected from a mobile order or brought by a delivery rider. Ask: if the milk runs out or the coffee price spikes, can a perfect ten-step process still deliver the output? This links back to the iced oat latte in Wooclap 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picture first: the same operation seen through two lenses. The OM lens zooms in on the transformation process inside one operation; the SCM lens zooms out to see that operation as one node in a network of farms, suppliers, warehouses, stores and customers. Then use the table: the key shift is in the “Control” row. Inside the firm, managers can instruct; across the chain they must persuade, contract and build relationships. That is why governance and power, covered in Lecture 1, matter so much. Close Part 1 by asking whether students agree that firms now compete as supply chains, not as single firms.</a:t>
            </a:r>
          </a:p>
          <a:p/>
          <a:p>
            <a:r>
              <a:t>MSc DISCUSSION (pairs or think-alone, then take two or three answers): If 'supply chains compete, not firms' (Christopher), who actually competes? Foxconn assembles for rival brands, and Maersk ships for everyone. Can a firm belong to several competing chains, and what does that do to trust and information sharing?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downstream as movement towards the final customer and upstream as movement towards suppliers. Materials usually move downstream, while returns, recycling and repair create reverse flows. Information moves both ways: orders and demand signals upstream, and availability, confirmations and tracking downstream. Payments usually move upstream, while refunds and credits can move downstream. Ask students to apply these flows to a coffee shop: beans and cups, an order or stock update, then payment. Follow-up question: when a customer changes an order, how must material allocation, information and payment be coordinated?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Mentzer, J.T., DeWitt, W., Keebler, J.S., Min, S., Nix, N.W., Smith, C.D. and Zacharia, Z.G. (2001). Defining supply chain management. Journal of Business Logistics, 22(2), pp. 1–25. https://doi.org/10.1002/j.2158-1592.2001.tb00001.x . This citation supports the direct, extended and ultimate scope framework. The chains/networks/ecosystems illustration was supplied by the user; its original source has not been established. Combines the concepts from the two supplied figures. Scope is the boundary of analysis relative to a focal organisation: direct includes its immediate supplier and immediate customer; extended includes their immediate suppliers and customers; ultimate includes all organisations involved in upstream and downstream flows, including supporting providers such as finance, logistics and market research. Structure is how actors relate: a chain simplifies sequential links, a network recognises multiple interacting connections, and an ecosystem broadens attention to complementary actors and institutions. Do not treat direct=chain, extended=network, ultimate=ecosystem as exact equivalences or necessary evolutionary stages. Use the mobile phone example to ask which actors disappear when the boundary is drawn narrowly.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tiers. Most firms manage their immediate network well and the total network poorly; risk and sustainability problems tend to sit at tier 2 and beyond, which is why visibility matters so much later in the session.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connects to the Week 5 network design lecture. Stress that these are the most strategic operations decisions because they lock in cost structure and risk exposure for years. Ask: which of the three did the pandemic and recent shipping disruptions force firms to revisit? Most students will say location.</a:t>
            </a:r>
          </a:p>
          <a:p/>
          <a:p>
            <a:r>
              <a:t>MSc DISCUSSION (pairs or think-alone, then take two or three answers): Network design assumes forecasts that hold for ten years or more. In a world of wars, tariffs and pandemics, can long-term design still be optimised, or should firms design for optionality: paying now for the right to switch later (a real-options view)?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performance objectives from earlier to structure the outsourcing decision. Examples: banks outsourcing credit checks, bakers not growing wheat, business process outsourcing of payroll. Note that outsourcing transfers the activity but not the reputational risk, which links to the sustainability lecture.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Single versus multiple sourcing is the classic trade-off between closeness and security. Many firms now use dual sourcing for critical parts as a compromise. Set up the next activity: students will choose between three suppliers and should use these arguments.</a:t>
            </a:r>
          </a:p>
          <a:p/>
          <a:p>
            <a:r>
              <a:t>MSc DISCUSSION (pairs or think-alone, then take two or three answers): Toyota's close single-source partnerships are a celebrated strength, yet its recovery from the 1997 Aisin brake-valve fire came from the wider supplier network, not one partner. Is resilience compatible with deep partnership, or does it require the very redundancy that partnership tries to remove?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Fisher’s framework links product characteristics to supply chain strategy. Mention “leagile” hybrids: lean upstream to a decoupling point, agile downstream (e.g. Zara’s mix of nearshore responsive production and offshore basics). Ask: which would suit Northstar’s motors? Then break.</a:t>
            </a:r>
          </a:p>
          <a:p/>
          <a:p>
            <a:r>
              <a:t>MSc DISCUSSION (pairs or think-alone, then take two or three answers): Where do generic medicines sit in Fisher's matrix? Demand is stable and margins are thin, so 'functional' points to a lean chain, yet a stock-out can harm a patient. Fisher's model ignores criticality. What would you add to it, and who should pay for the extra buffer?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4 minutes. Use this as the hook for the bullwhip. Day 0, Thursday 22 October: the government launched Be Ready, the first stage of a three-year resilience campaign. That evening on BBC Question Time in Scunthorpe, the Defence Secretary, Wes Streeting, told viewers to keep three litres of bottled water per person per day for three days and some tinned food that needs no cooking, and said the government wanted people to be alert but not alarmed. Click the video panel to open Question Time on BBC iPlayer and play the Be Ready answer (cue it up before the lecture; iPlayer needs a UK connection and is signed in with a TV licence). Day 4, Monday 26 October: water and baked beans selling out. Iceland reported tinned product sales up 40% over the weekend; Maplin torch sales up 284% Thursday to Saturday against the same days a month earlier, and its wind-up radio sold out after a fivefold surge in orders; several bottled water brands were out of stock at Ocado, which said it was restocking daily. Booths saw rises too but linked them partly to recent storms. Then play the reel (click the purple panel or scan). The link to the bullwhip: each household needs this stock only once, so real consumption has not changed. But shops only see sales, and sales jumped. If they forecast from the weekend and rebuild safety stock, they order more from bottlers and battery makers, who order more from their suppliers. When cupboards are full, sales fall below normal. Ask: what will the shops do next? Then move to the formal definition, the four causes and the prediction slide.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have just tried to explain the data on the previous slide; name the effect now and compare it with their explanations. The chart is illustrative: the same demand pattern amplified at each stage upstream. Classic examples include Procter and Gamble’s nappies, where consumer demand was stable but orders to suppliers swung widely, and toilet roll shortages in early 2020. If time allows, mention the Beer Game as a classroom simulation. Medicine shortages are a sharper example, covered in the research spotlight that follows. Café link: if the café had ordered extra milk every time it ran out, its dairy would see wild swings in orders while customer demand stayed steady. That is the bullwhip in miniature.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intellectual centre of the session. The three explanations imply different remedies, so the choice matters for policy. Sterman sees bounded rationality; Lee et al. explicitly argue the bullwhip arises from rational decisions within a distorting structure; my PSC research adds power: some distortion is intended because it benefits the actor who controls stock or information. Walk through the three columns yourself; with a large cohort, the vote in Wooclap 4 does the work of a debate. Pose the question of whether all three can be true at once (they can operate at different tiers), then run Wooclap 4.</a:t>
            </a:r>
          </a:p>
          <a:p/>
          <a:p>
            <a:r>
              <a:t>MSc DISCUSSION (pairs or think-alone, then take two or three answers): Which explanation is falsifiable? If we gave every actor perfect data and the bullwhip remained, which theory would that support? Note also that the power explanation implies some actors gain from the bullwhip, so the problem may be deliberate rather than an error.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classic bullwhip framework to my PSC research. In Vann Yaroson et al. (2023), 23 interviews and a survey of 106 stakeholders identified quota systems, information control and price control as power-based behaviours. Three of these map closely onto Lee et al.’s causes. The order-batching row is a teaching link I am drawing, not a direct research finding: say so explicitly. Key message: in medicines, the amplification comes from actors protecting their own position during shortages.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2 minutes, pairs only, no whole-room debate. Ask them to predict, then take two or three answers. Expected answers: once households have their 9 litres and three days of tins, they stop buying, so in November and December sales fall below normal. Supermarkets that rebuilt safety stock from the spike are left with too much; bottlers and battery makers who added shifts see orders collapse; suppliers of bottles, caps and cells, furthest away, see the biggest and latest swing. What could stop the whip: retailers sharing till data with suppliers so everyone sees that the spike is a one-off; not forecasting from the spike; the government's own advice to buy gradually, which smooths demand; staggering campaign messages. Purchase limits help briefly, but can backfire: rationing signals scarcity and can trigger more shortage gaming. Link forward: the simulation lets you test whether visibility tames the whip.</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Ten-minute break at the one-hour mark. The question on screen primes Part 3 and the case in Part 4.</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which trade-off dominates fast fashion? Pharmaceuticals? Fast fashion tends to prioritise responsiveness and cost; pharmaceuticals prioritise quality and resilience of supply. Then move straight to Wooclap 5: if resilience costs money, who should pay for it?</a:t>
            </a:r>
          </a:p>
          <a:p/>
          <a:p>
            <a:r>
              <a:t>MSc DISCUSSION (pairs or think-alone, then take two or three answers): Are these really trade-offs? Local sourcing can cut both risk and emissions, so resilience and sustainability can be complements. And whose costs are we trading? 'Cheap vs ethical' often moves cost onto workers in the Global South rather than removing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right after the trade-offs slide. The argument to draw out: resilience has public-good features. When a shortage is avoided, the benefit spreads across patients, the NHS and competitors, while the cost of spare capacity falls on whoever holds it. So each firm has an incentive to under-invest, especially for low-margin generics (a point in my 2025 evidence to Parliament). Counter-arguments: mandated stock can be inefficient, lock in waste and create moral hazard. Link to policy examples from Redesigning Global Supply Chains: stockholding obligations, due diligence rules and localisation incentives. There is no right answer. Hide results after the first vote, allow 60 seconds of neighbour talk, revote, and comment on any shift; ask one or two students who switched to say why.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event–mechanism–outcome chain to keep discussion analytical. Exposure depends on product, origin, destination and route. Normal Accident Theory: interactive complexity plus tight coupling means shocks interact and spread, for example rerouting delays deplete stock while tariffs constrain alternative sourcing. Check the latest position on Red Sea and Gulf shipping before the lecture. Café link: in the opening puzzle, the delivery van that cannot reach campus is a small-scale version of the same event–mechanism–outcome chain.</a:t>
            </a:r>
          </a:p>
          <a:p/>
          <a:p>
            <a:r>
              <a:t>MSc DISCUSSION (pairs or think-alone, then take two or three answers): Perrow argues that in tightly coupled, complex systems accidents are 'normal'. If so, is the lean, efficient supply chain itself the source of risk, and is every disruption a design choice we made earlier?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weigh delivery speed, freight cost, emissions and reliability. Air and ocean services need road connections at origin and destination. The sea route shown is a schematic teaching corridor around the Cape of Good Hope. An alternative via the Suez Canal may be available depending on carrier and conditions. Do not interpret the air line as an operational flight path. Upstream: cobalt can travel by road to export gateways, then by sea to processing; component suppliers can use air or sea links to assembly, depending on urgency and requirements. Sources: Hapag-Lloyd NE3 Cape network, https://www.hapag-lloyd.com/en/services-information/routes-trades/gemini-cogh/route-finder.html/asia/north_europe/NE3.html ; DHL Multimodal OceanExpress, https://go.freightforwarding.dhl.com/dhl-multimodal-oceanexpress . These establish possible logistics corridors, not the route of a particular phone shipment.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definition retained from the user-supplied slide, with corrected page citation. Tukamuhabwa, B.R., Stevenson, M., Busby, J. and Zorzini, M. (2015). Supply chain resilience: definition, review and theoretical foundations for further study. International Journal of Production Research, 53(18), 5592–5623. Quote on p. 5599. Figure retained unchanged from the user-supplied lecture, which attributes it to Sodhi and Chopra (2014). Full bibliographic details for the figure were not provided. Resistance concerns avoiding or containing disruption impact. Recovery concerns stabilising operations and returning to an operating state. Adaptation means this can be an improved state, rather than an exact return to the past.</a:t>
            </a:r>
          </a:p>
          <a:p/>
          <a:p>
            <a:r>
              <a:t>MSc DISCUSSION (pairs or think-alone, then take two or three answers): Resilience 'to a better state' for whom? A focal firm can look resilient by pushing stock and risk onto smaller suppliers. Should resilience be measured at firm level or at chain level, and could a resilient firm sit inside a fragile chain?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seven dimensions from the supplied table retained, with fuller explanations and minor conceptual corrections. Redundancy means spare resources and options; it can increase holding or capacity costs. Velocity is broader than threat detection and includes response and recovery speed. Visibility applies across supply chains rather than only pharmaceuticals. Trust does not remove the need for verification and governance. Cost-effectiveness evaluates the portfolio of resilience strategies rather than necessarily being a capability itself. Source: Tukamuhabwa, B.R., Stevenson, M., Busby, J. and Zorzini, M. (2015). Supply chain resilience: definition, review and theoretical foundations for further study. International Journal of Production Research, 53(18), 5592–5623. Based on the supplied teaching table, not claimed as a verbatim taxonomy from the article.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levers reappear as funding choices in Wooclap 6. Emphasise matching the lever to the vulnerability: buffers absorb short delays but not prolonged ones; a second supplier helps only if it does not share the same upstream dependency; visibility helps only if someone has the authority and options to act.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Merged from the two supplied slides. Triple bottom line diagram retained from the supplied image. The 4P visual in the source slide is attributed to Kjaer Global; the original publication has not been independently verified. Purpose is presented as a guiding lens and not as an exact synonym for governance. Governance includes the arrangements for oversight, accountability and translating commitments into decisions. Profit is broader than green finance: financial viability, productivity, total cost and long-term investment matter; sustainability-linked finance is one possible enabler. Ask: would you choose a cheaper supplier if its labour conditions are poor? Which of the four Ps helps explain your answer?</a:t>
            </a:r>
          </a:p>
          <a:p/>
          <a:p>
            <a:r>
              <a:t>MSc DISCUSSION (pairs or think-alone, then take two or three answers): Can a supply chain be sustainable if its product is not? A perfectly audited fast-fashion chain still produces garments worn a handful of times. Is sustainability a property of the supply chain or of the business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10R reference: Potting, J., Hekkert, M., Worrell, E. and Hanemaaijer, A. (2017). Circular Economy: Measuring innovation in product chains. PBL Netherlands Environmental Assessment Agency, report 2455. https://www.pbl.nl/en/publications/circular-economy-measuring-innovation-in-product-chains . Circular economy reference: Geissdoerfer, M., Savaget, P., Bocken, N.M.P. and Hultink, E.J. (2017). The Circular Economy – A new sustainability paradigm? Journal of Cleaner Production, 143, 757–768. https://doi.org/10.1016/j.jclepro.2016.12.048 . Supplied illustration retained as a conceptual comparison; its original image source is not established. Recover is energy recovery, typically from incineration with energy capture, and is the lowest-priority strategy in this hierarchy, rather than equivalent to keeping materials circulating. R0–R2 concern smarter use and manufacture, R3–R7 extend product and component life, R8–R9 concern residual materials. This priority is a starting point, with context-specific life-cycle assessment needed. Definitions paraphrased; no direct quote reproduced. Supply chain implications: refuse unnecessary SKUs, rethink sharing and service contracts, reduce input and transport waste, reuse through resale and reverse logistics, repair with spare parts and modular design, refurbish through inspection and upgrading, remanufacture through component recovery and supplier coordination, repurpose through alternative-use markets, recycle through separation and processing, recover residual energy where appropriate. Ask: which R retains most value for a damaged mobile phone?</a:t>
            </a:r>
          </a:p>
          <a:p/>
          <a:p>
            <a:r>
              <a:t>MSc DISCUSSION (pairs or think-alone, then take two or three answers): Recycling sits near the bottom of the 10R ladder, yet it gets most of the attention. Why do firms prefer the lower Rs? Consider who captures value in each R: refuse and rethink threaten sales volume.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compressed version of the digital supply-network framework from Week 5. Keep this brief: the point is that digital tools mainly address the information flow, which is where the bullwhip and slow disruption responses start. Then move to the case.</a:t>
            </a:r>
          </a:p>
          <a:p/>
          <a:p>
            <a:r>
              <a:t>MSc DISCUSSION (pairs or think-alone, then take two or three answers): Visibility for whom? Sharing data shifts power: the actor who sees the whole chain can squeeze the rest. Link to the power-based bullwhip: would wholesalers in your research share stock data with manufacturers who impose quotas?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3 minutes. The landscape has shifted. For decades global supply chains were designed for cost efficiency and scale: make where it is cheapest, ship it worldwide, hold little stock. Over the last decade, after the pandemic, the Suez blockage, wars and tariffs, firms have been redesigning networks to account for risk, sustainability and uncertainty. The result is not the end of globalisation: supply chains are becoming regionalised but interconnected. Firms rebalance global and regional sourcing through nearshoring, multi-regional networks with a hub in each region, deliberate redundancy such as a second supplier or buffer stock, and strategic autonomy over critical goods such as chips, energy and medicines. Why: resilience, sustainability and lower transport emissions, policy incentives, and geopolitical risk. Tie back to examples students have already seen: the chair made in Poland for the UK market; the hoodie in the simulation made in Turkey, 10 days by road; Morocco halting sardine exports to protect its home market; export bans spreading medicine shortages across borders. Link back to the trade-offs slide: regionalising buys resilience but usually costs more. Ask: would you pay 10% more for a hoodie made in Europe?</a:t>
            </a:r>
          </a:p>
          <a:p/>
          <a:p>
            <a:r>
              <a:t>MSc DISCUSSION (pairs or think-alone, then take two or three answers): Does regionalisation reduce risk or concentrate it? Three regional blocs may be less diverse than one global network. And who loses when production comes home: what happens to the economies that built their growth on export manufacturing?</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3 minutes. Six forces are reshaping supply chains, and each makes a demand of them. Regulation and policy demand stricter compliance and reporting; changing consumer demand pushes ethical and transparent sourcing; climate and resource risk call for resilient, low-carbon operations; geopolitical uncertainty drives regional, redundant networks; technology enables digital visibility and innovation, as in the simulation; the circular economy adds reuse, repair and reverse flows. Policy now shapes supply chains, not just market forces: carbon border adjustment mechanisms put a price on carbon in imports; due diligence and sustainability disclosure rules make firms answer for their suppliers; food security policies and localisation incentives pull production home; industrial decarbonisation strategies change how and where things are made. Industry 5.0 is an evolution beyond Industry 4.0. Industry 4.0 emphasised automation, digitalisation and efficiency; Industry 5.0 emphasises human-centric production, sustainability and resilience (Ivanov, 2023; Modgil et al., 2025). In practice that means human–AI collaboration: cobots working alongside people, digital twins for network planning, AI-assisted decision-making, cyber-physical production systems and integrated sustainable manufacturing (Vann Yaroson et al., 2025). Close by asking students to think, not discuss aloud: which driver will matter most in the supply chain they hope to work in. This leads into the case.</a:t>
            </a:r>
          </a:p>
          <a:p/>
          <a:p>
            <a:r>
              <a:t>MSc DISCUSSION (pairs or think-alone, then take two or three answers): Is Industry 5.0 a genuine new paradigm or a policy label, coined by the European Commission in 2021, for what good operations management already aimed at? What evidence would show the difference? And can 'human-centric' survive the business case for AI-driven automation?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reasons drawn from the Week 5 material. Link back to Wooclap 2: whichever objective the class chose, point 1 explains why suppliers matter so much. Point 5 previews Part 2.</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under two minutes, then run the exit ticket.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for the sources cited on the slides. Complete the León-Bravo and Caniato entry from the Lecture 1 reading list.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5 minutes. Wooclap set-up: one poll (A to D) and one open question: 'Which option would your finance director block, and why?' Clothing is something every student buys, so everyone has a view. Let them vote before showing the next slide. Expect many votes for A and B, because transport and distance are what people picture when they think of a supply chain's footprint. The reveal on the next slide: in the McKinsey and Global Fashion Agenda analysis, transport is only about 3% of fashion's emissions; materials and production are about 70% and consumer use (washing, drying) about 20%. So A and B attack the smallest slice; C helps with materials but has its own problems; D is the only option that removes whole garments, and with them all of their production emissions. The finance director answers are the point: D threatens a volume business model, which is why it is rarely chosen. Read out three or four.</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3 minutes. A recent disruption that hit two direct competitors differently. The shock: from late 2023 Houthi attacks on shipping in the Red Sea pushed carriers to avoid the Suez Canal and sail around the Cape of Good Hope; IMF data cited by Fortune showed Suez volumes down about 50% year on year. Inditex, owner of Zara: for decades it has kept a large share of production close to Spain. In 2018 about 57% of its production capacity sat in Spain, Portugal, Morocco and Turkey, supplied by road (The MDS; the share has fallen somewhat since as Inditex has grown in Asia). In March 2024 it reported an average delay of about one week and said its operations had not been significantly impacted; sales from 1 February to 11 March 2024 were up 11%, and full-year sales to January 2024 rose 10.4% to €36 billion, outpacing H&amp;M (Fortune, 15 March 2024). Caveat for students: the annual results cover a whole year, so not all of that is the Red Sea. H&amp;M: sources mainly from Asia for low cost. It postponed some spring/summer campaigns, with delays of up to about two weeks in some markets; it asked suppliers to ship earlier and is expanding nearshoring. CEO Daniel Ervér said the effect on availability was minor. Q1 2024 sales dipped slightly while profit rose on cost cuts (Retail Gazette, March 2024). React: was Zara resilient or lucky? A proximity network costs more every year, and pays off only when long-haul routes fail. Would it help in a European energy crisis or a strike at Spanish ports? This sets up the theory on the next slide.</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4 minutes: 1 minute to introduce the lenses, 2 minutes in pairs, 1 minute to take answers. Resource-based view (Barney, 1991): competitive advantage comes from resources that are valuable, rare, inimitable and non-substitutable. Inditex's proximity network is a resilience resource built over decades: valuable when long-haul sea routes fail, rare among low-cost fashion rivals, and slow to imitate because it takes years to build supplier clusters and logistics around them. H&amp;M announcing more nearshoring in 2024 is evidence that it is trying to imitate. The critical point: the resource is costly in normal years and only valuable for some kinds of shock, so resilience is an advantage that must be paid for in advance. Dynamic capabilities (Teece, Pisano and Shuen, 1997; Teece, 2007): advantage from sensing threats and opportunities, seizing them, and reconfiguring resources. Both firms sensed the Red Sea shock quickly. Zara could seize faster because of daily store data, small and frequent orders, and production options a truck ride away; H&amp;M's responses (asking suppliers to ship earlier, moving campaign launch dates, expanding nearshoring) are sensing and reconfiguring, but slower and from a weaker resource base. Lesson: dynamic capabilities and resources are complements; you can only seize options you have already built. Complex adaptive systems (Choi, Dooley and Rungtusanatham, 2001): supply networks are made of many autonomous firms adapting to each other, so system behaviour emerges and no one controls it. In 2024 thousands of shippers rerouted around the Cape and shipped early. Ships stopped calling at Middle East ports and bunched up at Singapore, cargo stayed in port longer, freight rates rose and the peak shipping season came forward (Bloomberg via gCaptain, 21 June 2024). Each firm acted sensibly; the congestion was an emergent result nobody planned. Answer to the pair question: if every retailer ships early, the extra early demand for ships pushes freight rates and congestion up, so shipping early stops working; that is emergence (CAS), and it is also a bullwhip in shipping capacity. On imitation: once rivals copy a proximity network it stops being rare, so advantage must come from dynamic capabilities, the ability to keep reconfiguring. Full references: Barney, J. (1991) 'Firm resources and sustained competitive advantage', Journal of Management, 17(1), 99–120. Choi, T.Y., Dooley, K.J. and Rungtusanatham, M. (2001) 'Supply networks and complex adaptive systems: control versus emergence', Journal of Operations Management, 19(3), 351–366. Teece, D.J., Pisano, G. and Shuen, A. (1997) 'Dynamic capabilities and strategic management', Strategic Management Journal, 18(7), 509–533. Teece, D.J. (2007) 'Explicating dynamic capabilities', Strategic Management Journal, 28(13), 1319–1350.</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3 minutes. Show the Wooclap results first, then this slide. In McKinsey and Global Fashion Agenda's Fashion on Climate (2020), the fashion industry emitted about 2.1 billion tonnes of greenhouse gases in 2018, about 4% of the global total. Roughly 70% came from materials and production (raw materials 38%, then yarn, fabric preparation, wet processing and drying, and cutting), about 20% from consumer use, and only about 3% each from transport, retail and end of life. A: air freight emits far more per item than sea, so cutting it matters for the few lines flown in, but most clothing already moves by sea. B: nearshoring saves part of a 3% slice; its bigger effect depends on the energy mix of the new factories. Link back to The Changing Landscape slide: the claim that regionalising lowers emissions needs this caveat. C: recycled polyester reduces virgin material use, but most of it comes from plastic bottles rather than old clothes (taking bottles out of a closed bottle-to-bottle loop), and synthetic fibres still shed microplastics. D: the largest cut, because every garment not made avoids its whole production footprint; it is the 'refuse, rethink, reduce' end of the 10R ladder (slide 37). The critical question: if the most effective option threatens the volume business model, can supply chain managers deliver sustainability at all, or is it a strategy and business-model decision? Use the finance director answers from Wooclap here.</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3 minutes. Link back to the cup of tea slide: we looked at sourcing the inputs; this is delivering the output, the final leg to the consumer, and the focus of this week's theme, delivering operations. The last mile runs from the local depot to the customer. It is often the most expensive leg: Capgemini Research Institute (2019) estimated last-mile delivery at about 41% of total logistics supply chain costs, because each stop carries one or two parcels, vans stop and start in traffic, and failed deliveries mean a second trip. Four ways firms deliver the last mile: home delivery (Amazon, Royal Mail, Evri), where cost depends on drop density; lockers and pick-up points, which consolidate many parcels into one stop (InPost reached 12,000 UK lockers in October 2025 and bought Yodel in 2025); click and collect, where the store acts as the depot and the customer does the transport; and rapid on-demand delivery, where riders deliver in minutes. Rapid grocery shows the limits: Getir, which had bought Gorillas, left the UK in April 2024 with about 1,500 jobs at risk; analysts pointed to high costs, small orders from urban dark stores and thin grocery margins once pandemic demand fell (Food Manufacture, 29 April 2024). Ask: which of these do you use most, and which is cheapest for the retailer? Usually the one where the customer does more of the work.</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About 3 minutes, pairs only. The point: delivery is never free; the question is who bears the cost. The customer pays through prices, minimum order values and memberships such as Amazon Prime. Riders and drivers: much of the last mile is done by self-employed couriers paid per drop, which moves demand risk from the firm to the worker. In November 2023 the UK Supreme Court ruled that Deliveroo riders are not in an employment relationship for collective bargaining purposes, ending a seven-year case brought by the IWGB union. The city and the environment: more vans and congestion; failed deliveries and free returns double the trips; faster promises reduce the time to fill a van, so vans run emptier. Lockers and slower, consolidated delivery are the greener options. The firm: about 41% of logistics costs sit in the last mile (Capgemini Research Institute, 2019), and quick commerce such as Getir and Gorillas showed that ultra-fast delivery without density and margin does not pay. MSc point: there is an attitude–behaviour gap. Customers say they care about sustainability and fair work, yet choose next-day delivery and free returns. Should firms design the default (slower, consolidated delivery unless you pay), and is nudging customers legitimate? Link to the trade-offs slide in Part 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E808EE-4888-4E5E-A758-89B1809B707E}" type="datetimeFigureOut">
              <a:rPr lang="en-GB" smtClean="0"/>
              <a:t>26/10/2026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248379965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E808EE-4888-4E5E-A758-89B1809B707E}" type="datetimeFigureOut">
              <a:rPr lang="en-GB" smtClean="0"/>
              <a:t>26/10/2026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265516772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E808EE-4888-4E5E-A758-89B1809B707E}" type="datetimeFigureOut">
              <a:rPr lang="en-GB" smtClean="0"/>
              <a:t>26/10/2026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34256861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E808EE-4888-4E5E-A758-89B1809B707E}" type="datetimeFigureOut">
              <a:rPr lang="en-GB" smtClean="0"/>
              <a:t>26/10/2026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311345269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E808EE-4888-4E5E-A758-89B1809B707E}" type="datetimeFigureOut">
              <a:rPr lang="en-GB" smtClean="0"/>
              <a:t>26/10/2026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182887346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E808EE-4888-4E5E-A758-89B1809B707E}" type="datetimeFigureOut">
              <a:rPr lang="en-GB" smtClean="0"/>
              <a:t>26/10/2026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262124728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E808EE-4888-4E5E-A758-89B1809B707E}" type="datetimeFigureOut">
              <a:rPr lang="en-GB" smtClean="0"/>
              <a:t>26/10/2026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354848556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E808EE-4888-4E5E-A758-89B1809B707E}" type="datetimeFigureOut">
              <a:rPr lang="en-GB" smtClean="0"/>
              <a:t>26/10/2026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276210445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E808EE-4888-4E5E-A758-89B1809B707E}" type="datetimeFigureOut">
              <a:rPr lang="en-GB" smtClean="0"/>
              <a:t>26/10/2026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45313184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E808EE-4888-4E5E-A758-89B1809B707E}" type="datetimeFigureOut">
              <a:rPr lang="en-GB" smtClean="0"/>
              <a:t>26/10/2026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74804412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E808EE-4888-4E5E-A758-89B1809B707E}" type="datetimeFigureOut">
              <a:rPr lang="en-GB" smtClean="0"/>
              <a:t>26/10/2026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B703B51-62E7-400C-859E-A2966DE0A5B8}" type="slidenum">
              <a:rPr lang="en-GB" smtClean="0"/>
              <a:t>‹#›</a:t>
            </a:fld>
            <a:endParaRPr lang="en-GB"/>
          </a:p>
        </p:txBody>
      </p:sp>
    </p:spTree>
    <p:extLst>
      <p:ext uri="{BB962C8B-B14F-4D97-AF65-F5344CB8AC3E}">
        <p14:creationId xmlns:p14="http://schemas.microsoft.com/office/powerpoint/2010/main" val="154806557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6096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440099"/>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333500"/>
            <a:ext cx="10566400" cy="4711700"/>
          </a:xfrm>
          <a:prstGeom prst="rect">
            <a:avLst/>
          </a:prstGeom>
          <a:noFill/>
          <a:ln/>
        </p:spPr>
        <p:txBody>
          <a:bodyPr wrap="square" lIns="0" tIns="0" rIns="0" bIns="0" rtlCol="0" anchor="t"/>
          <a:lstStyle>
            <a:lvl1pPr marL="0" indent="0" algn="l">
              <a:lnSpc>
                <a:spcPct val="140000"/>
              </a:lnSpc>
              <a:buNone/>
              <a:defRPr lang="en-US" sz="1600" dirty="0">
                <a:solidFill>
                  <a:srgbClr val="440099"/>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905227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29310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E808EE-4888-4E5E-A758-89B1809B707E}" type="datetimeFigureOut">
              <a:rPr lang="en-GB" smtClean="0"/>
              <a:t>26/10/2026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703B51-62E7-400C-859E-A2966DE0A5B8}" type="slidenum">
              <a:rPr lang="en-GB" smtClean="0"/>
              <a:t>‹#›</a:t>
            </a:fld>
            <a:endParaRPr lang="en-GB"/>
          </a:p>
        </p:txBody>
      </p:sp>
    </p:spTree>
    <p:extLst>
      <p:ext uri="{BB962C8B-B14F-4D97-AF65-F5344CB8AC3E}">
        <p14:creationId xmlns:p14="http://schemas.microsoft.com/office/powerpoint/2010/main" val="4101030807"/>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8.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18.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hyperlink" Target="https://www.bbc.co.uk/iplayer/episodes/b006t1q9/question-time" TargetMode="External"/><Relationship Id="rId4" Type="http://schemas.openxmlformats.org/officeDocument/2006/relationships/hyperlink" Target="https://www.yahoo.com/news/us/articles/water-baked-beans-sell-public-212221804.html" TargetMode="External"/><Relationship Id="rId5" Type="http://schemas.openxmlformats.org/officeDocument/2006/relationships/hyperlink" Target="https://www.instagram.com/reel/De0Ms8GIws6/" TargetMode="External"/><Relationship Id="rId6"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3F3"/>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2361579" y="1993900"/>
            <a:ext cx="7468842" cy="878814"/>
          </a:xfrm>
          <a:prstGeom prst="rect">
            <a:avLst/>
          </a:prstGeom>
          <a:noFill/>
          <a:ln/>
        </p:spPr>
        <p:txBody>
          <a:bodyPr wrap="square" lIns="0" tIns="0" rIns="0" bIns="0" rtlCol="0" anchor="t">
            <a:normAutofit/>
          </a:bodyPr>
          <a:lstStyle/>
          <a:p>
            <a:pPr marL="0" indent="0" algn="ctr">
              <a:lnSpc>
                <a:spcPts val="3360"/>
              </a:lnSpc>
              <a:buNone/>
            </a:pPr>
            <a:r>
              <a:rPr lang="en-US" sz="2800" b="1" dirty="0">
                <a:solidFill>
                  <a:srgbClr val="440099"/>
                </a:solidFill>
                <a:latin typeface="Arial" pitchFamily="34" charset="0"/>
                <a:ea typeface="Arial" pitchFamily="34" charset="-122"/>
                <a:cs typeface="Arial" pitchFamily="34" charset="-120"/>
              </a:rPr>
              <a:t>Operations and Supply Chain Management</a:t>
            </a:r>
            <a:endParaRPr lang="en-US" sz="2800" dirty="0"/>
          </a:p>
          <a:p>
            <a:pPr marL="0" indent="0" algn="ctr">
              <a:lnSpc>
                <a:spcPts val="3360"/>
              </a:lnSpc>
              <a:buNone/>
            </a:pPr>
            <a:r>
              <a:rPr lang="en-US" sz="2800" b="1" dirty="0">
                <a:solidFill>
                  <a:srgbClr val="440099"/>
                </a:solidFill>
                <a:latin typeface="Arial" pitchFamily="34" charset="0"/>
                <a:ea typeface="Arial" pitchFamily="34" charset="-122"/>
                <a:cs typeface="Arial" pitchFamily="34" charset="-120"/>
              </a:rPr>
              <a:t>MGT6046</a:t>
            </a:r>
            <a:endParaRPr lang="en-US" sz="2800" dirty="0"/>
          </a:p>
        </p:txBody>
      </p:sp>
      <p:sp>
        <p:nvSpPr>
          <p:cNvPr id="4" name="Text 1"/>
          <p:cNvSpPr>
            <a:spLocks noGrp="1"/>
          </p:cNvSpPr>
          <p:nvPr>
            <p:ph type="title"/>
          </p:nvPr>
        </p:nvSpPr>
        <p:spPr>
          <a:xfrm>
            <a:off x="1836841" y="3101314"/>
            <a:ext cx="8518252" cy="1143000"/>
          </a:xfrm>
          <a:prstGeom prst="rect">
            <a:avLst/>
          </a:prstGeom>
          <a:noFill/>
          <a:ln/>
        </p:spPr>
        <p:txBody>
          <a:bodyPr wrap="square" lIns="0" tIns="0" rIns="0" bIns="0" rtlCol="0" anchor="t">
            <a:normAutofit/>
          </a:bodyPr>
          <a:lstStyle/>
          <a:p>
            <a:pPr marL="0" indent="0" algn="ctr">
              <a:lnSpc>
                <a:spcPts val="4400"/>
              </a:lnSpc>
              <a:buNone/>
            </a:pPr>
            <a:r>
              <a:rPr lang="en-US" sz="4000" b="1" i="0" dirty="0">
                <a:solidFill>
                  <a:srgbClr val="131E29"/>
                </a:solidFill>
                <a:latin typeface="Arial" pitchFamily="34" charset="0"/>
                <a:ea typeface="Arial" pitchFamily="34" charset="-122"/>
                <a:cs typeface="Arial" pitchFamily="34" charset="-120"/>
              </a:rPr>
              <a:t>Supply Chain Management and its</a:t>
            </a:r>
            <a:endParaRPr lang="en-US" sz="4000" dirty="0"/>
          </a:p>
          <a:p>
            <a:pPr marL="0" indent="0" algn="ctr">
              <a:lnSpc>
                <a:spcPts val="4400"/>
              </a:lnSpc>
              <a:buNone/>
            </a:pPr>
            <a:r>
              <a:rPr lang="en-US" sz="4000" b="1" i="0" dirty="0">
                <a:solidFill>
                  <a:srgbClr val="131E29"/>
                </a:solidFill>
                <a:latin typeface="Arial" pitchFamily="34" charset="0"/>
                <a:ea typeface="Arial" pitchFamily="34" charset="-122"/>
                <a:cs typeface="Arial" pitchFamily="34" charset="-120"/>
              </a:rPr>
              <a:t>Role in Operations Management</a:t>
            </a:r>
            <a:endParaRPr lang="en-US" sz="4000" dirty="0"/>
          </a:p>
        </p:txBody>
      </p:sp>
      <p:sp>
        <p:nvSpPr>
          <p:cNvPr id="5" name="Text 2"/>
          <p:cNvSpPr/>
          <p:nvPr/>
        </p:nvSpPr>
        <p:spPr>
          <a:xfrm>
            <a:off x="4217042" y="4472914"/>
            <a:ext cx="3757851"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440099"/>
                </a:solidFill>
                <a:latin typeface="Arial" pitchFamily="34" charset="0"/>
                <a:ea typeface="Arial" pitchFamily="34" charset="-122"/>
                <a:cs typeface="Arial" pitchFamily="34" charset="-120"/>
              </a:rPr>
              <a:t>Dr Emilia Vann Yaroson</a:t>
            </a:r>
            <a:endParaRPr lang="en-US" sz="2200" dirty="0"/>
          </a:p>
        </p:txBody>
      </p:sp>
      <p:pic>
        <p:nvPicPr>
          <p:cNvPr id="6" name="Image 1" descr="University of Sheffield logo"/>
          <p:cNvPicPr>
            <a:picLocks noChangeAspect="1"/>
          </p:cNvPicPr>
          <p:nvPr/>
        </p:nvPicPr>
        <p:blipFill>
          <a:blip r:embed="rId4"/>
          <a:srcRect t="-235" b="-235"/>
          <a:stretch/>
        </p:blipFill>
        <p:spPr>
          <a:xfrm>
            <a:off x="812800" y="5588000"/>
            <a:ext cx="2667000" cy="812800"/>
          </a:xfrm>
          <a:prstGeom prst="rect">
            <a:avLst/>
          </a:prstGeom>
        </p:spPr>
      </p:pic>
      <p:pic>
        <p:nvPicPr>
          <p:cNvPr id="7" name="Image 2" descr="A World Top 100 University"/>
          <p:cNvPicPr>
            <a:picLocks noChangeAspect="1"/>
          </p:cNvPicPr>
          <p:nvPr/>
        </p:nvPicPr>
        <p:blipFill>
          <a:blip r:embed="rId5"/>
          <a:srcRect l="-338" r="-338"/>
          <a:stretch/>
        </p:blipFill>
        <p:spPr>
          <a:xfrm>
            <a:off x="9093200" y="5562600"/>
            <a:ext cx="2286000" cy="838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3000" dirty="0" b="1">
                <a:solidFill>
                  <a:srgbClr val="440099"/>
                </a:solidFill>
                <a:latin typeface="Arial"/>
                <a:cs typeface="Arial"/>
              </a:rPr>
              <a:t>Module Outline</a:t>
            </a:r>
          </a:p>
        </p:txBody>
      </p:sp>
      <p:cxnSp>
        <p:nvCxnSpPr>
          <p:cNvPr id="4" name="Line 4"/>
          <p:cNvCxnSpPr/>
          <p:nvPr/>
        </p:nvCxnSpPr>
        <p:spPr>
          <a:xfrm>
            <a:off x="457200" y="960120"/>
            <a:ext cx="11274552" cy="0"/>
          </a:xfrm>
          <a:prstGeom prst="line">
            <a:avLst/>
          </a:prstGeom>
          <a:ln w="15875">
            <a:solidFill>
              <a:srgbClr val="5B2C91"/>
            </a:solidFill>
          </a:ln>
        </p:spPr>
      </p:cxnSp>
      <p:graphicFrame>
        <p:nvGraphicFramePr>
          <p:cNvPr id="5" name="Module outline 5"/>
          <p:cNvGraphicFramePr>
            <a:graphicFrameLocks noGrp="1"/>
          </p:cNvGraphicFramePr>
          <p:nvPr>
            <p:extLst>
              <p:ext uri="{D42A27DB-BD31-4B8C-83A1-F6EECF244321}">
                <p14:modId xmlns:p14="http://schemas.microsoft.com/office/powerpoint/2010/main" val="3056621271"/>
              </p:ext>
            </p:extLst>
          </p:nvPr>
        </p:nvGraphicFramePr>
        <p:xfrm>
          <a:off x="457200" y="1143000"/>
          <a:ext cx="11274552" cy="5283200"/>
        </p:xfrm>
        <a:graphic>
          <a:graphicData uri="http://schemas.openxmlformats.org/drawingml/2006/table">
            <a:tbl>
              <a:tblPr firstRow="1"/>
              <a:tblGrid>
                <a:gridCol w="6858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5010912">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411480">
                <a:tc>
                  <a:txBody>
                    <a:bodyPr/>
                    <a:lstStyle/>
                    <a:p>
                      <a:pPr marL="0" indent="0" algn="l">
                        <a:spcBef>
                          <a:spcPts val="0"/>
                        </a:spcBef>
                        <a:spcAft>
                          <a:spcPts val="0"/>
                        </a:spcAft>
                        <a:buNone/>
                      </a:pPr>
                      <a:r>
                        <a:rPr lang="en-GB" sz="1500" b="1" dirty="0">
                          <a:solidFill>
                            <a:srgbClr val="FFFFFF"/>
                          </a:solidFill>
                          <a:latin typeface="Arial"/>
                          <a:cs typeface="Arial"/>
                        </a:rPr>
                        <a:t>Wk</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tc>
                  <a:txBody>
                    <a:bodyPr/>
                    <a:lstStyle/>
                    <a:p>
                      <a:pPr marL="0" indent="0" algn="l">
                        <a:spcBef>
                          <a:spcPts val="0"/>
                        </a:spcBef>
                        <a:spcAft>
                          <a:spcPts val="0"/>
                        </a:spcAft>
                        <a:buNone/>
                      </a:pPr>
                      <a:r>
                        <a:rPr lang="en-GB" sz="1500" b="1" dirty="0">
                          <a:solidFill>
                            <a:srgbClr val="FFFFFF"/>
                          </a:solidFill>
                          <a:latin typeface="Arial"/>
                          <a:cs typeface="Arial"/>
                        </a:rPr>
                        <a:t>Starts</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tc>
                  <a:txBody>
                    <a:bodyPr/>
                    <a:lstStyle/>
                    <a:p>
                      <a:pPr marL="0" indent="0" algn="l">
                        <a:spcBef>
                          <a:spcPts val="0"/>
                        </a:spcBef>
                        <a:spcAft>
                          <a:spcPts val="0"/>
                        </a:spcAft>
                        <a:buNone/>
                      </a:pPr>
                      <a:r>
                        <a:rPr lang="en-GB" sz="1500" b="1" dirty="0">
                          <a:solidFill>
                            <a:srgbClr val="FFFFFF"/>
                          </a:solidFill>
                          <a:latin typeface="Arial"/>
                          <a:cs typeface="Arial"/>
                        </a:rPr>
                        <a:t>4D</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tc>
                  <a:txBody>
                    <a:bodyPr/>
                    <a:lstStyle/>
                    <a:p>
                      <a:pPr marL="0" indent="0" algn="l">
                        <a:spcBef>
                          <a:spcPts val="0"/>
                        </a:spcBef>
                        <a:spcAft>
                          <a:spcPts val="0"/>
                        </a:spcAft>
                        <a:buNone/>
                      </a:pPr>
                      <a:r>
                        <a:rPr lang="en-GB" sz="1500" b="1" dirty="0">
                          <a:solidFill>
                            <a:srgbClr val="FFFFFF"/>
                          </a:solidFill>
                          <a:latin typeface="Arial"/>
                          <a:cs typeface="Arial"/>
                        </a:rPr>
                        <a:t>Lecture</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tc>
                  <a:txBody>
                    <a:bodyPr/>
                    <a:lstStyle/>
                    <a:p>
                      <a:pPr marL="0" indent="0" algn="l">
                        <a:spcBef>
                          <a:spcPts val="0"/>
                        </a:spcBef>
                        <a:spcAft>
                          <a:spcPts val="0"/>
                        </a:spcAft>
                        <a:buNone/>
                      </a:pPr>
                      <a:r>
                        <a:rPr lang="en-GB" sz="1500" b="1" dirty="0">
                          <a:solidFill>
                            <a:srgbClr val="FFFFFF"/>
                          </a:solidFill>
                          <a:latin typeface="Arial"/>
                          <a:cs typeface="Arial"/>
                        </a:rPr>
                        <a:t>Tutorial</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extLst>
                  <a:ext uri="{0D108BD9-81ED-4DB2-BD59-A6C34878D82A}">
                    <a16:rowId xmlns:a16="http://schemas.microsoft.com/office/drawing/2014/main" val="10000"/>
                  </a:ext>
                </a:extLst>
              </a:tr>
              <a:tr h="786384">
                <a:tc>
                  <a:txBody>
                    <a:bodyPr/>
                    <a:lstStyle/>
                    <a:p>
                      <a:pPr marL="0" indent="0" algn="ctr">
                        <a:spcBef>
                          <a:spcPts val="0"/>
                        </a:spcBef>
                        <a:spcAft>
                          <a:spcPts val="0"/>
                        </a:spcAft>
                        <a:buNone/>
                      </a:pPr>
                      <a:r>
                        <a:rPr lang="en-GB" sz="1600" b="1" dirty="0">
                          <a:solidFill>
                            <a:srgbClr val="131E29"/>
                          </a:solidFill>
                          <a:latin typeface="Arial"/>
                          <a:cs typeface="Arial"/>
                        </a:rPr>
                        <a:t>1</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28 Sep 2026</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Develop</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100"/>
                        </a:spcAft>
                        <a:buNone/>
                      </a:pPr>
                      <a:r>
                        <a:rPr lang="en-GB" sz="1400" b="1" dirty="0">
                          <a:solidFill>
                            <a:srgbClr val="131E29"/>
                          </a:solidFill>
                          <a:latin typeface="Arial"/>
                          <a:cs typeface="Arial"/>
                        </a:rPr>
                        <a:t>Operations and Supply Chain Management Foundations</a:t>
                      </a:r>
                    </a:p>
                    <a:p>
                      <a:pPr marL="0" indent="0" algn="l">
                        <a:spcBef>
                          <a:spcPts val="0"/>
                        </a:spcBef>
                        <a:spcAft>
                          <a:spcPts val="0"/>
                        </a:spcAft>
                        <a:buNone/>
                      </a:pPr>
                      <a:r>
                        <a:rPr lang="en-GB" sz="1100" dirty="0">
                          <a:solidFill>
                            <a:srgbClr val="5E6977"/>
                          </a:solidFill>
                          <a:latin typeface="Arial"/>
                          <a:cs typeface="Arial"/>
                        </a:rPr>
                        <a:t>Operations strategy, performance objectives, interdependencies and customer value.</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0"/>
                        </a:spcAft>
                        <a:buNone/>
                      </a:pPr>
                      <a:r>
                        <a:rPr lang="en-GB" sz="1100" dirty="0">
                          <a:solidFill>
                            <a:srgbClr val="131E29"/>
                          </a:solidFill>
                          <a:latin typeface="Arial"/>
                          <a:cs typeface="Arial"/>
                        </a:rPr>
                        <a:t>No tutorial</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1"/>
                  </a:ext>
                </a:extLst>
              </a:tr>
              <a:tr h="786384">
                <a:tc>
                  <a:txBody>
                    <a:bodyPr/>
                    <a:lstStyle/>
                    <a:p>
                      <a:pPr marL="0" indent="0" algn="ctr">
                        <a:spcBef>
                          <a:spcPts val="0"/>
                        </a:spcBef>
                        <a:spcAft>
                          <a:spcPts val="0"/>
                        </a:spcAft>
                        <a:buNone/>
                      </a:pPr>
                      <a:r>
                        <a:rPr lang="en-GB" sz="1600" b="1" dirty="0">
                          <a:solidFill>
                            <a:srgbClr val="131E29"/>
                          </a:solidFill>
                          <a:latin typeface="Arial"/>
                          <a:cs typeface="Arial"/>
                        </a:rPr>
                        <a:t>2</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5 Oct 2026</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Develop</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100"/>
                        </a:spcAft>
                        <a:buNone/>
                      </a:pPr>
                      <a:r>
                        <a:rPr lang="en-GB" sz="1400" b="1" dirty="0">
                          <a:solidFill>
                            <a:srgbClr val="131E29"/>
                          </a:solidFill>
                          <a:latin typeface="Arial"/>
                          <a:cs typeface="Arial"/>
                        </a:rPr>
                        <a:t>Capacity, Utilisation, Efficiency and Little’s Law</a:t>
                      </a:r>
                    </a:p>
                    <a:p>
                      <a:pPr marL="0" indent="0" algn="l">
                        <a:spcBef>
                          <a:spcPts val="0"/>
                        </a:spcBef>
                        <a:spcAft>
                          <a:spcPts val="0"/>
                        </a:spcAft>
                        <a:buNone/>
                      </a:pPr>
                      <a:r>
                        <a:rPr lang="en-GB" sz="1100" dirty="0">
                          <a:solidFill>
                            <a:srgbClr val="5E6977"/>
                          </a:solidFill>
                          <a:latin typeface="Arial"/>
                          <a:cs typeface="Arial"/>
                        </a:rPr>
                        <a:t>Design and effective capacity, utilisation, efficiency, WIP, throughput, flow time and demand–capacity relationships.</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100" dirty="0">
                          <a:solidFill>
                            <a:srgbClr val="131E29"/>
                          </a:solidFill>
                          <a:latin typeface="Arial"/>
                          <a:cs typeface="Arial"/>
                        </a:rPr>
                        <a:t>No tutorial</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extLst>
                  <a:ext uri="{0D108BD9-81ED-4DB2-BD59-A6C34878D82A}">
                    <a16:rowId xmlns:a16="http://schemas.microsoft.com/office/drawing/2014/main" val="10002"/>
                  </a:ext>
                </a:extLst>
              </a:tr>
              <a:tr h="786384">
                <a:tc>
                  <a:txBody>
                    <a:bodyPr/>
                    <a:lstStyle/>
                    <a:p>
                      <a:pPr marL="0" indent="0" algn="ctr">
                        <a:spcBef>
                          <a:spcPts val="0"/>
                        </a:spcBef>
                        <a:spcAft>
                          <a:spcPts val="0"/>
                        </a:spcAft>
                        <a:buNone/>
                      </a:pPr>
                      <a:r>
                        <a:rPr lang="en-GB" sz="1600" b="1" dirty="0">
                          <a:solidFill>
                            <a:srgbClr val="131E29"/>
                          </a:solidFill>
                          <a:latin typeface="Arial"/>
                          <a:cs typeface="Arial"/>
                        </a:rPr>
                        <a:t>3</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12 Oct 2026</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Design</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100"/>
                        </a:spcAft>
                        <a:buNone/>
                      </a:pPr>
                      <a:r>
                        <a:rPr lang="en-GB" sz="1400" b="1" dirty="0">
                          <a:solidFill>
                            <a:srgbClr val="131E29"/>
                          </a:solidFill>
                          <a:latin typeface="Arial"/>
                          <a:cs typeface="Arial"/>
                        </a:rPr>
                        <a:t>Productivity, Throughput and Service Failure Analysis</a:t>
                      </a:r>
                    </a:p>
                    <a:p>
                      <a:pPr marL="0" indent="0" algn="l">
                        <a:spcBef>
                          <a:spcPts val="0"/>
                        </a:spcBef>
                        <a:spcAft>
                          <a:spcPts val="0"/>
                        </a:spcAft>
                        <a:buNone/>
                      </a:pPr>
                      <a:r>
                        <a:rPr lang="en-GB" sz="1100" dirty="0">
                          <a:solidFill>
                            <a:srgbClr val="5E6977"/>
                          </a:solidFill>
                          <a:latin typeface="Arial"/>
                          <a:cs typeface="Arial"/>
                        </a:rPr>
                        <a:t>Productivity, throughput efficiency, waiting, delays, capacity–demand mismatch and service failure, using operational and ERP data.</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100" dirty="0">
                          <a:solidFill>
                            <a:srgbClr val="131E29"/>
                          </a:solidFill>
                          <a:latin typeface="Arial"/>
                          <a:cs typeface="Arial"/>
                        </a:rPr>
                        <a:t>Tutorial 1: applying Week 2 (capacity, utilisation, efficiency, Little’s Law, WIP, servers, strategy)</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extLst>
                  <a:ext uri="{0D108BD9-81ED-4DB2-BD59-A6C34878D82A}">
                    <a16:rowId xmlns:a16="http://schemas.microsoft.com/office/drawing/2014/main" val="10003"/>
                  </a:ext>
                </a:extLst>
              </a:tr>
              <a:tr h="786384">
                <a:tc>
                  <a:txBody>
                    <a:bodyPr/>
                    <a:lstStyle/>
                    <a:p>
                      <a:pPr marL="0" indent="0" algn="ctr">
                        <a:spcBef>
                          <a:spcPts val="0"/>
                        </a:spcBef>
                        <a:spcAft>
                          <a:spcPts val="0"/>
                        </a:spcAft>
                        <a:buNone/>
                      </a:pPr>
                      <a:r>
                        <a:rPr lang="en-GB" sz="1600" b="1" dirty="0">
                          <a:solidFill>
                            <a:srgbClr val="131E29"/>
                          </a:solidFill>
                          <a:latin typeface="Arial"/>
                          <a:cs typeface="Arial"/>
                        </a:rPr>
                        <a:t>4</a:t>
                      </a:r>
                    </a:p>
                  </a:txBody>
                  <a:tcPr marR="73152" marT="36576" marB="36576" anchor="ctr">
                    <a:lnL w="9525">
                      <a:solidFill>
                        <a:srgbClr val="D9D9D9"/>
                      </a:solidFill>
                    </a:lnL>
                    <a:lnR w="9525">
                      <a:solidFill>
                        <a:srgbClr val="D9D9D9"/>
                      </a:solidFill>
                    </a:lnR>
                    <a:lnT w="9525">
                      <a:solidFill>
                        <a:srgbClr val="D9D9D9"/>
                      </a:solidFill>
                    </a:lnT>
                    <a:lnB w="25400">
                      <a:solidFill>
                        <a:srgbClr val="5B2C91"/>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19 Oct 2026</a:t>
                      </a:r>
                    </a:p>
                  </a:txBody>
                  <a:tcPr marR="73152" marT="36576" marB="36576" anchor="ctr">
                    <a:lnL w="9525">
                      <a:solidFill>
                        <a:srgbClr val="D9D9D9"/>
                      </a:solidFill>
                    </a:lnL>
                    <a:lnR w="9525">
                      <a:solidFill>
                        <a:srgbClr val="D9D9D9"/>
                      </a:solidFill>
                    </a:lnR>
                    <a:lnT w="9525">
                      <a:solidFill>
                        <a:srgbClr val="D9D9D9"/>
                      </a:solidFill>
                    </a:lnT>
                    <a:lnB w="25400">
                      <a:solidFill>
                        <a:srgbClr val="5B2C91"/>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Design</a:t>
                      </a:r>
                    </a:p>
                  </a:txBody>
                  <a:tcPr marR="73152" marT="36576" marB="36576" anchor="ctr">
                    <a:lnL w="9525">
                      <a:solidFill>
                        <a:srgbClr val="D9D9D9"/>
                      </a:solidFill>
                    </a:lnL>
                    <a:lnR w="9525">
                      <a:solidFill>
                        <a:srgbClr val="D9D9D9"/>
                      </a:solidFill>
                    </a:lnR>
                    <a:lnT w="9525">
                      <a:solidFill>
                        <a:srgbClr val="D9D9D9"/>
                      </a:solidFill>
                    </a:lnT>
                    <a:lnB w="25400">
                      <a:solidFill>
                        <a:srgbClr val="5B2C91"/>
                      </a:solidFill>
                    </a:lnB>
                    <a:solidFill>
                      <a:srgbClr val="FFFFFF"/>
                    </a:solidFill>
                  </a:tcPr>
                </a:tc>
                <a:tc>
                  <a:txBody>
                    <a:bodyPr/>
                    <a:lstStyle/>
                    <a:p>
                      <a:pPr marL="0" indent="0" algn="l">
                        <a:spcBef>
                          <a:spcPts val="0"/>
                        </a:spcBef>
                        <a:spcAft>
                          <a:spcPts val="100"/>
                        </a:spcAft>
                        <a:buNone/>
                      </a:pPr>
                      <a:r>
                        <a:rPr lang="en-GB" sz="1400" b="1" dirty="0">
                          <a:solidFill>
                            <a:srgbClr val="131E29"/>
                          </a:solidFill>
                          <a:latin typeface="Arial"/>
                          <a:cs typeface="Arial"/>
                        </a:rPr>
                        <a:t>Designing Operations: Theory of Constraints, Line Balancing, ERP and Digitalisation</a:t>
                      </a:r>
                    </a:p>
                    <a:p>
                      <a:pPr marL="0" indent="0" algn="l">
                        <a:spcBef>
                          <a:spcPts val="0"/>
                        </a:spcBef>
                        <a:spcAft>
                          <a:spcPts val="0"/>
                        </a:spcAft>
                        <a:buNone/>
                      </a:pPr>
                      <a:r>
                        <a:rPr lang="en-GB" sz="1100" dirty="0">
                          <a:solidFill>
                            <a:srgbClr val="5E6977"/>
                          </a:solidFill>
                          <a:latin typeface="Arial"/>
                          <a:cs typeface="Arial"/>
                        </a:rPr>
                        <a:t>Bottlenecks, cycle time, line balancing, ERP, automation, AI, IoT and real-time visibility.</a:t>
                      </a:r>
                    </a:p>
                  </a:txBody>
                  <a:tcPr marR="73152" marT="36576" marB="36576" anchor="ctr">
                    <a:lnL w="9525">
                      <a:solidFill>
                        <a:srgbClr val="D9D9D9"/>
                      </a:solidFill>
                    </a:lnL>
                    <a:lnR w="9525">
                      <a:solidFill>
                        <a:srgbClr val="D9D9D9"/>
                      </a:solidFill>
                    </a:lnR>
                    <a:lnT w="9525">
                      <a:solidFill>
                        <a:srgbClr val="D9D9D9"/>
                      </a:solidFill>
                    </a:lnT>
                    <a:lnB w="25400">
                      <a:solidFill>
                        <a:srgbClr val="5B2C91"/>
                      </a:solidFill>
                    </a:lnB>
                    <a:solidFill>
                      <a:srgbClr val="FFFFFF"/>
                    </a:solidFill>
                  </a:tcPr>
                </a:tc>
                <a:tc>
                  <a:txBody>
                    <a:bodyPr/>
                    <a:lstStyle/>
                    <a:p>
                      <a:pPr marL="0" indent="0" algn="l">
                        <a:spcBef>
                          <a:spcPts val="0"/>
                        </a:spcBef>
                        <a:spcAft>
                          <a:spcPts val="0"/>
                        </a:spcAft>
                        <a:buNone/>
                      </a:pPr>
                      <a:r>
                        <a:rPr lang="en-GB" sz="1100" dirty="0">
                          <a:solidFill>
                            <a:srgbClr val="131E29"/>
                          </a:solidFill>
                          <a:latin typeface="Arial"/>
                          <a:cs typeface="Arial"/>
                        </a:rPr>
                        <a:t>No tutorial</a:t>
                      </a:r>
                    </a:p>
                  </a:txBody>
                  <a:tcPr marR="73152" marT="36576" marB="36576" anchor="ctr">
                    <a:lnL w="9525">
                      <a:solidFill>
                        <a:srgbClr val="D9D9D9"/>
                      </a:solidFill>
                    </a:lnL>
                    <a:lnR w="9525">
                      <a:solidFill>
                        <a:srgbClr val="D9D9D9"/>
                      </a:solidFill>
                    </a:lnR>
                    <a:lnT w="9525">
                      <a:solidFill>
                        <a:srgbClr val="D9D9D9"/>
                      </a:solidFill>
                    </a:lnT>
                    <a:lnB w="25400">
                      <a:solidFill>
                        <a:srgbClr val="5B2C91"/>
                      </a:solidFill>
                    </a:lnB>
                    <a:solidFill>
                      <a:srgbClr val="FFFFFF"/>
                    </a:solidFill>
                  </a:tcPr>
                </a:tc>
                <a:extLst>
                  <a:ext uri="{0D108BD9-81ED-4DB2-BD59-A6C34878D82A}">
                    <a16:rowId xmlns:a16="http://schemas.microsoft.com/office/drawing/2014/main" val="10004"/>
                  </a:ext>
                </a:extLst>
              </a:tr>
              <a:tr h="786384">
                <a:tc>
                  <a:txBody>
                    <a:bodyPr/>
                    <a:lstStyle/>
                    <a:p>
                      <a:pPr marL="0" indent="0" algn="ctr">
                        <a:spcBef>
                          <a:spcPts val="0"/>
                        </a:spcBef>
                        <a:spcAft>
                          <a:spcPts val="0"/>
                        </a:spcAft>
                        <a:buNone/>
                      </a:pPr>
                      <a:r>
                        <a:rPr lang="en-GB" sz="1600" b="1" dirty="0">
                          <a:solidFill>
                            <a:srgbClr val="5B2C91"/>
                          </a:solidFill>
                          <a:latin typeface="Arial"/>
                          <a:cs typeface="Arial"/>
                        </a:rPr>
                        <a:t>5</a:t>
                      </a:r>
                    </a:p>
                  </a:txBody>
                  <a:tcPr marR="73152" marT="36576" marB="36576" anchor="ctr">
                    <a:lnL w="25400">
                      <a:solidFill>
                        <a:srgbClr val="5B2C91"/>
                      </a:solidFill>
                    </a:lnL>
                    <a:lnR w="25400">
                      <a:solidFill>
                        <a:srgbClr val="5B2C91"/>
                      </a:solidFill>
                    </a:lnR>
                    <a:lnT w="25400">
                      <a:solidFill>
                        <a:srgbClr val="5B2C91"/>
                      </a:solidFill>
                    </a:lnT>
                    <a:lnB w="25400">
                      <a:solidFill>
                        <a:srgbClr val="5B2C91"/>
                      </a:solidFill>
                    </a:lnB>
                    <a:solidFill>
                      <a:srgbClr val="EBE1F5"/>
                    </a:solidFill>
                  </a:tcPr>
                </a:tc>
                <a:tc>
                  <a:txBody>
                    <a:bodyPr/>
                    <a:lstStyle/>
                    <a:p>
                      <a:pPr marL="0" indent="0" algn="l">
                        <a:spcBef>
                          <a:spcPts val="0"/>
                        </a:spcBef>
                        <a:spcAft>
                          <a:spcPts val="0"/>
                        </a:spcAft>
                        <a:buNone/>
                      </a:pPr>
                      <a:r>
                        <a:rPr lang="en-GB" sz="1300" b="1" dirty="0">
                          <a:solidFill>
                            <a:srgbClr val="5B2C91"/>
                          </a:solidFill>
                          <a:latin typeface="Arial"/>
                          <a:cs typeface="Arial"/>
                        </a:rPr>
                        <a:t>26 Oct 2026</a:t>
                      </a:r>
                    </a:p>
                  </a:txBody>
                  <a:tcPr marR="73152" marT="36576" marB="36576" anchor="ctr">
                    <a:lnL w="25400">
                      <a:solidFill>
                        <a:srgbClr val="5B2C91"/>
                      </a:solidFill>
                    </a:lnL>
                    <a:lnR w="25400">
                      <a:solidFill>
                        <a:srgbClr val="5B2C91"/>
                      </a:solidFill>
                    </a:lnR>
                    <a:lnT w="25400">
                      <a:solidFill>
                        <a:srgbClr val="5B2C91"/>
                      </a:solidFill>
                    </a:lnT>
                    <a:lnB w="25400">
                      <a:solidFill>
                        <a:srgbClr val="5B2C91"/>
                      </a:solidFill>
                    </a:lnB>
                    <a:solidFill>
                      <a:srgbClr val="EBE1F5"/>
                    </a:solidFill>
                  </a:tcPr>
                </a:tc>
                <a:tc>
                  <a:txBody>
                    <a:bodyPr/>
                    <a:lstStyle/>
                    <a:p>
                      <a:pPr marL="0" indent="0" algn="l">
                        <a:spcBef>
                          <a:spcPts val="0"/>
                        </a:spcBef>
                        <a:spcAft>
                          <a:spcPts val="0"/>
                        </a:spcAft>
                        <a:buNone/>
                      </a:pPr>
                      <a:r>
                        <a:rPr lang="en-GB" sz="1300" b="1" dirty="0">
                          <a:solidFill>
                            <a:srgbClr val="5B2C91"/>
                          </a:solidFill>
                          <a:latin typeface="Arial"/>
                          <a:cs typeface="Arial"/>
                        </a:rPr>
                        <a:t>Delivering operations</a:t>
                      </a:r>
                    </a:p>
                  </a:txBody>
                  <a:tcPr marR="73152" marT="36576" marB="36576" anchor="ctr">
                    <a:lnL w="25400">
                      <a:solidFill>
                        <a:srgbClr val="5B2C91"/>
                      </a:solidFill>
                    </a:lnL>
                    <a:lnR w="25400">
                      <a:solidFill>
                        <a:srgbClr val="5B2C91"/>
                      </a:solidFill>
                    </a:lnR>
                    <a:lnT w="25400">
                      <a:solidFill>
                        <a:srgbClr val="5B2C91"/>
                      </a:solidFill>
                    </a:lnT>
                    <a:lnB w="25400">
                      <a:solidFill>
                        <a:srgbClr val="5B2C91"/>
                      </a:solidFill>
                    </a:lnB>
                    <a:solidFill>
                      <a:srgbClr val="EBE1F5"/>
                    </a:solidFill>
                  </a:tcPr>
                </a:tc>
                <a:tc>
                  <a:txBody>
                    <a:bodyPr/>
                    <a:lstStyle/>
                    <a:p>
                      <a:pPr marL="0" indent="0" algn="l">
                        <a:spcBef>
                          <a:spcPts val="0"/>
                        </a:spcBef>
                        <a:spcAft>
                          <a:spcPts val="100"/>
                        </a:spcAft>
                        <a:buNone/>
                      </a:pPr>
                      <a:r>
                        <a:rPr lang="en-GB" sz="1400" b="1" dirty="0">
                          <a:solidFill>
                            <a:srgbClr val="5B2C91"/>
                          </a:solidFill>
                          <a:latin typeface="Arial"/>
                          <a:cs typeface="Arial"/>
                        </a:rPr>
                        <a:t>Supply Chain Management</a:t>
                      </a:r>
                    </a:p>
                    <a:p>
                      <a:pPr marL="0" indent="0" algn="l">
                        <a:spcBef>
                          <a:spcPts val="0"/>
                        </a:spcBef>
                        <a:spcAft>
                          <a:spcPts val="0"/>
                        </a:spcAft>
                        <a:buNone/>
                      </a:pPr>
                      <a:r>
                        <a:rPr lang="en-GB" sz="1100" b="1" dirty="0">
                          <a:solidFill>
                            <a:srgbClr val="5E6977"/>
                          </a:solidFill>
                          <a:latin typeface="Arial"/>
                          <a:cs typeface="Arial"/>
                        </a:rPr>
                        <a:t>Disruptions, resilience and sustainability.</a:t>
                      </a:r>
                    </a:p>
                  </a:txBody>
                  <a:tcPr marR="73152" marT="36576" marB="36576" anchor="ctr">
                    <a:lnL w="25400">
                      <a:solidFill>
                        <a:srgbClr val="5B2C91"/>
                      </a:solidFill>
                    </a:lnL>
                    <a:lnR w="25400">
                      <a:solidFill>
                        <a:srgbClr val="5B2C91"/>
                      </a:solidFill>
                    </a:lnR>
                    <a:lnT w="25400">
                      <a:solidFill>
                        <a:srgbClr val="5B2C91"/>
                      </a:solidFill>
                    </a:lnT>
                    <a:lnB w="25400">
                      <a:solidFill>
                        <a:srgbClr val="5B2C91"/>
                      </a:solidFill>
                    </a:lnB>
                    <a:solidFill>
                      <a:srgbClr val="EBE1F5"/>
                    </a:solidFill>
                  </a:tcPr>
                </a:tc>
                <a:tc>
                  <a:txBody>
                    <a:bodyPr/>
                    <a:lstStyle/>
                    <a:p>
                      <a:pPr marL="0" indent="0" algn="l">
                        <a:spcBef>
                          <a:spcPts val="0"/>
                        </a:spcBef>
                        <a:spcAft>
                          <a:spcPts val="0"/>
                        </a:spcAft>
                        <a:buNone/>
                      </a:pPr>
                      <a:r>
                        <a:rPr lang="en-GB" sz="1100" b="1" dirty="0">
                          <a:solidFill>
                            <a:srgbClr val="5B2C91"/>
                          </a:solidFill>
                          <a:latin typeface="Arial"/>
                          <a:cs typeface="Arial"/>
                        </a:rPr>
                        <a:t>Tutorial 2: applying Week 4 (TOC, bottlenecks, idle time, balancing loss, productivity, ERP data)</a:t>
                      </a:r>
                    </a:p>
                  </a:txBody>
                  <a:tcPr marR="73152" marT="36576" marB="36576" anchor="ctr">
                    <a:lnL w="25400">
                      <a:solidFill>
                        <a:srgbClr val="5B2C91"/>
                      </a:solidFill>
                    </a:lnL>
                    <a:lnR w="25400">
                      <a:solidFill>
                        <a:srgbClr val="5B2C91"/>
                      </a:solidFill>
                    </a:lnR>
                    <a:lnT w="25400">
                      <a:solidFill>
                        <a:srgbClr val="5B2C91"/>
                      </a:solidFill>
                    </a:lnT>
                    <a:lnB w="25400">
                      <a:solidFill>
                        <a:srgbClr val="5B2C91"/>
                      </a:solidFill>
                    </a:lnB>
                    <a:solidFill>
                      <a:srgbClr val="EBE1F5"/>
                    </a:solidFill>
                  </a:tcPr>
                </a:tc>
                <a:extLst>
                  <a:ext uri="{0D108BD9-81ED-4DB2-BD59-A6C34878D82A}">
                    <a16:rowId xmlns:a16="http://schemas.microsoft.com/office/drawing/2014/main" val="10005"/>
                  </a:ext>
                </a:extLst>
              </a:tr>
              <a:tr h="786384">
                <a:tc>
                  <a:txBody>
                    <a:bodyPr/>
                    <a:lstStyle/>
                    <a:p>
                      <a:pPr marL="0" indent="0" algn="ctr">
                        <a:spcBef>
                          <a:spcPts val="0"/>
                        </a:spcBef>
                        <a:spcAft>
                          <a:spcPts val="0"/>
                        </a:spcAft>
                        <a:buNone/>
                      </a:pPr>
                      <a:r>
                        <a:rPr lang="en-GB" sz="1600" b="1" dirty="0">
                          <a:solidFill>
                            <a:srgbClr val="131E29"/>
                          </a:solidFill>
                          <a:latin typeface="Arial"/>
                          <a:cs typeface="Arial"/>
                        </a:rPr>
                        <a:t>6</a:t>
                      </a:r>
                    </a:p>
                  </a:txBody>
                  <a:tcPr marR="73152" marT="36576" marB="36576" anchor="ctr">
                    <a:lnL w="9525">
                      <a:solidFill>
                        <a:srgbClr val="D9D9D9"/>
                      </a:solidFill>
                    </a:lnL>
                    <a:lnR w="9525">
                      <a:solidFill>
                        <a:srgbClr val="D9D9D9"/>
                      </a:solidFill>
                    </a:lnR>
                    <a:lnT w="25400">
                      <a:solidFill>
                        <a:srgbClr val="5B2C91"/>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2 Nov 2026</a:t>
                      </a:r>
                    </a:p>
                  </a:txBody>
                  <a:tcPr marR="73152" marT="36576" marB="36576" anchor="ctr">
                    <a:lnL w="9525">
                      <a:solidFill>
                        <a:srgbClr val="D9D9D9"/>
                      </a:solidFill>
                    </a:lnL>
                    <a:lnR w="9525">
                      <a:solidFill>
                        <a:srgbClr val="D9D9D9"/>
                      </a:solidFill>
                    </a:lnR>
                    <a:lnT w="25400">
                      <a:solidFill>
                        <a:srgbClr val="5B2C91"/>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31E29"/>
                          </a:solidFill>
                          <a:latin typeface="Arial"/>
                          <a:cs typeface="Arial"/>
                        </a:rPr>
                        <a:t>Deliver</a:t>
                      </a:r>
                    </a:p>
                  </a:txBody>
                  <a:tcPr marR="73152" marT="36576" marB="36576" anchor="ctr">
                    <a:lnL w="9525">
                      <a:solidFill>
                        <a:srgbClr val="D9D9D9"/>
                      </a:solidFill>
                    </a:lnL>
                    <a:lnR w="9525">
                      <a:solidFill>
                        <a:srgbClr val="D9D9D9"/>
                      </a:solidFill>
                    </a:lnR>
                    <a:lnT w="25400">
                      <a:solidFill>
                        <a:srgbClr val="5B2C91"/>
                      </a:solidFill>
                    </a:lnT>
                    <a:lnB w="9525">
                      <a:solidFill>
                        <a:srgbClr val="D9D9D9"/>
                      </a:solidFill>
                    </a:lnB>
                    <a:solidFill>
                      <a:srgbClr val="FFFFFF"/>
                    </a:solidFill>
                  </a:tcPr>
                </a:tc>
                <a:tc>
                  <a:txBody>
                    <a:bodyPr/>
                    <a:lstStyle/>
                    <a:p>
                      <a:pPr marL="0" indent="0" algn="l">
                        <a:spcBef>
                          <a:spcPts val="0"/>
                        </a:spcBef>
                        <a:spcAft>
                          <a:spcPts val="100"/>
                        </a:spcAft>
                        <a:buNone/>
                      </a:pPr>
                      <a:r>
                        <a:rPr lang="en-GB" sz="1400" b="1" dirty="0">
                          <a:solidFill>
                            <a:srgbClr val="131E29"/>
                          </a:solidFill>
                          <a:latin typeface="Arial"/>
                          <a:cs typeface="Arial"/>
                        </a:rPr>
                        <a:t>Make-or-Buy Decisions and Break-even Analysis</a:t>
                      </a:r>
                    </a:p>
                  </a:txBody>
                  <a:tcPr marR="73152" marT="36576" marB="36576" anchor="ctr">
                    <a:lnL w="9525">
                      <a:solidFill>
                        <a:srgbClr val="D9D9D9"/>
                      </a:solidFill>
                    </a:lnL>
                    <a:lnR w="9525">
                      <a:solidFill>
                        <a:srgbClr val="D9D9D9"/>
                      </a:solidFill>
                    </a:lnR>
                    <a:lnT w="25400">
                      <a:solidFill>
                        <a:srgbClr val="5B2C91"/>
                      </a:solidFill>
                    </a:lnT>
                    <a:lnB w="9525">
                      <a:solidFill>
                        <a:srgbClr val="D9D9D9"/>
                      </a:solidFill>
                    </a:lnB>
                    <a:solidFill>
                      <a:srgbClr val="FFFFFF"/>
                    </a:solidFill>
                  </a:tcPr>
                </a:tc>
                <a:tc>
                  <a:txBody>
                    <a:bodyPr/>
                    <a:lstStyle/>
                    <a:p>
                      <a:pPr marL="0" indent="0" algn="l">
                        <a:spcBef>
                          <a:spcPts val="0"/>
                        </a:spcBef>
                        <a:spcAft>
                          <a:spcPts val="0"/>
                        </a:spcAft>
                        <a:buNone/>
                      </a:pPr>
                      <a:r>
                        <a:rPr lang="en-GB" sz="1100" dirty="0">
                          <a:solidFill>
                            <a:srgbClr val="131E29"/>
                          </a:solidFill>
                          <a:latin typeface="Arial"/>
                          <a:cs typeface="Arial"/>
                        </a:rPr>
                        <a:t>No tutorial</a:t>
                      </a:r>
                    </a:p>
                  </a:txBody>
                  <a:tcPr marR="73152" marT="36576" marB="36576" anchor="ctr">
                    <a:lnL w="9525">
                      <a:solidFill>
                        <a:srgbClr val="D9D9D9"/>
                      </a:solidFill>
                    </a:lnL>
                    <a:lnR w="9525">
                      <a:solidFill>
                        <a:srgbClr val="D9D9D9"/>
                      </a:solidFill>
                    </a:lnR>
                    <a:lnT w="25400">
                      <a:solidFill>
                        <a:srgbClr val="5B2C91"/>
                      </a:solidFill>
                    </a:lnT>
                    <a:lnB w="9525">
                      <a:solidFill>
                        <a:srgbClr val="D9D9D9"/>
                      </a:solidFill>
                    </a:lnB>
                    <a:solidFill>
                      <a:srgbClr val="FFFFFF"/>
                    </a:solidFill>
                  </a:tcPr>
                </a:tc>
                <a:extLst>
                  <a:ext uri="{0D108BD9-81ED-4DB2-BD59-A6C34878D82A}">
                    <a16:rowId xmlns:a16="http://schemas.microsoft.com/office/drawing/2014/main" val="10006"/>
                  </a:ext>
                </a:extLst>
              </a:tr>
            </a:tbl>
          </a:graphicData>
        </a:graphic>
      </p:graphicFrame>
      <p:sp>
        <p:nvSpPr>
          <p:cNvPr id="6" name="Page 6"/>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31E29"/>
                </a:solidFill>
                <a:latin typeface="Arial"/>
                <a:cs typeface="Arial"/>
              </a:rPr>
              <a:t>2</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CalendarAlt" descr="CalendarAlt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0099"/>
        </a:solidFill>
        <a:effectLst/>
      </p:bgPr>
    </p:bg>
    <p:spTree>
      <p:nvGrpSpPr>
        <p:cNvPr id="1" name=""/>
        <p:cNvGrpSpPr/>
        <p:nvPr/>
      </p:nvGrpSpPr>
      <p:grpSpPr>
        <a:xfrm>
          <a:off x="0" y="0"/>
          <a:ext cx="0" cy="0"/>
          <a:chOff x="0" y="0"/>
          <a:chExt cx="0" cy="0"/>
        </a:xfrm>
      </p:grpSpPr>
      <p:sp>
        <p:nvSpPr>
          <p:cNvPr id="2" name="Label"/>
          <p:cNvSpPr txBox="1"/>
          <p:nvPr/>
        </p:nvSpPr>
        <p:spPr>
          <a:xfrm>
            <a:off x="813816" y="685800"/>
            <a:ext cx="6400800" cy="365760"/>
          </a:xfrm>
          <a:prstGeom prst="rect">
            <a:avLst/>
          </a:prstGeom>
          <a:noFill/>
        </p:spPr>
        <p:txBody>
          <a:bodyPr wrap="square" lIns="0" tIns="0" rIns="0" bIns="0" anchor="t">
            <a:spAutoFit/>
          </a:bodyPr>
          <a:lstStyle/>
          <a:p>
            <a:pPr algn="l">
              <a:spcAft>
                <a:spcPts val="0"/>
              </a:spcAft>
            </a:pPr>
            <a:r>
              <a:rPr sz="1600" b="1">
                <a:solidFill>
                  <a:srgbClr val="9ADBE8"/>
                </a:solidFill>
                <a:latin typeface="Arial"/>
              </a:rPr>
              <a:t>JOIN NOW</a:t>
            </a:r>
          </a:p>
        </p:txBody>
      </p:sp>
      <p:sp>
        <p:nvSpPr>
          <p:cNvPr id="3" name="Title"/>
          <p:cNvSpPr txBox="1"/>
          <p:nvPr/>
        </p:nvSpPr>
        <p:spPr>
          <a:xfrm>
            <a:off x="813816" y="1188720"/>
            <a:ext cx="6400800" cy="1463040"/>
          </a:xfrm>
          <a:prstGeom prst="rect">
            <a:avLst/>
          </a:prstGeom>
          <a:noFill/>
        </p:spPr>
        <p:txBody>
          <a:bodyPr wrap="square" lIns="0" tIns="0" rIns="0" bIns="0" anchor="t">
            <a:spAutoFit/>
          </a:bodyPr>
          <a:lstStyle/>
          <a:p>
            <a:pPr algn="l">
              <a:spcAft>
                <a:spcPts val="800"/>
              </a:spcAft>
            </a:pPr>
            <a:r>
              <a:rPr sz="4400" b="1">
                <a:solidFill>
                  <a:srgbClr val="FFFFFF"/>
                </a:solidFill>
                <a:latin typeface="Arial"/>
              </a:rPr>
              <a:t>Join today’s Wooclap</a:t>
            </a:r>
          </a:p>
          <a:p>
            <a:pPr algn="l">
              <a:spcAft>
                <a:spcPts val="0"/>
              </a:spcAft>
            </a:pPr>
            <a:r>
              <a:rPr sz="2200" b="0">
                <a:solidFill>
                  <a:srgbClr val="E6DBF5"/>
                </a:solidFill>
                <a:latin typeface="Arial"/>
              </a:rPr>
              <a:t>Get your phone out: we use it throughout the session.</a:t>
            </a:r>
          </a:p>
        </p:txBody>
      </p:sp>
      <p:sp>
        <p:nvSpPr>
          <p:cNvPr id="4" name="Instructions"/>
          <p:cNvSpPr txBox="1"/>
          <p:nvPr/>
        </p:nvSpPr>
        <p:spPr>
          <a:xfrm>
            <a:off x="813816" y="3063240"/>
            <a:ext cx="6400800" cy="2377440"/>
          </a:xfrm>
          <a:prstGeom prst="rect">
            <a:avLst/>
          </a:prstGeom>
          <a:noFill/>
        </p:spPr>
        <p:txBody>
          <a:bodyPr wrap="square" lIns="0" tIns="0" rIns="0" bIns="0" anchor="t">
            <a:spAutoFit/>
          </a:bodyPr>
          <a:lstStyle/>
          <a:p>
            <a:pPr algn="l">
              <a:spcAft>
                <a:spcPts val="1200"/>
              </a:spcAft>
            </a:pPr>
            <a:r>
              <a:rPr sz="2400" b="1">
                <a:solidFill>
                  <a:srgbClr val="9ADBE8"/>
                </a:solidFill>
                <a:latin typeface="Arial"/>
              </a:rPr>
              <a:t>1  </a:t>
            </a:r>
            <a:r>
              <a:rPr sz="2400" b="0">
                <a:solidFill>
                  <a:srgbClr val="E6DBF5"/>
                </a:solidFill>
                <a:latin typeface="Arial"/>
              </a:rPr>
              <a:t>Scan the QR code</a:t>
            </a:r>
          </a:p>
          <a:p>
            <a:pPr algn="l">
              <a:spcAft>
                <a:spcPts val="1200"/>
              </a:spcAft>
            </a:pPr>
            <a:r>
              <a:rPr sz="2400" b="1">
                <a:solidFill>
                  <a:srgbClr val="9ADBE8"/>
                </a:solidFill>
                <a:latin typeface="Arial"/>
              </a:rPr>
              <a:t>2  </a:t>
            </a:r>
            <a:r>
              <a:rPr sz="2400" b="0">
                <a:solidFill>
                  <a:srgbClr val="E6DBF5"/>
                </a:solidFill>
                <a:latin typeface="Arial"/>
              </a:rPr>
              <a:t>or go to </a:t>
            </a:r>
            <a:r>
              <a:rPr sz="2400" b="1">
                <a:solidFill>
                  <a:srgbClr val="FFFFFF"/>
                </a:solidFill>
                <a:latin typeface="Arial"/>
              </a:rPr>
              <a:t>app.wooclap.com</a:t>
            </a:r>
          </a:p>
          <a:p>
            <a:pPr algn="l">
              <a:spcAft>
                <a:spcPts val="600"/>
              </a:spcAft>
            </a:pPr>
            <a:r>
              <a:rPr sz="2400" b="1">
                <a:solidFill>
                  <a:srgbClr val="9ADBE8"/>
                </a:solidFill>
                <a:latin typeface="Arial"/>
              </a:rPr>
              <a:t>3  </a:t>
            </a:r>
            <a:r>
              <a:rPr sz="2400" b="0">
                <a:solidFill>
                  <a:srgbClr val="E6DBF5"/>
                </a:solidFill>
                <a:latin typeface="Arial"/>
              </a:rPr>
              <a:t>and enter the event code</a:t>
            </a:r>
          </a:p>
          <a:p>
            <a:pPr algn="l">
              <a:spcAft>
                <a:spcPts val="0"/>
              </a:spcAft>
            </a:pPr>
            <a:r>
              <a:rPr sz="5400" b="1">
                <a:solidFill>
                  <a:srgbClr val="9ADBE8"/>
                </a:solidFill>
                <a:latin typeface="Arial"/>
              </a:rPr>
              <a:t>JXRSLXH</a:t>
            </a:r>
          </a:p>
        </p:txBody>
      </p:sp>
      <p:sp>
        <p:nvSpPr>
          <p:cNvPr id="5" name="QR background"/>
          <p:cNvSpPr/>
          <p:nvPr/>
        </p:nvSpPr>
        <p:spPr>
          <a:xfrm>
            <a:off x="7818120" y="1051560"/>
            <a:ext cx="4206240" cy="4206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Wooclap QR code" descr="QR code linking to the Wooclap event, code JXRSLXH"/>
          <p:cNvPicPr>
            <a:picLocks noChangeAspect="1"/>
          </p:cNvPicPr>
          <p:nvPr/>
        </p:nvPicPr>
        <p:blipFill>
          <a:blip r:embed="rId3"/>
          <a:stretch>
            <a:fillRect/>
          </a:stretch>
        </p:blipFill>
        <p:spPr>
          <a:xfrm>
            <a:off x="8028432" y="1261872"/>
            <a:ext cx="3785615" cy="3785615"/>
          </a:xfrm>
          <a:prstGeom prst="rect">
            <a:avLst/>
          </a:prstGeom>
        </p:spPr>
      </p:pic>
      <p:sp>
        <p:nvSpPr>
          <p:cNvPr id="7" name="QR caption"/>
          <p:cNvSpPr txBox="1"/>
          <p:nvPr/>
        </p:nvSpPr>
        <p:spPr>
          <a:xfrm>
            <a:off x="7818120" y="5440680"/>
            <a:ext cx="4206240" cy="365760"/>
          </a:xfrm>
          <a:prstGeom prst="rect">
            <a:avLst/>
          </a:prstGeom>
          <a:noFill/>
        </p:spPr>
        <p:txBody>
          <a:bodyPr wrap="square" lIns="0" tIns="0" rIns="0" bIns="0" anchor="t">
            <a:spAutoFit/>
          </a:bodyPr>
          <a:lstStyle/>
          <a:p>
            <a:pPr algn="ctr">
              <a:spcAft>
                <a:spcPts val="0"/>
              </a:spcAft>
            </a:pPr>
            <a:r>
              <a:rPr sz="1800" b="1">
                <a:solidFill>
                  <a:srgbClr val="E6DBF5"/>
                </a:solidFill>
                <a:latin typeface="Arial"/>
              </a:rPr>
              <a:t>Scan to join</a:t>
            </a:r>
          </a:p>
        </p:txBody>
      </p:sp>
      <p:sp>
        <p:nvSpPr>
          <p:cNvPr id="8" name="Page number"/>
          <p:cNvSpPr txBox="1"/>
          <p:nvPr/>
        </p:nvSpPr>
        <p:spPr>
          <a:xfrm>
            <a:off x="10058400" y="6291072"/>
            <a:ext cx="1316736" cy="237744"/>
          </a:xfrm>
          <a:prstGeom prst="rect">
            <a:avLst/>
          </a:prstGeom>
          <a:noFill/>
        </p:spPr>
        <p:txBody>
          <a:bodyPr wrap="square" lIns="0" tIns="0" rIns="0" bIns="0" anchor="t">
            <a:spAutoFit/>
          </a:bodyPr>
          <a:lstStyle/>
          <a:p>
            <a:pPr algn="r">
              <a:spcAft>
                <a:spcPts val="0"/>
              </a:spcAft>
            </a:pPr>
            <a:r>
              <a:rPr sz="1200" b="0">
                <a:solidFill>
                  <a:srgbClr val="E6DBF5"/>
                </a:solidFill>
                <a:latin typeface="Arial"/>
              </a:rPr>
              <a:t>3</a:t>
            </a:r>
          </a:p>
        </p:txBody>
      </p:sp>
    </p:spTree>
    <p:extLst>
      <p:ext uri="{BB962C8B-B14F-4D97-AF65-F5344CB8AC3E}">
        <p14:creationId xmlns:p14="http://schemas.microsoft.com/office/powerpoint/2010/main" val="1156630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6BD945-BE5E-43EF-8883-C42ABDEB3635}"/>
              </a:ext>
            </a:extLst>
          </p:cNvPr>
          <p:cNvSpPr>
            <a:spLocks noGrp="1"/>
          </p:cNvSpPr>
          <p:nvPr/>
        </p:nvSpPr>
        <p:spPr>
          <a:xfrm>
            <a:off x="457200" y="1199793"/>
            <a:ext cx="11191875" cy="228957"/>
          </a:xfrm>
          <a:prstGeom prst="rect">
            <a:avLst/>
          </a:prstGeom>
          <a:noFill/>
          <a:ln w="0">
            <a:noFill/>
            <a:prstDash val="solid"/>
          </a:ln>
        </p:spPr>
        <p:txBody>
          <a:bodyPr/>
          <a:lstStyle>
            <a:defPPr>
              <a:defRPr sz="2100" b="0">
                <a:solidFill>
                  <a:srgbClr val="173B3B"/>
                </a:solidFill>
                <a:latin typeface="Arial"/>
                <a:ea typeface="Arial"/>
                <a:cs typeface="Arial"/>
              </a:defRPr>
            </a:defPPr>
            <a:lvl1pPr>
              <a:defRPr sz="2100" b="0">
                <a:solidFill>
                  <a:srgbClr val="173B3B"/>
                </a:solidFill>
                <a:latin typeface="Arial"/>
                <a:ea typeface="Arial"/>
                <a:cs typeface="Arial"/>
              </a:defRPr>
            </a:lvl1pPr>
            <a:lvl2pPr>
              <a:defRPr sz="2100" b="0">
                <a:solidFill>
                  <a:srgbClr val="173B3B"/>
                </a:solidFill>
                <a:latin typeface="Arial"/>
                <a:ea typeface="Arial"/>
                <a:cs typeface="Arial"/>
              </a:defRPr>
            </a:lvl2pPr>
            <a:lvl3pPr>
              <a:defRPr sz="2100" b="0">
                <a:solidFill>
                  <a:srgbClr val="173B3B"/>
                </a:solidFill>
                <a:latin typeface="Arial"/>
                <a:ea typeface="Arial"/>
                <a:cs typeface="Arial"/>
              </a:defRPr>
            </a:lvl3pPr>
            <a:lvl4pPr>
              <a:defRPr sz="2100" b="0">
                <a:solidFill>
                  <a:srgbClr val="173B3B"/>
                </a:solidFill>
                <a:latin typeface="Arial"/>
                <a:ea typeface="Arial"/>
                <a:cs typeface="Arial"/>
              </a:defRPr>
            </a:lvl4pPr>
            <a:lvl5pPr>
              <a:defRPr sz="2100" b="0">
                <a:solidFill>
                  <a:srgbClr val="173B3B"/>
                </a:solidFill>
                <a:latin typeface="Arial"/>
                <a:ea typeface="Arial"/>
                <a:cs typeface="Arial"/>
              </a:defRPr>
            </a:lvl5pPr>
            <a:lvl6pPr>
              <a:defRPr sz="2100" b="0">
                <a:solidFill>
                  <a:srgbClr val="173B3B"/>
                </a:solidFill>
                <a:latin typeface="Arial"/>
                <a:ea typeface="Arial"/>
                <a:cs typeface="Arial"/>
              </a:defRPr>
            </a:lvl6pPr>
            <a:lvl7pPr>
              <a:defRPr sz="2100" b="0">
                <a:solidFill>
                  <a:srgbClr val="173B3B"/>
                </a:solidFill>
                <a:latin typeface="Arial"/>
                <a:ea typeface="Arial"/>
                <a:cs typeface="Arial"/>
              </a:defRPr>
            </a:lvl7pPr>
            <a:lvl8pPr>
              <a:defRPr sz="2100" b="0">
                <a:solidFill>
                  <a:srgbClr val="173B3B"/>
                </a:solidFill>
                <a:latin typeface="Arial"/>
                <a:ea typeface="Arial"/>
                <a:cs typeface="Arial"/>
              </a:defRPr>
            </a:lvl8pPr>
            <a:lvl9pPr>
              <a:defRPr sz="2100" b="0">
                <a:solidFill>
                  <a:srgbClr val="173B3B"/>
                </a:solidFill>
                <a:latin typeface="Arial"/>
                <a:ea typeface="Arial"/>
                <a:cs typeface="Arial"/>
              </a:defRPr>
            </a:lvl9pPr>
          </a:lstStyle>
          <a:p>
            <a:pPr>
              <a:defRPr sz="2100" b="0">
                <a:solidFill>
                  <a:srgbClr val="173B3B"/>
                </a:solidFill>
                <a:latin typeface="Arial"/>
                <a:ea typeface="Arial"/>
                <a:cs typeface="Arial"/>
              </a:defRPr>
            </a:pPr>
            <a:r>
              <a:rPr sz="2000" b="0" dirty="0">
                <a:solidFill>
                  <a:srgbClr val="131E29"/>
                </a:solidFill>
                <a:latin typeface="Arial"/>
                <a:ea typeface="Arial"/>
                <a:cs typeface="Arial"/>
              </a:rPr>
              <a:t>Separate input routes converge at assembly</a:t>
            </a:r>
          </a:p>
        </p:txBody>
      </p:sp>
      <p:pic>
        <p:nvPicPr>
          <p:cNvPr id="3" name="Picture 2">
            <a:extLst>
              <a:ext uri="{FF2B5EF4-FFF2-40B4-BE49-F238E27FC236}">
                <a16:creationId xmlns:a16="http://schemas.microsoft.com/office/drawing/2014/main" id="{939B38E0-B1D5-43BA-9710-7253D66CFE97}"/>
              </a:ext>
            </a:extLst>
          </p:cNvPr>
          <p:cNvPicPr>
            <a:picLocks noChangeAspect="1"/>
          </p:cNvPicPr>
          <p:nvPr/>
        </p:nvPicPr>
        <p:blipFill>
          <a:blip r:embed="rId3"/>
          <a:stretch/>
        </p:blipFill>
        <p:spPr>
          <a:xfrm>
            <a:off x="723360" y="1571625"/>
            <a:ext cx="8085359" cy="4761378"/>
          </a:xfrm>
          <a:prstGeom prst="rect">
            <a:avLst/>
          </a:prstGeom>
        </p:spPr>
      </p:pic>
      <p:pic>
        <p:nvPicPr>
          <p:cNvPr id="4" name="Picture 3">
            <a:extLst>
              <a:ext uri="{FF2B5EF4-FFF2-40B4-BE49-F238E27FC236}">
                <a16:creationId xmlns:a16="http://schemas.microsoft.com/office/drawing/2014/main" id="{7E2D1B95-8A81-493F-A9DC-00951528B2EF}"/>
              </a:ext>
            </a:extLst>
          </p:cNvPr>
          <p:cNvPicPr>
            <a:picLocks noChangeAspect="1"/>
          </p:cNvPicPr>
          <p:nvPr/>
        </p:nvPicPr>
        <p:blipFill>
          <a:blip r:embed="rId4"/>
          <a:stretch/>
        </p:blipFill>
        <p:spPr>
          <a:xfrm>
            <a:off x="9048750" y="2320119"/>
            <a:ext cx="2714625" cy="1551012"/>
          </a:xfrm>
          <a:prstGeom prst="rect">
            <a:avLst/>
          </a:prstGeom>
        </p:spPr>
      </p:pic>
      <p:sp>
        <p:nvSpPr>
          <p:cNvPr id="6" name="Rectangle 5">
            <a:extLst>
              <a:ext uri="{FF2B5EF4-FFF2-40B4-BE49-F238E27FC236}">
                <a16:creationId xmlns:a16="http://schemas.microsoft.com/office/drawing/2014/main" id="{FB941A9D-5CA8-43C2-B620-48AB2873CCB2}"/>
              </a:ext>
            </a:extLst>
          </p:cNvPr>
          <p:cNvSpPr>
            <a:spLocks noGrp="1"/>
          </p:cNvSpPr>
          <p:nvPr/>
        </p:nvSpPr>
        <p:spPr>
          <a:xfrm>
            <a:off x="457200" y="5905500"/>
            <a:ext cx="11049000" cy="285750"/>
          </a:xfrm>
          <a:prstGeom prst="rect">
            <a:avLst/>
          </a:prstGeom>
          <a:noFill/>
          <a:ln w="0">
            <a:noFill/>
            <a:prstDash val="solid"/>
          </a:ln>
        </p:spPr>
        <p:txBody>
          <a:bodyPr/>
          <a:lstStyle>
            <a:defPPr>
              <a:defRPr sz="1575" b="0">
                <a:solidFill>
                  <a:srgbClr val="173B3B"/>
                </a:solidFill>
                <a:latin typeface="Arial"/>
                <a:ea typeface="Arial"/>
                <a:cs typeface="Arial"/>
              </a:defRPr>
            </a:defPPr>
            <a:lvl1pPr>
              <a:defRPr sz="1575" b="0">
                <a:solidFill>
                  <a:srgbClr val="173B3B"/>
                </a:solidFill>
                <a:latin typeface="Arial"/>
                <a:ea typeface="Arial"/>
                <a:cs typeface="Arial"/>
              </a:defRPr>
            </a:lvl1pPr>
            <a:lvl2pPr>
              <a:defRPr sz="1575" b="0">
                <a:solidFill>
                  <a:srgbClr val="173B3B"/>
                </a:solidFill>
                <a:latin typeface="Arial"/>
                <a:ea typeface="Arial"/>
                <a:cs typeface="Arial"/>
              </a:defRPr>
            </a:lvl2pPr>
            <a:lvl3pPr>
              <a:defRPr sz="1575" b="0">
                <a:solidFill>
                  <a:srgbClr val="173B3B"/>
                </a:solidFill>
                <a:latin typeface="Arial"/>
                <a:ea typeface="Arial"/>
                <a:cs typeface="Arial"/>
              </a:defRPr>
            </a:lvl3pPr>
            <a:lvl4pPr>
              <a:defRPr sz="1575" b="0">
                <a:solidFill>
                  <a:srgbClr val="173B3B"/>
                </a:solidFill>
                <a:latin typeface="Arial"/>
                <a:ea typeface="Arial"/>
                <a:cs typeface="Arial"/>
              </a:defRPr>
            </a:lvl4pPr>
            <a:lvl5pPr>
              <a:defRPr sz="1575" b="0">
                <a:solidFill>
                  <a:srgbClr val="173B3B"/>
                </a:solidFill>
                <a:latin typeface="Arial"/>
                <a:ea typeface="Arial"/>
                <a:cs typeface="Arial"/>
              </a:defRPr>
            </a:lvl5pPr>
            <a:lvl6pPr>
              <a:defRPr sz="1575" b="0">
                <a:solidFill>
                  <a:srgbClr val="173B3B"/>
                </a:solidFill>
                <a:latin typeface="Arial"/>
                <a:ea typeface="Arial"/>
                <a:cs typeface="Arial"/>
              </a:defRPr>
            </a:lvl6pPr>
            <a:lvl7pPr>
              <a:defRPr sz="1575" b="0">
                <a:solidFill>
                  <a:srgbClr val="173B3B"/>
                </a:solidFill>
                <a:latin typeface="Arial"/>
                <a:ea typeface="Arial"/>
                <a:cs typeface="Arial"/>
              </a:defRPr>
            </a:lvl7pPr>
            <a:lvl8pPr>
              <a:defRPr sz="1575" b="0">
                <a:solidFill>
                  <a:srgbClr val="173B3B"/>
                </a:solidFill>
                <a:latin typeface="Arial"/>
                <a:ea typeface="Arial"/>
                <a:cs typeface="Arial"/>
              </a:defRPr>
            </a:lvl8pPr>
            <a:lvl9pPr>
              <a:defRPr sz="1575" b="0">
                <a:solidFill>
                  <a:srgbClr val="173B3B"/>
                </a:solidFill>
                <a:latin typeface="Arial"/>
                <a:ea typeface="Arial"/>
                <a:cs typeface="Arial"/>
              </a:defRPr>
            </a:lvl9pPr>
          </a:lstStyle>
          <a:p>
            <a:pPr>
              <a:defRPr sz="1575" b="0">
                <a:solidFill>
                  <a:srgbClr val="173B3B"/>
                </a:solidFill>
                <a:latin typeface="Arial"/>
                <a:ea typeface="Arial"/>
                <a:cs typeface="Arial"/>
              </a:defRPr>
            </a:pPr>
            <a:r>
              <a:rPr sz="1500" b="0">
                <a:solidFill>
                  <a:srgbClr val="131E29"/>
                </a:solidFill>
                <a:latin typeface="Arial"/>
                <a:ea typeface="Arial"/>
                <a:cs typeface="Arial"/>
              </a:rPr>
              <a:t>Solid teal: inputs to assembly     Dashed amber: finished phones to the UK</a:t>
            </a:r>
          </a:p>
        </p:txBody>
      </p:sp>
      <p:sp>
        <p:nvSpPr>
          <p:cNvPr id="7" name="Rectangle 6">
            <a:extLst>
              <a:ext uri="{FF2B5EF4-FFF2-40B4-BE49-F238E27FC236}">
                <a16:creationId xmlns:a16="http://schemas.microsoft.com/office/drawing/2014/main" id="{68B2699D-03E2-42C2-8E27-FC4C0853D0D9}"/>
              </a:ext>
            </a:extLst>
          </p:cNvPr>
          <p:cNvSpPr>
            <a:spLocks noGrp="1"/>
          </p:cNvSpPr>
          <p:nvPr/>
        </p:nvSpPr>
        <p:spPr>
          <a:xfrm>
            <a:off x="457200" y="6315075"/>
            <a:ext cx="11144250" cy="381000"/>
          </a:xfrm>
          <a:prstGeom prst="rect">
            <a:avLst/>
          </a:prstGeom>
          <a:noFill/>
          <a:ln w="0">
            <a:noFill/>
            <a:prstDash val="solid"/>
          </a:ln>
        </p:spPr>
        <p:txBody>
          <a:bodyPr/>
          <a:lstStyle>
            <a:defPPr>
              <a:defRPr sz="1275" b="0">
                <a:solidFill>
                  <a:srgbClr val="576762"/>
                </a:solidFill>
                <a:latin typeface="Arial"/>
                <a:ea typeface="Arial"/>
                <a:cs typeface="Arial"/>
              </a:defRPr>
            </a:defPPr>
            <a:lvl1pPr>
              <a:defRPr sz="1275" b="0">
                <a:solidFill>
                  <a:srgbClr val="576762"/>
                </a:solidFill>
                <a:latin typeface="Arial"/>
                <a:ea typeface="Arial"/>
                <a:cs typeface="Arial"/>
              </a:defRPr>
            </a:lvl1pPr>
            <a:lvl2pPr>
              <a:defRPr sz="1275" b="0">
                <a:solidFill>
                  <a:srgbClr val="576762"/>
                </a:solidFill>
                <a:latin typeface="Arial"/>
                <a:ea typeface="Arial"/>
                <a:cs typeface="Arial"/>
              </a:defRPr>
            </a:lvl2pPr>
            <a:lvl3pPr>
              <a:defRPr sz="1275" b="0">
                <a:solidFill>
                  <a:srgbClr val="576762"/>
                </a:solidFill>
                <a:latin typeface="Arial"/>
                <a:ea typeface="Arial"/>
                <a:cs typeface="Arial"/>
              </a:defRPr>
            </a:lvl3pPr>
            <a:lvl4pPr>
              <a:defRPr sz="1275" b="0">
                <a:solidFill>
                  <a:srgbClr val="576762"/>
                </a:solidFill>
                <a:latin typeface="Arial"/>
                <a:ea typeface="Arial"/>
                <a:cs typeface="Arial"/>
              </a:defRPr>
            </a:lvl4pPr>
            <a:lvl5pPr>
              <a:defRPr sz="1275" b="0">
                <a:solidFill>
                  <a:srgbClr val="576762"/>
                </a:solidFill>
                <a:latin typeface="Arial"/>
                <a:ea typeface="Arial"/>
                <a:cs typeface="Arial"/>
              </a:defRPr>
            </a:lvl5pPr>
            <a:lvl6pPr>
              <a:defRPr sz="1275" b="0">
                <a:solidFill>
                  <a:srgbClr val="576762"/>
                </a:solidFill>
                <a:latin typeface="Arial"/>
                <a:ea typeface="Arial"/>
                <a:cs typeface="Arial"/>
              </a:defRPr>
            </a:lvl6pPr>
            <a:lvl7pPr>
              <a:defRPr sz="1275" b="0">
                <a:solidFill>
                  <a:srgbClr val="576762"/>
                </a:solidFill>
                <a:latin typeface="Arial"/>
                <a:ea typeface="Arial"/>
                <a:cs typeface="Arial"/>
              </a:defRPr>
            </a:lvl7pPr>
            <a:lvl8pPr>
              <a:defRPr sz="1275" b="0">
                <a:solidFill>
                  <a:srgbClr val="576762"/>
                </a:solidFill>
                <a:latin typeface="Arial"/>
                <a:ea typeface="Arial"/>
                <a:cs typeface="Arial"/>
              </a:defRPr>
            </a:lvl8pPr>
            <a:lvl9pPr>
              <a:defRPr sz="1275" b="0">
                <a:solidFill>
                  <a:srgbClr val="576762"/>
                </a:solidFill>
                <a:latin typeface="Arial"/>
                <a:ea typeface="Arial"/>
                <a:cs typeface="Arial"/>
              </a:defRPr>
            </a:lvl9pPr>
          </a:lstStyle>
          <a:p>
            <a:pPr>
              <a:defRPr sz="1275" b="0">
                <a:solidFill>
                  <a:srgbClr val="576762"/>
                </a:solidFill>
                <a:latin typeface="Arial"/>
                <a:ea typeface="Arial"/>
                <a:cs typeface="Arial"/>
              </a:defRPr>
            </a:pPr>
            <a:r>
              <a:rPr sz="1200" b="0">
                <a:solidFill>
                  <a:srgbClr val="5E6977"/>
                </a:solidFill>
                <a:latin typeface="Arial"/>
                <a:ea typeface="Arial"/>
                <a:cs typeface="Arial"/>
              </a:rPr>
              <a:t>Illustrative routes. Cobalt passes through refining and battery production. Lines show connections, not transport paths.</a:t>
            </a:r>
          </a:p>
        </p:txBody>
      </p:sp>
      <p:sp>
        <p:nvSpPr>
          <p:cNvPr id="10" name="Title">
            <a:extLst>
              <a:ext uri="{FF2B5EF4-FFF2-40B4-BE49-F238E27FC236}">
                <a16:creationId xmlns:a16="http://schemas.microsoft.com/office/drawing/2014/main" id="{BE3D71BF-0543-D6C4-55B8-1BE7A0C39614}"/>
              </a:ext>
            </a:extLst>
          </p:cNvPr>
          <p:cNvSpPr txBox="1"/>
          <p:nvPr/>
        </p:nvSpPr>
        <p:spPr>
          <a:xfrm>
            <a:off x="412750" y="94615"/>
            <a:ext cx="9144000" cy="553998"/>
          </a:xfrm>
          <a:prstGeom prst="rect">
            <a:avLst/>
          </a:prstGeom>
          <a:noFill/>
        </p:spPr>
        <p:txBody>
          <a:bodyPr wrap="square" lIns="0" tIns="0" rIns="0" bIns="0" anchor="t">
            <a:spAutoFit/>
          </a:bodyPr>
          <a:lstStyle/>
          <a:p>
            <a:pPr algn="l">
              <a:spcAft>
                <a:spcPts val="0"/>
              </a:spcAft>
            </a:pPr>
            <a:r>
              <a:rPr lang="en-GB" sz="3000" b="1" dirty="0">
                <a:solidFill>
                  <a:srgbClr val="440099"/>
                </a:solidFill>
                <a:latin typeface="Arial"/>
              </a:rPr>
              <a:t>Supply chains are all around us:</a:t>
            </a:r>
          </a:p>
        </p:txBody>
      </p:sp>
      <p:sp>
        <p:nvSpPr>
          <p:cNvPr id="11" name="Rectangle 10">
            <a:extLst>
              <a:ext uri="{FF2B5EF4-FFF2-40B4-BE49-F238E27FC236}">
                <a16:creationId xmlns:a16="http://schemas.microsoft.com/office/drawing/2014/main" id="{71DABDC6-8327-4DFC-9A6B-E45D1FBF5B17}"/>
              </a:ext>
            </a:extLst>
          </p:cNvPr>
          <p:cNvSpPr>
            <a:spLocks noGrp="1"/>
          </p:cNvSpPr>
          <p:nvPr/>
        </p:nvSpPr>
        <p:spPr>
          <a:xfrm>
            <a:off x="412750" y="628650"/>
            <a:ext cx="11191875" cy="619125"/>
          </a:xfrm>
          <a:prstGeom prst="rect">
            <a:avLst/>
          </a:prstGeom>
          <a:noFill/>
          <a:ln w="0">
            <a:noFill/>
            <a:prstDash val="solid"/>
          </a:ln>
        </p:spPr>
        <p:txBody>
          <a:bodyPr lIns="0"/>
          <a:lstStyle>
            <a:defPPr>
              <a:defRPr sz="3150" b="1">
                <a:solidFill>
                  <a:srgbClr val="173B3B"/>
                </a:solidFill>
                <a:latin typeface="Arial"/>
                <a:ea typeface="Arial"/>
                <a:cs typeface="Arial"/>
              </a:defRPr>
            </a:defPPr>
            <a:lvl1pPr>
              <a:defRPr sz="3150" b="1">
                <a:solidFill>
                  <a:srgbClr val="173B3B"/>
                </a:solidFill>
                <a:latin typeface="Arial"/>
                <a:ea typeface="Arial"/>
                <a:cs typeface="Arial"/>
              </a:defRPr>
            </a:lvl1pPr>
            <a:lvl2pPr>
              <a:defRPr sz="3150" b="1">
                <a:solidFill>
                  <a:srgbClr val="173B3B"/>
                </a:solidFill>
                <a:latin typeface="Arial"/>
                <a:ea typeface="Arial"/>
                <a:cs typeface="Arial"/>
              </a:defRPr>
            </a:lvl2pPr>
            <a:lvl3pPr>
              <a:defRPr sz="3150" b="1">
                <a:solidFill>
                  <a:srgbClr val="173B3B"/>
                </a:solidFill>
                <a:latin typeface="Arial"/>
                <a:ea typeface="Arial"/>
                <a:cs typeface="Arial"/>
              </a:defRPr>
            </a:lvl3pPr>
            <a:lvl4pPr>
              <a:defRPr sz="3150" b="1">
                <a:solidFill>
                  <a:srgbClr val="173B3B"/>
                </a:solidFill>
                <a:latin typeface="Arial"/>
                <a:ea typeface="Arial"/>
                <a:cs typeface="Arial"/>
              </a:defRPr>
            </a:lvl4pPr>
            <a:lvl5pPr>
              <a:defRPr sz="3150" b="1">
                <a:solidFill>
                  <a:srgbClr val="173B3B"/>
                </a:solidFill>
                <a:latin typeface="Arial"/>
                <a:ea typeface="Arial"/>
                <a:cs typeface="Arial"/>
              </a:defRPr>
            </a:lvl5pPr>
            <a:lvl6pPr>
              <a:defRPr sz="3150" b="1">
                <a:solidFill>
                  <a:srgbClr val="173B3B"/>
                </a:solidFill>
                <a:latin typeface="Arial"/>
                <a:ea typeface="Arial"/>
                <a:cs typeface="Arial"/>
              </a:defRPr>
            </a:lvl6pPr>
            <a:lvl7pPr>
              <a:defRPr sz="3150" b="1">
                <a:solidFill>
                  <a:srgbClr val="173B3B"/>
                </a:solidFill>
                <a:latin typeface="Arial"/>
                <a:ea typeface="Arial"/>
                <a:cs typeface="Arial"/>
              </a:defRPr>
            </a:lvl7pPr>
            <a:lvl8pPr>
              <a:defRPr sz="3150" b="1">
                <a:solidFill>
                  <a:srgbClr val="173B3B"/>
                </a:solidFill>
                <a:latin typeface="Arial"/>
                <a:ea typeface="Arial"/>
                <a:cs typeface="Arial"/>
              </a:defRPr>
            </a:lvl8pPr>
            <a:lvl9pPr>
              <a:defRPr sz="3150" b="1">
                <a:solidFill>
                  <a:srgbClr val="173B3B"/>
                </a:solidFill>
                <a:latin typeface="Arial"/>
                <a:ea typeface="Arial"/>
                <a:cs typeface="Arial"/>
              </a:defRPr>
            </a:lvl9pPr>
          </a:lstStyle>
          <a:p>
            <a:pPr>
              <a:defRPr sz="3150" b="1">
                <a:solidFill>
                  <a:srgbClr val="173B3B"/>
                </a:solidFill>
                <a:latin typeface="Arial"/>
                <a:ea typeface="Arial"/>
                <a:cs typeface="Arial"/>
              </a:defRPr>
            </a:pPr>
            <a:r>
              <a:rPr lang="en-GB" sz="1800" b="1" dirty="0">
                <a:solidFill>
                  <a:srgbClr val="131E29"/>
                </a:solidFill>
                <a:latin typeface="Arial"/>
                <a:ea typeface="Arial"/>
                <a:cs typeface="Arial"/>
              </a:rPr>
              <a:t>The global network behind your mobile phone</a:t>
            </a:r>
          </a:p>
        </p:txBody>
      </p:sp>
      <p:sp>
        <p:nvSpPr>
          <p:cNvPr id="15" name="Rectangle 14">
            <a:extLst>
              <a:ext uri="{FF2B5EF4-FFF2-40B4-BE49-F238E27FC236}">
                <a16:creationId xmlns:a16="http://schemas.microsoft.com/office/drawing/2014/main" id="{35FF1EF2-0D82-CA25-5D7B-D835277BC84C}"/>
              </a:ext>
            </a:extLst>
          </p:cNvPr>
          <p:cNvSpPr>
            <a:spLocks noGrp="1"/>
          </p:cNvSpPr>
          <p:nvPr/>
        </p:nvSpPr>
        <p:spPr>
          <a:xfrm>
            <a:off x="8636000" y="5000624"/>
            <a:ext cx="3916045" cy="1359535"/>
          </a:xfrm>
          <a:prstGeom prst="rect">
            <a:avLst/>
          </a:prstGeom>
          <a:noFill/>
          <a:ln w="0">
            <a:noFill/>
            <a:prstDash val="solid"/>
          </a:ln>
        </p:spPr>
        <p:txBody>
          <a:bodyPr/>
          <a:lstStyle>
            <a:defPPr>
              <a:defRPr sz="2025" b="1">
                <a:solidFill>
                  <a:srgbClr val="173B3B"/>
                </a:solidFill>
                <a:latin typeface="Arial"/>
                <a:ea typeface="Arial"/>
                <a:cs typeface="Arial"/>
              </a:defRPr>
            </a:defPPr>
            <a:lvl1pPr>
              <a:defRPr sz="2025" b="1">
                <a:solidFill>
                  <a:srgbClr val="173B3B"/>
                </a:solidFill>
                <a:latin typeface="Arial"/>
                <a:ea typeface="Arial"/>
                <a:cs typeface="Arial"/>
              </a:defRPr>
            </a:lvl1pPr>
            <a:lvl2pPr>
              <a:defRPr sz="2025" b="1">
                <a:solidFill>
                  <a:srgbClr val="173B3B"/>
                </a:solidFill>
                <a:latin typeface="Arial"/>
                <a:ea typeface="Arial"/>
                <a:cs typeface="Arial"/>
              </a:defRPr>
            </a:lvl2pPr>
            <a:lvl3pPr>
              <a:defRPr sz="2025" b="1">
                <a:solidFill>
                  <a:srgbClr val="173B3B"/>
                </a:solidFill>
                <a:latin typeface="Arial"/>
                <a:ea typeface="Arial"/>
                <a:cs typeface="Arial"/>
              </a:defRPr>
            </a:lvl3pPr>
            <a:lvl4pPr>
              <a:defRPr sz="2025" b="1">
                <a:solidFill>
                  <a:srgbClr val="173B3B"/>
                </a:solidFill>
                <a:latin typeface="Arial"/>
                <a:ea typeface="Arial"/>
                <a:cs typeface="Arial"/>
              </a:defRPr>
            </a:lvl4pPr>
            <a:lvl5pPr>
              <a:defRPr sz="2025" b="1">
                <a:solidFill>
                  <a:srgbClr val="173B3B"/>
                </a:solidFill>
                <a:latin typeface="Arial"/>
                <a:ea typeface="Arial"/>
                <a:cs typeface="Arial"/>
              </a:defRPr>
            </a:lvl5pPr>
            <a:lvl6pPr>
              <a:defRPr sz="2025" b="1">
                <a:solidFill>
                  <a:srgbClr val="173B3B"/>
                </a:solidFill>
                <a:latin typeface="Arial"/>
                <a:ea typeface="Arial"/>
                <a:cs typeface="Arial"/>
              </a:defRPr>
            </a:lvl6pPr>
            <a:lvl7pPr>
              <a:defRPr sz="2025" b="1">
                <a:solidFill>
                  <a:srgbClr val="173B3B"/>
                </a:solidFill>
                <a:latin typeface="Arial"/>
                <a:ea typeface="Arial"/>
                <a:cs typeface="Arial"/>
              </a:defRPr>
            </a:lvl7pPr>
            <a:lvl8pPr>
              <a:defRPr sz="2025" b="1">
                <a:solidFill>
                  <a:srgbClr val="173B3B"/>
                </a:solidFill>
                <a:latin typeface="Arial"/>
                <a:ea typeface="Arial"/>
                <a:cs typeface="Arial"/>
              </a:defRPr>
            </a:lvl8pPr>
            <a:lvl9pPr>
              <a:defRPr sz="2025" b="1">
                <a:solidFill>
                  <a:srgbClr val="173B3B"/>
                </a:solidFill>
                <a:latin typeface="Arial"/>
                <a:ea typeface="Arial"/>
                <a:cs typeface="Arial"/>
              </a:defRPr>
            </a:lvl9pPr>
          </a:lstStyle>
          <a:p>
            <a:pPr>
              <a:defRPr sz="2025" b="1">
                <a:solidFill>
                  <a:srgbClr val="173B3B"/>
                </a:solidFill>
                <a:latin typeface="Arial"/>
                <a:ea typeface="Arial"/>
                <a:cs typeface="Arial"/>
              </a:defRPr>
            </a:pPr>
            <a:endParaRPr sz="2025" b="1" dirty="0">
              <a:solidFill>
                <a:srgbClr val="173B3B"/>
              </a:solidFill>
              <a:latin typeface="Arial"/>
              <a:ea typeface="Arial"/>
              <a:cs typeface="Arial"/>
            </a:endParaRPr>
          </a:p>
        </p:txBody>
      </p:sp>
    </p:spTree>
    <p:extLst>
      <p:ext uri="{BB962C8B-B14F-4D97-AF65-F5344CB8AC3E}">
        <p14:creationId xmlns:p14="http://schemas.microsoft.com/office/powerpoint/2010/main" val="722294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A58B25E3-C9A5-1C08-C5B2-ACC7360606EA}"/>
            </a:ext>
          </a:extLst>
        </p:cNvPr>
        <p:cNvGrpSpPr/>
        <p:nvPr/>
      </p:nvGrpSpPr>
      <p:grpSpPr>
        <a:xfrm>
          <a:off x="0" y="0"/>
          <a:ext cx="0" cy="0"/>
          <a:chOff x="0" y="0"/>
          <a:chExt cx="0" cy="0"/>
        </a:xfrm>
      </p:grpSpPr>
      <p:sp>
        <p:nvSpPr>
          <p:cNvPr id="10" name="Title">
            <a:extLst>
              <a:ext uri="{FF2B5EF4-FFF2-40B4-BE49-F238E27FC236}">
                <a16:creationId xmlns:a16="http://schemas.microsoft.com/office/drawing/2014/main" id="{DC4BC602-0E5D-E9E4-3E39-7E58CE344A6E}"/>
              </a:ext>
            </a:extLst>
          </p:cNvPr>
          <p:cNvSpPr txBox="1"/>
          <p:nvPr/>
        </p:nvSpPr>
        <p:spPr>
          <a:xfrm>
            <a:off x="412750" y="94615"/>
            <a:ext cx="9144000" cy="553998"/>
          </a:xfrm>
          <a:prstGeom prst="rect">
            <a:avLst/>
          </a:prstGeom>
          <a:noFill/>
        </p:spPr>
        <p:txBody>
          <a:bodyPr wrap="square" lIns="0" tIns="0" rIns="0" bIns="0" anchor="t">
            <a:spAutoFit/>
          </a:bodyPr>
          <a:lstStyle/>
          <a:p>
            <a:pPr algn="l">
              <a:spcAft>
                <a:spcPts val="0"/>
              </a:spcAft>
            </a:pPr>
            <a:r>
              <a:rPr lang="en-GB" sz="3000" b="1" dirty="0">
                <a:solidFill>
                  <a:srgbClr val="440099"/>
                </a:solidFill>
                <a:latin typeface="Arial"/>
              </a:rPr>
              <a:t>Supply chains are all around us:</a:t>
            </a:r>
          </a:p>
        </p:txBody>
      </p:sp>
      <p:sp>
        <p:nvSpPr>
          <p:cNvPr id="12" name="Wooclap code">
            <a:extLst>
              <a:ext uri="{FF2B5EF4-FFF2-40B4-BE49-F238E27FC236}">
                <a16:creationId xmlns:a16="http://schemas.microsoft.com/office/drawing/2014/main" id="{C4DDA933-3CB0-19DB-039B-F32C37ABDC47}"/>
              </a:ext>
            </a:extLst>
          </p:cNvPr>
          <p:cNvSpPr txBox="1"/>
          <p:nvPr/>
        </p:nvSpPr>
        <p:spPr>
          <a:xfrm>
            <a:off x="9174480" y="194306"/>
            <a:ext cx="1261872" cy="215444"/>
          </a:xfrm>
          <a:prstGeom prst="rect">
            <a:avLst/>
          </a:prstGeom>
          <a:noFill/>
        </p:spPr>
        <p:txBody>
          <a:bodyPr wrap="square" lIns="0" tIns="0" rIns="0" bIns="0" anchor="ctr">
            <a:spAutoFit/>
          </a:bodyPr>
          <a:lstStyle/>
          <a:p>
            <a:pPr algn="r">
              <a:spcAft>
                <a:spcPts val="0"/>
              </a:spcAft>
            </a:pPr>
            <a:r>
              <a:rPr sz="1400" b="0" dirty="0">
                <a:solidFill/>
                <a:latin typeface="Arial"/>
              </a:rPr>
              <a:t>Join: </a:t>
            </a:r>
            <a:r>
              <a:rPr sz="1400" b="1" dirty="0">
                <a:solidFill/>
                <a:latin typeface="Arial"/>
              </a:rPr>
              <a:t>JXRSLXH</a:t>
            </a:r>
          </a:p>
        </p:txBody>
      </p:sp>
      <p:pic>
        <p:nvPicPr>
          <p:cNvPr id="9" name="Picture 8">
            <a:extLst>
              <a:ext uri="{FF2B5EF4-FFF2-40B4-BE49-F238E27FC236}">
                <a16:creationId xmlns:a16="http://schemas.microsoft.com/office/drawing/2014/main" id="{5863E409-3509-EE12-E299-A37CBFA27175}"/>
              </a:ext>
            </a:extLst>
          </p:cNvPr>
          <p:cNvPicPr>
            <a:picLocks noChangeAspect="1"/>
          </p:cNvPicPr>
          <p:nvPr/>
        </p:nvPicPr>
        <p:blipFill>
          <a:blip r:embed="rId3"/>
          <a:stretch>
            <a:fillRect/>
          </a:stretch>
        </p:blipFill>
        <p:spPr>
          <a:xfrm>
            <a:off x="245682" y="648613"/>
            <a:ext cx="8153400" cy="5823857"/>
          </a:xfrm>
          <a:prstGeom prst="rect">
            <a:avLst/>
          </a:prstGeom>
        </p:spPr>
      </p:pic>
      <p:pic>
        <p:nvPicPr>
          <p:cNvPr id="14" name="Wooclap QR code" descr="QR code linking to the Wooclap event, code JXRSLXH">
            <a:extLst>
              <a:ext uri="{FF2B5EF4-FFF2-40B4-BE49-F238E27FC236}">
                <a16:creationId xmlns:a16="http://schemas.microsoft.com/office/drawing/2014/main" id="{797E939D-DCBF-188A-0224-A65021D1546E}"/>
              </a:ext>
            </a:extLst>
          </p:cNvPr>
          <p:cNvPicPr>
            <a:picLocks noChangeAspect="1"/>
          </p:cNvPicPr>
          <p:nvPr/>
        </p:nvPicPr>
        <p:blipFill>
          <a:blip r:embed="rId4"/>
          <a:stretch>
            <a:fillRect/>
          </a:stretch>
        </p:blipFill>
        <p:spPr>
          <a:xfrm>
            <a:off x="10981564" y="57072"/>
            <a:ext cx="1033271" cy="1033271"/>
          </a:xfrm>
          <a:prstGeom prst="rect">
            <a:avLst/>
          </a:prstGeom>
        </p:spPr>
      </p:pic>
      <p:pic>
        <p:nvPicPr>
          <p:cNvPr id="19" name="Picture 18">
            <a:extLst>
              <a:ext uri="{FF2B5EF4-FFF2-40B4-BE49-F238E27FC236}">
                <a16:creationId xmlns:a16="http://schemas.microsoft.com/office/drawing/2014/main" id="{A486FCD1-882C-E558-F1E8-04F79B4D3B46}"/>
              </a:ext>
            </a:extLst>
          </p:cNvPr>
          <p:cNvPicPr>
            <a:picLocks noChangeAspect="1"/>
          </p:cNvPicPr>
          <p:nvPr/>
        </p:nvPicPr>
        <p:blipFill>
          <a:blip r:embed="rId5"/>
          <a:stretch>
            <a:fillRect/>
          </a:stretch>
        </p:blipFill>
        <p:spPr>
          <a:xfrm>
            <a:off x="7776210" y="1190034"/>
            <a:ext cx="4238625" cy="5229225"/>
          </a:xfrm>
          <a:prstGeom prst="rect">
            <a:avLst/>
          </a:prstGeom>
        </p:spPr>
      </p:pic>
    </p:spTree>
    <p:extLst>
      <p:ext uri="{BB962C8B-B14F-4D97-AF65-F5344CB8AC3E}">
        <p14:creationId xmlns:p14="http://schemas.microsoft.com/office/powerpoint/2010/main" val="248423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58368" y="548640"/>
            <a:ext cx="10881360" cy="548640"/>
          </a:xfrm>
          <a:prstGeom prst="rect">
            <a:avLst/>
          </a:prstGeom>
          <a:noFill/>
        </p:spPr>
        <p:txBody>
          <a:bodyPr wrap="square" lIns="0" tIns="0" rIns="0" bIns="0" anchor="t">
            <a:spAutoFit/>
          </a:bodyPr>
          <a:lstStyle/>
          <a:p>
            <a:pPr algn="l">
              <a:spcAft>
                <a:spcPts val="0"/>
              </a:spcAft>
            </a:pPr>
            <a:r>
              <a:rPr sz="3000" b="1">
                <a:solidFill>
                  <a:srgbClr val="440099"/>
                </a:solidFill>
                <a:latin typeface="Arial"/>
              </a:rPr>
              <a:t>How Does a Latte Become Available?</a:t>
            </a:r>
          </a:p>
        </p:txBody>
      </p:sp>
      <p:cxnSp>
        <p:nvCxnSpPr>
          <p:cNvPr id="3" name="Title rule"/>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4" name="Chain Coffee growers"/>
          <p:cNvSpPr/>
          <p:nvPr/>
        </p:nvSpPr>
        <p:spPr>
          <a:xfrm>
            <a:off x="813816" y="1600200"/>
            <a:ext cx="1234440" cy="914400"/>
          </a:xfrm>
          <a:prstGeom prst="roundRect">
            <a:avLst>
              <a:gd name="adj" fmla="val 8000"/>
            </a:avLst>
          </a:prstGeom>
          <a:solidFill>
            <a:srgbClr val="F4EFFA"/>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Chain Coffee growers text"/>
          <p:cNvSpPr txBox="1"/>
          <p:nvPr/>
        </p:nvSpPr>
        <p:spPr>
          <a:xfrm>
            <a:off x="886968" y="1600200"/>
            <a:ext cx="1088136" cy="914400"/>
          </a:xfrm>
          <a:prstGeom prst="rect">
            <a:avLst/>
          </a:prstGeom>
          <a:noFill/>
        </p:spPr>
        <p:txBody>
          <a:bodyPr wrap="square" lIns="0" tIns="0" rIns="0" bIns="0" anchor="ctr">
            <a:spAutoFit/>
          </a:bodyPr>
          <a:lstStyle/>
          <a:p>
            <a:pPr algn="ctr">
              <a:spcAft>
                <a:spcPts val="0"/>
              </a:spcAft>
            </a:pPr>
            <a:r>
              <a:rPr sz="1400" b="1">
                <a:solidFill>
                  <a:srgbClr val="440099"/>
                </a:solidFill>
                <a:latin typeface="Arial"/>
              </a:rPr>
              <a:t>Coffee growers</a:t>
            </a:r>
          </a:p>
        </p:txBody>
      </p:sp>
      <p:sp>
        <p:nvSpPr>
          <p:cNvPr id="6" name="Arrow 1"/>
          <p:cNvSpPr/>
          <p:nvPr/>
        </p:nvSpPr>
        <p:spPr>
          <a:xfrm>
            <a:off x="2103120" y="1947672"/>
            <a:ext cx="210312" cy="219456"/>
          </a:xfrm>
          <a:prstGeom prst="rightArrow">
            <a:avLst/>
          </a:prstGeom>
          <a:solidFill>
            <a:srgbClr val="440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hain Roaster"/>
          <p:cNvSpPr/>
          <p:nvPr/>
        </p:nvSpPr>
        <p:spPr>
          <a:xfrm>
            <a:off x="2368296" y="1600200"/>
            <a:ext cx="1234440" cy="914400"/>
          </a:xfrm>
          <a:prstGeom prst="roundRect">
            <a:avLst>
              <a:gd name="adj" fmla="val 8000"/>
            </a:avLst>
          </a:prstGeom>
          <a:solidFill>
            <a:srgbClr val="F4EFFA"/>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Chain Roaster text"/>
          <p:cNvSpPr txBox="1"/>
          <p:nvPr/>
        </p:nvSpPr>
        <p:spPr>
          <a:xfrm>
            <a:off x="2441448" y="1600200"/>
            <a:ext cx="1088136" cy="914400"/>
          </a:xfrm>
          <a:prstGeom prst="rect">
            <a:avLst/>
          </a:prstGeom>
          <a:noFill/>
        </p:spPr>
        <p:txBody>
          <a:bodyPr wrap="square" lIns="0" tIns="0" rIns="0" bIns="0" anchor="ctr">
            <a:spAutoFit/>
          </a:bodyPr>
          <a:lstStyle/>
          <a:p>
            <a:pPr algn="ctr">
              <a:spcAft>
                <a:spcPts val="0"/>
              </a:spcAft>
            </a:pPr>
            <a:r>
              <a:rPr sz="1400" b="1">
                <a:solidFill>
                  <a:srgbClr val="440099"/>
                </a:solidFill>
                <a:latin typeface="Arial"/>
              </a:rPr>
              <a:t>Roaster</a:t>
            </a:r>
          </a:p>
        </p:txBody>
      </p:sp>
      <p:sp>
        <p:nvSpPr>
          <p:cNvPr id="9" name="Arrow 2"/>
          <p:cNvSpPr/>
          <p:nvPr/>
        </p:nvSpPr>
        <p:spPr>
          <a:xfrm>
            <a:off x="3657600" y="1947672"/>
            <a:ext cx="210312" cy="219456"/>
          </a:xfrm>
          <a:prstGeom prst="rightArrow">
            <a:avLst/>
          </a:prstGeom>
          <a:solidFill>
            <a:srgbClr val="440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ain Dairy"/>
          <p:cNvSpPr/>
          <p:nvPr/>
        </p:nvSpPr>
        <p:spPr>
          <a:xfrm>
            <a:off x="3922776" y="1600200"/>
            <a:ext cx="1234440" cy="914400"/>
          </a:xfrm>
          <a:prstGeom prst="roundRect">
            <a:avLst>
              <a:gd name="adj" fmla="val 8000"/>
            </a:avLst>
          </a:prstGeom>
          <a:solidFill>
            <a:srgbClr val="F4EFFA"/>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hain Dairy text"/>
          <p:cNvSpPr txBox="1"/>
          <p:nvPr/>
        </p:nvSpPr>
        <p:spPr>
          <a:xfrm>
            <a:off x="3995928" y="1600200"/>
            <a:ext cx="1088136" cy="914400"/>
          </a:xfrm>
          <a:prstGeom prst="rect">
            <a:avLst/>
          </a:prstGeom>
          <a:noFill/>
        </p:spPr>
        <p:txBody>
          <a:bodyPr wrap="square" lIns="0" tIns="0" rIns="0" bIns="0" anchor="ctr">
            <a:spAutoFit/>
          </a:bodyPr>
          <a:lstStyle/>
          <a:p>
            <a:pPr algn="ctr">
              <a:spcAft>
                <a:spcPts val="0"/>
              </a:spcAft>
            </a:pPr>
            <a:r>
              <a:rPr sz="1400" b="1">
                <a:solidFill>
                  <a:srgbClr val="440099"/>
                </a:solidFill>
                <a:latin typeface="Arial"/>
              </a:rPr>
              <a:t>Dairy</a:t>
            </a:r>
          </a:p>
        </p:txBody>
      </p:sp>
      <p:sp>
        <p:nvSpPr>
          <p:cNvPr id="12" name="Arrow 3"/>
          <p:cNvSpPr/>
          <p:nvPr/>
        </p:nvSpPr>
        <p:spPr>
          <a:xfrm>
            <a:off x="5212080" y="1947672"/>
            <a:ext cx="210312" cy="219456"/>
          </a:xfrm>
          <a:prstGeom prst="rightArrow">
            <a:avLst/>
          </a:prstGeom>
          <a:solidFill>
            <a:srgbClr val="440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hain Cup maker"/>
          <p:cNvSpPr/>
          <p:nvPr/>
        </p:nvSpPr>
        <p:spPr>
          <a:xfrm>
            <a:off x="5477256" y="1600200"/>
            <a:ext cx="1234440" cy="914400"/>
          </a:xfrm>
          <a:prstGeom prst="roundRect">
            <a:avLst>
              <a:gd name="adj" fmla="val 8000"/>
            </a:avLst>
          </a:prstGeom>
          <a:solidFill>
            <a:srgbClr val="F4EFFA"/>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hain Cup maker text"/>
          <p:cNvSpPr txBox="1"/>
          <p:nvPr/>
        </p:nvSpPr>
        <p:spPr>
          <a:xfrm>
            <a:off x="5550408" y="1600200"/>
            <a:ext cx="1088136" cy="914400"/>
          </a:xfrm>
          <a:prstGeom prst="rect">
            <a:avLst/>
          </a:prstGeom>
          <a:noFill/>
        </p:spPr>
        <p:txBody>
          <a:bodyPr wrap="square" lIns="0" tIns="0" rIns="0" bIns="0" anchor="ctr">
            <a:spAutoFit/>
          </a:bodyPr>
          <a:lstStyle/>
          <a:p>
            <a:pPr algn="ctr">
              <a:spcAft>
                <a:spcPts val="0"/>
              </a:spcAft>
            </a:pPr>
            <a:r>
              <a:rPr sz="1400" b="1">
                <a:solidFill>
                  <a:srgbClr val="440099"/>
                </a:solidFill>
                <a:latin typeface="Arial"/>
              </a:rPr>
              <a:t>Cup maker</a:t>
            </a:r>
          </a:p>
        </p:txBody>
      </p:sp>
      <p:sp>
        <p:nvSpPr>
          <p:cNvPr id="15" name="Arrow 4"/>
          <p:cNvSpPr/>
          <p:nvPr/>
        </p:nvSpPr>
        <p:spPr>
          <a:xfrm>
            <a:off x="6766559" y="1947672"/>
            <a:ext cx="210312" cy="219456"/>
          </a:xfrm>
          <a:prstGeom prst="rightArrow">
            <a:avLst/>
          </a:prstGeom>
          <a:solidFill>
            <a:srgbClr val="440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hain Warehouse and van"/>
          <p:cNvSpPr/>
          <p:nvPr/>
        </p:nvSpPr>
        <p:spPr>
          <a:xfrm>
            <a:off x="7031736" y="1600200"/>
            <a:ext cx="1234440" cy="914400"/>
          </a:xfrm>
          <a:prstGeom prst="roundRect">
            <a:avLst>
              <a:gd name="adj" fmla="val 8000"/>
            </a:avLst>
          </a:prstGeom>
          <a:solidFill>
            <a:srgbClr val="F4EFFA"/>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hain Warehouse and van text"/>
          <p:cNvSpPr txBox="1"/>
          <p:nvPr/>
        </p:nvSpPr>
        <p:spPr>
          <a:xfrm>
            <a:off x="7104888" y="1600200"/>
            <a:ext cx="1088136" cy="914400"/>
          </a:xfrm>
          <a:prstGeom prst="rect">
            <a:avLst/>
          </a:prstGeom>
          <a:noFill/>
        </p:spPr>
        <p:txBody>
          <a:bodyPr wrap="square" lIns="0" tIns="0" rIns="0" bIns="0" anchor="ctr">
            <a:spAutoFit/>
          </a:bodyPr>
          <a:lstStyle/>
          <a:p>
            <a:pPr algn="ctr">
              <a:spcAft>
                <a:spcPts val="0"/>
              </a:spcAft>
            </a:pPr>
            <a:r>
              <a:rPr sz="1400" b="1">
                <a:solidFill>
                  <a:srgbClr val="440099"/>
                </a:solidFill>
                <a:latin typeface="Arial"/>
              </a:rPr>
              <a:t>Warehouse and van</a:t>
            </a:r>
          </a:p>
        </p:txBody>
      </p:sp>
      <p:sp>
        <p:nvSpPr>
          <p:cNvPr id="18" name="Arrow 5"/>
          <p:cNvSpPr/>
          <p:nvPr/>
        </p:nvSpPr>
        <p:spPr>
          <a:xfrm>
            <a:off x="8321040" y="1947672"/>
            <a:ext cx="210312" cy="219456"/>
          </a:xfrm>
          <a:prstGeom prst="rightArrow">
            <a:avLst/>
          </a:prstGeom>
          <a:solidFill>
            <a:srgbClr val="440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hain Café"/>
          <p:cNvSpPr/>
          <p:nvPr/>
        </p:nvSpPr>
        <p:spPr>
          <a:xfrm>
            <a:off x="8586216" y="1600200"/>
            <a:ext cx="1234440" cy="914400"/>
          </a:xfrm>
          <a:prstGeom prst="roundRect">
            <a:avLst>
              <a:gd name="adj" fmla="val 8000"/>
            </a:avLst>
          </a:prstGeom>
          <a:solidFill>
            <a:srgbClr val="440099"/>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Chain Café text"/>
          <p:cNvSpPr txBox="1"/>
          <p:nvPr/>
        </p:nvSpPr>
        <p:spPr>
          <a:xfrm>
            <a:off x="8659368" y="1600200"/>
            <a:ext cx="1088136" cy="914400"/>
          </a:xfrm>
          <a:prstGeom prst="rect">
            <a:avLst/>
          </a:prstGeom>
          <a:noFill/>
        </p:spPr>
        <p:txBody>
          <a:bodyPr wrap="square" lIns="0" tIns="0" rIns="0" bIns="0" anchor="ctr">
            <a:spAutoFit/>
          </a:bodyPr>
          <a:lstStyle/>
          <a:p>
            <a:pPr algn="ctr">
              <a:spcAft>
                <a:spcPts val="0"/>
              </a:spcAft>
            </a:pPr>
            <a:r>
              <a:rPr sz="1400" b="1">
                <a:solidFill>
                  <a:srgbClr val="FFFFFF"/>
                </a:solidFill>
                <a:latin typeface="Arial"/>
              </a:rPr>
              <a:t>Café</a:t>
            </a:r>
          </a:p>
        </p:txBody>
      </p:sp>
      <p:sp>
        <p:nvSpPr>
          <p:cNvPr id="21" name="Arrow 6"/>
          <p:cNvSpPr/>
          <p:nvPr/>
        </p:nvSpPr>
        <p:spPr>
          <a:xfrm>
            <a:off x="9875520" y="1947672"/>
            <a:ext cx="210312" cy="219456"/>
          </a:xfrm>
          <a:prstGeom prst="rightArrow">
            <a:avLst/>
          </a:prstGeom>
          <a:solidFill>
            <a:srgbClr val="440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hain You"/>
          <p:cNvSpPr/>
          <p:nvPr/>
        </p:nvSpPr>
        <p:spPr>
          <a:xfrm>
            <a:off x="10140696" y="1600200"/>
            <a:ext cx="1234440" cy="914400"/>
          </a:xfrm>
          <a:prstGeom prst="roundRect">
            <a:avLst>
              <a:gd name="adj" fmla="val 8000"/>
            </a:avLst>
          </a:prstGeom>
          <a:solidFill>
            <a:srgbClr val="F4EFFA"/>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Chain You text"/>
          <p:cNvSpPr txBox="1"/>
          <p:nvPr/>
        </p:nvSpPr>
        <p:spPr>
          <a:xfrm>
            <a:off x="10213848" y="1600200"/>
            <a:ext cx="1088136" cy="914400"/>
          </a:xfrm>
          <a:prstGeom prst="rect">
            <a:avLst/>
          </a:prstGeom>
          <a:noFill/>
        </p:spPr>
        <p:txBody>
          <a:bodyPr wrap="square" lIns="0" tIns="0" rIns="0" bIns="0" anchor="ctr">
            <a:spAutoFit/>
          </a:bodyPr>
          <a:lstStyle/>
          <a:p>
            <a:pPr algn="ctr">
              <a:spcAft>
                <a:spcPts val="0"/>
              </a:spcAft>
            </a:pPr>
            <a:r>
              <a:rPr sz="1400" b="1">
                <a:solidFill>
                  <a:srgbClr val="440099"/>
                </a:solidFill>
                <a:latin typeface="Arial"/>
              </a:rPr>
              <a:t>You</a:t>
            </a:r>
          </a:p>
        </p:txBody>
      </p:sp>
      <p:sp>
        <p:nvSpPr>
          <p:cNvPr id="24" name="Definition 1"/>
          <p:cNvSpPr/>
          <p:nvPr/>
        </p:nvSpPr>
        <p:spPr>
          <a:xfrm>
            <a:off x="813816" y="2926080"/>
            <a:ext cx="5175504" cy="1600200"/>
          </a:xfrm>
          <a:prstGeom prst="roundRect">
            <a:avLst>
              <a:gd name="adj" fmla="val 8000"/>
            </a:avLst>
          </a:prstGeom>
          <a:solidFill>
            <a:srgbClr val="F4EFFA"/>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Definition 1 text"/>
          <p:cNvSpPr txBox="1"/>
          <p:nvPr/>
        </p:nvSpPr>
        <p:spPr>
          <a:xfrm>
            <a:off x="1042416" y="2926080"/>
            <a:ext cx="4718304" cy="1600200"/>
          </a:xfrm>
          <a:prstGeom prst="rect">
            <a:avLst/>
          </a:prstGeom>
          <a:noFill/>
        </p:spPr>
        <p:txBody>
          <a:bodyPr wrap="square" lIns="0" tIns="0" rIns="0" bIns="0" anchor="ctr">
            <a:spAutoFit/>
          </a:bodyPr>
          <a:lstStyle/>
          <a:p>
            <a:pPr algn="l">
              <a:spcAft>
                <a:spcPts val="600"/>
              </a:spcAft>
            </a:pPr>
            <a:r>
              <a:rPr sz="2000" b="1">
                <a:solidFill>
                  <a:srgbClr val="440099"/>
                </a:solidFill>
                <a:latin typeface="Arial"/>
              </a:rPr>
              <a:t>A supply chain</a:t>
            </a:r>
          </a:p>
          <a:p>
            <a:pPr algn="l">
              <a:spcAft>
                <a:spcPts val="0"/>
              </a:spcAft>
            </a:pPr>
            <a:r>
              <a:rPr sz="1800" b="0">
                <a:solidFill>
                  <a:srgbClr val="131E29"/>
                </a:solidFill>
                <a:latin typeface="Arial"/>
              </a:rPr>
              <a:t>connects the organisations and activities that fulfil a customer’s need.</a:t>
            </a:r>
          </a:p>
        </p:txBody>
      </p:sp>
      <p:sp>
        <p:nvSpPr>
          <p:cNvPr id="26" name="Definition 2"/>
          <p:cNvSpPr/>
          <p:nvPr/>
        </p:nvSpPr>
        <p:spPr>
          <a:xfrm>
            <a:off x="6199631" y="2926080"/>
            <a:ext cx="5175504" cy="1600200"/>
          </a:xfrm>
          <a:prstGeom prst="roundRect">
            <a:avLst>
              <a:gd name="adj" fmla="val 8000"/>
            </a:avLst>
          </a:prstGeom>
          <a:solidFill>
            <a:srgbClr val="F4EFFA"/>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Definition 2 text"/>
          <p:cNvSpPr txBox="1"/>
          <p:nvPr/>
        </p:nvSpPr>
        <p:spPr>
          <a:xfrm>
            <a:off x="6428231" y="2926080"/>
            <a:ext cx="4718304" cy="1600200"/>
          </a:xfrm>
          <a:prstGeom prst="rect">
            <a:avLst/>
          </a:prstGeom>
          <a:noFill/>
        </p:spPr>
        <p:txBody>
          <a:bodyPr wrap="square" lIns="0" tIns="0" rIns="0" bIns="0" anchor="ctr">
            <a:spAutoFit/>
          </a:bodyPr>
          <a:lstStyle/>
          <a:p>
            <a:pPr algn="l">
              <a:spcAft>
                <a:spcPts val="600"/>
              </a:spcAft>
            </a:pPr>
            <a:r>
              <a:rPr sz="2000" b="1">
                <a:solidFill>
                  <a:srgbClr val="440099"/>
                </a:solidFill>
                <a:latin typeface="Arial"/>
              </a:rPr>
              <a:t>Supply chain management</a:t>
            </a:r>
          </a:p>
          <a:p>
            <a:pPr algn="l">
              <a:spcAft>
                <a:spcPts val="0"/>
              </a:spcAft>
            </a:pPr>
            <a:r>
              <a:rPr sz="1800" b="0">
                <a:solidFill>
                  <a:srgbClr val="131E29"/>
                </a:solidFill>
                <a:latin typeface="Arial"/>
              </a:rPr>
              <a:t>coordinates those activities and the flows of materials, information and money across organisations.</a:t>
            </a:r>
          </a:p>
        </p:txBody>
      </p:sp>
      <p:sp>
        <p:nvSpPr>
          <p:cNvPr id="30" name="Page number"/>
          <p:cNvSpPr txBox="1"/>
          <p:nvPr/>
        </p:nvSpPr>
        <p:spPr>
          <a:xfrm>
            <a:off x="10058400" y="6291072"/>
            <a:ext cx="1316736" cy="237744"/>
          </a:xfrm>
          <a:prstGeom prst="rect">
            <a:avLst/>
          </a:prstGeom>
          <a:noFill/>
        </p:spPr>
        <p:txBody>
          <a:bodyPr wrap="square" lIns="0" tIns="0" rIns="0" bIns="0" anchor="t">
            <a:spAutoFit/>
          </a:bodyPr>
          <a:lstStyle/>
          <a:p>
            <a:pPr algn="r">
              <a:spcAft>
                <a:spcPts val="0"/>
              </a:spcAft>
            </a:pPr>
            <a:r>
              <a:rPr sz="1200" b="0">
                <a:solidFill>
                  <a:srgbClr val="5E6977"/>
                </a:solidFill>
                <a:latin typeface="Arial"/>
              </a:rPr>
              <a:t>6</a:t>
            </a:r>
          </a:p>
        </p:txBody>
      </p:sp>
    </p:spTree>
    <p:extLst>
      <p:ext uri="{BB962C8B-B14F-4D97-AF65-F5344CB8AC3E}">
        <p14:creationId xmlns:p14="http://schemas.microsoft.com/office/powerpoint/2010/main" val="1223289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0099"/>
        </a:solidFill>
        <a:effectLst/>
      </p:bgPr>
    </p:bg>
    <p:spTree>
      <p:nvGrpSpPr>
        <p:cNvPr id="1" name=""/>
        <p:cNvGrpSpPr/>
        <p:nvPr/>
      </p:nvGrpSpPr>
      <p:grpSpPr>
        <a:xfrm>
          <a:off x="0" y="0"/>
          <a:ext cx="0" cy="0"/>
          <a:chOff x="0" y="0"/>
          <a:chExt cx="0" cy="0"/>
        </a:xfrm>
      </p:grpSpPr>
      <p:sp>
        <p:nvSpPr>
          <p:cNvPr id="3" name="Title"/>
          <p:cNvSpPr txBox="1"/>
          <p:nvPr/>
        </p:nvSpPr>
        <p:spPr>
          <a:xfrm>
            <a:off x="813816" y="1188720"/>
            <a:ext cx="10515600" cy="731520"/>
          </a:xfrm>
          <a:prstGeom prst="rect">
            <a:avLst/>
          </a:prstGeom>
          <a:noFill/>
        </p:spPr>
        <p:txBody>
          <a:bodyPr wrap="square" lIns="0" tIns="0" rIns="0" bIns="0" anchor="t">
            <a:spAutoFit/>
          </a:bodyPr>
          <a:lstStyle/>
          <a:p>
            <a:pPr algn="l">
              <a:spcAft>
                <a:spcPts val="0"/>
              </a:spcAft>
            </a:pPr>
            <a:r>
              <a:rPr sz="3600" b="1">
                <a:solidFill>
                  <a:srgbClr val="FFFFFF"/>
                </a:solidFill>
                <a:latin typeface="Arial"/>
              </a:rPr>
              <a:t>A perfect operation can still fail its customers.</a:t>
            </a:r>
          </a:p>
        </p:txBody>
      </p:sp>
      <p:sp>
        <p:nvSpPr>
          <p:cNvPr id="5" name="Lead-in"/>
          <p:cNvSpPr txBox="1"/>
          <p:nvPr/>
        </p:nvSpPr>
        <p:spPr>
          <a:xfrm>
            <a:off x="813816" y="3063240"/>
            <a:ext cx="10515600" cy="338554"/>
          </a:xfrm>
          <a:prstGeom prst="rect">
            <a:avLst/>
          </a:prstGeom>
          <a:noFill/>
        </p:spPr>
        <p:txBody>
          <a:bodyPr wrap="square" lIns="0" tIns="0" rIns="0" bIns="0" anchor="t">
            <a:spAutoFit/>
          </a:bodyPr>
          <a:lstStyle/>
          <a:p>
            <a:pPr algn="l">
              <a:spcAft>
                <a:spcPts val="0"/>
              </a:spcAft>
            </a:pPr>
            <a:r>
              <a:rPr sz="2200" b="1" dirty="0">
                <a:solidFill>
                  <a:srgbClr val="9ADBE8"/>
                </a:solidFill>
                <a:latin typeface="Arial"/>
              </a:rPr>
              <a:t>Today we </a:t>
            </a:r>
            <a:r>
              <a:rPr lang="en-GB" sz="2200" b="1" dirty="0">
                <a:solidFill>
                  <a:srgbClr val="9ADBE8"/>
                </a:solidFill>
                <a:latin typeface="Arial"/>
              </a:rPr>
              <a:t>explore </a:t>
            </a:r>
            <a:r>
              <a:rPr sz="2200" b="1" dirty="0" err="1">
                <a:solidFill>
                  <a:srgbClr val="9ADBE8"/>
                </a:solidFill>
                <a:latin typeface="Arial"/>
              </a:rPr>
              <a:t>th</a:t>
            </a:r>
            <a:r>
              <a:rPr lang="en-GB" sz="2200" b="1" dirty="0">
                <a:solidFill>
                  <a:srgbClr val="9ADBE8"/>
                </a:solidFill>
                <a:latin typeface="Arial"/>
              </a:rPr>
              <a:t>is </a:t>
            </a:r>
            <a:r>
              <a:rPr sz="2200" b="1" dirty="0">
                <a:solidFill>
                  <a:srgbClr val="9ADBE8"/>
                </a:solidFill>
                <a:latin typeface="Arial"/>
              </a:rPr>
              <a:t>argument. What happens when…</a:t>
            </a:r>
          </a:p>
        </p:txBody>
      </p:sp>
      <p:sp>
        <p:nvSpPr>
          <p:cNvPr id="6" name="Test 1"/>
          <p:cNvSpPr/>
          <p:nvPr/>
        </p:nvSpPr>
        <p:spPr>
          <a:xfrm>
            <a:off x="813816" y="3657600"/>
            <a:ext cx="3337560" cy="1691640"/>
          </a:xfrm>
          <a:prstGeom prst="roundRect">
            <a:avLst>
              <a:gd name="adj" fmla="val 8000"/>
            </a:avLst>
          </a:prstGeom>
          <a:solidFill>
            <a:srgbClr val="5B2C91"/>
          </a:solidFill>
          <a:ln w="19050">
            <a:solidFill>
              <a:srgbClr val="9ADB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st 1 text"/>
          <p:cNvSpPr txBox="1"/>
          <p:nvPr/>
        </p:nvSpPr>
        <p:spPr>
          <a:xfrm>
            <a:off x="1088136" y="3657600"/>
            <a:ext cx="2834640" cy="1691640"/>
          </a:xfrm>
          <a:prstGeom prst="rect">
            <a:avLst/>
          </a:prstGeom>
          <a:noFill/>
        </p:spPr>
        <p:txBody>
          <a:bodyPr wrap="square" lIns="0" tIns="0" rIns="0" bIns="0" anchor="ctr">
            <a:spAutoFit/>
          </a:bodyPr>
          <a:lstStyle/>
          <a:p>
            <a:pPr algn="l">
              <a:spcAft>
                <a:spcPts val="800"/>
              </a:spcAft>
            </a:pPr>
            <a:r>
              <a:rPr sz="2200" b="1">
                <a:solidFill>
                  <a:srgbClr val="FFFFFF"/>
                </a:solidFill>
                <a:latin typeface="Arial"/>
              </a:rPr>
              <a:t>demand doubles?</a:t>
            </a:r>
          </a:p>
          <a:p>
            <a:pPr algn="l">
              <a:spcAft>
                <a:spcPts val="0"/>
              </a:spcAft>
            </a:pPr>
            <a:r>
              <a:rPr sz="1600" b="0">
                <a:solidFill>
                  <a:srgbClr val="9ADBE8"/>
                </a:solidFill>
                <a:latin typeface="Arial"/>
              </a:rPr>
              <a:t>Part 2 · the bullwhip effect</a:t>
            </a:r>
          </a:p>
        </p:txBody>
      </p:sp>
      <p:sp>
        <p:nvSpPr>
          <p:cNvPr id="8" name="Test 2"/>
          <p:cNvSpPr/>
          <p:nvPr/>
        </p:nvSpPr>
        <p:spPr>
          <a:xfrm>
            <a:off x="4425696" y="3657600"/>
            <a:ext cx="3337560" cy="1691640"/>
          </a:xfrm>
          <a:prstGeom prst="roundRect">
            <a:avLst>
              <a:gd name="adj" fmla="val 8000"/>
            </a:avLst>
          </a:prstGeom>
          <a:solidFill>
            <a:srgbClr val="5B2C91"/>
          </a:solidFill>
          <a:ln w="19050">
            <a:solidFill>
              <a:srgbClr val="9ADB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st 2 text"/>
          <p:cNvSpPr txBox="1"/>
          <p:nvPr/>
        </p:nvSpPr>
        <p:spPr>
          <a:xfrm>
            <a:off x="4700016" y="4036625"/>
            <a:ext cx="2834640" cy="933589"/>
          </a:xfrm>
          <a:prstGeom prst="rect">
            <a:avLst/>
          </a:prstGeom>
          <a:noFill/>
        </p:spPr>
        <p:txBody>
          <a:bodyPr wrap="square" lIns="0" tIns="0" rIns="0" bIns="0" anchor="ctr">
            <a:spAutoFit/>
          </a:bodyPr>
          <a:lstStyle/>
          <a:p>
            <a:pPr algn="l">
              <a:spcAft>
                <a:spcPts val="800"/>
              </a:spcAft>
            </a:pPr>
            <a:r>
              <a:rPr lang="en-GB" sz="2200" b="1" dirty="0">
                <a:solidFill>
                  <a:srgbClr val="FFFFFF"/>
                </a:solidFill>
                <a:latin typeface="Arial"/>
              </a:rPr>
              <a:t>the trade-offs</a:t>
            </a:r>
            <a:endParaRPr sz="2200" b="1" dirty="0">
              <a:solidFill>
                <a:srgbClr val="FFFFFF"/>
              </a:solidFill>
              <a:latin typeface="Arial"/>
            </a:endParaRPr>
          </a:p>
          <a:p>
            <a:pPr algn="l">
              <a:spcAft>
                <a:spcPts val="0"/>
              </a:spcAft>
            </a:pPr>
            <a:r>
              <a:rPr sz="1600" b="0" dirty="0">
                <a:solidFill>
                  <a:srgbClr val="9ADBE8"/>
                </a:solidFill>
                <a:latin typeface="Arial"/>
              </a:rPr>
              <a:t>Part 3 · disruption and resilience</a:t>
            </a:r>
            <a:r>
              <a:rPr lang="en-GB" sz="1600" dirty="0">
                <a:solidFill>
                  <a:srgbClr val="9ADBE8"/>
                </a:solidFill>
                <a:latin typeface="Arial"/>
              </a:rPr>
              <a:t> </a:t>
            </a:r>
            <a:r>
              <a:rPr lang="en-GB" sz="1600" b="0" dirty="0">
                <a:solidFill>
                  <a:srgbClr val="9ADBE8"/>
                </a:solidFill>
                <a:latin typeface="Arial"/>
              </a:rPr>
              <a:t>sustainability</a:t>
            </a:r>
            <a:endParaRPr sz="1600" b="0" dirty="0">
              <a:solidFill>
                <a:srgbClr val="9ADBE8"/>
              </a:solidFill>
              <a:latin typeface="Arial"/>
            </a:endParaRPr>
          </a:p>
        </p:txBody>
      </p:sp>
      <p:sp>
        <p:nvSpPr>
          <p:cNvPr id="10" name="Test 3"/>
          <p:cNvSpPr/>
          <p:nvPr/>
        </p:nvSpPr>
        <p:spPr>
          <a:xfrm>
            <a:off x="8037576" y="3657600"/>
            <a:ext cx="3337560" cy="1691640"/>
          </a:xfrm>
          <a:prstGeom prst="roundRect">
            <a:avLst>
              <a:gd name="adj" fmla="val 8000"/>
            </a:avLst>
          </a:prstGeom>
          <a:solidFill>
            <a:srgbClr val="5B2C91"/>
          </a:solidFill>
          <a:ln w="19050">
            <a:solidFill>
              <a:srgbClr val="9ADB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st 3 text"/>
          <p:cNvSpPr txBox="1"/>
          <p:nvPr/>
        </p:nvSpPr>
        <p:spPr>
          <a:xfrm>
            <a:off x="8311896" y="3657600"/>
            <a:ext cx="2834640" cy="1691640"/>
          </a:xfrm>
          <a:prstGeom prst="rect">
            <a:avLst/>
          </a:prstGeom>
          <a:noFill/>
        </p:spPr>
        <p:txBody>
          <a:bodyPr wrap="square" lIns="0" tIns="0" rIns="0" bIns="0" anchor="ctr">
            <a:spAutoFit/>
          </a:bodyPr>
          <a:lstStyle/>
          <a:p>
            <a:pPr algn="l">
              <a:spcAft>
                <a:spcPts val="800"/>
              </a:spcAft>
            </a:pPr>
            <a:r>
              <a:rPr sz="2200" b="1" dirty="0">
                <a:solidFill>
                  <a:srgbClr val="FFFFFF"/>
                </a:solidFill>
                <a:latin typeface="Arial"/>
              </a:rPr>
              <a:t>supply runs short and every actor protects itself?</a:t>
            </a:r>
          </a:p>
          <a:p>
            <a:pPr algn="l">
              <a:spcAft>
                <a:spcPts val="0"/>
              </a:spcAft>
            </a:pPr>
            <a:r>
              <a:rPr sz="1600" b="0" dirty="0">
                <a:solidFill>
                  <a:srgbClr val="9ADBE8"/>
                </a:solidFill>
                <a:latin typeface="Arial"/>
              </a:rPr>
              <a:t>Part 4 · the case</a:t>
            </a:r>
          </a:p>
        </p:txBody>
      </p:sp>
      <p:sp>
        <p:nvSpPr>
          <p:cNvPr id="12" name="Page number"/>
          <p:cNvSpPr txBox="1"/>
          <p:nvPr/>
        </p:nvSpPr>
        <p:spPr>
          <a:xfrm>
            <a:off x="10058400" y="6291072"/>
            <a:ext cx="1316736" cy="237744"/>
          </a:xfrm>
          <a:prstGeom prst="rect">
            <a:avLst/>
          </a:prstGeom>
          <a:noFill/>
        </p:spPr>
        <p:txBody>
          <a:bodyPr wrap="square" lIns="0" tIns="0" rIns="0" bIns="0" anchor="t">
            <a:spAutoFit/>
          </a:bodyPr>
          <a:lstStyle/>
          <a:p>
            <a:pPr algn="r">
              <a:spcAft>
                <a:spcPts val="0"/>
              </a:spcAft>
            </a:pPr>
            <a:r>
              <a:rPr sz="1200" b="0">
                <a:solidFill>
                  <a:srgbClr val="E6DBF5"/>
                </a:solidFill>
                <a:latin typeface="Arial"/>
              </a:rPr>
              <a:t>7</a:t>
            </a:r>
          </a:p>
        </p:txBody>
      </p:sp>
    </p:spTree>
    <p:extLst>
      <p:ext uri="{BB962C8B-B14F-4D97-AF65-F5344CB8AC3E}">
        <p14:creationId xmlns:p14="http://schemas.microsoft.com/office/powerpoint/2010/main" val="499559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Learning Outcomes</a:t>
            </a:r>
            <a:endParaRPr lang="en-US" sz="3000" dirty="0"/>
          </a:p>
        </p:txBody>
      </p:sp>
      <p:sp>
        <p:nvSpPr>
          <p:cNvPr id="4" name="Text 2"/>
          <p:cNvSpPr/>
          <p:nvPr/>
        </p:nvSpPr>
        <p:spPr>
          <a:xfrm>
            <a:off x="812800" y="1502834"/>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1E29"/>
                </a:solidFill>
                <a:latin typeface="Arial" pitchFamily="34" charset="0"/>
                <a:ea typeface="Arial" pitchFamily="34" charset="-122"/>
                <a:cs typeface="Arial" pitchFamily="34" charset="-120"/>
              </a:rPr>
              <a:t>By the end of the session, you should be able to:</a:t>
            </a:r>
            <a:endParaRPr lang="en-US" sz="1600" dirty="0"/>
          </a:p>
        </p:txBody>
      </p:sp>
      <p:sp>
        <p:nvSpPr>
          <p:cNvPr id="5" name="Shape 3"/>
          <p:cNvSpPr/>
          <p:nvPr/>
        </p:nvSpPr>
        <p:spPr>
          <a:xfrm>
            <a:off x="795020" y="2190657"/>
            <a:ext cx="9009380" cy="918039"/>
          </a:xfrm>
          <a:prstGeom prst="roundRect">
            <a:avLst>
              <a:gd name="adj" fmla="val 7483"/>
            </a:avLst>
          </a:prstGeom>
          <a:solidFill>
            <a:srgbClr val="F4EFFA"/>
          </a:solidFill>
          <a:ln w="12700">
            <a:solidFill>
              <a:srgbClr val="440099"/>
            </a:solidFill>
            <a:prstDash val="solid"/>
          </a:ln>
        </p:spPr>
        <p:txBody>
          <a:bodyPr/>
          <a:lstStyle/>
          <a:p>
            <a:endParaRPr lang="en-GB"/>
          </a:p>
        </p:txBody>
      </p:sp>
      <p:sp>
        <p:nvSpPr>
          <p:cNvPr id="6" name="Text 4"/>
          <p:cNvSpPr/>
          <p:nvPr/>
        </p:nvSpPr>
        <p:spPr>
          <a:xfrm>
            <a:off x="1028700" y="2369542"/>
            <a:ext cx="157559"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440099"/>
                </a:solidFill>
                <a:latin typeface="Arial" pitchFamily="34" charset="0"/>
                <a:ea typeface="Arial" pitchFamily="34" charset="-122"/>
                <a:cs typeface="Arial" pitchFamily="34" charset="-120"/>
              </a:rPr>
              <a:t>1</a:t>
            </a:r>
            <a:endParaRPr lang="en-US" sz="2200" dirty="0"/>
          </a:p>
        </p:txBody>
      </p:sp>
      <p:sp>
        <p:nvSpPr>
          <p:cNvPr id="8" name="Shape 6"/>
          <p:cNvSpPr/>
          <p:nvPr/>
        </p:nvSpPr>
        <p:spPr>
          <a:xfrm>
            <a:off x="819150" y="3284259"/>
            <a:ext cx="8985250" cy="925433"/>
          </a:xfrm>
          <a:prstGeom prst="roundRect">
            <a:avLst>
              <a:gd name="adj" fmla="val 7483"/>
            </a:avLst>
          </a:prstGeom>
          <a:solidFill>
            <a:srgbClr val="F4EFFA"/>
          </a:solidFill>
          <a:ln w="12700">
            <a:solidFill>
              <a:srgbClr val="440099"/>
            </a:solidFill>
            <a:prstDash val="solid"/>
          </a:ln>
        </p:spPr>
        <p:txBody>
          <a:bodyPr/>
          <a:lstStyle/>
          <a:p>
            <a:endParaRPr lang="en-GB"/>
          </a:p>
        </p:txBody>
      </p:sp>
      <p:sp>
        <p:nvSpPr>
          <p:cNvPr id="9" name="Text 7"/>
          <p:cNvSpPr/>
          <p:nvPr/>
        </p:nvSpPr>
        <p:spPr>
          <a:xfrm>
            <a:off x="960040" y="3518892"/>
            <a:ext cx="147439"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440099"/>
                </a:solidFill>
                <a:latin typeface="Arial" pitchFamily="34" charset="0"/>
                <a:ea typeface="Arial" pitchFamily="34" charset="-122"/>
                <a:cs typeface="Arial" pitchFamily="34" charset="-120"/>
              </a:rPr>
              <a:t>2</a:t>
            </a:r>
            <a:endParaRPr lang="en-US" sz="2200" dirty="0"/>
          </a:p>
        </p:txBody>
      </p:sp>
      <p:sp>
        <p:nvSpPr>
          <p:cNvPr id="10" name="Text 8"/>
          <p:cNvSpPr/>
          <p:nvPr/>
        </p:nvSpPr>
        <p:spPr>
          <a:xfrm>
            <a:off x="1313259" y="3429000"/>
            <a:ext cx="8348900" cy="681844"/>
          </a:xfrm>
          <a:prstGeom prst="rect">
            <a:avLst/>
          </a:prstGeom>
          <a:noFill/>
          <a:ln/>
        </p:spPr>
        <p:txBody>
          <a:bodyPr wrap="square" lIns="0" tIns="0" rIns="0" bIns="0" rtlCol="0" anchor="t">
            <a:normAutofit/>
          </a:bodyPr>
          <a:lstStyle/>
          <a:p>
            <a:pPr marL="0" indent="0" algn="l">
              <a:lnSpc>
                <a:spcPts val="2025"/>
              </a:lnSpc>
              <a:buNone/>
            </a:pPr>
            <a:r>
              <a:rPr lang="en-US" dirty="0">
                <a:solidFill>
                  <a:srgbClr val="131E29"/>
                </a:solidFill>
                <a:latin typeface="Arial" pitchFamily="34" charset="0"/>
                <a:ea typeface="Arial" pitchFamily="34" charset="-122"/>
                <a:cs typeface="Arial" pitchFamily="34" charset="-120"/>
              </a:rPr>
              <a:t>Describe the key supply chain decisions and how they shape operations performance</a:t>
            </a:r>
            <a:endParaRPr lang="en-US" dirty="0"/>
          </a:p>
        </p:txBody>
      </p:sp>
      <p:sp>
        <p:nvSpPr>
          <p:cNvPr id="11" name="Shape 9"/>
          <p:cNvSpPr/>
          <p:nvPr/>
        </p:nvSpPr>
        <p:spPr>
          <a:xfrm>
            <a:off x="795020" y="4457375"/>
            <a:ext cx="8985250" cy="897791"/>
          </a:xfrm>
          <a:prstGeom prst="roundRect">
            <a:avLst>
              <a:gd name="adj" fmla="val 7483"/>
            </a:avLst>
          </a:prstGeom>
          <a:solidFill>
            <a:srgbClr val="F4EFFA"/>
          </a:solidFill>
          <a:ln w="12700">
            <a:solidFill>
              <a:srgbClr val="440099"/>
            </a:solidFill>
            <a:prstDash val="solid"/>
          </a:ln>
        </p:spPr>
        <p:txBody>
          <a:bodyPr/>
          <a:lstStyle/>
          <a:p>
            <a:endParaRPr lang="en-GB" dirty="0"/>
          </a:p>
        </p:txBody>
      </p:sp>
      <p:sp>
        <p:nvSpPr>
          <p:cNvPr id="12" name="Text 10"/>
          <p:cNvSpPr/>
          <p:nvPr/>
        </p:nvSpPr>
        <p:spPr>
          <a:xfrm>
            <a:off x="953888" y="4665007"/>
            <a:ext cx="139303"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440099"/>
                </a:solidFill>
                <a:latin typeface="Arial" pitchFamily="34" charset="0"/>
                <a:ea typeface="Arial" pitchFamily="34" charset="-122"/>
                <a:cs typeface="Arial" pitchFamily="34" charset="-120"/>
              </a:rPr>
              <a:t>3</a:t>
            </a:r>
            <a:endParaRPr lang="en-US" sz="2200" dirty="0"/>
          </a:p>
        </p:txBody>
      </p:sp>
      <p:sp>
        <p:nvSpPr>
          <p:cNvPr id="13" name="Text 11"/>
          <p:cNvSpPr/>
          <p:nvPr/>
        </p:nvSpPr>
        <p:spPr>
          <a:xfrm>
            <a:off x="1313258" y="4621143"/>
            <a:ext cx="7912022" cy="838379"/>
          </a:xfrm>
          <a:prstGeom prst="rect">
            <a:avLst/>
          </a:prstGeom>
          <a:noFill/>
          <a:ln/>
        </p:spPr>
        <p:txBody>
          <a:bodyPr wrap="square" lIns="0" tIns="0" rIns="0" bIns="0" rtlCol="0" anchor="t">
            <a:noAutofit/>
          </a:bodyPr>
          <a:lstStyle/>
          <a:p>
            <a:pPr marL="0" indent="0" algn="l">
              <a:lnSpc>
                <a:spcPts val="2025"/>
              </a:lnSpc>
              <a:buNone/>
            </a:pPr>
            <a:r>
              <a:rPr lang="en-US" dirty="0">
                <a:solidFill>
                  <a:srgbClr val="131E29"/>
                </a:solidFill>
                <a:latin typeface="Arial" pitchFamily="34" charset="0"/>
                <a:ea typeface="Arial" pitchFamily="34" charset="-122"/>
                <a:cs typeface="Arial" pitchFamily="34" charset="-120"/>
              </a:rPr>
              <a:t>Critically evaluate competing explanations of supply chain failure, including the bullwhip effect</a:t>
            </a:r>
            <a:endParaRPr lang="en-US" dirty="0"/>
          </a:p>
        </p:txBody>
      </p:sp>
      <p:sp>
        <p:nvSpPr>
          <p:cNvPr id="14" name="Shape 12"/>
          <p:cNvSpPr/>
          <p:nvPr/>
        </p:nvSpPr>
        <p:spPr>
          <a:xfrm>
            <a:off x="753980" y="5741548"/>
            <a:ext cx="9050419" cy="897791"/>
          </a:xfrm>
          <a:prstGeom prst="roundRect">
            <a:avLst>
              <a:gd name="adj" fmla="val 7483"/>
            </a:avLst>
          </a:prstGeom>
          <a:solidFill>
            <a:srgbClr val="F4EFFA"/>
          </a:solidFill>
          <a:ln w="12700">
            <a:solidFill>
              <a:srgbClr val="440099"/>
            </a:solidFill>
            <a:prstDash val="solid"/>
          </a:ln>
        </p:spPr>
        <p:txBody>
          <a:bodyPr/>
          <a:lstStyle/>
          <a:p>
            <a:endParaRPr lang="en-GB"/>
          </a:p>
        </p:txBody>
      </p:sp>
      <p:sp>
        <p:nvSpPr>
          <p:cNvPr id="15" name="Text 13"/>
          <p:cNvSpPr/>
          <p:nvPr/>
        </p:nvSpPr>
        <p:spPr>
          <a:xfrm>
            <a:off x="943286" y="5928095"/>
            <a:ext cx="134078"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440099"/>
                </a:solidFill>
                <a:latin typeface="Arial" pitchFamily="34" charset="0"/>
                <a:ea typeface="Arial" pitchFamily="34" charset="-122"/>
                <a:cs typeface="Arial" pitchFamily="34" charset="-120"/>
              </a:rPr>
              <a:t>4</a:t>
            </a:r>
            <a:endParaRPr lang="en-US" sz="2200" dirty="0"/>
          </a:p>
        </p:txBody>
      </p:sp>
      <p:sp>
        <p:nvSpPr>
          <p:cNvPr id="16" name="Text 14"/>
          <p:cNvSpPr/>
          <p:nvPr/>
        </p:nvSpPr>
        <p:spPr>
          <a:xfrm>
            <a:off x="1353356" y="5846702"/>
            <a:ext cx="8308803" cy="539750"/>
          </a:xfrm>
          <a:prstGeom prst="rect">
            <a:avLst/>
          </a:prstGeom>
          <a:noFill/>
          <a:ln/>
        </p:spPr>
        <p:txBody>
          <a:bodyPr wrap="square" lIns="0" tIns="0" rIns="0" bIns="0" rtlCol="0" anchor="t">
            <a:normAutofit/>
          </a:bodyPr>
          <a:lstStyle/>
          <a:p>
            <a:pPr marL="0" indent="0" algn="l">
              <a:lnSpc>
                <a:spcPts val="2025"/>
              </a:lnSpc>
              <a:buNone/>
            </a:pPr>
            <a:r>
              <a:rPr lang="en-US" dirty="0">
                <a:solidFill>
                  <a:srgbClr val="131E29"/>
                </a:solidFill>
                <a:latin typeface="Arial" pitchFamily="34" charset="0"/>
                <a:ea typeface="Arial" pitchFamily="34" charset="-122"/>
                <a:cs typeface="Arial" pitchFamily="34" charset="-120"/>
              </a:rPr>
              <a:t>Analyse trade-offs between cost, responsiveness, resilience and sustainability, and who bears them</a:t>
            </a:r>
            <a:endParaRPr lang="en-US" dirty="0"/>
          </a:p>
        </p:txBody>
      </p:sp>
      <p:sp>
        <p:nvSpPr>
          <p:cNvPr id="17" name="Text 15"/>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8</a:t>
            </a:r>
            <a:endParaRPr lang="en-US" sz="1200" dirty="0"/>
          </a:p>
        </p:txBody>
      </p:sp>
      <p:sp>
        <p:nvSpPr>
          <p:cNvPr id="19" name="Text 5">
            <a:extLst>
              <a:ext uri="{FF2B5EF4-FFF2-40B4-BE49-F238E27FC236}">
                <a16:creationId xmlns:a16="http://schemas.microsoft.com/office/drawing/2014/main" id="{3A78B19C-CAC1-8453-BA6B-CE133F9EE8A6}"/>
              </a:ext>
            </a:extLst>
          </p:cNvPr>
          <p:cNvSpPr/>
          <p:nvPr/>
        </p:nvSpPr>
        <p:spPr>
          <a:xfrm>
            <a:off x="1313258" y="2349811"/>
            <a:ext cx="8044101" cy="800735"/>
          </a:xfrm>
          <a:prstGeom prst="rect">
            <a:avLst/>
          </a:prstGeom>
          <a:noFill/>
          <a:ln/>
        </p:spPr>
        <p:txBody>
          <a:bodyPr wrap="square" lIns="0" tIns="0" rIns="0" bIns="0" rtlCol="0" anchor="t">
            <a:normAutofit/>
          </a:bodyPr>
          <a:lstStyle/>
          <a:p>
            <a:pPr marL="0" indent="0" algn="l">
              <a:lnSpc>
                <a:spcPts val="2025"/>
              </a:lnSpc>
              <a:buNone/>
            </a:pPr>
            <a:r>
              <a:rPr lang="en-US" dirty="0">
                <a:solidFill>
                  <a:srgbClr val="131E29"/>
                </a:solidFill>
                <a:latin typeface="Arial" pitchFamily="34" charset="0"/>
                <a:ea typeface="Arial" pitchFamily="34" charset="-122"/>
                <a:cs typeface="Arial" pitchFamily="34" charset="-120"/>
              </a:rPr>
              <a:t>Explain how operations management and supply chain management connect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What </a:t>
            </a:r>
            <a:r>
              <a:rPr lang="en-US" b="1" dirty="0">
                <a:solidFill/>
                <a:latin typeface="Arial"/>
              </a:rPr>
              <a:t>is a Su</a:t>
            </a:r>
            <a:r>
              <a:rPr lang="en-US" sz="3000" b="1" i="0" dirty="0">
                <a:solidFill>
                  <a:srgbClr val="440099"/>
                </a:solidFill>
                <a:latin typeface="Arial" pitchFamily="34" charset="0"/>
                <a:ea typeface="Arial" pitchFamily="34" charset="-122"/>
                <a:cs typeface="Arial" pitchFamily="34" charset="-120"/>
              </a:rPr>
              <a:t>pply Chain?</a:t>
            </a:r>
            <a:endParaRPr lang="en-US" sz="3000" dirty="0"/>
          </a:p>
        </p:txBody>
      </p:sp>
      <p:sp>
        <p:nvSpPr>
          <p:cNvPr id="4" name="Shape 2"/>
          <p:cNvSpPr/>
          <p:nvPr/>
        </p:nvSpPr>
        <p:spPr>
          <a:xfrm>
            <a:off x="819150" y="1458385"/>
            <a:ext cx="5074918" cy="3529933"/>
          </a:xfrm>
          <a:prstGeom prst="roundRect">
            <a:avLst>
              <a:gd name="adj" fmla="val 4216"/>
            </a:avLst>
          </a:prstGeom>
          <a:solidFill>
            <a:srgbClr val="F4EFFA"/>
          </a:solidFill>
          <a:ln w="12700">
            <a:solidFill>
              <a:srgbClr val="440099"/>
            </a:solidFill>
            <a:prstDash val="solid"/>
          </a:ln>
        </p:spPr>
        <p:txBody>
          <a:bodyPr/>
          <a:lstStyle/>
          <a:p>
            <a:endParaRPr lang="en-GB"/>
          </a:p>
        </p:txBody>
      </p:sp>
      <p:sp>
        <p:nvSpPr>
          <p:cNvPr id="5" name="Text 3"/>
          <p:cNvSpPr/>
          <p:nvPr/>
        </p:nvSpPr>
        <p:spPr>
          <a:xfrm>
            <a:off x="1054100" y="1693335"/>
            <a:ext cx="4839970" cy="854075"/>
          </a:xfrm>
          <a:prstGeom prst="rect">
            <a:avLst/>
          </a:prstGeom>
          <a:noFill/>
          <a:ln/>
        </p:spPr>
        <p:txBody>
          <a:bodyPr wrap="square" lIns="0" tIns="0" rIns="0" bIns="0" rtlCol="0" anchor="t">
            <a:noAutofit/>
          </a:bodyPr>
          <a:lstStyle/>
          <a:p>
            <a:pPr marL="0" indent="0" algn="l">
              <a:lnSpc>
                <a:spcPts val="2175"/>
              </a:lnSpc>
              <a:buNone/>
            </a:pPr>
            <a:r>
              <a:rPr lang="en-US" sz="2000" dirty="0">
                <a:solidFill>
                  <a:srgbClr val="131E29"/>
                </a:solidFill>
                <a:latin typeface="Arial" pitchFamily="34" charset="0"/>
                <a:ea typeface="Arial" pitchFamily="34" charset="-122"/>
                <a:cs typeface="Arial" pitchFamily="34" charset="-120"/>
              </a:rPr>
              <a:t>A network of organisations involved, through upstream and downstream linkages, in the processes and activities that produce value for the ultimate consumer.</a:t>
            </a:r>
            <a:endParaRPr lang="en-US" sz="2000" dirty="0"/>
          </a:p>
        </p:txBody>
      </p:sp>
      <p:sp>
        <p:nvSpPr>
          <p:cNvPr id="6" name="Text 4"/>
          <p:cNvSpPr/>
          <p:nvPr/>
        </p:nvSpPr>
        <p:spPr>
          <a:xfrm>
            <a:off x="951232" y="4654512"/>
            <a:ext cx="483997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40099"/>
                </a:solidFill>
                <a:latin typeface="Arial" pitchFamily="34" charset="0"/>
                <a:ea typeface="Arial" pitchFamily="34" charset="-122"/>
                <a:cs typeface="Arial" pitchFamily="34" charset="-120"/>
              </a:rPr>
              <a:t>Christopher (1992)</a:t>
            </a:r>
            <a:endParaRPr lang="en-US" sz="1300" dirty="0"/>
          </a:p>
        </p:txBody>
      </p:sp>
      <p:sp>
        <p:nvSpPr>
          <p:cNvPr id="7" name="Shape 5"/>
          <p:cNvSpPr/>
          <p:nvPr/>
        </p:nvSpPr>
        <p:spPr>
          <a:xfrm>
            <a:off x="6203950" y="1458385"/>
            <a:ext cx="5074918" cy="3455516"/>
          </a:xfrm>
          <a:prstGeom prst="roundRect">
            <a:avLst>
              <a:gd name="adj" fmla="val 4216"/>
            </a:avLst>
          </a:prstGeom>
          <a:solidFill>
            <a:srgbClr val="F4EFFA"/>
          </a:solidFill>
          <a:ln w="12700">
            <a:solidFill>
              <a:srgbClr val="440099"/>
            </a:solidFill>
            <a:prstDash val="solid"/>
          </a:ln>
        </p:spPr>
        <p:txBody>
          <a:bodyPr/>
          <a:lstStyle/>
          <a:p>
            <a:endParaRPr lang="en-GB"/>
          </a:p>
        </p:txBody>
      </p:sp>
      <p:sp>
        <p:nvSpPr>
          <p:cNvPr id="8" name="Text 6"/>
          <p:cNvSpPr/>
          <p:nvPr/>
        </p:nvSpPr>
        <p:spPr>
          <a:xfrm>
            <a:off x="6438900" y="1693335"/>
            <a:ext cx="4839970" cy="854075"/>
          </a:xfrm>
          <a:prstGeom prst="rect">
            <a:avLst/>
          </a:prstGeom>
          <a:noFill/>
          <a:ln/>
        </p:spPr>
        <p:txBody>
          <a:bodyPr wrap="square" lIns="0" tIns="0" rIns="0" bIns="0" rtlCol="0" anchor="t">
            <a:noAutofit/>
          </a:bodyPr>
          <a:lstStyle/>
          <a:p>
            <a:pPr marL="0" indent="0" algn="l">
              <a:lnSpc>
                <a:spcPts val="2175"/>
              </a:lnSpc>
              <a:buNone/>
            </a:pPr>
            <a:r>
              <a:rPr lang="en-US" dirty="0">
                <a:solidFill>
                  <a:srgbClr val="131E29"/>
                </a:solidFill>
                <a:latin typeface="Arial" pitchFamily="34" charset="0"/>
                <a:ea typeface="Arial" pitchFamily="34" charset="-122"/>
                <a:cs typeface="Arial" pitchFamily="34" charset="-120"/>
              </a:rPr>
              <a:t>Three or more entities directly involved in the upstream and downstream flows of products, services, finances and information from a source to a customer.</a:t>
            </a:r>
            <a:endParaRPr lang="en-US" dirty="0"/>
          </a:p>
        </p:txBody>
      </p:sp>
      <p:sp>
        <p:nvSpPr>
          <p:cNvPr id="9" name="Text 7"/>
          <p:cNvSpPr/>
          <p:nvPr/>
        </p:nvSpPr>
        <p:spPr>
          <a:xfrm>
            <a:off x="6408418" y="4654511"/>
            <a:ext cx="483997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40099"/>
                </a:solidFill>
                <a:latin typeface="Arial" pitchFamily="34" charset="0"/>
                <a:ea typeface="Arial" pitchFamily="34" charset="-122"/>
                <a:cs typeface="Arial" pitchFamily="34" charset="-120"/>
              </a:rPr>
              <a:t>Mentzer et al. (2001)</a:t>
            </a:r>
            <a:endParaRPr lang="en-US" sz="1300" dirty="0"/>
          </a:p>
        </p:txBody>
      </p:sp>
      <p:sp>
        <p:nvSpPr>
          <p:cNvPr id="10" name="Text 8"/>
          <p:cNvSpPr/>
          <p:nvPr/>
        </p:nvSpPr>
        <p:spPr>
          <a:xfrm>
            <a:off x="853440" y="5164665"/>
            <a:ext cx="10566400" cy="873654"/>
          </a:xfrm>
          <a:prstGeom prst="rect">
            <a:avLst/>
          </a:prstGeom>
          <a:solidFill>
            <a:srgbClr val="E6F6FA"/>
          </a:solidFill>
          <a:ln/>
        </p:spPr>
        <p:txBody>
          <a:bodyPr wrap="square" lIns="254000" tIns="152400" rIns="0" bIns="127000" rtlCol="0" anchor="t">
            <a:normAutofit/>
          </a:bodyPr>
          <a:lstStyle/>
          <a:p>
            <a:pPr marL="0" indent="0" algn="l">
              <a:lnSpc>
                <a:spcPts val="2240"/>
              </a:lnSpc>
              <a:buNone/>
            </a:pPr>
            <a:r>
              <a:rPr lang="en-US" sz="1600" b="1" dirty="0">
                <a:solidFill>
                  <a:srgbClr val="131E29"/>
                </a:solidFill>
                <a:latin typeface="Arial" pitchFamily="34" charset="0"/>
                <a:ea typeface="Arial" pitchFamily="34" charset="-122"/>
                <a:cs typeface="Arial" pitchFamily="34" charset="-120"/>
              </a:rPr>
              <a:t>Supply chain management</a:t>
            </a:r>
            <a:r>
              <a:rPr lang="en-US" sz="1600" dirty="0">
                <a:solidFill>
                  <a:srgbClr val="131E29"/>
                </a:solidFill>
                <a:latin typeface="Arial" pitchFamily="34" charset="0"/>
                <a:ea typeface="Arial" pitchFamily="34" charset="-122"/>
                <a:cs typeface="Arial" pitchFamily="34" charset="-120"/>
              </a:rPr>
              <a:t> involves getting the right product/service to customers at the right time and the right price.</a:t>
            </a:r>
            <a:endParaRPr lang="en-US" sz="1600" dirty="0"/>
          </a:p>
        </p:txBody>
      </p:sp>
      <p:sp>
        <p:nvSpPr>
          <p:cNvPr id="11" name="Shape 9"/>
          <p:cNvSpPr/>
          <p:nvPr/>
        </p:nvSpPr>
        <p:spPr>
          <a:xfrm>
            <a:off x="853440" y="5122730"/>
            <a:ext cx="0" cy="873654"/>
          </a:xfrm>
          <a:prstGeom prst="line">
            <a:avLst/>
          </a:prstGeom>
          <a:noFill/>
          <a:ln w="50800">
            <a:solidFill>
              <a:srgbClr val="005A8F"/>
            </a:solidFill>
            <a:prstDash val="solid"/>
          </a:ln>
        </p:spPr>
        <p:txBody>
          <a:bodyPr/>
          <a:lstStyle/>
          <a:p>
            <a:endParaRPr lang="en-GB" dirty="0"/>
          </a:p>
        </p:txBody>
      </p:sp>
      <p:sp>
        <p:nvSpPr>
          <p:cNvPr id="12" name="Text 10"/>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Recall: Let’s Make a Cup of Tea or Coffee</a:t>
            </a:r>
            <a:endParaRPr lang="en-US" sz="3000" dirty="0"/>
          </a:p>
        </p:txBody>
      </p:sp>
      <p:sp>
        <p:nvSpPr>
          <p:cNvPr id="4" name="Text 2"/>
          <p:cNvSpPr/>
          <p:nvPr/>
        </p:nvSpPr>
        <p:spPr>
          <a:xfrm>
            <a:off x="2349500" y="1299635"/>
            <a:ext cx="2794000" cy="314920"/>
          </a:xfrm>
          <a:custGeom>
            <a:avLst/>
            <a:gdLst/>
            <a:ahLst/>
            <a:cxnLst/>
            <a:rect l="l" t="t" r="r" b="b"/>
            <a:pathLst>
              <a:path w="2794000" h="314920">
                <a:moveTo>
                  <a:pt x="152400" y="0"/>
                </a:moveTo>
                <a:lnTo>
                  <a:pt x="2641600" y="0"/>
                </a:lnTo>
                <a:arcTo wR="152400" hR="152400" stAng="16200000" swAng="5400000"/>
                <a:lnTo>
                  <a:pt x="2794000" y="162520"/>
                </a:lnTo>
                <a:arcTo wR="152400" hR="152400" stAng="0" swAng="5400000"/>
                <a:lnTo>
                  <a:pt x="152400" y="314920"/>
                </a:lnTo>
                <a:arcTo wR="152400" hR="152400" stAng="5400000" swAng="5400000"/>
                <a:lnTo>
                  <a:pt x="0" y="152400"/>
                </a:lnTo>
                <a:arcTo wR="152400" hR="152400" stAng="10800000" swAng="5400000"/>
                <a:close/>
              </a:path>
            </a:pathLst>
          </a:custGeom>
          <a:solidFill>
            <a:srgbClr val="FF6371"/>
          </a:solidFill>
          <a:ln/>
        </p:spPr>
        <p:txBody>
          <a:bodyPr wrap="square" lIns="36576" tIns="50800" rIns="36576" bIns="25400" rtlCol="0" anchor="t">
            <a:normAutofit/>
          </a:bodyPr>
          <a:lstStyle/>
          <a:p>
            <a:pPr marL="0" indent="0" algn="ctr">
              <a:lnSpc>
                <a:spcPts val="1680"/>
              </a:lnSpc>
              <a:buNone/>
            </a:pPr>
            <a:r>
              <a:rPr lang="en-US" sz="1200" b="1" dirty="0">
                <a:solidFill>
                  <a:srgbClr val="131E29"/>
                </a:solidFill>
                <a:latin typeface="Arial" pitchFamily="34" charset="0"/>
                <a:ea typeface="Arial" pitchFamily="34" charset="-122"/>
                <a:cs typeface="Arial" pitchFamily="34" charset="-120"/>
              </a:rPr>
              <a:t>Supply chain: sourcing the inputs</a:t>
            </a:r>
            <a:endParaRPr lang="en-US" sz="1200" dirty="0"/>
          </a:p>
        </p:txBody>
      </p:sp>
      <p:sp>
        <p:nvSpPr>
          <p:cNvPr id="5" name="Text 3"/>
          <p:cNvSpPr/>
          <p:nvPr/>
        </p:nvSpPr>
        <p:spPr>
          <a:xfrm>
            <a:off x="7048500" y="1299635"/>
            <a:ext cx="2794000" cy="314920"/>
          </a:xfrm>
          <a:custGeom>
            <a:avLst/>
            <a:gdLst/>
            <a:ahLst/>
            <a:cxnLst/>
            <a:rect l="l" t="t" r="r" b="b"/>
            <a:pathLst>
              <a:path w="2794000" h="314920">
                <a:moveTo>
                  <a:pt x="152400" y="0"/>
                </a:moveTo>
                <a:lnTo>
                  <a:pt x="2641600" y="0"/>
                </a:lnTo>
                <a:arcTo wR="152400" hR="152400" stAng="16200000" swAng="5400000"/>
                <a:lnTo>
                  <a:pt x="2794000" y="162520"/>
                </a:lnTo>
                <a:arcTo wR="152400" hR="152400" stAng="0" swAng="5400000"/>
                <a:lnTo>
                  <a:pt x="152400" y="314920"/>
                </a:lnTo>
                <a:arcTo wR="152400" hR="152400" stAng="5400000" swAng="5400000"/>
                <a:lnTo>
                  <a:pt x="0" y="152400"/>
                </a:lnTo>
                <a:arcTo wR="152400" hR="152400" stAng="10800000" swAng="5400000"/>
                <a:close/>
              </a:path>
            </a:pathLst>
          </a:custGeom>
          <a:solidFill>
            <a:srgbClr val="FF6371"/>
          </a:solidFill>
          <a:ln/>
        </p:spPr>
        <p:txBody>
          <a:bodyPr wrap="square" lIns="36576" tIns="50800" rIns="36576" bIns="25400" rtlCol="0" anchor="t">
            <a:normAutofit/>
          </a:bodyPr>
          <a:lstStyle/>
          <a:p>
            <a:pPr marL="0" indent="0" algn="ctr">
              <a:lnSpc>
                <a:spcPts val="1680"/>
              </a:lnSpc>
              <a:buNone/>
            </a:pPr>
            <a:r>
              <a:rPr lang="en-US" sz="1200" b="1" dirty="0">
                <a:solidFill>
                  <a:srgbClr val="131E29"/>
                </a:solidFill>
                <a:latin typeface="Arial" pitchFamily="34" charset="0"/>
                <a:ea typeface="Arial" pitchFamily="34" charset="-122"/>
                <a:cs typeface="Arial" pitchFamily="34" charset="-120"/>
              </a:rPr>
              <a:t>Supply chain: delivering the output</a:t>
            </a:r>
            <a:endParaRPr lang="en-US" sz="1200" dirty="0"/>
          </a:p>
        </p:txBody>
      </p:sp>
      <p:pic>
        <p:nvPicPr>
          <p:cNvPr id="6" name="Image 0" descr="Week 1 illustration: inputs (kettle, cup and saucer, spoon, sugar bowl, tea bag or coffee, water, sugar, milk), a ten-step transformation process with a woman pouring water from a kettle, and the output, a cup of tea or coffee ready for consumption"/>
          <p:cNvPicPr>
            <a:picLocks noChangeAspect="1"/>
          </p:cNvPicPr>
          <p:nvPr/>
        </p:nvPicPr>
        <p:blipFill>
          <a:blip r:embed="rId3"/>
          <a:srcRect t="-22" b="-22"/>
          <a:stretch/>
        </p:blipFill>
        <p:spPr>
          <a:xfrm>
            <a:off x="2349500" y="1716156"/>
            <a:ext cx="7493000" cy="3060700"/>
          </a:xfrm>
          <a:prstGeom prst="rect">
            <a:avLst/>
          </a:prstGeom>
        </p:spPr>
      </p:pic>
      <p:sp>
        <p:nvSpPr>
          <p:cNvPr id="7" name="Shape 4"/>
          <p:cNvSpPr/>
          <p:nvPr/>
        </p:nvSpPr>
        <p:spPr>
          <a:xfrm>
            <a:off x="2368550" y="1735206"/>
            <a:ext cx="1854200" cy="3022600"/>
          </a:xfrm>
          <a:prstGeom prst="roundRect">
            <a:avLst>
              <a:gd name="adj" fmla="val 5137"/>
            </a:avLst>
          </a:prstGeom>
          <a:noFill/>
          <a:ln w="38100">
            <a:solidFill>
              <a:srgbClr val="FF6371"/>
            </a:solidFill>
            <a:prstDash val="solid"/>
          </a:ln>
        </p:spPr>
        <p:txBody>
          <a:bodyPr/>
          <a:lstStyle/>
          <a:p>
            <a:endParaRPr lang="en-GB"/>
          </a:p>
        </p:txBody>
      </p:sp>
      <p:sp>
        <p:nvSpPr>
          <p:cNvPr id="8" name="Shape 5"/>
          <p:cNvSpPr/>
          <p:nvPr/>
        </p:nvSpPr>
        <p:spPr>
          <a:xfrm>
            <a:off x="8058150" y="1735206"/>
            <a:ext cx="1765300" cy="3022600"/>
          </a:xfrm>
          <a:prstGeom prst="roundRect">
            <a:avLst>
              <a:gd name="adj" fmla="val 5396"/>
            </a:avLst>
          </a:prstGeom>
          <a:noFill/>
          <a:ln w="38100">
            <a:solidFill>
              <a:srgbClr val="FF6371"/>
            </a:solidFill>
            <a:prstDash val="solid"/>
          </a:ln>
        </p:spPr>
        <p:txBody>
          <a:bodyPr/>
          <a:lstStyle/>
          <a:p>
            <a:endParaRPr lang="en-GB"/>
          </a:p>
        </p:txBody>
      </p:sp>
      <p:sp>
        <p:nvSpPr>
          <p:cNvPr id="9" name="Text 6"/>
          <p:cNvSpPr/>
          <p:nvPr/>
        </p:nvSpPr>
        <p:spPr>
          <a:xfrm>
            <a:off x="812800" y="4878456"/>
            <a:ext cx="5181600" cy="868561"/>
          </a:xfrm>
          <a:prstGeom prst="rect">
            <a:avLst/>
          </a:prstGeom>
          <a:solidFill>
            <a:srgbClr val="FFF0F1"/>
          </a:solidFill>
          <a:ln/>
        </p:spPr>
        <p:txBody>
          <a:bodyPr wrap="square" lIns="203200" tIns="114300" rIns="7620" bIns="88900" rtlCol="0" anchor="t">
            <a:normAutofit/>
          </a:bodyPr>
          <a:lstStyle/>
          <a:p>
            <a:pPr marL="0" indent="0" algn="l">
              <a:lnSpc>
                <a:spcPts val="1680"/>
              </a:lnSpc>
              <a:buNone/>
            </a:pPr>
            <a:r>
              <a:rPr lang="en-US" sz="1200" b="1" dirty="0">
                <a:solidFill>
                  <a:srgbClr val="131E29"/>
                </a:solidFill>
                <a:latin typeface="Arial" pitchFamily="34" charset="0"/>
                <a:ea typeface="Arial" pitchFamily="34" charset="-122"/>
                <a:cs typeface="Arial" pitchFamily="34" charset="-120"/>
              </a:rPr>
              <a:t>Where do the inputs come from?</a:t>
            </a:r>
            <a:r>
              <a:rPr lang="en-US" sz="1200" dirty="0">
                <a:solidFill>
                  <a:srgbClr val="131E29"/>
                </a:solidFill>
                <a:latin typeface="Arial" pitchFamily="34" charset="0"/>
                <a:ea typeface="Arial" pitchFamily="34" charset="-122"/>
                <a:cs typeface="Arial" pitchFamily="34" charset="-120"/>
              </a:rPr>
              <a:t> Coffee from Brazil or Colombia, tea from Kenya or India, milk from a UK dairy farm; kettle and cup made overseas.</a:t>
            </a:r>
            <a:endParaRPr lang="en-US" sz="1200" dirty="0"/>
          </a:p>
        </p:txBody>
      </p:sp>
      <p:sp>
        <p:nvSpPr>
          <p:cNvPr id="10" name="Shape 7"/>
          <p:cNvSpPr/>
          <p:nvPr/>
        </p:nvSpPr>
        <p:spPr>
          <a:xfrm>
            <a:off x="838200" y="4878456"/>
            <a:ext cx="0" cy="868561"/>
          </a:xfrm>
          <a:prstGeom prst="line">
            <a:avLst/>
          </a:prstGeom>
          <a:noFill/>
          <a:ln w="50800">
            <a:solidFill>
              <a:srgbClr val="FF6371"/>
            </a:solidFill>
            <a:prstDash val="solid"/>
          </a:ln>
        </p:spPr>
        <p:txBody>
          <a:bodyPr/>
          <a:lstStyle/>
          <a:p>
            <a:endParaRPr lang="en-GB"/>
          </a:p>
        </p:txBody>
      </p:sp>
      <p:sp>
        <p:nvSpPr>
          <p:cNvPr id="11" name="Text 8"/>
          <p:cNvSpPr/>
          <p:nvPr/>
        </p:nvSpPr>
        <p:spPr>
          <a:xfrm>
            <a:off x="6197600" y="4878456"/>
            <a:ext cx="5181600" cy="868561"/>
          </a:xfrm>
          <a:prstGeom prst="rect">
            <a:avLst/>
          </a:prstGeom>
          <a:solidFill>
            <a:srgbClr val="FFF0F1"/>
          </a:solidFill>
          <a:ln/>
        </p:spPr>
        <p:txBody>
          <a:bodyPr wrap="square" lIns="203200" tIns="114300" rIns="7620" bIns="88900" rtlCol="0" anchor="t">
            <a:normAutofit/>
          </a:bodyPr>
          <a:lstStyle/>
          <a:p>
            <a:pPr marL="0" indent="0" algn="l">
              <a:lnSpc>
                <a:spcPts val="1680"/>
              </a:lnSpc>
              <a:buNone/>
            </a:pPr>
            <a:r>
              <a:rPr lang="en-US" sz="1200" b="1" dirty="0">
                <a:solidFill>
                  <a:srgbClr val="131E29"/>
                </a:solidFill>
                <a:latin typeface="Arial" pitchFamily="34" charset="0"/>
                <a:ea typeface="Arial" pitchFamily="34" charset="-122"/>
                <a:cs typeface="Arial" pitchFamily="34" charset="-120"/>
              </a:rPr>
              <a:t>How does the output reach the customer?</a:t>
            </a:r>
            <a:r>
              <a:rPr lang="en-US" sz="1200" dirty="0">
                <a:solidFill>
                  <a:srgbClr val="131E29"/>
                </a:solidFill>
                <a:latin typeface="Arial" pitchFamily="34" charset="0"/>
                <a:ea typeface="Arial" pitchFamily="34" charset="-122"/>
                <a:cs typeface="Arial" pitchFamily="34" charset="-120"/>
              </a:rPr>
              <a:t> Handed to a guest at home; in a café, served at the counter, collected from a mobile order or brought by a delivery rider.</a:t>
            </a:r>
            <a:endParaRPr lang="en-US" sz="1200" dirty="0"/>
          </a:p>
        </p:txBody>
      </p:sp>
      <p:sp>
        <p:nvSpPr>
          <p:cNvPr id="12" name="Shape 9"/>
          <p:cNvSpPr/>
          <p:nvPr/>
        </p:nvSpPr>
        <p:spPr>
          <a:xfrm>
            <a:off x="6223000" y="4878456"/>
            <a:ext cx="0" cy="868561"/>
          </a:xfrm>
          <a:prstGeom prst="line">
            <a:avLst/>
          </a:prstGeom>
          <a:noFill/>
          <a:ln w="50800">
            <a:solidFill>
              <a:srgbClr val="FF6371"/>
            </a:solidFill>
            <a:prstDash val="solid"/>
          </a:ln>
        </p:spPr>
        <p:txBody>
          <a:bodyPr/>
          <a:lstStyle/>
          <a:p>
            <a:endParaRPr lang="en-GB"/>
          </a:p>
        </p:txBody>
      </p:sp>
      <p:sp>
        <p:nvSpPr>
          <p:cNvPr id="13" name="Text 10"/>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10</a:t>
            </a:r>
            <a:endParaRPr lang="en-US" sz="1200" dirty="0"/>
          </a:p>
        </p:txBody>
      </p:sp>
      <p:sp>
        <p:nvSpPr>
          <p:cNvPr id="14" name="Text 11"/>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Figure from Week 1, Operations and Supply Chain Management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43000"/>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566928"/>
            <a:ext cx="10883392" cy="50292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OM and SCM: One System, Two Lenses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3401568"/>
          <a:ext cx="10553700" cy="1810512"/>
        </p:xfrm>
        <a:graphic>
          <a:graphicData uri="http://schemas.openxmlformats.org/drawingml/2006/table">
            <a:tbl>
              <a:tblPr/>
              <a:tblGrid>
                <a:gridCol w="2321814">
                  <a:extLst>
                    <a:ext uri="{9D8B030D-6E8A-4147-A177-3AD203B41FA5}">
                      <a16:colId xmlns:a16="http://schemas.microsoft.com/office/drawing/2014/main" val="20000"/>
                    </a:ext>
                  </a:extLst>
                </a:gridCol>
                <a:gridCol w="4115943">
                  <a:extLst>
                    <a:ext uri="{9D8B030D-6E8A-4147-A177-3AD203B41FA5}">
                      <a16:colId xmlns:a16="http://schemas.microsoft.com/office/drawing/2014/main" val="20001"/>
                    </a:ext>
                  </a:extLst>
                </a:gridCol>
                <a:gridCol w="4115943">
                  <a:extLst>
                    <a:ext uri="{9D8B030D-6E8A-4147-A177-3AD203B41FA5}">
                      <a16:colId xmlns:a16="http://schemas.microsoft.com/office/drawing/2014/main" val="20002"/>
                    </a:ext>
                  </a:extLst>
                </a:gridCol>
              </a:tblGrid>
              <a:tr h="301752">
                <a:tc>
                  <a:txBody>
                    <a:bodyPr/>
                    <a:lstStyle/>
                    <a:p>
                      <a:pPr marL="0" indent="0">
                        <a:lnSpc>
                          <a:spcPts val="1960"/>
                        </a:lnSpc>
                        <a:buNone/>
                      </a:pPr>
                      <a:r>
                        <a:rPr lang="en-US" sz="1200" b="1" dirty="0">
                          <a:solidFill>
                            <a:srgbClr val="FFFFFF"/>
                          </a:solidFill>
                          <a:latin typeface="Arial" pitchFamily="34" charset="0"/>
                          <a:ea typeface="Arial" pitchFamily="34" charset="-122"/>
                          <a:cs typeface="Arial" pitchFamily="34" charset="-120"/>
                        </a:rPr>
                        <a:t>Dimension</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960"/>
                        </a:lnSpc>
                        <a:buNone/>
                      </a:pPr>
                      <a:r>
                        <a:rPr lang="en-US" sz="1200" b="1" dirty="0">
                          <a:solidFill>
                            <a:srgbClr val="FFFFFF"/>
                          </a:solidFill>
                          <a:latin typeface="Arial" pitchFamily="34" charset="0"/>
                          <a:ea typeface="Arial" pitchFamily="34" charset="-122"/>
                          <a:cs typeface="Arial" pitchFamily="34" charset="-120"/>
                        </a:rPr>
                        <a:t>Operations management</a:t>
                      </a:r>
                      <a:endParaRPr lang="en-US" sz="1400" dirty="0">
                        <a:latin typeface="Arial" charset="0"/>
                        <a:ea typeface="Arial" charset="0"/>
                        <a:cs typeface="Arial" charset="0"/>
                      </a:endParaRPr>
                    </a:p>
                  </a:txBody>
                  <a:tcPr marL="62230" marR="62230" marT="27432" marB="27432">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960"/>
                        </a:lnSpc>
                        <a:buNone/>
                      </a:pPr>
                      <a:r>
                        <a:rPr lang="en-US" sz="1200" b="1" dirty="0">
                          <a:solidFill>
                            <a:srgbClr val="FFFFFF"/>
                          </a:solidFill>
                          <a:latin typeface="Arial" pitchFamily="34" charset="0"/>
                          <a:ea typeface="Arial" pitchFamily="34" charset="-122"/>
                          <a:cs typeface="Arial" pitchFamily="34" charset="-120"/>
                        </a:rPr>
                        <a:t>Supply chain management</a:t>
                      </a:r>
                      <a:endParaRPr lang="en-US" sz="1400" dirty="0">
                        <a:latin typeface="Arial" charset="0"/>
                        <a:ea typeface="Arial" charset="0"/>
                        <a:cs typeface="Arial" charset="0"/>
                      </a:endParaRPr>
                    </a:p>
                  </a:txBody>
                  <a:tcPr marL="62230" marR="62230" marT="27432" marB="27432">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extLst>
                  <a:ext uri="{0D108BD9-81ED-4DB2-BD59-A6C34878D82A}">
                    <a16:rowId xmlns:a16="http://schemas.microsoft.com/office/drawing/2014/main" val="10000"/>
                  </a:ext>
                </a:extLst>
              </a:tr>
              <a:tr h="301752">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Unit of analysis</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One operation and its processes</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The network of linked operations</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Main question</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How do we transform inputs efficiently?</a:t>
                      </a:r>
                      <a:endParaRPr lang="en-US" sz="1400" dirty="0">
                        <a:latin typeface="Arial" charset="0"/>
                        <a:ea typeface="Arial" charset="0"/>
                        <a:cs typeface="Arial" charset="0"/>
                      </a:endParaRPr>
                    </a:p>
                  </a:txBody>
                  <a:tcPr marL="62230" marR="62230" marT="27432" marB="27432">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How do we coordinate flows across firms?</a:t>
                      </a:r>
                      <a:endParaRPr lang="en-US" sz="1400" dirty="0">
                        <a:latin typeface="Arial" charset="0"/>
                        <a:ea typeface="Arial" charset="0"/>
                        <a:cs typeface="Arial" charset="0"/>
                      </a:endParaRPr>
                    </a:p>
                  </a:txBody>
                  <a:tcPr marL="62230" marR="62230" marT="27432" marB="27432">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2"/>
                  </a:ext>
                </a:extLst>
              </a:tr>
              <a:tr h="301752">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Typical decisions</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Process design, layout, capacity, quality</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Sourcing, network design, inventory, logistics</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Control</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Direct authority</a:t>
                      </a:r>
                      <a:endParaRPr lang="en-US" sz="1400" dirty="0">
                        <a:latin typeface="Arial" charset="0"/>
                        <a:ea typeface="Arial" charset="0"/>
                        <a:cs typeface="Arial" charset="0"/>
                      </a:endParaRPr>
                    </a:p>
                  </a:txBody>
                  <a:tcPr marL="62230" marR="62230" marT="27432" marB="27432">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Influence, contracts and relationships</a:t>
                      </a:r>
                      <a:endParaRPr lang="en-US" sz="1400" dirty="0">
                        <a:latin typeface="Arial" charset="0"/>
                        <a:ea typeface="Arial" charset="0"/>
                        <a:cs typeface="Arial" charset="0"/>
                      </a:endParaRPr>
                    </a:p>
                  </a:txBody>
                  <a:tcPr marL="62230" marR="62230" marT="27432" marB="27432">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4"/>
                  </a:ext>
                </a:extLst>
              </a:tr>
              <a:tr h="301752">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Success measure</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Internal performance objectives</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200" dirty="0">
                          <a:solidFill>
                            <a:srgbClr val="131E29"/>
                          </a:solidFill>
                          <a:latin typeface="Arial" pitchFamily="34" charset="0"/>
                          <a:ea typeface="Arial" pitchFamily="34" charset="-122"/>
                          <a:cs typeface="Arial" pitchFamily="34" charset="-120"/>
                        </a:rPr>
                        <a:t>End-customer value across the chain</a:t>
                      </a:r>
                      <a:endParaRPr lang="en-US" sz="1400" dirty="0">
                        <a:latin typeface="Arial" charset="0"/>
                        <a:ea typeface="Arial" charset="0"/>
                        <a:cs typeface="Arial" charset="0"/>
                      </a:endParaRPr>
                    </a:p>
                  </a:txBody>
                  <a:tcPr marL="62230" marR="62230" marT="27432" marB="2743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5394960"/>
            <a:ext cx="10566400" cy="731520"/>
          </a:xfrm>
          <a:prstGeom prst="rect">
            <a:avLst/>
          </a:prstGeom>
          <a:solidFill>
            <a:srgbClr val="E6F6FA"/>
          </a:solidFill>
          <a:ln/>
        </p:spPr>
        <p:txBody>
          <a:bodyPr wrap="square" lIns="254000" tIns="45720" rIns="0" bIns="45720" rtlCol="0" anchor="ctr"/>
          <a:lstStyle/>
          <a:p>
            <a:pPr marL="0" indent="0" algn="l">
              <a:lnSpc>
                <a:spcPts val="2240"/>
              </a:lnSpc>
              <a:buNone/>
            </a:pPr>
            <a:r>
              <a:rPr lang="en-US" sz="1600" dirty="0">
                <a:solidFill>
                  <a:srgbClr val="131E29"/>
                </a:solidFill>
                <a:latin typeface="Arial" pitchFamily="34" charset="0"/>
                <a:ea typeface="Arial" pitchFamily="34" charset="-122"/>
                <a:cs typeface="Arial" pitchFamily="34" charset="-120"/>
              </a:rPr>
              <a:t>Supply chain management is operations management extended beyond the factory gate: </a:t>
            </a:r>
            <a:r>
              <a:rPr lang="en-US" sz="1600" b="1" dirty="0">
                <a:solidFill>
                  <a:srgbClr val="131E29"/>
                </a:solidFill>
                <a:latin typeface="Arial" pitchFamily="34" charset="0"/>
                <a:ea typeface="Arial" pitchFamily="34" charset="-122"/>
                <a:cs typeface="Arial" pitchFamily="34" charset="-120"/>
              </a:rPr>
              <a:t>firms compete as supply chains, not only as single firms Christopher (2001).</a:t>
            </a:r>
            <a:endParaRPr lang="en-US" sz="1600" dirty="0"/>
          </a:p>
        </p:txBody>
      </p:sp>
      <p:sp>
        <p:nvSpPr>
          <p:cNvPr id="6" name="Shape 3"/>
          <p:cNvSpPr/>
          <p:nvPr/>
        </p:nvSpPr>
        <p:spPr>
          <a:xfrm>
            <a:off x="838200" y="5394960"/>
            <a:ext cx="0" cy="731520"/>
          </a:xfrm>
          <a:prstGeom prst="line">
            <a:avLst/>
          </a:prstGeom>
          <a:noFill/>
          <a:ln w="50800">
            <a:solidFill>
              <a:srgbClr val="005A8F"/>
            </a:solidFill>
            <a:prstDash val="solid"/>
          </a:ln>
        </p:spPr>
        <p:txBody>
          <a:bodyPr/>
          <a:lstStyle/>
          <a:p>
            <a:endParaRPr lang="en-GB"/>
          </a:p>
        </p:txBody>
      </p:sp>
      <p:sp>
        <p:nvSpPr>
          <p:cNvPr id="7" name="Text 4"/>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11</a:t>
            </a:r>
            <a:endParaRPr lang="en-US" sz="1200" dirty="0"/>
          </a:p>
        </p:txBody>
      </p:sp>
      <p:sp>
        <p:nvSpPr>
          <p:cNvPr id="8" name="OM lens label"/>
          <p:cNvSpPr txBox="1"/>
          <p:nvPr/>
        </p:nvSpPr>
        <p:spPr>
          <a:xfrm>
            <a:off x="813816" y="1325880"/>
            <a:ext cx="4846320" cy="320040"/>
          </a:xfrm>
          <a:prstGeom prst="rect">
            <a:avLst/>
          </a:prstGeom>
          <a:noFill/>
        </p:spPr>
        <p:txBody>
          <a:bodyPr wrap="square" lIns="0" tIns="0" rIns="0" bIns="0" anchor="t">
            <a:spAutoFit/>
          </a:bodyPr>
          <a:lstStyle/>
          <a:p>
            <a:pPr algn="l">
              <a:spcAft>
                <a:spcPts val="0"/>
              </a:spcAft>
            </a:pPr>
            <a:r>
              <a:rPr sz="1500" b="1">
                <a:solidFill>
                  <a:srgbClr val="440099"/>
                </a:solidFill>
                <a:latin typeface="Arial"/>
              </a:rPr>
              <a:t>OM lens: zoom in</a:t>
            </a:r>
            <a:r>
              <a:rPr sz="1500" b="0">
                <a:solidFill>
                  <a:srgbClr val="5E6977"/>
                </a:solidFill>
                <a:latin typeface="Arial"/>
              </a:rPr>
              <a:t>  inside one operation</a:t>
            </a:r>
          </a:p>
        </p:txBody>
      </p:sp>
      <p:sp>
        <p:nvSpPr>
          <p:cNvPr id="9" name="OM lens"/>
          <p:cNvSpPr/>
          <p:nvPr/>
        </p:nvSpPr>
        <p:spPr>
          <a:xfrm>
            <a:off x="813816" y="1709928"/>
            <a:ext cx="4846320" cy="1481328"/>
          </a:xfrm>
          <a:prstGeom prst="roundRect">
            <a:avLst>
              <a:gd name="adj" fmla="val 50000"/>
            </a:avLst>
          </a:prstGeom>
          <a:solidFill>
            <a:srgbClr val="F4EFFA"/>
          </a:solidFill>
          <a:ln w="25400">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M Inputs"/>
          <p:cNvSpPr/>
          <p:nvPr/>
        </p:nvSpPr>
        <p:spPr>
          <a:xfrm>
            <a:off x="1234440" y="2121408"/>
            <a:ext cx="1097280" cy="731520"/>
          </a:xfrm>
          <a:prstGeom prst="roundRect">
            <a:avLst>
              <a:gd name="adj" fmla="val 15000"/>
            </a:avLst>
          </a:prstGeom>
          <a:solidFill>
            <a:srgbClr val="FFFFFF"/>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300" b="1">
                <a:solidFill>
                  <a:srgbClr val="440099"/>
                </a:solidFill>
                <a:latin typeface="Arial"/>
              </a:rPr>
              <a:t>Inputs</a:t>
            </a:r>
          </a:p>
        </p:txBody>
      </p:sp>
      <p:cxnSp>
        <p:nvCxnSpPr>
          <p:cNvPr id="11" name="OM arrow 1"/>
          <p:cNvCxnSpPr/>
          <p:nvPr/>
        </p:nvCxnSpPr>
        <p:spPr>
          <a:xfrm>
            <a:off x="2350008" y="2487168"/>
            <a:ext cx="283464" cy="0"/>
          </a:xfrm>
          <a:prstGeom prst="line">
            <a:avLst/>
          </a:prstGeom>
          <a:ln w="22225">
            <a:solidFill>
              <a:srgbClr val="4400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M Transform"/>
          <p:cNvSpPr/>
          <p:nvPr/>
        </p:nvSpPr>
        <p:spPr>
          <a:xfrm>
            <a:off x="2651760" y="2121408"/>
            <a:ext cx="1097280" cy="731520"/>
          </a:xfrm>
          <a:prstGeom prst="roundRect">
            <a:avLst>
              <a:gd name="adj" fmla="val 15000"/>
            </a:avLst>
          </a:prstGeom>
          <a:solidFill>
            <a:srgbClr val="440099"/>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300" b="1">
                <a:solidFill>
                  <a:srgbClr val="FFFFFF"/>
                </a:solidFill>
                <a:latin typeface="Arial"/>
              </a:rPr>
              <a:t>Transform</a:t>
            </a:r>
          </a:p>
        </p:txBody>
      </p:sp>
      <p:cxnSp>
        <p:nvCxnSpPr>
          <p:cNvPr id="13" name="OM arrow 2"/>
          <p:cNvCxnSpPr/>
          <p:nvPr/>
        </p:nvCxnSpPr>
        <p:spPr>
          <a:xfrm>
            <a:off x="3767328" y="2487168"/>
            <a:ext cx="283464" cy="0"/>
          </a:xfrm>
          <a:prstGeom prst="line">
            <a:avLst/>
          </a:prstGeom>
          <a:ln w="22225">
            <a:solidFill>
              <a:srgbClr val="4400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M Outputs"/>
          <p:cNvSpPr/>
          <p:nvPr/>
        </p:nvSpPr>
        <p:spPr>
          <a:xfrm>
            <a:off x="4069080" y="2121408"/>
            <a:ext cx="1097280" cy="731520"/>
          </a:xfrm>
          <a:prstGeom prst="roundRect">
            <a:avLst>
              <a:gd name="adj" fmla="val 15000"/>
            </a:avLst>
          </a:prstGeom>
          <a:solidFill>
            <a:srgbClr val="FFFFFF"/>
          </a:solidFill>
          <a:ln w="19050">
            <a:solidFill>
              <a:srgbClr val="440099"/>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300" b="1">
                <a:solidFill>
                  <a:srgbClr val="440099"/>
                </a:solidFill>
                <a:latin typeface="Arial"/>
              </a:rPr>
              <a:t>Outputs</a:t>
            </a:r>
          </a:p>
        </p:txBody>
      </p:sp>
      <p:sp>
        <p:nvSpPr>
          <p:cNvPr id="15" name="SCM lens label"/>
          <p:cNvSpPr txBox="1"/>
          <p:nvPr/>
        </p:nvSpPr>
        <p:spPr>
          <a:xfrm>
            <a:off x="6035040" y="1325880"/>
            <a:ext cx="5349240" cy="320040"/>
          </a:xfrm>
          <a:prstGeom prst="rect">
            <a:avLst/>
          </a:prstGeom>
          <a:noFill/>
        </p:spPr>
        <p:txBody>
          <a:bodyPr wrap="square" lIns="0" tIns="0" rIns="0" bIns="0" anchor="t">
            <a:spAutoFit/>
          </a:bodyPr>
          <a:lstStyle/>
          <a:p>
            <a:pPr algn="l">
              <a:spcAft>
                <a:spcPts val="0"/>
              </a:spcAft>
            </a:pPr>
            <a:r>
              <a:rPr sz="1500" b="1">
                <a:solidFill>
                  <a:srgbClr val="005A8F"/>
                </a:solidFill>
                <a:latin typeface="Arial"/>
              </a:rPr>
              <a:t>SCM lens: zoom out</a:t>
            </a:r>
            <a:r>
              <a:rPr sz="1500" b="0">
                <a:solidFill>
                  <a:srgbClr val="5E6977"/>
                </a:solidFill>
                <a:latin typeface="Arial"/>
              </a:rPr>
              <a:t>  across the whole network</a:t>
            </a:r>
          </a:p>
        </p:txBody>
      </p:sp>
      <p:sp>
        <p:nvSpPr>
          <p:cNvPr id="16" name="SCM lens"/>
          <p:cNvSpPr/>
          <p:nvPr/>
        </p:nvSpPr>
        <p:spPr>
          <a:xfrm>
            <a:off x="6035040" y="1709928"/>
            <a:ext cx="5349240" cy="1481328"/>
          </a:xfrm>
          <a:prstGeom prst="roundRect">
            <a:avLst>
              <a:gd name="adj" fmla="val 12000"/>
            </a:avLst>
          </a:prstGeom>
          <a:solidFill>
            <a:srgbClr val="E6F6FA"/>
          </a:solidFill>
          <a:ln w="25400">
            <a:solidFill>
              <a:srgbClr val="00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ode Farm"/>
          <p:cNvSpPr/>
          <p:nvPr/>
        </p:nvSpPr>
        <p:spPr>
          <a:xfrm>
            <a:off x="6217920" y="1874519"/>
            <a:ext cx="1143000" cy="457200"/>
          </a:xfrm>
          <a:prstGeom prst="roundRect">
            <a:avLst>
              <a:gd name="adj" fmla="val 20000"/>
            </a:avLst>
          </a:prstGeom>
          <a:solidFill>
            <a:srgbClr val="FFFFFF"/>
          </a:solidFill>
          <a:ln w="15875">
            <a:solidFill>
              <a:srgbClr val="005A8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005A8F"/>
                </a:solidFill>
                <a:latin typeface="Arial"/>
              </a:rPr>
              <a:t>Farm</a:t>
            </a:r>
          </a:p>
        </p:txBody>
      </p:sp>
      <p:sp>
        <p:nvSpPr>
          <p:cNvPr id="18" name="Node Supplier"/>
          <p:cNvSpPr/>
          <p:nvPr/>
        </p:nvSpPr>
        <p:spPr>
          <a:xfrm>
            <a:off x="6217920" y="2606040"/>
            <a:ext cx="1143000" cy="457200"/>
          </a:xfrm>
          <a:prstGeom prst="roundRect">
            <a:avLst>
              <a:gd name="adj" fmla="val 20000"/>
            </a:avLst>
          </a:prstGeom>
          <a:solidFill>
            <a:srgbClr val="FFFFFF"/>
          </a:solidFill>
          <a:ln w="15875">
            <a:solidFill>
              <a:srgbClr val="005A8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005A8F"/>
                </a:solidFill>
                <a:latin typeface="Arial"/>
              </a:rPr>
              <a:t>Supplier</a:t>
            </a:r>
          </a:p>
        </p:txBody>
      </p:sp>
      <p:sp>
        <p:nvSpPr>
          <p:cNvPr id="19" name="Node The operation"/>
          <p:cNvSpPr/>
          <p:nvPr/>
        </p:nvSpPr>
        <p:spPr>
          <a:xfrm>
            <a:off x="7726679" y="2240280"/>
            <a:ext cx="1280160" cy="457200"/>
          </a:xfrm>
          <a:prstGeom prst="roundRect">
            <a:avLst>
              <a:gd name="adj" fmla="val 20000"/>
            </a:avLst>
          </a:prstGeom>
          <a:solidFill>
            <a:srgbClr val="440099"/>
          </a:solidFill>
          <a:ln w="15875">
            <a:solidFill>
              <a:srgbClr val="440099"/>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FFFFFF"/>
                </a:solidFill>
                <a:latin typeface="Arial"/>
              </a:rPr>
              <a:t>The operation</a:t>
            </a:r>
          </a:p>
        </p:txBody>
      </p:sp>
      <p:sp>
        <p:nvSpPr>
          <p:cNvPr id="20" name="Node Warehouse"/>
          <p:cNvSpPr/>
          <p:nvPr/>
        </p:nvSpPr>
        <p:spPr>
          <a:xfrm>
            <a:off x="9281160" y="1874519"/>
            <a:ext cx="1143000" cy="457200"/>
          </a:xfrm>
          <a:prstGeom prst="roundRect">
            <a:avLst>
              <a:gd name="adj" fmla="val 20000"/>
            </a:avLst>
          </a:prstGeom>
          <a:solidFill>
            <a:srgbClr val="FFFFFF"/>
          </a:solidFill>
          <a:ln w="15875">
            <a:solidFill>
              <a:srgbClr val="005A8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005A8F"/>
                </a:solidFill>
                <a:latin typeface="Arial"/>
              </a:rPr>
              <a:t>Warehouse</a:t>
            </a:r>
          </a:p>
        </p:txBody>
      </p:sp>
      <p:sp>
        <p:nvSpPr>
          <p:cNvPr id="21" name="Node Store"/>
          <p:cNvSpPr/>
          <p:nvPr/>
        </p:nvSpPr>
        <p:spPr>
          <a:xfrm>
            <a:off x="9281160" y="2606040"/>
            <a:ext cx="1143000" cy="457200"/>
          </a:xfrm>
          <a:prstGeom prst="roundRect">
            <a:avLst>
              <a:gd name="adj" fmla="val 20000"/>
            </a:avLst>
          </a:prstGeom>
          <a:solidFill>
            <a:srgbClr val="FFFFFF"/>
          </a:solidFill>
          <a:ln w="15875">
            <a:solidFill>
              <a:srgbClr val="005A8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005A8F"/>
                </a:solidFill>
                <a:latin typeface="Arial"/>
              </a:rPr>
              <a:t>Store</a:t>
            </a:r>
          </a:p>
        </p:txBody>
      </p:sp>
      <p:sp>
        <p:nvSpPr>
          <p:cNvPr id="22" name="Node You"/>
          <p:cNvSpPr/>
          <p:nvPr/>
        </p:nvSpPr>
        <p:spPr>
          <a:xfrm>
            <a:off x="10652760" y="2240280"/>
            <a:ext cx="548640" cy="457200"/>
          </a:xfrm>
          <a:prstGeom prst="roundRect">
            <a:avLst>
              <a:gd name="adj" fmla="val 20000"/>
            </a:avLst>
          </a:prstGeom>
          <a:solidFill>
            <a:srgbClr val="FFFFFF"/>
          </a:solidFill>
          <a:ln w="15875">
            <a:solidFill>
              <a:srgbClr val="005A8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005A8F"/>
                </a:solidFill>
                <a:latin typeface="Arial"/>
              </a:rPr>
              <a:t>You</a:t>
            </a:r>
          </a:p>
        </p:txBody>
      </p:sp>
      <p:cxnSp>
        <p:nvCxnSpPr>
          <p:cNvPr id="23" name="Farm to operation"/>
          <p:cNvCxnSpPr/>
          <p:nvPr/>
        </p:nvCxnSpPr>
        <p:spPr>
          <a:xfrm>
            <a:off x="7379208" y="2103120"/>
            <a:ext cx="329184" cy="292608"/>
          </a:xfrm>
          <a:prstGeom prst="line">
            <a:avLst/>
          </a:prstGeom>
          <a:ln w="22225">
            <a:solidFill>
              <a:srgbClr val="005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Supplier to operation"/>
          <p:cNvCxnSpPr/>
          <p:nvPr/>
        </p:nvCxnSpPr>
        <p:spPr>
          <a:xfrm flipV="1">
            <a:off x="7379208" y="2542032"/>
            <a:ext cx="329184" cy="292608"/>
          </a:xfrm>
          <a:prstGeom prst="line">
            <a:avLst/>
          </a:prstGeom>
          <a:ln w="22225">
            <a:solidFill>
              <a:srgbClr val="005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Operation to warehouse"/>
          <p:cNvCxnSpPr/>
          <p:nvPr/>
        </p:nvCxnSpPr>
        <p:spPr>
          <a:xfrm flipV="1">
            <a:off x="9025128" y="2103120"/>
            <a:ext cx="237744" cy="292608"/>
          </a:xfrm>
          <a:prstGeom prst="line">
            <a:avLst/>
          </a:prstGeom>
          <a:ln w="22225">
            <a:solidFill>
              <a:srgbClr val="005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Operation to store"/>
          <p:cNvCxnSpPr/>
          <p:nvPr/>
        </p:nvCxnSpPr>
        <p:spPr>
          <a:xfrm>
            <a:off x="9025128" y="2542032"/>
            <a:ext cx="237744" cy="292608"/>
          </a:xfrm>
          <a:prstGeom prst="line">
            <a:avLst/>
          </a:prstGeom>
          <a:ln w="22225">
            <a:solidFill>
              <a:srgbClr val="005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Warehouse to you"/>
          <p:cNvCxnSpPr/>
          <p:nvPr/>
        </p:nvCxnSpPr>
        <p:spPr>
          <a:xfrm>
            <a:off x="10442448" y="2103120"/>
            <a:ext cx="192024" cy="292608"/>
          </a:xfrm>
          <a:prstGeom prst="line">
            <a:avLst/>
          </a:prstGeom>
          <a:ln w="22225">
            <a:solidFill>
              <a:srgbClr val="005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Store to you"/>
          <p:cNvCxnSpPr/>
          <p:nvPr/>
        </p:nvCxnSpPr>
        <p:spPr>
          <a:xfrm flipV="1">
            <a:off x="10442448" y="2542032"/>
            <a:ext cx="192024" cy="292608"/>
          </a:xfrm>
          <a:prstGeom prst="line">
            <a:avLst/>
          </a:prstGeom>
          <a:ln w="22225">
            <a:solidFill>
              <a:srgbClr val="005A8F"/>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E7DAC31-77A9-4303-A39B-39ED1F771EDB}"/>
              </a:ext>
            </a:extLst>
          </p:cNvPr>
          <p:cNvSpPr>
            <a:spLocks noGrp="1"/>
          </p:cNvSpPr>
          <p:nvPr/>
        </p:nvSpPr>
        <p:spPr>
          <a:xfrm>
            <a:off x="476250" y="333375"/>
            <a:ext cx="11239500" cy="619125"/>
          </a:xfrm>
          <a:prstGeom prst="rect">
            <a:avLst/>
          </a:prstGeom>
          <a:noFill/>
          <a:ln w="0">
            <a:noFill/>
            <a:prstDash val="solid"/>
          </a:ln>
        </p:spPr>
        <p:txBody>
          <a:bodyPr/>
          <a:lstStyle>
            <a:defPPr>
              <a:defRPr sz="3375" b="1">
                <a:solidFill>
                  <a:srgbClr val="420099"/>
                </a:solidFill>
                <a:latin typeface="Arial"/>
                <a:ea typeface="Arial"/>
                <a:cs typeface="Arial"/>
              </a:defRPr>
            </a:defPPr>
            <a:lvl1pPr>
              <a:defRPr sz="3375" b="1">
                <a:solidFill>
                  <a:srgbClr val="420099"/>
                </a:solidFill>
                <a:latin typeface="Arial"/>
                <a:ea typeface="Arial"/>
                <a:cs typeface="Arial"/>
              </a:defRPr>
            </a:lvl1pPr>
            <a:lvl2pPr>
              <a:defRPr sz="3375" b="1">
                <a:solidFill>
                  <a:srgbClr val="420099"/>
                </a:solidFill>
                <a:latin typeface="Arial"/>
                <a:ea typeface="Arial"/>
                <a:cs typeface="Arial"/>
              </a:defRPr>
            </a:lvl2pPr>
            <a:lvl3pPr>
              <a:defRPr sz="3375" b="1">
                <a:solidFill>
                  <a:srgbClr val="420099"/>
                </a:solidFill>
                <a:latin typeface="Arial"/>
                <a:ea typeface="Arial"/>
                <a:cs typeface="Arial"/>
              </a:defRPr>
            </a:lvl3pPr>
            <a:lvl4pPr>
              <a:defRPr sz="3375" b="1">
                <a:solidFill>
                  <a:srgbClr val="420099"/>
                </a:solidFill>
                <a:latin typeface="Arial"/>
                <a:ea typeface="Arial"/>
                <a:cs typeface="Arial"/>
              </a:defRPr>
            </a:lvl4pPr>
            <a:lvl5pPr>
              <a:defRPr sz="3375" b="1">
                <a:solidFill>
                  <a:srgbClr val="420099"/>
                </a:solidFill>
                <a:latin typeface="Arial"/>
                <a:ea typeface="Arial"/>
                <a:cs typeface="Arial"/>
              </a:defRPr>
            </a:lvl5pPr>
            <a:lvl6pPr>
              <a:defRPr sz="3375" b="1">
                <a:solidFill>
                  <a:srgbClr val="420099"/>
                </a:solidFill>
                <a:latin typeface="Arial"/>
                <a:ea typeface="Arial"/>
                <a:cs typeface="Arial"/>
              </a:defRPr>
            </a:lvl6pPr>
            <a:lvl7pPr>
              <a:defRPr sz="3375" b="1">
                <a:solidFill>
                  <a:srgbClr val="420099"/>
                </a:solidFill>
                <a:latin typeface="Arial"/>
                <a:ea typeface="Arial"/>
                <a:cs typeface="Arial"/>
              </a:defRPr>
            </a:lvl7pPr>
            <a:lvl8pPr>
              <a:defRPr sz="3375" b="1">
                <a:solidFill>
                  <a:srgbClr val="420099"/>
                </a:solidFill>
                <a:latin typeface="Arial"/>
                <a:ea typeface="Arial"/>
                <a:cs typeface="Arial"/>
              </a:defRPr>
            </a:lvl8pPr>
            <a:lvl9pPr>
              <a:defRPr sz="3375" b="1">
                <a:solidFill>
                  <a:srgbClr val="420099"/>
                </a:solidFill>
                <a:latin typeface="Arial"/>
                <a:ea typeface="Arial"/>
                <a:cs typeface="Arial"/>
              </a:defRPr>
            </a:lvl9pPr>
          </a:lstStyle>
          <a:p>
            <a:pPr algn="l">
              <a:defRPr sz="3375" b="1">
                <a:solidFill>
                  <a:srgbClr val="420099"/>
                </a:solidFill>
                <a:latin typeface="Arial"/>
                <a:ea typeface="Arial"/>
                <a:cs typeface="Arial"/>
              </a:defRPr>
            </a:pPr>
            <a:r>
              <a:rPr sz="3000" b="1">
                <a:solidFill>
                  <a:srgbClr val="440099"/>
                </a:solidFill>
                <a:latin typeface="Arial"/>
                <a:ea typeface="Arial"/>
                <a:cs typeface="Arial"/>
              </a:rPr>
              <a:t>Three flows connect the supply chain</a:t>
            </a:r>
          </a:p>
        </p:txBody>
      </p:sp>
      <p:sp>
        <p:nvSpPr>
          <p:cNvPr id="2" name="Rectangle 1">
            <a:extLst>
              <a:ext uri="{FF2B5EF4-FFF2-40B4-BE49-F238E27FC236}">
                <a16:creationId xmlns:a16="http://schemas.microsoft.com/office/drawing/2014/main" id="{EA43F564-8C1B-4CDC-84FE-C4091ACDB9A4}"/>
              </a:ext>
            </a:extLst>
          </p:cNvPr>
          <p:cNvSpPr>
            <a:spLocks noGrp="1"/>
          </p:cNvSpPr>
          <p:nvPr/>
        </p:nvSpPr>
        <p:spPr>
          <a:xfrm>
            <a:off x="476250" y="1047750"/>
            <a:ext cx="11239500" cy="428625"/>
          </a:xfrm>
          <a:prstGeom prst="rect">
            <a:avLst/>
          </a:prstGeom>
          <a:noFill/>
          <a:ln w="0">
            <a:noFill/>
            <a:prstDash val="solid"/>
          </a:ln>
        </p:spPr>
        <p:txBody>
          <a:bodyPr/>
          <a:lstStyle>
            <a:defPPr>
              <a:defRPr sz="2025" b="0">
                <a:solidFill>
                  <a:srgbClr val="243333"/>
                </a:solidFill>
                <a:latin typeface="Arial"/>
                <a:ea typeface="Arial"/>
                <a:cs typeface="Arial"/>
              </a:defRPr>
            </a:defPPr>
            <a:lvl1pPr>
              <a:defRPr sz="2025" b="0">
                <a:solidFill>
                  <a:srgbClr val="243333"/>
                </a:solidFill>
                <a:latin typeface="Arial"/>
                <a:ea typeface="Arial"/>
                <a:cs typeface="Arial"/>
              </a:defRPr>
            </a:lvl1pPr>
            <a:lvl2pPr>
              <a:defRPr sz="2025" b="0">
                <a:solidFill>
                  <a:srgbClr val="243333"/>
                </a:solidFill>
                <a:latin typeface="Arial"/>
                <a:ea typeface="Arial"/>
                <a:cs typeface="Arial"/>
              </a:defRPr>
            </a:lvl2pPr>
            <a:lvl3pPr>
              <a:defRPr sz="2025" b="0">
                <a:solidFill>
                  <a:srgbClr val="243333"/>
                </a:solidFill>
                <a:latin typeface="Arial"/>
                <a:ea typeface="Arial"/>
                <a:cs typeface="Arial"/>
              </a:defRPr>
            </a:lvl3pPr>
            <a:lvl4pPr>
              <a:defRPr sz="2025" b="0">
                <a:solidFill>
                  <a:srgbClr val="243333"/>
                </a:solidFill>
                <a:latin typeface="Arial"/>
                <a:ea typeface="Arial"/>
                <a:cs typeface="Arial"/>
              </a:defRPr>
            </a:lvl4pPr>
            <a:lvl5pPr>
              <a:defRPr sz="2025" b="0">
                <a:solidFill>
                  <a:srgbClr val="243333"/>
                </a:solidFill>
                <a:latin typeface="Arial"/>
                <a:ea typeface="Arial"/>
                <a:cs typeface="Arial"/>
              </a:defRPr>
            </a:lvl5pPr>
            <a:lvl6pPr>
              <a:defRPr sz="2025" b="0">
                <a:solidFill>
                  <a:srgbClr val="243333"/>
                </a:solidFill>
                <a:latin typeface="Arial"/>
                <a:ea typeface="Arial"/>
                <a:cs typeface="Arial"/>
              </a:defRPr>
            </a:lvl6pPr>
            <a:lvl7pPr>
              <a:defRPr sz="2025" b="0">
                <a:solidFill>
                  <a:srgbClr val="243333"/>
                </a:solidFill>
                <a:latin typeface="Arial"/>
                <a:ea typeface="Arial"/>
                <a:cs typeface="Arial"/>
              </a:defRPr>
            </a:lvl7pPr>
            <a:lvl8pPr>
              <a:defRPr sz="2025" b="0">
                <a:solidFill>
                  <a:srgbClr val="243333"/>
                </a:solidFill>
                <a:latin typeface="Arial"/>
                <a:ea typeface="Arial"/>
                <a:cs typeface="Arial"/>
              </a:defRPr>
            </a:lvl8pPr>
            <a:lvl9pPr>
              <a:defRPr sz="2025" b="0">
                <a:solidFill>
                  <a:srgbClr val="243333"/>
                </a:solidFill>
                <a:latin typeface="Arial"/>
                <a:ea typeface="Arial"/>
                <a:cs typeface="Arial"/>
              </a:defRPr>
            </a:lvl9pPr>
          </a:lstStyle>
          <a:p>
            <a:pPr>
              <a:defRPr sz="2025" b="0">
                <a:solidFill>
                  <a:srgbClr val="243333"/>
                </a:solidFill>
                <a:latin typeface="Arial"/>
                <a:ea typeface="Arial"/>
                <a:cs typeface="Arial"/>
              </a:defRPr>
            </a:pPr>
            <a:r>
              <a:rPr sz="2000" b="0">
                <a:solidFill>
                  <a:srgbClr val="131E29"/>
                </a:solidFill>
                <a:latin typeface="Arial"/>
                <a:ea typeface="Arial"/>
                <a:cs typeface="Arial"/>
              </a:rPr>
              <a:t>Products move towards customers. Information connects every stage.</a:t>
            </a:r>
          </a:p>
        </p:txBody>
      </p:sp>
      <p:sp>
        <p:nvSpPr>
          <p:cNvPr id="3" name="Rectangle 2">
            <a:extLst>
              <a:ext uri="{FF2B5EF4-FFF2-40B4-BE49-F238E27FC236}">
                <a16:creationId xmlns:a16="http://schemas.microsoft.com/office/drawing/2014/main" id="{B5B5833F-9C2A-4080-886A-72BF5F7E20A9}"/>
              </a:ext>
            </a:extLst>
          </p:cNvPr>
          <p:cNvSpPr>
            <a:spLocks noGrp="1"/>
          </p:cNvSpPr>
          <p:nvPr/>
        </p:nvSpPr>
        <p:spPr>
          <a:xfrm>
            <a:off x="600075" y="1762125"/>
            <a:ext cx="2047875" cy="428625"/>
          </a:xfrm>
          <a:prstGeom prst="rect">
            <a:avLst/>
          </a:prstGeom>
          <a:noFill/>
          <a:ln w="0">
            <a:noFill/>
            <a:prstDash val="solid"/>
          </a:ln>
        </p:spPr>
        <p:txBody>
          <a:bodyPr/>
          <a:lstStyle>
            <a:defPPr>
              <a:defRPr sz="1950" b="1">
                <a:solidFill>
                  <a:srgbClr val="420099"/>
                </a:solidFill>
                <a:latin typeface="Arial"/>
                <a:ea typeface="Arial"/>
                <a:cs typeface="Arial"/>
              </a:defRPr>
            </a:defPPr>
            <a:lvl1pPr>
              <a:defRPr sz="1950" b="1">
                <a:solidFill>
                  <a:srgbClr val="420099"/>
                </a:solidFill>
                <a:latin typeface="Arial"/>
                <a:ea typeface="Arial"/>
                <a:cs typeface="Arial"/>
              </a:defRPr>
            </a:lvl1pPr>
            <a:lvl2pPr>
              <a:defRPr sz="1950" b="1">
                <a:solidFill>
                  <a:srgbClr val="420099"/>
                </a:solidFill>
                <a:latin typeface="Arial"/>
                <a:ea typeface="Arial"/>
                <a:cs typeface="Arial"/>
              </a:defRPr>
            </a:lvl2pPr>
            <a:lvl3pPr>
              <a:defRPr sz="1950" b="1">
                <a:solidFill>
                  <a:srgbClr val="420099"/>
                </a:solidFill>
                <a:latin typeface="Arial"/>
                <a:ea typeface="Arial"/>
                <a:cs typeface="Arial"/>
              </a:defRPr>
            </a:lvl3pPr>
            <a:lvl4pPr>
              <a:defRPr sz="1950" b="1">
                <a:solidFill>
                  <a:srgbClr val="420099"/>
                </a:solidFill>
                <a:latin typeface="Arial"/>
                <a:ea typeface="Arial"/>
                <a:cs typeface="Arial"/>
              </a:defRPr>
            </a:lvl4pPr>
            <a:lvl5pPr>
              <a:defRPr sz="1950" b="1">
                <a:solidFill>
                  <a:srgbClr val="420099"/>
                </a:solidFill>
                <a:latin typeface="Arial"/>
                <a:ea typeface="Arial"/>
                <a:cs typeface="Arial"/>
              </a:defRPr>
            </a:lvl5pPr>
            <a:lvl6pPr>
              <a:defRPr sz="1950" b="1">
                <a:solidFill>
                  <a:srgbClr val="420099"/>
                </a:solidFill>
                <a:latin typeface="Arial"/>
                <a:ea typeface="Arial"/>
                <a:cs typeface="Arial"/>
              </a:defRPr>
            </a:lvl6pPr>
            <a:lvl7pPr>
              <a:defRPr sz="1950" b="1">
                <a:solidFill>
                  <a:srgbClr val="420099"/>
                </a:solidFill>
                <a:latin typeface="Arial"/>
                <a:ea typeface="Arial"/>
                <a:cs typeface="Arial"/>
              </a:defRPr>
            </a:lvl7pPr>
            <a:lvl8pPr>
              <a:defRPr sz="1950" b="1">
                <a:solidFill>
                  <a:srgbClr val="420099"/>
                </a:solidFill>
                <a:latin typeface="Arial"/>
                <a:ea typeface="Arial"/>
                <a:cs typeface="Arial"/>
              </a:defRPr>
            </a:lvl8pPr>
            <a:lvl9pPr>
              <a:defRPr sz="1950" b="1">
                <a:solidFill>
                  <a:srgbClr val="420099"/>
                </a:solidFill>
                <a:latin typeface="Arial"/>
                <a:ea typeface="Arial"/>
                <a:cs typeface="Arial"/>
              </a:defRPr>
            </a:lvl9pPr>
          </a:lstStyle>
          <a:p>
            <a:pPr>
              <a:defRPr sz="1950" b="1">
                <a:solidFill>
                  <a:srgbClr val="420099"/>
                </a:solidFill>
                <a:latin typeface="Arial"/>
                <a:ea typeface="Arial"/>
                <a:cs typeface="Arial"/>
              </a:defRPr>
            </a:pPr>
            <a:r>
              <a:rPr sz="1800" b="1">
                <a:solidFill>
                  <a:srgbClr val="440099"/>
                </a:solidFill>
                <a:latin typeface="Arial"/>
                <a:ea typeface="Arial"/>
                <a:cs typeface="Arial"/>
              </a:rPr>
              <a:t>Supplier</a:t>
            </a:r>
          </a:p>
        </p:txBody>
      </p:sp>
      <p:sp>
        <p:nvSpPr>
          <p:cNvPr id="4" name="Rectangle 3">
            <a:extLst>
              <a:ext uri="{FF2B5EF4-FFF2-40B4-BE49-F238E27FC236}">
                <a16:creationId xmlns:a16="http://schemas.microsoft.com/office/drawing/2014/main" id="{6DC94AB8-3D20-45DC-821C-0CE61A8E8619}"/>
              </a:ext>
            </a:extLst>
          </p:cNvPr>
          <p:cNvSpPr>
            <a:spLocks noGrp="1"/>
          </p:cNvSpPr>
          <p:nvPr/>
        </p:nvSpPr>
        <p:spPr>
          <a:xfrm>
            <a:off x="2905125" y="1762125"/>
            <a:ext cx="2047875" cy="428625"/>
          </a:xfrm>
          <a:prstGeom prst="rect">
            <a:avLst/>
          </a:prstGeom>
          <a:noFill/>
          <a:ln w="0">
            <a:noFill/>
            <a:prstDash val="solid"/>
          </a:ln>
        </p:spPr>
        <p:txBody>
          <a:bodyPr/>
          <a:lstStyle>
            <a:defPPr>
              <a:defRPr sz="1950" b="1">
                <a:solidFill>
                  <a:srgbClr val="420099"/>
                </a:solidFill>
                <a:latin typeface="Arial"/>
                <a:ea typeface="Arial"/>
                <a:cs typeface="Arial"/>
              </a:defRPr>
            </a:defPPr>
            <a:lvl1pPr>
              <a:defRPr sz="1950" b="1">
                <a:solidFill>
                  <a:srgbClr val="420099"/>
                </a:solidFill>
                <a:latin typeface="Arial"/>
                <a:ea typeface="Arial"/>
                <a:cs typeface="Arial"/>
              </a:defRPr>
            </a:lvl1pPr>
            <a:lvl2pPr>
              <a:defRPr sz="1950" b="1">
                <a:solidFill>
                  <a:srgbClr val="420099"/>
                </a:solidFill>
                <a:latin typeface="Arial"/>
                <a:ea typeface="Arial"/>
                <a:cs typeface="Arial"/>
              </a:defRPr>
            </a:lvl2pPr>
            <a:lvl3pPr>
              <a:defRPr sz="1950" b="1">
                <a:solidFill>
                  <a:srgbClr val="420099"/>
                </a:solidFill>
                <a:latin typeface="Arial"/>
                <a:ea typeface="Arial"/>
                <a:cs typeface="Arial"/>
              </a:defRPr>
            </a:lvl3pPr>
            <a:lvl4pPr>
              <a:defRPr sz="1950" b="1">
                <a:solidFill>
                  <a:srgbClr val="420099"/>
                </a:solidFill>
                <a:latin typeface="Arial"/>
                <a:ea typeface="Arial"/>
                <a:cs typeface="Arial"/>
              </a:defRPr>
            </a:lvl4pPr>
            <a:lvl5pPr>
              <a:defRPr sz="1950" b="1">
                <a:solidFill>
                  <a:srgbClr val="420099"/>
                </a:solidFill>
                <a:latin typeface="Arial"/>
                <a:ea typeface="Arial"/>
                <a:cs typeface="Arial"/>
              </a:defRPr>
            </a:lvl5pPr>
            <a:lvl6pPr>
              <a:defRPr sz="1950" b="1">
                <a:solidFill>
                  <a:srgbClr val="420099"/>
                </a:solidFill>
                <a:latin typeface="Arial"/>
                <a:ea typeface="Arial"/>
                <a:cs typeface="Arial"/>
              </a:defRPr>
            </a:lvl6pPr>
            <a:lvl7pPr>
              <a:defRPr sz="1950" b="1">
                <a:solidFill>
                  <a:srgbClr val="420099"/>
                </a:solidFill>
                <a:latin typeface="Arial"/>
                <a:ea typeface="Arial"/>
                <a:cs typeface="Arial"/>
              </a:defRPr>
            </a:lvl7pPr>
            <a:lvl8pPr>
              <a:defRPr sz="1950" b="1">
                <a:solidFill>
                  <a:srgbClr val="420099"/>
                </a:solidFill>
                <a:latin typeface="Arial"/>
                <a:ea typeface="Arial"/>
                <a:cs typeface="Arial"/>
              </a:defRPr>
            </a:lvl8pPr>
            <a:lvl9pPr>
              <a:defRPr sz="1950" b="1">
                <a:solidFill>
                  <a:srgbClr val="420099"/>
                </a:solidFill>
                <a:latin typeface="Arial"/>
                <a:ea typeface="Arial"/>
                <a:cs typeface="Arial"/>
              </a:defRPr>
            </a:lvl9pPr>
          </a:lstStyle>
          <a:p>
            <a:pPr>
              <a:defRPr sz="1950" b="1">
                <a:solidFill>
                  <a:srgbClr val="420099"/>
                </a:solidFill>
                <a:latin typeface="Arial"/>
                <a:ea typeface="Arial"/>
                <a:cs typeface="Arial"/>
              </a:defRPr>
            </a:pPr>
            <a:r>
              <a:rPr sz="1800" b="1">
                <a:solidFill>
                  <a:srgbClr val="440099"/>
                </a:solidFill>
                <a:latin typeface="Arial"/>
                <a:ea typeface="Arial"/>
                <a:cs typeface="Arial"/>
              </a:rPr>
              <a:t>Manufacturer</a:t>
            </a:r>
          </a:p>
        </p:txBody>
      </p:sp>
      <p:sp>
        <p:nvSpPr>
          <p:cNvPr id="5" name="Rectangle 4">
            <a:extLst>
              <a:ext uri="{FF2B5EF4-FFF2-40B4-BE49-F238E27FC236}">
                <a16:creationId xmlns:a16="http://schemas.microsoft.com/office/drawing/2014/main" id="{50C14BC5-C1D6-4B5A-99A5-733143D82474}"/>
              </a:ext>
            </a:extLst>
          </p:cNvPr>
          <p:cNvSpPr>
            <a:spLocks noGrp="1"/>
          </p:cNvSpPr>
          <p:nvPr/>
        </p:nvSpPr>
        <p:spPr>
          <a:xfrm>
            <a:off x="5210175" y="1762125"/>
            <a:ext cx="2047875" cy="428625"/>
          </a:xfrm>
          <a:prstGeom prst="rect">
            <a:avLst/>
          </a:prstGeom>
          <a:noFill/>
          <a:ln w="0">
            <a:noFill/>
            <a:prstDash val="solid"/>
          </a:ln>
        </p:spPr>
        <p:txBody>
          <a:bodyPr/>
          <a:lstStyle>
            <a:defPPr>
              <a:defRPr sz="1950" b="1">
                <a:solidFill>
                  <a:srgbClr val="420099"/>
                </a:solidFill>
                <a:latin typeface="Arial"/>
                <a:ea typeface="Arial"/>
                <a:cs typeface="Arial"/>
              </a:defRPr>
            </a:defPPr>
            <a:lvl1pPr>
              <a:defRPr sz="1950" b="1">
                <a:solidFill>
                  <a:srgbClr val="420099"/>
                </a:solidFill>
                <a:latin typeface="Arial"/>
                <a:ea typeface="Arial"/>
                <a:cs typeface="Arial"/>
              </a:defRPr>
            </a:lvl1pPr>
            <a:lvl2pPr>
              <a:defRPr sz="1950" b="1">
                <a:solidFill>
                  <a:srgbClr val="420099"/>
                </a:solidFill>
                <a:latin typeface="Arial"/>
                <a:ea typeface="Arial"/>
                <a:cs typeface="Arial"/>
              </a:defRPr>
            </a:lvl2pPr>
            <a:lvl3pPr>
              <a:defRPr sz="1950" b="1">
                <a:solidFill>
                  <a:srgbClr val="420099"/>
                </a:solidFill>
                <a:latin typeface="Arial"/>
                <a:ea typeface="Arial"/>
                <a:cs typeface="Arial"/>
              </a:defRPr>
            </a:lvl3pPr>
            <a:lvl4pPr>
              <a:defRPr sz="1950" b="1">
                <a:solidFill>
                  <a:srgbClr val="420099"/>
                </a:solidFill>
                <a:latin typeface="Arial"/>
                <a:ea typeface="Arial"/>
                <a:cs typeface="Arial"/>
              </a:defRPr>
            </a:lvl4pPr>
            <a:lvl5pPr>
              <a:defRPr sz="1950" b="1">
                <a:solidFill>
                  <a:srgbClr val="420099"/>
                </a:solidFill>
                <a:latin typeface="Arial"/>
                <a:ea typeface="Arial"/>
                <a:cs typeface="Arial"/>
              </a:defRPr>
            </a:lvl5pPr>
            <a:lvl6pPr>
              <a:defRPr sz="1950" b="1">
                <a:solidFill>
                  <a:srgbClr val="420099"/>
                </a:solidFill>
                <a:latin typeface="Arial"/>
                <a:ea typeface="Arial"/>
                <a:cs typeface="Arial"/>
              </a:defRPr>
            </a:lvl6pPr>
            <a:lvl7pPr>
              <a:defRPr sz="1950" b="1">
                <a:solidFill>
                  <a:srgbClr val="420099"/>
                </a:solidFill>
                <a:latin typeface="Arial"/>
                <a:ea typeface="Arial"/>
                <a:cs typeface="Arial"/>
              </a:defRPr>
            </a:lvl7pPr>
            <a:lvl8pPr>
              <a:defRPr sz="1950" b="1">
                <a:solidFill>
                  <a:srgbClr val="420099"/>
                </a:solidFill>
                <a:latin typeface="Arial"/>
                <a:ea typeface="Arial"/>
                <a:cs typeface="Arial"/>
              </a:defRPr>
            </a:lvl8pPr>
            <a:lvl9pPr>
              <a:defRPr sz="1950" b="1">
                <a:solidFill>
                  <a:srgbClr val="420099"/>
                </a:solidFill>
                <a:latin typeface="Arial"/>
                <a:ea typeface="Arial"/>
                <a:cs typeface="Arial"/>
              </a:defRPr>
            </a:lvl9pPr>
          </a:lstStyle>
          <a:p>
            <a:pPr>
              <a:defRPr sz="1950" b="1">
                <a:solidFill>
                  <a:srgbClr val="420099"/>
                </a:solidFill>
                <a:latin typeface="Arial"/>
                <a:ea typeface="Arial"/>
                <a:cs typeface="Arial"/>
              </a:defRPr>
            </a:pPr>
            <a:r>
              <a:rPr sz="1800" b="1">
                <a:solidFill>
                  <a:srgbClr val="440099"/>
                </a:solidFill>
                <a:latin typeface="Arial"/>
                <a:ea typeface="Arial"/>
                <a:cs typeface="Arial"/>
              </a:rPr>
              <a:t>Distributor</a:t>
            </a:r>
          </a:p>
        </p:txBody>
      </p:sp>
      <p:sp>
        <p:nvSpPr>
          <p:cNvPr id="6" name="Rectangle 5">
            <a:extLst>
              <a:ext uri="{FF2B5EF4-FFF2-40B4-BE49-F238E27FC236}">
                <a16:creationId xmlns:a16="http://schemas.microsoft.com/office/drawing/2014/main" id="{8F029860-6753-49BB-B0F2-A9C4684431A3}"/>
              </a:ext>
            </a:extLst>
          </p:cNvPr>
          <p:cNvSpPr>
            <a:spLocks noGrp="1"/>
          </p:cNvSpPr>
          <p:nvPr/>
        </p:nvSpPr>
        <p:spPr>
          <a:xfrm>
            <a:off x="7515225" y="1762125"/>
            <a:ext cx="2047875" cy="428625"/>
          </a:xfrm>
          <a:prstGeom prst="rect">
            <a:avLst/>
          </a:prstGeom>
          <a:noFill/>
          <a:ln w="0">
            <a:noFill/>
            <a:prstDash val="solid"/>
          </a:ln>
        </p:spPr>
        <p:txBody>
          <a:bodyPr/>
          <a:lstStyle>
            <a:defPPr>
              <a:defRPr sz="1950" b="1">
                <a:solidFill>
                  <a:srgbClr val="420099"/>
                </a:solidFill>
                <a:latin typeface="Arial"/>
                <a:ea typeface="Arial"/>
                <a:cs typeface="Arial"/>
              </a:defRPr>
            </a:defPPr>
            <a:lvl1pPr>
              <a:defRPr sz="1950" b="1">
                <a:solidFill>
                  <a:srgbClr val="420099"/>
                </a:solidFill>
                <a:latin typeface="Arial"/>
                <a:ea typeface="Arial"/>
                <a:cs typeface="Arial"/>
              </a:defRPr>
            </a:lvl1pPr>
            <a:lvl2pPr>
              <a:defRPr sz="1950" b="1">
                <a:solidFill>
                  <a:srgbClr val="420099"/>
                </a:solidFill>
                <a:latin typeface="Arial"/>
                <a:ea typeface="Arial"/>
                <a:cs typeface="Arial"/>
              </a:defRPr>
            </a:lvl2pPr>
            <a:lvl3pPr>
              <a:defRPr sz="1950" b="1">
                <a:solidFill>
                  <a:srgbClr val="420099"/>
                </a:solidFill>
                <a:latin typeface="Arial"/>
                <a:ea typeface="Arial"/>
                <a:cs typeface="Arial"/>
              </a:defRPr>
            </a:lvl3pPr>
            <a:lvl4pPr>
              <a:defRPr sz="1950" b="1">
                <a:solidFill>
                  <a:srgbClr val="420099"/>
                </a:solidFill>
                <a:latin typeface="Arial"/>
                <a:ea typeface="Arial"/>
                <a:cs typeface="Arial"/>
              </a:defRPr>
            </a:lvl4pPr>
            <a:lvl5pPr>
              <a:defRPr sz="1950" b="1">
                <a:solidFill>
                  <a:srgbClr val="420099"/>
                </a:solidFill>
                <a:latin typeface="Arial"/>
                <a:ea typeface="Arial"/>
                <a:cs typeface="Arial"/>
              </a:defRPr>
            </a:lvl5pPr>
            <a:lvl6pPr>
              <a:defRPr sz="1950" b="1">
                <a:solidFill>
                  <a:srgbClr val="420099"/>
                </a:solidFill>
                <a:latin typeface="Arial"/>
                <a:ea typeface="Arial"/>
                <a:cs typeface="Arial"/>
              </a:defRPr>
            </a:lvl6pPr>
            <a:lvl7pPr>
              <a:defRPr sz="1950" b="1">
                <a:solidFill>
                  <a:srgbClr val="420099"/>
                </a:solidFill>
                <a:latin typeface="Arial"/>
                <a:ea typeface="Arial"/>
                <a:cs typeface="Arial"/>
              </a:defRPr>
            </a:lvl7pPr>
            <a:lvl8pPr>
              <a:defRPr sz="1950" b="1">
                <a:solidFill>
                  <a:srgbClr val="420099"/>
                </a:solidFill>
                <a:latin typeface="Arial"/>
                <a:ea typeface="Arial"/>
                <a:cs typeface="Arial"/>
              </a:defRPr>
            </a:lvl8pPr>
            <a:lvl9pPr>
              <a:defRPr sz="1950" b="1">
                <a:solidFill>
                  <a:srgbClr val="420099"/>
                </a:solidFill>
                <a:latin typeface="Arial"/>
                <a:ea typeface="Arial"/>
                <a:cs typeface="Arial"/>
              </a:defRPr>
            </a:lvl9pPr>
          </a:lstStyle>
          <a:p>
            <a:pPr>
              <a:defRPr sz="1950" b="1">
                <a:solidFill>
                  <a:srgbClr val="420099"/>
                </a:solidFill>
                <a:latin typeface="Arial"/>
                <a:ea typeface="Arial"/>
                <a:cs typeface="Arial"/>
              </a:defRPr>
            </a:pPr>
            <a:r>
              <a:rPr sz="1800" b="1">
                <a:solidFill>
                  <a:srgbClr val="440099"/>
                </a:solidFill>
                <a:latin typeface="Arial"/>
                <a:ea typeface="Arial"/>
                <a:cs typeface="Arial"/>
              </a:rPr>
              <a:t>Retailer</a:t>
            </a:r>
          </a:p>
        </p:txBody>
      </p:sp>
      <p:sp>
        <p:nvSpPr>
          <p:cNvPr id="7" name="Rectangle 6">
            <a:extLst>
              <a:ext uri="{FF2B5EF4-FFF2-40B4-BE49-F238E27FC236}">
                <a16:creationId xmlns:a16="http://schemas.microsoft.com/office/drawing/2014/main" id="{BF467F19-05E3-4486-BF12-9891D0B811B5}"/>
              </a:ext>
            </a:extLst>
          </p:cNvPr>
          <p:cNvSpPr>
            <a:spLocks noGrp="1"/>
          </p:cNvSpPr>
          <p:nvPr/>
        </p:nvSpPr>
        <p:spPr>
          <a:xfrm>
            <a:off x="9820275" y="1762125"/>
            <a:ext cx="2047875" cy="428625"/>
          </a:xfrm>
          <a:prstGeom prst="rect">
            <a:avLst/>
          </a:prstGeom>
          <a:noFill/>
          <a:ln w="0">
            <a:noFill/>
            <a:prstDash val="solid"/>
          </a:ln>
        </p:spPr>
        <p:txBody>
          <a:bodyPr/>
          <a:lstStyle>
            <a:defPPr>
              <a:defRPr sz="1950" b="1">
                <a:solidFill>
                  <a:srgbClr val="420099"/>
                </a:solidFill>
                <a:latin typeface="Arial"/>
                <a:ea typeface="Arial"/>
                <a:cs typeface="Arial"/>
              </a:defRPr>
            </a:defPPr>
            <a:lvl1pPr>
              <a:defRPr sz="1950" b="1">
                <a:solidFill>
                  <a:srgbClr val="420099"/>
                </a:solidFill>
                <a:latin typeface="Arial"/>
                <a:ea typeface="Arial"/>
                <a:cs typeface="Arial"/>
              </a:defRPr>
            </a:lvl1pPr>
            <a:lvl2pPr>
              <a:defRPr sz="1950" b="1">
                <a:solidFill>
                  <a:srgbClr val="420099"/>
                </a:solidFill>
                <a:latin typeface="Arial"/>
                <a:ea typeface="Arial"/>
                <a:cs typeface="Arial"/>
              </a:defRPr>
            </a:lvl2pPr>
            <a:lvl3pPr>
              <a:defRPr sz="1950" b="1">
                <a:solidFill>
                  <a:srgbClr val="420099"/>
                </a:solidFill>
                <a:latin typeface="Arial"/>
                <a:ea typeface="Arial"/>
                <a:cs typeface="Arial"/>
              </a:defRPr>
            </a:lvl3pPr>
            <a:lvl4pPr>
              <a:defRPr sz="1950" b="1">
                <a:solidFill>
                  <a:srgbClr val="420099"/>
                </a:solidFill>
                <a:latin typeface="Arial"/>
                <a:ea typeface="Arial"/>
                <a:cs typeface="Arial"/>
              </a:defRPr>
            </a:lvl4pPr>
            <a:lvl5pPr>
              <a:defRPr sz="1950" b="1">
                <a:solidFill>
                  <a:srgbClr val="420099"/>
                </a:solidFill>
                <a:latin typeface="Arial"/>
                <a:ea typeface="Arial"/>
                <a:cs typeface="Arial"/>
              </a:defRPr>
            </a:lvl5pPr>
            <a:lvl6pPr>
              <a:defRPr sz="1950" b="1">
                <a:solidFill>
                  <a:srgbClr val="420099"/>
                </a:solidFill>
                <a:latin typeface="Arial"/>
                <a:ea typeface="Arial"/>
                <a:cs typeface="Arial"/>
              </a:defRPr>
            </a:lvl6pPr>
            <a:lvl7pPr>
              <a:defRPr sz="1950" b="1">
                <a:solidFill>
                  <a:srgbClr val="420099"/>
                </a:solidFill>
                <a:latin typeface="Arial"/>
                <a:ea typeface="Arial"/>
                <a:cs typeface="Arial"/>
              </a:defRPr>
            </a:lvl7pPr>
            <a:lvl8pPr>
              <a:defRPr sz="1950" b="1">
                <a:solidFill>
                  <a:srgbClr val="420099"/>
                </a:solidFill>
                <a:latin typeface="Arial"/>
                <a:ea typeface="Arial"/>
                <a:cs typeface="Arial"/>
              </a:defRPr>
            </a:lvl8pPr>
            <a:lvl9pPr>
              <a:defRPr sz="1950" b="1">
                <a:solidFill>
                  <a:srgbClr val="420099"/>
                </a:solidFill>
                <a:latin typeface="Arial"/>
                <a:ea typeface="Arial"/>
                <a:cs typeface="Arial"/>
              </a:defRPr>
            </a:lvl9pPr>
          </a:lstStyle>
          <a:p>
            <a:pPr>
              <a:defRPr sz="1950" b="1">
                <a:solidFill>
                  <a:srgbClr val="420099"/>
                </a:solidFill>
                <a:latin typeface="Arial"/>
                <a:ea typeface="Arial"/>
                <a:cs typeface="Arial"/>
              </a:defRPr>
            </a:pPr>
            <a:r>
              <a:rPr sz="1800" b="1">
                <a:solidFill>
                  <a:srgbClr val="440099"/>
                </a:solidFill>
                <a:latin typeface="Arial"/>
                <a:ea typeface="Arial"/>
                <a:cs typeface="Arial"/>
              </a:rPr>
              <a:t>Customer</a:t>
            </a:r>
          </a:p>
        </p:txBody>
      </p:sp>
      <p:pic>
        <p:nvPicPr>
          <p:cNvPr id="8" name="Picture 7">
            <a:extLst>
              <a:ext uri="{FF2B5EF4-FFF2-40B4-BE49-F238E27FC236}">
                <a16:creationId xmlns:a16="http://schemas.microsoft.com/office/drawing/2014/main" id="{F3BAF458-E21A-496F-A5FE-77287ECE5BDE}"/>
              </a:ext>
            </a:extLst>
          </p:cNvPr>
          <p:cNvPicPr>
            <a:picLocks noChangeAspect="1"/>
          </p:cNvPicPr>
          <p:nvPr/>
        </p:nvPicPr>
        <p:blipFill>
          <a:blip r:embed="rId3"/>
          <a:stretch/>
        </p:blipFill>
        <p:spPr>
          <a:xfrm>
            <a:off x="628004" y="2238375"/>
            <a:ext cx="1791992" cy="1428750"/>
          </a:xfrm>
          <a:prstGeom prst="rect">
            <a:avLst/>
          </a:prstGeom>
        </p:spPr>
      </p:pic>
      <p:pic>
        <p:nvPicPr>
          <p:cNvPr id="9" name="Picture 8">
            <a:extLst>
              <a:ext uri="{FF2B5EF4-FFF2-40B4-BE49-F238E27FC236}">
                <a16:creationId xmlns:a16="http://schemas.microsoft.com/office/drawing/2014/main" id="{40681A29-9044-43A0-AFEB-4ABE4F7CAD2A}"/>
              </a:ext>
            </a:extLst>
          </p:cNvPr>
          <p:cNvPicPr>
            <a:picLocks noChangeAspect="1"/>
          </p:cNvPicPr>
          <p:nvPr/>
        </p:nvPicPr>
        <p:blipFill>
          <a:blip r:embed="rId4"/>
          <a:stretch/>
        </p:blipFill>
        <p:spPr>
          <a:xfrm>
            <a:off x="2927000" y="2238375"/>
            <a:ext cx="1804100" cy="1428750"/>
          </a:xfrm>
          <a:prstGeom prst="rect">
            <a:avLst/>
          </a:prstGeom>
        </p:spPr>
      </p:pic>
      <p:pic>
        <p:nvPicPr>
          <p:cNvPr id="10" name="Picture 9">
            <a:extLst>
              <a:ext uri="{FF2B5EF4-FFF2-40B4-BE49-F238E27FC236}">
                <a16:creationId xmlns:a16="http://schemas.microsoft.com/office/drawing/2014/main" id="{688CB97A-9019-4D3D-B7BF-175087FEF40E}"/>
              </a:ext>
            </a:extLst>
          </p:cNvPr>
          <p:cNvPicPr>
            <a:picLocks noChangeAspect="1"/>
          </p:cNvPicPr>
          <p:nvPr/>
        </p:nvPicPr>
        <p:blipFill>
          <a:blip r:embed="rId5"/>
          <a:stretch/>
        </p:blipFill>
        <p:spPr>
          <a:xfrm>
            <a:off x="5181600" y="2258954"/>
            <a:ext cx="1905000" cy="1387593"/>
          </a:xfrm>
          <a:prstGeom prst="rect">
            <a:avLst/>
          </a:prstGeom>
        </p:spPr>
      </p:pic>
      <p:pic>
        <p:nvPicPr>
          <p:cNvPr id="11" name="Picture 10">
            <a:extLst>
              <a:ext uri="{FF2B5EF4-FFF2-40B4-BE49-F238E27FC236}">
                <a16:creationId xmlns:a16="http://schemas.microsoft.com/office/drawing/2014/main" id="{ED92EE23-3A95-4D58-BC09-4F2D5070DA85}"/>
              </a:ext>
            </a:extLst>
          </p:cNvPr>
          <p:cNvPicPr>
            <a:picLocks noChangeAspect="1"/>
          </p:cNvPicPr>
          <p:nvPr/>
        </p:nvPicPr>
        <p:blipFill>
          <a:blip r:embed="rId6"/>
          <a:stretch/>
        </p:blipFill>
        <p:spPr>
          <a:xfrm>
            <a:off x="7506830" y="2238375"/>
            <a:ext cx="1864640" cy="1428750"/>
          </a:xfrm>
          <a:prstGeom prst="rect">
            <a:avLst/>
          </a:prstGeom>
        </p:spPr>
      </p:pic>
      <p:pic>
        <p:nvPicPr>
          <p:cNvPr id="12" name="Picture 11">
            <a:extLst>
              <a:ext uri="{FF2B5EF4-FFF2-40B4-BE49-F238E27FC236}">
                <a16:creationId xmlns:a16="http://schemas.microsoft.com/office/drawing/2014/main" id="{49A14047-A741-4B02-950D-139EFC9088CB}"/>
              </a:ext>
            </a:extLst>
          </p:cNvPr>
          <p:cNvPicPr>
            <a:picLocks noChangeAspect="1"/>
          </p:cNvPicPr>
          <p:nvPr/>
        </p:nvPicPr>
        <p:blipFill>
          <a:blip r:embed="rId7"/>
          <a:stretch/>
        </p:blipFill>
        <p:spPr>
          <a:xfrm>
            <a:off x="9872420" y="2238375"/>
            <a:ext cx="1743559" cy="1428750"/>
          </a:xfrm>
          <a:prstGeom prst="rect">
            <a:avLst/>
          </a:prstGeom>
        </p:spPr>
      </p:pic>
      <p:sp>
        <p:nvSpPr>
          <p:cNvPr id="13" name="Rectangle 12">
            <a:extLst>
              <a:ext uri="{FF2B5EF4-FFF2-40B4-BE49-F238E27FC236}">
                <a16:creationId xmlns:a16="http://schemas.microsoft.com/office/drawing/2014/main" id="{E5C5D5DD-BFC6-4E02-BF86-6701C6DC9644}"/>
              </a:ext>
            </a:extLst>
          </p:cNvPr>
          <p:cNvSpPr>
            <a:spLocks noGrp="1"/>
          </p:cNvSpPr>
          <p:nvPr/>
        </p:nvSpPr>
        <p:spPr>
          <a:xfrm>
            <a:off x="523875" y="3857625"/>
            <a:ext cx="2095500" cy="333375"/>
          </a:xfrm>
          <a:prstGeom prst="rect">
            <a:avLst/>
          </a:prstGeom>
          <a:noFill/>
          <a:ln w="0">
            <a:noFill/>
            <a:prstDash val="solid"/>
          </a:ln>
        </p:spPr>
        <p:txBody>
          <a:bodyPr/>
          <a:lstStyle>
            <a:defPPr>
              <a:defRPr sz="1875" b="1">
                <a:solidFill>
                  <a:srgbClr val="087F8C"/>
                </a:solidFill>
                <a:latin typeface="Arial"/>
                <a:ea typeface="Arial"/>
                <a:cs typeface="Arial"/>
              </a:defRPr>
            </a:defPPr>
            <a:lvl1pPr>
              <a:defRPr sz="1875" b="1">
                <a:solidFill>
                  <a:srgbClr val="087F8C"/>
                </a:solidFill>
                <a:latin typeface="Arial"/>
                <a:ea typeface="Arial"/>
                <a:cs typeface="Arial"/>
              </a:defRPr>
            </a:lvl1pPr>
            <a:lvl2pPr>
              <a:defRPr sz="1875" b="1">
                <a:solidFill>
                  <a:srgbClr val="087F8C"/>
                </a:solidFill>
                <a:latin typeface="Arial"/>
                <a:ea typeface="Arial"/>
                <a:cs typeface="Arial"/>
              </a:defRPr>
            </a:lvl2pPr>
            <a:lvl3pPr>
              <a:defRPr sz="1875" b="1">
                <a:solidFill>
                  <a:srgbClr val="087F8C"/>
                </a:solidFill>
                <a:latin typeface="Arial"/>
                <a:ea typeface="Arial"/>
                <a:cs typeface="Arial"/>
              </a:defRPr>
            </a:lvl3pPr>
            <a:lvl4pPr>
              <a:defRPr sz="1875" b="1">
                <a:solidFill>
                  <a:srgbClr val="087F8C"/>
                </a:solidFill>
                <a:latin typeface="Arial"/>
                <a:ea typeface="Arial"/>
                <a:cs typeface="Arial"/>
              </a:defRPr>
            </a:lvl4pPr>
            <a:lvl5pPr>
              <a:defRPr sz="1875" b="1">
                <a:solidFill>
                  <a:srgbClr val="087F8C"/>
                </a:solidFill>
                <a:latin typeface="Arial"/>
                <a:ea typeface="Arial"/>
                <a:cs typeface="Arial"/>
              </a:defRPr>
            </a:lvl5pPr>
            <a:lvl6pPr>
              <a:defRPr sz="1875" b="1">
                <a:solidFill>
                  <a:srgbClr val="087F8C"/>
                </a:solidFill>
                <a:latin typeface="Arial"/>
                <a:ea typeface="Arial"/>
                <a:cs typeface="Arial"/>
              </a:defRPr>
            </a:lvl6pPr>
            <a:lvl7pPr>
              <a:defRPr sz="1875" b="1">
                <a:solidFill>
                  <a:srgbClr val="087F8C"/>
                </a:solidFill>
                <a:latin typeface="Arial"/>
                <a:ea typeface="Arial"/>
                <a:cs typeface="Arial"/>
              </a:defRPr>
            </a:lvl7pPr>
            <a:lvl8pPr>
              <a:defRPr sz="1875" b="1">
                <a:solidFill>
                  <a:srgbClr val="087F8C"/>
                </a:solidFill>
                <a:latin typeface="Arial"/>
                <a:ea typeface="Arial"/>
                <a:cs typeface="Arial"/>
              </a:defRPr>
            </a:lvl8pPr>
            <a:lvl9pPr>
              <a:defRPr sz="1875" b="1">
                <a:solidFill>
                  <a:srgbClr val="087F8C"/>
                </a:solidFill>
                <a:latin typeface="Arial"/>
                <a:ea typeface="Arial"/>
                <a:cs typeface="Arial"/>
              </a:defRPr>
            </a:lvl9pPr>
          </a:lstStyle>
          <a:p>
            <a:pPr>
              <a:defRPr sz="1875" b="1">
                <a:solidFill>
                  <a:srgbClr val="087F8C"/>
                </a:solidFill>
                <a:latin typeface="Arial"/>
                <a:ea typeface="Arial"/>
                <a:cs typeface="Arial"/>
              </a:defRPr>
            </a:pPr>
            <a:r>
              <a:rPr sz="1800" b="1">
                <a:solidFill>
                  <a:srgbClr val="005A8F"/>
                </a:solidFill>
                <a:latin typeface="Arial"/>
                <a:ea typeface="Arial"/>
                <a:cs typeface="Arial"/>
              </a:rPr>
              <a:t>MATERIALS</a:t>
            </a:r>
          </a:p>
        </p:txBody>
      </p:sp>
      <p:sp>
        <p:nvSpPr>
          <p:cNvPr id="14" name="Rectangle 13">
            <a:extLst>
              <a:ext uri="{FF2B5EF4-FFF2-40B4-BE49-F238E27FC236}">
                <a16:creationId xmlns:a16="http://schemas.microsoft.com/office/drawing/2014/main" id="{F1A82783-3CAE-4F8F-9DD1-02AA5C5C9EA4}"/>
              </a:ext>
            </a:extLst>
          </p:cNvPr>
          <p:cNvSpPr>
            <a:spLocks noGrp="1"/>
          </p:cNvSpPr>
          <p:nvPr/>
        </p:nvSpPr>
        <p:spPr>
          <a:xfrm>
            <a:off x="2809875" y="3857625"/>
            <a:ext cx="8858250" cy="342900"/>
          </a:xfrm>
          <a:prstGeom prst="rect">
            <a:avLst/>
          </a:prstGeom>
          <a:noFill/>
          <a:ln w="0">
            <a:noFill/>
            <a:prstDash val="solid"/>
          </a:ln>
        </p:spPr>
        <p:txBody>
          <a:bodyPr/>
          <a:lstStyle>
            <a:defPPr>
              <a:defRPr sz="1875" b="0">
                <a:solidFill>
                  <a:srgbClr val="243333"/>
                </a:solidFill>
                <a:latin typeface="Arial"/>
                <a:ea typeface="Arial"/>
                <a:cs typeface="Arial"/>
              </a:defRPr>
            </a:defPPr>
            <a:lvl1pPr>
              <a:defRPr sz="1875" b="0">
                <a:solidFill>
                  <a:srgbClr val="243333"/>
                </a:solidFill>
                <a:latin typeface="Arial"/>
                <a:ea typeface="Arial"/>
                <a:cs typeface="Arial"/>
              </a:defRPr>
            </a:lvl1pPr>
            <a:lvl2pPr>
              <a:defRPr sz="1875" b="0">
                <a:solidFill>
                  <a:srgbClr val="243333"/>
                </a:solidFill>
                <a:latin typeface="Arial"/>
                <a:ea typeface="Arial"/>
                <a:cs typeface="Arial"/>
              </a:defRPr>
            </a:lvl2pPr>
            <a:lvl3pPr>
              <a:defRPr sz="1875" b="0">
                <a:solidFill>
                  <a:srgbClr val="243333"/>
                </a:solidFill>
                <a:latin typeface="Arial"/>
                <a:ea typeface="Arial"/>
                <a:cs typeface="Arial"/>
              </a:defRPr>
            </a:lvl3pPr>
            <a:lvl4pPr>
              <a:defRPr sz="1875" b="0">
                <a:solidFill>
                  <a:srgbClr val="243333"/>
                </a:solidFill>
                <a:latin typeface="Arial"/>
                <a:ea typeface="Arial"/>
                <a:cs typeface="Arial"/>
              </a:defRPr>
            </a:lvl4pPr>
            <a:lvl5pPr>
              <a:defRPr sz="1875" b="0">
                <a:solidFill>
                  <a:srgbClr val="243333"/>
                </a:solidFill>
                <a:latin typeface="Arial"/>
                <a:ea typeface="Arial"/>
                <a:cs typeface="Arial"/>
              </a:defRPr>
            </a:lvl5pPr>
            <a:lvl6pPr>
              <a:defRPr sz="1875" b="0">
                <a:solidFill>
                  <a:srgbClr val="243333"/>
                </a:solidFill>
                <a:latin typeface="Arial"/>
                <a:ea typeface="Arial"/>
                <a:cs typeface="Arial"/>
              </a:defRPr>
            </a:lvl6pPr>
            <a:lvl7pPr>
              <a:defRPr sz="1875" b="0">
                <a:solidFill>
                  <a:srgbClr val="243333"/>
                </a:solidFill>
                <a:latin typeface="Arial"/>
                <a:ea typeface="Arial"/>
                <a:cs typeface="Arial"/>
              </a:defRPr>
            </a:lvl7pPr>
            <a:lvl8pPr>
              <a:defRPr sz="1875" b="0">
                <a:solidFill>
                  <a:srgbClr val="243333"/>
                </a:solidFill>
                <a:latin typeface="Arial"/>
                <a:ea typeface="Arial"/>
                <a:cs typeface="Arial"/>
              </a:defRPr>
            </a:lvl8pPr>
            <a:lvl9pPr>
              <a:defRPr sz="1875" b="0">
                <a:solidFill>
                  <a:srgbClr val="243333"/>
                </a:solidFill>
                <a:latin typeface="Arial"/>
                <a:ea typeface="Arial"/>
                <a:cs typeface="Arial"/>
              </a:defRPr>
            </a:lvl9pPr>
          </a:lstStyle>
          <a:p>
            <a:pPr>
              <a:defRPr sz="1875" b="0">
                <a:solidFill>
                  <a:srgbClr val="243333"/>
                </a:solidFill>
                <a:latin typeface="Arial"/>
                <a:ea typeface="Arial"/>
                <a:cs typeface="Arial"/>
              </a:defRPr>
            </a:pPr>
            <a:r>
              <a:rPr sz="1800" b="0">
                <a:solidFill>
                  <a:srgbClr val="131E29"/>
                </a:solidFill>
                <a:latin typeface="Arial"/>
                <a:ea typeface="Arial"/>
                <a:cs typeface="Arial"/>
              </a:rPr>
              <a:t>Components and finished products</a:t>
            </a:r>
          </a:p>
        </p:txBody>
      </p:sp>
      <p:sp>
        <p:nvSpPr>
          <p:cNvPr id="15" name="Arrow: Right 14">
            <a:extLst>
              <a:ext uri="{FF2B5EF4-FFF2-40B4-BE49-F238E27FC236}">
                <a16:creationId xmlns:a16="http://schemas.microsoft.com/office/drawing/2014/main" id="{040C9F86-725B-4828-933A-EE9821949ABF}"/>
              </a:ext>
            </a:extLst>
          </p:cNvPr>
          <p:cNvSpPr>
            <a:spLocks noGrp="1"/>
          </p:cNvSpPr>
          <p:nvPr/>
        </p:nvSpPr>
        <p:spPr>
          <a:xfrm>
            <a:off x="523875" y="4238625"/>
            <a:ext cx="11096625" cy="266700"/>
          </a:xfrm>
          <a:prstGeom prst="rightArrow">
            <a:avLst/>
          </a:prstGeom>
          <a:solidFill>
            <a:srgbClr val="087F8C"/>
          </a:solidFill>
          <a:ln w="0">
            <a:noFill/>
            <a:prstDash val="solid"/>
          </a:ln>
        </p:spPr>
        <p:txBody>
          <a:bodyPr/>
          <a:lstStyle/>
          <a:p>
            <a:endParaRPr lang="en-GB"/>
          </a:p>
        </p:txBody>
      </p:sp>
      <p:sp>
        <p:nvSpPr>
          <p:cNvPr id="16" name="Rectangle 15">
            <a:extLst>
              <a:ext uri="{FF2B5EF4-FFF2-40B4-BE49-F238E27FC236}">
                <a16:creationId xmlns:a16="http://schemas.microsoft.com/office/drawing/2014/main" id="{341F19F1-0BAC-4B94-812D-481EF1C243D4}"/>
              </a:ext>
            </a:extLst>
          </p:cNvPr>
          <p:cNvSpPr>
            <a:spLocks noGrp="1"/>
          </p:cNvSpPr>
          <p:nvPr/>
        </p:nvSpPr>
        <p:spPr>
          <a:xfrm>
            <a:off x="523875" y="4619625"/>
            <a:ext cx="2095500" cy="333375"/>
          </a:xfrm>
          <a:prstGeom prst="rect">
            <a:avLst/>
          </a:prstGeom>
          <a:noFill/>
          <a:ln w="0">
            <a:noFill/>
            <a:prstDash val="solid"/>
          </a:ln>
        </p:spPr>
        <p:txBody>
          <a:bodyPr/>
          <a:lstStyle>
            <a:defPPr>
              <a:defRPr sz="1875" b="1">
                <a:solidFill>
                  <a:srgbClr val="B46A16"/>
                </a:solidFill>
                <a:latin typeface="Arial"/>
                <a:ea typeface="Arial"/>
                <a:cs typeface="Arial"/>
              </a:defRPr>
            </a:defPPr>
            <a:lvl1pPr>
              <a:defRPr sz="1875" b="1">
                <a:solidFill>
                  <a:srgbClr val="B46A16"/>
                </a:solidFill>
                <a:latin typeface="Arial"/>
                <a:ea typeface="Arial"/>
                <a:cs typeface="Arial"/>
              </a:defRPr>
            </a:lvl1pPr>
            <a:lvl2pPr>
              <a:defRPr sz="1875" b="1">
                <a:solidFill>
                  <a:srgbClr val="B46A16"/>
                </a:solidFill>
                <a:latin typeface="Arial"/>
                <a:ea typeface="Arial"/>
                <a:cs typeface="Arial"/>
              </a:defRPr>
            </a:lvl2pPr>
            <a:lvl3pPr>
              <a:defRPr sz="1875" b="1">
                <a:solidFill>
                  <a:srgbClr val="B46A16"/>
                </a:solidFill>
                <a:latin typeface="Arial"/>
                <a:ea typeface="Arial"/>
                <a:cs typeface="Arial"/>
              </a:defRPr>
            </a:lvl3pPr>
            <a:lvl4pPr>
              <a:defRPr sz="1875" b="1">
                <a:solidFill>
                  <a:srgbClr val="B46A16"/>
                </a:solidFill>
                <a:latin typeface="Arial"/>
                <a:ea typeface="Arial"/>
                <a:cs typeface="Arial"/>
              </a:defRPr>
            </a:lvl4pPr>
            <a:lvl5pPr>
              <a:defRPr sz="1875" b="1">
                <a:solidFill>
                  <a:srgbClr val="B46A16"/>
                </a:solidFill>
                <a:latin typeface="Arial"/>
                <a:ea typeface="Arial"/>
                <a:cs typeface="Arial"/>
              </a:defRPr>
            </a:lvl5pPr>
            <a:lvl6pPr>
              <a:defRPr sz="1875" b="1">
                <a:solidFill>
                  <a:srgbClr val="B46A16"/>
                </a:solidFill>
                <a:latin typeface="Arial"/>
                <a:ea typeface="Arial"/>
                <a:cs typeface="Arial"/>
              </a:defRPr>
            </a:lvl6pPr>
            <a:lvl7pPr>
              <a:defRPr sz="1875" b="1">
                <a:solidFill>
                  <a:srgbClr val="B46A16"/>
                </a:solidFill>
                <a:latin typeface="Arial"/>
                <a:ea typeface="Arial"/>
                <a:cs typeface="Arial"/>
              </a:defRPr>
            </a:lvl7pPr>
            <a:lvl8pPr>
              <a:defRPr sz="1875" b="1">
                <a:solidFill>
                  <a:srgbClr val="B46A16"/>
                </a:solidFill>
                <a:latin typeface="Arial"/>
                <a:ea typeface="Arial"/>
                <a:cs typeface="Arial"/>
              </a:defRPr>
            </a:lvl8pPr>
            <a:lvl9pPr>
              <a:defRPr sz="1875" b="1">
                <a:solidFill>
                  <a:srgbClr val="B46A16"/>
                </a:solidFill>
                <a:latin typeface="Arial"/>
                <a:ea typeface="Arial"/>
                <a:cs typeface="Arial"/>
              </a:defRPr>
            </a:lvl9pPr>
          </a:lstStyle>
          <a:p>
            <a:pPr>
              <a:defRPr sz="1875" b="1">
                <a:solidFill>
                  <a:srgbClr val="B46A16"/>
                </a:solidFill>
                <a:latin typeface="Arial"/>
                <a:ea typeface="Arial"/>
                <a:cs typeface="Arial"/>
              </a:defRPr>
            </a:pPr>
            <a:r>
              <a:rPr sz="1800" b="1">
                <a:solidFill>
                  <a:srgbClr val="A65F00"/>
                </a:solidFill>
                <a:latin typeface="Arial"/>
                <a:ea typeface="Arial"/>
                <a:cs typeface="Arial"/>
              </a:rPr>
              <a:t>INFORMATION</a:t>
            </a:r>
          </a:p>
        </p:txBody>
      </p:sp>
      <p:sp>
        <p:nvSpPr>
          <p:cNvPr id="17" name="Rectangle 16">
            <a:extLst>
              <a:ext uri="{FF2B5EF4-FFF2-40B4-BE49-F238E27FC236}">
                <a16:creationId xmlns:a16="http://schemas.microsoft.com/office/drawing/2014/main" id="{F4640EDB-B544-4828-8F0A-9004F04AB325}"/>
              </a:ext>
            </a:extLst>
          </p:cNvPr>
          <p:cNvSpPr>
            <a:spLocks noGrp="1"/>
          </p:cNvSpPr>
          <p:nvPr/>
        </p:nvSpPr>
        <p:spPr>
          <a:xfrm>
            <a:off x="2809875" y="4619625"/>
            <a:ext cx="8858250" cy="342900"/>
          </a:xfrm>
          <a:prstGeom prst="rect">
            <a:avLst/>
          </a:prstGeom>
          <a:noFill/>
          <a:ln w="0">
            <a:noFill/>
            <a:prstDash val="solid"/>
          </a:ln>
        </p:spPr>
        <p:txBody>
          <a:bodyPr/>
          <a:lstStyle>
            <a:defPPr>
              <a:defRPr sz="1875" b="0">
                <a:solidFill>
                  <a:srgbClr val="243333"/>
                </a:solidFill>
                <a:latin typeface="Arial"/>
                <a:ea typeface="Arial"/>
                <a:cs typeface="Arial"/>
              </a:defRPr>
            </a:defPPr>
            <a:lvl1pPr>
              <a:defRPr sz="1875" b="0">
                <a:solidFill>
                  <a:srgbClr val="243333"/>
                </a:solidFill>
                <a:latin typeface="Arial"/>
                <a:ea typeface="Arial"/>
                <a:cs typeface="Arial"/>
              </a:defRPr>
            </a:lvl1pPr>
            <a:lvl2pPr>
              <a:defRPr sz="1875" b="0">
                <a:solidFill>
                  <a:srgbClr val="243333"/>
                </a:solidFill>
                <a:latin typeface="Arial"/>
                <a:ea typeface="Arial"/>
                <a:cs typeface="Arial"/>
              </a:defRPr>
            </a:lvl2pPr>
            <a:lvl3pPr>
              <a:defRPr sz="1875" b="0">
                <a:solidFill>
                  <a:srgbClr val="243333"/>
                </a:solidFill>
                <a:latin typeface="Arial"/>
                <a:ea typeface="Arial"/>
                <a:cs typeface="Arial"/>
              </a:defRPr>
            </a:lvl3pPr>
            <a:lvl4pPr>
              <a:defRPr sz="1875" b="0">
                <a:solidFill>
                  <a:srgbClr val="243333"/>
                </a:solidFill>
                <a:latin typeface="Arial"/>
                <a:ea typeface="Arial"/>
                <a:cs typeface="Arial"/>
              </a:defRPr>
            </a:lvl4pPr>
            <a:lvl5pPr>
              <a:defRPr sz="1875" b="0">
                <a:solidFill>
                  <a:srgbClr val="243333"/>
                </a:solidFill>
                <a:latin typeface="Arial"/>
                <a:ea typeface="Arial"/>
                <a:cs typeface="Arial"/>
              </a:defRPr>
            </a:lvl5pPr>
            <a:lvl6pPr>
              <a:defRPr sz="1875" b="0">
                <a:solidFill>
                  <a:srgbClr val="243333"/>
                </a:solidFill>
                <a:latin typeface="Arial"/>
                <a:ea typeface="Arial"/>
                <a:cs typeface="Arial"/>
              </a:defRPr>
            </a:lvl6pPr>
            <a:lvl7pPr>
              <a:defRPr sz="1875" b="0">
                <a:solidFill>
                  <a:srgbClr val="243333"/>
                </a:solidFill>
                <a:latin typeface="Arial"/>
                <a:ea typeface="Arial"/>
                <a:cs typeface="Arial"/>
              </a:defRPr>
            </a:lvl7pPr>
            <a:lvl8pPr>
              <a:defRPr sz="1875" b="0">
                <a:solidFill>
                  <a:srgbClr val="243333"/>
                </a:solidFill>
                <a:latin typeface="Arial"/>
                <a:ea typeface="Arial"/>
                <a:cs typeface="Arial"/>
              </a:defRPr>
            </a:lvl8pPr>
            <a:lvl9pPr>
              <a:defRPr sz="1875" b="0">
                <a:solidFill>
                  <a:srgbClr val="243333"/>
                </a:solidFill>
                <a:latin typeface="Arial"/>
                <a:ea typeface="Arial"/>
                <a:cs typeface="Arial"/>
              </a:defRPr>
            </a:lvl9pPr>
          </a:lstStyle>
          <a:p>
            <a:pPr>
              <a:defRPr sz="1875" b="0">
                <a:solidFill>
                  <a:srgbClr val="243333"/>
                </a:solidFill>
                <a:latin typeface="Arial"/>
                <a:ea typeface="Arial"/>
                <a:cs typeface="Arial"/>
              </a:defRPr>
            </a:pPr>
            <a:r>
              <a:rPr sz="1800" b="0">
                <a:solidFill>
                  <a:srgbClr val="131E29"/>
                </a:solidFill>
                <a:latin typeface="Arial"/>
                <a:ea typeface="Arial"/>
                <a:cs typeface="Arial"/>
              </a:rPr>
              <a:t>Orders, forecasts, stock levels and delivery updates</a:t>
            </a:r>
          </a:p>
        </p:txBody>
      </p:sp>
      <p:sp>
        <p:nvSpPr>
          <p:cNvPr id="18" name="Arrow: Left-Right 17">
            <a:extLst>
              <a:ext uri="{FF2B5EF4-FFF2-40B4-BE49-F238E27FC236}">
                <a16:creationId xmlns:a16="http://schemas.microsoft.com/office/drawing/2014/main" id="{1A53182E-866E-4BD4-8FD6-D00DAA9E07DE}"/>
              </a:ext>
            </a:extLst>
          </p:cNvPr>
          <p:cNvSpPr>
            <a:spLocks noGrp="1"/>
          </p:cNvSpPr>
          <p:nvPr/>
        </p:nvSpPr>
        <p:spPr>
          <a:xfrm>
            <a:off x="523875" y="5000625"/>
            <a:ext cx="11096625" cy="266700"/>
          </a:xfrm>
          <a:prstGeom prst="leftRightArrow">
            <a:avLst/>
          </a:prstGeom>
          <a:solidFill>
            <a:srgbClr val="B46A16"/>
          </a:solidFill>
          <a:ln w="0">
            <a:noFill/>
            <a:prstDash val="solid"/>
          </a:ln>
        </p:spPr>
        <p:txBody>
          <a:bodyPr/>
          <a:lstStyle/>
          <a:p>
            <a:endParaRPr lang="en-GB"/>
          </a:p>
        </p:txBody>
      </p:sp>
      <p:sp>
        <p:nvSpPr>
          <p:cNvPr id="19" name="Rectangle 18">
            <a:extLst>
              <a:ext uri="{FF2B5EF4-FFF2-40B4-BE49-F238E27FC236}">
                <a16:creationId xmlns:a16="http://schemas.microsoft.com/office/drawing/2014/main" id="{1F214AD0-4672-4C4D-96D6-D69516A26EFC}"/>
              </a:ext>
            </a:extLst>
          </p:cNvPr>
          <p:cNvSpPr>
            <a:spLocks noGrp="1"/>
          </p:cNvSpPr>
          <p:nvPr/>
        </p:nvSpPr>
        <p:spPr>
          <a:xfrm>
            <a:off x="523875" y="5381625"/>
            <a:ext cx="2095500" cy="333375"/>
          </a:xfrm>
          <a:prstGeom prst="rect">
            <a:avLst/>
          </a:prstGeom>
          <a:noFill/>
          <a:ln w="0">
            <a:noFill/>
            <a:prstDash val="solid"/>
          </a:ln>
        </p:spPr>
        <p:txBody>
          <a:bodyPr/>
          <a:lstStyle>
            <a:defPPr>
              <a:defRPr sz="1875" b="1">
                <a:solidFill>
                  <a:srgbClr val="420099"/>
                </a:solidFill>
                <a:latin typeface="Arial"/>
                <a:ea typeface="Arial"/>
                <a:cs typeface="Arial"/>
              </a:defRPr>
            </a:defPPr>
            <a:lvl1pPr>
              <a:defRPr sz="1875" b="1">
                <a:solidFill>
                  <a:srgbClr val="420099"/>
                </a:solidFill>
                <a:latin typeface="Arial"/>
                <a:ea typeface="Arial"/>
                <a:cs typeface="Arial"/>
              </a:defRPr>
            </a:lvl1pPr>
            <a:lvl2pPr>
              <a:defRPr sz="1875" b="1">
                <a:solidFill>
                  <a:srgbClr val="420099"/>
                </a:solidFill>
                <a:latin typeface="Arial"/>
                <a:ea typeface="Arial"/>
                <a:cs typeface="Arial"/>
              </a:defRPr>
            </a:lvl2pPr>
            <a:lvl3pPr>
              <a:defRPr sz="1875" b="1">
                <a:solidFill>
                  <a:srgbClr val="420099"/>
                </a:solidFill>
                <a:latin typeface="Arial"/>
                <a:ea typeface="Arial"/>
                <a:cs typeface="Arial"/>
              </a:defRPr>
            </a:lvl3pPr>
            <a:lvl4pPr>
              <a:defRPr sz="1875" b="1">
                <a:solidFill>
                  <a:srgbClr val="420099"/>
                </a:solidFill>
                <a:latin typeface="Arial"/>
                <a:ea typeface="Arial"/>
                <a:cs typeface="Arial"/>
              </a:defRPr>
            </a:lvl4pPr>
            <a:lvl5pPr>
              <a:defRPr sz="1875" b="1">
                <a:solidFill>
                  <a:srgbClr val="420099"/>
                </a:solidFill>
                <a:latin typeface="Arial"/>
                <a:ea typeface="Arial"/>
                <a:cs typeface="Arial"/>
              </a:defRPr>
            </a:lvl5pPr>
            <a:lvl6pPr>
              <a:defRPr sz="1875" b="1">
                <a:solidFill>
                  <a:srgbClr val="420099"/>
                </a:solidFill>
                <a:latin typeface="Arial"/>
                <a:ea typeface="Arial"/>
                <a:cs typeface="Arial"/>
              </a:defRPr>
            </a:lvl6pPr>
            <a:lvl7pPr>
              <a:defRPr sz="1875" b="1">
                <a:solidFill>
                  <a:srgbClr val="420099"/>
                </a:solidFill>
                <a:latin typeface="Arial"/>
                <a:ea typeface="Arial"/>
                <a:cs typeface="Arial"/>
              </a:defRPr>
            </a:lvl7pPr>
            <a:lvl8pPr>
              <a:defRPr sz="1875" b="1">
                <a:solidFill>
                  <a:srgbClr val="420099"/>
                </a:solidFill>
                <a:latin typeface="Arial"/>
                <a:ea typeface="Arial"/>
                <a:cs typeface="Arial"/>
              </a:defRPr>
            </a:lvl8pPr>
            <a:lvl9pPr>
              <a:defRPr sz="1875" b="1">
                <a:solidFill>
                  <a:srgbClr val="420099"/>
                </a:solidFill>
                <a:latin typeface="Arial"/>
                <a:ea typeface="Arial"/>
                <a:cs typeface="Arial"/>
              </a:defRPr>
            </a:lvl9pPr>
          </a:lstStyle>
          <a:p>
            <a:pPr>
              <a:defRPr sz="1875" b="1">
                <a:solidFill>
                  <a:srgbClr val="420099"/>
                </a:solidFill>
                <a:latin typeface="Arial"/>
                <a:ea typeface="Arial"/>
                <a:cs typeface="Arial"/>
              </a:defRPr>
            </a:pPr>
            <a:r>
              <a:rPr sz="1800" b="1">
                <a:solidFill>
                  <a:srgbClr val="440099"/>
                </a:solidFill>
                <a:latin typeface="Arial"/>
                <a:ea typeface="Arial"/>
                <a:cs typeface="Arial"/>
              </a:rPr>
              <a:t>FINANCE</a:t>
            </a:r>
          </a:p>
        </p:txBody>
      </p:sp>
      <p:sp>
        <p:nvSpPr>
          <p:cNvPr id="20" name="Rectangle 19">
            <a:extLst>
              <a:ext uri="{FF2B5EF4-FFF2-40B4-BE49-F238E27FC236}">
                <a16:creationId xmlns:a16="http://schemas.microsoft.com/office/drawing/2014/main" id="{BAED9218-A597-4529-A10F-5FABC528F807}"/>
              </a:ext>
            </a:extLst>
          </p:cNvPr>
          <p:cNvSpPr>
            <a:spLocks noGrp="1"/>
          </p:cNvSpPr>
          <p:nvPr/>
        </p:nvSpPr>
        <p:spPr>
          <a:xfrm>
            <a:off x="2809875" y="5381625"/>
            <a:ext cx="8858250" cy="342900"/>
          </a:xfrm>
          <a:prstGeom prst="rect">
            <a:avLst/>
          </a:prstGeom>
          <a:noFill/>
          <a:ln w="0">
            <a:noFill/>
            <a:prstDash val="solid"/>
          </a:ln>
        </p:spPr>
        <p:txBody>
          <a:bodyPr/>
          <a:lstStyle>
            <a:defPPr>
              <a:defRPr sz="1875" b="0">
                <a:solidFill>
                  <a:srgbClr val="243333"/>
                </a:solidFill>
                <a:latin typeface="Arial"/>
                <a:ea typeface="Arial"/>
                <a:cs typeface="Arial"/>
              </a:defRPr>
            </a:defPPr>
            <a:lvl1pPr>
              <a:defRPr sz="1875" b="0">
                <a:solidFill>
                  <a:srgbClr val="243333"/>
                </a:solidFill>
                <a:latin typeface="Arial"/>
                <a:ea typeface="Arial"/>
                <a:cs typeface="Arial"/>
              </a:defRPr>
            </a:lvl1pPr>
            <a:lvl2pPr>
              <a:defRPr sz="1875" b="0">
                <a:solidFill>
                  <a:srgbClr val="243333"/>
                </a:solidFill>
                <a:latin typeface="Arial"/>
                <a:ea typeface="Arial"/>
                <a:cs typeface="Arial"/>
              </a:defRPr>
            </a:lvl2pPr>
            <a:lvl3pPr>
              <a:defRPr sz="1875" b="0">
                <a:solidFill>
                  <a:srgbClr val="243333"/>
                </a:solidFill>
                <a:latin typeface="Arial"/>
                <a:ea typeface="Arial"/>
                <a:cs typeface="Arial"/>
              </a:defRPr>
            </a:lvl3pPr>
            <a:lvl4pPr>
              <a:defRPr sz="1875" b="0">
                <a:solidFill>
                  <a:srgbClr val="243333"/>
                </a:solidFill>
                <a:latin typeface="Arial"/>
                <a:ea typeface="Arial"/>
                <a:cs typeface="Arial"/>
              </a:defRPr>
            </a:lvl4pPr>
            <a:lvl5pPr>
              <a:defRPr sz="1875" b="0">
                <a:solidFill>
                  <a:srgbClr val="243333"/>
                </a:solidFill>
                <a:latin typeface="Arial"/>
                <a:ea typeface="Arial"/>
                <a:cs typeface="Arial"/>
              </a:defRPr>
            </a:lvl5pPr>
            <a:lvl6pPr>
              <a:defRPr sz="1875" b="0">
                <a:solidFill>
                  <a:srgbClr val="243333"/>
                </a:solidFill>
                <a:latin typeface="Arial"/>
                <a:ea typeface="Arial"/>
                <a:cs typeface="Arial"/>
              </a:defRPr>
            </a:lvl6pPr>
            <a:lvl7pPr>
              <a:defRPr sz="1875" b="0">
                <a:solidFill>
                  <a:srgbClr val="243333"/>
                </a:solidFill>
                <a:latin typeface="Arial"/>
                <a:ea typeface="Arial"/>
                <a:cs typeface="Arial"/>
              </a:defRPr>
            </a:lvl7pPr>
            <a:lvl8pPr>
              <a:defRPr sz="1875" b="0">
                <a:solidFill>
                  <a:srgbClr val="243333"/>
                </a:solidFill>
                <a:latin typeface="Arial"/>
                <a:ea typeface="Arial"/>
                <a:cs typeface="Arial"/>
              </a:defRPr>
            </a:lvl8pPr>
            <a:lvl9pPr>
              <a:defRPr sz="1875" b="0">
                <a:solidFill>
                  <a:srgbClr val="243333"/>
                </a:solidFill>
                <a:latin typeface="Arial"/>
                <a:ea typeface="Arial"/>
                <a:cs typeface="Arial"/>
              </a:defRPr>
            </a:lvl9pPr>
          </a:lstStyle>
          <a:p>
            <a:pPr>
              <a:defRPr sz="1875" b="0">
                <a:solidFill>
                  <a:srgbClr val="243333"/>
                </a:solidFill>
                <a:latin typeface="Arial"/>
                <a:ea typeface="Arial"/>
                <a:cs typeface="Arial"/>
              </a:defRPr>
            </a:pPr>
            <a:r>
              <a:rPr sz="1800" b="0">
                <a:solidFill>
                  <a:srgbClr val="131E29"/>
                </a:solidFill>
                <a:latin typeface="Arial"/>
                <a:ea typeface="Arial"/>
                <a:cs typeface="Arial"/>
              </a:rPr>
              <a:t>Customer payments move back towards suppliers</a:t>
            </a:r>
          </a:p>
        </p:txBody>
      </p:sp>
      <p:sp>
        <p:nvSpPr>
          <p:cNvPr id="21" name="Arrow: Left 20">
            <a:extLst>
              <a:ext uri="{FF2B5EF4-FFF2-40B4-BE49-F238E27FC236}">
                <a16:creationId xmlns:a16="http://schemas.microsoft.com/office/drawing/2014/main" id="{7E4CE584-53DC-4622-9A7F-9F6C9176F81D}"/>
              </a:ext>
            </a:extLst>
          </p:cNvPr>
          <p:cNvSpPr>
            <a:spLocks noGrp="1"/>
          </p:cNvSpPr>
          <p:nvPr/>
        </p:nvSpPr>
        <p:spPr>
          <a:xfrm>
            <a:off x="523875" y="5762625"/>
            <a:ext cx="11096625" cy="266700"/>
          </a:xfrm>
          <a:prstGeom prst="leftArrow">
            <a:avLst/>
          </a:prstGeom>
          <a:solidFill>
            <a:srgbClr val="420099"/>
          </a:solidFill>
          <a:ln w="0">
            <a:noFill/>
            <a:prstDash val="solid"/>
          </a:ln>
        </p:spPr>
        <p:txBody>
          <a:bodyPr/>
          <a:lstStyle/>
          <a:p>
            <a:endParaRPr lang="en-GB"/>
          </a:p>
        </p:txBody>
      </p:sp>
      <p:sp>
        <p:nvSpPr>
          <p:cNvPr id="22" name="Rectangle 21">
            <a:extLst>
              <a:ext uri="{FF2B5EF4-FFF2-40B4-BE49-F238E27FC236}">
                <a16:creationId xmlns:a16="http://schemas.microsoft.com/office/drawing/2014/main" id="{414FEC75-0890-4085-8360-A30BFA95131D}"/>
              </a:ext>
            </a:extLst>
          </p:cNvPr>
          <p:cNvSpPr>
            <a:spLocks noGrp="1"/>
          </p:cNvSpPr>
          <p:nvPr/>
        </p:nvSpPr>
        <p:spPr>
          <a:xfrm>
            <a:off x="523875" y="6238875"/>
            <a:ext cx="11096625" cy="333375"/>
          </a:xfrm>
          <a:prstGeom prst="rect">
            <a:avLst/>
          </a:prstGeom>
          <a:noFill/>
          <a:ln w="0">
            <a:noFill/>
            <a:prstDash val="solid"/>
          </a:ln>
        </p:spPr>
        <p:txBody>
          <a:bodyPr/>
          <a:lstStyle>
            <a:defPPr>
              <a:defRPr sz="1650" b="0">
                <a:solidFill>
                  <a:srgbClr val="5D686A"/>
                </a:solidFill>
                <a:latin typeface="Arial"/>
                <a:ea typeface="Arial"/>
                <a:cs typeface="Arial"/>
              </a:defRPr>
            </a:defPPr>
            <a:lvl1pPr>
              <a:defRPr sz="1650" b="0">
                <a:solidFill>
                  <a:srgbClr val="5D686A"/>
                </a:solidFill>
                <a:latin typeface="Arial"/>
                <a:ea typeface="Arial"/>
                <a:cs typeface="Arial"/>
              </a:defRPr>
            </a:lvl1pPr>
            <a:lvl2pPr>
              <a:defRPr sz="1650" b="0">
                <a:solidFill>
                  <a:srgbClr val="5D686A"/>
                </a:solidFill>
                <a:latin typeface="Arial"/>
                <a:ea typeface="Arial"/>
                <a:cs typeface="Arial"/>
              </a:defRPr>
            </a:lvl2pPr>
            <a:lvl3pPr>
              <a:defRPr sz="1650" b="0">
                <a:solidFill>
                  <a:srgbClr val="5D686A"/>
                </a:solidFill>
                <a:latin typeface="Arial"/>
                <a:ea typeface="Arial"/>
                <a:cs typeface="Arial"/>
              </a:defRPr>
            </a:lvl3pPr>
            <a:lvl4pPr>
              <a:defRPr sz="1650" b="0">
                <a:solidFill>
                  <a:srgbClr val="5D686A"/>
                </a:solidFill>
                <a:latin typeface="Arial"/>
                <a:ea typeface="Arial"/>
                <a:cs typeface="Arial"/>
              </a:defRPr>
            </a:lvl4pPr>
            <a:lvl5pPr>
              <a:defRPr sz="1650" b="0">
                <a:solidFill>
                  <a:srgbClr val="5D686A"/>
                </a:solidFill>
                <a:latin typeface="Arial"/>
                <a:ea typeface="Arial"/>
                <a:cs typeface="Arial"/>
              </a:defRPr>
            </a:lvl5pPr>
            <a:lvl6pPr>
              <a:defRPr sz="1650" b="0">
                <a:solidFill>
                  <a:srgbClr val="5D686A"/>
                </a:solidFill>
                <a:latin typeface="Arial"/>
                <a:ea typeface="Arial"/>
                <a:cs typeface="Arial"/>
              </a:defRPr>
            </a:lvl6pPr>
            <a:lvl7pPr>
              <a:defRPr sz="1650" b="0">
                <a:solidFill>
                  <a:srgbClr val="5D686A"/>
                </a:solidFill>
                <a:latin typeface="Arial"/>
                <a:ea typeface="Arial"/>
                <a:cs typeface="Arial"/>
              </a:defRPr>
            </a:lvl7pPr>
            <a:lvl8pPr>
              <a:defRPr sz="1650" b="0">
                <a:solidFill>
                  <a:srgbClr val="5D686A"/>
                </a:solidFill>
                <a:latin typeface="Arial"/>
                <a:ea typeface="Arial"/>
                <a:cs typeface="Arial"/>
              </a:defRPr>
            </a:lvl8pPr>
            <a:lvl9pPr>
              <a:defRPr sz="1650" b="0">
                <a:solidFill>
                  <a:srgbClr val="5D686A"/>
                </a:solidFill>
                <a:latin typeface="Arial"/>
                <a:ea typeface="Arial"/>
                <a:cs typeface="Arial"/>
              </a:defRPr>
            </a:lvl9pPr>
          </a:lstStyle>
          <a:p>
            <a:pPr>
              <a:defRPr sz="1650" b="0">
                <a:solidFill>
                  <a:srgbClr val="5D686A"/>
                </a:solidFill>
                <a:latin typeface="Arial"/>
                <a:ea typeface="Arial"/>
                <a:cs typeface="Arial"/>
              </a:defRPr>
            </a:pPr>
            <a:r>
              <a:rPr sz="1600" b="0">
                <a:solidFill>
                  <a:srgbClr val="5E6977"/>
                </a:solidFill>
                <a:latin typeface="Arial"/>
                <a:ea typeface="Arial"/>
                <a:cs typeface="Arial"/>
              </a:rPr>
              <a:t>Returns can move upstream. Refunds can move downstream.</a:t>
            </a:r>
          </a:p>
        </p:txBody>
      </p:sp>
      <p:sp>
        <p:nvSpPr>
          <p:cNvPr id="23" name="Rectangle 22">
            <a:extLst>
              <a:ext uri="{FF2B5EF4-FFF2-40B4-BE49-F238E27FC236}">
                <a16:creationId xmlns:a16="http://schemas.microsoft.com/office/drawing/2014/main" id="{4D09EBEC-DB30-4084-96CC-F0A6CB1C6E3A}"/>
              </a:ext>
            </a:extLst>
          </p:cNvPr>
          <p:cNvSpPr>
            <a:spLocks noGrp="1"/>
          </p:cNvSpPr>
          <p:nvPr/>
        </p:nvSpPr>
        <p:spPr>
          <a:xfrm>
            <a:off x="523875" y="6572250"/>
            <a:ext cx="11096625" cy="285750"/>
          </a:xfrm>
          <a:prstGeom prst="rect">
            <a:avLst/>
          </a:prstGeom>
          <a:noFill/>
          <a:ln w="0">
            <a:noFill/>
            <a:prstDash val="solid"/>
          </a:ln>
        </p:spPr>
        <p:txBody>
          <a:bodyPr/>
          <a:lstStyle>
            <a:defPPr>
              <a:defRPr sz="1650" b="1">
                <a:solidFill>
                  <a:srgbClr val="420099"/>
                </a:solidFill>
                <a:latin typeface="Arial"/>
                <a:ea typeface="Arial"/>
                <a:cs typeface="Arial"/>
              </a:defRPr>
            </a:defPPr>
            <a:lvl1pPr>
              <a:defRPr sz="1650" b="1">
                <a:solidFill>
                  <a:srgbClr val="420099"/>
                </a:solidFill>
                <a:latin typeface="Arial"/>
                <a:ea typeface="Arial"/>
                <a:cs typeface="Arial"/>
              </a:defRPr>
            </a:lvl1pPr>
            <a:lvl2pPr>
              <a:defRPr sz="1650" b="1">
                <a:solidFill>
                  <a:srgbClr val="420099"/>
                </a:solidFill>
                <a:latin typeface="Arial"/>
                <a:ea typeface="Arial"/>
                <a:cs typeface="Arial"/>
              </a:defRPr>
            </a:lvl2pPr>
            <a:lvl3pPr>
              <a:defRPr sz="1650" b="1">
                <a:solidFill>
                  <a:srgbClr val="420099"/>
                </a:solidFill>
                <a:latin typeface="Arial"/>
                <a:ea typeface="Arial"/>
                <a:cs typeface="Arial"/>
              </a:defRPr>
            </a:lvl3pPr>
            <a:lvl4pPr>
              <a:defRPr sz="1650" b="1">
                <a:solidFill>
                  <a:srgbClr val="420099"/>
                </a:solidFill>
                <a:latin typeface="Arial"/>
                <a:ea typeface="Arial"/>
                <a:cs typeface="Arial"/>
              </a:defRPr>
            </a:lvl4pPr>
            <a:lvl5pPr>
              <a:defRPr sz="1650" b="1">
                <a:solidFill>
                  <a:srgbClr val="420099"/>
                </a:solidFill>
                <a:latin typeface="Arial"/>
                <a:ea typeface="Arial"/>
                <a:cs typeface="Arial"/>
              </a:defRPr>
            </a:lvl5pPr>
            <a:lvl6pPr>
              <a:defRPr sz="1650" b="1">
                <a:solidFill>
                  <a:srgbClr val="420099"/>
                </a:solidFill>
                <a:latin typeface="Arial"/>
                <a:ea typeface="Arial"/>
                <a:cs typeface="Arial"/>
              </a:defRPr>
            </a:lvl6pPr>
            <a:lvl7pPr>
              <a:defRPr sz="1650" b="1">
                <a:solidFill>
                  <a:srgbClr val="420099"/>
                </a:solidFill>
                <a:latin typeface="Arial"/>
                <a:ea typeface="Arial"/>
                <a:cs typeface="Arial"/>
              </a:defRPr>
            </a:lvl7pPr>
            <a:lvl8pPr>
              <a:defRPr sz="1650" b="1">
                <a:solidFill>
                  <a:srgbClr val="420099"/>
                </a:solidFill>
                <a:latin typeface="Arial"/>
                <a:ea typeface="Arial"/>
                <a:cs typeface="Arial"/>
              </a:defRPr>
            </a:lvl8pPr>
            <a:lvl9pPr>
              <a:defRPr sz="1650" b="1">
                <a:solidFill>
                  <a:srgbClr val="420099"/>
                </a:solidFill>
                <a:latin typeface="Arial"/>
                <a:ea typeface="Arial"/>
                <a:cs typeface="Arial"/>
              </a:defRPr>
            </a:lvl9pPr>
          </a:lstStyle>
          <a:p>
            <a:pPr>
              <a:defRPr sz="1650" b="1">
                <a:solidFill>
                  <a:srgbClr val="420099"/>
                </a:solidFill>
                <a:latin typeface="Arial"/>
                <a:ea typeface="Arial"/>
                <a:cs typeface="Arial"/>
              </a:defRPr>
            </a:pPr>
            <a:r>
              <a:rPr sz="1600" b="1">
                <a:solidFill>
                  <a:srgbClr val="440099"/>
                </a:solidFill>
                <a:latin typeface="Arial"/>
                <a:ea typeface="Arial"/>
                <a:cs typeface="Arial"/>
              </a:rPr>
              <a:t>What happens to the other flows if a customer changes an order?</a:t>
            </a:r>
          </a:p>
        </p:txBody>
      </p:sp>
    </p:spTree>
    <p:extLst>
      <p:ext uri="{BB962C8B-B14F-4D97-AF65-F5344CB8AC3E}">
        <p14:creationId xmlns:p14="http://schemas.microsoft.com/office/powerpoint/2010/main" val="659625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C75EC54-A2BA-4625-8222-9750AFD44179}"/>
              </a:ext>
            </a:extLst>
          </p:cNvPr>
          <p:cNvSpPr>
            <a:spLocks noGrp="1"/>
          </p:cNvSpPr>
          <p:nvPr/>
        </p:nvSpPr>
        <p:spPr>
          <a:xfrm>
            <a:off x="428625" y="238125"/>
            <a:ext cx="11334750" cy="619125"/>
          </a:xfrm>
          <a:prstGeom prst="rect">
            <a:avLst/>
          </a:prstGeom>
          <a:noFill/>
          <a:ln w="0">
            <a:noFill/>
            <a:prstDash val="solid"/>
          </a:ln>
        </p:spPr>
        <p:txBody>
          <a:bodyPr/>
          <a:lstStyle>
            <a:defPPr>
              <a:defRPr sz="3300" b="1">
                <a:solidFill>
                  <a:srgbClr val="420099"/>
                </a:solidFill>
                <a:latin typeface="Arial"/>
                <a:ea typeface="Arial"/>
                <a:cs typeface="Arial"/>
              </a:defRPr>
            </a:defPPr>
            <a:lvl1pPr>
              <a:defRPr sz="3300" b="1">
                <a:solidFill>
                  <a:srgbClr val="420099"/>
                </a:solidFill>
                <a:latin typeface="Arial"/>
                <a:ea typeface="Arial"/>
                <a:cs typeface="Arial"/>
              </a:defRPr>
            </a:lvl1pPr>
            <a:lvl2pPr>
              <a:defRPr sz="3300" b="1">
                <a:solidFill>
                  <a:srgbClr val="420099"/>
                </a:solidFill>
                <a:latin typeface="Arial"/>
                <a:ea typeface="Arial"/>
                <a:cs typeface="Arial"/>
              </a:defRPr>
            </a:lvl2pPr>
            <a:lvl3pPr>
              <a:defRPr sz="3300" b="1">
                <a:solidFill>
                  <a:srgbClr val="420099"/>
                </a:solidFill>
                <a:latin typeface="Arial"/>
                <a:ea typeface="Arial"/>
                <a:cs typeface="Arial"/>
              </a:defRPr>
            </a:lvl3pPr>
            <a:lvl4pPr>
              <a:defRPr sz="3300" b="1">
                <a:solidFill>
                  <a:srgbClr val="420099"/>
                </a:solidFill>
                <a:latin typeface="Arial"/>
                <a:ea typeface="Arial"/>
                <a:cs typeface="Arial"/>
              </a:defRPr>
            </a:lvl4pPr>
            <a:lvl5pPr>
              <a:defRPr sz="3300" b="1">
                <a:solidFill>
                  <a:srgbClr val="420099"/>
                </a:solidFill>
                <a:latin typeface="Arial"/>
                <a:ea typeface="Arial"/>
                <a:cs typeface="Arial"/>
              </a:defRPr>
            </a:lvl5pPr>
            <a:lvl6pPr>
              <a:defRPr sz="3300" b="1">
                <a:solidFill>
                  <a:srgbClr val="420099"/>
                </a:solidFill>
                <a:latin typeface="Arial"/>
                <a:ea typeface="Arial"/>
                <a:cs typeface="Arial"/>
              </a:defRPr>
            </a:lvl6pPr>
            <a:lvl7pPr>
              <a:defRPr sz="3300" b="1">
                <a:solidFill>
                  <a:srgbClr val="420099"/>
                </a:solidFill>
                <a:latin typeface="Arial"/>
                <a:ea typeface="Arial"/>
                <a:cs typeface="Arial"/>
              </a:defRPr>
            </a:lvl7pPr>
            <a:lvl8pPr>
              <a:defRPr sz="3300" b="1">
                <a:solidFill>
                  <a:srgbClr val="420099"/>
                </a:solidFill>
                <a:latin typeface="Arial"/>
                <a:ea typeface="Arial"/>
                <a:cs typeface="Arial"/>
              </a:defRPr>
            </a:lvl8pPr>
            <a:lvl9pPr>
              <a:defRPr sz="3300" b="1">
                <a:solidFill>
                  <a:srgbClr val="420099"/>
                </a:solidFill>
                <a:latin typeface="Arial"/>
                <a:ea typeface="Arial"/>
                <a:cs typeface="Arial"/>
              </a:defRPr>
            </a:lvl9pPr>
          </a:lstStyle>
          <a:p>
            <a:pPr algn="l">
              <a:defRPr sz="3300" b="1">
                <a:solidFill>
                  <a:srgbClr val="420099"/>
                </a:solidFill>
                <a:latin typeface="Arial"/>
                <a:ea typeface="Arial"/>
                <a:cs typeface="Arial"/>
              </a:defRPr>
            </a:pPr>
            <a:r>
              <a:rPr sz="3000" b="1">
                <a:solidFill>
                  <a:srgbClr val="440099"/>
                </a:solidFill>
                <a:latin typeface="Arial"/>
                <a:ea typeface="Arial"/>
                <a:cs typeface="Arial"/>
              </a:rPr>
              <a:t>Supply chains: scope and structure</a:t>
            </a:r>
          </a:p>
        </p:txBody>
      </p:sp>
      <p:sp>
        <p:nvSpPr>
          <p:cNvPr id="2" name="Rectangle 1">
            <a:extLst>
              <a:ext uri="{FF2B5EF4-FFF2-40B4-BE49-F238E27FC236}">
                <a16:creationId xmlns:a16="http://schemas.microsoft.com/office/drawing/2014/main" id="{C71ADC38-AA80-4AB5-AEEC-80D9468B5B90}"/>
              </a:ext>
            </a:extLst>
          </p:cNvPr>
          <p:cNvSpPr>
            <a:spLocks noGrp="1"/>
          </p:cNvSpPr>
          <p:nvPr/>
        </p:nvSpPr>
        <p:spPr>
          <a:xfrm>
            <a:off x="428625" y="1000125"/>
            <a:ext cx="11334750" cy="381000"/>
          </a:xfrm>
          <a:prstGeom prst="rect">
            <a:avLst/>
          </a:prstGeom>
          <a:noFill/>
          <a:ln w="0">
            <a:noFill/>
            <a:prstDash val="solid"/>
          </a:ln>
        </p:spPr>
        <p:txBody>
          <a:bodyPr/>
          <a:lstStyle>
            <a:defPPr>
              <a:defRPr sz="2025" b="1">
                <a:solidFill>
                  <a:srgbClr val="243333"/>
                </a:solidFill>
                <a:latin typeface="Arial"/>
                <a:ea typeface="Arial"/>
                <a:cs typeface="Arial"/>
              </a:defRPr>
            </a:defPPr>
            <a:lvl1pPr>
              <a:defRPr sz="2025" b="1">
                <a:solidFill>
                  <a:srgbClr val="243333"/>
                </a:solidFill>
                <a:latin typeface="Arial"/>
                <a:ea typeface="Arial"/>
                <a:cs typeface="Arial"/>
              </a:defRPr>
            </a:lvl1pPr>
            <a:lvl2pPr>
              <a:defRPr sz="2025" b="1">
                <a:solidFill>
                  <a:srgbClr val="243333"/>
                </a:solidFill>
                <a:latin typeface="Arial"/>
                <a:ea typeface="Arial"/>
                <a:cs typeface="Arial"/>
              </a:defRPr>
            </a:lvl2pPr>
            <a:lvl3pPr>
              <a:defRPr sz="2025" b="1">
                <a:solidFill>
                  <a:srgbClr val="243333"/>
                </a:solidFill>
                <a:latin typeface="Arial"/>
                <a:ea typeface="Arial"/>
                <a:cs typeface="Arial"/>
              </a:defRPr>
            </a:lvl3pPr>
            <a:lvl4pPr>
              <a:defRPr sz="2025" b="1">
                <a:solidFill>
                  <a:srgbClr val="243333"/>
                </a:solidFill>
                <a:latin typeface="Arial"/>
                <a:ea typeface="Arial"/>
                <a:cs typeface="Arial"/>
              </a:defRPr>
            </a:lvl4pPr>
            <a:lvl5pPr>
              <a:defRPr sz="2025" b="1">
                <a:solidFill>
                  <a:srgbClr val="243333"/>
                </a:solidFill>
                <a:latin typeface="Arial"/>
                <a:ea typeface="Arial"/>
                <a:cs typeface="Arial"/>
              </a:defRPr>
            </a:lvl5pPr>
            <a:lvl6pPr>
              <a:defRPr sz="2025" b="1">
                <a:solidFill>
                  <a:srgbClr val="243333"/>
                </a:solidFill>
                <a:latin typeface="Arial"/>
                <a:ea typeface="Arial"/>
                <a:cs typeface="Arial"/>
              </a:defRPr>
            </a:lvl6pPr>
            <a:lvl7pPr>
              <a:defRPr sz="2025" b="1">
                <a:solidFill>
                  <a:srgbClr val="243333"/>
                </a:solidFill>
                <a:latin typeface="Arial"/>
                <a:ea typeface="Arial"/>
                <a:cs typeface="Arial"/>
              </a:defRPr>
            </a:lvl7pPr>
            <a:lvl8pPr>
              <a:defRPr sz="2025" b="1">
                <a:solidFill>
                  <a:srgbClr val="243333"/>
                </a:solidFill>
                <a:latin typeface="Arial"/>
                <a:ea typeface="Arial"/>
                <a:cs typeface="Arial"/>
              </a:defRPr>
            </a:lvl8pPr>
            <a:lvl9pPr>
              <a:defRPr sz="2025" b="1">
                <a:solidFill>
                  <a:srgbClr val="243333"/>
                </a:solidFill>
                <a:latin typeface="Arial"/>
                <a:ea typeface="Arial"/>
                <a:cs typeface="Arial"/>
              </a:defRPr>
            </a:lvl9pPr>
          </a:lstStyle>
          <a:p>
            <a:pPr>
              <a:defRPr sz="2025" b="1">
                <a:solidFill>
                  <a:srgbClr val="243333"/>
                </a:solidFill>
                <a:latin typeface="Arial"/>
                <a:ea typeface="Arial"/>
                <a:cs typeface="Arial"/>
              </a:defRPr>
            </a:pPr>
            <a:r>
              <a:rPr sz="2000" b="1" dirty="0">
                <a:solidFill>
                  <a:srgbClr val="131E29"/>
                </a:solidFill>
                <a:latin typeface="Arial"/>
                <a:ea typeface="Arial"/>
                <a:cs typeface="Arial"/>
              </a:rPr>
              <a:t>Structure: how do the participants connect?</a:t>
            </a:r>
          </a:p>
        </p:txBody>
      </p:sp>
      <p:pic>
        <p:nvPicPr>
          <p:cNvPr id="3" name="Picture 2">
            <a:extLst>
              <a:ext uri="{FF2B5EF4-FFF2-40B4-BE49-F238E27FC236}">
                <a16:creationId xmlns:a16="http://schemas.microsoft.com/office/drawing/2014/main" id="{CF14D8C4-A43A-4BE0-B581-140D1B82E1D8}"/>
              </a:ext>
            </a:extLst>
          </p:cNvPr>
          <p:cNvPicPr>
            <a:picLocks noChangeAspect="1"/>
          </p:cNvPicPr>
          <p:nvPr/>
        </p:nvPicPr>
        <p:blipFill>
          <a:blip r:embed="rId3"/>
          <a:stretch/>
        </p:blipFill>
        <p:spPr>
          <a:xfrm>
            <a:off x="2038855" y="1476375"/>
            <a:ext cx="8114290" cy="3095625"/>
          </a:xfrm>
          <a:prstGeom prst="rect">
            <a:avLst/>
          </a:prstGeom>
        </p:spPr>
      </p:pic>
      <p:sp>
        <p:nvSpPr>
          <p:cNvPr id="4" name="Rectangle 3">
            <a:extLst>
              <a:ext uri="{FF2B5EF4-FFF2-40B4-BE49-F238E27FC236}">
                <a16:creationId xmlns:a16="http://schemas.microsoft.com/office/drawing/2014/main" id="{04040B90-6CC5-4A10-8A9A-5D2627401B3C}"/>
              </a:ext>
            </a:extLst>
          </p:cNvPr>
          <p:cNvSpPr>
            <a:spLocks noGrp="1"/>
          </p:cNvSpPr>
          <p:nvPr/>
        </p:nvSpPr>
        <p:spPr>
          <a:xfrm>
            <a:off x="428625" y="4714875"/>
            <a:ext cx="11334750" cy="381000"/>
          </a:xfrm>
          <a:prstGeom prst="rect">
            <a:avLst/>
          </a:prstGeom>
          <a:noFill/>
          <a:ln w="0">
            <a:noFill/>
            <a:prstDash val="solid"/>
          </a:ln>
        </p:spPr>
        <p:txBody>
          <a:bodyPr/>
          <a:lstStyle>
            <a:defPPr>
              <a:defRPr sz="2025" b="1">
                <a:solidFill>
                  <a:srgbClr val="420099"/>
                </a:solidFill>
                <a:latin typeface="Arial"/>
                <a:ea typeface="Arial"/>
                <a:cs typeface="Arial"/>
              </a:defRPr>
            </a:defPPr>
            <a:lvl1pPr>
              <a:defRPr sz="2025" b="1">
                <a:solidFill>
                  <a:srgbClr val="420099"/>
                </a:solidFill>
                <a:latin typeface="Arial"/>
                <a:ea typeface="Arial"/>
                <a:cs typeface="Arial"/>
              </a:defRPr>
            </a:lvl1pPr>
            <a:lvl2pPr>
              <a:defRPr sz="2025" b="1">
                <a:solidFill>
                  <a:srgbClr val="420099"/>
                </a:solidFill>
                <a:latin typeface="Arial"/>
                <a:ea typeface="Arial"/>
                <a:cs typeface="Arial"/>
              </a:defRPr>
            </a:lvl2pPr>
            <a:lvl3pPr>
              <a:defRPr sz="2025" b="1">
                <a:solidFill>
                  <a:srgbClr val="420099"/>
                </a:solidFill>
                <a:latin typeface="Arial"/>
                <a:ea typeface="Arial"/>
                <a:cs typeface="Arial"/>
              </a:defRPr>
            </a:lvl3pPr>
            <a:lvl4pPr>
              <a:defRPr sz="2025" b="1">
                <a:solidFill>
                  <a:srgbClr val="420099"/>
                </a:solidFill>
                <a:latin typeface="Arial"/>
                <a:ea typeface="Arial"/>
                <a:cs typeface="Arial"/>
              </a:defRPr>
            </a:lvl4pPr>
            <a:lvl5pPr>
              <a:defRPr sz="2025" b="1">
                <a:solidFill>
                  <a:srgbClr val="420099"/>
                </a:solidFill>
                <a:latin typeface="Arial"/>
                <a:ea typeface="Arial"/>
                <a:cs typeface="Arial"/>
              </a:defRPr>
            </a:lvl5pPr>
            <a:lvl6pPr>
              <a:defRPr sz="2025" b="1">
                <a:solidFill>
                  <a:srgbClr val="420099"/>
                </a:solidFill>
                <a:latin typeface="Arial"/>
                <a:ea typeface="Arial"/>
                <a:cs typeface="Arial"/>
              </a:defRPr>
            </a:lvl6pPr>
            <a:lvl7pPr>
              <a:defRPr sz="2025" b="1">
                <a:solidFill>
                  <a:srgbClr val="420099"/>
                </a:solidFill>
                <a:latin typeface="Arial"/>
                <a:ea typeface="Arial"/>
                <a:cs typeface="Arial"/>
              </a:defRPr>
            </a:lvl7pPr>
            <a:lvl8pPr>
              <a:defRPr sz="2025" b="1">
                <a:solidFill>
                  <a:srgbClr val="420099"/>
                </a:solidFill>
                <a:latin typeface="Arial"/>
                <a:ea typeface="Arial"/>
                <a:cs typeface="Arial"/>
              </a:defRPr>
            </a:lvl8pPr>
            <a:lvl9pPr>
              <a:defRPr sz="2025" b="1">
                <a:solidFill>
                  <a:srgbClr val="420099"/>
                </a:solidFill>
                <a:latin typeface="Arial"/>
                <a:ea typeface="Arial"/>
                <a:cs typeface="Arial"/>
              </a:defRPr>
            </a:lvl9pPr>
          </a:lstStyle>
          <a:p>
            <a:pPr>
              <a:defRPr sz="2025" b="1">
                <a:solidFill>
                  <a:srgbClr val="420099"/>
                </a:solidFill>
                <a:latin typeface="Arial"/>
                <a:ea typeface="Arial"/>
                <a:cs typeface="Arial"/>
              </a:defRPr>
            </a:pPr>
            <a:r>
              <a:rPr sz="2000" b="1">
                <a:solidFill>
                  <a:srgbClr val="440099"/>
                </a:solidFill>
                <a:latin typeface="Arial"/>
                <a:ea typeface="Arial"/>
                <a:cs typeface="Arial"/>
              </a:rPr>
              <a:t>Scope: how far does our view extend?</a:t>
            </a:r>
          </a:p>
        </p:txBody>
      </p:sp>
      <p:sp>
        <p:nvSpPr>
          <p:cNvPr id="5" name="Rectangle 4">
            <a:extLst>
              <a:ext uri="{FF2B5EF4-FFF2-40B4-BE49-F238E27FC236}">
                <a16:creationId xmlns:a16="http://schemas.microsoft.com/office/drawing/2014/main" id="{55DDE413-9027-4D77-B5AB-DAE37D137D67}"/>
              </a:ext>
            </a:extLst>
          </p:cNvPr>
          <p:cNvSpPr>
            <a:spLocks noGrp="1"/>
          </p:cNvSpPr>
          <p:nvPr/>
        </p:nvSpPr>
        <p:spPr>
          <a:xfrm>
            <a:off x="428625" y="5238750"/>
            <a:ext cx="3667125" cy="333375"/>
          </a:xfrm>
          <a:prstGeom prst="rect">
            <a:avLst/>
          </a:prstGeom>
          <a:noFill/>
          <a:ln w="0">
            <a:noFill/>
            <a:prstDash val="solid"/>
          </a:ln>
        </p:spPr>
        <p:txBody>
          <a:bodyPr/>
          <a:lstStyle>
            <a:defPPr>
              <a:defRPr sz="1725" b="1">
                <a:solidFill>
                  <a:srgbClr val="420099"/>
                </a:solidFill>
                <a:latin typeface="Arial"/>
                <a:ea typeface="Arial"/>
                <a:cs typeface="Arial"/>
              </a:defRPr>
            </a:defPPr>
            <a:lvl1pPr>
              <a:defRPr sz="1725" b="1">
                <a:solidFill>
                  <a:srgbClr val="420099"/>
                </a:solidFill>
                <a:latin typeface="Arial"/>
                <a:ea typeface="Arial"/>
                <a:cs typeface="Arial"/>
              </a:defRPr>
            </a:lvl1pPr>
            <a:lvl2pPr>
              <a:defRPr sz="1725" b="1">
                <a:solidFill>
                  <a:srgbClr val="420099"/>
                </a:solidFill>
                <a:latin typeface="Arial"/>
                <a:ea typeface="Arial"/>
                <a:cs typeface="Arial"/>
              </a:defRPr>
            </a:lvl2pPr>
            <a:lvl3pPr>
              <a:defRPr sz="1725" b="1">
                <a:solidFill>
                  <a:srgbClr val="420099"/>
                </a:solidFill>
                <a:latin typeface="Arial"/>
                <a:ea typeface="Arial"/>
                <a:cs typeface="Arial"/>
              </a:defRPr>
            </a:lvl3pPr>
            <a:lvl4pPr>
              <a:defRPr sz="1725" b="1">
                <a:solidFill>
                  <a:srgbClr val="420099"/>
                </a:solidFill>
                <a:latin typeface="Arial"/>
                <a:ea typeface="Arial"/>
                <a:cs typeface="Arial"/>
              </a:defRPr>
            </a:lvl4pPr>
            <a:lvl5pPr>
              <a:defRPr sz="1725" b="1">
                <a:solidFill>
                  <a:srgbClr val="420099"/>
                </a:solidFill>
                <a:latin typeface="Arial"/>
                <a:ea typeface="Arial"/>
                <a:cs typeface="Arial"/>
              </a:defRPr>
            </a:lvl5pPr>
            <a:lvl6pPr>
              <a:defRPr sz="1725" b="1">
                <a:solidFill>
                  <a:srgbClr val="420099"/>
                </a:solidFill>
                <a:latin typeface="Arial"/>
                <a:ea typeface="Arial"/>
                <a:cs typeface="Arial"/>
              </a:defRPr>
            </a:lvl6pPr>
            <a:lvl7pPr>
              <a:defRPr sz="1725" b="1">
                <a:solidFill>
                  <a:srgbClr val="420099"/>
                </a:solidFill>
                <a:latin typeface="Arial"/>
                <a:ea typeface="Arial"/>
                <a:cs typeface="Arial"/>
              </a:defRPr>
            </a:lvl7pPr>
            <a:lvl8pPr>
              <a:defRPr sz="1725" b="1">
                <a:solidFill>
                  <a:srgbClr val="420099"/>
                </a:solidFill>
                <a:latin typeface="Arial"/>
                <a:ea typeface="Arial"/>
                <a:cs typeface="Arial"/>
              </a:defRPr>
            </a:lvl8pPr>
            <a:lvl9pPr>
              <a:defRPr sz="1725" b="1">
                <a:solidFill>
                  <a:srgbClr val="420099"/>
                </a:solidFill>
                <a:latin typeface="Arial"/>
                <a:ea typeface="Arial"/>
                <a:cs typeface="Arial"/>
              </a:defRPr>
            </a:lvl9pPr>
          </a:lstStyle>
          <a:p>
            <a:pPr>
              <a:defRPr sz="1725" b="1">
                <a:solidFill>
                  <a:srgbClr val="420099"/>
                </a:solidFill>
                <a:latin typeface="Arial"/>
                <a:ea typeface="Arial"/>
                <a:cs typeface="Arial"/>
              </a:defRPr>
            </a:pPr>
            <a:r>
              <a:rPr sz="1600" b="1">
                <a:solidFill>
                  <a:srgbClr val="440099"/>
                </a:solidFill>
                <a:latin typeface="Arial"/>
                <a:ea typeface="Arial"/>
                <a:cs typeface="Arial"/>
              </a:rPr>
              <a:t>DIRECT</a:t>
            </a:r>
          </a:p>
        </p:txBody>
      </p:sp>
      <p:sp>
        <p:nvSpPr>
          <p:cNvPr id="6" name="Rectangle 5">
            <a:extLst>
              <a:ext uri="{FF2B5EF4-FFF2-40B4-BE49-F238E27FC236}">
                <a16:creationId xmlns:a16="http://schemas.microsoft.com/office/drawing/2014/main" id="{73336D32-5AF3-479F-A7C9-860576F135C9}"/>
              </a:ext>
            </a:extLst>
          </p:cNvPr>
          <p:cNvSpPr>
            <a:spLocks noGrp="1"/>
          </p:cNvSpPr>
          <p:nvPr/>
        </p:nvSpPr>
        <p:spPr>
          <a:xfrm>
            <a:off x="428625" y="5638800"/>
            <a:ext cx="3667125" cy="762000"/>
          </a:xfrm>
          <a:prstGeom prst="rect">
            <a:avLst/>
          </a:prstGeom>
          <a:noFill/>
          <a:ln w="0">
            <a:noFill/>
            <a:prstDash val="solid"/>
          </a:ln>
        </p:spPr>
        <p:txBody>
          <a:bodyPr/>
          <a:lstStyle>
            <a:defPPr>
              <a:defRPr sz="1650" b="0">
                <a:solidFill>
                  <a:srgbClr val="243333"/>
                </a:solidFill>
                <a:latin typeface="Arial"/>
                <a:ea typeface="Arial"/>
                <a:cs typeface="Arial"/>
              </a:defRPr>
            </a:defPPr>
            <a:lvl1pPr>
              <a:defRPr sz="1650" b="0">
                <a:solidFill>
                  <a:srgbClr val="243333"/>
                </a:solidFill>
                <a:latin typeface="Arial"/>
                <a:ea typeface="Arial"/>
                <a:cs typeface="Arial"/>
              </a:defRPr>
            </a:lvl1pPr>
            <a:lvl2pPr>
              <a:defRPr sz="1650" b="0">
                <a:solidFill>
                  <a:srgbClr val="243333"/>
                </a:solidFill>
                <a:latin typeface="Arial"/>
                <a:ea typeface="Arial"/>
                <a:cs typeface="Arial"/>
              </a:defRPr>
            </a:lvl2pPr>
            <a:lvl3pPr>
              <a:defRPr sz="1650" b="0">
                <a:solidFill>
                  <a:srgbClr val="243333"/>
                </a:solidFill>
                <a:latin typeface="Arial"/>
                <a:ea typeface="Arial"/>
                <a:cs typeface="Arial"/>
              </a:defRPr>
            </a:lvl3pPr>
            <a:lvl4pPr>
              <a:defRPr sz="1650" b="0">
                <a:solidFill>
                  <a:srgbClr val="243333"/>
                </a:solidFill>
                <a:latin typeface="Arial"/>
                <a:ea typeface="Arial"/>
                <a:cs typeface="Arial"/>
              </a:defRPr>
            </a:lvl4pPr>
            <a:lvl5pPr>
              <a:defRPr sz="1650" b="0">
                <a:solidFill>
                  <a:srgbClr val="243333"/>
                </a:solidFill>
                <a:latin typeface="Arial"/>
                <a:ea typeface="Arial"/>
                <a:cs typeface="Arial"/>
              </a:defRPr>
            </a:lvl5pPr>
            <a:lvl6pPr>
              <a:defRPr sz="1650" b="0">
                <a:solidFill>
                  <a:srgbClr val="243333"/>
                </a:solidFill>
                <a:latin typeface="Arial"/>
                <a:ea typeface="Arial"/>
                <a:cs typeface="Arial"/>
              </a:defRPr>
            </a:lvl6pPr>
            <a:lvl7pPr>
              <a:defRPr sz="1650" b="0">
                <a:solidFill>
                  <a:srgbClr val="243333"/>
                </a:solidFill>
                <a:latin typeface="Arial"/>
                <a:ea typeface="Arial"/>
                <a:cs typeface="Arial"/>
              </a:defRPr>
            </a:lvl7pPr>
            <a:lvl8pPr>
              <a:defRPr sz="1650" b="0">
                <a:solidFill>
                  <a:srgbClr val="243333"/>
                </a:solidFill>
                <a:latin typeface="Arial"/>
                <a:ea typeface="Arial"/>
                <a:cs typeface="Arial"/>
              </a:defRPr>
            </a:lvl8pPr>
            <a:lvl9pPr>
              <a:defRPr sz="1650" b="0">
                <a:solidFill>
                  <a:srgbClr val="243333"/>
                </a:solidFill>
                <a:latin typeface="Arial"/>
                <a:ea typeface="Arial"/>
                <a:cs typeface="Arial"/>
              </a:defRPr>
            </a:lvl9pPr>
          </a:lstStyle>
          <a:p>
            <a:pPr>
              <a:defRPr sz="1650" b="0">
                <a:solidFill>
                  <a:srgbClr val="243333"/>
                </a:solidFill>
                <a:latin typeface="Arial"/>
                <a:ea typeface="Arial"/>
                <a:cs typeface="Arial"/>
              </a:defRPr>
            </a:pPr>
            <a:r>
              <a:rPr sz="1600" b="0" dirty="0" err="1">
                <a:solidFill>
                  <a:srgbClr val="131E29"/>
                </a:solidFill>
                <a:latin typeface="Arial"/>
                <a:ea typeface="Arial"/>
                <a:cs typeface="Arial"/>
              </a:rPr>
              <a:t>Organisation</a:t>
            </a:r>
            <a:r>
              <a:rPr sz="1600" b="0" dirty="0">
                <a:solidFill>
                  <a:srgbClr val="131E29"/>
                </a:solidFill>
                <a:latin typeface="Arial"/>
                <a:ea typeface="Arial"/>
                <a:cs typeface="Arial"/>
              </a:rPr>
              <a:t>, immediate</a:t>
            </a:r>
          </a:p>
          <a:p>
            <a:pPr>
              <a:defRPr sz="1650" b="0">
                <a:solidFill>
                  <a:srgbClr val="243333"/>
                </a:solidFill>
                <a:latin typeface="Arial"/>
                <a:ea typeface="Arial"/>
                <a:cs typeface="Arial"/>
              </a:defRPr>
            </a:pPr>
            <a:r>
              <a:rPr sz="1600" b="0" dirty="0">
                <a:solidFill>
                  <a:srgbClr val="131E29"/>
                </a:solidFill>
                <a:latin typeface="Arial"/>
                <a:ea typeface="Arial"/>
                <a:cs typeface="Arial"/>
              </a:rPr>
              <a:t>supplier and customer</a:t>
            </a:r>
          </a:p>
        </p:txBody>
      </p:sp>
      <p:sp>
        <p:nvSpPr>
          <p:cNvPr id="7" name="Rectangle 6">
            <a:extLst>
              <a:ext uri="{FF2B5EF4-FFF2-40B4-BE49-F238E27FC236}">
                <a16:creationId xmlns:a16="http://schemas.microsoft.com/office/drawing/2014/main" id="{3C2326CA-4BA3-459D-821D-C969B69B67B6}"/>
              </a:ext>
            </a:extLst>
          </p:cNvPr>
          <p:cNvSpPr>
            <a:spLocks noGrp="1"/>
          </p:cNvSpPr>
          <p:nvPr/>
        </p:nvSpPr>
        <p:spPr>
          <a:xfrm>
            <a:off x="4286250" y="5238750"/>
            <a:ext cx="3667125" cy="333375"/>
          </a:xfrm>
          <a:prstGeom prst="rect">
            <a:avLst/>
          </a:prstGeom>
          <a:noFill/>
          <a:ln w="0">
            <a:noFill/>
            <a:prstDash val="solid"/>
          </a:ln>
        </p:spPr>
        <p:txBody>
          <a:bodyPr/>
          <a:lstStyle>
            <a:defPPr>
              <a:defRPr sz="1725" b="1">
                <a:solidFill>
                  <a:srgbClr val="420099"/>
                </a:solidFill>
                <a:latin typeface="Arial"/>
                <a:ea typeface="Arial"/>
                <a:cs typeface="Arial"/>
              </a:defRPr>
            </a:defPPr>
            <a:lvl1pPr>
              <a:defRPr sz="1725" b="1">
                <a:solidFill>
                  <a:srgbClr val="420099"/>
                </a:solidFill>
                <a:latin typeface="Arial"/>
                <a:ea typeface="Arial"/>
                <a:cs typeface="Arial"/>
              </a:defRPr>
            </a:lvl1pPr>
            <a:lvl2pPr>
              <a:defRPr sz="1725" b="1">
                <a:solidFill>
                  <a:srgbClr val="420099"/>
                </a:solidFill>
                <a:latin typeface="Arial"/>
                <a:ea typeface="Arial"/>
                <a:cs typeface="Arial"/>
              </a:defRPr>
            </a:lvl2pPr>
            <a:lvl3pPr>
              <a:defRPr sz="1725" b="1">
                <a:solidFill>
                  <a:srgbClr val="420099"/>
                </a:solidFill>
                <a:latin typeface="Arial"/>
                <a:ea typeface="Arial"/>
                <a:cs typeface="Arial"/>
              </a:defRPr>
            </a:lvl3pPr>
            <a:lvl4pPr>
              <a:defRPr sz="1725" b="1">
                <a:solidFill>
                  <a:srgbClr val="420099"/>
                </a:solidFill>
                <a:latin typeface="Arial"/>
                <a:ea typeface="Arial"/>
                <a:cs typeface="Arial"/>
              </a:defRPr>
            </a:lvl4pPr>
            <a:lvl5pPr>
              <a:defRPr sz="1725" b="1">
                <a:solidFill>
                  <a:srgbClr val="420099"/>
                </a:solidFill>
                <a:latin typeface="Arial"/>
                <a:ea typeface="Arial"/>
                <a:cs typeface="Arial"/>
              </a:defRPr>
            </a:lvl5pPr>
            <a:lvl6pPr>
              <a:defRPr sz="1725" b="1">
                <a:solidFill>
                  <a:srgbClr val="420099"/>
                </a:solidFill>
                <a:latin typeface="Arial"/>
                <a:ea typeface="Arial"/>
                <a:cs typeface="Arial"/>
              </a:defRPr>
            </a:lvl6pPr>
            <a:lvl7pPr>
              <a:defRPr sz="1725" b="1">
                <a:solidFill>
                  <a:srgbClr val="420099"/>
                </a:solidFill>
                <a:latin typeface="Arial"/>
                <a:ea typeface="Arial"/>
                <a:cs typeface="Arial"/>
              </a:defRPr>
            </a:lvl7pPr>
            <a:lvl8pPr>
              <a:defRPr sz="1725" b="1">
                <a:solidFill>
                  <a:srgbClr val="420099"/>
                </a:solidFill>
                <a:latin typeface="Arial"/>
                <a:ea typeface="Arial"/>
                <a:cs typeface="Arial"/>
              </a:defRPr>
            </a:lvl8pPr>
            <a:lvl9pPr>
              <a:defRPr sz="1725" b="1">
                <a:solidFill>
                  <a:srgbClr val="420099"/>
                </a:solidFill>
                <a:latin typeface="Arial"/>
                <a:ea typeface="Arial"/>
                <a:cs typeface="Arial"/>
              </a:defRPr>
            </a:lvl9pPr>
          </a:lstStyle>
          <a:p>
            <a:pPr>
              <a:defRPr sz="1725" b="1">
                <a:solidFill>
                  <a:srgbClr val="420099"/>
                </a:solidFill>
                <a:latin typeface="Arial"/>
                <a:ea typeface="Arial"/>
                <a:cs typeface="Arial"/>
              </a:defRPr>
            </a:pPr>
            <a:r>
              <a:rPr sz="1600" b="1">
                <a:solidFill>
                  <a:srgbClr val="440099"/>
                </a:solidFill>
                <a:latin typeface="Arial"/>
                <a:ea typeface="Arial"/>
                <a:cs typeface="Arial"/>
              </a:rPr>
              <a:t>EXTENDED</a:t>
            </a:r>
          </a:p>
        </p:txBody>
      </p:sp>
      <p:sp>
        <p:nvSpPr>
          <p:cNvPr id="8" name="Rectangle 7">
            <a:extLst>
              <a:ext uri="{FF2B5EF4-FFF2-40B4-BE49-F238E27FC236}">
                <a16:creationId xmlns:a16="http://schemas.microsoft.com/office/drawing/2014/main" id="{717A2320-9C26-4A84-991E-5CACEDB01E99}"/>
              </a:ext>
            </a:extLst>
          </p:cNvPr>
          <p:cNvSpPr>
            <a:spLocks noGrp="1"/>
          </p:cNvSpPr>
          <p:nvPr/>
        </p:nvSpPr>
        <p:spPr>
          <a:xfrm>
            <a:off x="4286250" y="5638800"/>
            <a:ext cx="3667125" cy="762000"/>
          </a:xfrm>
          <a:prstGeom prst="rect">
            <a:avLst/>
          </a:prstGeom>
          <a:noFill/>
          <a:ln w="0">
            <a:noFill/>
            <a:prstDash val="solid"/>
          </a:ln>
        </p:spPr>
        <p:txBody>
          <a:bodyPr/>
          <a:lstStyle>
            <a:defPPr>
              <a:defRPr sz="1650" b="0">
                <a:solidFill>
                  <a:srgbClr val="243333"/>
                </a:solidFill>
                <a:latin typeface="Arial"/>
                <a:ea typeface="Arial"/>
                <a:cs typeface="Arial"/>
              </a:defRPr>
            </a:defPPr>
            <a:lvl1pPr>
              <a:defRPr sz="1650" b="0">
                <a:solidFill>
                  <a:srgbClr val="243333"/>
                </a:solidFill>
                <a:latin typeface="Arial"/>
                <a:ea typeface="Arial"/>
                <a:cs typeface="Arial"/>
              </a:defRPr>
            </a:lvl1pPr>
            <a:lvl2pPr>
              <a:defRPr sz="1650" b="0">
                <a:solidFill>
                  <a:srgbClr val="243333"/>
                </a:solidFill>
                <a:latin typeface="Arial"/>
                <a:ea typeface="Arial"/>
                <a:cs typeface="Arial"/>
              </a:defRPr>
            </a:lvl2pPr>
            <a:lvl3pPr>
              <a:defRPr sz="1650" b="0">
                <a:solidFill>
                  <a:srgbClr val="243333"/>
                </a:solidFill>
                <a:latin typeface="Arial"/>
                <a:ea typeface="Arial"/>
                <a:cs typeface="Arial"/>
              </a:defRPr>
            </a:lvl3pPr>
            <a:lvl4pPr>
              <a:defRPr sz="1650" b="0">
                <a:solidFill>
                  <a:srgbClr val="243333"/>
                </a:solidFill>
                <a:latin typeface="Arial"/>
                <a:ea typeface="Arial"/>
                <a:cs typeface="Arial"/>
              </a:defRPr>
            </a:lvl4pPr>
            <a:lvl5pPr>
              <a:defRPr sz="1650" b="0">
                <a:solidFill>
                  <a:srgbClr val="243333"/>
                </a:solidFill>
                <a:latin typeface="Arial"/>
                <a:ea typeface="Arial"/>
                <a:cs typeface="Arial"/>
              </a:defRPr>
            </a:lvl5pPr>
            <a:lvl6pPr>
              <a:defRPr sz="1650" b="0">
                <a:solidFill>
                  <a:srgbClr val="243333"/>
                </a:solidFill>
                <a:latin typeface="Arial"/>
                <a:ea typeface="Arial"/>
                <a:cs typeface="Arial"/>
              </a:defRPr>
            </a:lvl6pPr>
            <a:lvl7pPr>
              <a:defRPr sz="1650" b="0">
                <a:solidFill>
                  <a:srgbClr val="243333"/>
                </a:solidFill>
                <a:latin typeface="Arial"/>
                <a:ea typeface="Arial"/>
                <a:cs typeface="Arial"/>
              </a:defRPr>
            </a:lvl7pPr>
            <a:lvl8pPr>
              <a:defRPr sz="1650" b="0">
                <a:solidFill>
                  <a:srgbClr val="243333"/>
                </a:solidFill>
                <a:latin typeface="Arial"/>
                <a:ea typeface="Arial"/>
                <a:cs typeface="Arial"/>
              </a:defRPr>
            </a:lvl8pPr>
            <a:lvl9pPr>
              <a:defRPr sz="1650" b="0">
                <a:solidFill>
                  <a:srgbClr val="243333"/>
                </a:solidFill>
                <a:latin typeface="Arial"/>
                <a:ea typeface="Arial"/>
                <a:cs typeface="Arial"/>
              </a:defRPr>
            </a:lvl9pPr>
          </a:lstStyle>
          <a:p>
            <a:pPr>
              <a:defRPr sz="1650" b="0">
                <a:solidFill>
                  <a:srgbClr val="243333"/>
                </a:solidFill>
                <a:latin typeface="Arial"/>
                <a:ea typeface="Arial"/>
                <a:cs typeface="Arial"/>
              </a:defRPr>
            </a:pPr>
            <a:r>
              <a:rPr sz="1600" b="0">
                <a:solidFill>
                  <a:srgbClr val="131E29"/>
                </a:solidFill>
                <a:latin typeface="Arial"/>
                <a:ea typeface="Arial"/>
                <a:cs typeface="Arial"/>
              </a:rPr>
              <a:t>Also includes suppliers’ suppliers</a:t>
            </a:r>
          </a:p>
          <a:p>
            <a:pPr>
              <a:defRPr sz="1650" b="0">
                <a:solidFill>
                  <a:srgbClr val="243333"/>
                </a:solidFill>
                <a:latin typeface="Arial"/>
                <a:ea typeface="Arial"/>
                <a:cs typeface="Arial"/>
              </a:defRPr>
            </a:pPr>
            <a:r>
              <a:rPr sz="1600" b="0">
                <a:solidFill>
                  <a:srgbClr val="131E29"/>
                </a:solidFill>
                <a:latin typeface="Arial"/>
                <a:ea typeface="Arial"/>
                <a:cs typeface="Arial"/>
              </a:rPr>
              <a:t>and customers’ customers</a:t>
            </a:r>
          </a:p>
        </p:txBody>
      </p:sp>
      <p:sp>
        <p:nvSpPr>
          <p:cNvPr id="9" name="Rectangle 8">
            <a:extLst>
              <a:ext uri="{FF2B5EF4-FFF2-40B4-BE49-F238E27FC236}">
                <a16:creationId xmlns:a16="http://schemas.microsoft.com/office/drawing/2014/main" id="{EC6965A7-08B7-46F4-986C-CB2E77D839B0}"/>
              </a:ext>
            </a:extLst>
          </p:cNvPr>
          <p:cNvSpPr>
            <a:spLocks noGrp="1"/>
          </p:cNvSpPr>
          <p:nvPr/>
        </p:nvSpPr>
        <p:spPr>
          <a:xfrm>
            <a:off x="8143875" y="5238750"/>
            <a:ext cx="3667125" cy="333375"/>
          </a:xfrm>
          <a:prstGeom prst="rect">
            <a:avLst/>
          </a:prstGeom>
          <a:noFill/>
          <a:ln w="0">
            <a:noFill/>
            <a:prstDash val="solid"/>
          </a:ln>
        </p:spPr>
        <p:txBody>
          <a:bodyPr/>
          <a:lstStyle>
            <a:defPPr>
              <a:defRPr sz="1725" b="1">
                <a:solidFill>
                  <a:srgbClr val="420099"/>
                </a:solidFill>
                <a:latin typeface="Arial"/>
                <a:ea typeface="Arial"/>
                <a:cs typeface="Arial"/>
              </a:defRPr>
            </a:defPPr>
            <a:lvl1pPr>
              <a:defRPr sz="1725" b="1">
                <a:solidFill>
                  <a:srgbClr val="420099"/>
                </a:solidFill>
                <a:latin typeface="Arial"/>
                <a:ea typeface="Arial"/>
                <a:cs typeface="Arial"/>
              </a:defRPr>
            </a:lvl1pPr>
            <a:lvl2pPr>
              <a:defRPr sz="1725" b="1">
                <a:solidFill>
                  <a:srgbClr val="420099"/>
                </a:solidFill>
                <a:latin typeface="Arial"/>
                <a:ea typeface="Arial"/>
                <a:cs typeface="Arial"/>
              </a:defRPr>
            </a:lvl2pPr>
            <a:lvl3pPr>
              <a:defRPr sz="1725" b="1">
                <a:solidFill>
                  <a:srgbClr val="420099"/>
                </a:solidFill>
                <a:latin typeface="Arial"/>
                <a:ea typeface="Arial"/>
                <a:cs typeface="Arial"/>
              </a:defRPr>
            </a:lvl3pPr>
            <a:lvl4pPr>
              <a:defRPr sz="1725" b="1">
                <a:solidFill>
                  <a:srgbClr val="420099"/>
                </a:solidFill>
                <a:latin typeface="Arial"/>
                <a:ea typeface="Arial"/>
                <a:cs typeface="Arial"/>
              </a:defRPr>
            </a:lvl4pPr>
            <a:lvl5pPr>
              <a:defRPr sz="1725" b="1">
                <a:solidFill>
                  <a:srgbClr val="420099"/>
                </a:solidFill>
                <a:latin typeface="Arial"/>
                <a:ea typeface="Arial"/>
                <a:cs typeface="Arial"/>
              </a:defRPr>
            </a:lvl5pPr>
            <a:lvl6pPr>
              <a:defRPr sz="1725" b="1">
                <a:solidFill>
                  <a:srgbClr val="420099"/>
                </a:solidFill>
                <a:latin typeface="Arial"/>
                <a:ea typeface="Arial"/>
                <a:cs typeface="Arial"/>
              </a:defRPr>
            </a:lvl6pPr>
            <a:lvl7pPr>
              <a:defRPr sz="1725" b="1">
                <a:solidFill>
                  <a:srgbClr val="420099"/>
                </a:solidFill>
                <a:latin typeface="Arial"/>
                <a:ea typeface="Arial"/>
                <a:cs typeface="Arial"/>
              </a:defRPr>
            </a:lvl7pPr>
            <a:lvl8pPr>
              <a:defRPr sz="1725" b="1">
                <a:solidFill>
                  <a:srgbClr val="420099"/>
                </a:solidFill>
                <a:latin typeface="Arial"/>
                <a:ea typeface="Arial"/>
                <a:cs typeface="Arial"/>
              </a:defRPr>
            </a:lvl8pPr>
            <a:lvl9pPr>
              <a:defRPr sz="1725" b="1">
                <a:solidFill>
                  <a:srgbClr val="420099"/>
                </a:solidFill>
                <a:latin typeface="Arial"/>
                <a:ea typeface="Arial"/>
                <a:cs typeface="Arial"/>
              </a:defRPr>
            </a:lvl9pPr>
          </a:lstStyle>
          <a:p>
            <a:pPr>
              <a:defRPr sz="1725" b="1">
                <a:solidFill>
                  <a:srgbClr val="420099"/>
                </a:solidFill>
                <a:latin typeface="Arial"/>
                <a:ea typeface="Arial"/>
                <a:cs typeface="Arial"/>
              </a:defRPr>
            </a:pPr>
            <a:r>
              <a:rPr sz="1600" b="1">
                <a:solidFill>
                  <a:srgbClr val="440099"/>
                </a:solidFill>
                <a:latin typeface="Arial"/>
                <a:ea typeface="Arial"/>
                <a:cs typeface="Arial"/>
              </a:rPr>
              <a:t>ULTIMATE</a:t>
            </a:r>
          </a:p>
        </p:txBody>
      </p:sp>
      <p:sp>
        <p:nvSpPr>
          <p:cNvPr id="10" name="Rectangle 9">
            <a:extLst>
              <a:ext uri="{FF2B5EF4-FFF2-40B4-BE49-F238E27FC236}">
                <a16:creationId xmlns:a16="http://schemas.microsoft.com/office/drawing/2014/main" id="{52131F80-2B97-4F63-9265-1D56CEAC7026}"/>
              </a:ext>
            </a:extLst>
          </p:cNvPr>
          <p:cNvSpPr>
            <a:spLocks noGrp="1"/>
          </p:cNvSpPr>
          <p:nvPr/>
        </p:nvSpPr>
        <p:spPr>
          <a:xfrm>
            <a:off x="8143875" y="5638800"/>
            <a:ext cx="3667125" cy="762000"/>
          </a:xfrm>
          <a:prstGeom prst="rect">
            <a:avLst/>
          </a:prstGeom>
          <a:noFill/>
          <a:ln w="0">
            <a:noFill/>
            <a:prstDash val="solid"/>
          </a:ln>
        </p:spPr>
        <p:txBody>
          <a:bodyPr/>
          <a:lstStyle>
            <a:defPPr>
              <a:defRPr sz="1650" b="0">
                <a:solidFill>
                  <a:srgbClr val="243333"/>
                </a:solidFill>
                <a:latin typeface="Arial"/>
                <a:ea typeface="Arial"/>
                <a:cs typeface="Arial"/>
              </a:defRPr>
            </a:defPPr>
            <a:lvl1pPr>
              <a:defRPr sz="1650" b="0">
                <a:solidFill>
                  <a:srgbClr val="243333"/>
                </a:solidFill>
                <a:latin typeface="Arial"/>
                <a:ea typeface="Arial"/>
                <a:cs typeface="Arial"/>
              </a:defRPr>
            </a:lvl1pPr>
            <a:lvl2pPr>
              <a:defRPr sz="1650" b="0">
                <a:solidFill>
                  <a:srgbClr val="243333"/>
                </a:solidFill>
                <a:latin typeface="Arial"/>
                <a:ea typeface="Arial"/>
                <a:cs typeface="Arial"/>
              </a:defRPr>
            </a:lvl2pPr>
            <a:lvl3pPr>
              <a:defRPr sz="1650" b="0">
                <a:solidFill>
                  <a:srgbClr val="243333"/>
                </a:solidFill>
                <a:latin typeface="Arial"/>
                <a:ea typeface="Arial"/>
                <a:cs typeface="Arial"/>
              </a:defRPr>
            </a:lvl3pPr>
            <a:lvl4pPr>
              <a:defRPr sz="1650" b="0">
                <a:solidFill>
                  <a:srgbClr val="243333"/>
                </a:solidFill>
                <a:latin typeface="Arial"/>
                <a:ea typeface="Arial"/>
                <a:cs typeface="Arial"/>
              </a:defRPr>
            </a:lvl4pPr>
            <a:lvl5pPr>
              <a:defRPr sz="1650" b="0">
                <a:solidFill>
                  <a:srgbClr val="243333"/>
                </a:solidFill>
                <a:latin typeface="Arial"/>
                <a:ea typeface="Arial"/>
                <a:cs typeface="Arial"/>
              </a:defRPr>
            </a:lvl5pPr>
            <a:lvl6pPr>
              <a:defRPr sz="1650" b="0">
                <a:solidFill>
                  <a:srgbClr val="243333"/>
                </a:solidFill>
                <a:latin typeface="Arial"/>
                <a:ea typeface="Arial"/>
                <a:cs typeface="Arial"/>
              </a:defRPr>
            </a:lvl6pPr>
            <a:lvl7pPr>
              <a:defRPr sz="1650" b="0">
                <a:solidFill>
                  <a:srgbClr val="243333"/>
                </a:solidFill>
                <a:latin typeface="Arial"/>
                <a:ea typeface="Arial"/>
                <a:cs typeface="Arial"/>
              </a:defRPr>
            </a:lvl7pPr>
            <a:lvl8pPr>
              <a:defRPr sz="1650" b="0">
                <a:solidFill>
                  <a:srgbClr val="243333"/>
                </a:solidFill>
                <a:latin typeface="Arial"/>
                <a:ea typeface="Arial"/>
                <a:cs typeface="Arial"/>
              </a:defRPr>
            </a:lvl8pPr>
            <a:lvl9pPr>
              <a:defRPr sz="1650" b="0">
                <a:solidFill>
                  <a:srgbClr val="243333"/>
                </a:solidFill>
                <a:latin typeface="Arial"/>
                <a:ea typeface="Arial"/>
                <a:cs typeface="Arial"/>
              </a:defRPr>
            </a:lvl9pPr>
          </a:lstStyle>
          <a:p>
            <a:pPr>
              <a:defRPr sz="1650" b="0">
                <a:solidFill>
                  <a:srgbClr val="243333"/>
                </a:solidFill>
                <a:latin typeface="Arial"/>
                <a:ea typeface="Arial"/>
                <a:cs typeface="Arial"/>
              </a:defRPr>
            </a:pPr>
            <a:r>
              <a:rPr sz="1600" b="0">
                <a:solidFill>
                  <a:srgbClr val="131E29"/>
                </a:solidFill>
                <a:latin typeface="Arial"/>
                <a:ea typeface="Arial"/>
                <a:cs typeface="Arial"/>
              </a:rPr>
              <a:t>All relevant upstream and downstream</a:t>
            </a:r>
          </a:p>
          <a:p>
            <a:pPr>
              <a:defRPr sz="1650" b="0">
                <a:solidFill>
                  <a:srgbClr val="243333"/>
                </a:solidFill>
                <a:latin typeface="Arial"/>
                <a:ea typeface="Arial"/>
                <a:cs typeface="Arial"/>
              </a:defRPr>
            </a:pPr>
            <a:r>
              <a:rPr sz="1600" b="0">
                <a:solidFill>
                  <a:srgbClr val="131E29"/>
                </a:solidFill>
                <a:latin typeface="Arial"/>
                <a:ea typeface="Arial"/>
                <a:cs typeface="Arial"/>
              </a:rPr>
              <a:t>participants and supporting providers</a:t>
            </a:r>
          </a:p>
        </p:txBody>
      </p:sp>
      <p:sp>
        <p:nvSpPr>
          <p:cNvPr id="11" name="Rectangle 10">
            <a:extLst>
              <a:ext uri="{FF2B5EF4-FFF2-40B4-BE49-F238E27FC236}">
                <a16:creationId xmlns:a16="http://schemas.microsoft.com/office/drawing/2014/main" id="{777E0919-1F88-4EA9-AF57-62DD5B60EB73}"/>
              </a:ext>
            </a:extLst>
          </p:cNvPr>
          <p:cNvSpPr>
            <a:spLocks noGrp="1"/>
          </p:cNvSpPr>
          <p:nvPr/>
        </p:nvSpPr>
        <p:spPr>
          <a:xfrm>
            <a:off x="428625" y="6486525"/>
            <a:ext cx="11334750" cy="257175"/>
          </a:xfrm>
          <a:prstGeom prst="rect">
            <a:avLst/>
          </a:prstGeom>
          <a:noFill/>
          <a:ln w="0">
            <a:noFill/>
            <a:prstDash val="solid"/>
          </a:ln>
        </p:spPr>
        <p:txBody>
          <a:bodyPr/>
          <a:lstStyle>
            <a:defPPr>
              <a:defRPr sz="1275" b="0">
                <a:solidFill>
                  <a:srgbClr val="5D686A"/>
                </a:solidFill>
                <a:latin typeface="Arial"/>
                <a:ea typeface="Arial"/>
                <a:cs typeface="Arial"/>
              </a:defRPr>
            </a:defPPr>
            <a:lvl1pPr>
              <a:defRPr sz="1275" b="0">
                <a:solidFill>
                  <a:srgbClr val="5D686A"/>
                </a:solidFill>
                <a:latin typeface="Arial"/>
                <a:ea typeface="Arial"/>
                <a:cs typeface="Arial"/>
              </a:defRPr>
            </a:lvl1pPr>
            <a:lvl2pPr>
              <a:defRPr sz="1275" b="0">
                <a:solidFill>
                  <a:srgbClr val="5D686A"/>
                </a:solidFill>
                <a:latin typeface="Arial"/>
                <a:ea typeface="Arial"/>
                <a:cs typeface="Arial"/>
              </a:defRPr>
            </a:lvl2pPr>
            <a:lvl3pPr>
              <a:defRPr sz="1275" b="0">
                <a:solidFill>
                  <a:srgbClr val="5D686A"/>
                </a:solidFill>
                <a:latin typeface="Arial"/>
                <a:ea typeface="Arial"/>
                <a:cs typeface="Arial"/>
              </a:defRPr>
            </a:lvl3pPr>
            <a:lvl4pPr>
              <a:defRPr sz="1275" b="0">
                <a:solidFill>
                  <a:srgbClr val="5D686A"/>
                </a:solidFill>
                <a:latin typeface="Arial"/>
                <a:ea typeface="Arial"/>
                <a:cs typeface="Arial"/>
              </a:defRPr>
            </a:lvl4pPr>
            <a:lvl5pPr>
              <a:defRPr sz="1275" b="0">
                <a:solidFill>
                  <a:srgbClr val="5D686A"/>
                </a:solidFill>
                <a:latin typeface="Arial"/>
                <a:ea typeface="Arial"/>
                <a:cs typeface="Arial"/>
              </a:defRPr>
            </a:lvl5pPr>
            <a:lvl6pPr>
              <a:defRPr sz="1275" b="0">
                <a:solidFill>
                  <a:srgbClr val="5D686A"/>
                </a:solidFill>
                <a:latin typeface="Arial"/>
                <a:ea typeface="Arial"/>
                <a:cs typeface="Arial"/>
              </a:defRPr>
            </a:lvl6pPr>
            <a:lvl7pPr>
              <a:defRPr sz="1275" b="0">
                <a:solidFill>
                  <a:srgbClr val="5D686A"/>
                </a:solidFill>
                <a:latin typeface="Arial"/>
                <a:ea typeface="Arial"/>
                <a:cs typeface="Arial"/>
              </a:defRPr>
            </a:lvl7pPr>
            <a:lvl8pPr>
              <a:defRPr sz="1275" b="0">
                <a:solidFill>
                  <a:srgbClr val="5D686A"/>
                </a:solidFill>
                <a:latin typeface="Arial"/>
                <a:ea typeface="Arial"/>
                <a:cs typeface="Arial"/>
              </a:defRPr>
            </a:lvl8pPr>
            <a:lvl9pPr>
              <a:defRPr sz="1275" b="0">
                <a:solidFill>
                  <a:srgbClr val="5D686A"/>
                </a:solidFill>
                <a:latin typeface="Arial"/>
                <a:ea typeface="Arial"/>
                <a:cs typeface="Arial"/>
              </a:defRPr>
            </a:lvl9pPr>
          </a:lstStyle>
          <a:p>
            <a:pPr>
              <a:defRPr sz="1275" b="0">
                <a:solidFill>
                  <a:srgbClr val="5D686A"/>
                </a:solidFill>
                <a:latin typeface="Arial"/>
                <a:ea typeface="Arial"/>
                <a:cs typeface="Arial"/>
              </a:defRPr>
            </a:pPr>
            <a:r>
              <a:rPr sz="1200" b="0">
                <a:solidFill>
                  <a:srgbClr val="5E6977"/>
                </a:solidFill>
                <a:latin typeface="Arial"/>
                <a:ea typeface="Arial"/>
                <a:cs typeface="Arial"/>
              </a:rPr>
              <a:t>Scope framework: adapted from Mentzer et al. (2001), Journal of Business Logistics, 22(2), 1–25.</a:t>
            </a:r>
          </a:p>
        </p:txBody>
      </p:sp>
    </p:spTree>
    <p:extLst>
      <p:ext uri="{BB962C8B-B14F-4D97-AF65-F5344CB8AC3E}">
        <p14:creationId xmlns:p14="http://schemas.microsoft.com/office/powerpoint/2010/main" val="577328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The Supply Network Perspective</a:t>
            </a:r>
            <a:endParaRPr lang="en-US" sz="3000" dirty="0"/>
          </a:p>
        </p:txBody>
      </p:sp>
      <p:sp>
        <p:nvSpPr>
          <p:cNvPr id="4" name="Text 2"/>
          <p:cNvSpPr/>
          <p:nvPr/>
        </p:nvSpPr>
        <p:spPr>
          <a:xfrm>
            <a:off x="812800" y="1452035"/>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31E29"/>
                </a:solidFill>
                <a:latin typeface="Arial" pitchFamily="34" charset="0"/>
                <a:ea typeface="Arial" pitchFamily="34" charset="-122"/>
                <a:cs typeface="Arial" pitchFamily="34" charset="-120"/>
              </a:rPr>
              <a:t>Setting an operation in the context of all the other operations it interacts with its suppliers and its customers.</a:t>
            </a:r>
            <a:endParaRPr lang="en-US" sz="1500" dirty="0"/>
          </a:p>
        </p:txBody>
      </p:sp>
      <p:sp>
        <p:nvSpPr>
          <p:cNvPr id="5" name="Text 3"/>
          <p:cNvSpPr/>
          <p:nvPr/>
        </p:nvSpPr>
        <p:spPr>
          <a:xfrm>
            <a:off x="819150" y="1979085"/>
            <a:ext cx="1653514" cy="617207"/>
          </a:xfrm>
          <a:custGeom>
            <a:avLst/>
            <a:gdLst/>
            <a:ahLst/>
            <a:cxnLst/>
            <a:rect l="l" t="t" r="r" b="b"/>
            <a:pathLst>
              <a:path w="1653514" h="617207">
                <a:moveTo>
                  <a:pt x="69850" y="0"/>
                </a:moveTo>
                <a:lnTo>
                  <a:pt x="1583664" y="0"/>
                </a:lnTo>
                <a:arcTo wR="69850" hR="69850" stAng="16200000" swAng="5400000"/>
                <a:lnTo>
                  <a:pt x="1653514" y="547357"/>
                </a:lnTo>
                <a:arcTo wR="69850" hR="69850" stAng="0" swAng="5400000"/>
                <a:lnTo>
                  <a:pt x="69850" y="617207"/>
                </a:lnTo>
                <a:arcTo wR="69850" hR="69850" stAng="5400000" swAng="5400000"/>
                <a:lnTo>
                  <a:pt x="0" y="69850"/>
                </a:lnTo>
                <a:arcTo wR="69850" hR="69850" stAng="10800000" swAng="5400000"/>
                <a:close/>
              </a:path>
            </a:pathLst>
          </a:custGeom>
          <a:solidFill>
            <a:srgbClr val="F4EFFA"/>
          </a:solidFill>
          <a:ln w="12700">
            <a:solidFill>
              <a:srgbClr val="440099"/>
            </a:solidFill>
            <a:prstDash val="solid"/>
          </a:ln>
        </p:spPr>
        <p:txBody>
          <a:bodyPr wrap="square" lIns="31750" tIns="184150" rIns="31750" bIns="158750" rtlCol="0" anchor="t">
            <a:normAutofit/>
          </a:bodyPr>
          <a:lstStyle/>
          <a:p>
            <a:pPr marL="0" indent="0" algn="ctr">
              <a:lnSpc>
                <a:spcPts val="1960"/>
              </a:lnSpc>
              <a:buNone/>
            </a:pPr>
            <a:r>
              <a:rPr lang="en-US" sz="1400" b="1" dirty="0">
                <a:solidFill>
                  <a:srgbClr val="440099"/>
                </a:solidFill>
                <a:latin typeface="Arial" pitchFamily="34" charset="0"/>
                <a:ea typeface="Arial" pitchFamily="34" charset="-122"/>
                <a:cs typeface="Arial" pitchFamily="34" charset="-120"/>
              </a:rPr>
              <a:t>2nd-tier supplier</a:t>
            </a:r>
            <a:endParaRPr lang="en-US" sz="1400" dirty="0"/>
          </a:p>
        </p:txBody>
      </p:sp>
      <p:pic>
        <p:nvPicPr>
          <p:cNvPr id="6" name="Image 0" descr="arrow-right"/>
          <p:cNvPicPr>
            <a:picLocks noChangeAspect="1"/>
          </p:cNvPicPr>
          <p:nvPr/>
        </p:nvPicPr>
        <p:blipFill>
          <a:blip r:embed="rId3"/>
          <a:srcRect/>
          <a:stretch/>
        </p:blipFill>
        <p:spPr>
          <a:xfrm>
            <a:off x="2580614" y="2198756"/>
            <a:ext cx="355600" cy="177800"/>
          </a:xfrm>
          <a:prstGeom prst="rect">
            <a:avLst/>
          </a:prstGeom>
        </p:spPr>
      </p:pic>
      <p:sp>
        <p:nvSpPr>
          <p:cNvPr id="7" name="Text 4"/>
          <p:cNvSpPr/>
          <p:nvPr/>
        </p:nvSpPr>
        <p:spPr>
          <a:xfrm>
            <a:off x="3044164" y="1979085"/>
            <a:ext cx="1653580" cy="617207"/>
          </a:xfrm>
          <a:custGeom>
            <a:avLst/>
            <a:gdLst/>
            <a:ahLst/>
            <a:cxnLst/>
            <a:rect l="l" t="t" r="r" b="b"/>
            <a:pathLst>
              <a:path w="1653580" h="617207">
                <a:moveTo>
                  <a:pt x="69850" y="0"/>
                </a:moveTo>
                <a:lnTo>
                  <a:pt x="1583730" y="0"/>
                </a:lnTo>
                <a:arcTo wR="69850" hR="69850" stAng="16200000" swAng="5400000"/>
                <a:lnTo>
                  <a:pt x="1653580" y="547357"/>
                </a:lnTo>
                <a:arcTo wR="69850" hR="69850" stAng="0" swAng="5400000"/>
                <a:lnTo>
                  <a:pt x="69850" y="617207"/>
                </a:lnTo>
                <a:arcTo wR="69850" hR="69850" stAng="5400000" swAng="5400000"/>
                <a:lnTo>
                  <a:pt x="0" y="69850"/>
                </a:lnTo>
                <a:arcTo wR="69850" hR="69850" stAng="10800000" swAng="5400000"/>
                <a:close/>
              </a:path>
            </a:pathLst>
          </a:custGeom>
          <a:solidFill>
            <a:srgbClr val="F4EFFA"/>
          </a:solidFill>
          <a:ln w="12700">
            <a:solidFill>
              <a:srgbClr val="440099"/>
            </a:solidFill>
            <a:prstDash val="solid"/>
          </a:ln>
        </p:spPr>
        <p:txBody>
          <a:bodyPr wrap="square" lIns="31750" tIns="184150" rIns="31750" bIns="158750" rtlCol="0" anchor="t">
            <a:normAutofit/>
          </a:bodyPr>
          <a:lstStyle/>
          <a:p>
            <a:pPr marL="0" indent="0" algn="ctr">
              <a:lnSpc>
                <a:spcPts val="1960"/>
              </a:lnSpc>
              <a:buNone/>
            </a:pPr>
            <a:r>
              <a:rPr lang="en-US" sz="1400" b="1" dirty="0">
                <a:solidFill>
                  <a:srgbClr val="440099"/>
                </a:solidFill>
                <a:latin typeface="Arial" pitchFamily="34" charset="0"/>
                <a:ea typeface="Arial" pitchFamily="34" charset="-122"/>
                <a:cs typeface="Arial" pitchFamily="34" charset="-120"/>
              </a:rPr>
              <a:t>1st-tier supplier</a:t>
            </a:r>
            <a:endParaRPr lang="en-US" sz="1400" dirty="0"/>
          </a:p>
        </p:txBody>
      </p:sp>
      <p:pic>
        <p:nvPicPr>
          <p:cNvPr id="8" name="Image 1" descr="arrow-right"/>
          <p:cNvPicPr>
            <a:picLocks noChangeAspect="1"/>
          </p:cNvPicPr>
          <p:nvPr/>
        </p:nvPicPr>
        <p:blipFill>
          <a:blip r:embed="rId3"/>
          <a:srcRect/>
          <a:stretch/>
        </p:blipFill>
        <p:spPr>
          <a:xfrm>
            <a:off x="4805693" y="2198756"/>
            <a:ext cx="355600" cy="177800"/>
          </a:xfrm>
          <a:prstGeom prst="rect">
            <a:avLst/>
          </a:prstGeom>
        </p:spPr>
      </p:pic>
      <p:sp>
        <p:nvSpPr>
          <p:cNvPr id="9" name="Text 5"/>
          <p:cNvSpPr/>
          <p:nvPr/>
        </p:nvSpPr>
        <p:spPr>
          <a:xfrm>
            <a:off x="5269243" y="1979085"/>
            <a:ext cx="1653514" cy="617207"/>
          </a:xfrm>
          <a:custGeom>
            <a:avLst/>
            <a:gdLst/>
            <a:ahLst/>
            <a:cxnLst/>
            <a:rect l="l" t="t" r="r" b="b"/>
            <a:pathLst>
              <a:path w="1653514" h="617207">
                <a:moveTo>
                  <a:pt x="69850" y="0"/>
                </a:moveTo>
                <a:lnTo>
                  <a:pt x="1583664" y="0"/>
                </a:lnTo>
                <a:arcTo wR="69850" hR="69850" stAng="16200000" swAng="5400000"/>
                <a:lnTo>
                  <a:pt x="1653514" y="547357"/>
                </a:lnTo>
                <a:arcTo wR="69850" hR="69850" stAng="0" swAng="5400000"/>
                <a:lnTo>
                  <a:pt x="69850" y="617207"/>
                </a:lnTo>
                <a:arcTo wR="69850" hR="69850" stAng="5400000" swAng="5400000"/>
                <a:lnTo>
                  <a:pt x="0" y="69850"/>
                </a:lnTo>
                <a:arcTo wR="69850" hR="69850" stAng="10800000" swAng="5400000"/>
                <a:close/>
              </a:path>
            </a:pathLst>
          </a:custGeom>
          <a:solidFill>
            <a:srgbClr val="440099"/>
          </a:solidFill>
          <a:ln w="12700">
            <a:solidFill>
              <a:srgbClr val="440099"/>
            </a:solidFill>
            <a:prstDash val="solid"/>
          </a:ln>
        </p:spPr>
        <p:txBody>
          <a:bodyPr wrap="square" lIns="31750" tIns="184150" rIns="31750" bIns="158750" rtlCol="0" anchor="t">
            <a:normAutofit/>
          </a:bodyPr>
          <a:lstStyle/>
          <a:p>
            <a:pPr marL="0" indent="0" algn="ctr">
              <a:lnSpc>
                <a:spcPts val="1960"/>
              </a:lnSpc>
              <a:buNone/>
            </a:pPr>
            <a:r>
              <a:rPr lang="en-US" sz="1400" b="1" dirty="0">
                <a:solidFill>
                  <a:srgbClr val="FFFFFF"/>
                </a:solidFill>
                <a:latin typeface="Arial" pitchFamily="34" charset="0"/>
                <a:ea typeface="Arial" pitchFamily="34" charset="-122"/>
                <a:cs typeface="Arial" pitchFamily="34" charset="-120"/>
              </a:rPr>
              <a:t>The operation</a:t>
            </a:r>
            <a:endParaRPr lang="en-US" sz="1400" dirty="0"/>
          </a:p>
        </p:txBody>
      </p:sp>
      <p:pic>
        <p:nvPicPr>
          <p:cNvPr id="10" name="Image 2" descr="arrow-right"/>
          <p:cNvPicPr>
            <a:picLocks noChangeAspect="1"/>
          </p:cNvPicPr>
          <p:nvPr/>
        </p:nvPicPr>
        <p:blipFill>
          <a:blip r:embed="rId3"/>
          <a:srcRect/>
          <a:stretch/>
        </p:blipFill>
        <p:spPr>
          <a:xfrm>
            <a:off x="7030707" y="2198756"/>
            <a:ext cx="355600" cy="177800"/>
          </a:xfrm>
          <a:prstGeom prst="rect">
            <a:avLst/>
          </a:prstGeom>
        </p:spPr>
      </p:pic>
      <p:sp>
        <p:nvSpPr>
          <p:cNvPr id="11" name="Text 6"/>
          <p:cNvSpPr/>
          <p:nvPr/>
        </p:nvSpPr>
        <p:spPr>
          <a:xfrm>
            <a:off x="7494257" y="1979085"/>
            <a:ext cx="1653580" cy="617207"/>
          </a:xfrm>
          <a:custGeom>
            <a:avLst/>
            <a:gdLst/>
            <a:ahLst/>
            <a:cxnLst/>
            <a:rect l="l" t="t" r="r" b="b"/>
            <a:pathLst>
              <a:path w="1653580" h="617207">
                <a:moveTo>
                  <a:pt x="69850" y="0"/>
                </a:moveTo>
                <a:lnTo>
                  <a:pt x="1583730" y="0"/>
                </a:lnTo>
                <a:arcTo wR="69850" hR="69850" stAng="16200000" swAng="5400000"/>
                <a:lnTo>
                  <a:pt x="1653580" y="547357"/>
                </a:lnTo>
                <a:arcTo wR="69850" hR="69850" stAng="0" swAng="5400000"/>
                <a:lnTo>
                  <a:pt x="69850" y="617207"/>
                </a:lnTo>
                <a:arcTo wR="69850" hR="69850" stAng="5400000" swAng="5400000"/>
                <a:lnTo>
                  <a:pt x="0" y="69850"/>
                </a:lnTo>
                <a:arcTo wR="69850" hR="69850" stAng="10800000" swAng="5400000"/>
                <a:close/>
              </a:path>
            </a:pathLst>
          </a:custGeom>
          <a:solidFill>
            <a:srgbClr val="F4EFFA"/>
          </a:solidFill>
          <a:ln w="12700">
            <a:solidFill>
              <a:srgbClr val="440099"/>
            </a:solidFill>
            <a:prstDash val="solid"/>
          </a:ln>
        </p:spPr>
        <p:txBody>
          <a:bodyPr wrap="square" lIns="31750" tIns="184150" rIns="31750" bIns="158750" rtlCol="0" anchor="t">
            <a:normAutofit/>
          </a:bodyPr>
          <a:lstStyle/>
          <a:p>
            <a:pPr marL="0" indent="0" algn="ctr">
              <a:lnSpc>
                <a:spcPts val="1960"/>
              </a:lnSpc>
              <a:buNone/>
            </a:pPr>
            <a:r>
              <a:rPr lang="en-US" sz="1400" b="1" dirty="0">
                <a:solidFill>
                  <a:srgbClr val="440099"/>
                </a:solidFill>
                <a:latin typeface="Arial" pitchFamily="34" charset="0"/>
                <a:ea typeface="Arial" pitchFamily="34" charset="-122"/>
                <a:cs typeface="Arial" pitchFamily="34" charset="-120"/>
              </a:rPr>
              <a:t>1st-tier customer</a:t>
            </a:r>
            <a:endParaRPr lang="en-US" sz="1400" dirty="0"/>
          </a:p>
        </p:txBody>
      </p:sp>
      <p:pic>
        <p:nvPicPr>
          <p:cNvPr id="12" name="Image 3" descr="arrow-right"/>
          <p:cNvPicPr>
            <a:picLocks noChangeAspect="1"/>
          </p:cNvPicPr>
          <p:nvPr/>
        </p:nvPicPr>
        <p:blipFill>
          <a:blip r:embed="rId3"/>
          <a:srcRect/>
          <a:stretch/>
        </p:blipFill>
        <p:spPr>
          <a:xfrm>
            <a:off x="9255787" y="2198756"/>
            <a:ext cx="355600" cy="177800"/>
          </a:xfrm>
          <a:prstGeom prst="rect">
            <a:avLst/>
          </a:prstGeom>
        </p:spPr>
      </p:pic>
      <p:sp>
        <p:nvSpPr>
          <p:cNvPr id="13" name="Text 7"/>
          <p:cNvSpPr/>
          <p:nvPr/>
        </p:nvSpPr>
        <p:spPr>
          <a:xfrm>
            <a:off x="9719337" y="1979085"/>
            <a:ext cx="1653514" cy="617207"/>
          </a:xfrm>
          <a:custGeom>
            <a:avLst/>
            <a:gdLst/>
            <a:ahLst/>
            <a:cxnLst/>
            <a:rect l="l" t="t" r="r" b="b"/>
            <a:pathLst>
              <a:path w="1653514" h="617207">
                <a:moveTo>
                  <a:pt x="69850" y="0"/>
                </a:moveTo>
                <a:lnTo>
                  <a:pt x="1583664" y="0"/>
                </a:lnTo>
                <a:arcTo wR="69850" hR="69850" stAng="16200000" swAng="5400000"/>
                <a:lnTo>
                  <a:pt x="1653514" y="547357"/>
                </a:lnTo>
                <a:arcTo wR="69850" hR="69850" stAng="0" swAng="5400000"/>
                <a:lnTo>
                  <a:pt x="69850" y="617207"/>
                </a:lnTo>
                <a:arcTo wR="69850" hR="69850" stAng="5400000" swAng="5400000"/>
                <a:lnTo>
                  <a:pt x="0" y="69850"/>
                </a:lnTo>
                <a:arcTo wR="69850" hR="69850" stAng="10800000" swAng="5400000"/>
                <a:close/>
              </a:path>
            </a:pathLst>
          </a:custGeom>
          <a:solidFill>
            <a:srgbClr val="F4EFFA"/>
          </a:solidFill>
          <a:ln w="12700">
            <a:solidFill>
              <a:srgbClr val="440099"/>
            </a:solidFill>
            <a:prstDash val="solid"/>
          </a:ln>
        </p:spPr>
        <p:txBody>
          <a:bodyPr wrap="square" lIns="31750" tIns="184150" rIns="31750" bIns="158750" rtlCol="0" anchor="t">
            <a:normAutofit/>
          </a:bodyPr>
          <a:lstStyle/>
          <a:p>
            <a:pPr marL="0" indent="0" algn="ctr">
              <a:lnSpc>
                <a:spcPts val="1960"/>
              </a:lnSpc>
              <a:buNone/>
            </a:pPr>
            <a:r>
              <a:rPr lang="en-US" sz="1400" b="1" dirty="0">
                <a:solidFill>
                  <a:srgbClr val="440099"/>
                </a:solidFill>
                <a:latin typeface="Arial" pitchFamily="34" charset="0"/>
                <a:ea typeface="Arial" pitchFamily="34" charset="-122"/>
                <a:cs typeface="Arial" pitchFamily="34" charset="-120"/>
              </a:rPr>
              <a:t>2nd-tier customer</a:t>
            </a:r>
            <a:endParaRPr lang="en-US" sz="1400" dirty="0"/>
          </a:p>
        </p:txBody>
      </p:sp>
      <p:sp>
        <p:nvSpPr>
          <p:cNvPr id="14" name="Shape 8"/>
          <p:cNvSpPr/>
          <p:nvPr/>
        </p:nvSpPr>
        <p:spPr>
          <a:xfrm>
            <a:off x="812800" y="2875694"/>
            <a:ext cx="5181600" cy="0"/>
          </a:xfrm>
          <a:prstGeom prst="line">
            <a:avLst/>
          </a:prstGeom>
          <a:noFill/>
          <a:ln w="38100">
            <a:solidFill>
              <a:srgbClr val="440099"/>
            </a:solidFill>
            <a:prstDash val="solid"/>
          </a:ln>
        </p:spPr>
        <p:txBody>
          <a:bodyPr/>
          <a:lstStyle/>
          <a:p>
            <a:endParaRPr lang="en-GB"/>
          </a:p>
        </p:txBody>
      </p:sp>
      <p:sp>
        <p:nvSpPr>
          <p:cNvPr id="17" name="Shape 11"/>
          <p:cNvSpPr/>
          <p:nvPr/>
        </p:nvSpPr>
        <p:spPr>
          <a:xfrm>
            <a:off x="6197600" y="2875694"/>
            <a:ext cx="5181600" cy="0"/>
          </a:xfrm>
          <a:prstGeom prst="line">
            <a:avLst/>
          </a:prstGeom>
          <a:noFill/>
          <a:ln w="38100">
            <a:solidFill>
              <a:srgbClr val="005A8F"/>
            </a:solidFill>
            <a:prstDash val="solid"/>
          </a:ln>
        </p:spPr>
        <p:txBody>
          <a:bodyPr/>
          <a:lstStyle/>
          <a:p>
            <a:endParaRPr lang="en-GB"/>
          </a:p>
        </p:txBody>
      </p:sp>
      <p:sp>
        <p:nvSpPr>
          <p:cNvPr id="20" name="Text 14"/>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Source: adapted from Slack, Brandon-Jones and Burgess (2022)</a:t>
            </a:r>
            <a:endParaRPr lang="en-US" sz="1200" dirty="0"/>
          </a:p>
        </p:txBody>
      </p:sp>
      <p:sp>
        <p:nvSpPr>
          <p:cNvPr id="21" name="Text 15"/>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14</a:t>
            </a:r>
            <a:endParaRPr lang="en-US" sz="1200" dirty="0"/>
          </a:p>
        </p:txBody>
      </p:sp>
      <p:sp>
        <p:nvSpPr>
          <p:cNvPr id="24" name="Wooclap code"/>
          <p:cNvSpPr txBox="1"/>
          <p:nvPr/>
        </p:nvSpPr>
        <p:spPr>
          <a:xfrm>
            <a:off x="9471025" y="6537553"/>
            <a:ext cx="1465113" cy="215444"/>
          </a:xfrm>
          <a:prstGeom prst="rect">
            <a:avLst/>
          </a:prstGeom>
          <a:noFill/>
        </p:spPr>
        <p:txBody>
          <a:bodyPr wrap="square" lIns="0" tIns="0" rIns="0" bIns="0" anchor="ctr">
            <a:spAutoFit/>
          </a:bodyPr>
          <a:lstStyle/>
          <a:p>
            <a:pPr algn="r">
              <a:spcAft>
                <a:spcPts val="0"/>
              </a:spcAft>
            </a:pPr>
            <a:r>
              <a:rPr sz="1400" b="0" dirty="0">
                <a:solidFill/>
                <a:latin typeface="Arial"/>
              </a:rPr>
              <a:t>Join: </a:t>
            </a:r>
            <a:r>
              <a:rPr sz="1400" b="1" dirty="0">
                <a:solidFill/>
                <a:latin typeface="Arial"/>
              </a:rPr>
              <a:t>JXRSLXH</a:t>
            </a:r>
          </a:p>
        </p:txBody>
      </p:sp>
      <p:pic>
        <p:nvPicPr>
          <p:cNvPr id="25" name="Wooclap QR code" descr="QR code linking to the Wooclap event, code JXRSLXH"/>
          <p:cNvPicPr>
            <a:picLocks noChangeAspect="1"/>
          </p:cNvPicPr>
          <p:nvPr/>
        </p:nvPicPr>
        <p:blipFill>
          <a:blip r:embed="rId4"/>
          <a:stretch>
            <a:fillRect/>
          </a:stretch>
        </p:blipFill>
        <p:spPr>
          <a:xfrm>
            <a:off x="11091713" y="5734050"/>
            <a:ext cx="1028700" cy="1028700"/>
          </a:xfrm>
          <a:prstGeom prst="rect">
            <a:avLst/>
          </a:prstGeom>
        </p:spPr>
      </p:pic>
      <p:graphicFrame>
        <p:nvGraphicFramePr>
          <p:cNvPr id="26" name="Table 25">
            <a:extLst>
              <a:ext uri="{FF2B5EF4-FFF2-40B4-BE49-F238E27FC236}">
                <a16:creationId xmlns:a16="http://schemas.microsoft.com/office/drawing/2014/main" id="{DA648793-D859-AF5D-F42B-069E66655C61}"/>
              </a:ext>
            </a:extLst>
          </p:cNvPr>
          <p:cNvGraphicFramePr>
            <a:graphicFrameLocks noGrp="1"/>
          </p:cNvGraphicFramePr>
          <p:nvPr>
            <p:extLst>
              <p:ext uri="{D42A27DB-BD31-4B8C-83A1-F6EECF244321}">
                <p14:modId xmlns:p14="http://schemas.microsoft.com/office/powerpoint/2010/main" val="100904343"/>
              </p:ext>
            </p:extLst>
          </p:nvPr>
        </p:nvGraphicFramePr>
        <p:xfrm>
          <a:off x="1398204" y="3256492"/>
          <a:ext cx="8805377" cy="2900264"/>
        </p:xfrm>
        <a:graphic>
          <a:graphicData uri="http://schemas.openxmlformats.org/drawingml/2006/table">
            <a:tbl>
              <a:tblPr firstRow="1">
                <a:tableStyleId>{5C22544A-7EE6-4342-B048-85BDC9FD1C3A}</a:tableStyleId>
              </a:tblPr>
              <a:tblGrid>
                <a:gridCol w="3868963">
                  <a:extLst>
                    <a:ext uri="{9D8B030D-6E8A-4147-A177-3AD203B41FA5}">
                      <a16:colId xmlns:a16="http://schemas.microsoft.com/office/drawing/2014/main" val="1938233933"/>
                    </a:ext>
                  </a:extLst>
                </a:gridCol>
                <a:gridCol w="4936414">
                  <a:extLst>
                    <a:ext uri="{9D8B030D-6E8A-4147-A177-3AD203B41FA5}">
                      <a16:colId xmlns:a16="http://schemas.microsoft.com/office/drawing/2014/main" val="3017652356"/>
                    </a:ext>
                  </a:extLst>
                </a:gridCol>
              </a:tblGrid>
              <a:tr h="464042">
                <a:tc>
                  <a:txBody>
                    <a:bodyPr/>
                    <a:lstStyle/>
                    <a:p>
                      <a:pPr>
                        <a:buNone/>
                      </a:pPr>
                      <a:r>
                        <a:rPr lang="en-GB" b="1" dirty="0">
                          <a:solidFill/>
                          <a:latin typeface="Arial"/>
                        </a:rPr>
                        <a:t>What  do organisations choose?</a:t>
                      </a:r>
                    </a:p>
                  </a:txBody>
                  <a:tcPr anchor="ctr"/>
                </a:tc>
                <a:tc>
                  <a:txBody>
                    <a:bodyPr/>
                    <a:lstStyle/>
                    <a:p>
                      <a:pPr>
                        <a:buNone/>
                      </a:pPr>
                      <a:r>
                        <a:rPr lang="en-GB" b="1" dirty="0">
                          <a:solidFill/>
                          <a:latin typeface="Arial"/>
                        </a:rPr>
                        <a:t>What this means</a:t>
                      </a:r>
                    </a:p>
                  </a:txBody>
                  <a:tcPr anchor="ctr"/>
                </a:tc>
                <a:extLst>
                  <a:ext uri="{0D108BD9-81ED-4DB2-BD59-A6C34878D82A}">
                    <a16:rowId xmlns:a16="http://schemas.microsoft.com/office/drawing/2014/main" val="1454274604"/>
                  </a:ext>
                </a:extLst>
              </a:tr>
              <a:tr h="812074">
                <a:tc>
                  <a:txBody>
                    <a:bodyPr/>
                    <a:lstStyle/>
                    <a:p>
                      <a:pPr>
                        <a:buNone/>
                      </a:pPr>
                      <a:r>
                        <a:rPr lang="en-GB" dirty="0">
                          <a:solidFill/>
                          <a:latin typeface="Arial"/>
                        </a:rPr>
                        <a:t>Network design</a:t>
                      </a:r>
                    </a:p>
                  </a:txBody>
                  <a:tcPr anchor="ctr"/>
                </a:tc>
                <a:tc>
                  <a:txBody>
                    <a:bodyPr/>
                    <a:lstStyle/>
                    <a:p>
                      <a:pPr>
                        <a:buNone/>
                      </a:pPr>
                      <a:r>
                        <a:rPr lang="en-GB">
                          <a:solidFill/>
                          <a:latin typeface="Arial"/>
                        </a:rPr>
                        <a:t>Which suppliers to use, where to operate and which activities to outsource.</a:t>
                      </a:r>
                    </a:p>
                  </a:txBody>
                  <a:tcPr anchor="ctr"/>
                </a:tc>
                <a:extLst>
                  <a:ext uri="{0D108BD9-81ED-4DB2-BD59-A6C34878D82A}">
                    <a16:rowId xmlns:a16="http://schemas.microsoft.com/office/drawing/2014/main" val="338572951"/>
                  </a:ext>
                </a:extLst>
              </a:tr>
              <a:tr h="812074">
                <a:tc>
                  <a:txBody>
                    <a:bodyPr/>
                    <a:lstStyle/>
                    <a:p>
                      <a:pPr>
                        <a:buNone/>
                      </a:pPr>
                      <a:r>
                        <a:rPr lang="en-GB">
                          <a:solidFill/>
                          <a:latin typeface="Arial"/>
                        </a:rPr>
                        <a:t>Visibility</a:t>
                      </a:r>
                    </a:p>
                  </a:txBody>
                  <a:tcPr anchor="ctr"/>
                </a:tc>
                <a:tc>
                  <a:txBody>
                    <a:bodyPr/>
                    <a:lstStyle/>
                    <a:p>
                      <a:pPr>
                        <a:buNone/>
                      </a:pPr>
                      <a:r>
                        <a:rPr lang="en-GB" dirty="0">
                          <a:solidFill/>
                          <a:latin typeface="Arial"/>
                        </a:rPr>
                        <a:t>How far upstream and downstream they investigate and trace connections.</a:t>
                      </a:r>
                    </a:p>
                  </a:txBody>
                  <a:tcPr anchor="ctr"/>
                </a:tc>
                <a:extLst>
                  <a:ext uri="{0D108BD9-81ED-4DB2-BD59-A6C34878D82A}">
                    <a16:rowId xmlns:a16="http://schemas.microsoft.com/office/drawing/2014/main" val="500399680"/>
                  </a:ext>
                </a:extLst>
              </a:tr>
              <a:tr h="812074">
                <a:tc>
                  <a:txBody>
                    <a:bodyPr/>
                    <a:lstStyle/>
                    <a:p>
                      <a:pPr>
                        <a:buNone/>
                      </a:pPr>
                      <a:r>
                        <a:rPr lang="en-GB">
                          <a:solidFill/>
                          <a:latin typeface="Arial"/>
                        </a:rPr>
                        <a:t>Management involvement</a:t>
                      </a:r>
                    </a:p>
                  </a:txBody>
                  <a:tcPr anchor="ctr"/>
                </a:tc>
                <a:tc>
                  <a:txBody>
                    <a:bodyPr/>
                    <a:lstStyle/>
                    <a:p>
                      <a:pPr>
                        <a:buNone/>
                      </a:pPr>
                      <a:r>
                        <a:rPr lang="en-GB" dirty="0">
                          <a:solidFill/>
                          <a:latin typeface="Arial"/>
                        </a:rPr>
                        <a:t>Which relationships they actively coordinate, monitor or influence.</a:t>
                      </a:r>
                    </a:p>
                  </a:txBody>
                  <a:tcPr anchor="ctr"/>
                </a:tc>
                <a:extLst>
                  <a:ext uri="{0D108BD9-81ED-4DB2-BD59-A6C34878D82A}">
                    <a16:rowId xmlns:a16="http://schemas.microsoft.com/office/drawing/2014/main" val="275683669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Three Strategic Network Design Decisions</a:t>
            </a:r>
            <a:endParaRPr lang="en-US" sz="3000" dirty="0"/>
          </a:p>
        </p:txBody>
      </p:sp>
      <p:sp>
        <p:nvSpPr>
          <p:cNvPr id="4" name="Text 2"/>
          <p:cNvSpPr/>
          <p:nvPr/>
        </p:nvSpPr>
        <p:spPr>
          <a:xfrm>
            <a:off x="812800" y="1452042"/>
            <a:ext cx="609600" cy="609600"/>
          </a:xfrm>
          <a:prstGeom prst="roundRect">
            <a:avLst>
              <a:gd name="adj" fmla="val 50000"/>
            </a:avLst>
          </a:prstGeom>
          <a:solidFill>
            <a:srgbClr val="440099"/>
          </a:solidFill>
          <a:ln/>
        </p:spPr>
        <p:txBody>
          <a:bodyPr wrap="square" lIns="0" tIns="0" rIns="0" bIns="0" rtlCol="0" anchor="ctr">
            <a:normAutofit/>
          </a:bodyPr>
          <a:lstStyle/>
          <a:p>
            <a:pPr marL="0" indent="0" algn="ctr">
              <a:lnSpc>
                <a:spcPts val="3080"/>
              </a:lnSpc>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5" name="Text 3"/>
          <p:cNvSpPr/>
          <p:nvPr/>
        </p:nvSpPr>
        <p:spPr>
          <a:xfrm>
            <a:off x="1625600" y="1469827"/>
            <a:ext cx="100462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440099"/>
                </a:solidFill>
                <a:latin typeface="Arial" pitchFamily="34" charset="0"/>
                <a:ea typeface="Arial" pitchFamily="34" charset="-122"/>
                <a:cs typeface="Arial" pitchFamily="34" charset="-120"/>
              </a:rPr>
              <a:t>Configuration: what shape, and how much do we own?</a:t>
            </a:r>
            <a:endParaRPr lang="en-US" sz="1800" dirty="0"/>
          </a:p>
        </p:txBody>
      </p:sp>
      <p:sp>
        <p:nvSpPr>
          <p:cNvPr id="6" name="Text 4"/>
          <p:cNvSpPr/>
          <p:nvPr/>
        </p:nvSpPr>
        <p:spPr>
          <a:xfrm>
            <a:off x="1625600" y="1794942"/>
            <a:ext cx="1004620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Number of tiers and suppliers, disintermediation, and the do-or-buy (vertical integration) decision</a:t>
            </a:r>
            <a:endParaRPr lang="en-US" sz="1400" dirty="0"/>
          </a:p>
        </p:txBody>
      </p:sp>
      <p:sp>
        <p:nvSpPr>
          <p:cNvPr id="7" name="Text 5"/>
          <p:cNvSpPr/>
          <p:nvPr/>
        </p:nvSpPr>
        <p:spPr>
          <a:xfrm>
            <a:off x="812800" y="2239442"/>
            <a:ext cx="609600" cy="609600"/>
          </a:xfrm>
          <a:prstGeom prst="roundRect">
            <a:avLst>
              <a:gd name="adj" fmla="val 50000"/>
            </a:avLst>
          </a:prstGeom>
          <a:solidFill>
            <a:srgbClr val="440099"/>
          </a:solidFill>
          <a:ln/>
        </p:spPr>
        <p:txBody>
          <a:bodyPr wrap="square" lIns="0" tIns="0" rIns="0" bIns="0" rtlCol="0" anchor="ctr">
            <a:normAutofit/>
          </a:bodyPr>
          <a:lstStyle/>
          <a:p>
            <a:pPr marL="0" indent="0" algn="ctr">
              <a:lnSpc>
                <a:spcPts val="3080"/>
              </a:lnSpc>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8" name="Text 6"/>
          <p:cNvSpPr/>
          <p:nvPr/>
        </p:nvSpPr>
        <p:spPr>
          <a:xfrm>
            <a:off x="1625600" y="2257227"/>
            <a:ext cx="10046208" cy="299707"/>
          </a:xfrm>
          <a:prstGeom prst="rect">
            <a:avLst/>
          </a:prstGeom>
          <a:noFill/>
          <a:ln/>
        </p:spPr>
        <p:txBody>
          <a:bodyPr wrap="square" lIns="0" tIns="0" rIns="0" bIns="0" rtlCol="0" anchor="t">
            <a:normAutofit/>
          </a:bodyPr>
          <a:lstStyle/>
          <a:p>
            <a:r>
              <a:rPr lang="en-US" sz="1800" b="1" dirty="0">
                <a:solidFill>
                  <a:srgbClr val="440099"/>
                </a:solidFill>
                <a:latin typeface="Arial" pitchFamily="34" charset="0"/>
                <a:ea typeface="Arial" pitchFamily="34" charset="-122"/>
                <a:cs typeface="Arial" pitchFamily="34" charset="-120"/>
              </a:rPr>
              <a:t>Location: where should each part sit?</a:t>
            </a:r>
            <a:r>
              <a:rPr lang="en-GB" dirty="0">
                <a:solidFill/>
                <a:latin typeface="Arial"/>
              </a:rPr>
              <a:t> </a:t>
            </a:r>
            <a:endParaRPr lang="en-US" sz="1800" dirty="0"/>
          </a:p>
        </p:txBody>
      </p:sp>
      <p:sp>
        <p:nvSpPr>
          <p:cNvPr id="9" name="Text 7"/>
          <p:cNvSpPr/>
          <p:nvPr/>
        </p:nvSpPr>
        <p:spPr>
          <a:xfrm>
            <a:off x="1625600" y="2582342"/>
            <a:ext cx="1004620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Offshore, nearshore or local: labour cost, proximity to customers, risk, policy incentives and emissions</a:t>
            </a:r>
            <a:endParaRPr lang="en-US" sz="1400" dirty="0"/>
          </a:p>
        </p:txBody>
      </p:sp>
      <p:sp>
        <p:nvSpPr>
          <p:cNvPr id="10" name="Text 8"/>
          <p:cNvSpPr/>
          <p:nvPr/>
        </p:nvSpPr>
        <p:spPr>
          <a:xfrm>
            <a:off x="812800" y="3026842"/>
            <a:ext cx="609600" cy="609600"/>
          </a:xfrm>
          <a:prstGeom prst="roundRect">
            <a:avLst>
              <a:gd name="adj" fmla="val 50000"/>
            </a:avLst>
          </a:prstGeom>
          <a:solidFill>
            <a:srgbClr val="440099"/>
          </a:solidFill>
          <a:ln/>
        </p:spPr>
        <p:txBody>
          <a:bodyPr wrap="square" lIns="0" tIns="0" rIns="0" bIns="0" rtlCol="0" anchor="ctr">
            <a:normAutofit/>
          </a:bodyPr>
          <a:lstStyle/>
          <a:p>
            <a:pPr marL="0" indent="0" algn="ctr">
              <a:lnSpc>
                <a:spcPts val="3080"/>
              </a:lnSpc>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1" name="Text 9"/>
          <p:cNvSpPr/>
          <p:nvPr/>
        </p:nvSpPr>
        <p:spPr>
          <a:xfrm>
            <a:off x="1625600" y="3044627"/>
            <a:ext cx="100462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440099"/>
                </a:solidFill>
                <a:latin typeface="Arial" pitchFamily="34" charset="0"/>
                <a:ea typeface="Arial" pitchFamily="34" charset="-122"/>
                <a:cs typeface="Arial" pitchFamily="34" charset="-120"/>
              </a:rPr>
              <a:t>Capacity: how much should each </a:t>
            </a:r>
            <a:r>
              <a:rPr lang="en-US" b="1" dirty="0">
                <a:solidFill>
                  <a:srgbClr val="440099"/>
                </a:solidFill>
                <a:latin typeface="Arial" pitchFamily="34" charset="0"/>
                <a:ea typeface="Arial" pitchFamily="34" charset="-122"/>
                <a:cs typeface="Arial" pitchFamily="34" charset="-120"/>
              </a:rPr>
              <a:t>factory or site process</a:t>
            </a:r>
            <a:endParaRPr lang="en-US" sz="1800" dirty="0"/>
          </a:p>
        </p:txBody>
      </p:sp>
      <p:sp>
        <p:nvSpPr>
          <p:cNvPr id="12" name="Text 10"/>
          <p:cNvSpPr/>
          <p:nvPr/>
        </p:nvSpPr>
        <p:spPr>
          <a:xfrm>
            <a:off x="1625600" y="3369742"/>
            <a:ext cx="1004620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Long-term capacity in plants and warehouses: lead, lag or match demand</a:t>
            </a:r>
            <a:endParaRPr lang="en-US" sz="1400" dirty="0"/>
          </a:p>
        </p:txBody>
      </p:sp>
      <p:sp>
        <p:nvSpPr>
          <p:cNvPr id="13" name="Text 11"/>
          <p:cNvSpPr/>
          <p:nvPr/>
        </p:nvSpPr>
        <p:spPr>
          <a:xfrm>
            <a:off x="971296" y="5501680"/>
            <a:ext cx="10566400" cy="838200"/>
          </a:xfrm>
          <a:prstGeom prst="rect">
            <a:avLst/>
          </a:prstGeom>
          <a:solidFill>
            <a:srgbClr val="E6F6FA"/>
          </a:solidFill>
          <a:ln/>
        </p:spPr>
        <p:txBody>
          <a:bodyPr wrap="square" lIns="254000" tIns="152400" rIns="0" bIns="127000" rtlCol="0" anchor="t">
            <a:normAutofit/>
          </a:bodyPr>
          <a:lstStyle/>
          <a:p>
            <a:pPr marL="0" indent="0" algn="l">
              <a:lnSpc>
                <a:spcPts val="2100"/>
              </a:lnSpc>
              <a:buNone/>
            </a:pPr>
            <a:r>
              <a:rPr lang="en-US" sz="1500" dirty="0">
                <a:solidFill>
                  <a:srgbClr val="131E29"/>
                </a:solidFill>
                <a:latin typeface="Arial" pitchFamily="34" charset="0"/>
                <a:ea typeface="Arial" pitchFamily="34" charset="-122"/>
                <a:cs typeface="Arial" pitchFamily="34" charset="-120"/>
              </a:rPr>
              <a:t>All three rely on demand forecasts, are expensive to reverse, and set the context for every process decision inside the operation.</a:t>
            </a:r>
            <a:endParaRPr lang="en-US" sz="1500" dirty="0"/>
          </a:p>
        </p:txBody>
      </p:sp>
      <p:sp>
        <p:nvSpPr>
          <p:cNvPr id="14" name="Shape 12"/>
          <p:cNvSpPr/>
          <p:nvPr/>
        </p:nvSpPr>
        <p:spPr>
          <a:xfrm>
            <a:off x="971296" y="5501680"/>
            <a:ext cx="0" cy="838200"/>
          </a:xfrm>
          <a:prstGeom prst="line">
            <a:avLst/>
          </a:prstGeom>
          <a:noFill/>
          <a:ln w="50800">
            <a:solidFill>
              <a:srgbClr val="005A8F"/>
            </a:solidFill>
            <a:prstDash val="solid"/>
          </a:ln>
        </p:spPr>
        <p:txBody>
          <a:bodyPr/>
          <a:lstStyle/>
          <a:p>
            <a:endParaRPr lang="en-GB" dirty="0"/>
          </a:p>
        </p:txBody>
      </p:sp>
      <p:sp>
        <p:nvSpPr>
          <p:cNvPr id="15" name="Text 13"/>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b="1" dirty="0">
                <a:solidFill/>
                <a:latin typeface="Arial"/>
              </a:rPr>
              <a:t>Make or </a:t>
            </a:r>
            <a:r>
              <a:rPr lang="en-US" sz="3000" b="1" i="0" dirty="0">
                <a:solidFill>
                  <a:srgbClr val="440099"/>
                </a:solidFill>
                <a:latin typeface="Arial" pitchFamily="34" charset="0"/>
                <a:ea typeface="Arial" pitchFamily="34" charset="-122"/>
                <a:cs typeface="Arial" pitchFamily="34" charset="-120"/>
              </a:rPr>
              <a:t>Buy? Outsourcing and Vertical Integration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2775891236"/>
              </p:ext>
            </p:extLst>
          </p:nvPr>
        </p:nvGraphicFramePr>
        <p:xfrm>
          <a:off x="1407160" y="1815289"/>
          <a:ext cx="9974580" cy="3712602"/>
        </p:xfrm>
        <a:graphic>
          <a:graphicData uri="http://schemas.openxmlformats.org/drawingml/2006/table">
            <a:tbl>
              <a:tblPr firstRow="1"/>
              <a:tblGrid>
                <a:gridCol w="1562100">
                  <a:extLst>
                    <a:ext uri="{9D8B030D-6E8A-4147-A177-3AD203B41FA5}">
                      <a16:colId xmlns:a16="http://schemas.microsoft.com/office/drawing/2014/main" val="20000"/>
                    </a:ext>
                  </a:extLst>
                </a:gridCol>
                <a:gridCol w="3332480">
                  <a:extLst>
                    <a:ext uri="{9D8B030D-6E8A-4147-A177-3AD203B41FA5}">
                      <a16:colId xmlns:a16="http://schemas.microsoft.com/office/drawing/2014/main" val="20001"/>
                    </a:ext>
                  </a:extLst>
                </a:gridCol>
                <a:gridCol w="2773680">
                  <a:extLst>
                    <a:ext uri="{9D8B030D-6E8A-4147-A177-3AD203B41FA5}">
                      <a16:colId xmlns:a16="http://schemas.microsoft.com/office/drawing/2014/main" val="20002"/>
                    </a:ext>
                  </a:extLst>
                </a:gridCol>
                <a:gridCol w="2306320">
                  <a:extLst>
                    <a:ext uri="{9D8B030D-6E8A-4147-A177-3AD203B41FA5}">
                      <a16:colId xmlns:a16="http://schemas.microsoft.com/office/drawing/2014/main" val="2350172963"/>
                    </a:ext>
                  </a:extLst>
                </a:gridCol>
              </a:tblGrid>
              <a:tr h="448243">
                <a:tc>
                  <a:txBody>
                    <a:bodyPr/>
                    <a:lstStyle/>
                    <a:p>
                      <a:pPr marL="0" indent="0">
                        <a:lnSpc>
                          <a:spcPts val="1960"/>
                        </a:lnSpc>
                        <a:buNone/>
                      </a:pPr>
                      <a:r>
                        <a:rPr lang="en-US" sz="1800" b="1" dirty="0">
                          <a:solidFill>
                            <a:srgbClr val="FFFFFF"/>
                          </a:solidFill>
                          <a:latin typeface="Arial" pitchFamily="34" charset="0"/>
                          <a:ea typeface="Arial" pitchFamily="34" charset="-122"/>
                          <a:cs typeface="Arial" pitchFamily="34" charset="-120"/>
                        </a:rPr>
                        <a:t>Objective</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960"/>
                        </a:lnSpc>
                        <a:buNone/>
                      </a:pPr>
                      <a:r>
                        <a:rPr lang="en-US" sz="1800" b="1" dirty="0">
                          <a:solidFill>
                            <a:srgbClr val="FFFFFF"/>
                          </a:solidFill>
                          <a:latin typeface="Arial" pitchFamily="34" charset="0"/>
                          <a:ea typeface="Arial" pitchFamily="34" charset="-122"/>
                          <a:cs typeface="Arial" pitchFamily="34" charset="-120"/>
                        </a:rPr>
                        <a:t>Make in-house</a:t>
                      </a:r>
                      <a:endParaRPr lang="en-US" sz="1800" dirty="0">
                        <a:latin typeface="Arial" charset="0"/>
                        <a:ea typeface="Arial" charset="0"/>
                        <a:cs typeface="Arial" charset="0"/>
                      </a:endParaRPr>
                    </a:p>
                  </a:txBody>
                  <a:tcPr marL="62230" marR="62230" marT="62230" marB="62230">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960"/>
                        </a:lnSpc>
                        <a:buNone/>
                      </a:pPr>
                      <a:r>
                        <a:rPr lang="en-US" sz="1800" b="1" dirty="0">
                          <a:solidFill>
                            <a:srgbClr val="FFFFFF"/>
                          </a:solidFill>
                          <a:latin typeface="Arial" pitchFamily="34" charset="0"/>
                          <a:ea typeface="Arial" pitchFamily="34" charset="-122"/>
                          <a:cs typeface="Arial" pitchFamily="34" charset="-120"/>
                        </a:rPr>
                        <a:t>Buy it in (outsource)</a:t>
                      </a:r>
                      <a:endParaRPr lang="en-US" sz="1800" dirty="0">
                        <a:latin typeface="Arial" charset="0"/>
                        <a:ea typeface="Arial" charset="0"/>
                        <a:cs typeface="Arial" charset="0"/>
                      </a:endParaRPr>
                    </a:p>
                  </a:txBody>
                  <a:tcPr marL="62230" marR="62230" marT="62230" marB="62230">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960"/>
                        </a:lnSpc>
                        <a:buNone/>
                      </a:pPr>
                      <a:r>
                        <a:rPr lang="en-US" sz="1800" dirty="0">
                          <a:solidFill>
                            <a:schemeClr val="bg1"/>
                          </a:solidFill>
                          <a:latin typeface="Arial" charset="0"/>
                          <a:ea typeface="Arial" charset="0"/>
                          <a:cs typeface="Arial" charset="0"/>
                        </a:rPr>
                        <a:t>Examples</a:t>
                      </a:r>
                    </a:p>
                  </a:txBody>
                  <a:tcPr marL="62230" marR="62230" marT="62230" marB="62230">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extLst>
                  <a:ext uri="{0D108BD9-81ED-4DB2-BD59-A6C34878D82A}">
                    <a16:rowId xmlns:a16="http://schemas.microsoft.com/office/drawing/2014/main" val="10000"/>
                  </a:ext>
                </a:extLst>
              </a:tr>
              <a:tr h="448243">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Quality</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Easier to trace problems</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Specialist may have better capability</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800" dirty="0">
                          <a:solidFill/>
                          <a:latin typeface="Arial" charset="0"/>
                          <a:ea typeface="Arial" charset="0"/>
                          <a:cs typeface="Arial" charset="0"/>
                        </a:rPr>
                        <a:t>Rolex</a:t>
                      </a: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48243">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Speed</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Synchronised schedules</a:t>
                      </a:r>
                      <a:endParaRPr lang="en-US" sz="18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Speed depends on the contract</a:t>
                      </a:r>
                      <a:endParaRPr lang="en-US" sz="18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800" dirty="0">
                          <a:solidFill/>
                          <a:latin typeface="Arial" charset="0"/>
                          <a:ea typeface="Arial" charset="0"/>
                          <a:cs typeface="Arial" charset="0"/>
                        </a:rPr>
                        <a:t>Toyota</a:t>
                      </a: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2"/>
                  </a:ext>
                </a:extLst>
              </a:tr>
              <a:tr h="448243">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Dependability</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Internal priority and communication</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Delivery promises may be harder to enforce</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800" dirty="0">
                          <a:solidFill/>
                          <a:latin typeface="Arial" charset="0"/>
                          <a:ea typeface="Arial" charset="0"/>
                          <a:cs typeface="Arial" charset="0"/>
                        </a:rPr>
                        <a:t>Amazon</a:t>
                      </a: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48243">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Flexibility</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Limited by own capacity and skills</a:t>
                      </a:r>
                      <a:endParaRPr lang="en-US" sz="18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Access to a wider range of capabilities</a:t>
                      </a:r>
                      <a:endParaRPr lang="en-US" sz="18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800" dirty="0">
                          <a:solidFill/>
                          <a:latin typeface="Arial" charset="0"/>
                          <a:ea typeface="Arial" charset="0"/>
                          <a:cs typeface="Arial" charset="0"/>
                        </a:rPr>
                        <a:t>Zara</a:t>
                      </a: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4"/>
                  </a:ext>
                </a:extLst>
              </a:tr>
              <a:tr h="734519">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Cost</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No supplier margin, but capital tied up</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800" dirty="0">
                          <a:solidFill>
                            <a:srgbClr val="131E29"/>
                          </a:solidFill>
                          <a:latin typeface="Arial" pitchFamily="34" charset="0"/>
                          <a:ea typeface="Arial" pitchFamily="34" charset="-122"/>
                          <a:cs typeface="Arial" pitchFamily="34" charset="-120"/>
                        </a:rPr>
                        <a:t>Economies of scale, but supplier takes a margin</a:t>
                      </a:r>
                      <a:endParaRPr lang="en-US" sz="18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800" dirty="0">
                          <a:solidFill/>
                          <a:latin typeface="Arial" charset="0"/>
                          <a:ea typeface="Arial" charset="0"/>
                          <a:cs typeface="Arial" charset="0"/>
                        </a:rPr>
                        <a:t>Aldi, Lidl</a:t>
                      </a: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Source: adapted from Slack, Brandon-Jones and Burgess (2022)</a:t>
            </a:r>
            <a:endParaRPr lang="en-US" sz="1200" dirty="0"/>
          </a:p>
        </p:txBody>
      </p:sp>
      <p:sp>
        <p:nvSpPr>
          <p:cNvPr id="7" name="Text 4"/>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Sourcing: How Many Suppliers, and How Close?</a:t>
            </a:r>
            <a:endParaRPr lang="en-US" sz="3000" dirty="0"/>
          </a:p>
        </p:txBody>
      </p:sp>
      <p:sp>
        <p:nvSpPr>
          <p:cNvPr id="4" name="Shape 2"/>
          <p:cNvSpPr/>
          <p:nvPr/>
        </p:nvSpPr>
        <p:spPr>
          <a:xfrm>
            <a:off x="819150" y="1458392"/>
            <a:ext cx="5168900" cy="1943034"/>
          </a:xfrm>
          <a:prstGeom prst="roundRect">
            <a:avLst>
              <a:gd name="adj" fmla="val 3595"/>
            </a:avLst>
          </a:prstGeom>
          <a:solidFill>
            <a:srgbClr val="F4EFFA"/>
          </a:solidFill>
          <a:ln w="12700">
            <a:solidFill>
              <a:srgbClr val="440099"/>
            </a:solidFill>
            <a:prstDash val="solid"/>
          </a:ln>
        </p:spPr>
        <p:txBody>
          <a:bodyPr/>
          <a:lstStyle/>
          <a:p>
            <a:endParaRPr lang="en-GB"/>
          </a:p>
        </p:txBody>
      </p:sp>
      <p:sp>
        <p:nvSpPr>
          <p:cNvPr id="5" name="Text 3"/>
          <p:cNvSpPr/>
          <p:nvPr/>
        </p:nvSpPr>
        <p:spPr>
          <a:xfrm>
            <a:off x="1054100" y="1693342"/>
            <a:ext cx="4839970"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440099"/>
                </a:solidFill>
                <a:latin typeface="Arial" pitchFamily="34" charset="0"/>
                <a:ea typeface="Arial" pitchFamily="34" charset="-122"/>
                <a:cs typeface="Arial" pitchFamily="34" charset="-120"/>
              </a:rPr>
              <a:t>Single sourcing</a:t>
            </a:r>
            <a:endParaRPr lang="en-US" sz="1800" dirty="0"/>
          </a:p>
        </p:txBody>
      </p:sp>
      <p:sp>
        <p:nvSpPr>
          <p:cNvPr id="6" name="Text 4"/>
          <p:cNvSpPr/>
          <p:nvPr/>
        </p:nvSpPr>
        <p:spPr>
          <a:xfrm>
            <a:off x="1054100" y="2069244"/>
            <a:ext cx="4839970"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E29"/>
                </a:solidFill>
                <a:latin typeface="Arial" pitchFamily="34" charset="0"/>
                <a:ea typeface="Arial" pitchFamily="34" charset="-122"/>
                <a:cs typeface="Arial" pitchFamily="34" charset="-120"/>
              </a:rPr>
              <a:t>For:</a:t>
            </a:r>
            <a:r>
              <a:rPr lang="en-US" sz="1400" dirty="0">
                <a:solidFill>
                  <a:srgbClr val="131E29"/>
                </a:solidFill>
                <a:latin typeface="Arial" pitchFamily="34" charset="0"/>
                <a:ea typeface="Arial" pitchFamily="34" charset="-122"/>
                <a:cs typeface="Arial" pitchFamily="34" charset="-120"/>
              </a:rPr>
              <a:t> closer relationship, consistent quality, joint improvement, scale discounts</a:t>
            </a:r>
            <a:endParaRPr lang="en-US" sz="1400" dirty="0"/>
          </a:p>
        </p:txBody>
      </p:sp>
      <p:sp>
        <p:nvSpPr>
          <p:cNvPr id="7" name="Text 5"/>
          <p:cNvSpPr/>
          <p:nvPr/>
        </p:nvSpPr>
        <p:spPr>
          <a:xfrm>
            <a:off x="1054100" y="2668662"/>
            <a:ext cx="4839970"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E29"/>
                </a:solidFill>
                <a:latin typeface="Arial" pitchFamily="34" charset="0"/>
                <a:ea typeface="Arial" pitchFamily="34" charset="-122"/>
                <a:cs typeface="Arial" pitchFamily="34" charset="-120"/>
              </a:rPr>
              <a:t>Against:</a:t>
            </a:r>
            <a:r>
              <a:rPr lang="en-US" sz="1400" dirty="0">
                <a:solidFill>
                  <a:srgbClr val="131E29"/>
                </a:solidFill>
                <a:latin typeface="Arial" pitchFamily="34" charset="0"/>
                <a:ea typeface="Arial" pitchFamily="34" charset="-122"/>
                <a:cs typeface="Arial" pitchFamily="34" charset="-120"/>
              </a:rPr>
              <a:t> vulnerable to one failure, weaker bargaining power, supplier lock-in</a:t>
            </a:r>
            <a:endParaRPr lang="en-US" sz="1400" dirty="0"/>
          </a:p>
        </p:txBody>
      </p:sp>
      <p:sp>
        <p:nvSpPr>
          <p:cNvPr id="8" name="Shape 6"/>
          <p:cNvSpPr/>
          <p:nvPr/>
        </p:nvSpPr>
        <p:spPr>
          <a:xfrm>
            <a:off x="6203950" y="1458392"/>
            <a:ext cx="5168900" cy="1943034"/>
          </a:xfrm>
          <a:prstGeom prst="roundRect">
            <a:avLst>
              <a:gd name="adj" fmla="val 3595"/>
            </a:avLst>
          </a:prstGeom>
          <a:solidFill>
            <a:srgbClr val="E6F6FA"/>
          </a:solidFill>
          <a:ln w="12700">
            <a:solidFill>
              <a:srgbClr val="005A8F"/>
            </a:solidFill>
            <a:prstDash val="solid"/>
          </a:ln>
        </p:spPr>
        <p:txBody>
          <a:bodyPr/>
          <a:lstStyle/>
          <a:p>
            <a:endParaRPr lang="en-GB"/>
          </a:p>
        </p:txBody>
      </p:sp>
      <p:sp>
        <p:nvSpPr>
          <p:cNvPr id="9" name="Text 7"/>
          <p:cNvSpPr/>
          <p:nvPr/>
        </p:nvSpPr>
        <p:spPr>
          <a:xfrm>
            <a:off x="6438900" y="1693342"/>
            <a:ext cx="4839970"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5A8F"/>
                </a:solidFill>
                <a:latin typeface="Arial" pitchFamily="34" charset="0"/>
                <a:ea typeface="Arial" pitchFamily="34" charset="-122"/>
                <a:cs typeface="Arial" pitchFamily="34" charset="-120"/>
              </a:rPr>
              <a:t>Multiple sourcing</a:t>
            </a:r>
            <a:endParaRPr lang="en-US" sz="1800" dirty="0"/>
          </a:p>
        </p:txBody>
      </p:sp>
      <p:sp>
        <p:nvSpPr>
          <p:cNvPr id="10" name="Text 8"/>
          <p:cNvSpPr/>
          <p:nvPr/>
        </p:nvSpPr>
        <p:spPr>
          <a:xfrm>
            <a:off x="6438900" y="2069244"/>
            <a:ext cx="4839970"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E29"/>
                </a:solidFill>
                <a:latin typeface="Arial" pitchFamily="34" charset="0"/>
                <a:ea typeface="Arial" pitchFamily="34" charset="-122"/>
                <a:cs typeface="Arial" pitchFamily="34" charset="-120"/>
              </a:rPr>
              <a:t>For:</a:t>
            </a:r>
            <a:r>
              <a:rPr lang="en-US" sz="1400" dirty="0">
                <a:solidFill>
                  <a:srgbClr val="131E29"/>
                </a:solidFill>
                <a:latin typeface="Arial" pitchFamily="34" charset="0"/>
                <a:ea typeface="Arial" pitchFamily="34" charset="-122"/>
                <a:cs typeface="Arial" pitchFamily="34" charset="-120"/>
              </a:rPr>
              <a:t> competition on price, back-up if one fails, wider capability</a:t>
            </a:r>
            <a:endParaRPr lang="en-US" sz="1400" dirty="0"/>
          </a:p>
        </p:txBody>
      </p:sp>
      <p:sp>
        <p:nvSpPr>
          <p:cNvPr id="11" name="Text 9"/>
          <p:cNvSpPr/>
          <p:nvPr/>
        </p:nvSpPr>
        <p:spPr>
          <a:xfrm>
            <a:off x="6438900" y="2668662"/>
            <a:ext cx="4839970"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E29"/>
                </a:solidFill>
                <a:latin typeface="Arial" pitchFamily="34" charset="0"/>
                <a:ea typeface="Arial" pitchFamily="34" charset="-122"/>
                <a:cs typeface="Arial" pitchFamily="34" charset="-120"/>
              </a:rPr>
              <a:t>Against:</a:t>
            </a:r>
            <a:r>
              <a:rPr lang="en-US" sz="1400" dirty="0">
                <a:solidFill>
                  <a:srgbClr val="131E29"/>
                </a:solidFill>
                <a:latin typeface="Arial" pitchFamily="34" charset="0"/>
                <a:ea typeface="Arial" pitchFamily="34" charset="-122"/>
                <a:cs typeface="Arial" pitchFamily="34" charset="-120"/>
              </a:rPr>
              <a:t> less commitment, harder to coordinate, quality varies, small volumes each</a:t>
            </a:r>
            <a:endParaRPr lang="en-US" sz="1400" dirty="0"/>
          </a:p>
        </p:txBody>
      </p:sp>
      <p:sp>
        <p:nvSpPr>
          <p:cNvPr id="12" name="Text 10"/>
          <p:cNvSpPr/>
          <p:nvPr/>
        </p:nvSpPr>
        <p:spPr>
          <a:xfrm>
            <a:off x="812800" y="3661767"/>
            <a:ext cx="1298641"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40099"/>
                </a:solidFill>
                <a:latin typeface="Arial" pitchFamily="34" charset="0"/>
                <a:ea typeface="Arial" pitchFamily="34" charset="-122"/>
                <a:cs typeface="Arial" pitchFamily="34" charset="-120"/>
              </a:rPr>
              <a:t>Transactional</a:t>
            </a:r>
            <a:endParaRPr lang="en-US" sz="1400" dirty="0"/>
          </a:p>
        </p:txBody>
      </p:sp>
      <p:sp>
        <p:nvSpPr>
          <p:cNvPr id="13" name="Shape 11"/>
          <p:cNvSpPr/>
          <p:nvPr/>
        </p:nvSpPr>
        <p:spPr>
          <a:xfrm>
            <a:off x="2111441" y="3760788"/>
            <a:ext cx="8127273" cy="50800"/>
          </a:xfrm>
          <a:prstGeom prst="roundRect">
            <a:avLst>
              <a:gd name="adj" fmla="val 50000"/>
            </a:avLst>
          </a:prstGeom>
          <a:gradFill rotWithShape="1">
            <a:gsLst>
              <a:gs pos="0">
                <a:srgbClr val="C9B5E6"/>
              </a:gs>
              <a:gs pos="100000">
                <a:srgbClr val="440099"/>
              </a:gs>
            </a:gsLst>
            <a:lin ang="0" scaled="0"/>
          </a:gradFill>
          <a:ln/>
        </p:spPr>
        <p:txBody>
          <a:bodyPr/>
          <a:lstStyle/>
          <a:p>
            <a:endParaRPr lang="en-GB"/>
          </a:p>
        </p:txBody>
      </p:sp>
      <p:sp>
        <p:nvSpPr>
          <p:cNvPr id="14" name="Text 12"/>
          <p:cNvSpPr/>
          <p:nvPr/>
        </p:nvSpPr>
        <p:spPr>
          <a:xfrm>
            <a:off x="10391114" y="3661767"/>
            <a:ext cx="1185704"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40099"/>
                </a:solidFill>
                <a:latin typeface="Arial" pitchFamily="34" charset="0"/>
                <a:ea typeface="Arial" pitchFamily="34" charset="-122"/>
                <a:cs typeface="Arial" pitchFamily="34" charset="-120"/>
              </a:rPr>
              <a:t>Partnership</a:t>
            </a:r>
            <a:endParaRPr lang="en-US" sz="1400" dirty="0"/>
          </a:p>
        </p:txBody>
      </p:sp>
      <p:sp>
        <p:nvSpPr>
          <p:cNvPr id="15" name="Text 13"/>
          <p:cNvSpPr/>
          <p:nvPr/>
        </p:nvSpPr>
        <p:spPr>
          <a:xfrm>
            <a:off x="812800" y="4164682"/>
            <a:ext cx="10883392"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E6977"/>
                </a:solidFill>
                <a:latin typeface="Arial" pitchFamily="34" charset="0"/>
                <a:ea typeface="Arial" pitchFamily="34" charset="-122"/>
                <a:cs typeface="Arial" pitchFamily="34" charset="-120"/>
              </a:rPr>
              <a:t>Relationships range from arm’s-length, price-based buying to long-term partnerships with shared information, joint planning and shared risk.</a:t>
            </a:r>
            <a:endParaRPr lang="en-US" sz="1400" dirty="0"/>
          </a:p>
        </p:txBody>
      </p:sp>
      <p:sp>
        <p:nvSpPr>
          <p:cNvPr id="16" name="Text 14"/>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Source: adapted from Slack, Brandon-Jones and Burgess (2022)</a:t>
            </a:r>
            <a:endParaRPr lang="en-US" sz="1200" dirty="0"/>
          </a:p>
        </p:txBody>
      </p:sp>
      <p:sp>
        <p:nvSpPr>
          <p:cNvPr id="17" name="Text 15"/>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Matching the Supply Chain to the Product</a:t>
            </a:r>
            <a:endParaRPr lang="en-US" sz="3000" dirty="0"/>
          </a:p>
        </p:txBody>
      </p:sp>
      <p:sp>
        <p:nvSpPr>
          <p:cNvPr id="4" name="Shape 2"/>
          <p:cNvSpPr/>
          <p:nvPr/>
        </p:nvSpPr>
        <p:spPr>
          <a:xfrm>
            <a:off x="819150" y="1458392"/>
            <a:ext cx="5168900" cy="2715154"/>
          </a:xfrm>
          <a:prstGeom prst="roundRect">
            <a:avLst>
              <a:gd name="adj" fmla="val 2573"/>
            </a:avLst>
          </a:prstGeom>
          <a:solidFill>
            <a:srgbClr val="F4EFFA"/>
          </a:solidFill>
          <a:ln w="12700">
            <a:solidFill>
              <a:srgbClr val="440099"/>
            </a:solidFill>
            <a:prstDash val="solid"/>
          </a:ln>
        </p:spPr>
        <p:txBody>
          <a:bodyPr/>
          <a:lstStyle/>
          <a:p>
            <a:endParaRPr lang="en-GB"/>
          </a:p>
        </p:txBody>
      </p:sp>
      <p:sp>
        <p:nvSpPr>
          <p:cNvPr id="5" name="Text 3"/>
          <p:cNvSpPr/>
          <p:nvPr/>
        </p:nvSpPr>
        <p:spPr>
          <a:xfrm>
            <a:off x="1054100" y="1693342"/>
            <a:ext cx="48399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40099"/>
                </a:solidFill>
                <a:latin typeface="Arial" pitchFamily="34" charset="0"/>
                <a:ea typeface="Arial" pitchFamily="34" charset="-122"/>
                <a:cs typeface="Arial" pitchFamily="34" charset="-120"/>
              </a:rPr>
              <a:t>FUNCTIONAL PRODUCTS</a:t>
            </a:r>
            <a:endParaRPr lang="en-US" sz="1200" dirty="0"/>
          </a:p>
        </p:txBody>
      </p:sp>
      <p:sp>
        <p:nvSpPr>
          <p:cNvPr id="6" name="Text 4"/>
          <p:cNvSpPr/>
          <p:nvPr/>
        </p:nvSpPr>
        <p:spPr>
          <a:xfrm>
            <a:off x="1054100" y="2008262"/>
            <a:ext cx="483997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Stable, predictable demand; long life cycles; low margins (e.g. groceries, basic clothing)</a:t>
            </a:r>
            <a:endParaRPr lang="en-US" sz="1400" dirty="0"/>
          </a:p>
        </p:txBody>
      </p:sp>
      <p:pic>
        <p:nvPicPr>
          <p:cNvPr id="7" name="Image 0" descr="arrow-down"/>
          <p:cNvPicPr>
            <a:picLocks noChangeAspect="1"/>
          </p:cNvPicPr>
          <p:nvPr/>
        </p:nvPicPr>
        <p:blipFill>
          <a:blip r:embed="rId3"/>
          <a:srcRect/>
          <a:stretch/>
        </p:blipFill>
        <p:spPr>
          <a:xfrm>
            <a:off x="1054100" y="2607667"/>
            <a:ext cx="254000" cy="355600"/>
          </a:xfrm>
          <a:prstGeom prst="rect">
            <a:avLst/>
          </a:prstGeom>
        </p:spPr>
      </p:pic>
      <p:sp>
        <p:nvSpPr>
          <p:cNvPr id="8" name="Text 5"/>
          <p:cNvSpPr/>
          <p:nvPr/>
        </p:nvSpPr>
        <p:spPr>
          <a:xfrm>
            <a:off x="1054100" y="3064867"/>
            <a:ext cx="4839970"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440099"/>
                </a:solidFill>
                <a:latin typeface="Arial" pitchFamily="34" charset="0"/>
                <a:ea typeface="Arial" pitchFamily="34" charset="-122"/>
                <a:cs typeface="Arial" pitchFamily="34" charset="-120"/>
              </a:rPr>
              <a:t>Efficient (lean) supply chain</a:t>
            </a:r>
            <a:endParaRPr lang="en-US" sz="1800" dirty="0"/>
          </a:p>
        </p:txBody>
      </p:sp>
      <p:sp>
        <p:nvSpPr>
          <p:cNvPr id="9" name="Text 6"/>
          <p:cNvSpPr/>
          <p:nvPr/>
        </p:nvSpPr>
        <p:spPr>
          <a:xfrm>
            <a:off x="1054100" y="3440782"/>
            <a:ext cx="483997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Minimise cost: high utilisation, low inventory, cheapest suppliers</a:t>
            </a:r>
            <a:endParaRPr lang="en-US" sz="1400" dirty="0"/>
          </a:p>
        </p:txBody>
      </p:sp>
      <p:sp>
        <p:nvSpPr>
          <p:cNvPr id="10" name="Shape 7"/>
          <p:cNvSpPr/>
          <p:nvPr/>
        </p:nvSpPr>
        <p:spPr>
          <a:xfrm>
            <a:off x="6203950" y="1458392"/>
            <a:ext cx="5168900" cy="2715154"/>
          </a:xfrm>
          <a:prstGeom prst="roundRect">
            <a:avLst>
              <a:gd name="adj" fmla="val 2573"/>
            </a:avLst>
          </a:prstGeom>
          <a:solidFill>
            <a:srgbClr val="E6F6FA"/>
          </a:solidFill>
          <a:ln w="12700">
            <a:solidFill>
              <a:srgbClr val="005A8F"/>
            </a:solidFill>
            <a:prstDash val="solid"/>
          </a:ln>
        </p:spPr>
        <p:txBody>
          <a:bodyPr/>
          <a:lstStyle/>
          <a:p>
            <a:endParaRPr lang="en-GB"/>
          </a:p>
        </p:txBody>
      </p:sp>
      <p:sp>
        <p:nvSpPr>
          <p:cNvPr id="11" name="Text 8"/>
          <p:cNvSpPr/>
          <p:nvPr/>
        </p:nvSpPr>
        <p:spPr>
          <a:xfrm>
            <a:off x="6438900" y="1693342"/>
            <a:ext cx="48399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5A8F"/>
                </a:solidFill>
                <a:latin typeface="Arial" pitchFamily="34" charset="0"/>
                <a:ea typeface="Arial" pitchFamily="34" charset="-122"/>
                <a:cs typeface="Arial" pitchFamily="34" charset="-120"/>
              </a:rPr>
              <a:t>INNOVATIVE PRODUCTS</a:t>
            </a:r>
            <a:endParaRPr lang="en-US" sz="1200" dirty="0"/>
          </a:p>
        </p:txBody>
      </p:sp>
      <p:sp>
        <p:nvSpPr>
          <p:cNvPr id="12" name="Text 9"/>
          <p:cNvSpPr/>
          <p:nvPr/>
        </p:nvSpPr>
        <p:spPr>
          <a:xfrm>
            <a:off x="6438900" y="2008262"/>
            <a:ext cx="483997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Unpredictable demand; short life cycles; high margins (e.g. fashion, new tech)</a:t>
            </a:r>
            <a:endParaRPr lang="en-US" sz="1400" dirty="0"/>
          </a:p>
        </p:txBody>
      </p:sp>
      <p:pic>
        <p:nvPicPr>
          <p:cNvPr id="13" name="Image 1" descr="arrow-down"/>
          <p:cNvPicPr>
            <a:picLocks noChangeAspect="1"/>
          </p:cNvPicPr>
          <p:nvPr/>
        </p:nvPicPr>
        <p:blipFill>
          <a:blip r:embed="rId4"/>
          <a:srcRect/>
          <a:stretch/>
        </p:blipFill>
        <p:spPr>
          <a:xfrm>
            <a:off x="6438900" y="2607667"/>
            <a:ext cx="254000" cy="355600"/>
          </a:xfrm>
          <a:prstGeom prst="rect">
            <a:avLst/>
          </a:prstGeom>
        </p:spPr>
      </p:pic>
      <p:sp>
        <p:nvSpPr>
          <p:cNvPr id="14" name="Text 10"/>
          <p:cNvSpPr/>
          <p:nvPr/>
        </p:nvSpPr>
        <p:spPr>
          <a:xfrm>
            <a:off x="6438900" y="3064867"/>
            <a:ext cx="4839970"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5A8F"/>
                </a:solidFill>
                <a:latin typeface="Arial" pitchFamily="34" charset="0"/>
                <a:ea typeface="Arial" pitchFamily="34" charset="-122"/>
                <a:cs typeface="Arial" pitchFamily="34" charset="-120"/>
              </a:rPr>
              <a:t>Responsive (agile) supply chain</a:t>
            </a:r>
            <a:endParaRPr lang="en-US" sz="1800" dirty="0"/>
          </a:p>
        </p:txBody>
      </p:sp>
      <p:sp>
        <p:nvSpPr>
          <p:cNvPr id="15" name="Text 11"/>
          <p:cNvSpPr/>
          <p:nvPr/>
        </p:nvSpPr>
        <p:spPr>
          <a:xfrm>
            <a:off x="6438900" y="3440782"/>
            <a:ext cx="483997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Minimise lost sales and markdowns: buffer capacity and stock, fast, flexible suppliers</a:t>
            </a:r>
            <a:endParaRPr lang="en-US" sz="1400" dirty="0"/>
          </a:p>
        </p:txBody>
      </p:sp>
      <p:sp>
        <p:nvSpPr>
          <p:cNvPr id="16" name="Text 12"/>
          <p:cNvSpPr/>
          <p:nvPr/>
        </p:nvSpPr>
        <p:spPr>
          <a:xfrm>
            <a:off x="812800" y="4433888"/>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31E29"/>
                </a:solidFill>
                <a:latin typeface="Arial" pitchFamily="34" charset="0"/>
                <a:ea typeface="Arial" pitchFamily="34" charset="-122"/>
                <a:cs typeface="Arial" pitchFamily="34" charset="-120"/>
              </a:rPr>
              <a:t>A mismatch is costly: a lean chain for an innovative product causes stock-outs; an agile chain for a functional product wastes money.</a:t>
            </a:r>
            <a:endParaRPr lang="en-US" sz="1500" dirty="0"/>
          </a:p>
        </p:txBody>
      </p:sp>
      <p:sp>
        <p:nvSpPr>
          <p:cNvPr id="17" name="Text 13"/>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Source: Fisher (1997)</a:t>
            </a:r>
            <a:endParaRPr lang="en-US" sz="1200" dirty="0"/>
          </a:p>
        </p:txBody>
      </p:sp>
      <p:sp>
        <p:nvSpPr>
          <p:cNvPr id="18" name="Text 14"/>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Label"/>
          <p:cNvSpPr txBox="1"/>
          <p:nvPr/>
        </p:nvSpPr>
        <p:spPr>
          <a:xfrm>
            <a:off x="813816" y="228600"/>
            <a:ext cx="7315200" cy="292608"/>
          </a:xfrm>
          <a:prstGeom prst="rect">
            <a:avLst/>
          </a:prstGeom>
          <a:noFill/>
        </p:spPr>
        <p:txBody>
          <a:bodyPr wrap="square" lIns="0" rIns="0" tIns="0" bIns="0" anchor="t">
            <a:spAutoFit/>
          </a:bodyPr>
          <a:lstStyle/>
          <a:p>
            <a:pPr algn="l">
              <a:spcAft>
                <a:spcPts val="0"/>
              </a:spcAft>
            </a:pPr>
            <a:r>
              <a:rPr sz="1200" b="1">
                <a:solidFill>
                  <a:srgbClr val="FF6371"/>
                </a:solidFill>
                <a:latin typeface="Arial"/>
              </a:rPr>
              <a:t>DELIVERING THE OUTPUT</a:t>
            </a:r>
          </a:p>
        </p:txBody>
      </p:sp>
      <p:sp>
        <p:nvSpPr>
          <p:cNvPr id="3" name="Title"/>
          <p:cNvSpPr txBox="1"/>
          <p:nvPr/>
        </p:nvSpPr>
        <p:spPr>
          <a:xfrm>
            <a:off x="658368" y="612648"/>
            <a:ext cx="10881360" cy="448056"/>
          </a:xfrm>
          <a:prstGeom prst="rect">
            <a:avLst/>
          </a:prstGeom>
          <a:noFill/>
        </p:spPr>
        <p:txBody>
          <a:bodyPr wrap="square" lIns="0" rIns="0" tIns="0" bIns="0" anchor="t">
            <a:spAutoFit/>
          </a:bodyPr>
          <a:lstStyle/>
          <a:p>
            <a:pPr algn="l">
              <a:spcAft>
                <a:spcPts val="0"/>
              </a:spcAft>
            </a:pPr>
            <a:r>
              <a:rPr sz="3000" b="1">
                <a:solidFill>
                  <a:srgbClr val="440099"/>
                </a:solidFill>
                <a:latin typeface="Arial"/>
              </a:rPr>
              <a:t>The Last Mile: Delivering to the Final Consumer</a:t>
            </a:r>
          </a:p>
        </p:txBody>
      </p:sp>
      <p:cxnSp>
        <p:nvCxnSpPr>
          <p:cNvPr id="4" name="Divider"/>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5" name="Stage 1"/>
          <p:cNvSpPr/>
          <p:nvPr/>
        </p:nvSpPr>
        <p:spPr>
          <a:xfrm>
            <a:off x="813816" y="1417320"/>
            <a:ext cx="1874519" cy="457200"/>
          </a:xfrm>
          <a:prstGeom prst="roundRect">
            <a:avLst>
              <a:gd name="adj" fmla="val 30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ge 1 text"/>
          <p:cNvSpPr txBox="1"/>
          <p:nvPr/>
        </p:nvSpPr>
        <p:spPr>
          <a:xfrm>
            <a:off x="813816" y="1417320"/>
            <a:ext cx="1874519" cy="457200"/>
          </a:xfrm>
          <a:prstGeom prst="rect">
            <a:avLst/>
          </a:prstGeom>
          <a:noFill/>
        </p:spPr>
        <p:txBody>
          <a:bodyPr wrap="square" lIns="0" rIns="0" tIns="0" bIns="0" anchor="ctr">
            <a:spAutoFit/>
          </a:bodyPr>
          <a:lstStyle/>
          <a:p>
            <a:pPr algn="ctr">
              <a:spcAft>
                <a:spcPts val="0"/>
              </a:spcAft>
            </a:pPr>
            <a:r>
              <a:rPr sz="1300" b="1">
                <a:solidFill>
                  <a:srgbClr val="440099"/>
                </a:solidFill>
                <a:latin typeface="Arial"/>
              </a:rPr>
              <a:t>Factory</a:t>
            </a:r>
          </a:p>
        </p:txBody>
      </p:sp>
      <p:sp>
        <p:nvSpPr>
          <p:cNvPr id="7" name="Arrow"/>
          <p:cNvSpPr/>
          <p:nvPr/>
        </p:nvSpPr>
        <p:spPr>
          <a:xfrm>
            <a:off x="2743200" y="1536192"/>
            <a:ext cx="182880" cy="219456"/>
          </a:xfrm>
          <a:prstGeom prst="rightArrow">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age 2"/>
          <p:cNvSpPr/>
          <p:nvPr/>
        </p:nvSpPr>
        <p:spPr>
          <a:xfrm>
            <a:off x="2990088" y="1417320"/>
            <a:ext cx="1874519" cy="457200"/>
          </a:xfrm>
          <a:prstGeom prst="roundRect">
            <a:avLst>
              <a:gd name="adj" fmla="val 30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ge 2 text"/>
          <p:cNvSpPr txBox="1"/>
          <p:nvPr/>
        </p:nvSpPr>
        <p:spPr>
          <a:xfrm>
            <a:off x="2990088" y="1417320"/>
            <a:ext cx="1874519" cy="457200"/>
          </a:xfrm>
          <a:prstGeom prst="rect">
            <a:avLst/>
          </a:prstGeom>
          <a:noFill/>
        </p:spPr>
        <p:txBody>
          <a:bodyPr wrap="square" lIns="0" rIns="0" tIns="0" bIns="0" anchor="ctr">
            <a:spAutoFit/>
          </a:bodyPr>
          <a:lstStyle/>
          <a:p>
            <a:pPr algn="ctr">
              <a:spcAft>
                <a:spcPts val="0"/>
              </a:spcAft>
            </a:pPr>
            <a:r>
              <a:rPr sz="1300" b="1">
                <a:solidFill>
                  <a:srgbClr val="440099"/>
                </a:solidFill>
                <a:latin typeface="Arial"/>
              </a:rPr>
              <a:t>Port or hub</a:t>
            </a:r>
          </a:p>
        </p:txBody>
      </p:sp>
      <p:sp>
        <p:nvSpPr>
          <p:cNvPr id="10" name="Arrow"/>
          <p:cNvSpPr/>
          <p:nvPr/>
        </p:nvSpPr>
        <p:spPr>
          <a:xfrm>
            <a:off x="4919472" y="1536192"/>
            <a:ext cx="182880" cy="219456"/>
          </a:xfrm>
          <a:prstGeom prst="rightArrow">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3"/>
          <p:cNvSpPr/>
          <p:nvPr/>
        </p:nvSpPr>
        <p:spPr>
          <a:xfrm>
            <a:off x="5166360" y="1417320"/>
            <a:ext cx="1874519" cy="457200"/>
          </a:xfrm>
          <a:prstGeom prst="roundRect">
            <a:avLst>
              <a:gd name="adj" fmla="val 30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3 text"/>
          <p:cNvSpPr txBox="1"/>
          <p:nvPr/>
        </p:nvSpPr>
        <p:spPr>
          <a:xfrm>
            <a:off x="5166360" y="1417320"/>
            <a:ext cx="1874519" cy="457200"/>
          </a:xfrm>
          <a:prstGeom prst="rect">
            <a:avLst/>
          </a:prstGeom>
          <a:noFill/>
        </p:spPr>
        <p:txBody>
          <a:bodyPr wrap="square" lIns="0" rIns="0" tIns="0" bIns="0" anchor="ctr">
            <a:spAutoFit/>
          </a:bodyPr>
          <a:lstStyle/>
          <a:p>
            <a:pPr algn="ctr">
              <a:spcAft>
                <a:spcPts val="0"/>
              </a:spcAft>
            </a:pPr>
            <a:r>
              <a:rPr sz="1300" b="1">
                <a:solidFill>
                  <a:srgbClr val="440099"/>
                </a:solidFill>
                <a:latin typeface="Arial"/>
              </a:rPr>
              <a:t>Distribution centre</a:t>
            </a:r>
          </a:p>
        </p:txBody>
      </p:sp>
      <p:sp>
        <p:nvSpPr>
          <p:cNvPr id="13" name="Arrow"/>
          <p:cNvSpPr/>
          <p:nvPr/>
        </p:nvSpPr>
        <p:spPr>
          <a:xfrm>
            <a:off x="7095744" y="1536192"/>
            <a:ext cx="182880" cy="219456"/>
          </a:xfrm>
          <a:prstGeom prst="rightArrow">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ge 4"/>
          <p:cNvSpPr/>
          <p:nvPr/>
        </p:nvSpPr>
        <p:spPr>
          <a:xfrm>
            <a:off x="7342632" y="1417320"/>
            <a:ext cx="1874519" cy="457200"/>
          </a:xfrm>
          <a:prstGeom prst="roundRect">
            <a:avLst>
              <a:gd name="adj" fmla="val 30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ge 4 text"/>
          <p:cNvSpPr txBox="1"/>
          <p:nvPr/>
        </p:nvSpPr>
        <p:spPr>
          <a:xfrm>
            <a:off x="7342632" y="1417320"/>
            <a:ext cx="1874519" cy="457200"/>
          </a:xfrm>
          <a:prstGeom prst="rect">
            <a:avLst/>
          </a:prstGeom>
          <a:noFill/>
        </p:spPr>
        <p:txBody>
          <a:bodyPr wrap="square" lIns="0" rIns="0" tIns="0" bIns="0" anchor="ctr">
            <a:spAutoFit/>
          </a:bodyPr>
          <a:lstStyle/>
          <a:p>
            <a:pPr algn="ctr">
              <a:spcAft>
                <a:spcPts val="0"/>
              </a:spcAft>
            </a:pPr>
            <a:r>
              <a:rPr sz="1300" b="1">
                <a:solidFill>
                  <a:srgbClr val="440099"/>
                </a:solidFill>
                <a:latin typeface="Arial"/>
              </a:rPr>
              <a:t>Local depot</a:t>
            </a:r>
          </a:p>
        </p:txBody>
      </p:sp>
      <p:sp>
        <p:nvSpPr>
          <p:cNvPr id="16" name="Arrow"/>
          <p:cNvSpPr/>
          <p:nvPr/>
        </p:nvSpPr>
        <p:spPr>
          <a:xfrm>
            <a:off x="9272016" y="1536192"/>
            <a:ext cx="182880" cy="219456"/>
          </a:xfrm>
          <a:prstGeom prst="rightArrow">
            <a:avLst/>
          </a:prstGeom>
          <a:solidFill>
            <a:srgbClr val="FF63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tage 5"/>
          <p:cNvSpPr/>
          <p:nvPr/>
        </p:nvSpPr>
        <p:spPr>
          <a:xfrm>
            <a:off x="9518904" y="1417320"/>
            <a:ext cx="1874519" cy="457200"/>
          </a:xfrm>
          <a:prstGeom prst="roundRect">
            <a:avLst>
              <a:gd name="adj" fmla="val 30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age 5 text"/>
          <p:cNvSpPr txBox="1"/>
          <p:nvPr/>
        </p:nvSpPr>
        <p:spPr>
          <a:xfrm>
            <a:off x="9518904" y="1417320"/>
            <a:ext cx="1874519" cy="457200"/>
          </a:xfrm>
          <a:prstGeom prst="rect">
            <a:avLst/>
          </a:prstGeom>
          <a:noFill/>
        </p:spPr>
        <p:txBody>
          <a:bodyPr wrap="square" lIns="0" rIns="0" tIns="0" bIns="0" anchor="ctr">
            <a:spAutoFit/>
          </a:bodyPr>
          <a:lstStyle/>
          <a:p>
            <a:pPr algn="ctr">
              <a:spcAft>
                <a:spcPts val="0"/>
              </a:spcAft>
            </a:pPr>
            <a:r>
              <a:rPr sz="1300" b="1">
                <a:solidFill>
                  <a:srgbClr val="FFFFFF"/>
                </a:solidFill>
                <a:latin typeface="Arial"/>
              </a:rPr>
              <a:t>You</a:t>
            </a:r>
          </a:p>
        </p:txBody>
      </p:sp>
      <p:sp>
        <p:nvSpPr>
          <p:cNvPr id="19" name="Last mile note"/>
          <p:cNvSpPr txBox="1"/>
          <p:nvPr/>
        </p:nvSpPr>
        <p:spPr>
          <a:xfrm>
            <a:off x="7178040" y="1938528"/>
            <a:ext cx="4206240" cy="292608"/>
          </a:xfrm>
          <a:prstGeom prst="rect">
            <a:avLst/>
          </a:prstGeom>
          <a:noFill/>
        </p:spPr>
        <p:txBody>
          <a:bodyPr wrap="square" lIns="0" rIns="0" tIns="0" bIns="0" anchor="t">
            <a:spAutoFit/>
          </a:bodyPr>
          <a:lstStyle/>
          <a:p>
            <a:pPr algn="r">
              <a:spcAft>
                <a:spcPts val="0"/>
              </a:spcAft>
            </a:pPr>
            <a:r>
              <a:rPr sz="1200" b="1">
                <a:solidFill>
                  <a:srgbClr val="FF6371"/>
                </a:solidFill>
                <a:latin typeface="Arial"/>
              </a:rPr>
              <a:t>The last mile: </a:t>
            </a:r>
            <a:r>
              <a:rPr sz="1200" b="0">
                <a:solidFill>
                  <a:srgbClr val="131E29"/>
                </a:solidFill>
                <a:latin typeface="Arial"/>
              </a:rPr>
              <a:t>about 41% of logistics costs</a:t>
            </a:r>
          </a:p>
        </p:txBody>
      </p:sp>
      <p:sp>
        <p:nvSpPr>
          <p:cNvPr id="20" name="Home delivery card"/>
          <p:cNvSpPr/>
          <p:nvPr/>
        </p:nvSpPr>
        <p:spPr>
          <a:xfrm>
            <a:off x="813816" y="2377440"/>
            <a:ext cx="2487168" cy="2468880"/>
          </a:xfrm>
          <a:prstGeom prst="roundRect">
            <a:avLst>
              <a:gd name="adj" fmla="val 4000"/>
            </a:avLst>
          </a:prstGeom>
          <a:solidFill>
            <a:srgbClr val="E6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ome delivery accent"/>
          <p:cNvSpPr/>
          <p:nvPr/>
        </p:nvSpPr>
        <p:spPr>
          <a:xfrm>
            <a:off x="813816" y="2377440"/>
            <a:ext cx="2487168" cy="73152"/>
          </a:xfrm>
          <a:prstGeom prst="rect">
            <a:avLst/>
          </a:prstGeom>
          <a:solidFill>
            <a:srgbClr val="00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ome delivery text"/>
          <p:cNvSpPr txBox="1"/>
          <p:nvPr/>
        </p:nvSpPr>
        <p:spPr>
          <a:xfrm>
            <a:off x="996696" y="2578608"/>
            <a:ext cx="2121408" cy="2194560"/>
          </a:xfrm>
          <a:prstGeom prst="rect">
            <a:avLst/>
          </a:prstGeom>
          <a:noFill/>
        </p:spPr>
        <p:txBody>
          <a:bodyPr wrap="square" lIns="0" rIns="0" tIns="0" bIns="0" anchor="t">
            <a:spAutoFit/>
          </a:bodyPr>
          <a:lstStyle/>
          <a:p>
            <a:pPr algn="l">
              <a:spcAft>
                <a:spcPts val="600"/>
              </a:spcAft>
            </a:pPr>
            <a:r>
              <a:rPr sz="1500" b="1">
                <a:solidFill>
                  <a:srgbClr val="005A8F"/>
                </a:solidFill>
                <a:latin typeface="Arial"/>
              </a:rPr>
              <a:t>Home delivery</a:t>
            </a:r>
          </a:p>
          <a:p>
            <a:pPr algn="l">
              <a:spcAft>
                <a:spcPts val="800"/>
              </a:spcAft>
            </a:pPr>
            <a:r>
              <a:rPr sz="1200" b="0">
                <a:solidFill>
                  <a:srgbClr val="131E29"/>
                </a:solidFill>
                <a:latin typeface="Arial"/>
              </a:rPr>
              <a:t>To your door: Amazon, Royal Mail, Evri.</a:t>
            </a:r>
          </a:p>
          <a:p>
            <a:pPr algn="l">
              <a:spcAft>
                <a:spcPts val="0"/>
              </a:spcAft>
            </a:pPr>
            <a:r>
              <a:rPr sz="1200" b="1">
                <a:solidFill>
                  <a:srgbClr val="005A8F"/>
                </a:solidFill>
                <a:latin typeface="Arial"/>
              </a:rPr>
              <a:t>Operations: </a:t>
            </a:r>
            <a:r>
              <a:rPr sz="1200" b="0">
                <a:solidFill>
                  <a:srgbClr val="131E29"/>
                </a:solidFill>
                <a:latin typeface="Arial"/>
              </a:rPr>
              <a:t>Scattered drops, one parcel per stop; failed deliveries mean a second trip.</a:t>
            </a:r>
          </a:p>
        </p:txBody>
      </p:sp>
      <p:sp>
        <p:nvSpPr>
          <p:cNvPr id="23" name="Lockers and pick-up points card"/>
          <p:cNvSpPr/>
          <p:nvPr/>
        </p:nvSpPr>
        <p:spPr>
          <a:xfrm>
            <a:off x="3511296" y="2377440"/>
            <a:ext cx="2487168" cy="2468880"/>
          </a:xfrm>
          <a:prstGeom prst="roundRect">
            <a:avLst>
              <a:gd name="adj" fmla="val 4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ockers and pick-up points accent"/>
          <p:cNvSpPr/>
          <p:nvPr/>
        </p:nvSpPr>
        <p:spPr>
          <a:xfrm>
            <a:off x="3511296" y="2377440"/>
            <a:ext cx="2487168"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ockers and pick-up points text"/>
          <p:cNvSpPr txBox="1"/>
          <p:nvPr/>
        </p:nvSpPr>
        <p:spPr>
          <a:xfrm>
            <a:off x="3694176" y="2578608"/>
            <a:ext cx="2121408" cy="2194560"/>
          </a:xfrm>
          <a:prstGeom prst="rect">
            <a:avLst/>
          </a:prstGeom>
          <a:noFill/>
        </p:spPr>
        <p:txBody>
          <a:bodyPr wrap="square" lIns="0" rIns="0" tIns="0" bIns="0" anchor="t">
            <a:spAutoFit/>
          </a:bodyPr>
          <a:lstStyle/>
          <a:p>
            <a:pPr algn="l">
              <a:spcAft>
                <a:spcPts val="600"/>
              </a:spcAft>
            </a:pPr>
            <a:r>
              <a:rPr sz="1500" b="1">
                <a:solidFill>
                  <a:srgbClr val="2E7D32"/>
                </a:solidFill>
                <a:latin typeface="Arial"/>
              </a:rPr>
              <a:t>Lockers and pick-up points</a:t>
            </a:r>
          </a:p>
          <a:p>
            <a:pPr algn="l">
              <a:spcAft>
                <a:spcPts val="800"/>
              </a:spcAft>
            </a:pPr>
            <a:r>
              <a:rPr sz="1200" b="0">
                <a:solidFill>
                  <a:srgbClr val="131E29"/>
                </a:solidFill>
                <a:latin typeface="Arial"/>
              </a:rPr>
              <a:t>InPost had 12,000 UK lockers by October 2025; Vinted and Amazon Lockers.</a:t>
            </a:r>
          </a:p>
          <a:p>
            <a:pPr algn="l">
              <a:spcAft>
                <a:spcPts val="0"/>
              </a:spcAft>
            </a:pPr>
            <a:r>
              <a:rPr sz="1200" b="1">
                <a:solidFill>
                  <a:srgbClr val="2E7D32"/>
                </a:solidFill>
                <a:latin typeface="Arial"/>
              </a:rPr>
              <a:t>Operations: </a:t>
            </a:r>
            <a:r>
              <a:rPr sz="1200" b="0">
                <a:solidFill>
                  <a:srgbClr val="131E29"/>
                </a:solidFill>
                <a:latin typeface="Arial"/>
              </a:rPr>
              <a:t>Many parcels, one stop: the customer walks the final metres.</a:t>
            </a:r>
          </a:p>
        </p:txBody>
      </p:sp>
      <p:sp>
        <p:nvSpPr>
          <p:cNvPr id="26" name="Click and collect card"/>
          <p:cNvSpPr/>
          <p:nvPr/>
        </p:nvSpPr>
        <p:spPr>
          <a:xfrm>
            <a:off x="6208776" y="2377440"/>
            <a:ext cx="2487168" cy="2468880"/>
          </a:xfrm>
          <a:prstGeom prst="roundRect">
            <a:avLst>
              <a:gd name="adj" fmla="val 4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ick and collect accent"/>
          <p:cNvSpPr/>
          <p:nvPr/>
        </p:nvSpPr>
        <p:spPr>
          <a:xfrm>
            <a:off x="6208776" y="2377440"/>
            <a:ext cx="2487168" cy="73152"/>
          </a:xfrm>
          <a:prstGeom prst="rect">
            <a:avLst/>
          </a:prstGeom>
          <a:solidFill>
            <a:srgbClr val="A6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lick and collect text"/>
          <p:cNvSpPr txBox="1"/>
          <p:nvPr/>
        </p:nvSpPr>
        <p:spPr>
          <a:xfrm>
            <a:off x="6391656" y="2578608"/>
            <a:ext cx="2121408" cy="2194560"/>
          </a:xfrm>
          <a:prstGeom prst="rect">
            <a:avLst/>
          </a:prstGeom>
          <a:noFill/>
        </p:spPr>
        <p:txBody>
          <a:bodyPr wrap="square" lIns="0" rIns="0" tIns="0" bIns="0" anchor="t">
            <a:spAutoFit/>
          </a:bodyPr>
          <a:lstStyle/>
          <a:p>
            <a:pPr algn="l">
              <a:spcAft>
                <a:spcPts val="600"/>
              </a:spcAft>
            </a:pPr>
            <a:r>
              <a:rPr sz="1500" b="1">
                <a:solidFill>
                  <a:srgbClr val="A65F00"/>
                </a:solidFill>
                <a:latin typeface="Arial"/>
              </a:rPr>
              <a:t>Click and collect</a:t>
            </a:r>
          </a:p>
          <a:p>
            <a:pPr algn="l">
              <a:spcAft>
                <a:spcPts val="800"/>
              </a:spcAft>
            </a:pPr>
            <a:r>
              <a:rPr sz="1200" b="0">
                <a:solidFill>
                  <a:srgbClr val="131E29"/>
                </a:solidFill>
                <a:latin typeface="Arial"/>
              </a:rPr>
              <a:t>Order online, collect in store: Argos, Next.</a:t>
            </a:r>
          </a:p>
          <a:p>
            <a:pPr algn="l">
              <a:spcAft>
                <a:spcPts val="0"/>
              </a:spcAft>
            </a:pPr>
            <a:r>
              <a:rPr sz="1200" b="1">
                <a:solidFill>
                  <a:srgbClr val="A65F00"/>
                </a:solidFill>
                <a:latin typeface="Arial"/>
              </a:rPr>
              <a:t>Operations: </a:t>
            </a:r>
            <a:r>
              <a:rPr sz="1200" b="0">
                <a:solidFill>
                  <a:srgbClr val="131E29"/>
                </a:solidFill>
                <a:latin typeface="Arial"/>
              </a:rPr>
              <a:t>The store becomes the depot and the customer does the transport.</a:t>
            </a:r>
          </a:p>
        </p:txBody>
      </p:sp>
      <p:sp>
        <p:nvSpPr>
          <p:cNvPr id="29" name="Rapid and on-demand card"/>
          <p:cNvSpPr/>
          <p:nvPr/>
        </p:nvSpPr>
        <p:spPr>
          <a:xfrm>
            <a:off x="8906256" y="2377440"/>
            <a:ext cx="2487168" cy="2468880"/>
          </a:xfrm>
          <a:prstGeom prst="roundRect">
            <a:avLst>
              <a:gd name="adj" fmla="val 4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apid and on-demand accent"/>
          <p:cNvSpPr/>
          <p:nvPr/>
        </p:nvSpPr>
        <p:spPr>
          <a:xfrm>
            <a:off x="8906256" y="2377440"/>
            <a:ext cx="2487168" cy="73152"/>
          </a:xfrm>
          <a:prstGeom prst="rect">
            <a:avLst/>
          </a:prstGeom>
          <a:solidFill>
            <a:srgbClr val="B42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apid and on-demand text"/>
          <p:cNvSpPr txBox="1"/>
          <p:nvPr/>
        </p:nvSpPr>
        <p:spPr>
          <a:xfrm>
            <a:off x="9089136" y="2578608"/>
            <a:ext cx="2121408" cy="2194560"/>
          </a:xfrm>
          <a:prstGeom prst="rect">
            <a:avLst/>
          </a:prstGeom>
          <a:noFill/>
        </p:spPr>
        <p:txBody>
          <a:bodyPr wrap="square" lIns="0" rIns="0" tIns="0" bIns="0" anchor="t">
            <a:spAutoFit/>
          </a:bodyPr>
          <a:lstStyle/>
          <a:p>
            <a:pPr algn="l">
              <a:spcAft>
                <a:spcPts val="600"/>
              </a:spcAft>
            </a:pPr>
            <a:r>
              <a:rPr sz="1500" b="1">
                <a:solidFill>
                  <a:srgbClr val="B4232F"/>
                </a:solidFill>
                <a:latin typeface="Arial"/>
              </a:rPr>
              <a:t>Rapid and on-demand</a:t>
            </a:r>
          </a:p>
          <a:p>
            <a:pPr algn="l">
              <a:spcAft>
                <a:spcPts val="800"/>
              </a:spcAft>
            </a:pPr>
            <a:r>
              <a:rPr sz="1200" b="0">
                <a:solidFill>
                  <a:srgbClr val="131E29"/>
                </a:solidFill>
                <a:latin typeface="Arial"/>
              </a:rPr>
              <a:t>Riders in minutes: Deliveroo, Uber Eats. Getir and Gorillas quit the UK in 2024.</a:t>
            </a:r>
          </a:p>
          <a:p>
            <a:pPr algn="l">
              <a:spcAft>
                <a:spcPts val="0"/>
              </a:spcAft>
            </a:pPr>
            <a:r>
              <a:rPr sz="1200" b="1">
                <a:solidFill>
                  <a:srgbClr val="B4232F"/>
                </a:solidFill>
                <a:latin typeface="Arial"/>
              </a:rPr>
              <a:t>Operations: </a:t>
            </a:r>
            <a:r>
              <a:rPr sz="1200" b="0">
                <a:solidFill>
                  <a:srgbClr val="131E29"/>
                </a:solidFill>
                <a:latin typeface="Arial"/>
              </a:rPr>
              <a:t>Tiny orders, high labour cost per drop; speed only pays with density and margin.</a:t>
            </a:r>
          </a:p>
        </p:txBody>
      </p:sp>
      <p:sp>
        <p:nvSpPr>
          <p:cNvPr id="32" name="Callout"/>
          <p:cNvSpPr/>
          <p:nvPr/>
        </p:nvSpPr>
        <p:spPr>
          <a:xfrm>
            <a:off x="813816" y="5074920"/>
            <a:ext cx="10570464" cy="1005840"/>
          </a:xfrm>
          <a:prstGeom prst="roundRect">
            <a:avLst>
              <a:gd name="adj" fmla="val 10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allout text"/>
          <p:cNvSpPr txBox="1"/>
          <p:nvPr/>
        </p:nvSpPr>
        <p:spPr>
          <a:xfrm>
            <a:off x="1051560" y="5074920"/>
            <a:ext cx="10149840" cy="1005840"/>
          </a:xfrm>
          <a:prstGeom prst="rect">
            <a:avLst/>
          </a:prstGeom>
          <a:noFill/>
        </p:spPr>
        <p:txBody>
          <a:bodyPr wrap="square" lIns="0" rIns="0" tIns="0" bIns="0" anchor="ctr">
            <a:spAutoFit/>
          </a:bodyPr>
          <a:lstStyle/>
          <a:p>
            <a:pPr algn="l">
              <a:spcAft>
                <a:spcPts val="0"/>
              </a:spcAft>
            </a:pPr>
            <a:r>
              <a:rPr sz="1500" b="1">
                <a:solidFill>
                  <a:srgbClr val="FFFFFF"/>
                </a:solidFill>
                <a:latin typeface="Arial"/>
              </a:rPr>
              <a:t>The customer sees one moment at the door. </a:t>
            </a:r>
            <a:r>
              <a:rPr sz="1500" b="0">
                <a:solidFill>
                  <a:srgbClr val="E6DBF5"/>
                </a:solidFill>
                <a:latin typeface="Arial"/>
              </a:rPr>
              <a:t>Behind it, operations must design drop density, delivery windows, capacity at peaks, failed deliveries and returns.</a:t>
            </a:r>
          </a:p>
        </p:txBody>
      </p:sp>
      <p:sp>
        <p:nvSpPr>
          <p:cNvPr id="34" name="Source"/>
          <p:cNvSpPr txBox="1"/>
          <p:nvPr/>
        </p:nvSpPr>
        <p:spPr>
          <a:xfrm>
            <a:off x="813816" y="6291072"/>
            <a:ext cx="9052560" cy="237744"/>
          </a:xfrm>
          <a:prstGeom prst="rect">
            <a:avLst/>
          </a:prstGeom>
          <a:noFill/>
        </p:spPr>
        <p:txBody>
          <a:bodyPr wrap="square" lIns="0" rIns="0" tIns="0" bIns="0" anchor="t">
            <a:spAutoFit/>
          </a:bodyPr>
          <a:lstStyle/>
          <a:p>
            <a:pPr algn="l">
              <a:spcAft>
                <a:spcPts val="0"/>
              </a:spcAft>
            </a:pPr>
            <a:r>
              <a:rPr sz="1000" b="0">
                <a:solidFill>
                  <a:srgbClr val="5E6977"/>
                </a:solidFill>
                <a:latin typeface="Arial"/>
              </a:rPr>
              <a:t>Sources: Capgemini Research Institute (2019); InPost (23 Oct 2025); Food Manufacture (29 Apr 2024)</a:t>
            </a:r>
          </a:p>
        </p:txBody>
      </p:sp>
      <p:sp>
        <p:nvSpPr>
          <p:cNvPr id="35" name="Page number"/>
          <p:cNvSpPr txBox="1"/>
          <p:nvPr/>
        </p:nvSpPr>
        <p:spPr>
          <a:xfrm>
            <a:off x="10058400" y="6291072"/>
            <a:ext cx="1316736" cy="237744"/>
          </a:xfrm>
          <a:prstGeom prst="rect">
            <a:avLst/>
          </a:prstGeom>
          <a:noFill/>
        </p:spPr>
        <p:txBody>
          <a:bodyPr wrap="square" lIns="0" rIns="0" tIns="0" bIns="0" anchor="t">
            <a:spAutoFit/>
          </a:bodyPr>
          <a:lstStyle/>
          <a:p>
            <a:pPr algn="r">
              <a:spcAft>
                <a:spcPts val="0"/>
              </a:spcAft>
            </a:pPr>
            <a:r>
              <a:rPr sz="1200" b="0">
                <a:solidFill>
                  <a:srgbClr val="5E6977"/>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Label"/>
          <p:cNvSpPr txBox="1"/>
          <p:nvPr/>
        </p:nvSpPr>
        <p:spPr>
          <a:xfrm>
            <a:off x="813816" y="228600"/>
            <a:ext cx="7315200" cy="292608"/>
          </a:xfrm>
          <a:prstGeom prst="rect">
            <a:avLst/>
          </a:prstGeom>
          <a:noFill/>
        </p:spPr>
        <p:txBody>
          <a:bodyPr wrap="square" lIns="0" rIns="0" tIns="0" bIns="0" anchor="t">
            <a:spAutoFit/>
          </a:bodyPr>
          <a:lstStyle/>
          <a:p>
            <a:pPr algn="l">
              <a:spcAft>
                <a:spcPts val="0"/>
              </a:spcAft>
            </a:pPr>
            <a:r>
              <a:rPr sz="1200" b="1">
                <a:solidFill>
                  <a:srgbClr val="FF6371"/>
                </a:solidFill>
                <a:latin typeface="Arial"/>
              </a:rPr>
              <a:t>DELIVERING THE OUTPUT · CRITICAL VIEW</a:t>
            </a:r>
          </a:p>
        </p:txBody>
      </p:sp>
      <p:sp>
        <p:nvSpPr>
          <p:cNvPr id="3" name="Title"/>
          <p:cNvSpPr txBox="1"/>
          <p:nvPr/>
        </p:nvSpPr>
        <p:spPr>
          <a:xfrm>
            <a:off x="658368" y="612648"/>
            <a:ext cx="10881360" cy="448056"/>
          </a:xfrm>
          <a:prstGeom prst="rect">
            <a:avLst/>
          </a:prstGeom>
          <a:noFill/>
        </p:spPr>
        <p:txBody>
          <a:bodyPr wrap="square" lIns="0" rIns="0" tIns="0" bIns="0" anchor="t">
            <a:spAutoFit/>
          </a:bodyPr>
          <a:lstStyle/>
          <a:p>
            <a:pPr algn="l">
              <a:spcAft>
                <a:spcPts val="0"/>
              </a:spcAft>
            </a:pPr>
            <a:r>
              <a:rPr sz="3000" b="1">
                <a:solidFill>
                  <a:srgbClr val="440099"/>
                </a:solidFill>
                <a:latin typeface="Arial"/>
              </a:rPr>
              <a:t>Who Pays for ‘Free’ Next-Day Delivery?</a:t>
            </a:r>
          </a:p>
        </p:txBody>
      </p:sp>
      <p:cxnSp>
        <p:nvCxnSpPr>
          <p:cNvPr id="4" name="Divider"/>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5" name="The customer card"/>
          <p:cNvSpPr/>
          <p:nvPr/>
        </p:nvSpPr>
        <p:spPr>
          <a:xfrm>
            <a:off x="813816" y="1417320"/>
            <a:ext cx="2487168" cy="3108960"/>
          </a:xfrm>
          <a:prstGeom prst="roundRect">
            <a:avLst>
              <a:gd name="adj" fmla="val 4000"/>
            </a:avLst>
          </a:prstGeom>
          <a:solidFill>
            <a:srgbClr val="E6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he customer accent"/>
          <p:cNvSpPr/>
          <p:nvPr/>
        </p:nvSpPr>
        <p:spPr>
          <a:xfrm>
            <a:off x="813816" y="1417320"/>
            <a:ext cx="2487168" cy="73152"/>
          </a:xfrm>
          <a:prstGeom prst="rect">
            <a:avLst/>
          </a:prstGeom>
          <a:solidFill>
            <a:srgbClr val="00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he customer text"/>
          <p:cNvSpPr txBox="1"/>
          <p:nvPr/>
        </p:nvSpPr>
        <p:spPr>
          <a:xfrm>
            <a:off x="996696" y="1618488"/>
            <a:ext cx="2121408" cy="2834640"/>
          </a:xfrm>
          <a:prstGeom prst="rect">
            <a:avLst/>
          </a:prstGeom>
          <a:noFill/>
        </p:spPr>
        <p:txBody>
          <a:bodyPr wrap="square" lIns="0" rIns="0" tIns="0" bIns="0" anchor="t">
            <a:spAutoFit/>
          </a:bodyPr>
          <a:lstStyle/>
          <a:p>
            <a:pPr algn="l">
              <a:spcAft>
                <a:spcPts val="800"/>
              </a:spcAft>
            </a:pPr>
            <a:r>
              <a:rPr sz="1600" b="1">
                <a:solidFill>
                  <a:srgbClr val="005A8F"/>
                </a:solidFill>
                <a:latin typeface="Arial"/>
              </a:rPr>
              <a:t>The customer</a:t>
            </a:r>
          </a:p>
          <a:p>
            <a:pPr algn="l">
              <a:spcAft>
                <a:spcPts val="0"/>
              </a:spcAft>
            </a:pPr>
            <a:r>
              <a:rPr sz="1400" b="0">
                <a:solidFill>
                  <a:srgbClr val="131E29"/>
                </a:solidFill>
                <a:latin typeface="Arial"/>
              </a:rPr>
              <a:t>Delivery costs are built into prices, minimum baskets and memberships such as Prime. ‘Free’ is a pricing choice, not a cost that disappears.</a:t>
            </a:r>
          </a:p>
        </p:txBody>
      </p:sp>
      <p:sp>
        <p:nvSpPr>
          <p:cNvPr id="8" name="The rider or driver card"/>
          <p:cNvSpPr/>
          <p:nvPr/>
        </p:nvSpPr>
        <p:spPr>
          <a:xfrm>
            <a:off x="3511296" y="1417320"/>
            <a:ext cx="2487168" cy="3108960"/>
          </a:xfrm>
          <a:prstGeom prst="roundRect">
            <a:avLst>
              <a:gd name="adj" fmla="val 4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he rider or driver accent"/>
          <p:cNvSpPr/>
          <p:nvPr/>
        </p:nvSpPr>
        <p:spPr>
          <a:xfrm>
            <a:off x="3511296" y="1417320"/>
            <a:ext cx="2487168" cy="73152"/>
          </a:xfrm>
          <a:prstGeom prst="rect">
            <a:avLst/>
          </a:prstGeom>
          <a:solidFill>
            <a:srgbClr val="B42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he rider or driver text"/>
          <p:cNvSpPr txBox="1"/>
          <p:nvPr/>
        </p:nvSpPr>
        <p:spPr>
          <a:xfrm>
            <a:off x="3694176" y="1618488"/>
            <a:ext cx="2121408" cy="2834640"/>
          </a:xfrm>
          <a:prstGeom prst="rect">
            <a:avLst/>
          </a:prstGeom>
          <a:noFill/>
        </p:spPr>
        <p:txBody>
          <a:bodyPr wrap="square" lIns="0" rIns="0" tIns="0" bIns="0" anchor="t">
            <a:spAutoFit/>
          </a:bodyPr>
          <a:lstStyle/>
          <a:p>
            <a:pPr algn="l">
              <a:spcAft>
                <a:spcPts val="800"/>
              </a:spcAft>
            </a:pPr>
            <a:r>
              <a:rPr sz="1600" b="1">
                <a:solidFill>
                  <a:srgbClr val="B4232F"/>
                </a:solidFill>
                <a:latin typeface="Arial"/>
              </a:rPr>
              <a:t>The rider or driver</a:t>
            </a:r>
          </a:p>
          <a:p>
            <a:pPr algn="l">
              <a:spcAft>
                <a:spcPts val="0"/>
              </a:spcAft>
            </a:pPr>
            <a:r>
              <a:rPr sz="1400" b="0">
                <a:solidFill>
                  <a:srgbClr val="131E29"/>
                </a:solidFill>
                <a:latin typeface="Arial"/>
              </a:rPr>
              <a:t>Much of the last mile runs on self-employed couriers paid per drop. In 2023 the UK Supreme Court ruled Deliveroo riders are not workers with collective bargaining rights.</a:t>
            </a:r>
          </a:p>
        </p:txBody>
      </p:sp>
      <p:sp>
        <p:nvSpPr>
          <p:cNvPr id="11" name="The city and the planet card"/>
          <p:cNvSpPr/>
          <p:nvPr/>
        </p:nvSpPr>
        <p:spPr>
          <a:xfrm>
            <a:off x="6208776" y="1417320"/>
            <a:ext cx="2487168" cy="3108960"/>
          </a:xfrm>
          <a:prstGeom prst="roundRect">
            <a:avLst>
              <a:gd name="adj" fmla="val 4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he city and the planet accent"/>
          <p:cNvSpPr/>
          <p:nvPr/>
        </p:nvSpPr>
        <p:spPr>
          <a:xfrm>
            <a:off x="6208776" y="1417320"/>
            <a:ext cx="2487168"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he city and the planet text"/>
          <p:cNvSpPr txBox="1"/>
          <p:nvPr/>
        </p:nvSpPr>
        <p:spPr>
          <a:xfrm>
            <a:off x="6391656" y="1618488"/>
            <a:ext cx="2121408" cy="2834640"/>
          </a:xfrm>
          <a:prstGeom prst="rect">
            <a:avLst/>
          </a:prstGeom>
          <a:noFill/>
        </p:spPr>
        <p:txBody>
          <a:bodyPr wrap="square" lIns="0" rIns="0" tIns="0" bIns="0" anchor="t">
            <a:spAutoFit/>
          </a:bodyPr>
          <a:lstStyle/>
          <a:p>
            <a:pPr algn="l">
              <a:spcAft>
                <a:spcPts val="800"/>
              </a:spcAft>
            </a:pPr>
            <a:r>
              <a:rPr sz="1600" b="1">
                <a:solidFill>
                  <a:srgbClr val="2E7D32"/>
                </a:solidFill>
                <a:latin typeface="Arial"/>
              </a:rPr>
              <a:t>The city and the planet</a:t>
            </a:r>
          </a:p>
          <a:p>
            <a:pPr algn="l">
              <a:spcAft>
                <a:spcPts val="0"/>
              </a:spcAft>
            </a:pPr>
            <a:r>
              <a:rPr sz="1400" b="0">
                <a:solidFill>
                  <a:srgbClr val="131E29"/>
                </a:solidFill>
                <a:latin typeface="Arial"/>
              </a:rPr>
              <a:t>More vans, congestion and emissions; failed deliveries and free returns double the trips. Faster promises mean fuller schedules and emptier vans.</a:t>
            </a:r>
          </a:p>
        </p:txBody>
      </p:sp>
      <p:sp>
        <p:nvSpPr>
          <p:cNvPr id="14" name="The firm card"/>
          <p:cNvSpPr/>
          <p:nvPr/>
        </p:nvSpPr>
        <p:spPr>
          <a:xfrm>
            <a:off x="8906256" y="1417320"/>
            <a:ext cx="2487168" cy="3108960"/>
          </a:xfrm>
          <a:prstGeom prst="roundRect">
            <a:avLst>
              <a:gd name="adj" fmla="val 4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he firm accent"/>
          <p:cNvSpPr/>
          <p:nvPr/>
        </p:nvSpPr>
        <p:spPr>
          <a:xfrm>
            <a:off x="8906256" y="1417320"/>
            <a:ext cx="2487168" cy="73152"/>
          </a:xfrm>
          <a:prstGeom prst="rect">
            <a:avLst/>
          </a:prstGeom>
          <a:solidFill>
            <a:srgbClr val="A6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he firm text"/>
          <p:cNvSpPr txBox="1"/>
          <p:nvPr/>
        </p:nvSpPr>
        <p:spPr>
          <a:xfrm>
            <a:off x="9089136" y="1618488"/>
            <a:ext cx="2121408" cy="2834640"/>
          </a:xfrm>
          <a:prstGeom prst="rect">
            <a:avLst/>
          </a:prstGeom>
          <a:noFill/>
        </p:spPr>
        <p:txBody>
          <a:bodyPr wrap="square" lIns="0" rIns="0" tIns="0" bIns="0" anchor="t">
            <a:spAutoFit/>
          </a:bodyPr>
          <a:lstStyle/>
          <a:p>
            <a:pPr algn="l">
              <a:spcAft>
                <a:spcPts val="800"/>
              </a:spcAft>
            </a:pPr>
            <a:r>
              <a:rPr sz="1600" b="1">
                <a:solidFill>
                  <a:srgbClr val="A65F00"/>
                </a:solidFill>
                <a:latin typeface="Arial"/>
              </a:rPr>
              <a:t>The firm</a:t>
            </a:r>
          </a:p>
          <a:p>
            <a:pPr algn="l">
              <a:spcAft>
                <a:spcPts val="0"/>
              </a:spcAft>
            </a:pPr>
            <a:r>
              <a:rPr sz="1400" b="0">
                <a:solidFill>
                  <a:srgbClr val="131E29"/>
                </a:solidFill>
                <a:latin typeface="Arial"/>
              </a:rPr>
              <a:t>About 41% of logistics costs sit in the last mile. Quick commerce showed that speed without density and margin is unprofitable.</a:t>
            </a:r>
          </a:p>
        </p:txBody>
      </p:sp>
      <p:sp>
        <p:nvSpPr>
          <p:cNvPr id="17" name="React box"/>
          <p:cNvSpPr/>
          <p:nvPr/>
        </p:nvSpPr>
        <p:spPr>
          <a:xfrm>
            <a:off x="813816" y="4754880"/>
            <a:ext cx="10570464" cy="1280160"/>
          </a:xfrm>
          <a:prstGeom prst="roundRect">
            <a:avLst>
              <a:gd name="adj" fmla="val 10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act text"/>
          <p:cNvSpPr txBox="1"/>
          <p:nvPr/>
        </p:nvSpPr>
        <p:spPr>
          <a:xfrm>
            <a:off x="1051560" y="4754880"/>
            <a:ext cx="10149840" cy="1280160"/>
          </a:xfrm>
          <a:prstGeom prst="rect">
            <a:avLst/>
          </a:prstGeom>
          <a:noFill/>
        </p:spPr>
        <p:txBody>
          <a:bodyPr wrap="square" lIns="0" rIns="0" tIns="0" bIns="0" anchor="ctr">
            <a:spAutoFit/>
          </a:bodyPr>
          <a:lstStyle/>
          <a:p>
            <a:pPr algn="l">
              <a:spcAft>
                <a:spcPts val="400"/>
              </a:spcAft>
            </a:pPr>
            <a:r>
              <a:rPr sz="1500" b="1">
                <a:solidFill>
                  <a:srgbClr val="9ADBE8"/>
                </a:solidFill>
                <a:latin typeface="Arial"/>
              </a:rPr>
              <a:t>Pairs, 2 minutes: </a:t>
            </a:r>
            <a:r>
              <a:rPr sz="1500" b="0">
                <a:solidFill>
                  <a:srgbClr val="FFFFFF"/>
                </a:solidFill>
                <a:latin typeface="Arial"/>
              </a:rPr>
              <a:t>your parcel arrives free tomorrow. Name one actor who pays for it. </a:t>
            </a:r>
          </a:p>
          <a:p>
            <a:pPr algn="l">
              <a:spcAft>
                <a:spcPts val="0"/>
              </a:spcAft>
            </a:pPr>
            <a:r>
              <a:rPr sz="1500" b="0">
                <a:solidFill>
                  <a:srgbClr val="E6DBF5"/>
                </a:solidFill>
                <a:latin typeface="Arial"/>
              </a:rPr>
              <a:t>Then: would you wait three days, or walk to a locker, to make the last mile fairer or greener? Most of us say yes, and click ‘next day’.</a:t>
            </a:r>
          </a:p>
        </p:txBody>
      </p:sp>
      <p:sp>
        <p:nvSpPr>
          <p:cNvPr id="19" name="Source"/>
          <p:cNvSpPr txBox="1"/>
          <p:nvPr/>
        </p:nvSpPr>
        <p:spPr>
          <a:xfrm>
            <a:off x="813816" y="6291072"/>
            <a:ext cx="9052560" cy="237744"/>
          </a:xfrm>
          <a:prstGeom prst="rect">
            <a:avLst/>
          </a:prstGeom>
          <a:noFill/>
        </p:spPr>
        <p:txBody>
          <a:bodyPr wrap="square" lIns="0" rIns="0" tIns="0" bIns="0" anchor="t">
            <a:spAutoFit/>
          </a:bodyPr>
          <a:lstStyle/>
          <a:p>
            <a:pPr algn="l">
              <a:spcAft>
                <a:spcPts val="0"/>
              </a:spcAft>
            </a:pPr>
            <a:r>
              <a:rPr sz="1000" b="0">
                <a:solidFill>
                  <a:srgbClr val="5E6977"/>
                </a:solidFill>
                <a:latin typeface="Arial"/>
              </a:rPr>
              <a:t>Sources: Capgemini Research Institute (2019); UK Supreme Court, IWGB v CAC and Deliveroo (21 Nov 2023); Food Manufacture (29 Apr 2024)</a:t>
            </a:r>
          </a:p>
        </p:txBody>
      </p:sp>
      <p:sp>
        <p:nvSpPr>
          <p:cNvPr id="20" name="Page number"/>
          <p:cNvSpPr txBox="1"/>
          <p:nvPr/>
        </p:nvSpPr>
        <p:spPr>
          <a:xfrm>
            <a:off x="10058400" y="6291072"/>
            <a:ext cx="1316736" cy="237744"/>
          </a:xfrm>
          <a:prstGeom prst="rect">
            <a:avLst/>
          </a:prstGeom>
          <a:noFill/>
        </p:spPr>
        <p:txBody>
          <a:bodyPr wrap="square" lIns="0" rIns="0" tIns="0" bIns="0" anchor="t">
            <a:spAutoFit/>
          </a:bodyPr>
          <a:lstStyle/>
          <a:p>
            <a:pPr algn="r">
              <a:spcAft>
                <a:spcPts val="0"/>
              </a:spcAft>
            </a:pPr>
            <a:r>
              <a:rPr sz="1200" b="0">
                <a:solidFill>
                  <a:srgbClr val="5E6977"/>
                </a:solidFill>
                <a:latin typeface="Aria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Label"/>
          <p:cNvSpPr txBox="1"/>
          <p:nvPr/>
        </p:nvSpPr>
        <p:spPr>
          <a:xfrm>
            <a:off x="813816" y="228600"/>
            <a:ext cx="7315200" cy="292608"/>
          </a:xfrm>
          <a:prstGeom prst="rect">
            <a:avLst/>
          </a:prstGeom>
          <a:noFill/>
        </p:spPr>
        <p:txBody>
          <a:bodyPr wrap="square" lIns="0" tIns="0" rIns="0" bIns="0" anchor="t">
            <a:spAutoFit/>
          </a:bodyPr>
          <a:lstStyle/>
          <a:p>
            <a:pPr algn="l">
              <a:spcAft>
                <a:spcPts val="0"/>
              </a:spcAft>
            </a:pPr>
            <a:r>
              <a:rPr sz="1200" b="1">
                <a:solidFill>
                  <a:srgbClr val="FF6371"/>
                </a:solidFill>
                <a:latin typeface="Arial"/>
              </a:rPr>
              <a:t>LIVE CASE · OCTOBER 2026</a:t>
            </a:r>
          </a:p>
        </p:txBody>
      </p:sp>
      <p:sp>
        <p:nvSpPr>
          <p:cNvPr id="3" name="Title"/>
          <p:cNvSpPr txBox="1"/>
          <p:nvPr/>
        </p:nvSpPr>
        <p:spPr>
          <a:xfrm>
            <a:off x="658368" y="612648"/>
            <a:ext cx="10881360" cy="448056"/>
          </a:xfrm>
          <a:prstGeom prst="rect">
            <a:avLst/>
          </a:prstGeom>
          <a:noFill/>
        </p:spPr>
        <p:txBody>
          <a:bodyPr wrap="square" lIns="0" tIns="0" rIns="0" bIns="0" anchor="t">
            <a:spAutoFit/>
          </a:bodyPr>
          <a:lstStyle/>
          <a:p>
            <a:pPr algn="l">
              <a:spcAft>
                <a:spcPts val="0"/>
              </a:spcAft>
            </a:pPr>
            <a:r>
              <a:rPr sz="3000" b="1" dirty="0">
                <a:solidFill>
                  <a:srgbClr val="440099"/>
                </a:solidFill>
                <a:latin typeface="Arial"/>
              </a:rPr>
              <a:t>From a Request to Empty Shelves in Four Days</a:t>
            </a:r>
          </a:p>
        </p:txBody>
      </p:sp>
      <p:cxnSp>
        <p:nvCxnSpPr>
          <p:cNvPr id="4" name="Divider"/>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5" name="Day 0 label"/>
          <p:cNvSpPr txBox="1"/>
          <p:nvPr/>
        </p:nvSpPr>
        <p:spPr>
          <a:xfrm>
            <a:off x="813816" y="1371600"/>
            <a:ext cx="5029200" cy="274320"/>
          </a:xfrm>
          <a:prstGeom prst="rect">
            <a:avLst/>
          </a:prstGeom>
          <a:noFill/>
        </p:spPr>
        <p:txBody>
          <a:bodyPr wrap="square" lIns="0" tIns="0" rIns="0" bIns="0" anchor="t">
            <a:spAutoFit/>
          </a:bodyPr>
          <a:lstStyle/>
          <a:p>
            <a:pPr algn="l">
              <a:spcAft>
                <a:spcPts val="0"/>
              </a:spcAft>
            </a:pPr>
            <a:r>
              <a:rPr sz="1300" b="1">
                <a:solidFill>
                  <a:srgbClr val="005A8F"/>
                </a:solidFill>
                <a:latin typeface="Arial"/>
              </a:rPr>
              <a:t>DAY 0 · THURSDAY 22 OCTOBER</a:t>
            </a:r>
          </a:p>
        </p:txBody>
      </p:sp>
      <p:sp>
        <p:nvSpPr>
          <p:cNvPr id="6" name="Video panel">
            <a:hlinkClick r:id="rId3"/>
          </p:cNvPr>
          <p:cNvSpPr/>
          <p:nvPr/>
        </p:nvSpPr>
        <p:spPr>
          <a:xfrm>
            <a:off x="813816" y="1719072"/>
            <a:ext cx="5029200" cy="2240280"/>
          </a:xfrm>
          <a:prstGeom prst="roundRect">
            <a:avLst>
              <a:gd name="adj" fmla="val 4000"/>
            </a:avLst>
          </a:prstGeom>
          <a:solidFill>
            <a:srgbClr val="13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y button">
            <a:hlinkClick r:id="rId3"/>
          </p:cNvPr>
          <p:cNvSpPr/>
          <p:nvPr/>
        </p:nvSpPr>
        <p:spPr>
          <a:xfrm>
            <a:off x="2962656" y="2176272"/>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lay icon">
            <a:hlinkClick r:id="rId3"/>
          </p:cNvPr>
          <p:cNvSpPr/>
          <p:nvPr/>
        </p:nvSpPr>
        <p:spPr>
          <a:xfrm rot="5400000">
            <a:off x="3200400" y="2359152"/>
            <a:ext cx="329184" cy="365760"/>
          </a:xfrm>
          <a:prstGeom prst="triangle">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Video caption"/>
          <p:cNvSpPr txBox="1"/>
          <p:nvPr/>
        </p:nvSpPr>
        <p:spPr>
          <a:xfrm>
            <a:off x="1005840" y="3063240"/>
            <a:ext cx="4663440" cy="822960"/>
          </a:xfrm>
          <a:prstGeom prst="rect">
            <a:avLst/>
          </a:prstGeom>
          <a:noFill/>
        </p:spPr>
        <p:txBody>
          <a:bodyPr wrap="square" lIns="0" tIns="0" rIns="0" bIns="0" anchor="t">
            <a:spAutoFit/>
          </a:bodyPr>
          <a:lstStyle/>
          <a:p>
            <a:pPr algn="ctr">
              <a:spcAft>
                <a:spcPts val="300"/>
              </a:spcAft>
            </a:pPr>
            <a:r>
              <a:rPr sz="1600" b="1">
                <a:solidFill>
                  <a:srgbClr val="FFFFFF"/>
                </a:solidFill>
                <a:latin typeface="Arial"/>
              </a:rPr>
              <a:t>The Defence Secretary on BBC Question Time</a:t>
            </a:r>
          </a:p>
          <a:p>
            <a:pPr algn="ctr">
              <a:spcAft>
                <a:spcPts val="0"/>
              </a:spcAft>
            </a:pPr>
            <a:r>
              <a:rPr sz="1200" b="0">
                <a:solidFill>
                  <a:srgbClr val="9ADBE8"/>
                </a:solidFill>
                <a:latin typeface="Arial"/>
              </a:rPr>
              <a:t>Click to play on BBC iPlayer · Be Ready discussion</a:t>
            </a:r>
          </a:p>
        </p:txBody>
      </p:sp>
      <p:sp>
        <p:nvSpPr>
          <p:cNvPr id="10" name="Quote"/>
          <p:cNvSpPr txBox="1"/>
          <p:nvPr/>
        </p:nvSpPr>
        <p:spPr>
          <a:xfrm>
            <a:off x="813816" y="4114800"/>
            <a:ext cx="5029200" cy="1188720"/>
          </a:xfrm>
          <a:prstGeom prst="rect">
            <a:avLst/>
          </a:prstGeom>
          <a:noFill/>
        </p:spPr>
        <p:txBody>
          <a:bodyPr wrap="square" lIns="0" tIns="0" rIns="0" bIns="0" anchor="t">
            <a:spAutoFit/>
          </a:bodyPr>
          <a:lstStyle/>
          <a:p>
            <a:pPr algn="l">
              <a:spcAft>
                <a:spcPts val="400"/>
              </a:spcAft>
            </a:pPr>
            <a:r>
              <a:rPr sz="1500" b="0" i="1">
                <a:solidFill>
                  <a:srgbClr val="131E29"/>
                </a:solidFill>
                <a:latin typeface="Arial"/>
              </a:rPr>
              <a:t>“You can be ready by having three litres of bottled water per person per day to last you three days… Have some tinned goods that will last you a few days.”</a:t>
            </a:r>
          </a:p>
          <a:p>
            <a:pPr algn="l">
              <a:spcAft>
                <a:spcPts val="0"/>
              </a:spcAft>
            </a:pPr>
            <a:r>
              <a:rPr sz="1100" b="0">
                <a:solidFill>
                  <a:srgbClr val="5E6977"/>
                </a:solidFill>
                <a:latin typeface="Arial"/>
              </a:rPr>
              <a:t>Wes Streeting, Defence Secretary, launching the Be Ready campaign</a:t>
            </a:r>
          </a:p>
        </p:txBody>
      </p:sp>
      <p:sp>
        <p:nvSpPr>
          <p:cNvPr id="11" name="Four days arrow"/>
          <p:cNvSpPr/>
          <p:nvPr/>
        </p:nvSpPr>
        <p:spPr>
          <a:xfrm>
            <a:off x="5989320" y="2468880"/>
            <a:ext cx="502920" cy="548640"/>
          </a:xfrm>
          <a:prstGeom prst="rightArrow">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our days label"/>
          <p:cNvSpPr txBox="1"/>
          <p:nvPr/>
        </p:nvSpPr>
        <p:spPr>
          <a:xfrm>
            <a:off x="5852160" y="3063240"/>
            <a:ext cx="777240" cy="457200"/>
          </a:xfrm>
          <a:prstGeom prst="rect">
            <a:avLst/>
          </a:prstGeom>
          <a:noFill/>
        </p:spPr>
        <p:txBody>
          <a:bodyPr wrap="square" lIns="0" tIns="0" rIns="0" bIns="0" anchor="t">
            <a:spAutoFit/>
          </a:bodyPr>
          <a:lstStyle/>
          <a:p>
            <a:pPr algn="ctr">
              <a:spcAft>
                <a:spcPts val="0"/>
              </a:spcAft>
            </a:pPr>
            <a:r>
              <a:rPr sz="1300" b="1">
                <a:solidFill>
                  <a:srgbClr val="440099"/>
                </a:solidFill>
                <a:latin typeface="Arial"/>
              </a:rPr>
              <a:t>4 days</a:t>
            </a:r>
          </a:p>
        </p:txBody>
      </p:sp>
      <p:sp>
        <p:nvSpPr>
          <p:cNvPr id="13" name="Day 4 label"/>
          <p:cNvSpPr txBox="1"/>
          <p:nvPr/>
        </p:nvSpPr>
        <p:spPr>
          <a:xfrm>
            <a:off x="6629400" y="1371600"/>
            <a:ext cx="4754880" cy="274320"/>
          </a:xfrm>
          <a:prstGeom prst="rect">
            <a:avLst/>
          </a:prstGeom>
          <a:noFill/>
        </p:spPr>
        <p:txBody>
          <a:bodyPr wrap="square" lIns="0" tIns="0" rIns="0" bIns="0" anchor="t">
            <a:spAutoFit/>
          </a:bodyPr>
          <a:lstStyle/>
          <a:p>
            <a:pPr algn="l">
              <a:spcAft>
                <a:spcPts val="0"/>
              </a:spcAft>
            </a:pPr>
            <a:r>
              <a:rPr sz="1300" b="1">
                <a:solidFill>
                  <a:srgbClr val="FF6371"/>
                </a:solidFill>
                <a:latin typeface="Arial"/>
              </a:rPr>
              <a:t>DAY 4 · MONDAY 26 OCTOBER</a:t>
            </a:r>
          </a:p>
        </p:txBody>
      </p:sp>
      <p:sp>
        <p:nvSpPr>
          <p:cNvPr id="14" name="Headline card">
            <a:hlinkClick r:id="rId4"/>
          </p:cNvPr>
          <p:cNvSpPr/>
          <p:nvPr/>
        </p:nvSpPr>
        <p:spPr>
          <a:xfrm>
            <a:off x="6629400" y="1719072"/>
            <a:ext cx="4754880" cy="1097280"/>
          </a:xfrm>
          <a:prstGeom prst="roundRect">
            <a:avLst>
              <a:gd name="adj" fmla="val 4000"/>
            </a:avLst>
          </a:prstGeom>
          <a:solidFill>
            <a:srgbClr val="FFFFFF"/>
          </a:solidFill>
          <a:ln w="15875">
            <a:solidFill>
              <a:srgbClr val="D9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Headline accent"/>
          <p:cNvSpPr/>
          <p:nvPr/>
        </p:nvSpPr>
        <p:spPr>
          <a:xfrm>
            <a:off x="6629400" y="1719072"/>
            <a:ext cx="82296" cy="1097280"/>
          </a:xfrm>
          <a:prstGeom prst="rect">
            <a:avLst/>
          </a:prstGeom>
          <a:solidFill>
            <a:srgbClr val="FF63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eadline"/>
          <p:cNvSpPr txBox="1"/>
          <p:nvPr/>
        </p:nvSpPr>
        <p:spPr>
          <a:xfrm>
            <a:off x="6858000" y="1810512"/>
            <a:ext cx="4389120" cy="960120"/>
          </a:xfrm>
          <a:prstGeom prst="rect">
            <a:avLst/>
          </a:prstGeom>
          <a:noFill/>
        </p:spPr>
        <p:txBody>
          <a:bodyPr wrap="square" lIns="0" tIns="0" rIns="0" bIns="0" anchor="t">
            <a:spAutoFit/>
          </a:bodyPr>
          <a:lstStyle/>
          <a:p>
            <a:pPr algn="l">
              <a:spcAft>
                <a:spcPts val="300"/>
              </a:spcAft>
            </a:pPr>
            <a:r>
              <a:rPr sz="1000" b="1">
                <a:solidFill>
                  <a:srgbClr val="FF6371"/>
                </a:solidFill>
                <a:latin typeface="Arial"/>
              </a:rPr>
              <a:t>NEWS</a:t>
            </a:r>
          </a:p>
          <a:p>
            <a:pPr algn="l">
              <a:spcAft>
                <a:spcPts val="0"/>
              </a:spcAft>
            </a:pPr>
            <a:r>
              <a:rPr sz="1600" b="1">
                <a:solidFill>
                  <a:srgbClr val="131E29"/>
                </a:solidFill>
                <a:latin typeface="Arial"/>
              </a:rPr>
              <a:t>Water and baked beans sell out after public told to stockpile food</a:t>
            </a:r>
          </a:p>
        </p:txBody>
      </p:sp>
      <p:sp>
        <p:nvSpPr>
          <p:cNvPr id="17" name="Stat 1 figure"/>
          <p:cNvSpPr txBox="1"/>
          <p:nvPr/>
        </p:nvSpPr>
        <p:spPr>
          <a:xfrm>
            <a:off x="6629400" y="2971800"/>
            <a:ext cx="1234440" cy="457200"/>
          </a:xfrm>
          <a:prstGeom prst="rect">
            <a:avLst/>
          </a:prstGeom>
          <a:noFill/>
        </p:spPr>
        <p:txBody>
          <a:bodyPr wrap="square" lIns="0" tIns="0" rIns="0" bIns="0" anchor="ctr">
            <a:spAutoFit/>
          </a:bodyPr>
          <a:lstStyle/>
          <a:p>
            <a:pPr algn="l">
              <a:spcAft>
                <a:spcPts val="0"/>
              </a:spcAft>
            </a:pPr>
            <a:r>
              <a:rPr sz="2000" b="1">
                <a:solidFill>
                  <a:srgbClr val="FF6371"/>
                </a:solidFill>
                <a:latin typeface="Arial"/>
              </a:rPr>
              <a:t>+40%</a:t>
            </a:r>
          </a:p>
        </p:txBody>
      </p:sp>
      <p:sp>
        <p:nvSpPr>
          <p:cNvPr id="18" name="Stat 1 text"/>
          <p:cNvSpPr txBox="1"/>
          <p:nvPr/>
        </p:nvSpPr>
        <p:spPr>
          <a:xfrm>
            <a:off x="7909560" y="2971800"/>
            <a:ext cx="2148840" cy="502920"/>
          </a:xfrm>
          <a:prstGeom prst="rect">
            <a:avLst/>
          </a:prstGeom>
          <a:noFill/>
        </p:spPr>
        <p:txBody>
          <a:bodyPr wrap="square" lIns="0" tIns="0" rIns="0" bIns="0" anchor="ctr">
            <a:spAutoFit/>
          </a:bodyPr>
          <a:lstStyle/>
          <a:p>
            <a:pPr algn="l">
              <a:spcAft>
                <a:spcPts val="0"/>
              </a:spcAft>
            </a:pPr>
            <a:r>
              <a:rPr sz="1200" b="0">
                <a:solidFill>
                  <a:srgbClr val="131E29"/>
                </a:solidFill>
                <a:latin typeface="Arial"/>
              </a:rPr>
              <a:t>Iceland: tinned product sales over the weekend</a:t>
            </a:r>
          </a:p>
        </p:txBody>
      </p:sp>
      <p:sp>
        <p:nvSpPr>
          <p:cNvPr id="19" name="Stat 2 figure"/>
          <p:cNvSpPr txBox="1"/>
          <p:nvPr/>
        </p:nvSpPr>
        <p:spPr>
          <a:xfrm>
            <a:off x="6629400" y="3538728"/>
            <a:ext cx="1234440" cy="457200"/>
          </a:xfrm>
          <a:prstGeom prst="rect">
            <a:avLst/>
          </a:prstGeom>
          <a:noFill/>
        </p:spPr>
        <p:txBody>
          <a:bodyPr wrap="square" lIns="0" tIns="0" rIns="0" bIns="0" anchor="ctr">
            <a:spAutoFit/>
          </a:bodyPr>
          <a:lstStyle/>
          <a:p>
            <a:pPr algn="l">
              <a:spcAft>
                <a:spcPts val="0"/>
              </a:spcAft>
            </a:pPr>
            <a:r>
              <a:rPr sz="2000" b="1">
                <a:solidFill>
                  <a:srgbClr val="FF6371"/>
                </a:solidFill>
                <a:latin typeface="Arial"/>
              </a:rPr>
              <a:t>+284%</a:t>
            </a:r>
          </a:p>
        </p:txBody>
      </p:sp>
      <p:sp>
        <p:nvSpPr>
          <p:cNvPr id="20" name="Stat 2 text"/>
          <p:cNvSpPr txBox="1"/>
          <p:nvPr/>
        </p:nvSpPr>
        <p:spPr>
          <a:xfrm>
            <a:off x="7909560" y="3538728"/>
            <a:ext cx="2148840" cy="502920"/>
          </a:xfrm>
          <a:prstGeom prst="rect">
            <a:avLst/>
          </a:prstGeom>
          <a:noFill/>
        </p:spPr>
        <p:txBody>
          <a:bodyPr wrap="square" lIns="0" tIns="0" rIns="0" bIns="0" anchor="ctr">
            <a:spAutoFit/>
          </a:bodyPr>
          <a:lstStyle/>
          <a:p>
            <a:pPr algn="l">
              <a:spcAft>
                <a:spcPts val="0"/>
              </a:spcAft>
            </a:pPr>
            <a:r>
              <a:rPr sz="1200" b="0">
                <a:solidFill>
                  <a:srgbClr val="131E29"/>
                </a:solidFill>
                <a:latin typeface="Arial"/>
              </a:rPr>
              <a:t>Maplin: torch sales; wind-up radios sold out</a:t>
            </a:r>
          </a:p>
        </p:txBody>
      </p:sp>
      <p:sp>
        <p:nvSpPr>
          <p:cNvPr id="21" name="Stat 3 figure"/>
          <p:cNvSpPr txBox="1"/>
          <p:nvPr/>
        </p:nvSpPr>
        <p:spPr>
          <a:xfrm>
            <a:off x="6629400" y="4105656"/>
            <a:ext cx="1234440" cy="457200"/>
          </a:xfrm>
          <a:prstGeom prst="rect">
            <a:avLst/>
          </a:prstGeom>
          <a:noFill/>
        </p:spPr>
        <p:txBody>
          <a:bodyPr wrap="square" lIns="0" tIns="0" rIns="0" bIns="0" anchor="ctr">
            <a:spAutoFit/>
          </a:bodyPr>
          <a:lstStyle/>
          <a:p>
            <a:pPr algn="l">
              <a:spcAft>
                <a:spcPts val="0"/>
              </a:spcAft>
            </a:pPr>
            <a:r>
              <a:rPr sz="2000" b="1">
                <a:solidFill>
                  <a:srgbClr val="FF6371"/>
                </a:solidFill>
                <a:latin typeface="Arial"/>
              </a:rPr>
              <a:t>Sold out</a:t>
            </a:r>
          </a:p>
        </p:txBody>
      </p:sp>
      <p:sp>
        <p:nvSpPr>
          <p:cNvPr id="22" name="Stat 3 text"/>
          <p:cNvSpPr txBox="1"/>
          <p:nvPr/>
        </p:nvSpPr>
        <p:spPr>
          <a:xfrm>
            <a:off x="7909560" y="4105656"/>
            <a:ext cx="2148840" cy="502920"/>
          </a:xfrm>
          <a:prstGeom prst="rect">
            <a:avLst/>
          </a:prstGeom>
          <a:noFill/>
        </p:spPr>
        <p:txBody>
          <a:bodyPr wrap="square" lIns="0" tIns="0" rIns="0" bIns="0" anchor="ctr">
            <a:spAutoFit/>
          </a:bodyPr>
          <a:lstStyle/>
          <a:p>
            <a:pPr algn="l">
              <a:spcAft>
                <a:spcPts val="0"/>
              </a:spcAft>
            </a:pPr>
            <a:r>
              <a:rPr sz="1200" b="0">
                <a:solidFill>
                  <a:srgbClr val="131E29"/>
                </a:solidFill>
                <a:latin typeface="Arial"/>
              </a:rPr>
              <a:t>Ocado: Volvic, Highland Spring, Brecon Carreg water</a:t>
            </a:r>
          </a:p>
        </p:txBody>
      </p:sp>
      <p:sp>
        <p:nvSpPr>
          <p:cNvPr id="23" name="Reel panel">
            <a:hlinkClick r:id="rId5"/>
          </p:cNvPr>
          <p:cNvSpPr/>
          <p:nvPr/>
        </p:nvSpPr>
        <p:spPr>
          <a:xfrm>
            <a:off x="10168128" y="2971800"/>
            <a:ext cx="1216152" cy="1627632"/>
          </a:xfrm>
          <a:prstGeom prst="roundRect">
            <a:avLst>
              <a:gd name="adj" fmla="val 6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el QR background">
            <a:hlinkClick r:id="rId5"/>
          </p:cNvPr>
          <p:cNvSpPr/>
          <p:nvPr/>
        </p:nvSpPr>
        <p:spPr>
          <a:xfrm>
            <a:off x="10277856" y="3081528"/>
            <a:ext cx="996696" cy="996696"/>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Reel QR code" descr="QR code linking to the Instagram reel">
            <a:hlinkClick r:id="rId5"/>
          </p:cNvPr>
          <p:cNvPicPr>
            <a:picLocks noChangeAspect="1"/>
          </p:cNvPicPr>
          <p:nvPr/>
        </p:nvPicPr>
        <p:blipFill>
          <a:blip r:embed="rId6"/>
          <a:stretch>
            <a:fillRect/>
          </a:stretch>
        </p:blipFill>
        <p:spPr>
          <a:xfrm>
            <a:off x="10314432" y="3118104"/>
            <a:ext cx="923544" cy="923544"/>
          </a:xfrm>
          <a:prstGeom prst="rect">
            <a:avLst/>
          </a:prstGeom>
        </p:spPr>
      </p:pic>
      <p:sp>
        <p:nvSpPr>
          <p:cNvPr id="26" name="Reel caption"/>
          <p:cNvSpPr txBox="1"/>
          <p:nvPr/>
        </p:nvSpPr>
        <p:spPr>
          <a:xfrm>
            <a:off x="10168128" y="4160520"/>
            <a:ext cx="1216152" cy="365760"/>
          </a:xfrm>
          <a:prstGeom prst="rect">
            <a:avLst/>
          </a:prstGeom>
          <a:noFill/>
        </p:spPr>
        <p:txBody>
          <a:bodyPr wrap="square" lIns="0" tIns="0" rIns="0" bIns="0" anchor="ctr">
            <a:spAutoFit/>
          </a:bodyPr>
          <a:lstStyle/>
          <a:p>
            <a:pPr algn="ctr">
              <a:spcAft>
                <a:spcPts val="0"/>
              </a:spcAft>
            </a:pPr>
            <a:r>
              <a:rPr sz="1100" b="1">
                <a:solidFill>
                  <a:srgbClr val="FFFFFF"/>
                </a:solidFill>
                <a:latin typeface="Arial"/>
              </a:rPr>
              <a:t>Watch the reel</a:t>
            </a:r>
          </a:p>
        </p:txBody>
      </p:sp>
      <p:sp>
        <p:nvSpPr>
          <p:cNvPr id="27" name="Callout"/>
          <p:cNvSpPr/>
          <p:nvPr/>
        </p:nvSpPr>
        <p:spPr>
          <a:xfrm>
            <a:off x="813816" y="5440680"/>
            <a:ext cx="10570464" cy="713232"/>
          </a:xfrm>
          <a:prstGeom prst="roundRect">
            <a:avLst>
              <a:gd name="adj" fmla="val 15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allout text"/>
          <p:cNvSpPr txBox="1"/>
          <p:nvPr/>
        </p:nvSpPr>
        <p:spPr>
          <a:xfrm>
            <a:off x="1051560" y="5440680"/>
            <a:ext cx="10149840" cy="713232"/>
          </a:xfrm>
          <a:prstGeom prst="rect">
            <a:avLst/>
          </a:prstGeom>
          <a:noFill/>
        </p:spPr>
        <p:txBody>
          <a:bodyPr wrap="square" lIns="0" tIns="0" rIns="0" bIns="0" anchor="ctr">
            <a:spAutoFit/>
          </a:bodyPr>
          <a:lstStyle/>
          <a:p>
            <a:pPr algn="l">
              <a:spcAft>
                <a:spcPts val="0"/>
              </a:spcAft>
            </a:pPr>
            <a:r>
              <a:rPr sz="1600" b="1">
                <a:solidFill>
                  <a:srgbClr val="FFFFFF"/>
                </a:solidFill>
                <a:latin typeface="Arial"/>
              </a:rPr>
              <a:t>Households were asked for a one-off stock build. </a:t>
            </a:r>
            <a:r>
              <a:rPr sz="1600" b="0">
                <a:solidFill>
                  <a:srgbClr val="E6DBF5"/>
                </a:solidFill>
                <a:latin typeface="Arial"/>
              </a:rPr>
              <a:t>To shops it looked like a surge in demand. Nobody drinks more water: this is the first crack of the whip.</a:t>
            </a:r>
          </a:p>
        </p:txBody>
      </p:sp>
      <p:sp>
        <p:nvSpPr>
          <p:cNvPr id="29" name="Source"/>
          <p:cNvSpPr txBox="1"/>
          <p:nvPr/>
        </p:nvSpPr>
        <p:spPr>
          <a:xfrm>
            <a:off x="813816" y="6291072"/>
            <a:ext cx="9052560" cy="237744"/>
          </a:xfrm>
          <a:prstGeom prst="rect">
            <a:avLst/>
          </a:prstGeom>
          <a:noFill/>
        </p:spPr>
        <p:txBody>
          <a:bodyPr wrap="square" lIns="0" tIns="0" rIns="0" bIns="0" anchor="t">
            <a:spAutoFit/>
          </a:bodyPr>
          <a:lstStyle/>
          <a:p>
            <a:pPr algn="l">
              <a:spcAft>
                <a:spcPts val="0"/>
              </a:spcAft>
            </a:pPr>
            <a:r>
              <a:rPr sz="1000" b="0">
                <a:solidFill>
                  <a:srgbClr val="5E6977"/>
                </a:solidFill>
                <a:latin typeface="Arial"/>
              </a:rPr>
              <a:t>Sources: BBC Question Time, 22 Oct 2026, quoted in Mirror UK via AOL; Cabinet Office, Be Ready; Yahoo News, 26 Oct 2026. Figures as reported by retailers.</a:t>
            </a:r>
          </a:p>
        </p:txBody>
      </p:sp>
      <p:sp>
        <p:nvSpPr>
          <p:cNvPr id="30" name="Page number"/>
          <p:cNvSpPr txBox="1"/>
          <p:nvPr/>
        </p:nvSpPr>
        <p:spPr>
          <a:xfrm>
            <a:off x="10058400" y="6291072"/>
            <a:ext cx="1316736" cy="237744"/>
          </a:xfrm>
          <a:prstGeom prst="rect">
            <a:avLst/>
          </a:prstGeom>
          <a:noFill/>
        </p:spPr>
        <p:txBody>
          <a:bodyPr wrap="square" lIns="0" tIns="0" rIns="0" bIns="0" anchor="t">
            <a:spAutoFit/>
          </a:bodyPr>
          <a:lstStyle/>
          <a:p>
            <a:pPr algn="r">
              <a:spcAft>
                <a:spcPts val="0"/>
              </a:spcAft>
            </a:pPr>
            <a:r>
              <a:rPr sz="1200" b="0">
                <a:solidFill>
                  <a:srgbClr val="5E6977"/>
                </a:solidFill>
                <a:latin typeface="Aria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The Bullwhip Effect</a:t>
            </a:r>
            <a:endParaRPr lang="en-US" sz="3000" dirty="0"/>
          </a:p>
        </p:txBody>
      </p:sp>
      <p:sp>
        <p:nvSpPr>
          <p:cNvPr id="4" name="Text 2"/>
          <p:cNvSpPr/>
          <p:nvPr/>
        </p:nvSpPr>
        <p:spPr>
          <a:xfrm>
            <a:off x="6248400" y="4567078"/>
            <a:ext cx="4761484"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1E29"/>
                </a:solidFill>
                <a:latin typeface="Arial" pitchFamily="34" charset="0"/>
                <a:ea typeface="Arial" pitchFamily="34" charset="-122"/>
                <a:cs typeface="Arial" pitchFamily="34" charset="-120"/>
              </a:rPr>
              <a:t>Small changes in end-customer demand become </a:t>
            </a:r>
            <a:r>
              <a:rPr lang="en-US" sz="1600" b="1" dirty="0">
                <a:solidFill>
                  <a:srgbClr val="131E29"/>
                </a:solidFill>
                <a:latin typeface="Arial" pitchFamily="34" charset="0"/>
                <a:ea typeface="Arial" pitchFamily="34" charset="-122"/>
                <a:cs typeface="Arial" pitchFamily="34" charset="-120"/>
              </a:rPr>
              <a:t>ever larger swings in orders</a:t>
            </a:r>
            <a:r>
              <a:rPr lang="en-US" sz="1600" dirty="0">
                <a:solidFill>
                  <a:srgbClr val="131E29"/>
                </a:solidFill>
                <a:latin typeface="Arial" pitchFamily="34" charset="0"/>
                <a:ea typeface="Arial" pitchFamily="34" charset="-122"/>
                <a:cs typeface="Arial" pitchFamily="34" charset="-120"/>
              </a:rPr>
              <a:t> as they travel upstream.</a:t>
            </a:r>
            <a:endParaRPr lang="en-US" sz="1600" dirty="0"/>
          </a:p>
        </p:txBody>
      </p:sp>
      <p:sp>
        <p:nvSpPr>
          <p:cNvPr id="5" name="Text 3"/>
          <p:cNvSpPr/>
          <p:nvPr/>
        </p:nvSpPr>
        <p:spPr>
          <a:xfrm flipH="1">
            <a:off x="6295644" y="5758635"/>
            <a:ext cx="4484116" cy="65021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E6977"/>
                </a:solidFill>
                <a:latin typeface="Arial" pitchFamily="34" charset="0"/>
                <a:ea typeface="Arial" pitchFamily="34" charset="-122"/>
                <a:cs typeface="Arial" pitchFamily="34" charset="-120"/>
              </a:rPr>
              <a:t>Each stage sees only the orders of the stage below it, not real demand, and adds its own safety margin.</a:t>
            </a:r>
            <a:endParaRPr lang="en-US" sz="1400" dirty="0"/>
          </a:p>
        </p:txBody>
      </p:sp>
      <p:sp>
        <p:nvSpPr>
          <p:cNvPr id="6" name="Text 4"/>
          <p:cNvSpPr/>
          <p:nvPr/>
        </p:nvSpPr>
        <p:spPr>
          <a:xfrm>
            <a:off x="644144" y="5913173"/>
            <a:ext cx="4622800" cy="751814"/>
          </a:xfrm>
          <a:prstGeom prst="rect">
            <a:avLst/>
          </a:prstGeom>
          <a:solidFill>
            <a:srgbClr val="E6F6FA"/>
          </a:solidFill>
          <a:ln/>
        </p:spPr>
        <p:txBody>
          <a:bodyPr wrap="square" lIns="228600" tIns="127000" rIns="51308" bIns="10160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An </a:t>
            </a:r>
            <a:r>
              <a:rPr lang="en-US" sz="1400" b="1" dirty="0">
                <a:solidFill>
                  <a:srgbClr val="131E29"/>
                </a:solidFill>
                <a:latin typeface="Arial" pitchFamily="34" charset="0"/>
                <a:ea typeface="Arial" pitchFamily="34" charset="-122"/>
                <a:cs typeface="Arial" pitchFamily="34" charset="-120"/>
              </a:rPr>
              <a:t>information</a:t>
            </a:r>
            <a:r>
              <a:rPr lang="en-US" sz="1400" dirty="0">
                <a:solidFill>
                  <a:srgbClr val="131E29"/>
                </a:solidFill>
                <a:latin typeface="Arial" pitchFamily="34" charset="0"/>
                <a:ea typeface="Arial" pitchFamily="34" charset="-122"/>
                <a:cs typeface="Arial" pitchFamily="34" charset="-120"/>
              </a:rPr>
              <a:t> problem that turns into excess stock, idle capacity and stock-outs in </a:t>
            </a:r>
            <a:r>
              <a:rPr lang="en-US" sz="1400" b="1" dirty="0">
                <a:solidFill>
                  <a:srgbClr val="131E29"/>
                </a:solidFill>
                <a:latin typeface="Arial" pitchFamily="34" charset="0"/>
                <a:ea typeface="Arial" pitchFamily="34" charset="-122"/>
                <a:cs typeface="Arial" pitchFamily="34" charset="-120"/>
              </a:rPr>
              <a:t>operations</a:t>
            </a:r>
            <a:r>
              <a:rPr lang="en-US" sz="1400" dirty="0">
                <a:solidFill>
                  <a:srgbClr val="131E29"/>
                </a:solidFill>
                <a:latin typeface="Arial" pitchFamily="34" charset="0"/>
                <a:ea typeface="Arial" pitchFamily="34" charset="-122"/>
                <a:cs typeface="Arial" pitchFamily="34" charset="-120"/>
              </a:rPr>
              <a:t>.</a:t>
            </a:r>
            <a:endParaRPr lang="en-US" sz="1400" dirty="0"/>
          </a:p>
        </p:txBody>
      </p:sp>
      <p:sp>
        <p:nvSpPr>
          <p:cNvPr id="7" name="Shape 5"/>
          <p:cNvSpPr/>
          <p:nvPr/>
        </p:nvSpPr>
        <p:spPr>
          <a:xfrm>
            <a:off x="3218941" y="4346837"/>
            <a:ext cx="0" cy="751814"/>
          </a:xfrm>
          <a:prstGeom prst="line">
            <a:avLst/>
          </a:prstGeom>
          <a:noFill/>
          <a:ln w="50800">
            <a:solidFill>
              <a:srgbClr val="005A8F"/>
            </a:solidFill>
            <a:prstDash val="solid"/>
          </a:ln>
        </p:spPr>
        <p:txBody>
          <a:bodyPr/>
          <a:lstStyle/>
          <a:p>
            <a:endParaRPr lang="en-GB"/>
          </a:p>
        </p:txBody>
      </p:sp>
      <p:sp>
        <p:nvSpPr>
          <p:cNvPr id="8" name="Text 6"/>
          <p:cNvSpPr/>
          <p:nvPr/>
        </p:nvSpPr>
        <p:spPr>
          <a:xfrm>
            <a:off x="5740400" y="1653977"/>
            <a:ext cx="1320800" cy="256514"/>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131E29"/>
                </a:solidFill>
                <a:latin typeface="Arial" pitchFamily="34" charset="0"/>
                <a:ea typeface="Arial" pitchFamily="34" charset="-122"/>
                <a:cs typeface="Arial" pitchFamily="34" charset="-120"/>
              </a:rPr>
              <a:t>Customers</a:t>
            </a:r>
            <a:endParaRPr lang="en-US" sz="1300" dirty="0"/>
          </a:p>
        </p:txBody>
      </p:sp>
      <p:pic>
        <p:nvPicPr>
          <p:cNvPr id="9" name="Image 0" descr="Small variation in customer demand"/>
          <p:cNvPicPr>
            <a:picLocks noChangeAspect="1"/>
          </p:cNvPicPr>
          <p:nvPr/>
        </p:nvPicPr>
        <p:blipFill>
          <a:blip r:embed="rId3"/>
          <a:srcRect/>
          <a:stretch/>
        </p:blipFill>
        <p:spPr>
          <a:xfrm>
            <a:off x="7188200" y="1452042"/>
            <a:ext cx="4191000" cy="635000"/>
          </a:xfrm>
          <a:prstGeom prst="rect">
            <a:avLst/>
          </a:prstGeom>
        </p:spPr>
      </p:pic>
      <p:sp>
        <p:nvSpPr>
          <p:cNvPr id="10" name="Text 7"/>
          <p:cNvSpPr/>
          <p:nvPr/>
        </p:nvSpPr>
        <p:spPr>
          <a:xfrm>
            <a:off x="5740400" y="2365177"/>
            <a:ext cx="1320800" cy="256514"/>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131E29"/>
                </a:solidFill>
                <a:latin typeface="Arial" pitchFamily="34" charset="0"/>
                <a:ea typeface="Arial" pitchFamily="34" charset="-122"/>
                <a:cs typeface="Arial" pitchFamily="34" charset="-120"/>
              </a:rPr>
              <a:t>Retailer</a:t>
            </a:r>
            <a:endParaRPr lang="en-US" sz="1300" dirty="0"/>
          </a:p>
        </p:txBody>
      </p:sp>
      <p:pic>
        <p:nvPicPr>
          <p:cNvPr id="11" name="Image 1" descr="Larger variation in retailer orders"/>
          <p:cNvPicPr>
            <a:picLocks noChangeAspect="1"/>
          </p:cNvPicPr>
          <p:nvPr/>
        </p:nvPicPr>
        <p:blipFill>
          <a:blip r:embed="rId4"/>
          <a:srcRect/>
          <a:stretch/>
        </p:blipFill>
        <p:spPr>
          <a:xfrm>
            <a:off x="7188200" y="2163242"/>
            <a:ext cx="4191000" cy="635000"/>
          </a:xfrm>
          <a:prstGeom prst="rect">
            <a:avLst/>
          </a:prstGeom>
        </p:spPr>
      </p:pic>
      <p:sp>
        <p:nvSpPr>
          <p:cNvPr id="12" name="Text 8"/>
          <p:cNvSpPr/>
          <p:nvPr/>
        </p:nvSpPr>
        <p:spPr>
          <a:xfrm>
            <a:off x="5740400" y="3076377"/>
            <a:ext cx="1320800" cy="256514"/>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131E29"/>
                </a:solidFill>
                <a:latin typeface="Arial" pitchFamily="34" charset="0"/>
                <a:ea typeface="Arial" pitchFamily="34" charset="-122"/>
                <a:cs typeface="Arial" pitchFamily="34" charset="-120"/>
              </a:rPr>
              <a:t>Wholesaler</a:t>
            </a:r>
            <a:endParaRPr lang="en-US" sz="1300" dirty="0"/>
          </a:p>
        </p:txBody>
      </p:sp>
      <p:pic>
        <p:nvPicPr>
          <p:cNvPr id="13" name="Image 2" descr="Even larger variation in wholesaler orders"/>
          <p:cNvPicPr>
            <a:picLocks noChangeAspect="1"/>
          </p:cNvPicPr>
          <p:nvPr/>
        </p:nvPicPr>
        <p:blipFill>
          <a:blip r:embed="rId5"/>
          <a:srcRect/>
          <a:stretch/>
        </p:blipFill>
        <p:spPr>
          <a:xfrm>
            <a:off x="7188200" y="2874442"/>
            <a:ext cx="4191000" cy="635000"/>
          </a:xfrm>
          <a:prstGeom prst="rect">
            <a:avLst/>
          </a:prstGeom>
        </p:spPr>
      </p:pic>
      <p:sp>
        <p:nvSpPr>
          <p:cNvPr id="14" name="Text 9"/>
          <p:cNvSpPr/>
          <p:nvPr/>
        </p:nvSpPr>
        <p:spPr>
          <a:xfrm>
            <a:off x="5740400" y="3787577"/>
            <a:ext cx="1320800" cy="256514"/>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131E29"/>
                </a:solidFill>
                <a:latin typeface="Arial" pitchFamily="34" charset="0"/>
                <a:ea typeface="Arial" pitchFamily="34" charset="-122"/>
                <a:cs typeface="Arial" pitchFamily="34" charset="-120"/>
              </a:rPr>
              <a:t>Manufacturer</a:t>
            </a:r>
            <a:endParaRPr lang="en-US" sz="1300" dirty="0"/>
          </a:p>
        </p:txBody>
      </p:sp>
      <p:pic>
        <p:nvPicPr>
          <p:cNvPr id="15" name="Image 3" descr="Largest variation in manufacturer orders"/>
          <p:cNvPicPr>
            <a:picLocks noChangeAspect="1"/>
          </p:cNvPicPr>
          <p:nvPr/>
        </p:nvPicPr>
        <p:blipFill>
          <a:blip r:embed="rId6"/>
          <a:srcRect/>
          <a:stretch/>
        </p:blipFill>
        <p:spPr>
          <a:xfrm>
            <a:off x="7188200" y="3585642"/>
            <a:ext cx="4191000" cy="635000"/>
          </a:xfrm>
          <a:prstGeom prst="rect">
            <a:avLst/>
          </a:prstGeom>
        </p:spPr>
      </p:pic>
      <p:sp>
        <p:nvSpPr>
          <p:cNvPr id="17" name="Text 11"/>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22</a:t>
            </a:r>
            <a:endParaRPr lang="en-US" sz="1200" dirty="0"/>
          </a:p>
        </p:txBody>
      </p:sp>
      <p:sp>
        <p:nvSpPr>
          <p:cNvPr id="18" name="AutoShape 2" descr="The bullwhip effect: A person whipping a bullwhip showing how the amplitude of shocks increases through retailers, manufacturers and suppliers">
            <a:extLst>
              <a:ext uri="{FF2B5EF4-FFF2-40B4-BE49-F238E27FC236}">
                <a16:creationId xmlns:a16="http://schemas.microsoft.com/office/drawing/2014/main" id="{1F2AE21F-3882-2EB8-FDA4-7C8C2A419C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 name="Picture 19">
            <a:extLst>
              <a:ext uri="{FF2B5EF4-FFF2-40B4-BE49-F238E27FC236}">
                <a16:creationId xmlns:a16="http://schemas.microsoft.com/office/drawing/2014/main" id="{F6D1AAE2-EC67-6E65-68D6-05EE10307DB5}"/>
              </a:ext>
            </a:extLst>
          </p:cNvPr>
          <p:cNvPicPr>
            <a:picLocks noChangeAspect="1"/>
          </p:cNvPicPr>
          <p:nvPr/>
        </p:nvPicPr>
        <p:blipFill>
          <a:blip r:embed="rId7"/>
          <a:stretch>
            <a:fillRect/>
          </a:stretch>
        </p:blipFill>
        <p:spPr>
          <a:xfrm>
            <a:off x="402967" y="1279202"/>
            <a:ext cx="5235833" cy="443616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228600"/>
            <a:ext cx="2235332" cy="289520"/>
          </a:xfrm>
          <a:custGeom>
            <a:avLst/>
            <a:gdLst/>
            <a:ahLst/>
            <a:cxnLst/>
            <a:rect l="l" t="t" r="r" b="b"/>
            <a:pathLst>
              <a:path w="2235332" h="289520">
                <a:moveTo>
                  <a:pt x="144760" y="0"/>
                </a:moveTo>
                <a:lnTo>
                  <a:pt x="2090572" y="0"/>
                </a:lnTo>
                <a:arcTo wR="144760" hR="144760" stAng="16200000" swAng="5400000"/>
                <a:lnTo>
                  <a:pt x="2235332" y="144760"/>
                </a:lnTo>
                <a:arcTo wR="144760" hR="144760" stAng="0" swAng="5400000"/>
                <a:lnTo>
                  <a:pt x="144760" y="289520"/>
                </a:lnTo>
                <a:arcTo wR="144760" hR="144760" stAng="5400000" swAng="5400000"/>
                <a:lnTo>
                  <a:pt x="0" y="144760"/>
                </a:lnTo>
                <a:arcTo wR="144760" hR="144760" stAng="10800000" swAng="5400000"/>
                <a:close/>
              </a:path>
            </a:pathLst>
          </a:custGeom>
          <a:solidFill>
            <a:srgbClr val="FF6371"/>
          </a:solidFill>
          <a:ln/>
        </p:spPr>
        <p:txBody>
          <a:bodyPr wrap="none" lIns="0" tIns="0" rIns="0" bIns="0" rtlCol="0" anchor="ctr">
            <a:normAutofit/>
          </a:bodyPr>
          <a:lstStyle/>
          <a:p>
            <a:pPr marL="0" indent="0" algn="ctr">
              <a:lnSpc>
                <a:spcPts val="1680"/>
              </a:lnSpc>
              <a:buNone/>
            </a:pPr>
            <a:r>
              <a:rPr lang="en-US" sz="1200" b="1" kern="0" spc="100" dirty="0">
                <a:solidFill>
                  <a:srgbClr val="131E29"/>
                </a:solidFill>
                <a:latin typeface="Arial" pitchFamily="34" charset="0"/>
                <a:ea typeface="Arial" pitchFamily="34" charset="-122"/>
                <a:cs typeface="Arial" pitchFamily="34" charset="-120"/>
              </a:rPr>
              <a:t>CONTESTED QUESTION</a:t>
            </a:r>
            <a:endParaRPr lang="en-US" sz="1200" dirty="0"/>
          </a:p>
        </p:txBody>
      </p:sp>
      <p:sp>
        <p:nvSpPr>
          <p:cNvPr id="3" name="Shape 1"/>
          <p:cNvSpPr/>
          <p:nvPr/>
        </p:nvSpPr>
        <p:spPr>
          <a:xfrm>
            <a:off x="812800" y="1607608"/>
            <a:ext cx="10566400" cy="0"/>
          </a:xfrm>
          <a:prstGeom prst="line">
            <a:avLst/>
          </a:prstGeom>
          <a:noFill/>
          <a:ln w="19050">
            <a:solidFill>
              <a:srgbClr val="440099"/>
            </a:solidFill>
            <a:prstDash val="solid"/>
          </a:ln>
        </p:spPr>
        <p:txBody>
          <a:bodyPr/>
          <a:lstStyle/>
          <a:p>
            <a:endParaRPr lang="en-GB"/>
          </a:p>
        </p:txBody>
      </p:sp>
      <p:sp>
        <p:nvSpPr>
          <p:cNvPr id="4" name="Text 2"/>
          <p:cNvSpPr>
            <a:spLocks noGrp="1"/>
          </p:cNvSpPr>
          <p:nvPr>
            <p:ph type="title"/>
          </p:nvPr>
        </p:nvSpPr>
        <p:spPr>
          <a:xfrm>
            <a:off x="654304" y="6096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Why Does the Bullwhip Happen? Three Competing Explanations</a:t>
            </a:r>
            <a:endParaRPr lang="en-US" sz="3000" dirty="0"/>
          </a:p>
        </p:txBody>
      </p:sp>
      <p:sp>
        <p:nvSpPr>
          <p:cNvPr id="5" name="Shape 3"/>
          <p:cNvSpPr/>
          <p:nvPr/>
        </p:nvSpPr>
        <p:spPr>
          <a:xfrm>
            <a:off x="819150" y="1826692"/>
            <a:ext cx="3390900" cy="2286992"/>
          </a:xfrm>
          <a:prstGeom prst="roundRect">
            <a:avLst>
              <a:gd name="adj" fmla="val 3054"/>
            </a:avLst>
          </a:prstGeom>
          <a:solidFill>
            <a:srgbClr val="E6F6FA"/>
          </a:solidFill>
          <a:ln w="12700">
            <a:solidFill>
              <a:srgbClr val="005A8F"/>
            </a:solidFill>
            <a:prstDash val="solid"/>
          </a:ln>
        </p:spPr>
        <p:txBody>
          <a:bodyPr/>
          <a:lstStyle/>
          <a:p>
            <a:endParaRPr lang="en-GB"/>
          </a:p>
        </p:txBody>
      </p:sp>
      <p:sp>
        <p:nvSpPr>
          <p:cNvPr id="6" name="Text 4"/>
          <p:cNvSpPr/>
          <p:nvPr/>
        </p:nvSpPr>
        <p:spPr>
          <a:xfrm>
            <a:off x="977900" y="1985442"/>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005A8F"/>
                </a:solidFill>
                <a:latin typeface="Arial" pitchFamily="34" charset="0"/>
                <a:ea typeface="Arial" pitchFamily="34" charset="-122"/>
                <a:cs typeface="Arial" pitchFamily="34" charset="-120"/>
              </a:rPr>
              <a:t>BEHAVIOURAL</a:t>
            </a:r>
            <a:endParaRPr lang="en-US" sz="1200" dirty="0"/>
          </a:p>
        </p:txBody>
      </p:sp>
      <p:sp>
        <p:nvSpPr>
          <p:cNvPr id="7" name="Text 5"/>
          <p:cNvSpPr/>
          <p:nvPr/>
        </p:nvSpPr>
        <p:spPr>
          <a:xfrm>
            <a:off x="977900" y="2262262"/>
            <a:ext cx="3165602"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31E29"/>
                </a:solidFill>
                <a:latin typeface="Arial" pitchFamily="34" charset="0"/>
                <a:ea typeface="Arial" pitchFamily="34" charset="-122"/>
                <a:cs typeface="Arial" pitchFamily="34" charset="-120"/>
              </a:rPr>
              <a:t>Managers misread the system</a:t>
            </a:r>
            <a:endParaRPr lang="en-US" sz="1400" dirty="0"/>
          </a:p>
        </p:txBody>
      </p:sp>
      <p:sp>
        <p:nvSpPr>
          <p:cNvPr id="8" name="Text 6"/>
          <p:cNvSpPr/>
          <p:nvPr/>
        </p:nvSpPr>
        <p:spPr>
          <a:xfrm>
            <a:off x="977900" y="2548012"/>
            <a:ext cx="31656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1E29"/>
                </a:solidFill>
                <a:latin typeface="Arial" pitchFamily="34" charset="0"/>
                <a:ea typeface="Arial" pitchFamily="34" charset="-122"/>
                <a:cs typeface="Arial" pitchFamily="34" charset="-120"/>
              </a:rPr>
              <a:t>People ignore stock already in the pipeline and over-correct; the Beer Game reproduces this.</a:t>
            </a:r>
            <a:endParaRPr lang="en-US" sz="1200" dirty="0"/>
          </a:p>
        </p:txBody>
      </p:sp>
      <p:sp>
        <p:nvSpPr>
          <p:cNvPr id="9" name="Text 7"/>
          <p:cNvSpPr/>
          <p:nvPr/>
        </p:nvSpPr>
        <p:spPr>
          <a:xfrm>
            <a:off x="977900" y="3251473"/>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E29"/>
                </a:solidFill>
                <a:latin typeface="Arial" pitchFamily="34" charset="0"/>
                <a:ea typeface="Arial" pitchFamily="34" charset="-122"/>
                <a:cs typeface="Arial" pitchFamily="34" charset="-120"/>
              </a:rPr>
              <a:t>Fix:</a:t>
            </a:r>
            <a:r>
              <a:rPr lang="en-US" sz="1200" dirty="0">
                <a:solidFill>
                  <a:srgbClr val="131E29"/>
                </a:solidFill>
                <a:latin typeface="Arial" pitchFamily="34" charset="0"/>
                <a:ea typeface="Arial" pitchFamily="34" charset="-122"/>
                <a:cs typeface="Arial" pitchFamily="34" charset="-120"/>
              </a:rPr>
              <a:t> better decision rules and training</a:t>
            </a:r>
            <a:endParaRPr lang="en-US" sz="1200" dirty="0"/>
          </a:p>
        </p:txBody>
      </p:sp>
      <p:sp>
        <p:nvSpPr>
          <p:cNvPr id="10" name="Text 8"/>
          <p:cNvSpPr/>
          <p:nvPr/>
        </p:nvSpPr>
        <p:spPr>
          <a:xfrm>
            <a:off x="977900" y="3528293"/>
            <a:ext cx="31656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Sterman (1989)</a:t>
            </a:r>
            <a:endParaRPr lang="en-US" sz="1200" dirty="0"/>
          </a:p>
        </p:txBody>
      </p:sp>
      <p:sp>
        <p:nvSpPr>
          <p:cNvPr id="11" name="Shape 9"/>
          <p:cNvSpPr/>
          <p:nvPr/>
        </p:nvSpPr>
        <p:spPr>
          <a:xfrm>
            <a:off x="4400550" y="1826692"/>
            <a:ext cx="3390900" cy="2286992"/>
          </a:xfrm>
          <a:prstGeom prst="roundRect">
            <a:avLst>
              <a:gd name="adj" fmla="val 3054"/>
            </a:avLst>
          </a:prstGeom>
          <a:solidFill>
            <a:srgbClr val="F4EFFA"/>
          </a:solidFill>
          <a:ln w="12700">
            <a:solidFill>
              <a:srgbClr val="440099"/>
            </a:solidFill>
            <a:prstDash val="solid"/>
          </a:ln>
        </p:spPr>
        <p:txBody>
          <a:bodyPr/>
          <a:lstStyle/>
          <a:p>
            <a:endParaRPr lang="en-GB"/>
          </a:p>
        </p:txBody>
      </p:sp>
      <p:sp>
        <p:nvSpPr>
          <p:cNvPr id="12" name="Text 10"/>
          <p:cNvSpPr/>
          <p:nvPr/>
        </p:nvSpPr>
        <p:spPr>
          <a:xfrm>
            <a:off x="4559300" y="1985442"/>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40099"/>
                </a:solidFill>
                <a:latin typeface="Arial" pitchFamily="34" charset="0"/>
                <a:ea typeface="Arial" pitchFamily="34" charset="-122"/>
                <a:cs typeface="Arial" pitchFamily="34" charset="-120"/>
              </a:rPr>
              <a:t>RATIONAL-STRUCTURAL</a:t>
            </a:r>
            <a:endParaRPr lang="en-US" sz="1200" dirty="0"/>
          </a:p>
        </p:txBody>
      </p:sp>
      <p:sp>
        <p:nvSpPr>
          <p:cNvPr id="13" name="Text 11"/>
          <p:cNvSpPr/>
          <p:nvPr/>
        </p:nvSpPr>
        <p:spPr>
          <a:xfrm>
            <a:off x="4559300" y="2262262"/>
            <a:ext cx="3165602"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31E29"/>
                </a:solidFill>
                <a:latin typeface="Arial" pitchFamily="34" charset="0"/>
                <a:ea typeface="Arial" pitchFamily="34" charset="-122"/>
                <a:cs typeface="Arial" pitchFamily="34" charset="-120"/>
              </a:rPr>
              <a:t>Sensible choices, distorted signals</a:t>
            </a:r>
            <a:endParaRPr lang="en-US" sz="1400" dirty="0"/>
          </a:p>
        </p:txBody>
      </p:sp>
      <p:sp>
        <p:nvSpPr>
          <p:cNvPr id="14" name="Text 12"/>
          <p:cNvSpPr/>
          <p:nvPr/>
        </p:nvSpPr>
        <p:spPr>
          <a:xfrm>
            <a:off x="4559300" y="2548012"/>
            <a:ext cx="31656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1E29"/>
                </a:solidFill>
                <a:latin typeface="Arial" pitchFamily="34" charset="0"/>
                <a:ea typeface="Arial" pitchFamily="34" charset="-122"/>
                <a:cs typeface="Arial" pitchFamily="34" charset="-120"/>
              </a:rPr>
              <a:t>Each actor acts rationally, but forecasting from orders, batching, promotions and rationing distort demand.</a:t>
            </a:r>
            <a:endParaRPr lang="en-US" sz="1200" dirty="0"/>
          </a:p>
        </p:txBody>
      </p:sp>
      <p:sp>
        <p:nvSpPr>
          <p:cNvPr id="15" name="Text 13"/>
          <p:cNvSpPr/>
          <p:nvPr/>
        </p:nvSpPr>
        <p:spPr>
          <a:xfrm>
            <a:off x="4559300" y="3251473"/>
            <a:ext cx="316560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E29"/>
                </a:solidFill>
                <a:latin typeface="Arial" pitchFamily="34" charset="0"/>
                <a:ea typeface="Arial" pitchFamily="34" charset="-122"/>
                <a:cs typeface="Arial" pitchFamily="34" charset="-120"/>
              </a:rPr>
              <a:t>Fix:</a:t>
            </a:r>
            <a:r>
              <a:rPr lang="en-US" sz="1200" dirty="0">
                <a:solidFill>
                  <a:srgbClr val="131E29"/>
                </a:solidFill>
                <a:latin typeface="Arial" pitchFamily="34" charset="0"/>
                <a:ea typeface="Arial" pitchFamily="34" charset="-122"/>
                <a:cs typeface="Arial" pitchFamily="34" charset="-120"/>
              </a:rPr>
              <a:t> share point-of-sale data, VMI, stable pricing</a:t>
            </a:r>
            <a:endParaRPr lang="en-US" sz="1200" dirty="0"/>
          </a:p>
        </p:txBody>
      </p:sp>
      <p:sp>
        <p:nvSpPr>
          <p:cNvPr id="16" name="Text 14"/>
          <p:cNvSpPr/>
          <p:nvPr/>
        </p:nvSpPr>
        <p:spPr>
          <a:xfrm>
            <a:off x="4559300" y="3741613"/>
            <a:ext cx="31656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Lee, Padmanabhan and Whang (1997)</a:t>
            </a:r>
            <a:endParaRPr lang="en-US" sz="1200" dirty="0"/>
          </a:p>
        </p:txBody>
      </p:sp>
      <p:sp>
        <p:nvSpPr>
          <p:cNvPr id="17" name="Shape 15"/>
          <p:cNvSpPr/>
          <p:nvPr/>
        </p:nvSpPr>
        <p:spPr>
          <a:xfrm>
            <a:off x="7981950" y="1826692"/>
            <a:ext cx="3390900" cy="2286992"/>
          </a:xfrm>
          <a:prstGeom prst="roundRect">
            <a:avLst>
              <a:gd name="adj" fmla="val 3054"/>
            </a:avLst>
          </a:prstGeom>
          <a:solidFill>
            <a:srgbClr val="FFF0F1"/>
          </a:solidFill>
          <a:ln w="12700">
            <a:solidFill>
              <a:srgbClr val="C8102E"/>
            </a:solidFill>
            <a:prstDash val="solid"/>
          </a:ln>
        </p:spPr>
        <p:txBody>
          <a:bodyPr/>
          <a:lstStyle/>
          <a:p>
            <a:endParaRPr lang="en-GB"/>
          </a:p>
        </p:txBody>
      </p:sp>
      <p:sp>
        <p:nvSpPr>
          <p:cNvPr id="18" name="Text 16"/>
          <p:cNvSpPr/>
          <p:nvPr/>
        </p:nvSpPr>
        <p:spPr>
          <a:xfrm>
            <a:off x="8140700" y="1985442"/>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232F"/>
                </a:solidFill>
                <a:latin typeface="Arial" pitchFamily="34" charset="0"/>
                <a:ea typeface="Arial" pitchFamily="34" charset="-122"/>
                <a:cs typeface="Arial" pitchFamily="34" charset="-120"/>
              </a:rPr>
              <a:t>POWER-BASED</a:t>
            </a:r>
            <a:endParaRPr lang="en-US" sz="1200" dirty="0"/>
          </a:p>
        </p:txBody>
      </p:sp>
      <p:sp>
        <p:nvSpPr>
          <p:cNvPr id="19" name="Text 17"/>
          <p:cNvSpPr/>
          <p:nvPr/>
        </p:nvSpPr>
        <p:spPr>
          <a:xfrm>
            <a:off x="8140700" y="2262262"/>
            <a:ext cx="3165602"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31E29"/>
                </a:solidFill>
                <a:latin typeface="Arial" pitchFamily="34" charset="0"/>
                <a:ea typeface="Arial" pitchFamily="34" charset="-122"/>
                <a:cs typeface="Arial" pitchFamily="34" charset="-120"/>
              </a:rPr>
              <a:t>Distortion that pays someone</a:t>
            </a:r>
            <a:endParaRPr lang="en-US" sz="1400" dirty="0"/>
          </a:p>
        </p:txBody>
      </p:sp>
      <p:sp>
        <p:nvSpPr>
          <p:cNvPr id="20" name="Text 18"/>
          <p:cNvSpPr/>
          <p:nvPr/>
        </p:nvSpPr>
        <p:spPr>
          <a:xfrm>
            <a:off x="8140700" y="2548012"/>
            <a:ext cx="31656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1E29"/>
                </a:solidFill>
                <a:latin typeface="Arial" pitchFamily="34" charset="0"/>
                <a:ea typeface="Arial" pitchFamily="34" charset="-122"/>
                <a:cs typeface="Arial" pitchFamily="34" charset="-120"/>
              </a:rPr>
              <a:t>Actors deliberately control stock and information: quotas, information control, price control.</a:t>
            </a:r>
            <a:endParaRPr lang="en-US" sz="1200" dirty="0"/>
          </a:p>
        </p:txBody>
      </p:sp>
      <p:sp>
        <p:nvSpPr>
          <p:cNvPr id="21" name="Text 19"/>
          <p:cNvSpPr/>
          <p:nvPr/>
        </p:nvSpPr>
        <p:spPr>
          <a:xfrm>
            <a:off x="8140700" y="3251473"/>
            <a:ext cx="316560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E29"/>
                </a:solidFill>
                <a:latin typeface="Arial" pitchFamily="34" charset="0"/>
                <a:ea typeface="Arial" pitchFamily="34" charset="-122"/>
                <a:cs typeface="Arial" pitchFamily="34" charset="-120"/>
              </a:rPr>
              <a:t>Fix:</a:t>
            </a:r>
            <a:r>
              <a:rPr lang="en-US" sz="1200" dirty="0">
                <a:solidFill>
                  <a:srgbClr val="131E29"/>
                </a:solidFill>
                <a:latin typeface="Arial" pitchFamily="34" charset="0"/>
                <a:ea typeface="Arial" pitchFamily="34" charset="-122"/>
                <a:cs typeface="Arial" pitchFamily="34" charset="-120"/>
              </a:rPr>
              <a:t> governance, alliances, regulation; data tools go unused if withholding pays</a:t>
            </a:r>
            <a:endParaRPr lang="en-US" sz="1200" dirty="0"/>
          </a:p>
        </p:txBody>
      </p:sp>
      <p:sp>
        <p:nvSpPr>
          <p:cNvPr id="22" name="Text 20"/>
          <p:cNvSpPr/>
          <p:nvPr/>
        </p:nvSpPr>
        <p:spPr>
          <a:xfrm>
            <a:off x="8140700" y="3741613"/>
            <a:ext cx="31656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Vann Yaroson et al. (2021; 2023)</a:t>
            </a:r>
            <a:endParaRPr lang="en-US" sz="1200" dirty="0"/>
          </a:p>
        </p:txBody>
      </p:sp>
      <p:sp>
        <p:nvSpPr>
          <p:cNvPr id="24" name="Text 22"/>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228600"/>
            <a:ext cx="5454386" cy="289520"/>
          </a:xfrm>
          <a:custGeom>
            <a:avLst/>
            <a:gdLst/>
            <a:ahLst/>
            <a:cxnLst/>
            <a:rect l="l" t="t" r="r" b="b"/>
            <a:pathLst>
              <a:path w="5454386" h="289520">
                <a:moveTo>
                  <a:pt x="144760" y="0"/>
                </a:moveTo>
                <a:lnTo>
                  <a:pt x="5309626" y="0"/>
                </a:lnTo>
                <a:arcTo wR="144760" hR="144760" stAng="16200000" swAng="5400000"/>
                <a:lnTo>
                  <a:pt x="5454386" y="144760"/>
                </a:lnTo>
                <a:arcTo wR="144760" hR="144760" stAng="0" swAng="5400000"/>
                <a:lnTo>
                  <a:pt x="144760" y="289520"/>
                </a:lnTo>
                <a:arcTo wR="144760" hR="144760" stAng="5400000" swAng="5400000"/>
                <a:lnTo>
                  <a:pt x="0" y="144760"/>
                </a:lnTo>
                <a:arcTo wR="144760" hR="144760" stAng="10800000" swAng="5400000"/>
                <a:close/>
              </a:path>
            </a:pathLst>
          </a:custGeom>
          <a:solidFill>
            <a:srgbClr val="FF6371"/>
          </a:solidFill>
          <a:ln/>
        </p:spPr>
        <p:txBody>
          <a:bodyPr wrap="none" lIns="0" tIns="0" rIns="0" bIns="0" rtlCol="0" anchor="ctr">
            <a:normAutofit/>
          </a:bodyPr>
          <a:lstStyle/>
          <a:p>
            <a:pPr marL="0" indent="0" algn="ctr">
              <a:lnSpc>
                <a:spcPts val="1680"/>
              </a:lnSpc>
              <a:buNone/>
            </a:pPr>
            <a:r>
              <a:rPr lang="en-US" sz="1200" b="1" kern="0" spc="100" dirty="0">
                <a:solidFill>
                  <a:srgbClr val="131E29"/>
                </a:solidFill>
                <a:latin typeface="Arial" pitchFamily="34" charset="0"/>
                <a:ea typeface="Arial" pitchFamily="34" charset="-122"/>
                <a:cs typeface="Arial" pitchFamily="34" charset="-120"/>
              </a:rPr>
              <a:t>RESEARCH SPOTLIGHT · PHARMACEUTICAL SUPPLY CHAINS</a:t>
            </a:r>
            <a:endParaRPr lang="en-US" sz="1200" dirty="0"/>
          </a:p>
        </p:txBody>
      </p:sp>
      <p:sp>
        <p:nvSpPr>
          <p:cNvPr id="3" name="Shape 1"/>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4" name="Text 2"/>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Bullwhip Causes Seen in the UK Medicines Supply Chain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273479181"/>
              </p:ext>
            </p:extLst>
          </p:nvPr>
        </p:nvGraphicFramePr>
        <p:xfrm>
          <a:off x="825500" y="1439342"/>
          <a:ext cx="10553700" cy="2714864"/>
        </p:xfrm>
        <a:graphic>
          <a:graphicData uri="http://schemas.openxmlformats.org/drawingml/2006/table">
            <a:tbl>
              <a:tblPr/>
              <a:tblGrid>
                <a:gridCol w="2532888">
                  <a:extLst>
                    <a:ext uri="{9D8B030D-6E8A-4147-A177-3AD203B41FA5}">
                      <a16:colId xmlns:a16="http://schemas.microsoft.com/office/drawing/2014/main" val="20000"/>
                    </a:ext>
                  </a:extLst>
                </a:gridCol>
                <a:gridCol w="4643628">
                  <a:extLst>
                    <a:ext uri="{9D8B030D-6E8A-4147-A177-3AD203B41FA5}">
                      <a16:colId xmlns:a16="http://schemas.microsoft.com/office/drawing/2014/main" val="20001"/>
                    </a:ext>
                  </a:extLst>
                </a:gridCol>
                <a:gridCol w="3377184">
                  <a:extLst>
                    <a:ext uri="{9D8B030D-6E8A-4147-A177-3AD203B41FA5}">
                      <a16:colId xmlns:a16="http://schemas.microsoft.com/office/drawing/2014/main" val="20002"/>
                    </a:ext>
                  </a:extLst>
                </a:gridCol>
              </a:tblGrid>
              <a:tr h="332647">
                <a:tc>
                  <a:txBody>
                    <a:bodyPr/>
                    <a:lstStyle/>
                    <a:p>
                      <a:pPr marL="0" indent="0">
                        <a:lnSpc>
                          <a:spcPts val="1680"/>
                        </a:lnSpc>
                        <a:buNone/>
                      </a:pPr>
                      <a:r>
                        <a:rPr lang="en-US" sz="1600" b="1" dirty="0">
                          <a:solidFill>
                            <a:srgbClr val="FFFFFF"/>
                          </a:solidFill>
                          <a:latin typeface="Arial" pitchFamily="34" charset="0"/>
                          <a:ea typeface="Arial" pitchFamily="34" charset="-122"/>
                          <a:cs typeface="Arial" pitchFamily="34" charset="-120"/>
                        </a:rPr>
                        <a:t>Bullwhip cause (Lee et al.)</a:t>
                      </a:r>
                      <a:endParaRPr lang="en-US" sz="16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680"/>
                        </a:lnSpc>
                        <a:buNone/>
                      </a:pPr>
                      <a:r>
                        <a:rPr lang="en-US" sz="1600" b="1" dirty="0">
                          <a:solidFill>
                            <a:srgbClr val="FFFFFF"/>
                          </a:solidFill>
                          <a:latin typeface="Arial" pitchFamily="34" charset="0"/>
                          <a:ea typeface="Arial" pitchFamily="34" charset="-122"/>
                          <a:cs typeface="Arial" pitchFamily="34" charset="-120"/>
                        </a:rPr>
                        <a:t>What my research found in the PSC</a:t>
                      </a:r>
                      <a:endParaRPr lang="en-US" sz="1600" dirty="0">
                        <a:latin typeface="Arial" charset="0"/>
                        <a:ea typeface="Arial" charset="0"/>
                        <a:cs typeface="Arial" charset="0"/>
                      </a:endParaRPr>
                    </a:p>
                  </a:txBody>
                  <a:tcPr marL="53340" marR="53340" marT="53340" marB="53340">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680"/>
                        </a:lnSpc>
                        <a:buNone/>
                      </a:pPr>
                      <a:r>
                        <a:rPr lang="en-US" sz="1600" b="1" dirty="0">
                          <a:solidFill>
                            <a:srgbClr val="FFFFFF"/>
                          </a:solidFill>
                          <a:latin typeface="Arial" pitchFamily="34" charset="0"/>
                          <a:ea typeface="Arial" pitchFamily="34" charset="-122"/>
                          <a:cs typeface="Arial" pitchFamily="34" charset="-120"/>
                        </a:rPr>
                        <a:t>Effect on the chain</a:t>
                      </a:r>
                      <a:endParaRPr lang="en-US" sz="1600" dirty="0">
                        <a:latin typeface="Arial" charset="0"/>
                        <a:ea typeface="Arial" charset="0"/>
                        <a:cs typeface="Arial" charset="0"/>
                      </a:endParaRPr>
                    </a:p>
                  </a:txBody>
                  <a:tcPr marL="53340" marR="53340" marT="53340" marB="53340">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extLst>
                  <a:ext uri="{0D108BD9-81ED-4DB2-BD59-A6C34878D82A}">
                    <a16:rowId xmlns:a16="http://schemas.microsoft.com/office/drawing/2014/main" val="10000"/>
                  </a:ext>
                </a:extLst>
              </a:tr>
              <a:tr h="545968">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Rationing and shortage gaming</a:t>
                      </a:r>
                      <a:endParaRPr lang="en-US" sz="16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Manufacturers impose quota systems; downstream actors panic buy and stockpile</a:t>
                      </a:r>
                      <a:endParaRPr lang="en-US" sz="16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Orders exceed real patient demand</a:t>
                      </a:r>
                      <a:endParaRPr lang="en-US" sz="16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Demand forecast updating</a:t>
                      </a:r>
                      <a:endParaRPr lang="en-US" sz="16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Information control: actors withhold stock and demand information</a:t>
                      </a:r>
                      <a:endParaRPr lang="en-US" sz="1600" dirty="0">
                        <a:latin typeface="Arial" charset="0"/>
                        <a:ea typeface="Arial" charset="0"/>
                        <a:cs typeface="Arial" charset="0"/>
                      </a:endParaRPr>
                    </a:p>
                  </a:txBody>
                  <a:tcPr marL="53340" marR="53340" marT="53340" marB="5334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Upstream reacts to distorted signals</a:t>
                      </a:r>
                      <a:endParaRPr lang="en-US" sz="1600" dirty="0">
                        <a:latin typeface="Arial" charset="0"/>
                        <a:ea typeface="Arial" charset="0"/>
                        <a:cs typeface="Arial" charset="0"/>
                      </a:endParaRPr>
                    </a:p>
                  </a:txBody>
                  <a:tcPr marL="53340" marR="53340" marT="53340" marB="5334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2"/>
                  </a:ext>
                </a:extLst>
              </a:tr>
              <a:tr h="545968">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Price fluctuation</a:t>
                      </a:r>
                      <a:endParaRPr lang="en-US" sz="16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Price control and reimbursement pressure; actors chase profit and market share</a:t>
                      </a:r>
                      <a:endParaRPr lang="en-US" sz="16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Orders follow commercial incentives, not patient need</a:t>
                      </a:r>
                      <a:endParaRPr lang="en-US" sz="16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5968">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Order batching</a:t>
                      </a:r>
                      <a:endParaRPr lang="en-US" sz="16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Long lead times and complex production (teaching link, not a direct finding)</a:t>
                      </a:r>
                      <a:endParaRPr lang="en-US" sz="1600" dirty="0">
                        <a:latin typeface="Arial" charset="0"/>
                        <a:ea typeface="Arial" charset="0"/>
                        <a:cs typeface="Arial" charset="0"/>
                      </a:endParaRPr>
                    </a:p>
                  </a:txBody>
                  <a:tcPr marL="53340" marR="53340" marT="53340" marB="5334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680"/>
                        </a:lnSpc>
                        <a:buNone/>
                      </a:pPr>
                      <a:r>
                        <a:rPr lang="en-US" sz="1600" dirty="0">
                          <a:solidFill>
                            <a:srgbClr val="131E29"/>
                          </a:solidFill>
                          <a:latin typeface="Arial" pitchFamily="34" charset="0"/>
                          <a:ea typeface="Arial" pitchFamily="34" charset="-122"/>
                          <a:cs typeface="Arial" pitchFamily="34" charset="-120"/>
                        </a:rPr>
                        <a:t>Lumpy, delayed replenishment</a:t>
                      </a:r>
                      <a:endParaRPr lang="en-US" sz="1600" dirty="0">
                        <a:latin typeface="Arial" charset="0"/>
                        <a:ea typeface="Arial" charset="0"/>
                        <a:cs typeface="Arial" charset="0"/>
                      </a:endParaRPr>
                    </a:p>
                  </a:txBody>
                  <a:tcPr marL="53340" marR="53340" marT="53340" marB="5334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4"/>
                  </a:ext>
                </a:extLst>
              </a:tr>
            </a:tbl>
          </a:graphicData>
        </a:graphic>
      </p:graphicFrame>
      <p:sp>
        <p:nvSpPr>
          <p:cNvPr id="6" name="Text 3"/>
          <p:cNvSpPr/>
          <p:nvPr/>
        </p:nvSpPr>
        <p:spPr>
          <a:xfrm>
            <a:off x="845820" y="4733131"/>
            <a:ext cx="10566400" cy="520700"/>
          </a:xfrm>
          <a:prstGeom prst="rect">
            <a:avLst/>
          </a:prstGeom>
          <a:solidFill>
            <a:srgbClr val="E6F6FA"/>
          </a:solidFill>
          <a:ln/>
        </p:spPr>
        <p:txBody>
          <a:bodyPr wrap="square" lIns="228600" tIns="127000" rIns="0" bIns="101600" rtlCol="0" anchor="t">
            <a:normAutofit/>
          </a:bodyPr>
          <a:lstStyle/>
          <a:p>
            <a:pPr marL="0" indent="0" algn="l">
              <a:lnSpc>
                <a:spcPts val="2100"/>
              </a:lnSpc>
              <a:buNone/>
            </a:pPr>
            <a:r>
              <a:rPr lang="en-US" sz="1500" dirty="0">
                <a:solidFill>
                  <a:srgbClr val="131E29"/>
                </a:solidFill>
                <a:latin typeface="Arial" pitchFamily="34" charset="0"/>
                <a:ea typeface="Arial" pitchFamily="34" charset="-122"/>
                <a:cs typeface="Arial" pitchFamily="34" charset="-120"/>
              </a:rPr>
              <a:t>In the PSC, the bullwhip is driven by </a:t>
            </a:r>
            <a:r>
              <a:rPr lang="en-US" sz="1500" b="1" dirty="0">
                <a:solidFill>
                  <a:srgbClr val="131E29"/>
                </a:solidFill>
                <a:latin typeface="Arial" pitchFamily="34" charset="0"/>
                <a:ea typeface="Arial" pitchFamily="34" charset="-122"/>
                <a:cs typeface="Arial" pitchFamily="34" charset="-120"/>
              </a:rPr>
              <a:t>power-based behaviours</a:t>
            </a:r>
            <a:r>
              <a:rPr lang="en-US" sz="1500" dirty="0">
                <a:solidFill>
                  <a:srgbClr val="131E29"/>
                </a:solidFill>
                <a:latin typeface="Arial" pitchFamily="34" charset="0"/>
                <a:ea typeface="Arial" pitchFamily="34" charset="-122"/>
                <a:cs typeface="Arial" pitchFamily="34" charset="-120"/>
              </a:rPr>
              <a:t>, not just poor forecasting.</a:t>
            </a:r>
            <a:endParaRPr lang="en-US" sz="1500" dirty="0"/>
          </a:p>
        </p:txBody>
      </p:sp>
      <p:sp>
        <p:nvSpPr>
          <p:cNvPr id="7" name="Shape 4"/>
          <p:cNvSpPr/>
          <p:nvPr/>
        </p:nvSpPr>
        <p:spPr>
          <a:xfrm>
            <a:off x="812800" y="4733131"/>
            <a:ext cx="0" cy="520700"/>
          </a:xfrm>
          <a:prstGeom prst="line">
            <a:avLst/>
          </a:prstGeom>
          <a:noFill/>
          <a:ln w="50800">
            <a:solidFill>
              <a:srgbClr val="005A8F"/>
            </a:solidFill>
            <a:prstDash val="solid"/>
          </a:ln>
        </p:spPr>
        <p:txBody>
          <a:bodyPr/>
          <a:lstStyle/>
          <a:p>
            <a:endParaRPr lang="en-GB"/>
          </a:p>
        </p:txBody>
      </p:sp>
      <p:sp>
        <p:nvSpPr>
          <p:cNvPr id="8" name="Text 5"/>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Sources: Lee, Padmanabhan and Whang (1997); Yaroson et al. (2021); Vann Yaroson et al. (2023)</a:t>
            </a:r>
            <a:endParaRPr lang="en-US" sz="1200" dirty="0"/>
          </a:p>
        </p:txBody>
      </p:sp>
      <p:sp>
        <p:nvSpPr>
          <p:cNvPr id="9" name="Text 6"/>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Label"/>
          <p:cNvSpPr txBox="1"/>
          <p:nvPr/>
        </p:nvSpPr>
        <p:spPr>
          <a:xfrm>
            <a:off x="813816" y="228600"/>
            <a:ext cx="7315200" cy="292608"/>
          </a:xfrm>
          <a:prstGeom prst="rect">
            <a:avLst/>
          </a:prstGeom>
          <a:noFill/>
        </p:spPr>
        <p:txBody>
          <a:bodyPr wrap="square" lIns="0" tIns="0" rIns="0" bIns="0" anchor="t">
            <a:spAutoFit/>
          </a:bodyPr>
          <a:lstStyle/>
          <a:p>
            <a:pPr algn="l">
              <a:spcAft>
                <a:spcPts val="0"/>
              </a:spcAft>
            </a:pPr>
            <a:r>
              <a:rPr sz="1200" b="1">
                <a:solidFill>
                  <a:srgbClr val="FF6371"/>
                </a:solidFill>
                <a:latin typeface="Arial"/>
              </a:rPr>
              <a:t>LIVE CASE · OCTOBER 2026</a:t>
            </a:r>
          </a:p>
        </p:txBody>
      </p:sp>
      <p:sp>
        <p:nvSpPr>
          <p:cNvPr id="3" name="Title"/>
          <p:cNvSpPr txBox="1"/>
          <p:nvPr/>
        </p:nvSpPr>
        <p:spPr>
          <a:xfrm>
            <a:off x="658368" y="612648"/>
            <a:ext cx="10881360" cy="461665"/>
          </a:xfrm>
          <a:prstGeom prst="rect">
            <a:avLst/>
          </a:prstGeom>
          <a:noFill/>
        </p:spPr>
        <p:txBody>
          <a:bodyPr wrap="square" lIns="0" tIns="0" rIns="0" bIns="0" anchor="t">
            <a:spAutoFit/>
          </a:bodyPr>
          <a:lstStyle/>
          <a:p>
            <a:pPr algn="l">
              <a:spcAft>
                <a:spcPts val="0"/>
              </a:spcAft>
            </a:pPr>
            <a:r>
              <a:rPr sz="3000" b="1" dirty="0">
                <a:solidFill>
                  <a:srgbClr val="440099"/>
                </a:solidFill>
                <a:latin typeface="Arial"/>
              </a:rPr>
              <a:t>Predict the Whip: </a:t>
            </a:r>
            <a:r>
              <a:rPr lang="en-GB" sz="3000" b="1" dirty="0">
                <a:solidFill>
                  <a:srgbClr val="440099"/>
                </a:solidFill>
                <a:latin typeface="Arial"/>
              </a:rPr>
              <a:t>Who Will It </a:t>
            </a:r>
            <a:r>
              <a:rPr sz="3000" b="1" dirty="0">
                <a:solidFill>
                  <a:srgbClr val="440099"/>
                </a:solidFill>
                <a:latin typeface="Arial"/>
              </a:rPr>
              <a:t>Hurt Most?</a:t>
            </a:r>
          </a:p>
        </p:txBody>
      </p:sp>
      <p:cxnSp>
        <p:nvCxnSpPr>
          <p:cNvPr id="4" name="Divider"/>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5" name="Households card"/>
          <p:cNvSpPr/>
          <p:nvPr/>
        </p:nvSpPr>
        <p:spPr>
          <a:xfrm>
            <a:off x="813816" y="1508760"/>
            <a:ext cx="2423160" cy="1600200"/>
          </a:xfrm>
          <a:prstGeom prst="roundRect">
            <a:avLst>
              <a:gd name="adj" fmla="val 6000"/>
            </a:avLst>
          </a:prstGeom>
          <a:solidFill>
            <a:srgbClr val="E6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Households text"/>
          <p:cNvSpPr txBox="1"/>
          <p:nvPr/>
        </p:nvSpPr>
        <p:spPr>
          <a:xfrm>
            <a:off x="996696" y="1673351"/>
            <a:ext cx="2057400" cy="1371600"/>
          </a:xfrm>
          <a:prstGeom prst="rect">
            <a:avLst/>
          </a:prstGeom>
          <a:noFill/>
        </p:spPr>
        <p:txBody>
          <a:bodyPr wrap="square" lIns="0" tIns="0" rIns="0" bIns="0" anchor="t">
            <a:spAutoFit/>
          </a:bodyPr>
          <a:lstStyle/>
          <a:p>
            <a:pPr algn="l">
              <a:spcAft>
                <a:spcPts val="600"/>
              </a:spcAft>
            </a:pPr>
            <a:r>
              <a:rPr sz="1600" b="1" dirty="0">
                <a:solidFill>
                  <a:srgbClr val="005A8F"/>
                </a:solidFill>
                <a:latin typeface="Arial"/>
              </a:rPr>
              <a:t>Households</a:t>
            </a:r>
          </a:p>
          <a:p>
            <a:pPr algn="l">
              <a:spcAft>
                <a:spcPts val="0"/>
              </a:spcAft>
            </a:pPr>
            <a:r>
              <a:rPr sz="1300" b="0" dirty="0">
                <a:solidFill>
                  <a:srgbClr val="131E29"/>
                </a:solidFill>
                <a:latin typeface="Arial"/>
              </a:rPr>
              <a:t>Buy 9 </a:t>
            </a:r>
            <a:r>
              <a:rPr sz="1300" b="0" dirty="0" err="1">
                <a:solidFill>
                  <a:srgbClr val="131E29"/>
                </a:solidFill>
                <a:latin typeface="Arial"/>
              </a:rPr>
              <a:t>litres</a:t>
            </a:r>
            <a:r>
              <a:rPr sz="1300" b="0" dirty="0">
                <a:solidFill>
                  <a:srgbClr val="131E29"/>
                </a:solidFill>
                <a:latin typeface="Arial"/>
              </a:rPr>
              <a:t> of water each, once.</a:t>
            </a:r>
          </a:p>
        </p:txBody>
      </p:sp>
      <p:sp>
        <p:nvSpPr>
          <p:cNvPr id="7" name="Households swing"/>
          <p:cNvSpPr/>
          <p:nvPr/>
        </p:nvSpPr>
        <p:spPr>
          <a:xfrm>
            <a:off x="996696" y="4434840"/>
            <a:ext cx="502920" cy="320040"/>
          </a:xfrm>
          <a:prstGeom prst="rect">
            <a:avLst/>
          </a:prstGeom>
          <a:solidFill>
            <a:srgbClr val="00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Households tag"/>
          <p:cNvSpPr txBox="1"/>
          <p:nvPr/>
        </p:nvSpPr>
        <p:spPr>
          <a:xfrm>
            <a:off x="1636776" y="3337560"/>
            <a:ext cx="1508760" cy="1417320"/>
          </a:xfrm>
          <a:prstGeom prst="rect">
            <a:avLst/>
          </a:prstGeom>
          <a:noFill/>
        </p:spPr>
        <p:txBody>
          <a:bodyPr wrap="square" lIns="0" tIns="0" rIns="0" bIns="0" anchor="b">
            <a:spAutoFit/>
          </a:bodyPr>
          <a:lstStyle/>
          <a:p>
            <a:pPr algn="l">
              <a:spcAft>
                <a:spcPts val="0"/>
              </a:spcAft>
            </a:pPr>
            <a:r>
              <a:rPr sz="1300" b="1">
                <a:solidFill>
                  <a:srgbClr val="131E29"/>
                </a:solidFill>
                <a:latin typeface="Arial"/>
              </a:rPr>
              <a:t>Real use: unchanged</a:t>
            </a:r>
          </a:p>
        </p:txBody>
      </p:sp>
      <p:sp>
        <p:nvSpPr>
          <p:cNvPr id="9" name="Order flow arrow"/>
          <p:cNvSpPr/>
          <p:nvPr/>
        </p:nvSpPr>
        <p:spPr>
          <a:xfrm>
            <a:off x="3273552" y="2167128"/>
            <a:ext cx="219456" cy="292608"/>
          </a:xfrm>
          <a:prstGeom prst="rightArrow">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upermarkets card"/>
          <p:cNvSpPr/>
          <p:nvPr/>
        </p:nvSpPr>
        <p:spPr>
          <a:xfrm>
            <a:off x="3529584" y="1508760"/>
            <a:ext cx="2423160" cy="1600200"/>
          </a:xfrm>
          <a:prstGeom prst="roundRect">
            <a:avLst>
              <a:gd name="adj" fmla="val 6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upermarkets text"/>
          <p:cNvSpPr txBox="1"/>
          <p:nvPr/>
        </p:nvSpPr>
        <p:spPr>
          <a:xfrm>
            <a:off x="3712463" y="1673351"/>
            <a:ext cx="2057400" cy="1371600"/>
          </a:xfrm>
          <a:prstGeom prst="rect">
            <a:avLst/>
          </a:prstGeom>
          <a:noFill/>
        </p:spPr>
        <p:txBody>
          <a:bodyPr wrap="square" lIns="0" tIns="0" rIns="0" bIns="0" anchor="t">
            <a:spAutoFit/>
          </a:bodyPr>
          <a:lstStyle/>
          <a:p>
            <a:pPr algn="l">
              <a:spcAft>
                <a:spcPts val="600"/>
              </a:spcAft>
            </a:pPr>
            <a:r>
              <a:rPr sz="1600" b="1">
                <a:solidFill>
                  <a:srgbClr val="440099"/>
                </a:solidFill>
                <a:latin typeface="Arial"/>
              </a:rPr>
              <a:t>Supermarkets</a:t>
            </a:r>
          </a:p>
          <a:p>
            <a:pPr algn="l">
              <a:spcAft>
                <a:spcPts val="0"/>
              </a:spcAft>
            </a:pPr>
            <a:r>
              <a:rPr sz="1300" b="0">
                <a:solidFill>
                  <a:srgbClr val="131E29"/>
                </a:solidFill>
                <a:latin typeface="Arial"/>
              </a:rPr>
              <a:t>See a weekend spike; reorder and rebuild safety stock.</a:t>
            </a:r>
          </a:p>
        </p:txBody>
      </p:sp>
      <p:sp>
        <p:nvSpPr>
          <p:cNvPr id="12" name="Supermarkets swing"/>
          <p:cNvSpPr/>
          <p:nvPr/>
        </p:nvSpPr>
        <p:spPr>
          <a:xfrm>
            <a:off x="3712463" y="4114800"/>
            <a:ext cx="502920" cy="640080"/>
          </a:xfrm>
          <a:prstGeom prst="rect">
            <a:avLst/>
          </a:prstGeom>
          <a:solidFill>
            <a:srgbClr val="FF63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upermarkets tag"/>
          <p:cNvSpPr txBox="1"/>
          <p:nvPr/>
        </p:nvSpPr>
        <p:spPr>
          <a:xfrm>
            <a:off x="4352544" y="3337560"/>
            <a:ext cx="1508760" cy="1417320"/>
          </a:xfrm>
          <a:prstGeom prst="rect">
            <a:avLst/>
          </a:prstGeom>
          <a:noFill/>
        </p:spPr>
        <p:txBody>
          <a:bodyPr wrap="square" lIns="0" tIns="0" rIns="0" bIns="0" anchor="b">
            <a:spAutoFit/>
          </a:bodyPr>
          <a:lstStyle/>
          <a:p>
            <a:pPr algn="l">
              <a:spcAft>
                <a:spcPts val="0"/>
              </a:spcAft>
            </a:pPr>
            <a:r>
              <a:rPr sz="1300" b="1">
                <a:solidFill>
                  <a:srgbClr val="131E29"/>
                </a:solidFill>
                <a:latin typeface="Arial"/>
              </a:rPr>
              <a:t>Orders: up</a:t>
            </a:r>
          </a:p>
        </p:txBody>
      </p:sp>
      <p:sp>
        <p:nvSpPr>
          <p:cNvPr id="14" name="Order flow arrow"/>
          <p:cNvSpPr/>
          <p:nvPr/>
        </p:nvSpPr>
        <p:spPr>
          <a:xfrm>
            <a:off x="5989320" y="2167128"/>
            <a:ext cx="219456" cy="292608"/>
          </a:xfrm>
          <a:prstGeom prst="rightArrow">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Water bottlers, battery makers card"/>
          <p:cNvSpPr/>
          <p:nvPr/>
        </p:nvSpPr>
        <p:spPr>
          <a:xfrm>
            <a:off x="6245351" y="1508760"/>
            <a:ext cx="2423160" cy="1600200"/>
          </a:xfrm>
          <a:prstGeom prst="roundRect">
            <a:avLst>
              <a:gd name="adj" fmla="val 6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Water bottlers, battery makers text"/>
          <p:cNvSpPr txBox="1"/>
          <p:nvPr/>
        </p:nvSpPr>
        <p:spPr>
          <a:xfrm>
            <a:off x="6428231" y="1673351"/>
            <a:ext cx="2057400" cy="1371600"/>
          </a:xfrm>
          <a:prstGeom prst="rect">
            <a:avLst/>
          </a:prstGeom>
          <a:noFill/>
        </p:spPr>
        <p:txBody>
          <a:bodyPr wrap="square" lIns="0" tIns="0" rIns="0" bIns="0" anchor="t">
            <a:spAutoFit/>
          </a:bodyPr>
          <a:lstStyle/>
          <a:p>
            <a:pPr algn="l">
              <a:spcAft>
                <a:spcPts val="600"/>
              </a:spcAft>
            </a:pPr>
            <a:r>
              <a:rPr sz="1600" b="1">
                <a:solidFill>
                  <a:srgbClr val="440099"/>
                </a:solidFill>
                <a:latin typeface="Arial"/>
              </a:rPr>
              <a:t>Water bottlers, battery makers</a:t>
            </a:r>
          </a:p>
          <a:p>
            <a:pPr algn="l">
              <a:spcAft>
                <a:spcPts val="0"/>
              </a:spcAft>
            </a:pPr>
            <a:r>
              <a:rPr sz="1300" b="0">
                <a:solidFill>
                  <a:srgbClr val="131E29"/>
                </a:solidFill>
                <a:latin typeface="Arial"/>
              </a:rPr>
              <a:t>See bigger orders from every retailer; add shifts.</a:t>
            </a:r>
          </a:p>
        </p:txBody>
      </p:sp>
      <p:sp>
        <p:nvSpPr>
          <p:cNvPr id="17" name="Water bottlers, battery makers swing"/>
          <p:cNvSpPr/>
          <p:nvPr/>
        </p:nvSpPr>
        <p:spPr>
          <a:xfrm>
            <a:off x="6428231" y="3749039"/>
            <a:ext cx="502920" cy="1005840"/>
          </a:xfrm>
          <a:prstGeom prst="rect">
            <a:avLst/>
          </a:prstGeom>
          <a:solidFill>
            <a:srgbClr val="FF63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Water bottlers, battery makers tag"/>
          <p:cNvSpPr txBox="1"/>
          <p:nvPr/>
        </p:nvSpPr>
        <p:spPr>
          <a:xfrm>
            <a:off x="7068312" y="3337560"/>
            <a:ext cx="1508760" cy="1417320"/>
          </a:xfrm>
          <a:prstGeom prst="rect">
            <a:avLst/>
          </a:prstGeom>
          <a:noFill/>
        </p:spPr>
        <p:txBody>
          <a:bodyPr wrap="square" lIns="0" tIns="0" rIns="0" bIns="0" anchor="b">
            <a:spAutoFit/>
          </a:bodyPr>
          <a:lstStyle/>
          <a:p>
            <a:pPr algn="l">
              <a:spcAft>
                <a:spcPts val="0"/>
              </a:spcAft>
            </a:pPr>
            <a:r>
              <a:rPr sz="1300" b="1">
                <a:solidFill>
                  <a:srgbClr val="131E29"/>
                </a:solidFill>
                <a:latin typeface="Arial"/>
              </a:rPr>
              <a:t>Orders: up more</a:t>
            </a:r>
          </a:p>
        </p:txBody>
      </p:sp>
      <p:sp>
        <p:nvSpPr>
          <p:cNvPr id="19" name="Order flow arrow"/>
          <p:cNvSpPr/>
          <p:nvPr/>
        </p:nvSpPr>
        <p:spPr>
          <a:xfrm>
            <a:off x="8705087" y="2167128"/>
            <a:ext cx="219456" cy="292608"/>
          </a:xfrm>
          <a:prstGeom prst="rightArrow">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heir suppliers card"/>
          <p:cNvSpPr/>
          <p:nvPr/>
        </p:nvSpPr>
        <p:spPr>
          <a:xfrm>
            <a:off x="8961120" y="1508760"/>
            <a:ext cx="2423160" cy="1600200"/>
          </a:xfrm>
          <a:prstGeom prst="roundRect">
            <a:avLst>
              <a:gd name="adj" fmla="val 6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heir suppliers text"/>
          <p:cNvSpPr txBox="1"/>
          <p:nvPr/>
        </p:nvSpPr>
        <p:spPr>
          <a:xfrm>
            <a:off x="9144000" y="1673351"/>
            <a:ext cx="2057400" cy="1371600"/>
          </a:xfrm>
          <a:prstGeom prst="rect">
            <a:avLst/>
          </a:prstGeom>
          <a:noFill/>
        </p:spPr>
        <p:txBody>
          <a:bodyPr wrap="square" lIns="0" tIns="0" rIns="0" bIns="0" anchor="t">
            <a:spAutoFit/>
          </a:bodyPr>
          <a:lstStyle/>
          <a:p>
            <a:pPr algn="l">
              <a:spcAft>
                <a:spcPts val="600"/>
              </a:spcAft>
            </a:pPr>
            <a:r>
              <a:rPr sz="1600" b="1">
                <a:solidFill>
                  <a:srgbClr val="440099"/>
                </a:solidFill>
                <a:latin typeface="Arial"/>
              </a:rPr>
              <a:t>Their suppliers</a:t>
            </a:r>
          </a:p>
          <a:p>
            <a:pPr algn="l">
              <a:spcAft>
                <a:spcPts val="0"/>
              </a:spcAft>
            </a:pPr>
            <a:r>
              <a:rPr sz="1300" b="0">
                <a:solidFill>
                  <a:srgbClr val="131E29"/>
                </a:solidFill>
                <a:latin typeface="Arial"/>
              </a:rPr>
              <a:t>Plastic bottles, caps, battery cells: see the biggest swing, last.</a:t>
            </a:r>
          </a:p>
        </p:txBody>
      </p:sp>
      <p:sp>
        <p:nvSpPr>
          <p:cNvPr id="22" name="Their suppliers swing"/>
          <p:cNvSpPr/>
          <p:nvPr/>
        </p:nvSpPr>
        <p:spPr>
          <a:xfrm>
            <a:off x="9144000" y="3337560"/>
            <a:ext cx="502920" cy="1417320"/>
          </a:xfrm>
          <a:prstGeom prst="rect">
            <a:avLst/>
          </a:prstGeom>
          <a:solidFill>
            <a:srgbClr val="FF63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heir suppliers tag"/>
          <p:cNvSpPr txBox="1"/>
          <p:nvPr/>
        </p:nvSpPr>
        <p:spPr>
          <a:xfrm>
            <a:off x="9784080" y="3337560"/>
            <a:ext cx="1508760" cy="1417320"/>
          </a:xfrm>
          <a:prstGeom prst="rect">
            <a:avLst/>
          </a:prstGeom>
          <a:noFill/>
        </p:spPr>
        <p:txBody>
          <a:bodyPr wrap="square" lIns="0" tIns="0" rIns="0" bIns="0" anchor="b">
            <a:spAutoFit/>
          </a:bodyPr>
          <a:lstStyle/>
          <a:p>
            <a:pPr algn="l">
              <a:spcAft>
                <a:spcPts val="0"/>
              </a:spcAft>
            </a:pPr>
            <a:r>
              <a:rPr sz="1300" b="1">
                <a:solidFill>
                  <a:srgbClr val="131E29"/>
                </a:solidFill>
                <a:latin typeface="Arial"/>
              </a:rPr>
              <a:t>Orders: up most?</a:t>
            </a:r>
          </a:p>
        </p:txBody>
      </p:sp>
      <p:sp>
        <p:nvSpPr>
          <p:cNvPr id="24" name="Bar caption"/>
          <p:cNvSpPr txBox="1"/>
          <p:nvPr/>
        </p:nvSpPr>
        <p:spPr>
          <a:xfrm>
            <a:off x="813816" y="4864608"/>
            <a:ext cx="5486400" cy="274320"/>
          </a:xfrm>
          <a:prstGeom prst="rect">
            <a:avLst/>
          </a:prstGeom>
          <a:noFill/>
        </p:spPr>
        <p:txBody>
          <a:bodyPr wrap="square" lIns="0" tIns="0" rIns="0" bIns="0" anchor="t">
            <a:spAutoFit/>
          </a:bodyPr>
          <a:lstStyle/>
          <a:p>
            <a:pPr algn="l">
              <a:spcAft>
                <a:spcPts val="0"/>
              </a:spcAft>
            </a:pPr>
            <a:r>
              <a:rPr sz="1100" b="0">
                <a:solidFill>
                  <a:srgbClr val="5E6977"/>
                </a:solidFill>
                <a:latin typeface="Arial"/>
              </a:rPr>
              <a:t>Order swings get bigger upstream (illustrative)</a:t>
            </a:r>
          </a:p>
        </p:txBody>
      </p:sp>
      <p:sp>
        <p:nvSpPr>
          <p:cNvPr id="26" name="Prompt text"/>
          <p:cNvSpPr txBox="1"/>
          <p:nvPr/>
        </p:nvSpPr>
        <p:spPr>
          <a:xfrm>
            <a:off x="1051560" y="5569030"/>
            <a:ext cx="10149840" cy="246221"/>
          </a:xfrm>
          <a:prstGeom prst="rect">
            <a:avLst/>
          </a:prstGeom>
          <a:noFill/>
        </p:spPr>
        <p:txBody>
          <a:bodyPr wrap="square" lIns="0" tIns="0" rIns="0" bIns="0" anchor="ctr">
            <a:spAutoFit/>
          </a:bodyPr>
          <a:lstStyle/>
          <a:p>
            <a:pPr algn="l">
              <a:spcAft>
                <a:spcPts val="0"/>
              </a:spcAft>
            </a:pPr>
            <a:r>
              <a:rPr sz="1600" b="1" dirty="0">
                <a:solidFill>
                  <a:srgbClr val="9ADBE8"/>
                </a:solidFill>
                <a:latin typeface="Arial"/>
              </a:rPr>
              <a:t> </a:t>
            </a:r>
            <a:r>
              <a:rPr sz="1600" b="0" dirty="0">
                <a:solidFill>
                  <a:srgbClr val="FFFFFF"/>
                </a:solidFill>
                <a:latin typeface="Arial"/>
              </a:rPr>
              <a:t>by Christmas, who is left holding too much stock, and what could stop the whip?</a:t>
            </a:r>
          </a:p>
        </p:txBody>
      </p:sp>
      <p:sp>
        <p:nvSpPr>
          <p:cNvPr id="27" name="Source"/>
          <p:cNvSpPr txBox="1"/>
          <p:nvPr/>
        </p:nvSpPr>
        <p:spPr>
          <a:xfrm>
            <a:off x="813816" y="6291072"/>
            <a:ext cx="8778240" cy="237744"/>
          </a:xfrm>
          <a:prstGeom prst="rect">
            <a:avLst/>
          </a:prstGeom>
          <a:noFill/>
        </p:spPr>
        <p:txBody>
          <a:bodyPr wrap="square" lIns="0" tIns="0" rIns="0" bIns="0" anchor="t">
            <a:spAutoFit/>
          </a:bodyPr>
          <a:lstStyle/>
          <a:p>
            <a:pPr algn="l">
              <a:spcAft>
                <a:spcPts val="0"/>
              </a:spcAft>
            </a:pPr>
            <a:r>
              <a:rPr sz="1100" b="0">
                <a:solidFill>
                  <a:srgbClr val="5E6977"/>
                </a:solidFill>
                <a:latin typeface="Arial"/>
              </a:rPr>
              <a:t>A prediction, not data: the stages and swings are illustrative</a:t>
            </a:r>
          </a:p>
        </p:txBody>
      </p:sp>
      <p:sp>
        <p:nvSpPr>
          <p:cNvPr id="28" name="Page number"/>
          <p:cNvSpPr txBox="1"/>
          <p:nvPr/>
        </p:nvSpPr>
        <p:spPr>
          <a:xfrm>
            <a:off x="10058400" y="6291072"/>
            <a:ext cx="1316736" cy="237744"/>
          </a:xfrm>
          <a:prstGeom prst="rect">
            <a:avLst/>
          </a:prstGeom>
          <a:noFill/>
        </p:spPr>
        <p:txBody>
          <a:bodyPr wrap="square" lIns="0" tIns="0" rIns="0" bIns="0" anchor="t">
            <a:spAutoFit/>
          </a:bodyPr>
          <a:lstStyle/>
          <a:p>
            <a:pPr algn="r">
              <a:spcAft>
                <a:spcPts val="0"/>
              </a:spcAft>
            </a:pPr>
            <a:r>
              <a:rPr sz="1200" b="0">
                <a:solidFill>
                  <a:srgbClr val="5E6977"/>
                </a:solidFill>
                <a:latin typeface="Arial"/>
              </a:rPr>
              <a:t>25</a:t>
            </a:r>
          </a:p>
        </p:txBody>
      </p:sp>
      <p:pic>
        <p:nvPicPr>
          <p:cNvPr id="30" name="Wooclap QR code" descr="QR code linking to the Wooclap event, code JXRSLXH">
            <a:extLst>
              <a:ext uri="{FF2B5EF4-FFF2-40B4-BE49-F238E27FC236}">
                <a16:creationId xmlns:a16="http://schemas.microsoft.com/office/drawing/2014/main" id="{B59D3C19-1EE1-8BFB-006E-B9C557BA3E93}"/>
              </a:ext>
            </a:extLst>
          </p:cNvPr>
          <p:cNvPicPr>
            <a:picLocks noChangeAspect="1"/>
          </p:cNvPicPr>
          <p:nvPr/>
        </p:nvPicPr>
        <p:blipFill>
          <a:blip r:embed="rId3"/>
          <a:stretch>
            <a:fillRect/>
          </a:stretch>
        </p:blipFill>
        <p:spPr>
          <a:xfrm>
            <a:off x="10618470" y="5177230"/>
            <a:ext cx="1028700" cy="1028700"/>
          </a:xfrm>
          <a:prstGeom prst="rect">
            <a:avLst/>
          </a:prstGeom>
        </p:spPr>
      </p:pic>
      <p:sp>
        <p:nvSpPr>
          <p:cNvPr id="31" name="Wooclap code">
            <a:extLst>
              <a:ext uri="{FF2B5EF4-FFF2-40B4-BE49-F238E27FC236}">
                <a16:creationId xmlns:a16="http://schemas.microsoft.com/office/drawing/2014/main" id="{55C43497-CF33-C2A2-D4B3-DE4DA27C39AF}"/>
              </a:ext>
            </a:extLst>
          </p:cNvPr>
          <p:cNvSpPr txBox="1"/>
          <p:nvPr/>
        </p:nvSpPr>
        <p:spPr>
          <a:xfrm>
            <a:off x="8895588" y="5691580"/>
            <a:ext cx="1261872" cy="215444"/>
          </a:xfrm>
          <a:prstGeom prst="rect">
            <a:avLst/>
          </a:prstGeom>
          <a:noFill/>
        </p:spPr>
        <p:txBody>
          <a:bodyPr wrap="square" lIns="0" tIns="0" rIns="0" bIns="0" anchor="ctr">
            <a:spAutoFit/>
          </a:bodyPr>
          <a:lstStyle/>
          <a:p>
            <a:pPr algn="r">
              <a:spcAft>
                <a:spcPts val="0"/>
              </a:spcAft>
            </a:pPr>
            <a:r>
              <a:rPr sz="1400" b="0" dirty="0">
                <a:solidFill/>
                <a:latin typeface="Arial"/>
              </a:rPr>
              <a:t>Join: </a:t>
            </a:r>
            <a:r>
              <a:rPr sz="1400" b="1" dirty="0">
                <a:solidFill/>
                <a:latin typeface="Arial"/>
              </a:rPr>
              <a:t>JXRSLXH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6">
    <p:bg>
      <p:bgPr>
        <a:solidFill>
          <a:srgbClr val="F3F3F3"/>
        </a:solidFill>
        <a:effectLst/>
      </p:bgPr>
    </p:bg>
    <p:spTree>
      <p:nvGrpSpPr>
        <p:cNvPr id="1" name=""/>
        <p:cNvGrpSpPr/>
        <p:nvPr/>
      </p:nvGrpSpPr>
      <p:grpSpPr>
        <a:xfrm>
          <a:off x="0" y="0"/>
          <a:ext cx="0" cy="0"/>
          <a:chOff x="0" y="0"/>
          <a:chExt cx="0" cy="0"/>
        </a:xfrm>
      </p:grpSpPr>
      <p:sp>
        <p:nvSpPr>
          <p:cNvPr id="3" name="Text 0"/>
          <p:cNvSpPr>
            <a:spLocks noGrp="1"/>
          </p:cNvSpPr>
          <p:nvPr>
            <p:ph type="title"/>
          </p:nvPr>
        </p:nvSpPr>
        <p:spPr>
          <a:xfrm>
            <a:off x="2564289" y="2486695"/>
            <a:ext cx="7063423" cy="863600"/>
          </a:xfrm>
          <a:prstGeom prst="rect">
            <a:avLst/>
          </a:prstGeom>
          <a:noFill/>
          <a:ln/>
        </p:spPr>
        <p:txBody>
          <a:bodyPr wrap="square" lIns="0" tIns="0" rIns="0" bIns="0" rtlCol="0" anchor="t">
            <a:normAutofit/>
          </a:bodyPr>
          <a:lstStyle/>
          <a:p>
            <a:pPr marL="0" indent="0" algn="ctr">
              <a:lnSpc>
                <a:spcPts val="6600"/>
              </a:lnSpc>
              <a:buNone/>
            </a:pPr>
            <a:r>
              <a:rPr lang="en-US" sz="6000" b="1" i="0" dirty="0">
                <a:solidFill>
                  <a:srgbClr val="440099"/>
                </a:solidFill>
                <a:latin typeface="Arial" pitchFamily="34" charset="0"/>
                <a:ea typeface="Arial" pitchFamily="34" charset="-122"/>
                <a:cs typeface="Arial" pitchFamily="34" charset="-120"/>
              </a:rPr>
              <a:t>10-Minute Break</a:t>
            </a:r>
            <a:endParaRPr lang="en-US" sz="6000" dirty="0"/>
          </a:p>
        </p:txBody>
      </p:sp>
      <p:sp>
        <p:nvSpPr>
          <p:cNvPr id="4" name="Text 1"/>
          <p:cNvSpPr/>
          <p:nvPr/>
        </p:nvSpPr>
        <p:spPr>
          <a:xfrm>
            <a:off x="2320773" y="3528095"/>
            <a:ext cx="7550388" cy="381000"/>
          </a:xfrm>
          <a:prstGeom prst="rect">
            <a:avLst/>
          </a:prstGeom>
          <a:noFill/>
          <a:ln/>
        </p:spPr>
        <p:txBody>
          <a:bodyPr wrap="square" lIns="0" tIns="0" rIns="0" bIns="0" rtlCol="0" anchor="t">
            <a:normAutofit/>
          </a:bodyPr>
          <a:lstStyle/>
          <a:p>
            <a:pPr marL="0" indent="0" algn="ctr">
              <a:lnSpc>
                <a:spcPts val="2800"/>
              </a:lnSpc>
              <a:buNone/>
            </a:pPr>
            <a:r>
              <a:rPr lang="en-US" sz="2000" dirty="0">
                <a:solidFill>
                  <a:srgbClr val="5E6977"/>
                </a:solidFill>
                <a:latin typeface="Arial" pitchFamily="34" charset="0"/>
                <a:ea typeface="Arial" pitchFamily="34" charset="-122"/>
                <a:cs typeface="Arial" pitchFamily="34" charset="-120"/>
              </a:rPr>
              <a:t>Back at 1:10 for Part 3: trade-offs, risk and sustainability</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ctr">
              <a:lnSpc>
                <a:spcPts val="3300"/>
              </a:lnSpc>
              <a:buNone/>
            </a:pPr>
            <a:r>
              <a:rPr lang="en-US" b="1" dirty="0">
                <a:solidFill/>
                <a:latin typeface="Arial"/>
              </a:rPr>
              <a:t>Trade-offs in Supply Chains</a:t>
            </a:r>
            <a:endParaRPr lang="en-US" sz="3000" b="1" dirty="0"/>
          </a:p>
        </p:txBody>
      </p:sp>
      <p:sp>
        <p:nvSpPr>
          <p:cNvPr id="4" name="Shape 2"/>
          <p:cNvSpPr/>
          <p:nvPr/>
        </p:nvSpPr>
        <p:spPr>
          <a:xfrm>
            <a:off x="812800" y="1452042"/>
            <a:ext cx="2540000" cy="1092068"/>
          </a:xfrm>
          <a:prstGeom prst="roundRect">
            <a:avLst>
              <a:gd name="adj" fmla="val 6978"/>
            </a:avLst>
          </a:prstGeom>
          <a:solidFill>
            <a:srgbClr val="440099"/>
          </a:solidFill>
          <a:ln/>
        </p:spPr>
        <p:txBody>
          <a:bodyPr/>
          <a:lstStyle/>
          <a:p>
            <a:endParaRPr lang="en-GB"/>
          </a:p>
        </p:txBody>
      </p:sp>
      <p:sp>
        <p:nvSpPr>
          <p:cNvPr id="5" name="Text 3"/>
          <p:cNvSpPr/>
          <p:nvPr/>
        </p:nvSpPr>
        <p:spPr>
          <a:xfrm>
            <a:off x="990600" y="1629842"/>
            <a:ext cx="2249932"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FFFFFF"/>
                </a:solidFill>
                <a:latin typeface="Arial" pitchFamily="34" charset="0"/>
                <a:ea typeface="Arial" pitchFamily="34" charset="-122"/>
                <a:cs typeface="Arial" pitchFamily="34" charset="-120"/>
              </a:rPr>
              <a:t>Cost efficiency</a:t>
            </a:r>
            <a:endParaRPr lang="en-US" sz="1700" dirty="0"/>
          </a:p>
        </p:txBody>
      </p:sp>
      <p:sp>
        <p:nvSpPr>
          <p:cNvPr id="6" name="Text 4"/>
          <p:cNvSpPr/>
          <p:nvPr/>
        </p:nvSpPr>
        <p:spPr>
          <a:xfrm>
            <a:off x="990600" y="1939677"/>
            <a:ext cx="22499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Lean, low stock, low-cost regions</a:t>
            </a:r>
            <a:endParaRPr lang="en-US" sz="1200" dirty="0"/>
          </a:p>
        </p:txBody>
      </p:sp>
      <p:sp>
        <p:nvSpPr>
          <p:cNvPr id="7" name="Shape 5"/>
          <p:cNvSpPr/>
          <p:nvPr/>
        </p:nvSpPr>
        <p:spPr>
          <a:xfrm>
            <a:off x="3479800" y="1452042"/>
            <a:ext cx="2540000" cy="1092068"/>
          </a:xfrm>
          <a:prstGeom prst="roundRect">
            <a:avLst>
              <a:gd name="adj" fmla="val 6978"/>
            </a:avLst>
          </a:prstGeom>
          <a:solidFill>
            <a:srgbClr val="005A8F"/>
          </a:solidFill>
          <a:ln/>
        </p:spPr>
        <p:txBody>
          <a:bodyPr/>
          <a:lstStyle/>
          <a:p>
            <a:endParaRPr lang="en-GB"/>
          </a:p>
        </p:txBody>
      </p:sp>
      <p:sp>
        <p:nvSpPr>
          <p:cNvPr id="8" name="Text 6"/>
          <p:cNvSpPr/>
          <p:nvPr/>
        </p:nvSpPr>
        <p:spPr>
          <a:xfrm>
            <a:off x="3657600" y="1629842"/>
            <a:ext cx="2249932"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FFFFFF"/>
                </a:solidFill>
                <a:latin typeface="Arial" pitchFamily="34" charset="0"/>
                <a:ea typeface="Arial" pitchFamily="34" charset="-122"/>
                <a:cs typeface="Arial" pitchFamily="34" charset="-120"/>
              </a:rPr>
              <a:t>Responsiveness</a:t>
            </a:r>
            <a:endParaRPr lang="en-US" sz="1700" dirty="0"/>
          </a:p>
        </p:txBody>
      </p:sp>
      <p:sp>
        <p:nvSpPr>
          <p:cNvPr id="9" name="Text 7"/>
          <p:cNvSpPr/>
          <p:nvPr/>
        </p:nvSpPr>
        <p:spPr>
          <a:xfrm>
            <a:off x="3657600" y="1939677"/>
            <a:ext cx="2362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Short lead times, spare capacity</a:t>
            </a:r>
            <a:endParaRPr lang="en-US" sz="1200" dirty="0"/>
          </a:p>
        </p:txBody>
      </p:sp>
      <p:sp>
        <p:nvSpPr>
          <p:cNvPr id="10" name="Shape 8"/>
          <p:cNvSpPr/>
          <p:nvPr/>
        </p:nvSpPr>
        <p:spPr>
          <a:xfrm>
            <a:off x="812800" y="2671118"/>
            <a:ext cx="2540000" cy="1092068"/>
          </a:xfrm>
          <a:prstGeom prst="roundRect">
            <a:avLst>
              <a:gd name="adj" fmla="val 6978"/>
            </a:avLst>
          </a:prstGeom>
          <a:solidFill>
            <a:srgbClr val="131E29"/>
          </a:solidFill>
          <a:ln/>
        </p:spPr>
        <p:txBody>
          <a:bodyPr/>
          <a:lstStyle/>
          <a:p>
            <a:endParaRPr lang="en-GB"/>
          </a:p>
        </p:txBody>
      </p:sp>
      <p:sp>
        <p:nvSpPr>
          <p:cNvPr id="11" name="Text 9"/>
          <p:cNvSpPr/>
          <p:nvPr/>
        </p:nvSpPr>
        <p:spPr>
          <a:xfrm>
            <a:off x="990600" y="2848918"/>
            <a:ext cx="2249932"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FFFFFF"/>
                </a:solidFill>
                <a:latin typeface="Arial" pitchFamily="34" charset="0"/>
                <a:ea typeface="Arial" pitchFamily="34" charset="-122"/>
                <a:cs typeface="Arial" pitchFamily="34" charset="-120"/>
              </a:rPr>
              <a:t>Resilience</a:t>
            </a:r>
            <a:endParaRPr lang="en-US" sz="1700" dirty="0"/>
          </a:p>
        </p:txBody>
      </p:sp>
      <p:sp>
        <p:nvSpPr>
          <p:cNvPr id="12" name="Text 10"/>
          <p:cNvSpPr/>
          <p:nvPr/>
        </p:nvSpPr>
        <p:spPr>
          <a:xfrm>
            <a:off x="990600" y="3158728"/>
            <a:ext cx="22499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Buffers, multiple sources, options</a:t>
            </a:r>
            <a:endParaRPr lang="en-US" sz="1200" dirty="0"/>
          </a:p>
        </p:txBody>
      </p:sp>
      <p:sp>
        <p:nvSpPr>
          <p:cNvPr id="13" name="Shape 11"/>
          <p:cNvSpPr/>
          <p:nvPr/>
        </p:nvSpPr>
        <p:spPr>
          <a:xfrm>
            <a:off x="3479800" y="2671118"/>
            <a:ext cx="2540000" cy="1092068"/>
          </a:xfrm>
          <a:prstGeom prst="roundRect">
            <a:avLst>
              <a:gd name="adj" fmla="val 6978"/>
            </a:avLst>
          </a:prstGeom>
          <a:solidFill>
            <a:srgbClr val="0E6E5A"/>
          </a:solidFill>
          <a:ln/>
        </p:spPr>
        <p:txBody>
          <a:bodyPr/>
          <a:lstStyle/>
          <a:p>
            <a:endParaRPr lang="en-GB"/>
          </a:p>
        </p:txBody>
      </p:sp>
      <p:sp>
        <p:nvSpPr>
          <p:cNvPr id="14" name="Text 12"/>
          <p:cNvSpPr/>
          <p:nvPr/>
        </p:nvSpPr>
        <p:spPr>
          <a:xfrm>
            <a:off x="3657600" y="2848918"/>
            <a:ext cx="2249932"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FFFFFF"/>
                </a:solidFill>
                <a:latin typeface="Arial" pitchFamily="34" charset="0"/>
                <a:ea typeface="Arial" pitchFamily="34" charset="-122"/>
                <a:cs typeface="Arial" pitchFamily="34" charset="-120"/>
              </a:rPr>
              <a:t>Sustainability</a:t>
            </a:r>
            <a:endParaRPr lang="en-US" sz="1700" dirty="0"/>
          </a:p>
        </p:txBody>
      </p:sp>
      <p:sp>
        <p:nvSpPr>
          <p:cNvPr id="15" name="Text 13"/>
          <p:cNvSpPr/>
          <p:nvPr/>
        </p:nvSpPr>
        <p:spPr>
          <a:xfrm>
            <a:off x="3657600" y="3158728"/>
            <a:ext cx="22499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Lower carbon, ethical, circular</a:t>
            </a:r>
            <a:endParaRPr lang="en-US" sz="1200" dirty="0"/>
          </a:p>
        </p:txBody>
      </p:sp>
      <p:sp>
        <p:nvSpPr>
          <p:cNvPr id="16" name="Text 14"/>
          <p:cNvSpPr/>
          <p:nvPr/>
        </p:nvSpPr>
        <p:spPr>
          <a:xfrm>
            <a:off x="6375400" y="1452042"/>
            <a:ext cx="515391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440099"/>
                </a:solidFill>
                <a:latin typeface="Arial" pitchFamily="34" charset="0"/>
                <a:ea typeface="Arial" pitchFamily="34" charset="-122"/>
                <a:cs typeface="Arial" pitchFamily="34" charset="-120"/>
              </a:rPr>
              <a:t>Typical trade-offs</a:t>
            </a:r>
            <a:endParaRPr lang="en-US" sz="1600" dirty="0"/>
          </a:p>
        </p:txBody>
      </p:sp>
      <p:sp>
        <p:nvSpPr>
          <p:cNvPr id="17" name="Shape 15"/>
          <p:cNvSpPr/>
          <p:nvPr/>
        </p:nvSpPr>
        <p:spPr>
          <a:xfrm>
            <a:off x="6375400" y="2174412"/>
            <a:ext cx="5003800" cy="0"/>
          </a:xfrm>
          <a:prstGeom prst="line">
            <a:avLst/>
          </a:prstGeom>
          <a:noFill/>
          <a:ln w="6350">
            <a:solidFill>
              <a:srgbClr val="DDD7CA"/>
            </a:solidFill>
            <a:prstDash val="solid"/>
          </a:ln>
        </p:spPr>
        <p:txBody>
          <a:bodyPr/>
          <a:lstStyle/>
          <a:p>
            <a:endParaRPr lang="en-GB"/>
          </a:p>
        </p:txBody>
      </p:sp>
      <p:sp>
        <p:nvSpPr>
          <p:cNvPr id="18" name="Text 16"/>
          <p:cNvSpPr/>
          <p:nvPr/>
        </p:nvSpPr>
        <p:spPr>
          <a:xfrm>
            <a:off x="6375400" y="1822847"/>
            <a:ext cx="5153914"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E29"/>
                </a:solidFill>
                <a:latin typeface="Arial" pitchFamily="34" charset="0"/>
                <a:ea typeface="Arial" pitchFamily="34" charset="-122"/>
                <a:cs typeface="Arial" pitchFamily="34" charset="-120"/>
              </a:rPr>
              <a:t>Lean vs redundant:</a:t>
            </a:r>
            <a:r>
              <a:rPr lang="en-US" sz="1400" dirty="0">
                <a:solidFill>
                  <a:srgbClr val="131E29"/>
                </a:solidFill>
                <a:latin typeface="Arial" pitchFamily="34" charset="0"/>
                <a:ea typeface="Arial" pitchFamily="34" charset="-122"/>
                <a:cs typeface="Arial" pitchFamily="34" charset="-120"/>
              </a:rPr>
              <a:t> JIT or buffer stock</a:t>
            </a:r>
            <a:endParaRPr lang="en-US" sz="1400" dirty="0"/>
          </a:p>
        </p:txBody>
      </p:sp>
      <p:sp>
        <p:nvSpPr>
          <p:cNvPr id="19" name="Shape 17"/>
          <p:cNvSpPr/>
          <p:nvPr/>
        </p:nvSpPr>
        <p:spPr>
          <a:xfrm>
            <a:off x="6375400" y="2656169"/>
            <a:ext cx="5003800" cy="0"/>
          </a:xfrm>
          <a:prstGeom prst="line">
            <a:avLst/>
          </a:prstGeom>
          <a:noFill/>
          <a:ln w="6350">
            <a:solidFill>
              <a:srgbClr val="DDD7CA"/>
            </a:solidFill>
            <a:prstDash val="solid"/>
          </a:ln>
        </p:spPr>
        <p:txBody>
          <a:bodyPr/>
          <a:lstStyle/>
          <a:p>
            <a:endParaRPr lang="en-GB"/>
          </a:p>
        </p:txBody>
      </p:sp>
      <p:sp>
        <p:nvSpPr>
          <p:cNvPr id="20" name="Text 18"/>
          <p:cNvSpPr/>
          <p:nvPr/>
        </p:nvSpPr>
        <p:spPr>
          <a:xfrm>
            <a:off x="6375400" y="2304604"/>
            <a:ext cx="5153914"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E29"/>
                </a:solidFill>
                <a:latin typeface="Arial" pitchFamily="34" charset="0"/>
                <a:ea typeface="Arial" pitchFamily="34" charset="-122"/>
                <a:cs typeface="Arial" pitchFamily="34" charset="-120"/>
              </a:rPr>
              <a:t>Global vs local:</a:t>
            </a:r>
            <a:r>
              <a:rPr lang="en-US" sz="1400" dirty="0">
                <a:solidFill>
                  <a:srgbClr val="131E29"/>
                </a:solidFill>
                <a:latin typeface="Arial" pitchFamily="34" charset="0"/>
                <a:ea typeface="Arial" pitchFamily="34" charset="-122"/>
                <a:cs typeface="Arial" pitchFamily="34" charset="-120"/>
              </a:rPr>
              <a:t> low cost or proximity</a:t>
            </a:r>
            <a:endParaRPr lang="en-US" sz="1400" dirty="0"/>
          </a:p>
        </p:txBody>
      </p:sp>
      <p:sp>
        <p:nvSpPr>
          <p:cNvPr id="21" name="Shape 19"/>
          <p:cNvSpPr/>
          <p:nvPr/>
        </p:nvSpPr>
        <p:spPr>
          <a:xfrm>
            <a:off x="6375400" y="3137900"/>
            <a:ext cx="5003800" cy="0"/>
          </a:xfrm>
          <a:prstGeom prst="line">
            <a:avLst/>
          </a:prstGeom>
          <a:noFill/>
          <a:ln w="6350">
            <a:solidFill>
              <a:srgbClr val="DDD7CA"/>
            </a:solidFill>
            <a:prstDash val="solid"/>
          </a:ln>
        </p:spPr>
        <p:txBody>
          <a:bodyPr/>
          <a:lstStyle/>
          <a:p>
            <a:endParaRPr lang="en-GB"/>
          </a:p>
        </p:txBody>
      </p:sp>
      <p:sp>
        <p:nvSpPr>
          <p:cNvPr id="22" name="Text 20"/>
          <p:cNvSpPr/>
          <p:nvPr/>
        </p:nvSpPr>
        <p:spPr>
          <a:xfrm>
            <a:off x="6375400" y="2786335"/>
            <a:ext cx="5153914"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E29"/>
                </a:solidFill>
                <a:latin typeface="Arial" pitchFamily="34" charset="0"/>
                <a:ea typeface="Arial" pitchFamily="34" charset="-122"/>
                <a:cs typeface="Arial" pitchFamily="34" charset="-120"/>
              </a:rPr>
              <a:t>Speed vs emissions:</a:t>
            </a:r>
            <a:r>
              <a:rPr lang="en-US" sz="1400" dirty="0">
                <a:solidFill>
                  <a:srgbClr val="131E29"/>
                </a:solidFill>
                <a:latin typeface="Arial" pitchFamily="34" charset="0"/>
                <a:ea typeface="Arial" pitchFamily="34" charset="-122"/>
                <a:cs typeface="Arial" pitchFamily="34" charset="-120"/>
              </a:rPr>
              <a:t> air or sea freight</a:t>
            </a:r>
            <a:endParaRPr lang="en-US" sz="1400" dirty="0"/>
          </a:p>
        </p:txBody>
      </p:sp>
      <p:sp>
        <p:nvSpPr>
          <p:cNvPr id="23" name="Text 21"/>
          <p:cNvSpPr/>
          <p:nvPr/>
        </p:nvSpPr>
        <p:spPr>
          <a:xfrm>
            <a:off x="6375400" y="3268067"/>
            <a:ext cx="5153914"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E29"/>
                </a:solidFill>
                <a:latin typeface="Arial" pitchFamily="34" charset="0"/>
                <a:ea typeface="Arial" pitchFamily="34" charset="-122"/>
                <a:cs typeface="Arial" pitchFamily="34" charset="-120"/>
              </a:rPr>
              <a:t>Cheap vs ethical:</a:t>
            </a:r>
            <a:r>
              <a:rPr lang="en-US" sz="1400" dirty="0">
                <a:solidFill>
                  <a:srgbClr val="131E29"/>
                </a:solidFill>
                <a:latin typeface="Arial" pitchFamily="34" charset="0"/>
                <a:ea typeface="Arial" pitchFamily="34" charset="-122"/>
                <a:cs typeface="Arial" pitchFamily="34" charset="-120"/>
              </a:rPr>
              <a:t> lowest bid or audited supplier</a:t>
            </a:r>
            <a:endParaRPr lang="en-US" sz="1400" dirty="0"/>
          </a:p>
        </p:txBody>
      </p:sp>
      <p:sp>
        <p:nvSpPr>
          <p:cNvPr id="24" name="Text 22"/>
          <p:cNvSpPr/>
          <p:nvPr/>
        </p:nvSpPr>
        <p:spPr>
          <a:xfrm>
            <a:off x="812800" y="4017169"/>
            <a:ext cx="10566400" cy="571500"/>
          </a:xfrm>
          <a:prstGeom prst="rect">
            <a:avLst/>
          </a:prstGeom>
          <a:solidFill>
            <a:srgbClr val="E6F6FA"/>
          </a:solidFill>
          <a:ln/>
        </p:spPr>
        <p:txBody>
          <a:bodyPr wrap="square" lIns="254000" tIns="152400" rIns="0" bIns="127000" rtlCol="0" anchor="t">
            <a:normAutofit/>
          </a:bodyPr>
          <a:lstStyle/>
          <a:p>
            <a:pPr marL="0" indent="0" algn="l">
              <a:lnSpc>
                <a:spcPts val="2100"/>
              </a:lnSpc>
              <a:buNone/>
            </a:pPr>
            <a:r>
              <a:rPr lang="en-US" sz="1500" dirty="0">
                <a:solidFill>
                  <a:srgbClr val="131E29"/>
                </a:solidFill>
                <a:latin typeface="Arial" pitchFamily="34" charset="0"/>
                <a:ea typeface="Arial" pitchFamily="34" charset="-122"/>
                <a:cs typeface="Arial" pitchFamily="34" charset="-120"/>
              </a:rPr>
              <a:t>Managers must choose deliberately which risks and responsibilities the business is willing to carry.</a:t>
            </a:r>
            <a:endParaRPr lang="en-US" sz="1500" dirty="0"/>
          </a:p>
        </p:txBody>
      </p:sp>
      <p:sp>
        <p:nvSpPr>
          <p:cNvPr id="25" name="Shape 23"/>
          <p:cNvSpPr/>
          <p:nvPr/>
        </p:nvSpPr>
        <p:spPr>
          <a:xfrm>
            <a:off x="838200" y="4017169"/>
            <a:ext cx="0" cy="571500"/>
          </a:xfrm>
          <a:prstGeom prst="line">
            <a:avLst/>
          </a:prstGeom>
          <a:noFill/>
          <a:ln w="50800">
            <a:solidFill>
              <a:srgbClr val="005A8F"/>
            </a:solidFill>
            <a:prstDash val="solid"/>
          </a:ln>
        </p:spPr>
        <p:txBody>
          <a:bodyPr/>
          <a:lstStyle/>
          <a:p>
            <a:endParaRPr lang="en-GB"/>
          </a:p>
        </p:txBody>
      </p:sp>
      <p:sp>
        <p:nvSpPr>
          <p:cNvPr id="26" name="Text 24"/>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Sources: León-Bravo and Caniato (2022), cited in Lecture 1; Week 5 lecture</a:t>
            </a:r>
            <a:endParaRPr lang="en-US" sz="1200" dirty="0"/>
          </a:p>
        </p:txBody>
      </p:sp>
      <p:sp>
        <p:nvSpPr>
          <p:cNvPr id="27" name="Text 25"/>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9">
    <p:bg>
      <p:bgPr>
        <a:solidFill>
          <a:srgbClr val="440099"/>
        </a:solidFill>
        <a:effectLst/>
      </p:bgPr>
    </p:bg>
    <p:spTree>
      <p:nvGrpSpPr>
        <p:cNvPr id="1" name=""/>
        <p:cNvGrpSpPr/>
        <p:nvPr/>
      </p:nvGrpSpPr>
      <p:grpSpPr>
        <a:xfrm>
          <a:off x="0" y="0"/>
          <a:ext cx="0" cy="0"/>
          <a:chOff x="0" y="0"/>
          <a:chExt cx="0" cy="0"/>
        </a:xfrm>
      </p:grpSpPr>
      <p:sp>
        <p:nvSpPr>
          <p:cNvPr id="2" name="Text 0"/>
          <p:cNvSpPr/>
          <p:nvPr/>
        </p:nvSpPr>
        <p:spPr>
          <a:xfrm>
            <a:off x="812800" y="1610469"/>
            <a:ext cx="3790884" cy="401307"/>
          </a:xfrm>
          <a:prstGeom prst="roundRect">
            <a:avLst>
              <a:gd name="adj" fmla="val 50000"/>
            </a:avLst>
          </a:prstGeom>
          <a:solidFill>
            <a:srgbClr val="9ADBE8"/>
          </a:solidFill>
          <a:ln/>
        </p:spPr>
        <p:txBody>
          <a:bodyPr wrap="none" lIns="0" tIns="0" rIns="0" bIns="0" rtlCol="0" anchor="ctr">
            <a:normAutofit/>
          </a:bodyPr>
          <a:lstStyle/>
          <a:p>
            <a:pPr marL="0" indent="0" algn="ctr">
              <a:lnSpc>
                <a:spcPts val="1960"/>
              </a:lnSpc>
              <a:buNone/>
            </a:pPr>
            <a:r>
              <a:rPr lang="en-US" sz="1400" b="1" kern="0" spc="100" dirty="0">
                <a:solidFill>
                  <a:srgbClr val="131E29"/>
                </a:solidFill>
                <a:latin typeface="Arial" pitchFamily="34" charset="0"/>
                <a:ea typeface="Arial" pitchFamily="34" charset="-122"/>
                <a:cs typeface="Arial" pitchFamily="34" charset="-120"/>
              </a:rPr>
              <a:t>WOOCLAP 5 · VOTE, TALK, REVOTE</a:t>
            </a:r>
            <a:endParaRPr lang="en-US" sz="1400" dirty="0"/>
          </a:p>
        </p:txBody>
      </p:sp>
      <p:sp>
        <p:nvSpPr>
          <p:cNvPr id="3" name="Text 1"/>
          <p:cNvSpPr/>
          <p:nvPr/>
        </p:nvSpPr>
        <p:spPr>
          <a:xfrm>
            <a:off x="4756084" y="1686669"/>
            <a:ext cx="170632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DBF5"/>
                </a:solidFill>
                <a:latin typeface="Arial" pitchFamily="34" charset="0"/>
                <a:ea typeface="Arial" pitchFamily="34" charset="-122"/>
                <a:cs typeface="Arial" pitchFamily="34" charset="-120"/>
              </a:rPr>
              <a:t>≈ 1:15 · 5 minutes</a:t>
            </a:r>
            <a:endParaRPr lang="en-US" sz="1400" dirty="0"/>
          </a:p>
        </p:txBody>
      </p:sp>
      <p:sp>
        <p:nvSpPr>
          <p:cNvPr id="4" name="Text 2"/>
          <p:cNvSpPr>
            <a:spLocks noGrp="1"/>
          </p:cNvSpPr>
          <p:nvPr>
            <p:ph type="title"/>
          </p:nvPr>
        </p:nvSpPr>
        <p:spPr>
          <a:xfrm>
            <a:off x="812800" y="2265759"/>
            <a:ext cx="10883392"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FFFFF"/>
                </a:solidFill>
                <a:latin typeface="Arial" pitchFamily="34" charset="0"/>
                <a:ea typeface="Arial" pitchFamily="34" charset="-122"/>
                <a:cs typeface="Arial" pitchFamily="34" charset="-120"/>
              </a:rPr>
              <a:t>Spare capacity and buffer stock make medicines resilient but cost money. Who should pay?</a:t>
            </a:r>
            <a:endParaRPr lang="en-US" sz="3200" dirty="0"/>
          </a:p>
        </p:txBody>
      </p:sp>
      <p:sp>
        <p:nvSpPr>
          <p:cNvPr id="5" name="Text 3"/>
          <p:cNvSpPr/>
          <p:nvPr/>
        </p:nvSpPr>
        <p:spPr>
          <a:xfrm>
            <a:off x="819150" y="3460750"/>
            <a:ext cx="2533650" cy="779727"/>
          </a:xfrm>
          <a:prstGeom prst="roundRect">
            <a:avLst>
              <a:gd name="adj" fmla="val 8958"/>
            </a:avLst>
          </a:prstGeom>
          <a:noFill/>
          <a:ln w="12700">
            <a:solidFill>
              <a:srgbClr val="9ADBE8"/>
            </a:solidFill>
            <a:prstDash val="solid"/>
          </a:ln>
        </p:spPr>
        <p:txBody>
          <a:bodyPr wrap="square" lIns="138292" tIns="138292" rIns="71807" bIns="112892" rtlCol="0" anchor="t">
            <a:normAutofit/>
          </a:bodyPr>
          <a:lstStyle/>
          <a:p>
            <a:pPr marL="0" indent="0" algn="l">
              <a:lnSpc>
                <a:spcPts val="1820"/>
              </a:lnSpc>
              <a:buNone/>
            </a:pPr>
            <a:r>
              <a:rPr lang="en-US" sz="1400" b="1" dirty="0">
                <a:solidFill>
                  <a:srgbClr val="FFFFFF"/>
                </a:solidFill>
                <a:latin typeface="Arial" pitchFamily="34" charset="0"/>
                <a:ea typeface="Arial" pitchFamily="34" charset="-122"/>
                <a:cs typeface="Arial" pitchFamily="34" charset="-120"/>
              </a:rPr>
              <a:t>A Manufacturers, as a licence condition</a:t>
            </a:r>
            <a:endParaRPr lang="en-US" sz="1400" dirty="0"/>
          </a:p>
        </p:txBody>
      </p:sp>
      <p:sp>
        <p:nvSpPr>
          <p:cNvPr id="6" name="Text 4"/>
          <p:cNvSpPr/>
          <p:nvPr/>
        </p:nvSpPr>
        <p:spPr>
          <a:xfrm>
            <a:off x="3492500" y="3460750"/>
            <a:ext cx="2533650" cy="779727"/>
          </a:xfrm>
          <a:prstGeom prst="roundRect">
            <a:avLst>
              <a:gd name="adj" fmla="val 8958"/>
            </a:avLst>
          </a:prstGeom>
          <a:noFill/>
          <a:ln w="12700">
            <a:solidFill>
              <a:srgbClr val="9ADBE8"/>
            </a:solidFill>
            <a:prstDash val="solid"/>
          </a:ln>
        </p:spPr>
        <p:txBody>
          <a:bodyPr wrap="square" lIns="138292" tIns="138292" rIns="71807" bIns="112892" rtlCol="0" anchor="t">
            <a:normAutofit/>
          </a:bodyPr>
          <a:lstStyle/>
          <a:p>
            <a:pPr marL="0" indent="0" algn="l">
              <a:lnSpc>
                <a:spcPts val="1820"/>
              </a:lnSpc>
              <a:buNone/>
            </a:pPr>
            <a:r>
              <a:rPr lang="en-US" sz="1400" b="1" dirty="0">
                <a:solidFill>
                  <a:srgbClr val="FFFFFF"/>
                </a:solidFill>
                <a:latin typeface="Arial" pitchFamily="34" charset="0"/>
                <a:ea typeface="Arial" pitchFamily="34" charset="-122"/>
                <a:cs typeface="Arial" pitchFamily="34" charset="-120"/>
              </a:rPr>
              <a:t>B Wholesalers and pharmacies</a:t>
            </a:r>
            <a:endParaRPr lang="en-US" sz="1400" dirty="0"/>
          </a:p>
        </p:txBody>
      </p:sp>
      <p:sp>
        <p:nvSpPr>
          <p:cNvPr id="7" name="Text 5"/>
          <p:cNvSpPr/>
          <p:nvPr/>
        </p:nvSpPr>
        <p:spPr>
          <a:xfrm>
            <a:off x="6165850" y="3460750"/>
            <a:ext cx="2533650" cy="779727"/>
          </a:xfrm>
          <a:prstGeom prst="roundRect">
            <a:avLst>
              <a:gd name="adj" fmla="val 8958"/>
            </a:avLst>
          </a:prstGeom>
          <a:noFill/>
          <a:ln w="12700">
            <a:solidFill>
              <a:srgbClr val="9ADBE8"/>
            </a:solidFill>
            <a:prstDash val="solid"/>
          </a:ln>
        </p:spPr>
        <p:txBody>
          <a:bodyPr wrap="square" lIns="138292" tIns="138292" rIns="71807" bIns="112892" rtlCol="0" anchor="t">
            <a:normAutofit/>
          </a:bodyPr>
          <a:lstStyle/>
          <a:p>
            <a:pPr marL="0" indent="0" algn="l">
              <a:lnSpc>
                <a:spcPts val="1820"/>
              </a:lnSpc>
              <a:buNone/>
            </a:pPr>
            <a:r>
              <a:rPr lang="en-US" sz="1400" b="1" dirty="0">
                <a:solidFill>
                  <a:srgbClr val="FFFFFF"/>
                </a:solidFill>
                <a:latin typeface="Arial" pitchFamily="34" charset="0"/>
                <a:ea typeface="Arial" pitchFamily="34" charset="-122"/>
                <a:cs typeface="Arial" pitchFamily="34" charset="-120"/>
              </a:rPr>
              <a:t>C The NHS, through higher prices</a:t>
            </a:r>
            <a:endParaRPr lang="en-US" sz="1400" dirty="0"/>
          </a:p>
        </p:txBody>
      </p:sp>
      <p:sp>
        <p:nvSpPr>
          <p:cNvPr id="8" name="Text 6"/>
          <p:cNvSpPr/>
          <p:nvPr/>
        </p:nvSpPr>
        <p:spPr>
          <a:xfrm>
            <a:off x="8839200" y="3460750"/>
            <a:ext cx="2533650" cy="779727"/>
          </a:xfrm>
          <a:prstGeom prst="roundRect">
            <a:avLst>
              <a:gd name="adj" fmla="val 8958"/>
            </a:avLst>
          </a:prstGeom>
          <a:noFill/>
          <a:ln w="12700">
            <a:solidFill>
              <a:srgbClr val="9ADBE8"/>
            </a:solidFill>
            <a:prstDash val="solid"/>
          </a:ln>
        </p:spPr>
        <p:txBody>
          <a:bodyPr wrap="square" lIns="138292" tIns="138292" rIns="71807" bIns="112892" rtlCol="0" anchor="t">
            <a:normAutofit/>
          </a:bodyPr>
          <a:lstStyle/>
          <a:p>
            <a:pPr marL="0" indent="0" algn="l">
              <a:lnSpc>
                <a:spcPts val="1820"/>
              </a:lnSpc>
              <a:buNone/>
            </a:pPr>
            <a:r>
              <a:rPr lang="en-US" sz="1400" b="1" dirty="0">
                <a:solidFill>
                  <a:srgbClr val="FFFFFF"/>
                </a:solidFill>
                <a:latin typeface="Arial" pitchFamily="34" charset="0"/>
                <a:ea typeface="Arial" pitchFamily="34" charset="-122"/>
                <a:cs typeface="Arial" pitchFamily="34" charset="-120"/>
              </a:rPr>
              <a:t>D Government, as a public good</a:t>
            </a:r>
            <a:endParaRPr lang="en-US" sz="1400" dirty="0"/>
          </a:p>
        </p:txBody>
      </p:sp>
      <p:sp>
        <p:nvSpPr>
          <p:cNvPr id="9" name="Text 7"/>
          <p:cNvSpPr/>
          <p:nvPr/>
        </p:nvSpPr>
        <p:spPr>
          <a:xfrm>
            <a:off x="812800" y="4500835"/>
            <a:ext cx="10883392"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6DBF5"/>
                </a:solidFill>
                <a:latin typeface="Arial" pitchFamily="34" charset="0"/>
                <a:ea typeface="Arial" pitchFamily="34" charset="-122"/>
                <a:cs typeface="Arial" pitchFamily="34" charset="-120"/>
              </a:rPr>
              <a:t>Vote, then turn to your neighbour for 60 seconds: </a:t>
            </a:r>
            <a:r>
              <a:rPr lang="en-US" sz="1600" b="1" dirty="0">
                <a:solidFill>
                  <a:srgbClr val="FFFFFF"/>
                </a:solidFill>
                <a:latin typeface="Arial" pitchFamily="34" charset="0"/>
                <a:ea typeface="Arial" pitchFamily="34" charset="-122"/>
                <a:cs typeface="Arial" pitchFamily="34" charset="-120"/>
              </a:rPr>
              <a:t>will a market ever provide enough resilience on its own?</a:t>
            </a:r>
            <a:r>
              <a:rPr lang="en-US" sz="1600" dirty="0">
                <a:solidFill>
                  <a:srgbClr val="E6DBF5"/>
                </a:solidFill>
                <a:latin typeface="Arial" pitchFamily="34" charset="0"/>
                <a:ea typeface="Arial" pitchFamily="34" charset="-122"/>
                <a:cs typeface="Arial" pitchFamily="34" charset="-120"/>
              </a:rPr>
              <a:t> Then vote again.</a:t>
            </a:r>
            <a:endParaRPr lang="en-US" sz="1600" dirty="0"/>
          </a:p>
        </p:txBody>
      </p:sp>
      <p:sp>
        <p:nvSpPr>
          <p:cNvPr id="10" name="Text 8"/>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6DBF5"/>
                </a:solidFill>
                <a:latin typeface="Arial" pitchFamily="34" charset="0"/>
                <a:ea typeface="Arial" pitchFamily="34" charset="-122"/>
                <a:cs typeface="Arial" pitchFamily="34" charset="-120"/>
              </a:rPr>
              <a:t>28</a:t>
            </a:r>
            <a:endParaRPr lang="en-US" sz="1200" dirty="0"/>
          </a:p>
        </p:txBody>
      </p:sp>
      <p:sp>
        <p:nvSpPr>
          <p:cNvPr id="11" name="QR background"/>
          <p:cNvSpPr/>
          <p:nvPr/>
        </p:nvSpPr>
        <p:spPr>
          <a:xfrm>
            <a:off x="10561320" y="274320"/>
            <a:ext cx="1143000" cy="1143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Wooclap QR code" descr="QR code linking to the Wooclap event, code JXRSLXH"/>
          <p:cNvPicPr>
            <a:picLocks noChangeAspect="1"/>
          </p:cNvPicPr>
          <p:nvPr/>
        </p:nvPicPr>
        <p:blipFill>
          <a:blip r:embed="rId3"/>
          <a:stretch>
            <a:fillRect/>
          </a:stretch>
        </p:blipFill>
        <p:spPr>
          <a:xfrm>
            <a:off x="10618470" y="331470"/>
            <a:ext cx="1028700" cy="1028700"/>
          </a:xfrm>
          <a:prstGeom prst="rect">
            <a:avLst/>
          </a:prstGeom>
        </p:spPr>
      </p:pic>
      <p:sp>
        <p:nvSpPr>
          <p:cNvPr id="13" name="Wooclap code"/>
          <p:cNvSpPr txBox="1"/>
          <p:nvPr/>
        </p:nvSpPr>
        <p:spPr>
          <a:xfrm>
            <a:off x="9189720" y="566928"/>
            <a:ext cx="1261872" cy="548640"/>
          </a:xfrm>
          <a:prstGeom prst="rect">
            <a:avLst/>
          </a:prstGeom>
          <a:noFill/>
        </p:spPr>
        <p:txBody>
          <a:bodyPr wrap="square" lIns="0" tIns="0" rIns="0" bIns="0" anchor="ctr">
            <a:spAutoFit/>
          </a:bodyPr>
          <a:lstStyle/>
          <a:p>
            <a:pPr algn="r">
              <a:spcAft>
                <a:spcPts val="0"/>
              </a:spcAft>
            </a:pPr>
            <a:r>
              <a:rPr sz="1400" b="0">
                <a:solidFill>
                  <a:srgbClr val="E6DBF5"/>
                </a:solidFill>
                <a:latin typeface="Arial"/>
              </a:rPr>
              <a:t>Join: </a:t>
            </a:r>
            <a:r>
              <a:rPr sz="1400" b="1">
                <a:solidFill>
                  <a:srgbClr val="FFFFFF"/>
                </a:solidFill>
                <a:latin typeface="Arial"/>
              </a:rPr>
              <a:t>JXRSLXH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dirty="0" b="1">
                <a:solidFill>
                  <a:srgbClr val="440099"/>
                </a:solidFill>
                <a:latin typeface="Arial"/>
              </a:rPr>
              <a:t>Supply Chain Disruptions</a:t>
            </a:r>
          </a:p>
        </p:txBody>
      </p:sp>
      <p:sp>
        <p:nvSpPr>
          <p:cNvPr id="4" name="Text 2"/>
          <p:cNvSpPr/>
          <p:nvPr/>
        </p:nvSpPr>
        <p:spPr>
          <a:xfrm>
            <a:off x="819150" y="1552972"/>
            <a:ext cx="3035300" cy="797454"/>
          </a:xfrm>
          <a:prstGeom prst="roundRect">
            <a:avLst>
              <a:gd name="adj" fmla="val 8759"/>
            </a:avLst>
          </a:prstGeom>
          <a:solidFill>
            <a:srgbClr val="F4EFFA"/>
          </a:solidFill>
          <a:ln w="12700">
            <a:solidFill>
              <a:srgbClr val="440099"/>
            </a:solidFill>
            <a:prstDash val="solid"/>
          </a:ln>
        </p:spPr>
        <p:txBody>
          <a:bodyPr wrap="square" lIns="138292" tIns="138292" rIns="56758" bIns="112892" rtlCol="0" anchor="t">
            <a:normAutofit/>
          </a:bodyPr>
          <a:lstStyle/>
          <a:p>
            <a:pPr marL="0" indent="0" algn="l">
              <a:lnSpc>
                <a:spcPts val="1890"/>
              </a:lnSpc>
              <a:buNone/>
            </a:pPr>
            <a:r>
              <a:rPr lang="en-US" sz="1400" b="1" dirty="0">
                <a:solidFill>
                  <a:srgbClr val="131E29"/>
                </a:solidFill>
                <a:latin typeface="Arial" pitchFamily="34" charset="0"/>
                <a:ea typeface="Arial" pitchFamily="34" charset="-122"/>
                <a:cs typeface="Arial" pitchFamily="34" charset="-120"/>
              </a:rPr>
              <a:t>Event</a:t>
            </a:r>
            <a:endParaRPr lang="en-US" sz="1400" dirty="0"/>
          </a:p>
          <a:p>
            <a:pPr marL="0" indent="0" algn="l">
              <a:lnSpc>
                <a:spcPts val="1890"/>
              </a:lnSpc>
              <a:buNone/>
            </a:pPr>
            <a:r>
              <a:rPr lang="en-US" sz="1400" dirty="0">
                <a:solidFill>
                  <a:srgbClr val="131E29"/>
                </a:solidFill>
                <a:latin typeface="Arial" pitchFamily="34" charset="0"/>
                <a:ea typeface="Arial" pitchFamily="34" charset="-122"/>
                <a:cs typeface="Arial" pitchFamily="34" charset="-120"/>
              </a:rPr>
              <a:t>War, tariff change, blocked route</a:t>
            </a:r>
            <a:endParaRPr lang="en-US" sz="1400" dirty="0"/>
          </a:p>
        </p:txBody>
      </p:sp>
      <p:pic>
        <p:nvPicPr>
          <p:cNvPr id="5" name="Image 0" descr="arrow-right"/>
          <p:cNvPicPr>
            <a:picLocks noChangeAspect="1"/>
          </p:cNvPicPr>
          <p:nvPr/>
        </p:nvPicPr>
        <p:blipFill>
          <a:blip r:embed="rId3"/>
          <a:srcRect/>
          <a:stretch/>
        </p:blipFill>
        <p:spPr>
          <a:xfrm>
            <a:off x="3987800" y="1837407"/>
            <a:ext cx="457200" cy="228600"/>
          </a:xfrm>
          <a:prstGeom prst="rect">
            <a:avLst/>
          </a:prstGeom>
        </p:spPr>
      </p:pic>
      <p:sp>
        <p:nvSpPr>
          <p:cNvPr id="6" name="Text 3"/>
          <p:cNvSpPr/>
          <p:nvPr/>
        </p:nvSpPr>
        <p:spPr>
          <a:xfrm>
            <a:off x="4578350" y="1432992"/>
            <a:ext cx="3035300" cy="1037431"/>
          </a:xfrm>
          <a:prstGeom prst="roundRect">
            <a:avLst>
              <a:gd name="adj" fmla="val 6733"/>
            </a:avLst>
          </a:prstGeom>
          <a:solidFill>
            <a:srgbClr val="F4EFFA"/>
          </a:solidFill>
          <a:ln w="12700">
            <a:solidFill>
              <a:srgbClr val="440099"/>
            </a:solidFill>
            <a:prstDash val="solid"/>
          </a:ln>
        </p:spPr>
        <p:txBody>
          <a:bodyPr wrap="square" lIns="138292" tIns="138292" rIns="56758" bIns="112892" rtlCol="0" anchor="t">
            <a:normAutofit/>
          </a:bodyPr>
          <a:lstStyle/>
          <a:p>
            <a:pPr marL="0" indent="0" algn="l">
              <a:lnSpc>
                <a:spcPts val="1890"/>
              </a:lnSpc>
              <a:buNone/>
            </a:pPr>
            <a:r>
              <a:rPr lang="en-US" sz="1400" b="1" dirty="0">
                <a:solidFill>
                  <a:srgbClr val="131E29"/>
                </a:solidFill>
                <a:latin typeface="Arial" pitchFamily="34" charset="0"/>
                <a:ea typeface="Arial" pitchFamily="34" charset="-122"/>
                <a:cs typeface="Arial" pitchFamily="34" charset="-120"/>
              </a:rPr>
              <a:t>Mechanism</a:t>
            </a:r>
            <a:endParaRPr lang="en-US" sz="1400" dirty="0"/>
          </a:p>
          <a:p>
            <a:pPr marL="0" indent="0" algn="l">
              <a:lnSpc>
                <a:spcPts val="1890"/>
              </a:lnSpc>
              <a:buNone/>
            </a:pPr>
            <a:r>
              <a:rPr lang="en-US" sz="1400" dirty="0">
                <a:solidFill>
                  <a:srgbClr val="131E29"/>
                </a:solidFill>
                <a:latin typeface="Arial" pitchFamily="34" charset="0"/>
                <a:ea typeface="Arial" pitchFamily="34" charset="-122"/>
                <a:cs typeface="Arial" pitchFamily="34" charset="-120"/>
              </a:rPr>
              <a:t>Inputs delayed, costs rise, capacity lost</a:t>
            </a:r>
            <a:endParaRPr lang="en-US" sz="1400" dirty="0"/>
          </a:p>
        </p:txBody>
      </p:sp>
      <p:pic>
        <p:nvPicPr>
          <p:cNvPr id="7" name="Image 1" descr="arrow-right"/>
          <p:cNvPicPr>
            <a:picLocks noChangeAspect="1"/>
          </p:cNvPicPr>
          <p:nvPr/>
        </p:nvPicPr>
        <p:blipFill>
          <a:blip r:embed="rId3"/>
          <a:srcRect/>
          <a:stretch/>
        </p:blipFill>
        <p:spPr>
          <a:xfrm>
            <a:off x="7747000" y="1837407"/>
            <a:ext cx="457200" cy="228600"/>
          </a:xfrm>
          <a:prstGeom prst="rect">
            <a:avLst/>
          </a:prstGeom>
        </p:spPr>
      </p:pic>
      <p:sp>
        <p:nvSpPr>
          <p:cNvPr id="8" name="Text 4"/>
          <p:cNvSpPr/>
          <p:nvPr/>
        </p:nvSpPr>
        <p:spPr>
          <a:xfrm>
            <a:off x="8337550" y="1552972"/>
            <a:ext cx="3035300" cy="797454"/>
          </a:xfrm>
          <a:prstGeom prst="roundRect">
            <a:avLst>
              <a:gd name="adj" fmla="val 8759"/>
            </a:avLst>
          </a:prstGeom>
          <a:solidFill>
            <a:srgbClr val="440099"/>
          </a:solidFill>
          <a:ln w="12700">
            <a:solidFill>
              <a:srgbClr val="440099"/>
            </a:solidFill>
            <a:prstDash val="solid"/>
          </a:ln>
        </p:spPr>
        <p:txBody>
          <a:bodyPr wrap="square" lIns="138292" tIns="138292" rIns="56758" bIns="112892" rtlCol="0" anchor="t">
            <a:normAutofit/>
          </a:bodyPr>
          <a:lstStyle/>
          <a:p>
            <a:pPr marL="0" indent="0" algn="l">
              <a:lnSpc>
                <a:spcPts val="1890"/>
              </a:lnSpc>
              <a:buNone/>
            </a:pPr>
            <a:r>
              <a:rPr lang="en-US" sz="1400" b="1" dirty="0">
                <a:solidFill>
                  <a:srgbClr val="FFFFFF"/>
                </a:solidFill>
                <a:latin typeface="Arial" pitchFamily="34" charset="0"/>
                <a:ea typeface="Arial" pitchFamily="34" charset="-122"/>
                <a:cs typeface="Arial" pitchFamily="34" charset="-120"/>
              </a:rPr>
              <a:t>Operations outcome</a:t>
            </a:r>
            <a:endParaRPr lang="en-US" sz="1400" dirty="0"/>
          </a:p>
          <a:p>
            <a:pPr marL="0" indent="0" algn="l">
              <a:lnSpc>
                <a:spcPts val="1890"/>
              </a:lnSpc>
              <a:buNone/>
            </a:pPr>
            <a:r>
              <a:rPr lang="en-US" sz="1400" dirty="0">
                <a:solidFill>
                  <a:srgbClr val="FFFFFF"/>
                </a:solidFill>
                <a:latin typeface="Arial" pitchFamily="34" charset="0"/>
                <a:ea typeface="Arial" pitchFamily="34" charset="-122"/>
                <a:cs typeface="Arial" pitchFamily="34" charset="-120"/>
              </a:rPr>
              <a:t>Output, delivery and margin fall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718073"/>
          <a:ext cx="10553700" cy="1796520"/>
        </p:xfrm>
        <a:graphic>
          <a:graphicData uri="http://schemas.openxmlformats.org/drawingml/2006/table">
            <a:tbl>
              <a:tblPr/>
              <a:tblGrid>
                <a:gridCol w="2955036">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FFFFF"/>
                          </a:solidFill>
                          <a:latin typeface="Arial" pitchFamily="34" charset="0"/>
                          <a:ea typeface="Arial" pitchFamily="34" charset="-122"/>
                          <a:cs typeface="Arial" pitchFamily="34" charset="-120"/>
                        </a:rPr>
                        <a:t>Event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820"/>
                        </a:lnSpc>
                        <a:buNone/>
                      </a:pPr>
                      <a:r>
                        <a:rPr lang="en-US" sz="1300" b="1" dirty="0">
                          <a:solidFill>
                            <a:srgbClr val="FFFFFF"/>
                          </a:solidFill>
                          <a:latin typeface="Arial" pitchFamily="34" charset="0"/>
                          <a:ea typeface="Arial" pitchFamily="34" charset="-122"/>
                          <a:cs typeface="Arial" pitchFamily="34" charset="-120"/>
                        </a:rPr>
                        <a:t>Exposure</a:t>
                      </a:r>
                      <a:endParaRPr lang="en-US" sz="1300" dirty="0">
                        <a:latin typeface="Arial" charset="0"/>
                        <a:ea typeface="Arial" charset="0"/>
                        <a:cs typeface="Arial" charset="0"/>
                      </a:endParaRPr>
                    </a:p>
                  </a:txBody>
                  <a:tcPr marL="57785" marR="57785" marT="57785" marB="57785">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820"/>
                        </a:lnSpc>
                        <a:buNone/>
                      </a:pPr>
                      <a:r>
                        <a:rPr lang="en-US" sz="1300" b="1" dirty="0">
                          <a:solidFill>
                            <a:srgbClr val="FFFFFF"/>
                          </a:solidFill>
                          <a:latin typeface="Arial" pitchFamily="34" charset="0"/>
                          <a:ea typeface="Arial" pitchFamily="34" charset="-122"/>
                          <a:cs typeface="Arial" pitchFamily="34" charset="-120"/>
                        </a:rPr>
                        <a:t>Operational consequence</a:t>
                      </a:r>
                      <a:endParaRPr lang="en-US" sz="1300" dirty="0">
                        <a:latin typeface="Arial" charset="0"/>
                        <a:ea typeface="Arial" charset="0"/>
                        <a:cs typeface="Arial" charset="0"/>
                      </a:endParaRPr>
                    </a:p>
                  </a:txBody>
                  <a:tcPr marL="57785" marR="57785" marT="57785" marB="57785">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Suez blockage (2021)</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One shipping corridor</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Late arrivals, congested ports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Red Sea attacks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Carriers avoid the Suez route</a:t>
                      </a:r>
                      <a:endParaRPr lang="en-US" sz="1300" dirty="0">
                        <a:latin typeface="Arial" charset="0"/>
                        <a:ea typeface="Arial" charset="0"/>
                        <a:cs typeface="Arial" charset="0"/>
                      </a:endParaRPr>
                    </a:p>
                  </a:txBody>
                  <a:tcPr marL="57785" marR="57785" marT="57785" marB="57785">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Longer routes, higher freight and insurance</a:t>
                      </a:r>
                      <a:endParaRPr lang="en-US" sz="1300" dirty="0">
                        <a:latin typeface="Arial" charset="0"/>
                        <a:ea typeface="Arial" charset="0"/>
                        <a:cs typeface="Arial" charset="0"/>
                      </a:endParaRPr>
                    </a:p>
                  </a:txBody>
                  <a:tcPr marL="57785" marR="57785" marT="57785" marB="57785">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Russia–Ukraine war</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Black Sea trade, energy, metals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Input shortages, energy costs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Tariff increases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Imports from specific origins</a:t>
                      </a:r>
                      <a:endParaRPr lang="en-US" sz="1300" dirty="0">
                        <a:latin typeface="Arial" charset="0"/>
                        <a:ea typeface="Arial" charset="0"/>
                        <a:cs typeface="Arial" charset="0"/>
                      </a:endParaRPr>
                    </a:p>
                  </a:txBody>
                  <a:tcPr marL="57785" marR="57785" marT="57785" marB="57785">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820"/>
                        </a:lnSpc>
                        <a:buNone/>
                      </a:pPr>
                      <a:r>
                        <a:rPr lang="en-US" sz="1300" dirty="0">
                          <a:solidFill>
                            <a:srgbClr val="131E29"/>
                          </a:solidFill>
                          <a:latin typeface="Arial" pitchFamily="34" charset="0"/>
                          <a:ea typeface="Arial" pitchFamily="34" charset="-122"/>
                          <a:cs typeface="Arial" pitchFamily="34" charset="-120"/>
                        </a:rPr>
                        <a:t>Higher landed cost, re-sourcing</a:t>
                      </a:r>
                      <a:endParaRPr lang="en-US" sz="1300" dirty="0">
                        <a:latin typeface="Arial" charset="0"/>
                        <a:ea typeface="Arial" charset="0"/>
                        <a:cs typeface="Arial" charset="0"/>
                      </a:endParaRPr>
                    </a:p>
                  </a:txBody>
                  <a:tcPr marL="57785" marR="57785" marT="57785" marB="57785">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4"/>
                  </a:ext>
                </a:extLst>
              </a:tr>
            </a:tbl>
          </a:graphicData>
        </a:graphic>
      </p:graphicFrame>
      <p:sp>
        <p:nvSpPr>
          <p:cNvPr id="10" name="Text 5"/>
          <p:cNvSpPr/>
          <p:nvPr/>
        </p:nvSpPr>
        <p:spPr>
          <a:xfrm>
            <a:off x="812800" y="4743202"/>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E29"/>
                </a:solidFill>
                <a:latin typeface="Arial" pitchFamily="34" charset="0"/>
                <a:ea typeface="Arial" pitchFamily="34" charset="-122"/>
                <a:cs typeface="Arial" pitchFamily="34" charset="-120"/>
              </a:rPr>
              <a:t>Tight coupling</a:t>
            </a:r>
            <a:r>
              <a:rPr lang="en-US" sz="1400" dirty="0">
                <a:solidFill>
                  <a:srgbClr val="131E29"/>
                </a:solidFill>
                <a:latin typeface="Arial" pitchFamily="34" charset="0"/>
                <a:ea typeface="Arial" pitchFamily="34" charset="-122"/>
                <a:cs typeface="Arial" pitchFamily="34" charset="-120"/>
              </a:rPr>
              <a:t> (little stock or slack between steps) lets a shock spread quickly through the chain (Perrow, 1999).</a:t>
            </a:r>
            <a:endParaRPr lang="en-US" sz="1400" dirty="0"/>
          </a:p>
        </p:txBody>
      </p:sp>
      <p:sp>
        <p:nvSpPr>
          <p:cNvPr id="11" name="Text 6"/>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587F2B9-BACC-4DC4-93EE-BF44FE655EAF}"/>
              </a:ext>
            </a:extLst>
          </p:cNvPr>
          <p:cNvSpPr>
            <a:spLocks noGrp="1"/>
          </p:cNvSpPr>
          <p:nvPr/>
        </p:nvSpPr>
        <p:spPr>
          <a:xfrm>
            <a:off x="428625" y="266700"/>
            <a:ext cx="11334750" cy="666750"/>
          </a:xfrm>
          <a:prstGeom prst="rect">
            <a:avLst/>
          </a:prstGeom>
          <a:noFill/>
          <a:ln w="0">
            <a:noFill/>
            <a:prstDash val="solid"/>
          </a:ln>
        </p:spPr>
        <p:txBody>
          <a:bodyPr/>
          <a:lstStyle>
            <a:defPPr>
              <a:defRPr sz="3150" b="1">
                <a:solidFill>
                  <a:srgbClr val="173B3B"/>
                </a:solidFill>
                <a:latin typeface="Arial"/>
                <a:ea typeface="Arial"/>
                <a:cs typeface="Arial"/>
              </a:defRPr>
            </a:defPPr>
            <a:lvl1pPr>
              <a:defRPr sz="3150" b="1">
                <a:solidFill>
                  <a:srgbClr val="173B3B"/>
                </a:solidFill>
                <a:latin typeface="Arial"/>
                <a:ea typeface="Arial"/>
                <a:cs typeface="Arial"/>
              </a:defRPr>
            </a:lvl1pPr>
            <a:lvl2pPr>
              <a:defRPr sz="3150" b="1">
                <a:solidFill>
                  <a:srgbClr val="173B3B"/>
                </a:solidFill>
                <a:latin typeface="Arial"/>
                <a:ea typeface="Arial"/>
                <a:cs typeface="Arial"/>
              </a:defRPr>
            </a:lvl2pPr>
            <a:lvl3pPr>
              <a:defRPr sz="3150" b="1">
                <a:solidFill>
                  <a:srgbClr val="173B3B"/>
                </a:solidFill>
                <a:latin typeface="Arial"/>
                <a:ea typeface="Arial"/>
                <a:cs typeface="Arial"/>
              </a:defRPr>
            </a:lvl3pPr>
            <a:lvl4pPr>
              <a:defRPr sz="3150" b="1">
                <a:solidFill>
                  <a:srgbClr val="173B3B"/>
                </a:solidFill>
                <a:latin typeface="Arial"/>
                <a:ea typeface="Arial"/>
                <a:cs typeface="Arial"/>
              </a:defRPr>
            </a:lvl4pPr>
            <a:lvl5pPr>
              <a:defRPr sz="3150" b="1">
                <a:solidFill>
                  <a:srgbClr val="173B3B"/>
                </a:solidFill>
                <a:latin typeface="Arial"/>
                <a:ea typeface="Arial"/>
                <a:cs typeface="Arial"/>
              </a:defRPr>
            </a:lvl5pPr>
            <a:lvl6pPr>
              <a:defRPr sz="3150" b="1">
                <a:solidFill>
                  <a:srgbClr val="173B3B"/>
                </a:solidFill>
                <a:latin typeface="Arial"/>
                <a:ea typeface="Arial"/>
                <a:cs typeface="Arial"/>
              </a:defRPr>
            </a:lvl6pPr>
            <a:lvl7pPr>
              <a:defRPr sz="3150" b="1">
                <a:solidFill>
                  <a:srgbClr val="173B3B"/>
                </a:solidFill>
                <a:latin typeface="Arial"/>
                <a:ea typeface="Arial"/>
                <a:cs typeface="Arial"/>
              </a:defRPr>
            </a:lvl7pPr>
            <a:lvl8pPr>
              <a:defRPr sz="3150" b="1">
                <a:solidFill>
                  <a:srgbClr val="173B3B"/>
                </a:solidFill>
                <a:latin typeface="Arial"/>
                <a:ea typeface="Arial"/>
                <a:cs typeface="Arial"/>
              </a:defRPr>
            </a:lvl8pPr>
            <a:lvl9pPr>
              <a:defRPr sz="3150" b="1">
                <a:solidFill>
                  <a:srgbClr val="173B3B"/>
                </a:solidFill>
                <a:latin typeface="Arial"/>
                <a:ea typeface="Arial"/>
                <a:cs typeface="Arial"/>
              </a:defRPr>
            </a:lvl9pPr>
          </a:lstStyle>
          <a:p>
            <a:pPr algn="l">
              <a:defRPr sz="3150" b="1">
                <a:solidFill>
                  <a:srgbClr val="173B3B"/>
                </a:solidFill>
                <a:latin typeface="Arial"/>
                <a:ea typeface="Arial"/>
                <a:cs typeface="Arial"/>
              </a:defRPr>
            </a:pPr>
            <a:r>
              <a:rPr sz="3000" b="1">
                <a:solidFill>
                  <a:srgbClr val="440099"/>
                </a:solidFill>
                <a:latin typeface="Arial"/>
                <a:ea typeface="Arial"/>
                <a:cs typeface="Arial"/>
              </a:rPr>
              <a:t>How could the finished phone reach the UK?</a:t>
            </a:r>
          </a:p>
        </p:txBody>
      </p:sp>
      <p:sp>
        <p:nvSpPr>
          <p:cNvPr id="2" name="Rectangle 1">
            <a:extLst>
              <a:ext uri="{FF2B5EF4-FFF2-40B4-BE49-F238E27FC236}">
                <a16:creationId xmlns:a16="http://schemas.microsoft.com/office/drawing/2014/main" id="{4970214A-20A3-458F-A3CA-9744A7AC9ADC}"/>
              </a:ext>
            </a:extLst>
          </p:cNvPr>
          <p:cNvSpPr>
            <a:spLocks noGrp="1"/>
          </p:cNvSpPr>
          <p:nvPr/>
        </p:nvSpPr>
        <p:spPr>
          <a:xfrm>
            <a:off x="428625" y="1000125"/>
            <a:ext cx="11334750" cy="428625"/>
          </a:xfrm>
          <a:prstGeom prst="rect">
            <a:avLst/>
          </a:prstGeom>
          <a:noFill/>
          <a:ln w="0">
            <a:noFill/>
            <a:prstDash val="solid"/>
          </a:ln>
        </p:spPr>
        <p:txBody>
          <a:bodyPr/>
          <a:lstStyle>
            <a:defPPr>
              <a:defRPr sz="2100" b="0">
                <a:solidFill>
                  <a:srgbClr val="173B3B"/>
                </a:solidFill>
                <a:latin typeface="Arial"/>
                <a:ea typeface="Arial"/>
                <a:cs typeface="Arial"/>
              </a:defRPr>
            </a:defPPr>
            <a:lvl1pPr>
              <a:defRPr sz="2100" b="0">
                <a:solidFill>
                  <a:srgbClr val="173B3B"/>
                </a:solidFill>
                <a:latin typeface="Arial"/>
                <a:ea typeface="Arial"/>
                <a:cs typeface="Arial"/>
              </a:defRPr>
            </a:lvl1pPr>
            <a:lvl2pPr>
              <a:defRPr sz="2100" b="0">
                <a:solidFill>
                  <a:srgbClr val="173B3B"/>
                </a:solidFill>
                <a:latin typeface="Arial"/>
                <a:ea typeface="Arial"/>
                <a:cs typeface="Arial"/>
              </a:defRPr>
            </a:lvl2pPr>
            <a:lvl3pPr>
              <a:defRPr sz="2100" b="0">
                <a:solidFill>
                  <a:srgbClr val="173B3B"/>
                </a:solidFill>
                <a:latin typeface="Arial"/>
                <a:ea typeface="Arial"/>
                <a:cs typeface="Arial"/>
              </a:defRPr>
            </a:lvl3pPr>
            <a:lvl4pPr>
              <a:defRPr sz="2100" b="0">
                <a:solidFill>
                  <a:srgbClr val="173B3B"/>
                </a:solidFill>
                <a:latin typeface="Arial"/>
                <a:ea typeface="Arial"/>
                <a:cs typeface="Arial"/>
              </a:defRPr>
            </a:lvl4pPr>
            <a:lvl5pPr>
              <a:defRPr sz="2100" b="0">
                <a:solidFill>
                  <a:srgbClr val="173B3B"/>
                </a:solidFill>
                <a:latin typeface="Arial"/>
                <a:ea typeface="Arial"/>
                <a:cs typeface="Arial"/>
              </a:defRPr>
            </a:lvl5pPr>
            <a:lvl6pPr>
              <a:defRPr sz="2100" b="0">
                <a:solidFill>
                  <a:srgbClr val="173B3B"/>
                </a:solidFill>
                <a:latin typeface="Arial"/>
                <a:ea typeface="Arial"/>
                <a:cs typeface="Arial"/>
              </a:defRPr>
            </a:lvl6pPr>
            <a:lvl7pPr>
              <a:defRPr sz="2100" b="0">
                <a:solidFill>
                  <a:srgbClr val="173B3B"/>
                </a:solidFill>
                <a:latin typeface="Arial"/>
                <a:ea typeface="Arial"/>
                <a:cs typeface="Arial"/>
              </a:defRPr>
            </a:lvl7pPr>
            <a:lvl8pPr>
              <a:defRPr sz="2100" b="0">
                <a:solidFill>
                  <a:srgbClr val="173B3B"/>
                </a:solidFill>
                <a:latin typeface="Arial"/>
                <a:ea typeface="Arial"/>
                <a:cs typeface="Arial"/>
              </a:defRPr>
            </a:lvl8pPr>
            <a:lvl9pPr>
              <a:defRPr sz="2100" b="0">
                <a:solidFill>
                  <a:srgbClr val="173B3B"/>
                </a:solidFill>
                <a:latin typeface="Arial"/>
                <a:ea typeface="Arial"/>
                <a:cs typeface="Arial"/>
              </a:defRPr>
            </a:lvl9pPr>
          </a:lstStyle>
          <a:p>
            <a:pPr>
              <a:defRPr sz="2100" b="0">
                <a:solidFill>
                  <a:srgbClr val="173B3B"/>
                </a:solidFill>
                <a:latin typeface="Arial"/>
                <a:ea typeface="Arial"/>
                <a:cs typeface="Arial"/>
              </a:defRPr>
            </a:pPr>
            <a:r>
              <a:rPr sz="2000" b="0">
                <a:solidFill>
                  <a:srgbClr val="131E29"/>
                </a:solidFill>
                <a:latin typeface="Arial"/>
                <a:ea typeface="Arial"/>
                <a:cs typeface="Arial"/>
              </a:rPr>
              <a:t>Alternative routes after assembly in China</a:t>
            </a:r>
          </a:p>
        </p:txBody>
      </p:sp>
      <p:pic>
        <p:nvPicPr>
          <p:cNvPr id="3" name="Picture 2">
            <a:extLst>
              <a:ext uri="{FF2B5EF4-FFF2-40B4-BE49-F238E27FC236}">
                <a16:creationId xmlns:a16="http://schemas.microsoft.com/office/drawing/2014/main" id="{84882B76-C496-478E-9AAD-8448ACC098E3}"/>
              </a:ext>
            </a:extLst>
          </p:cNvPr>
          <p:cNvPicPr>
            <a:picLocks noChangeAspect="1"/>
          </p:cNvPicPr>
          <p:nvPr/>
        </p:nvPicPr>
        <p:blipFill>
          <a:blip r:embed="rId3"/>
          <a:stretch/>
        </p:blipFill>
        <p:spPr>
          <a:xfrm>
            <a:off x="920212" y="1524000"/>
            <a:ext cx="7208326" cy="4476750"/>
          </a:xfrm>
          <a:prstGeom prst="rect">
            <a:avLst/>
          </a:prstGeom>
        </p:spPr>
      </p:pic>
      <p:sp>
        <p:nvSpPr>
          <p:cNvPr id="4" name="Rectangle 3">
            <a:extLst>
              <a:ext uri="{FF2B5EF4-FFF2-40B4-BE49-F238E27FC236}">
                <a16:creationId xmlns:a16="http://schemas.microsoft.com/office/drawing/2014/main" id="{8F6E6B73-83E5-4942-8549-06981C8C8836}"/>
              </a:ext>
            </a:extLst>
          </p:cNvPr>
          <p:cNvSpPr>
            <a:spLocks noGrp="1"/>
          </p:cNvSpPr>
          <p:nvPr/>
        </p:nvSpPr>
        <p:spPr>
          <a:xfrm>
            <a:off x="9048750" y="1809750"/>
            <a:ext cx="2714625" cy="428625"/>
          </a:xfrm>
          <a:prstGeom prst="rect">
            <a:avLst/>
          </a:prstGeom>
          <a:noFill/>
          <a:ln w="0">
            <a:noFill/>
            <a:prstDash val="solid"/>
          </a:ln>
        </p:spPr>
        <p:txBody>
          <a:bodyPr/>
          <a:lstStyle>
            <a:defPPr>
              <a:defRPr sz="1950" b="1">
                <a:solidFill>
                  <a:srgbClr val="B2691C"/>
                </a:solidFill>
                <a:latin typeface="Arial"/>
                <a:ea typeface="Arial"/>
                <a:cs typeface="Arial"/>
              </a:defRPr>
            </a:defPPr>
            <a:lvl1pPr>
              <a:defRPr sz="1950" b="1">
                <a:solidFill>
                  <a:srgbClr val="B2691C"/>
                </a:solidFill>
                <a:latin typeface="Arial"/>
                <a:ea typeface="Arial"/>
                <a:cs typeface="Arial"/>
              </a:defRPr>
            </a:lvl1pPr>
            <a:lvl2pPr>
              <a:defRPr sz="1950" b="1">
                <a:solidFill>
                  <a:srgbClr val="B2691C"/>
                </a:solidFill>
                <a:latin typeface="Arial"/>
                <a:ea typeface="Arial"/>
                <a:cs typeface="Arial"/>
              </a:defRPr>
            </a:lvl2pPr>
            <a:lvl3pPr>
              <a:defRPr sz="1950" b="1">
                <a:solidFill>
                  <a:srgbClr val="B2691C"/>
                </a:solidFill>
                <a:latin typeface="Arial"/>
                <a:ea typeface="Arial"/>
                <a:cs typeface="Arial"/>
              </a:defRPr>
            </a:lvl3pPr>
            <a:lvl4pPr>
              <a:defRPr sz="1950" b="1">
                <a:solidFill>
                  <a:srgbClr val="B2691C"/>
                </a:solidFill>
                <a:latin typeface="Arial"/>
                <a:ea typeface="Arial"/>
                <a:cs typeface="Arial"/>
              </a:defRPr>
            </a:lvl4pPr>
            <a:lvl5pPr>
              <a:defRPr sz="1950" b="1">
                <a:solidFill>
                  <a:srgbClr val="B2691C"/>
                </a:solidFill>
                <a:latin typeface="Arial"/>
                <a:ea typeface="Arial"/>
                <a:cs typeface="Arial"/>
              </a:defRPr>
            </a:lvl5pPr>
            <a:lvl6pPr>
              <a:defRPr sz="1950" b="1">
                <a:solidFill>
                  <a:srgbClr val="B2691C"/>
                </a:solidFill>
                <a:latin typeface="Arial"/>
                <a:ea typeface="Arial"/>
                <a:cs typeface="Arial"/>
              </a:defRPr>
            </a:lvl6pPr>
            <a:lvl7pPr>
              <a:defRPr sz="1950" b="1">
                <a:solidFill>
                  <a:srgbClr val="B2691C"/>
                </a:solidFill>
                <a:latin typeface="Arial"/>
                <a:ea typeface="Arial"/>
                <a:cs typeface="Arial"/>
              </a:defRPr>
            </a:lvl7pPr>
            <a:lvl8pPr>
              <a:defRPr sz="1950" b="1">
                <a:solidFill>
                  <a:srgbClr val="B2691C"/>
                </a:solidFill>
                <a:latin typeface="Arial"/>
                <a:ea typeface="Arial"/>
                <a:cs typeface="Arial"/>
              </a:defRPr>
            </a:lvl8pPr>
            <a:lvl9pPr>
              <a:defRPr sz="1950" b="1">
                <a:solidFill>
                  <a:srgbClr val="B2691C"/>
                </a:solidFill>
                <a:latin typeface="Arial"/>
                <a:ea typeface="Arial"/>
                <a:cs typeface="Arial"/>
              </a:defRPr>
            </a:lvl9pPr>
          </a:lstStyle>
          <a:p>
            <a:pPr>
              <a:defRPr sz="1950" b="1">
                <a:solidFill>
                  <a:srgbClr val="B2691C"/>
                </a:solidFill>
                <a:latin typeface="Arial"/>
                <a:ea typeface="Arial"/>
                <a:cs typeface="Arial"/>
              </a:defRPr>
            </a:pPr>
            <a:r>
              <a:rPr sz="1800" b="1">
                <a:solidFill>
                  <a:srgbClr val="A65F00"/>
                </a:solidFill>
                <a:latin typeface="Arial"/>
                <a:ea typeface="Arial"/>
                <a:cs typeface="Arial"/>
              </a:rPr>
              <a:t>AIR + ROAD</a:t>
            </a:r>
          </a:p>
        </p:txBody>
      </p:sp>
      <p:sp>
        <p:nvSpPr>
          <p:cNvPr id="5" name="Rectangle 4">
            <a:extLst>
              <a:ext uri="{FF2B5EF4-FFF2-40B4-BE49-F238E27FC236}">
                <a16:creationId xmlns:a16="http://schemas.microsoft.com/office/drawing/2014/main" id="{96F3B3BB-C938-4E04-AAAB-CE52845A2E21}"/>
              </a:ext>
            </a:extLst>
          </p:cNvPr>
          <p:cNvSpPr>
            <a:spLocks noGrp="1"/>
          </p:cNvSpPr>
          <p:nvPr/>
        </p:nvSpPr>
        <p:spPr>
          <a:xfrm>
            <a:off x="9048750" y="2286000"/>
            <a:ext cx="2714625" cy="1095375"/>
          </a:xfrm>
          <a:prstGeom prst="rect">
            <a:avLst/>
          </a:prstGeom>
          <a:noFill/>
          <a:ln w="0">
            <a:noFill/>
            <a:prstDash val="solid"/>
          </a:ln>
        </p:spPr>
        <p:txBody>
          <a:bodyPr/>
          <a:lstStyle>
            <a:defPPr>
              <a:defRPr sz="1950" b="0">
                <a:solidFill>
                  <a:srgbClr val="173B3B"/>
                </a:solidFill>
                <a:latin typeface="Arial"/>
                <a:ea typeface="Arial"/>
                <a:cs typeface="Arial"/>
              </a:defRPr>
            </a:defPPr>
            <a:lvl1pPr>
              <a:defRPr sz="1950" b="0">
                <a:solidFill>
                  <a:srgbClr val="173B3B"/>
                </a:solidFill>
                <a:latin typeface="Arial"/>
                <a:ea typeface="Arial"/>
                <a:cs typeface="Arial"/>
              </a:defRPr>
            </a:lvl1pPr>
            <a:lvl2pPr>
              <a:defRPr sz="1950" b="0">
                <a:solidFill>
                  <a:srgbClr val="173B3B"/>
                </a:solidFill>
                <a:latin typeface="Arial"/>
                <a:ea typeface="Arial"/>
                <a:cs typeface="Arial"/>
              </a:defRPr>
            </a:lvl2pPr>
            <a:lvl3pPr>
              <a:defRPr sz="1950" b="0">
                <a:solidFill>
                  <a:srgbClr val="173B3B"/>
                </a:solidFill>
                <a:latin typeface="Arial"/>
                <a:ea typeface="Arial"/>
                <a:cs typeface="Arial"/>
              </a:defRPr>
            </a:lvl3pPr>
            <a:lvl4pPr>
              <a:defRPr sz="1950" b="0">
                <a:solidFill>
                  <a:srgbClr val="173B3B"/>
                </a:solidFill>
                <a:latin typeface="Arial"/>
                <a:ea typeface="Arial"/>
                <a:cs typeface="Arial"/>
              </a:defRPr>
            </a:lvl4pPr>
            <a:lvl5pPr>
              <a:defRPr sz="1950" b="0">
                <a:solidFill>
                  <a:srgbClr val="173B3B"/>
                </a:solidFill>
                <a:latin typeface="Arial"/>
                <a:ea typeface="Arial"/>
                <a:cs typeface="Arial"/>
              </a:defRPr>
            </a:lvl5pPr>
            <a:lvl6pPr>
              <a:defRPr sz="1950" b="0">
                <a:solidFill>
                  <a:srgbClr val="173B3B"/>
                </a:solidFill>
                <a:latin typeface="Arial"/>
                <a:ea typeface="Arial"/>
                <a:cs typeface="Arial"/>
              </a:defRPr>
            </a:lvl6pPr>
            <a:lvl7pPr>
              <a:defRPr sz="1950" b="0">
                <a:solidFill>
                  <a:srgbClr val="173B3B"/>
                </a:solidFill>
                <a:latin typeface="Arial"/>
                <a:ea typeface="Arial"/>
                <a:cs typeface="Arial"/>
              </a:defRPr>
            </a:lvl7pPr>
            <a:lvl8pPr>
              <a:defRPr sz="1950" b="0">
                <a:solidFill>
                  <a:srgbClr val="173B3B"/>
                </a:solidFill>
                <a:latin typeface="Arial"/>
                <a:ea typeface="Arial"/>
                <a:cs typeface="Arial"/>
              </a:defRPr>
            </a:lvl8pPr>
            <a:lvl9pPr>
              <a:defRPr sz="1950" b="0">
                <a:solidFill>
                  <a:srgbClr val="173B3B"/>
                </a:solidFill>
                <a:latin typeface="Arial"/>
                <a:ea typeface="Arial"/>
                <a:cs typeface="Arial"/>
              </a:defRPr>
            </a:lvl9pPr>
          </a:lstStyle>
          <a:p>
            <a:pPr>
              <a:defRPr sz="1950" b="0">
                <a:solidFill>
                  <a:srgbClr val="173B3B"/>
                </a:solidFill>
                <a:latin typeface="Arial"/>
                <a:ea typeface="Arial"/>
                <a:cs typeface="Arial"/>
              </a:defRPr>
            </a:pPr>
            <a:r>
              <a:rPr sz="1800" b="0">
                <a:solidFill>
                  <a:srgbClr val="131E29"/>
                </a:solidFill>
                <a:latin typeface="Arial"/>
                <a:ea typeface="Arial"/>
                <a:cs typeface="Arial"/>
              </a:rPr>
              <a:t>Airport to UK airport,</a:t>
            </a:r>
          </a:p>
          <a:p>
            <a:pPr>
              <a:defRPr sz="1950" b="0">
                <a:solidFill>
                  <a:srgbClr val="173B3B"/>
                </a:solidFill>
                <a:latin typeface="Arial"/>
                <a:ea typeface="Arial"/>
                <a:cs typeface="Arial"/>
              </a:defRPr>
            </a:pPr>
            <a:r>
              <a:rPr sz="1800" b="0">
                <a:solidFill>
                  <a:srgbClr val="131E29"/>
                </a:solidFill>
                <a:latin typeface="Arial"/>
                <a:ea typeface="Arial"/>
                <a:cs typeface="Arial"/>
              </a:rPr>
              <a:t>then truck to a</a:t>
            </a:r>
          </a:p>
          <a:p>
            <a:pPr>
              <a:defRPr sz="1950" b="0">
                <a:solidFill>
                  <a:srgbClr val="173B3B"/>
                </a:solidFill>
                <a:latin typeface="Arial"/>
                <a:ea typeface="Arial"/>
                <a:cs typeface="Arial"/>
              </a:defRPr>
            </a:pPr>
            <a:r>
              <a:rPr sz="1800" b="0">
                <a:solidFill>
                  <a:srgbClr val="131E29"/>
                </a:solidFill>
                <a:latin typeface="Arial"/>
                <a:ea typeface="Arial"/>
                <a:cs typeface="Arial"/>
              </a:rPr>
              <a:t>distribution centre</a:t>
            </a:r>
          </a:p>
        </p:txBody>
      </p:sp>
      <p:sp>
        <p:nvSpPr>
          <p:cNvPr id="6" name="Rectangle 5">
            <a:extLst>
              <a:ext uri="{FF2B5EF4-FFF2-40B4-BE49-F238E27FC236}">
                <a16:creationId xmlns:a16="http://schemas.microsoft.com/office/drawing/2014/main" id="{4FC54A29-9B5F-4B09-B510-31268EA3DCA5}"/>
              </a:ext>
            </a:extLst>
          </p:cNvPr>
          <p:cNvSpPr>
            <a:spLocks noGrp="1"/>
          </p:cNvSpPr>
          <p:nvPr/>
        </p:nvSpPr>
        <p:spPr>
          <a:xfrm>
            <a:off x="9048750" y="3667125"/>
            <a:ext cx="2714625" cy="428625"/>
          </a:xfrm>
          <a:prstGeom prst="rect">
            <a:avLst/>
          </a:prstGeom>
          <a:noFill/>
          <a:ln w="0">
            <a:noFill/>
            <a:prstDash val="solid"/>
          </a:ln>
        </p:spPr>
        <p:txBody>
          <a:bodyPr/>
          <a:lstStyle>
            <a:defPPr>
              <a:defRPr sz="1950" b="1">
                <a:solidFill>
                  <a:srgbClr val="087F8C"/>
                </a:solidFill>
                <a:latin typeface="Arial"/>
                <a:ea typeface="Arial"/>
                <a:cs typeface="Arial"/>
              </a:defRPr>
            </a:defPPr>
            <a:lvl1pPr>
              <a:defRPr sz="1950" b="1">
                <a:solidFill>
                  <a:srgbClr val="087F8C"/>
                </a:solidFill>
                <a:latin typeface="Arial"/>
                <a:ea typeface="Arial"/>
                <a:cs typeface="Arial"/>
              </a:defRPr>
            </a:lvl1pPr>
            <a:lvl2pPr>
              <a:defRPr sz="1950" b="1">
                <a:solidFill>
                  <a:srgbClr val="087F8C"/>
                </a:solidFill>
                <a:latin typeface="Arial"/>
                <a:ea typeface="Arial"/>
                <a:cs typeface="Arial"/>
              </a:defRPr>
            </a:lvl2pPr>
            <a:lvl3pPr>
              <a:defRPr sz="1950" b="1">
                <a:solidFill>
                  <a:srgbClr val="087F8C"/>
                </a:solidFill>
                <a:latin typeface="Arial"/>
                <a:ea typeface="Arial"/>
                <a:cs typeface="Arial"/>
              </a:defRPr>
            </a:lvl3pPr>
            <a:lvl4pPr>
              <a:defRPr sz="1950" b="1">
                <a:solidFill>
                  <a:srgbClr val="087F8C"/>
                </a:solidFill>
                <a:latin typeface="Arial"/>
                <a:ea typeface="Arial"/>
                <a:cs typeface="Arial"/>
              </a:defRPr>
            </a:lvl4pPr>
            <a:lvl5pPr>
              <a:defRPr sz="1950" b="1">
                <a:solidFill>
                  <a:srgbClr val="087F8C"/>
                </a:solidFill>
                <a:latin typeface="Arial"/>
                <a:ea typeface="Arial"/>
                <a:cs typeface="Arial"/>
              </a:defRPr>
            </a:lvl5pPr>
            <a:lvl6pPr>
              <a:defRPr sz="1950" b="1">
                <a:solidFill>
                  <a:srgbClr val="087F8C"/>
                </a:solidFill>
                <a:latin typeface="Arial"/>
                <a:ea typeface="Arial"/>
                <a:cs typeface="Arial"/>
              </a:defRPr>
            </a:lvl6pPr>
            <a:lvl7pPr>
              <a:defRPr sz="1950" b="1">
                <a:solidFill>
                  <a:srgbClr val="087F8C"/>
                </a:solidFill>
                <a:latin typeface="Arial"/>
                <a:ea typeface="Arial"/>
                <a:cs typeface="Arial"/>
              </a:defRPr>
            </a:lvl7pPr>
            <a:lvl8pPr>
              <a:defRPr sz="1950" b="1">
                <a:solidFill>
                  <a:srgbClr val="087F8C"/>
                </a:solidFill>
                <a:latin typeface="Arial"/>
                <a:ea typeface="Arial"/>
                <a:cs typeface="Arial"/>
              </a:defRPr>
            </a:lvl8pPr>
            <a:lvl9pPr>
              <a:defRPr sz="1950" b="1">
                <a:solidFill>
                  <a:srgbClr val="087F8C"/>
                </a:solidFill>
                <a:latin typeface="Arial"/>
                <a:ea typeface="Arial"/>
                <a:cs typeface="Arial"/>
              </a:defRPr>
            </a:lvl9pPr>
          </a:lstStyle>
          <a:p>
            <a:pPr>
              <a:defRPr sz="1950" b="1">
                <a:solidFill>
                  <a:srgbClr val="087F8C"/>
                </a:solidFill>
                <a:latin typeface="Arial"/>
                <a:ea typeface="Arial"/>
                <a:cs typeface="Arial"/>
              </a:defRPr>
            </a:pPr>
            <a:r>
              <a:rPr sz="1800" b="1">
                <a:solidFill>
                  <a:srgbClr val="005A8F"/>
                </a:solidFill>
                <a:latin typeface="Arial"/>
                <a:ea typeface="Arial"/>
                <a:cs typeface="Arial"/>
              </a:rPr>
              <a:t>SEA + ROAD</a:t>
            </a:r>
          </a:p>
        </p:txBody>
      </p:sp>
      <p:sp>
        <p:nvSpPr>
          <p:cNvPr id="7" name="Rectangle 6">
            <a:extLst>
              <a:ext uri="{FF2B5EF4-FFF2-40B4-BE49-F238E27FC236}">
                <a16:creationId xmlns:a16="http://schemas.microsoft.com/office/drawing/2014/main" id="{F34B84B0-FBBC-4961-A027-D6A3B0B1551F}"/>
              </a:ext>
            </a:extLst>
          </p:cNvPr>
          <p:cNvSpPr>
            <a:spLocks noGrp="1"/>
          </p:cNvSpPr>
          <p:nvPr/>
        </p:nvSpPr>
        <p:spPr>
          <a:xfrm>
            <a:off x="9048750" y="4143375"/>
            <a:ext cx="2714625" cy="1095375"/>
          </a:xfrm>
          <a:prstGeom prst="rect">
            <a:avLst/>
          </a:prstGeom>
          <a:noFill/>
          <a:ln w="0">
            <a:noFill/>
            <a:prstDash val="solid"/>
          </a:ln>
        </p:spPr>
        <p:txBody>
          <a:bodyPr/>
          <a:lstStyle>
            <a:defPPr>
              <a:defRPr sz="1950" b="0">
                <a:solidFill>
                  <a:srgbClr val="173B3B"/>
                </a:solidFill>
                <a:latin typeface="Arial"/>
                <a:ea typeface="Arial"/>
                <a:cs typeface="Arial"/>
              </a:defRPr>
            </a:defPPr>
            <a:lvl1pPr>
              <a:defRPr sz="1950" b="0">
                <a:solidFill>
                  <a:srgbClr val="173B3B"/>
                </a:solidFill>
                <a:latin typeface="Arial"/>
                <a:ea typeface="Arial"/>
                <a:cs typeface="Arial"/>
              </a:defRPr>
            </a:lvl1pPr>
            <a:lvl2pPr>
              <a:defRPr sz="1950" b="0">
                <a:solidFill>
                  <a:srgbClr val="173B3B"/>
                </a:solidFill>
                <a:latin typeface="Arial"/>
                <a:ea typeface="Arial"/>
                <a:cs typeface="Arial"/>
              </a:defRPr>
            </a:lvl2pPr>
            <a:lvl3pPr>
              <a:defRPr sz="1950" b="0">
                <a:solidFill>
                  <a:srgbClr val="173B3B"/>
                </a:solidFill>
                <a:latin typeface="Arial"/>
                <a:ea typeface="Arial"/>
                <a:cs typeface="Arial"/>
              </a:defRPr>
            </a:lvl3pPr>
            <a:lvl4pPr>
              <a:defRPr sz="1950" b="0">
                <a:solidFill>
                  <a:srgbClr val="173B3B"/>
                </a:solidFill>
                <a:latin typeface="Arial"/>
                <a:ea typeface="Arial"/>
                <a:cs typeface="Arial"/>
              </a:defRPr>
            </a:lvl4pPr>
            <a:lvl5pPr>
              <a:defRPr sz="1950" b="0">
                <a:solidFill>
                  <a:srgbClr val="173B3B"/>
                </a:solidFill>
                <a:latin typeface="Arial"/>
                <a:ea typeface="Arial"/>
                <a:cs typeface="Arial"/>
              </a:defRPr>
            </a:lvl5pPr>
            <a:lvl6pPr>
              <a:defRPr sz="1950" b="0">
                <a:solidFill>
                  <a:srgbClr val="173B3B"/>
                </a:solidFill>
                <a:latin typeface="Arial"/>
                <a:ea typeface="Arial"/>
                <a:cs typeface="Arial"/>
              </a:defRPr>
            </a:lvl6pPr>
            <a:lvl7pPr>
              <a:defRPr sz="1950" b="0">
                <a:solidFill>
                  <a:srgbClr val="173B3B"/>
                </a:solidFill>
                <a:latin typeface="Arial"/>
                <a:ea typeface="Arial"/>
                <a:cs typeface="Arial"/>
              </a:defRPr>
            </a:lvl7pPr>
            <a:lvl8pPr>
              <a:defRPr sz="1950" b="0">
                <a:solidFill>
                  <a:srgbClr val="173B3B"/>
                </a:solidFill>
                <a:latin typeface="Arial"/>
                <a:ea typeface="Arial"/>
                <a:cs typeface="Arial"/>
              </a:defRPr>
            </a:lvl8pPr>
            <a:lvl9pPr>
              <a:defRPr sz="1950" b="0">
                <a:solidFill>
                  <a:srgbClr val="173B3B"/>
                </a:solidFill>
                <a:latin typeface="Arial"/>
                <a:ea typeface="Arial"/>
                <a:cs typeface="Arial"/>
              </a:defRPr>
            </a:lvl9pPr>
          </a:lstStyle>
          <a:p>
            <a:pPr>
              <a:defRPr sz="1950" b="0">
                <a:solidFill>
                  <a:srgbClr val="173B3B"/>
                </a:solidFill>
                <a:latin typeface="Arial"/>
                <a:ea typeface="Arial"/>
                <a:cs typeface="Arial"/>
              </a:defRPr>
            </a:pPr>
            <a:r>
              <a:rPr sz="1800" b="0">
                <a:solidFill>
                  <a:srgbClr val="131E29"/>
                </a:solidFill>
                <a:latin typeface="Arial"/>
                <a:ea typeface="Arial"/>
                <a:cs typeface="Arial"/>
              </a:rPr>
              <a:t>Port to UK port,</a:t>
            </a:r>
          </a:p>
          <a:p>
            <a:pPr>
              <a:defRPr sz="1950" b="0">
                <a:solidFill>
                  <a:srgbClr val="173B3B"/>
                </a:solidFill>
                <a:latin typeface="Arial"/>
                <a:ea typeface="Arial"/>
                <a:cs typeface="Arial"/>
              </a:defRPr>
            </a:pPr>
            <a:r>
              <a:rPr sz="1800" b="0">
                <a:solidFill>
                  <a:srgbClr val="131E29"/>
                </a:solidFill>
                <a:latin typeface="Arial"/>
                <a:ea typeface="Arial"/>
                <a:cs typeface="Arial"/>
              </a:rPr>
              <a:t>then truck to a</a:t>
            </a:r>
          </a:p>
          <a:p>
            <a:pPr>
              <a:defRPr sz="1950" b="0">
                <a:solidFill>
                  <a:srgbClr val="173B3B"/>
                </a:solidFill>
                <a:latin typeface="Arial"/>
                <a:ea typeface="Arial"/>
                <a:cs typeface="Arial"/>
              </a:defRPr>
            </a:pPr>
            <a:r>
              <a:rPr sz="1800" b="0">
                <a:solidFill>
                  <a:srgbClr val="131E29"/>
                </a:solidFill>
                <a:latin typeface="Arial"/>
                <a:ea typeface="Arial"/>
                <a:cs typeface="Arial"/>
              </a:rPr>
              <a:t>distribution centre</a:t>
            </a:r>
          </a:p>
        </p:txBody>
      </p:sp>
      <p:sp>
        <p:nvSpPr>
          <p:cNvPr id="8" name="Rectangle 7">
            <a:extLst>
              <a:ext uri="{FF2B5EF4-FFF2-40B4-BE49-F238E27FC236}">
                <a16:creationId xmlns:a16="http://schemas.microsoft.com/office/drawing/2014/main" id="{1D01EF40-3F50-4A43-B81F-D2C73C3F4367}"/>
              </a:ext>
            </a:extLst>
          </p:cNvPr>
          <p:cNvSpPr>
            <a:spLocks noGrp="1"/>
          </p:cNvSpPr>
          <p:nvPr/>
        </p:nvSpPr>
        <p:spPr>
          <a:xfrm>
            <a:off x="428625" y="5743575"/>
            <a:ext cx="11334750" cy="333375"/>
          </a:xfrm>
          <a:prstGeom prst="rect">
            <a:avLst/>
          </a:prstGeom>
          <a:noFill/>
          <a:ln w="0">
            <a:noFill/>
            <a:prstDash val="solid"/>
          </a:ln>
        </p:spPr>
        <p:txBody>
          <a:bodyPr/>
          <a:lstStyle>
            <a:defPPr>
              <a:defRPr sz="1650" b="0">
                <a:solidFill>
                  <a:srgbClr val="173B3B"/>
                </a:solidFill>
                <a:latin typeface="Arial"/>
                <a:ea typeface="Arial"/>
                <a:cs typeface="Arial"/>
              </a:defRPr>
            </a:defPPr>
            <a:lvl1pPr>
              <a:defRPr sz="1650" b="0">
                <a:solidFill>
                  <a:srgbClr val="173B3B"/>
                </a:solidFill>
                <a:latin typeface="Arial"/>
                <a:ea typeface="Arial"/>
                <a:cs typeface="Arial"/>
              </a:defRPr>
            </a:lvl1pPr>
            <a:lvl2pPr>
              <a:defRPr sz="1650" b="0">
                <a:solidFill>
                  <a:srgbClr val="173B3B"/>
                </a:solidFill>
                <a:latin typeface="Arial"/>
                <a:ea typeface="Arial"/>
                <a:cs typeface="Arial"/>
              </a:defRPr>
            </a:lvl2pPr>
            <a:lvl3pPr>
              <a:defRPr sz="1650" b="0">
                <a:solidFill>
                  <a:srgbClr val="173B3B"/>
                </a:solidFill>
                <a:latin typeface="Arial"/>
                <a:ea typeface="Arial"/>
                <a:cs typeface="Arial"/>
              </a:defRPr>
            </a:lvl3pPr>
            <a:lvl4pPr>
              <a:defRPr sz="1650" b="0">
                <a:solidFill>
                  <a:srgbClr val="173B3B"/>
                </a:solidFill>
                <a:latin typeface="Arial"/>
                <a:ea typeface="Arial"/>
                <a:cs typeface="Arial"/>
              </a:defRPr>
            </a:lvl4pPr>
            <a:lvl5pPr>
              <a:defRPr sz="1650" b="0">
                <a:solidFill>
                  <a:srgbClr val="173B3B"/>
                </a:solidFill>
                <a:latin typeface="Arial"/>
                <a:ea typeface="Arial"/>
                <a:cs typeface="Arial"/>
              </a:defRPr>
            </a:lvl5pPr>
            <a:lvl6pPr>
              <a:defRPr sz="1650" b="0">
                <a:solidFill>
                  <a:srgbClr val="173B3B"/>
                </a:solidFill>
                <a:latin typeface="Arial"/>
                <a:ea typeface="Arial"/>
                <a:cs typeface="Arial"/>
              </a:defRPr>
            </a:lvl6pPr>
            <a:lvl7pPr>
              <a:defRPr sz="1650" b="0">
                <a:solidFill>
                  <a:srgbClr val="173B3B"/>
                </a:solidFill>
                <a:latin typeface="Arial"/>
                <a:ea typeface="Arial"/>
                <a:cs typeface="Arial"/>
              </a:defRPr>
            </a:lvl7pPr>
            <a:lvl8pPr>
              <a:defRPr sz="1650" b="0">
                <a:solidFill>
                  <a:srgbClr val="173B3B"/>
                </a:solidFill>
                <a:latin typeface="Arial"/>
                <a:ea typeface="Arial"/>
                <a:cs typeface="Arial"/>
              </a:defRPr>
            </a:lvl8pPr>
            <a:lvl9pPr>
              <a:defRPr sz="1650" b="0">
                <a:solidFill>
                  <a:srgbClr val="173B3B"/>
                </a:solidFill>
                <a:latin typeface="Arial"/>
                <a:ea typeface="Arial"/>
                <a:cs typeface="Arial"/>
              </a:defRPr>
            </a:lvl9pPr>
          </a:lstStyle>
          <a:p>
            <a:pPr>
              <a:defRPr sz="1650" b="0">
                <a:solidFill>
                  <a:srgbClr val="173B3B"/>
                </a:solidFill>
                <a:latin typeface="Arial"/>
                <a:ea typeface="Arial"/>
                <a:cs typeface="Arial"/>
              </a:defRPr>
            </a:pPr>
            <a:r>
              <a:rPr sz="1600" b="0">
                <a:solidFill>
                  <a:srgbClr val="131E29"/>
                </a:solidFill>
                <a:latin typeface="Arial"/>
                <a:ea typeface="Arial"/>
                <a:cs typeface="Arial"/>
              </a:rPr>
              <a:t>Solid teal: sea via the Cape     Dashed amber: illustrative air connection</a:t>
            </a:r>
          </a:p>
        </p:txBody>
      </p:sp>
      <p:sp>
        <p:nvSpPr>
          <p:cNvPr id="10" name="Rectangle 9">
            <a:extLst>
              <a:ext uri="{FF2B5EF4-FFF2-40B4-BE49-F238E27FC236}">
                <a16:creationId xmlns:a16="http://schemas.microsoft.com/office/drawing/2014/main" id="{150BE417-A8A7-42A2-8040-484032604D7C}"/>
              </a:ext>
            </a:extLst>
          </p:cNvPr>
          <p:cNvSpPr>
            <a:spLocks noGrp="1"/>
          </p:cNvSpPr>
          <p:nvPr/>
        </p:nvSpPr>
        <p:spPr>
          <a:xfrm>
            <a:off x="428625" y="6581775"/>
            <a:ext cx="11334750" cy="219075"/>
          </a:xfrm>
          <a:prstGeom prst="rect">
            <a:avLst/>
          </a:prstGeom>
          <a:noFill/>
          <a:ln w="0">
            <a:noFill/>
            <a:prstDash val="solid"/>
          </a:ln>
        </p:spPr>
        <p:txBody>
          <a:bodyPr/>
          <a:lstStyle>
            <a:defPPr>
              <a:defRPr sz="1200" b="0">
                <a:solidFill>
                  <a:srgbClr val="576762"/>
                </a:solidFill>
                <a:latin typeface="Arial"/>
                <a:ea typeface="Arial"/>
                <a:cs typeface="Arial"/>
              </a:defRPr>
            </a:defPPr>
            <a:lvl1pPr>
              <a:defRPr sz="1200" b="0">
                <a:solidFill>
                  <a:srgbClr val="576762"/>
                </a:solidFill>
                <a:latin typeface="Arial"/>
                <a:ea typeface="Arial"/>
                <a:cs typeface="Arial"/>
              </a:defRPr>
            </a:lvl1pPr>
            <a:lvl2pPr>
              <a:defRPr sz="1200" b="0">
                <a:solidFill>
                  <a:srgbClr val="576762"/>
                </a:solidFill>
                <a:latin typeface="Arial"/>
                <a:ea typeface="Arial"/>
                <a:cs typeface="Arial"/>
              </a:defRPr>
            </a:lvl2pPr>
            <a:lvl3pPr>
              <a:defRPr sz="1200" b="0">
                <a:solidFill>
                  <a:srgbClr val="576762"/>
                </a:solidFill>
                <a:latin typeface="Arial"/>
                <a:ea typeface="Arial"/>
                <a:cs typeface="Arial"/>
              </a:defRPr>
            </a:lvl3pPr>
            <a:lvl4pPr>
              <a:defRPr sz="1200" b="0">
                <a:solidFill>
                  <a:srgbClr val="576762"/>
                </a:solidFill>
                <a:latin typeface="Arial"/>
                <a:ea typeface="Arial"/>
                <a:cs typeface="Arial"/>
              </a:defRPr>
            </a:lvl4pPr>
            <a:lvl5pPr>
              <a:defRPr sz="1200" b="0">
                <a:solidFill>
                  <a:srgbClr val="576762"/>
                </a:solidFill>
                <a:latin typeface="Arial"/>
                <a:ea typeface="Arial"/>
                <a:cs typeface="Arial"/>
              </a:defRPr>
            </a:lvl5pPr>
            <a:lvl6pPr>
              <a:defRPr sz="1200" b="0">
                <a:solidFill>
                  <a:srgbClr val="576762"/>
                </a:solidFill>
                <a:latin typeface="Arial"/>
                <a:ea typeface="Arial"/>
                <a:cs typeface="Arial"/>
              </a:defRPr>
            </a:lvl6pPr>
            <a:lvl7pPr>
              <a:defRPr sz="1200" b="0">
                <a:solidFill>
                  <a:srgbClr val="576762"/>
                </a:solidFill>
                <a:latin typeface="Arial"/>
                <a:ea typeface="Arial"/>
                <a:cs typeface="Arial"/>
              </a:defRPr>
            </a:lvl7pPr>
            <a:lvl8pPr>
              <a:defRPr sz="1200" b="0">
                <a:solidFill>
                  <a:srgbClr val="576762"/>
                </a:solidFill>
                <a:latin typeface="Arial"/>
                <a:ea typeface="Arial"/>
                <a:cs typeface="Arial"/>
              </a:defRPr>
            </a:lvl8pPr>
            <a:lvl9pPr>
              <a:defRPr sz="1200" b="0">
                <a:solidFill>
                  <a:srgbClr val="576762"/>
                </a:solidFill>
                <a:latin typeface="Arial"/>
                <a:ea typeface="Arial"/>
                <a:cs typeface="Arial"/>
              </a:defRPr>
            </a:lvl9pPr>
          </a:lstStyle>
          <a:p>
            <a:pPr>
              <a:defRPr sz="1200" b="0">
                <a:solidFill>
                  <a:srgbClr val="576762"/>
                </a:solidFill>
                <a:latin typeface="Arial"/>
                <a:ea typeface="Arial"/>
                <a:cs typeface="Arial"/>
              </a:defRPr>
            </a:pPr>
            <a:r>
              <a:rPr sz="1200" b="0">
                <a:solidFill>
                  <a:srgbClr val="5E6977"/>
                </a:solidFill>
                <a:latin typeface="Arial"/>
                <a:ea typeface="Arial"/>
                <a:cs typeface="Arial"/>
              </a:rPr>
              <a:t>Schematic corridors, not navigation tracks. Actual routes depend on carriers and conditions.</a:t>
            </a:r>
          </a:p>
        </p:txBody>
      </p:sp>
    </p:spTree>
    <p:extLst>
      <p:ext uri="{BB962C8B-B14F-4D97-AF65-F5344CB8AC3E}">
        <p14:creationId xmlns:p14="http://schemas.microsoft.com/office/powerpoint/2010/main" val="904938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78DD7F-08FD-4BA2-ADA2-2A399973C81E}"/>
              </a:ext>
            </a:extLst>
          </p:cNvPr>
          <p:cNvSpPr>
            <a:spLocks noGrp="1"/>
          </p:cNvSpPr>
          <p:nvPr/>
        </p:nvSpPr>
        <p:spPr>
          <a:xfrm>
            <a:off x="381000" y="238125"/>
            <a:ext cx="11430000" cy="619125"/>
          </a:xfrm>
          <a:prstGeom prst="rect">
            <a:avLst/>
          </a:prstGeom>
          <a:noFill/>
          <a:ln w="0">
            <a:noFill/>
            <a:prstDash val="solid"/>
          </a:ln>
        </p:spPr>
        <p:txBody>
          <a:bodyPr/>
          <a:lstStyle>
            <a:defPPr>
              <a:defRPr sz="3150" b="1">
                <a:solidFill>
                  <a:srgbClr val="420099"/>
                </a:solidFill>
                <a:latin typeface="Arial"/>
                <a:ea typeface="Arial"/>
                <a:cs typeface="Arial"/>
              </a:defRPr>
            </a:defPPr>
            <a:lvl1pPr>
              <a:defRPr sz="3150" b="1">
                <a:solidFill>
                  <a:srgbClr val="420099"/>
                </a:solidFill>
                <a:latin typeface="Arial"/>
                <a:ea typeface="Arial"/>
                <a:cs typeface="Arial"/>
              </a:defRPr>
            </a:lvl1pPr>
            <a:lvl2pPr>
              <a:defRPr sz="3150" b="1">
                <a:solidFill>
                  <a:srgbClr val="420099"/>
                </a:solidFill>
                <a:latin typeface="Arial"/>
                <a:ea typeface="Arial"/>
                <a:cs typeface="Arial"/>
              </a:defRPr>
            </a:lvl2pPr>
            <a:lvl3pPr>
              <a:defRPr sz="3150" b="1">
                <a:solidFill>
                  <a:srgbClr val="420099"/>
                </a:solidFill>
                <a:latin typeface="Arial"/>
                <a:ea typeface="Arial"/>
                <a:cs typeface="Arial"/>
              </a:defRPr>
            </a:lvl3pPr>
            <a:lvl4pPr>
              <a:defRPr sz="3150" b="1">
                <a:solidFill>
                  <a:srgbClr val="420099"/>
                </a:solidFill>
                <a:latin typeface="Arial"/>
                <a:ea typeface="Arial"/>
                <a:cs typeface="Arial"/>
              </a:defRPr>
            </a:lvl4pPr>
            <a:lvl5pPr>
              <a:defRPr sz="3150" b="1">
                <a:solidFill>
                  <a:srgbClr val="420099"/>
                </a:solidFill>
                <a:latin typeface="Arial"/>
                <a:ea typeface="Arial"/>
                <a:cs typeface="Arial"/>
              </a:defRPr>
            </a:lvl5pPr>
            <a:lvl6pPr>
              <a:defRPr sz="3150" b="1">
                <a:solidFill>
                  <a:srgbClr val="420099"/>
                </a:solidFill>
                <a:latin typeface="Arial"/>
                <a:ea typeface="Arial"/>
                <a:cs typeface="Arial"/>
              </a:defRPr>
            </a:lvl6pPr>
            <a:lvl7pPr>
              <a:defRPr sz="3150" b="1">
                <a:solidFill>
                  <a:srgbClr val="420099"/>
                </a:solidFill>
                <a:latin typeface="Arial"/>
                <a:ea typeface="Arial"/>
                <a:cs typeface="Arial"/>
              </a:defRPr>
            </a:lvl7pPr>
            <a:lvl8pPr>
              <a:defRPr sz="3150" b="1">
                <a:solidFill>
                  <a:srgbClr val="420099"/>
                </a:solidFill>
                <a:latin typeface="Arial"/>
                <a:ea typeface="Arial"/>
                <a:cs typeface="Arial"/>
              </a:defRPr>
            </a:lvl8pPr>
            <a:lvl9pPr>
              <a:defRPr sz="3150" b="1">
                <a:solidFill>
                  <a:srgbClr val="420099"/>
                </a:solidFill>
                <a:latin typeface="Arial"/>
                <a:ea typeface="Arial"/>
                <a:cs typeface="Arial"/>
              </a:defRPr>
            </a:lvl9pPr>
          </a:lstStyle>
          <a:p>
            <a:pPr algn="l">
              <a:defRPr sz="3150" b="1">
                <a:solidFill>
                  <a:srgbClr val="420099"/>
                </a:solidFill>
                <a:latin typeface="Arial"/>
                <a:ea typeface="Arial"/>
                <a:cs typeface="Arial"/>
              </a:defRPr>
            </a:pPr>
            <a:r>
              <a:rPr sz="3000" b="1">
                <a:solidFill>
                  <a:srgbClr val="440099"/>
                </a:solidFill>
                <a:latin typeface="Arial"/>
                <a:ea typeface="Arial"/>
                <a:cs typeface="Arial"/>
              </a:rPr>
              <a:t>Supply chain resilience: definition and response</a:t>
            </a:r>
          </a:p>
        </p:txBody>
      </p:sp>
      <p:sp>
        <p:nvSpPr>
          <p:cNvPr id="2" name="Rectangle 1">
            <a:extLst>
              <a:ext uri="{FF2B5EF4-FFF2-40B4-BE49-F238E27FC236}">
                <a16:creationId xmlns:a16="http://schemas.microsoft.com/office/drawing/2014/main" id="{2A134DC6-7DA4-4297-A018-E7287182548C}"/>
              </a:ext>
            </a:extLst>
          </p:cNvPr>
          <p:cNvSpPr>
            <a:spLocks noGrp="1"/>
          </p:cNvSpPr>
          <p:nvPr/>
        </p:nvSpPr>
        <p:spPr>
          <a:xfrm>
            <a:off x="381000" y="1095375"/>
            <a:ext cx="11430000" cy="1238250"/>
          </a:xfrm>
          <a:prstGeom prst="rect">
            <a:avLst/>
          </a:prstGeom>
          <a:noFill/>
          <a:ln w="0">
            <a:noFill/>
            <a:prstDash val="solid"/>
          </a:ln>
        </p:spPr>
        <p:txBody>
          <a:bodyPr/>
          <a:lstStyle>
            <a:defPPr>
              <a:defRPr sz="2025" b="0">
                <a:solidFill>
                  <a:srgbClr val="173B3B"/>
                </a:solidFill>
                <a:latin typeface="Arial"/>
                <a:ea typeface="Arial"/>
                <a:cs typeface="Arial"/>
              </a:defRPr>
            </a:defPPr>
            <a:lvl1pPr>
              <a:defRPr sz="2025" b="0">
                <a:solidFill>
                  <a:srgbClr val="173B3B"/>
                </a:solidFill>
                <a:latin typeface="Arial"/>
                <a:ea typeface="Arial"/>
                <a:cs typeface="Arial"/>
              </a:defRPr>
            </a:lvl1pPr>
            <a:lvl2pPr>
              <a:defRPr sz="2025" b="0">
                <a:solidFill>
                  <a:srgbClr val="173B3B"/>
                </a:solidFill>
                <a:latin typeface="Arial"/>
                <a:ea typeface="Arial"/>
                <a:cs typeface="Arial"/>
              </a:defRPr>
            </a:lvl2pPr>
            <a:lvl3pPr>
              <a:defRPr sz="2025" b="0">
                <a:solidFill>
                  <a:srgbClr val="173B3B"/>
                </a:solidFill>
                <a:latin typeface="Arial"/>
                <a:ea typeface="Arial"/>
                <a:cs typeface="Arial"/>
              </a:defRPr>
            </a:lvl3pPr>
            <a:lvl4pPr>
              <a:defRPr sz="2025" b="0">
                <a:solidFill>
                  <a:srgbClr val="173B3B"/>
                </a:solidFill>
                <a:latin typeface="Arial"/>
                <a:ea typeface="Arial"/>
                <a:cs typeface="Arial"/>
              </a:defRPr>
            </a:lvl4pPr>
            <a:lvl5pPr>
              <a:defRPr sz="2025" b="0">
                <a:solidFill>
                  <a:srgbClr val="173B3B"/>
                </a:solidFill>
                <a:latin typeface="Arial"/>
                <a:ea typeface="Arial"/>
                <a:cs typeface="Arial"/>
              </a:defRPr>
            </a:lvl5pPr>
            <a:lvl6pPr>
              <a:defRPr sz="2025" b="0">
                <a:solidFill>
                  <a:srgbClr val="173B3B"/>
                </a:solidFill>
                <a:latin typeface="Arial"/>
                <a:ea typeface="Arial"/>
                <a:cs typeface="Arial"/>
              </a:defRPr>
            </a:lvl6pPr>
            <a:lvl7pPr>
              <a:defRPr sz="2025" b="0">
                <a:solidFill>
                  <a:srgbClr val="173B3B"/>
                </a:solidFill>
                <a:latin typeface="Arial"/>
                <a:ea typeface="Arial"/>
                <a:cs typeface="Arial"/>
              </a:defRPr>
            </a:lvl7pPr>
            <a:lvl8pPr>
              <a:defRPr sz="2025" b="0">
                <a:solidFill>
                  <a:srgbClr val="173B3B"/>
                </a:solidFill>
                <a:latin typeface="Arial"/>
                <a:ea typeface="Arial"/>
                <a:cs typeface="Arial"/>
              </a:defRPr>
            </a:lvl8pPr>
            <a:lvl9pPr>
              <a:defRPr sz="2025" b="0">
                <a:solidFill>
                  <a:srgbClr val="173B3B"/>
                </a:solidFill>
                <a:latin typeface="Arial"/>
                <a:ea typeface="Arial"/>
                <a:cs typeface="Arial"/>
              </a:defRPr>
            </a:lvl9pPr>
          </a:lstStyle>
          <a:p>
            <a:pPr>
              <a:defRPr sz="2025" b="0">
                <a:solidFill>
                  <a:srgbClr val="173B3B"/>
                </a:solidFill>
                <a:latin typeface="Arial"/>
                <a:ea typeface="Arial"/>
                <a:cs typeface="Arial"/>
              </a:defRPr>
            </a:pPr>
            <a:r>
              <a:rPr sz="2000" b="0">
                <a:solidFill>
                  <a:srgbClr val="131E29"/>
                </a:solidFill>
                <a:latin typeface="Arial"/>
                <a:ea typeface="Arial"/>
                <a:cs typeface="Arial"/>
              </a:rPr>
              <a:t>“The adaptive capability of a supply chain to prepare for and/or respond to</a:t>
            </a:r>
          </a:p>
          <a:p>
            <a:pPr>
              <a:defRPr sz="2025" b="0">
                <a:solidFill>
                  <a:srgbClr val="173B3B"/>
                </a:solidFill>
                <a:latin typeface="Arial"/>
                <a:ea typeface="Arial"/>
                <a:cs typeface="Arial"/>
              </a:defRPr>
            </a:pPr>
            <a:r>
              <a:rPr sz="2000" b="0">
                <a:solidFill>
                  <a:srgbClr val="131E29"/>
                </a:solidFill>
                <a:latin typeface="Arial"/>
                <a:ea typeface="Arial"/>
                <a:cs typeface="Arial"/>
              </a:rPr>
              <a:t>disruptions, to make a timely and cost-effective recovery, and therefore progress to</a:t>
            </a:r>
          </a:p>
          <a:p>
            <a:pPr>
              <a:defRPr sz="2025" b="0">
                <a:solidFill>
                  <a:srgbClr val="173B3B"/>
                </a:solidFill>
                <a:latin typeface="Arial"/>
                <a:ea typeface="Arial"/>
                <a:cs typeface="Arial"/>
              </a:defRPr>
            </a:pPr>
            <a:r>
              <a:rPr sz="2000" b="0">
                <a:solidFill>
                  <a:srgbClr val="131E29"/>
                </a:solidFill>
                <a:latin typeface="Arial"/>
                <a:ea typeface="Arial"/>
                <a:cs typeface="Arial"/>
              </a:rPr>
              <a:t>a post-disruption state of operations – ideally, a better state than prior to the disruption”</a:t>
            </a:r>
          </a:p>
        </p:txBody>
      </p:sp>
      <p:sp>
        <p:nvSpPr>
          <p:cNvPr id="3" name="Rectangle 2">
            <a:extLst>
              <a:ext uri="{FF2B5EF4-FFF2-40B4-BE49-F238E27FC236}">
                <a16:creationId xmlns:a16="http://schemas.microsoft.com/office/drawing/2014/main" id="{E517D47C-3C26-48B8-B454-C69E1E43CCC0}"/>
              </a:ext>
            </a:extLst>
          </p:cNvPr>
          <p:cNvSpPr>
            <a:spLocks noGrp="1"/>
          </p:cNvSpPr>
          <p:nvPr/>
        </p:nvSpPr>
        <p:spPr>
          <a:xfrm>
            <a:off x="381000" y="2381250"/>
            <a:ext cx="11430000" cy="285750"/>
          </a:xfrm>
          <a:prstGeom prst="rect">
            <a:avLst/>
          </a:prstGeom>
          <a:noFill/>
          <a:ln w="0">
            <a:noFill/>
            <a:prstDash val="solid"/>
          </a:ln>
        </p:spPr>
        <p:txBody>
          <a:bodyPr/>
          <a:lstStyle>
            <a:defPPr>
              <a:defRPr sz="1575" b="1">
                <a:solidFill>
                  <a:srgbClr val="173B3B"/>
                </a:solidFill>
                <a:latin typeface="Arial"/>
                <a:ea typeface="Arial"/>
                <a:cs typeface="Arial"/>
              </a:defRPr>
            </a:defPPr>
            <a:lvl1pPr>
              <a:defRPr sz="1575" b="1">
                <a:solidFill>
                  <a:srgbClr val="173B3B"/>
                </a:solidFill>
                <a:latin typeface="Arial"/>
                <a:ea typeface="Arial"/>
                <a:cs typeface="Arial"/>
              </a:defRPr>
            </a:lvl1pPr>
            <a:lvl2pPr>
              <a:defRPr sz="1575" b="1">
                <a:solidFill>
                  <a:srgbClr val="173B3B"/>
                </a:solidFill>
                <a:latin typeface="Arial"/>
                <a:ea typeface="Arial"/>
                <a:cs typeface="Arial"/>
              </a:defRPr>
            </a:lvl2pPr>
            <a:lvl3pPr>
              <a:defRPr sz="1575" b="1">
                <a:solidFill>
                  <a:srgbClr val="173B3B"/>
                </a:solidFill>
                <a:latin typeface="Arial"/>
                <a:ea typeface="Arial"/>
                <a:cs typeface="Arial"/>
              </a:defRPr>
            </a:lvl3pPr>
            <a:lvl4pPr>
              <a:defRPr sz="1575" b="1">
                <a:solidFill>
                  <a:srgbClr val="173B3B"/>
                </a:solidFill>
                <a:latin typeface="Arial"/>
                <a:ea typeface="Arial"/>
                <a:cs typeface="Arial"/>
              </a:defRPr>
            </a:lvl4pPr>
            <a:lvl5pPr>
              <a:defRPr sz="1575" b="1">
                <a:solidFill>
                  <a:srgbClr val="173B3B"/>
                </a:solidFill>
                <a:latin typeface="Arial"/>
                <a:ea typeface="Arial"/>
                <a:cs typeface="Arial"/>
              </a:defRPr>
            </a:lvl5pPr>
            <a:lvl6pPr>
              <a:defRPr sz="1575" b="1">
                <a:solidFill>
                  <a:srgbClr val="173B3B"/>
                </a:solidFill>
                <a:latin typeface="Arial"/>
                <a:ea typeface="Arial"/>
                <a:cs typeface="Arial"/>
              </a:defRPr>
            </a:lvl6pPr>
            <a:lvl7pPr>
              <a:defRPr sz="1575" b="1">
                <a:solidFill>
                  <a:srgbClr val="173B3B"/>
                </a:solidFill>
                <a:latin typeface="Arial"/>
                <a:ea typeface="Arial"/>
                <a:cs typeface="Arial"/>
              </a:defRPr>
            </a:lvl7pPr>
            <a:lvl8pPr>
              <a:defRPr sz="1575" b="1">
                <a:solidFill>
                  <a:srgbClr val="173B3B"/>
                </a:solidFill>
                <a:latin typeface="Arial"/>
                <a:ea typeface="Arial"/>
                <a:cs typeface="Arial"/>
              </a:defRPr>
            </a:lvl8pPr>
            <a:lvl9pPr>
              <a:defRPr sz="1575" b="1">
                <a:solidFill>
                  <a:srgbClr val="173B3B"/>
                </a:solidFill>
                <a:latin typeface="Arial"/>
                <a:ea typeface="Arial"/>
                <a:cs typeface="Arial"/>
              </a:defRPr>
            </a:lvl9pPr>
          </a:lstStyle>
          <a:p>
            <a:pPr>
              <a:defRPr sz="1575" b="1">
                <a:solidFill>
                  <a:srgbClr val="173B3B"/>
                </a:solidFill>
                <a:latin typeface="Arial"/>
                <a:ea typeface="Arial"/>
                <a:cs typeface="Arial"/>
              </a:defRPr>
            </a:pPr>
            <a:r>
              <a:rPr sz="1500" b="1">
                <a:solidFill>
                  <a:srgbClr val="131E29"/>
                </a:solidFill>
                <a:latin typeface="Arial"/>
                <a:ea typeface="Arial"/>
                <a:cs typeface="Arial"/>
              </a:rPr>
              <a:t>Tukamuhabwa et al. (2015, p. 5599)</a:t>
            </a:r>
          </a:p>
        </p:txBody>
      </p:sp>
      <p:pic>
        <p:nvPicPr>
          <p:cNvPr id="4" name="Picture 3">
            <a:extLst>
              <a:ext uri="{FF2B5EF4-FFF2-40B4-BE49-F238E27FC236}">
                <a16:creationId xmlns:a16="http://schemas.microsoft.com/office/drawing/2014/main" id="{259D0A8C-F9D2-4B75-813D-33C70F2B33BD}"/>
              </a:ext>
            </a:extLst>
          </p:cNvPr>
          <p:cNvPicPr>
            <a:picLocks noChangeAspect="1"/>
          </p:cNvPicPr>
          <p:nvPr/>
        </p:nvPicPr>
        <p:blipFill>
          <a:blip r:embed="rId3"/>
          <a:stretch/>
        </p:blipFill>
        <p:spPr>
          <a:xfrm>
            <a:off x="333375" y="3424457"/>
            <a:ext cx="6429375" cy="2390336"/>
          </a:xfrm>
          <a:prstGeom prst="rect">
            <a:avLst/>
          </a:prstGeom>
        </p:spPr>
      </p:pic>
      <p:sp>
        <p:nvSpPr>
          <p:cNvPr id="5" name="Rectangle 4">
            <a:extLst>
              <a:ext uri="{FF2B5EF4-FFF2-40B4-BE49-F238E27FC236}">
                <a16:creationId xmlns:a16="http://schemas.microsoft.com/office/drawing/2014/main" id="{3B1B1A66-AE03-44AE-BE07-E0315878370A}"/>
              </a:ext>
            </a:extLst>
          </p:cNvPr>
          <p:cNvSpPr>
            <a:spLocks noGrp="1"/>
          </p:cNvSpPr>
          <p:nvPr/>
        </p:nvSpPr>
        <p:spPr>
          <a:xfrm>
            <a:off x="7334250" y="3143250"/>
            <a:ext cx="4429125" cy="381000"/>
          </a:xfrm>
          <a:prstGeom prst="rect">
            <a:avLst/>
          </a:prstGeom>
          <a:noFill/>
          <a:ln w="0">
            <a:noFill/>
            <a:prstDash val="solid"/>
          </a:ln>
        </p:spPr>
        <p:txBody>
          <a:bodyPr/>
          <a:lstStyle>
            <a:defPPr>
              <a:defRPr sz="2175" b="1">
                <a:solidFill>
                  <a:srgbClr val="420099"/>
                </a:solidFill>
                <a:latin typeface="Arial"/>
                <a:ea typeface="Arial"/>
                <a:cs typeface="Arial"/>
              </a:defRPr>
            </a:defPPr>
            <a:lvl1pPr>
              <a:defRPr sz="2175" b="1">
                <a:solidFill>
                  <a:srgbClr val="420099"/>
                </a:solidFill>
                <a:latin typeface="Arial"/>
                <a:ea typeface="Arial"/>
                <a:cs typeface="Arial"/>
              </a:defRPr>
            </a:lvl1pPr>
            <a:lvl2pPr>
              <a:defRPr sz="2175" b="1">
                <a:solidFill>
                  <a:srgbClr val="420099"/>
                </a:solidFill>
                <a:latin typeface="Arial"/>
                <a:ea typeface="Arial"/>
                <a:cs typeface="Arial"/>
              </a:defRPr>
            </a:lvl2pPr>
            <a:lvl3pPr>
              <a:defRPr sz="2175" b="1">
                <a:solidFill>
                  <a:srgbClr val="420099"/>
                </a:solidFill>
                <a:latin typeface="Arial"/>
                <a:ea typeface="Arial"/>
                <a:cs typeface="Arial"/>
              </a:defRPr>
            </a:lvl3pPr>
            <a:lvl4pPr>
              <a:defRPr sz="2175" b="1">
                <a:solidFill>
                  <a:srgbClr val="420099"/>
                </a:solidFill>
                <a:latin typeface="Arial"/>
                <a:ea typeface="Arial"/>
                <a:cs typeface="Arial"/>
              </a:defRPr>
            </a:lvl4pPr>
            <a:lvl5pPr>
              <a:defRPr sz="2175" b="1">
                <a:solidFill>
                  <a:srgbClr val="420099"/>
                </a:solidFill>
                <a:latin typeface="Arial"/>
                <a:ea typeface="Arial"/>
                <a:cs typeface="Arial"/>
              </a:defRPr>
            </a:lvl5pPr>
            <a:lvl6pPr>
              <a:defRPr sz="2175" b="1">
                <a:solidFill>
                  <a:srgbClr val="420099"/>
                </a:solidFill>
                <a:latin typeface="Arial"/>
                <a:ea typeface="Arial"/>
                <a:cs typeface="Arial"/>
              </a:defRPr>
            </a:lvl6pPr>
            <a:lvl7pPr>
              <a:defRPr sz="2175" b="1">
                <a:solidFill>
                  <a:srgbClr val="420099"/>
                </a:solidFill>
                <a:latin typeface="Arial"/>
                <a:ea typeface="Arial"/>
                <a:cs typeface="Arial"/>
              </a:defRPr>
            </a:lvl7pPr>
            <a:lvl8pPr>
              <a:defRPr sz="2175" b="1">
                <a:solidFill>
                  <a:srgbClr val="420099"/>
                </a:solidFill>
                <a:latin typeface="Arial"/>
                <a:ea typeface="Arial"/>
                <a:cs typeface="Arial"/>
              </a:defRPr>
            </a:lvl8pPr>
            <a:lvl9pPr>
              <a:defRPr sz="2175" b="1">
                <a:solidFill>
                  <a:srgbClr val="420099"/>
                </a:solidFill>
                <a:latin typeface="Arial"/>
                <a:ea typeface="Arial"/>
                <a:cs typeface="Arial"/>
              </a:defRPr>
            </a:lvl9pPr>
          </a:lstStyle>
          <a:p>
            <a:pPr>
              <a:defRPr sz="2175" b="1">
                <a:solidFill>
                  <a:srgbClr val="420099"/>
                </a:solidFill>
                <a:latin typeface="Arial"/>
                <a:ea typeface="Arial"/>
                <a:cs typeface="Arial"/>
              </a:defRPr>
            </a:pPr>
            <a:r>
              <a:rPr sz="2000" b="1">
                <a:solidFill>
                  <a:srgbClr val="440099"/>
                </a:solidFill>
                <a:latin typeface="Arial"/>
                <a:ea typeface="Arial"/>
                <a:cs typeface="Arial"/>
              </a:rPr>
              <a:t>What this means</a:t>
            </a:r>
          </a:p>
        </p:txBody>
      </p:sp>
      <p:sp>
        <p:nvSpPr>
          <p:cNvPr id="6" name="Rectangle 5">
            <a:extLst>
              <a:ext uri="{FF2B5EF4-FFF2-40B4-BE49-F238E27FC236}">
                <a16:creationId xmlns:a16="http://schemas.microsoft.com/office/drawing/2014/main" id="{A4116730-60C0-4474-900E-4516F0C2AD2A}"/>
              </a:ext>
            </a:extLst>
          </p:cNvPr>
          <p:cNvSpPr>
            <a:spLocks noGrp="1"/>
          </p:cNvSpPr>
          <p:nvPr/>
        </p:nvSpPr>
        <p:spPr>
          <a:xfrm>
            <a:off x="7334250" y="3714750"/>
            <a:ext cx="4429125" cy="2000250"/>
          </a:xfrm>
          <a:prstGeom prst="rect">
            <a:avLst/>
          </a:prstGeom>
          <a:noFill/>
          <a:ln w="0">
            <a:noFill/>
            <a:prstDash val="solid"/>
          </a:ln>
        </p:spPr>
        <p:txBody>
          <a:bodyPr/>
          <a:lstStyle>
            <a:defPPr>
              <a:defRPr sz="2025" b="0">
                <a:solidFill>
                  <a:srgbClr val="173B3B"/>
                </a:solidFill>
                <a:latin typeface="Arial"/>
                <a:ea typeface="Arial"/>
                <a:cs typeface="Arial"/>
              </a:defRPr>
            </a:defPPr>
            <a:lvl1pPr>
              <a:defRPr sz="2025" b="0">
                <a:solidFill>
                  <a:srgbClr val="173B3B"/>
                </a:solidFill>
                <a:latin typeface="Arial"/>
                <a:ea typeface="Arial"/>
                <a:cs typeface="Arial"/>
              </a:defRPr>
            </a:lvl1pPr>
            <a:lvl2pPr>
              <a:defRPr sz="2025" b="0">
                <a:solidFill>
                  <a:srgbClr val="173B3B"/>
                </a:solidFill>
                <a:latin typeface="Arial"/>
                <a:ea typeface="Arial"/>
                <a:cs typeface="Arial"/>
              </a:defRPr>
            </a:lvl2pPr>
            <a:lvl3pPr>
              <a:defRPr sz="2025" b="0">
                <a:solidFill>
                  <a:srgbClr val="173B3B"/>
                </a:solidFill>
                <a:latin typeface="Arial"/>
                <a:ea typeface="Arial"/>
                <a:cs typeface="Arial"/>
              </a:defRPr>
            </a:lvl3pPr>
            <a:lvl4pPr>
              <a:defRPr sz="2025" b="0">
                <a:solidFill>
                  <a:srgbClr val="173B3B"/>
                </a:solidFill>
                <a:latin typeface="Arial"/>
                <a:ea typeface="Arial"/>
                <a:cs typeface="Arial"/>
              </a:defRPr>
            </a:lvl4pPr>
            <a:lvl5pPr>
              <a:defRPr sz="2025" b="0">
                <a:solidFill>
                  <a:srgbClr val="173B3B"/>
                </a:solidFill>
                <a:latin typeface="Arial"/>
                <a:ea typeface="Arial"/>
                <a:cs typeface="Arial"/>
              </a:defRPr>
            </a:lvl5pPr>
            <a:lvl6pPr>
              <a:defRPr sz="2025" b="0">
                <a:solidFill>
                  <a:srgbClr val="173B3B"/>
                </a:solidFill>
                <a:latin typeface="Arial"/>
                <a:ea typeface="Arial"/>
                <a:cs typeface="Arial"/>
              </a:defRPr>
            </a:lvl6pPr>
            <a:lvl7pPr>
              <a:defRPr sz="2025" b="0">
                <a:solidFill>
                  <a:srgbClr val="173B3B"/>
                </a:solidFill>
                <a:latin typeface="Arial"/>
                <a:ea typeface="Arial"/>
                <a:cs typeface="Arial"/>
              </a:defRPr>
            </a:lvl7pPr>
            <a:lvl8pPr>
              <a:defRPr sz="2025" b="0">
                <a:solidFill>
                  <a:srgbClr val="173B3B"/>
                </a:solidFill>
                <a:latin typeface="Arial"/>
                <a:ea typeface="Arial"/>
                <a:cs typeface="Arial"/>
              </a:defRPr>
            </a:lvl8pPr>
            <a:lvl9pPr>
              <a:defRPr sz="2025" b="0">
                <a:solidFill>
                  <a:srgbClr val="173B3B"/>
                </a:solidFill>
                <a:latin typeface="Arial"/>
                <a:ea typeface="Arial"/>
                <a:cs typeface="Arial"/>
              </a:defRPr>
            </a:lvl9pPr>
          </a:lstStyle>
          <a:p>
            <a:pPr>
              <a:defRPr sz="2025" b="0">
                <a:solidFill>
                  <a:srgbClr val="173B3B"/>
                </a:solidFill>
                <a:latin typeface="Arial"/>
                <a:ea typeface="Arial"/>
                <a:cs typeface="Arial"/>
              </a:defRPr>
            </a:pPr>
            <a:r>
              <a:rPr sz="2000" b="0">
                <a:solidFill>
                  <a:srgbClr val="131E29"/>
                </a:solidFill>
                <a:latin typeface="Arial"/>
                <a:ea typeface="Arial"/>
                <a:cs typeface="Arial"/>
              </a:rPr>
              <a:t>Take a whole-system perspective.</a:t>
            </a:r>
          </a:p>
          <a:p>
            <a:endParaRPr sz="2025" b="0">
              <a:solidFill>
                <a:srgbClr val="173B3B"/>
              </a:solidFill>
              <a:latin typeface="Arial"/>
              <a:ea typeface="Arial"/>
              <a:cs typeface="Arial"/>
            </a:endParaRPr>
          </a:p>
          <a:p>
            <a:pPr>
              <a:defRPr sz="2025" b="0">
                <a:solidFill>
                  <a:srgbClr val="173B3B"/>
                </a:solidFill>
                <a:latin typeface="Arial"/>
                <a:ea typeface="Arial"/>
                <a:cs typeface="Arial"/>
              </a:defRPr>
            </a:pPr>
            <a:r>
              <a:rPr sz="2000" b="0">
                <a:solidFill>
                  <a:srgbClr val="131E29"/>
                </a:solidFill>
                <a:latin typeface="Arial"/>
                <a:ea typeface="Arial"/>
                <a:cs typeface="Arial"/>
              </a:rPr>
              <a:t>Accept that disturbances happen.</a:t>
            </a:r>
          </a:p>
          <a:p>
            <a:endParaRPr sz="2025" b="0">
              <a:solidFill>
                <a:srgbClr val="173B3B"/>
              </a:solidFill>
              <a:latin typeface="Arial"/>
              <a:ea typeface="Arial"/>
              <a:cs typeface="Arial"/>
            </a:endParaRPr>
          </a:p>
          <a:p>
            <a:pPr>
              <a:defRPr sz="2025" b="0">
                <a:solidFill>
                  <a:srgbClr val="173B3B"/>
                </a:solidFill>
                <a:latin typeface="Arial"/>
                <a:ea typeface="Arial"/>
                <a:cs typeface="Arial"/>
              </a:defRPr>
            </a:pPr>
            <a:r>
              <a:rPr sz="2000" b="0">
                <a:solidFill>
                  <a:srgbClr val="131E29"/>
                </a:solidFill>
                <a:latin typeface="Arial"/>
                <a:ea typeface="Arial"/>
                <a:cs typeface="Arial"/>
              </a:rPr>
              <a:t>Adapt to changing circumstances.</a:t>
            </a:r>
          </a:p>
        </p:txBody>
      </p:sp>
      <p:sp>
        <p:nvSpPr>
          <p:cNvPr id="7" name="Rectangle 6">
            <a:extLst>
              <a:ext uri="{FF2B5EF4-FFF2-40B4-BE49-F238E27FC236}">
                <a16:creationId xmlns:a16="http://schemas.microsoft.com/office/drawing/2014/main" id="{62B57EA0-8595-4180-9778-837C1BB7C9C6}"/>
              </a:ext>
            </a:extLst>
          </p:cNvPr>
          <p:cNvSpPr>
            <a:spLocks noGrp="1"/>
          </p:cNvSpPr>
          <p:nvPr/>
        </p:nvSpPr>
        <p:spPr>
          <a:xfrm>
            <a:off x="381000" y="6477000"/>
            <a:ext cx="11430000" cy="266700"/>
          </a:xfrm>
          <a:prstGeom prst="rect">
            <a:avLst/>
          </a:prstGeom>
          <a:noFill/>
          <a:ln w="0">
            <a:noFill/>
            <a:prstDash val="solid"/>
          </a:ln>
        </p:spPr>
        <p:txBody>
          <a:bodyPr/>
          <a:lstStyle>
            <a:defPPr>
              <a:defRPr sz="1275" b="0">
                <a:solidFill>
                  <a:srgbClr val="5D686A"/>
                </a:solidFill>
                <a:latin typeface="Arial"/>
                <a:ea typeface="Arial"/>
                <a:cs typeface="Arial"/>
              </a:defRPr>
            </a:defPPr>
            <a:lvl1pPr>
              <a:defRPr sz="1275" b="0">
                <a:solidFill>
                  <a:srgbClr val="5D686A"/>
                </a:solidFill>
                <a:latin typeface="Arial"/>
                <a:ea typeface="Arial"/>
                <a:cs typeface="Arial"/>
              </a:defRPr>
            </a:lvl1pPr>
            <a:lvl2pPr>
              <a:defRPr sz="1275" b="0">
                <a:solidFill>
                  <a:srgbClr val="5D686A"/>
                </a:solidFill>
                <a:latin typeface="Arial"/>
                <a:ea typeface="Arial"/>
                <a:cs typeface="Arial"/>
              </a:defRPr>
            </a:lvl2pPr>
            <a:lvl3pPr>
              <a:defRPr sz="1275" b="0">
                <a:solidFill>
                  <a:srgbClr val="5D686A"/>
                </a:solidFill>
                <a:latin typeface="Arial"/>
                <a:ea typeface="Arial"/>
                <a:cs typeface="Arial"/>
              </a:defRPr>
            </a:lvl3pPr>
            <a:lvl4pPr>
              <a:defRPr sz="1275" b="0">
                <a:solidFill>
                  <a:srgbClr val="5D686A"/>
                </a:solidFill>
                <a:latin typeface="Arial"/>
                <a:ea typeface="Arial"/>
                <a:cs typeface="Arial"/>
              </a:defRPr>
            </a:lvl4pPr>
            <a:lvl5pPr>
              <a:defRPr sz="1275" b="0">
                <a:solidFill>
                  <a:srgbClr val="5D686A"/>
                </a:solidFill>
                <a:latin typeface="Arial"/>
                <a:ea typeface="Arial"/>
                <a:cs typeface="Arial"/>
              </a:defRPr>
            </a:lvl5pPr>
            <a:lvl6pPr>
              <a:defRPr sz="1275" b="0">
                <a:solidFill>
                  <a:srgbClr val="5D686A"/>
                </a:solidFill>
                <a:latin typeface="Arial"/>
                <a:ea typeface="Arial"/>
                <a:cs typeface="Arial"/>
              </a:defRPr>
            </a:lvl6pPr>
            <a:lvl7pPr>
              <a:defRPr sz="1275" b="0">
                <a:solidFill>
                  <a:srgbClr val="5D686A"/>
                </a:solidFill>
                <a:latin typeface="Arial"/>
                <a:ea typeface="Arial"/>
                <a:cs typeface="Arial"/>
              </a:defRPr>
            </a:lvl7pPr>
            <a:lvl8pPr>
              <a:defRPr sz="1275" b="0">
                <a:solidFill>
                  <a:srgbClr val="5D686A"/>
                </a:solidFill>
                <a:latin typeface="Arial"/>
                <a:ea typeface="Arial"/>
                <a:cs typeface="Arial"/>
              </a:defRPr>
            </a:lvl8pPr>
            <a:lvl9pPr>
              <a:defRPr sz="1275" b="0">
                <a:solidFill>
                  <a:srgbClr val="5D686A"/>
                </a:solidFill>
                <a:latin typeface="Arial"/>
                <a:ea typeface="Arial"/>
                <a:cs typeface="Arial"/>
              </a:defRPr>
            </a:lvl9pPr>
          </a:lstStyle>
          <a:p>
            <a:pPr>
              <a:defRPr sz="1275" b="0">
                <a:solidFill>
                  <a:srgbClr val="5D686A"/>
                </a:solidFill>
                <a:latin typeface="Arial"/>
                <a:ea typeface="Arial"/>
                <a:cs typeface="Arial"/>
              </a:defRPr>
            </a:pPr>
            <a:r>
              <a:rPr sz="1200" b="0">
                <a:solidFill>
                  <a:srgbClr val="5E6977"/>
                </a:solidFill>
                <a:latin typeface="Arial"/>
                <a:ea typeface="Arial"/>
                <a:cs typeface="Arial"/>
              </a:rPr>
              <a:t>Figure: Sodhi and Chopra (2014), as cited in the supplied lecture.</a:t>
            </a:r>
          </a:p>
        </p:txBody>
      </p:sp>
    </p:spTree>
    <p:extLst>
      <p:ext uri="{BB962C8B-B14F-4D97-AF65-F5344CB8AC3E}">
        <p14:creationId xmlns:p14="http://schemas.microsoft.com/office/powerpoint/2010/main" val="628454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A60612B-91A8-435F-9C72-8CD1F53C98F3}"/>
              </a:ext>
            </a:extLst>
          </p:cNvPr>
          <p:cNvSpPr>
            <a:spLocks noGrp="1"/>
          </p:cNvSpPr>
          <p:nvPr/>
        </p:nvSpPr>
        <p:spPr>
          <a:xfrm>
            <a:off x="381000" y="238125"/>
            <a:ext cx="11430000" cy="619125"/>
          </a:xfrm>
          <a:prstGeom prst="rect">
            <a:avLst/>
          </a:prstGeom>
          <a:noFill/>
          <a:ln w="0">
            <a:noFill/>
            <a:prstDash val="solid"/>
          </a:ln>
        </p:spPr>
        <p:txBody>
          <a:bodyPr/>
          <a:lstStyle>
            <a:defPPr>
              <a:defRPr sz="3000" b="1">
                <a:solidFill>
                  <a:srgbClr val="420099"/>
                </a:solidFill>
                <a:latin typeface="Arial"/>
                <a:ea typeface="Arial"/>
                <a:cs typeface="Arial"/>
              </a:defRPr>
            </a:defPPr>
            <a:lvl1pPr>
              <a:defRPr sz="3000" b="1">
                <a:solidFill>
                  <a:srgbClr val="420099"/>
                </a:solidFill>
                <a:latin typeface="Arial"/>
                <a:ea typeface="Arial"/>
                <a:cs typeface="Arial"/>
              </a:defRPr>
            </a:lvl1pPr>
            <a:lvl2pPr>
              <a:defRPr sz="3000" b="1">
                <a:solidFill>
                  <a:srgbClr val="420099"/>
                </a:solidFill>
                <a:latin typeface="Arial"/>
                <a:ea typeface="Arial"/>
                <a:cs typeface="Arial"/>
              </a:defRPr>
            </a:lvl2pPr>
            <a:lvl3pPr>
              <a:defRPr sz="3000" b="1">
                <a:solidFill>
                  <a:srgbClr val="420099"/>
                </a:solidFill>
                <a:latin typeface="Arial"/>
                <a:ea typeface="Arial"/>
                <a:cs typeface="Arial"/>
              </a:defRPr>
            </a:lvl3pPr>
            <a:lvl4pPr>
              <a:defRPr sz="3000" b="1">
                <a:solidFill>
                  <a:srgbClr val="420099"/>
                </a:solidFill>
                <a:latin typeface="Arial"/>
                <a:ea typeface="Arial"/>
                <a:cs typeface="Arial"/>
              </a:defRPr>
            </a:lvl4pPr>
            <a:lvl5pPr>
              <a:defRPr sz="3000" b="1">
                <a:solidFill>
                  <a:srgbClr val="420099"/>
                </a:solidFill>
                <a:latin typeface="Arial"/>
                <a:ea typeface="Arial"/>
                <a:cs typeface="Arial"/>
              </a:defRPr>
            </a:lvl5pPr>
            <a:lvl6pPr>
              <a:defRPr sz="3000" b="1">
                <a:solidFill>
                  <a:srgbClr val="420099"/>
                </a:solidFill>
                <a:latin typeface="Arial"/>
                <a:ea typeface="Arial"/>
                <a:cs typeface="Arial"/>
              </a:defRPr>
            </a:lvl6pPr>
            <a:lvl7pPr>
              <a:defRPr sz="3000" b="1">
                <a:solidFill>
                  <a:srgbClr val="420099"/>
                </a:solidFill>
                <a:latin typeface="Arial"/>
                <a:ea typeface="Arial"/>
                <a:cs typeface="Arial"/>
              </a:defRPr>
            </a:lvl7pPr>
            <a:lvl8pPr>
              <a:defRPr sz="3000" b="1">
                <a:solidFill>
                  <a:srgbClr val="420099"/>
                </a:solidFill>
                <a:latin typeface="Arial"/>
                <a:ea typeface="Arial"/>
                <a:cs typeface="Arial"/>
              </a:defRPr>
            </a:lvl8pPr>
            <a:lvl9pPr>
              <a:defRPr sz="3000" b="1">
                <a:solidFill>
                  <a:srgbClr val="420099"/>
                </a:solidFill>
                <a:latin typeface="Arial"/>
                <a:ea typeface="Arial"/>
                <a:cs typeface="Arial"/>
              </a:defRPr>
            </a:lvl9pPr>
          </a:lstStyle>
          <a:p>
            <a:pPr algn="l">
              <a:defRPr sz="3000" b="1">
                <a:solidFill>
                  <a:srgbClr val="420099"/>
                </a:solidFill>
                <a:latin typeface="Arial"/>
                <a:ea typeface="Arial"/>
                <a:cs typeface="Arial"/>
              </a:defRPr>
            </a:pPr>
            <a:r>
              <a:rPr sz="3000" b="1">
                <a:solidFill>
                  <a:srgbClr val="440099"/>
                </a:solidFill>
                <a:latin typeface="Arial"/>
                <a:ea typeface="Arial"/>
                <a:cs typeface="Arial"/>
              </a:rPr>
              <a:t>Capabilities that support supply chain resilience</a:t>
            </a:r>
          </a:p>
        </p:txBody>
      </p:sp>
      <p:sp>
        <p:nvSpPr>
          <p:cNvPr id="2" name="Rectangle 1">
            <a:extLst>
              <a:ext uri="{FF2B5EF4-FFF2-40B4-BE49-F238E27FC236}">
                <a16:creationId xmlns:a16="http://schemas.microsoft.com/office/drawing/2014/main" id="{26DBA8BD-DA47-4651-904A-1C4895EB366B}"/>
              </a:ext>
            </a:extLst>
          </p:cNvPr>
          <p:cNvSpPr>
            <a:spLocks noGrp="1"/>
          </p:cNvSpPr>
          <p:nvPr/>
        </p:nvSpPr>
        <p:spPr>
          <a:xfrm>
            <a:off x="381000" y="1000125"/>
            <a:ext cx="11430000" cy="428625"/>
          </a:xfrm>
          <a:prstGeom prst="rect">
            <a:avLst/>
          </a:prstGeom>
          <a:noFill/>
          <a:ln w="0">
            <a:noFill/>
            <a:prstDash val="solid"/>
          </a:ln>
        </p:spPr>
        <p:txBody>
          <a:bodyPr/>
          <a:lstStyle>
            <a:defPPr>
              <a:defRPr sz="1950" b="0">
                <a:solidFill>
                  <a:srgbClr val="173B3B"/>
                </a:solidFill>
                <a:latin typeface="Arial"/>
                <a:ea typeface="Arial"/>
                <a:cs typeface="Arial"/>
              </a:defRPr>
            </a:defPPr>
            <a:lvl1pPr>
              <a:defRPr sz="1950" b="0">
                <a:solidFill>
                  <a:srgbClr val="173B3B"/>
                </a:solidFill>
                <a:latin typeface="Arial"/>
                <a:ea typeface="Arial"/>
                <a:cs typeface="Arial"/>
              </a:defRPr>
            </a:lvl1pPr>
            <a:lvl2pPr>
              <a:defRPr sz="1950" b="0">
                <a:solidFill>
                  <a:srgbClr val="173B3B"/>
                </a:solidFill>
                <a:latin typeface="Arial"/>
                <a:ea typeface="Arial"/>
                <a:cs typeface="Arial"/>
              </a:defRPr>
            </a:lvl2pPr>
            <a:lvl3pPr>
              <a:defRPr sz="1950" b="0">
                <a:solidFill>
                  <a:srgbClr val="173B3B"/>
                </a:solidFill>
                <a:latin typeface="Arial"/>
                <a:ea typeface="Arial"/>
                <a:cs typeface="Arial"/>
              </a:defRPr>
            </a:lvl3pPr>
            <a:lvl4pPr>
              <a:defRPr sz="1950" b="0">
                <a:solidFill>
                  <a:srgbClr val="173B3B"/>
                </a:solidFill>
                <a:latin typeface="Arial"/>
                <a:ea typeface="Arial"/>
                <a:cs typeface="Arial"/>
              </a:defRPr>
            </a:lvl4pPr>
            <a:lvl5pPr>
              <a:defRPr sz="1950" b="0">
                <a:solidFill>
                  <a:srgbClr val="173B3B"/>
                </a:solidFill>
                <a:latin typeface="Arial"/>
                <a:ea typeface="Arial"/>
                <a:cs typeface="Arial"/>
              </a:defRPr>
            </a:lvl5pPr>
            <a:lvl6pPr>
              <a:defRPr sz="1950" b="0">
                <a:solidFill>
                  <a:srgbClr val="173B3B"/>
                </a:solidFill>
                <a:latin typeface="Arial"/>
                <a:ea typeface="Arial"/>
                <a:cs typeface="Arial"/>
              </a:defRPr>
            </a:lvl6pPr>
            <a:lvl7pPr>
              <a:defRPr sz="1950" b="0">
                <a:solidFill>
                  <a:srgbClr val="173B3B"/>
                </a:solidFill>
                <a:latin typeface="Arial"/>
                <a:ea typeface="Arial"/>
                <a:cs typeface="Arial"/>
              </a:defRPr>
            </a:lvl7pPr>
            <a:lvl8pPr>
              <a:defRPr sz="1950" b="0">
                <a:solidFill>
                  <a:srgbClr val="173B3B"/>
                </a:solidFill>
                <a:latin typeface="Arial"/>
                <a:ea typeface="Arial"/>
                <a:cs typeface="Arial"/>
              </a:defRPr>
            </a:lvl8pPr>
            <a:lvl9pPr>
              <a:defRPr sz="1950" b="0">
                <a:solidFill>
                  <a:srgbClr val="173B3B"/>
                </a:solidFill>
                <a:latin typeface="Arial"/>
                <a:ea typeface="Arial"/>
                <a:cs typeface="Arial"/>
              </a:defRPr>
            </a:lvl9pPr>
          </a:lstStyle>
          <a:p>
            <a:pPr>
              <a:defRPr sz="1950" b="0">
                <a:solidFill>
                  <a:srgbClr val="173B3B"/>
                </a:solidFill>
                <a:latin typeface="Arial"/>
                <a:ea typeface="Arial"/>
                <a:cs typeface="Arial"/>
              </a:defRPr>
            </a:pPr>
            <a:r>
              <a:rPr sz="1800" b="0">
                <a:solidFill>
                  <a:srgbClr val="131E29"/>
                </a:solidFill>
                <a:latin typeface="Arial"/>
                <a:ea typeface="Arial"/>
                <a:cs typeface="Arial"/>
              </a:rPr>
              <a:t>What can organisations develop before, during and after disruption?</a:t>
            </a:r>
          </a:p>
        </p:txBody>
      </p:sp>
      <p:sp>
        <p:nvSpPr>
          <p:cNvPr id="3" name="Rectangle 2">
            <a:extLst>
              <a:ext uri="{FF2B5EF4-FFF2-40B4-BE49-F238E27FC236}">
                <a16:creationId xmlns:a16="http://schemas.microsoft.com/office/drawing/2014/main" id="{EA1ECD68-7FB0-4D7E-B4A1-3A860903F188}"/>
              </a:ext>
            </a:extLst>
          </p:cNvPr>
          <p:cNvSpPr>
            <a:spLocks noGrp="1"/>
          </p:cNvSpPr>
          <p:nvPr/>
        </p:nvSpPr>
        <p:spPr>
          <a:xfrm>
            <a:off x="381000" y="1762125"/>
            <a:ext cx="11382375" cy="609600"/>
          </a:xfrm>
          <a:prstGeom prst="rect">
            <a:avLst/>
          </a:prstGeom>
          <a:solidFill>
            <a:srgbClr val="EEF5F5"/>
          </a:solidFill>
          <a:ln w="0">
            <a:noFill/>
            <a:prstDash val="solid"/>
          </a:ln>
        </p:spPr>
        <p:txBody>
          <a:bodyPr/>
          <a:lstStyle/>
          <a:p>
            <a:endParaRPr lang="en-GB"/>
          </a:p>
        </p:txBody>
      </p:sp>
      <p:sp>
        <p:nvSpPr>
          <p:cNvPr id="4" name="Rectangle 3">
            <a:extLst>
              <a:ext uri="{FF2B5EF4-FFF2-40B4-BE49-F238E27FC236}">
                <a16:creationId xmlns:a16="http://schemas.microsoft.com/office/drawing/2014/main" id="{4F2FFBE0-66BB-4BA1-AC2E-BCA3BDEF2DD2}"/>
              </a:ext>
            </a:extLst>
          </p:cNvPr>
          <p:cNvSpPr>
            <a:spLocks noGrp="1"/>
          </p:cNvSpPr>
          <p:nvPr/>
        </p:nvSpPr>
        <p:spPr>
          <a:xfrm>
            <a:off x="476250" y="1809750"/>
            <a:ext cx="2714625" cy="552450"/>
          </a:xfrm>
          <a:prstGeom prst="rect">
            <a:avLst/>
          </a:prstGeom>
          <a:noFill/>
          <a:ln w="0">
            <a:noFill/>
            <a:prstDash val="solid"/>
          </a:ln>
        </p:spPr>
        <p:txBody>
          <a:bodyPr/>
          <a:lstStyle>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a:pPr>
              <a:defRPr sz="1725" b="1">
                <a:solidFill>
                  <a:srgbClr val="087F8C"/>
                </a:solidFill>
                <a:latin typeface="Arial"/>
                <a:ea typeface="Arial"/>
                <a:cs typeface="Arial"/>
              </a:defRPr>
            </a:pPr>
            <a:r>
              <a:rPr sz="1600" b="1">
                <a:solidFill>
                  <a:srgbClr val="005A8F"/>
                </a:solidFill>
                <a:latin typeface="Arial"/>
                <a:ea typeface="Arial"/>
                <a:cs typeface="Arial"/>
              </a:rPr>
              <a:t>Flexibility</a:t>
            </a:r>
          </a:p>
        </p:txBody>
      </p:sp>
      <p:sp>
        <p:nvSpPr>
          <p:cNvPr id="5" name="Rectangle 4">
            <a:extLst>
              <a:ext uri="{FF2B5EF4-FFF2-40B4-BE49-F238E27FC236}">
                <a16:creationId xmlns:a16="http://schemas.microsoft.com/office/drawing/2014/main" id="{E34510B8-7DDE-4C8A-B150-CF9F2C9E2347}"/>
              </a:ext>
            </a:extLst>
          </p:cNvPr>
          <p:cNvSpPr>
            <a:spLocks noGrp="1"/>
          </p:cNvSpPr>
          <p:nvPr/>
        </p:nvSpPr>
        <p:spPr>
          <a:xfrm>
            <a:off x="3333750" y="1809750"/>
            <a:ext cx="8334375" cy="552450"/>
          </a:xfrm>
          <a:prstGeom prst="rect">
            <a:avLst/>
          </a:prstGeom>
          <a:noFill/>
          <a:ln w="0">
            <a:noFill/>
            <a:prstDash val="solid"/>
          </a:ln>
        </p:spPr>
        <p:txBody>
          <a:bodyPr/>
          <a:lstStyle>
            <a:defPPr>
              <a:defRPr sz="1725" b="0">
                <a:solidFill>
                  <a:srgbClr val="173B3B"/>
                </a:solidFill>
                <a:latin typeface="Arial"/>
                <a:ea typeface="Arial"/>
                <a:cs typeface="Arial"/>
              </a:defRPr>
            </a:defPPr>
            <a:lvl1pPr>
              <a:defRPr sz="1725" b="0">
                <a:solidFill>
                  <a:srgbClr val="173B3B"/>
                </a:solidFill>
                <a:latin typeface="Arial"/>
                <a:ea typeface="Arial"/>
                <a:cs typeface="Arial"/>
              </a:defRPr>
            </a:lvl1pPr>
            <a:lvl2pPr>
              <a:defRPr sz="1725" b="0">
                <a:solidFill>
                  <a:srgbClr val="173B3B"/>
                </a:solidFill>
                <a:latin typeface="Arial"/>
                <a:ea typeface="Arial"/>
                <a:cs typeface="Arial"/>
              </a:defRPr>
            </a:lvl2pPr>
            <a:lvl3pPr>
              <a:defRPr sz="1725" b="0">
                <a:solidFill>
                  <a:srgbClr val="173B3B"/>
                </a:solidFill>
                <a:latin typeface="Arial"/>
                <a:ea typeface="Arial"/>
                <a:cs typeface="Arial"/>
              </a:defRPr>
            </a:lvl3pPr>
            <a:lvl4pPr>
              <a:defRPr sz="1725" b="0">
                <a:solidFill>
                  <a:srgbClr val="173B3B"/>
                </a:solidFill>
                <a:latin typeface="Arial"/>
                <a:ea typeface="Arial"/>
                <a:cs typeface="Arial"/>
              </a:defRPr>
            </a:lvl4pPr>
            <a:lvl5pPr>
              <a:defRPr sz="1725" b="0">
                <a:solidFill>
                  <a:srgbClr val="173B3B"/>
                </a:solidFill>
                <a:latin typeface="Arial"/>
                <a:ea typeface="Arial"/>
                <a:cs typeface="Arial"/>
              </a:defRPr>
            </a:lvl5pPr>
            <a:lvl6pPr>
              <a:defRPr sz="1725" b="0">
                <a:solidFill>
                  <a:srgbClr val="173B3B"/>
                </a:solidFill>
                <a:latin typeface="Arial"/>
                <a:ea typeface="Arial"/>
                <a:cs typeface="Arial"/>
              </a:defRPr>
            </a:lvl6pPr>
            <a:lvl7pPr>
              <a:defRPr sz="1725" b="0">
                <a:solidFill>
                  <a:srgbClr val="173B3B"/>
                </a:solidFill>
                <a:latin typeface="Arial"/>
                <a:ea typeface="Arial"/>
                <a:cs typeface="Arial"/>
              </a:defRPr>
            </a:lvl7pPr>
            <a:lvl8pPr>
              <a:defRPr sz="1725" b="0">
                <a:solidFill>
                  <a:srgbClr val="173B3B"/>
                </a:solidFill>
                <a:latin typeface="Arial"/>
                <a:ea typeface="Arial"/>
                <a:cs typeface="Arial"/>
              </a:defRPr>
            </a:lvl8pPr>
            <a:lvl9pPr>
              <a:defRPr sz="1725" b="0">
                <a:solidFill>
                  <a:srgbClr val="173B3B"/>
                </a:solidFill>
                <a:latin typeface="Arial"/>
                <a:ea typeface="Arial"/>
                <a:cs typeface="Arial"/>
              </a:defRPr>
            </a:lvl9pPr>
          </a:lstStyle>
          <a:p>
            <a:pPr>
              <a:defRPr sz="1725" b="0">
                <a:solidFill>
                  <a:srgbClr val="173B3B"/>
                </a:solidFill>
                <a:latin typeface="Arial"/>
                <a:ea typeface="Arial"/>
                <a:cs typeface="Arial"/>
              </a:defRPr>
            </a:pPr>
            <a:r>
              <a:rPr sz="1600" b="0">
                <a:solidFill>
                  <a:srgbClr val="131E29"/>
                </a:solidFill>
                <a:latin typeface="Arial"/>
                <a:ea typeface="Arial"/>
                <a:cs typeface="Arial"/>
              </a:rPr>
              <a:t>Adjust suppliers, routes, processes or volumes as needs and conditions change,</a:t>
            </a:r>
          </a:p>
          <a:p>
            <a:pPr>
              <a:defRPr sz="1725" b="0">
                <a:solidFill>
                  <a:srgbClr val="173B3B"/>
                </a:solidFill>
                <a:latin typeface="Arial"/>
                <a:ea typeface="Arial"/>
                <a:cs typeface="Arial"/>
              </a:defRPr>
            </a:pPr>
            <a:r>
              <a:rPr sz="1600" b="0">
                <a:solidFill>
                  <a:srgbClr val="131E29"/>
                </a:solidFill>
                <a:latin typeface="Arial"/>
                <a:ea typeface="Arial"/>
                <a:cs typeface="Arial"/>
              </a:rPr>
              <a:t>with minimal effort and delay.</a:t>
            </a:r>
          </a:p>
        </p:txBody>
      </p:sp>
      <p:sp>
        <p:nvSpPr>
          <p:cNvPr id="6" name="Rectangle 5">
            <a:extLst>
              <a:ext uri="{FF2B5EF4-FFF2-40B4-BE49-F238E27FC236}">
                <a16:creationId xmlns:a16="http://schemas.microsoft.com/office/drawing/2014/main" id="{BDDF6819-9BD4-4E00-B0C8-EFC431D9DE12}"/>
              </a:ext>
            </a:extLst>
          </p:cNvPr>
          <p:cNvSpPr>
            <a:spLocks noGrp="1"/>
          </p:cNvSpPr>
          <p:nvPr/>
        </p:nvSpPr>
        <p:spPr>
          <a:xfrm>
            <a:off x="381000" y="2400300"/>
            <a:ext cx="11382375" cy="609600"/>
          </a:xfrm>
          <a:prstGeom prst="rect">
            <a:avLst/>
          </a:prstGeom>
          <a:solidFill>
            <a:srgbClr val="FFFFFF"/>
          </a:solidFill>
          <a:ln w="0">
            <a:noFill/>
            <a:prstDash val="solid"/>
          </a:ln>
        </p:spPr>
        <p:txBody>
          <a:bodyPr/>
          <a:lstStyle/>
          <a:p>
            <a:endParaRPr lang="en-GB"/>
          </a:p>
        </p:txBody>
      </p:sp>
      <p:sp>
        <p:nvSpPr>
          <p:cNvPr id="7" name="Rectangle 6">
            <a:extLst>
              <a:ext uri="{FF2B5EF4-FFF2-40B4-BE49-F238E27FC236}">
                <a16:creationId xmlns:a16="http://schemas.microsoft.com/office/drawing/2014/main" id="{5E1AA5D7-27A3-4155-9234-48033C44C689}"/>
              </a:ext>
            </a:extLst>
          </p:cNvPr>
          <p:cNvSpPr>
            <a:spLocks noGrp="1"/>
          </p:cNvSpPr>
          <p:nvPr/>
        </p:nvSpPr>
        <p:spPr>
          <a:xfrm>
            <a:off x="476250" y="2447925"/>
            <a:ext cx="2714625" cy="552450"/>
          </a:xfrm>
          <a:prstGeom prst="rect">
            <a:avLst/>
          </a:prstGeom>
          <a:noFill/>
          <a:ln w="0">
            <a:noFill/>
            <a:prstDash val="solid"/>
          </a:ln>
        </p:spPr>
        <p:txBody>
          <a:bodyPr/>
          <a:lstStyle>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a:pPr>
              <a:defRPr sz="1725" b="1">
                <a:solidFill>
                  <a:srgbClr val="087F8C"/>
                </a:solidFill>
                <a:latin typeface="Arial"/>
                <a:ea typeface="Arial"/>
                <a:cs typeface="Arial"/>
              </a:defRPr>
            </a:pPr>
            <a:r>
              <a:rPr sz="1600" b="1">
                <a:solidFill>
                  <a:srgbClr val="005A8F"/>
                </a:solidFill>
                <a:latin typeface="Arial"/>
                <a:ea typeface="Arial"/>
                <a:cs typeface="Arial"/>
              </a:rPr>
              <a:t>Redundancy</a:t>
            </a:r>
          </a:p>
        </p:txBody>
      </p:sp>
      <p:sp>
        <p:nvSpPr>
          <p:cNvPr id="8" name="Rectangle 7">
            <a:extLst>
              <a:ext uri="{FF2B5EF4-FFF2-40B4-BE49-F238E27FC236}">
                <a16:creationId xmlns:a16="http://schemas.microsoft.com/office/drawing/2014/main" id="{14E264E3-9A49-403E-BEA6-6BAC1F9D440E}"/>
              </a:ext>
            </a:extLst>
          </p:cNvPr>
          <p:cNvSpPr>
            <a:spLocks noGrp="1"/>
          </p:cNvSpPr>
          <p:nvPr/>
        </p:nvSpPr>
        <p:spPr>
          <a:xfrm>
            <a:off x="3333750" y="2447925"/>
            <a:ext cx="8334375" cy="552450"/>
          </a:xfrm>
          <a:prstGeom prst="rect">
            <a:avLst/>
          </a:prstGeom>
          <a:noFill/>
          <a:ln w="0">
            <a:noFill/>
            <a:prstDash val="solid"/>
          </a:ln>
        </p:spPr>
        <p:txBody>
          <a:bodyPr/>
          <a:lstStyle>
            <a:defPPr>
              <a:defRPr sz="1725" b="0">
                <a:solidFill>
                  <a:srgbClr val="173B3B"/>
                </a:solidFill>
                <a:latin typeface="Arial"/>
                <a:ea typeface="Arial"/>
                <a:cs typeface="Arial"/>
              </a:defRPr>
            </a:defPPr>
            <a:lvl1pPr>
              <a:defRPr sz="1725" b="0">
                <a:solidFill>
                  <a:srgbClr val="173B3B"/>
                </a:solidFill>
                <a:latin typeface="Arial"/>
                <a:ea typeface="Arial"/>
                <a:cs typeface="Arial"/>
              </a:defRPr>
            </a:lvl1pPr>
            <a:lvl2pPr>
              <a:defRPr sz="1725" b="0">
                <a:solidFill>
                  <a:srgbClr val="173B3B"/>
                </a:solidFill>
                <a:latin typeface="Arial"/>
                <a:ea typeface="Arial"/>
                <a:cs typeface="Arial"/>
              </a:defRPr>
            </a:lvl2pPr>
            <a:lvl3pPr>
              <a:defRPr sz="1725" b="0">
                <a:solidFill>
                  <a:srgbClr val="173B3B"/>
                </a:solidFill>
                <a:latin typeface="Arial"/>
                <a:ea typeface="Arial"/>
                <a:cs typeface="Arial"/>
              </a:defRPr>
            </a:lvl3pPr>
            <a:lvl4pPr>
              <a:defRPr sz="1725" b="0">
                <a:solidFill>
                  <a:srgbClr val="173B3B"/>
                </a:solidFill>
                <a:latin typeface="Arial"/>
                <a:ea typeface="Arial"/>
                <a:cs typeface="Arial"/>
              </a:defRPr>
            </a:lvl4pPr>
            <a:lvl5pPr>
              <a:defRPr sz="1725" b="0">
                <a:solidFill>
                  <a:srgbClr val="173B3B"/>
                </a:solidFill>
                <a:latin typeface="Arial"/>
                <a:ea typeface="Arial"/>
                <a:cs typeface="Arial"/>
              </a:defRPr>
            </a:lvl5pPr>
            <a:lvl6pPr>
              <a:defRPr sz="1725" b="0">
                <a:solidFill>
                  <a:srgbClr val="173B3B"/>
                </a:solidFill>
                <a:latin typeface="Arial"/>
                <a:ea typeface="Arial"/>
                <a:cs typeface="Arial"/>
              </a:defRPr>
            </a:lvl6pPr>
            <a:lvl7pPr>
              <a:defRPr sz="1725" b="0">
                <a:solidFill>
                  <a:srgbClr val="173B3B"/>
                </a:solidFill>
                <a:latin typeface="Arial"/>
                <a:ea typeface="Arial"/>
                <a:cs typeface="Arial"/>
              </a:defRPr>
            </a:lvl7pPr>
            <a:lvl8pPr>
              <a:defRPr sz="1725" b="0">
                <a:solidFill>
                  <a:srgbClr val="173B3B"/>
                </a:solidFill>
                <a:latin typeface="Arial"/>
                <a:ea typeface="Arial"/>
                <a:cs typeface="Arial"/>
              </a:defRPr>
            </a:lvl8pPr>
            <a:lvl9pPr>
              <a:defRPr sz="1725" b="0">
                <a:solidFill>
                  <a:srgbClr val="173B3B"/>
                </a:solidFill>
                <a:latin typeface="Arial"/>
                <a:ea typeface="Arial"/>
                <a:cs typeface="Arial"/>
              </a:defRPr>
            </a:lvl9pPr>
          </a:lstStyle>
          <a:p>
            <a:pPr>
              <a:defRPr sz="1725" b="0">
                <a:solidFill>
                  <a:srgbClr val="173B3B"/>
                </a:solidFill>
                <a:latin typeface="Arial"/>
                <a:ea typeface="Arial"/>
                <a:cs typeface="Arial"/>
              </a:defRPr>
            </a:pPr>
            <a:r>
              <a:rPr sz="1600" b="0">
                <a:solidFill>
                  <a:srgbClr val="131E29"/>
                </a:solidFill>
                <a:latin typeface="Arial"/>
                <a:ea typeface="Arial"/>
                <a:cs typeface="Arial"/>
              </a:rPr>
              <a:t>Hold safety stock, maintain alternative suppliers and reserve spare capacity</a:t>
            </a:r>
          </a:p>
          <a:p>
            <a:pPr>
              <a:defRPr sz="1725" b="0">
                <a:solidFill>
                  <a:srgbClr val="173B3B"/>
                </a:solidFill>
                <a:latin typeface="Arial"/>
                <a:ea typeface="Arial"/>
                <a:cs typeface="Arial"/>
              </a:defRPr>
            </a:pPr>
            <a:r>
              <a:rPr sz="1600" b="0">
                <a:solidFill>
                  <a:srgbClr val="131E29"/>
                </a:solidFill>
                <a:latin typeface="Arial"/>
                <a:ea typeface="Arial"/>
                <a:cs typeface="Arial"/>
              </a:rPr>
              <a:t>to keep operating and buy time for recovery.</a:t>
            </a:r>
          </a:p>
        </p:txBody>
      </p:sp>
      <p:sp>
        <p:nvSpPr>
          <p:cNvPr id="9" name="Rectangle 8">
            <a:extLst>
              <a:ext uri="{FF2B5EF4-FFF2-40B4-BE49-F238E27FC236}">
                <a16:creationId xmlns:a16="http://schemas.microsoft.com/office/drawing/2014/main" id="{267F1046-5E80-4923-BB00-561BCBE5409F}"/>
              </a:ext>
            </a:extLst>
          </p:cNvPr>
          <p:cNvSpPr>
            <a:spLocks noGrp="1"/>
          </p:cNvSpPr>
          <p:nvPr/>
        </p:nvSpPr>
        <p:spPr>
          <a:xfrm>
            <a:off x="381000" y="3038475"/>
            <a:ext cx="11382375" cy="609600"/>
          </a:xfrm>
          <a:prstGeom prst="rect">
            <a:avLst/>
          </a:prstGeom>
          <a:solidFill>
            <a:srgbClr val="EEF5F5"/>
          </a:solidFill>
          <a:ln w="0">
            <a:noFill/>
            <a:prstDash val="solid"/>
          </a:ln>
        </p:spPr>
        <p:txBody>
          <a:bodyPr/>
          <a:lstStyle/>
          <a:p>
            <a:endParaRPr lang="en-GB"/>
          </a:p>
        </p:txBody>
      </p:sp>
      <p:sp>
        <p:nvSpPr>
          <p:cNvPr id="10" name="Rectangle 9">
            <a:extLst>
              <a:ext uri="{FF2B5EF4-FFF2-40B4-BE49-F238E27FC236}">
                <a16:creationId xmlns:a16="http://schemas.microsoft.com/office/drawing/2014/main" id="{8F01BD10-00B1-49DA-802B-23622CBC4524}"/>
              </a:ext>
            </a:extLst>
          </p:cNvPr>
          <p:cNvSpPr>
            <a:spLocks noGrp="1"/>
          </p:cNvSpPr>
          <p:nvPr/>
        </p:nvSpPr>
        <p:spPr>
          <a:xfrm>
            <a:off x="476250" y="3086100"/>
            <a:ext cx="2714625" cy="552450"/>
          </a:xfrm>
          <a:prstGeom prst="rect">
            <a:avLst/>
          </a:prstGeom>
          <a:noFill/>
          <a:ln w="0">
            <a:noFill/>
            <a:prstDash val="solid"/>
          </a:ln>
        </p:spPr>
        <p:txBody>
          <a:bodyPr/>
          <a:lstStyle>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a:pPr>
              <a:defRPr sz="1725" b="1">
                <a:solidFill>
                  <a:srgbClr val="087F8C"/>
                </a:solidFill>
                <a:latin typeface="Arial"/>
                <a:ea typeface="Arial"/>
                <a:cs typeface="Arial"/>
              </a:defRPr>
            </a:pPr>
            <a:r>
              <a:rPr sz="1600" b="1">
                <a:solidFill>
                  <a:srgbClr val="005A8F"/>
                </a:solidFill>
                <a:latin typeface="Arial"/>
                <a:ea typeface="Arial"/>
                <a:cs typeface="Arial"/>
              </a:rPr>
              <a:t>Information sharing,</a:t>
            </a:r>
          </a:p>
          <a:p>
            <a:pPr>
              <a:defRPr sz="1725" b="1">
                <a:solidFill>
                  <a:srgbClr val="087F8C"/>
                </a:solidFill>
                <a:latin typeface="Arial"/>
                <a:ea typeface="Arial"/>
                <a:cs typeface="Arial"/>
              </a:defRPr>
            </a:pPr>
            <a:r>
              <a:rPr sz="1600" b="1">
                <a:solidFill>
                  <a:srgbClr val="005A8F"/>
                </a:solidFill>
                <a:latin typeface="Arial"/>
                <a:ea typeface="Arial"/>
                <a:cs typeface="Arial"/>
              </a:rPr>
              <a:t>collaboration and IT</a:t>
            </a:r>
          </a:p>
        </p:txBody>
      </p:sp>
      <p:sp>
        <p:nvSpPr>
          <p:cNvPr id="11" name="Rectangle 10">
            <a:extLst>
              <a:ext uri="{FF2B5EF4-FFF2-40B4-BE49-F238E27FC236}">
                <a16:creationId xmlns:a16="http://schemas.microsoft.com/office/drawing/2014/main" id="{DF254EDD-36F3-413B-A75C-F43134700BD4}"/>
              </a:ext>
            </a:extLst>
          </p:cNvPr>
          <p:cNvSpPr>
            <a:spLocks noGrp="1"/>
          </p:cNvSpPr>
          <p:nvPr/>
        </p:nvSpPr>
        <p:spPr>
          <a:xfrm>
            <a:off x="3333750" y="3086100"/>
            <a:ext cx="8334375" cy="552450"/>
          </a:xfrm>
          <a:prstGeom prst="rect">
            <a:avLst/>
          </a:prstGeom>
          <a:noFill/>
          <a:ln w="0">
            <a:noFill/>
            <a:prstDash val="solid"/>
          </a:ln>
        </p:spPr>
        <p:txBody>
          <a:bodyPr/>
          <a:lstStyle>
            <a:defPPr>
              <a:defRPr sz="1725" b="0">
                <a:solidFill>
                  <a:srgbClr val="173B3B"/>
                </a:solidFill>
                <a:latin typeface="Arial"/>
                <a:ea typeface="Arial"/>
                <a:cs typeface="Arial"/>
              </a:defRPr>
            </a:defPPr>
            <a:lvl1pPr>
              <a:defRPr sz="1725" b="0">
                <a:solidFill>
                  <a:srgbClr val="173B3B"/>
                </a:solidFill>
                <a:latin typeface="Arial"/>
                <a:ea typeface="Arial"/>
                <a:cs typeface="Arial"/>
              </a:defRPr>
            </a:lvl1pPr>
            <a:lvl2pPr>
              <a:defRPr sz="1725" b="0">
                <a:solidFill>
                  <a:srgbClr val="173B3B"/>
                </a:solidFill>
                <a:latin typeface="Arial"/>
                <a:ea typeface="Arial"/>
                <a:cs typeface="Arial"/>
              </a:defRPr>
            </a:lvl2pPr>
            <a:lvl3pPr>
              <a:defRPr sz="1725" b="0">
                <a:solidFill>
                  <a:srgbClr val="173B3B"/>
                </a:solidFill>
                <a:latin typeface="Arial"/>
                <a:ea typeface="Arial"/>
                <a:cs typeface="Arial"/>
              </a:defRPr>
            </a:lvl3pPr>
            <a:lvl4pPr>
              <a:defRPr sz="1725" b="0">
                <a:solidFill>
                  <a:srgbClr val="173B3B"/>
                </a:solidFill>
                <a:latin typeface="Arial"/>
                <a:ea typeface="Arial"/>
                <a:cs typeface="Arial"/>
              </a:defRPr>
            </a:lvl4pPr>
            <a:lvl5pPr>
              <a:defRPr sz="1725" b="0">
                <a:solidFill>
                  <a:srgbClr val="173B3B"/>
                </a:solidFill>
                <a:latin typeface="Arial"/>
                <a:ea typeface="Arial"/>
                <a:cs typeface="Arial"/>
              </a:defRPr>
            </a:lvl5pPr>
            <a:lvl6pPr>
              <a:defRPr sz="1725" b="0">
                <a:solidFill>
                  <a:srgbClr val="173B3B"/>
                </a:solidFill>
                <a:latin typeface="Arial"/>
                <a:ea typeface="Arial"/>
                <a:cs typeface="Arial"/>
              </a:defRPr>
            </a:lvl6pPr>
            <a:lvl7pPr>
              <a:defRPr sz="1725" b="0">
                <a:solidFill>
                  <a:srgbClr val="173B3B"/>
                </a:solidFill>
                <a:latin typeface="Arial"/>
                <a:ea typeface="Arial"/>
                <a:cs typeface="Arial"/>
              </a:defRPr>
            </a:lvl7pPr>
            <a:lvl8pPr>
              <a:defRPr sz="1725" b="0">
                <a:solidFill>
                  <a:srgbClr val="173B3B"/>
                </a:solidFill>
                <a:latin typeface="Arial"/>
                <a:ea typeface="Arial"/>
                <a:cs typeface="Arial"/>
              </a:defRPr>
            </a:lvl8pPr>
            <a:lvl9pPr>
              <a:defRPr sz="1725" b="0">
                <a:solidFill>
                  <a:srgbClr val="173B3B"/>
                </a:solidFill>
                <a:latin typeface="Arial"/>
                <a:ea typeface="Arial"/>
                <a:cs typeface="Arial"/>
              </a:defRPr>
            </a:lvl9pPr>
          </a:lstStyle>
          <a:p>
            <a:pPr>
              <a:defRPr sz="1725" b="0">
                <a:solidFill>
                  <a:srgbClr val="173B3B"/>
                </a:solidFill>
                <a:latin typeface="Arial"/>
                <a:ea typeface="Arial"/>
                <a:cs typeface="Arial"/>
              </a:defRPr>
            </a:pPr>
            <a:r>
              <a:rPr sz="1600" b="0">
                <a:solidFill>
                  <a:srgbClr val="131E29"/>
                </a:solidFill>
                <a:latin typeface="Arial"/>
                <a:ea typeface="Arial"/>
                <a:cs typeface="Arial"/>
              </a:rPr>
              <a:t>Exchange timely information and coordinate decisions across partners.</a:t>
            </a:r>
          </a:p>
          <a:p>
            <a:pPr>
              <a:defRPr sz="1725" b="0">
                <a:solidFill>
                  <a:srgbClr val="173B3B"/>
                </a:solidFill>
                <a:latin typeface="Arial"/>
                <a:ea typeface="Arial"/>
                <a:cs typeface="Arial"/>
              </a:defRPr>
            </a:pPr>
            <a:r>
              <a:rPr sz="1600" b="0">
                <a:solidFill>
                  <a:srgbClr val="131E29"/>
                </a:solidFill>
                <a:latin typeface="Arial"/>
                <a:ea typeface="Arial"/>
                <a:cs typeface="Arial"/>
              </a:rPr>
              <a:t>Use technology to support joint planning and risk mitigation.</a:t>
            </a:r>
          </a:p>
        </p:txBody>
      </p:sp>
      <p:sp>
        <p:nvSpPr>
          <p:cNvPr id="12" name="Rectangle 11">
            <a:extLst>
              <a:ext uri="{FF2B5EF4-FFF2-40B4-BE49-F238E27FC236}">
                <a16:creationId xmlns:a16="http://schemas.microsoft.com/office/drawing/2014/main" id="{868EBB71-2626-4D30-BAAC-09C8D7336BF4}"/>
              </a:ext>
            </a:extLst>
          </p:cNvPr>
          <p:cNvSpPr>
            <a:spLocks noGrp="1"/>
          </p:cNvSpPr>
          <p:nvPr/>
        </p:nvSpPr>
        <p:spPr>
          <a:xfrm>
            <a:off x="381000" y="3676650"/>
            <a:ext cx="11382375" cy="609600"/>
          </a:xfrm>
          <a:prstGeom prst="rect">
            <a:avLst/>
          </a:prstGeom>
          <a:solidFill>
            <a:srgbClr val="FFFFFF"/>
          </a:solidFill>
          <a:ln w="0">
            <a:noFill/>
            <a:prstDash val="solid"/>
          </a:ln>
        </p:spPr>
        <p:txBody>
          <a:bodyPr/>
          <a:lstStyle/>
          <a:p>
            <a:endParaRPr lang="en-GB"/>
          </a:p>
        </p:txBody>
      </p:sp>
      <p:sp>
        <p:nvSpPr>
          <p:cNvPr id="13" name="Rectangle 12">
            <a:extLst>
              <a:ext uri="{FF2B5EF4-FFF2-40B4-BE49-F238E27FC236}">
                <a16:creationId xmlns:a16="http://schemas.microsoft.com/office/drawing/2014/main" id="{03BB6561-098D-42C1-BFCD-0A52FF1BF6CE}"/>
              </a:ext>
            </a:extLst>
          </p:cNvPr>
          <p:cNvSpPr>
            <a:spLocks noGrp="1"/>
          </p:cNvSpPr>
          <p:nvPr/>
        </p:nvSpPr>
        <p:spPr>
          <a:xfrm>
            <a:off x="476250" y="3724275"/>
            <a:ext cx="2714625" cy="552450"/>
          </a:xfrm>
          <a:prstGeom prst="rect">
            <a:avLst/>
          </a:prstGeom>
          <a:noFill/>
          <a:ln w="0">
            <a:noFill/>
            <a:prstDash val="solid"/>
          </a:ln>
        </p:spPr>
        <p:txBody>
          <a:bodyPr/>
          <a:lstStyle>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a:pPr>
              <a:defRPr sz="1725" b="1">
                <a:solidFill>
                  <a:srgbClr val="087F8C"/>
                </a:solidFill>
                <a:latin typeface="Arial"/>
                <a:ea typeface="Arial"/>
                <a:cs typeface="Arial"/>
              </a:defRPr>
            </a:pPr>
            <a:r>
              <a:rPr sz="1600" b="1">
                <a:solidFill>
                  <a:srgbClr val="005A8F"/>
                </a:solidFill>
                <a:latin typeface="Arial"/>
                <a:ea typeface="Arial"/>
                <a:cs typeface="Arial"/>
              </a:rPr>
              <a:t>Trust</a:t>
            </a:r>
          </a:p>
        </p:txBody>
      </p:sp>
      <p:sp>
        <p:nvSpPr>
          <p:cNvPr id="14" name="Rectangle 13">
            <a:extLst>
              <a:ext uri="{FF2B5EF4-FFF2-40B4-BE49-F238E27FC236}">
                <a16:creationId xmlns:a16="http://schemas.microsoft.com/office/drawing/2014/main" id="{1449F807-23BA-4BFB-957B-E1AA04789B83}"/>
              </a:ext>
            </a:extLst>
          </p:cNvPr>
          <p:cNvSpPr>
            <a:spLocks noGrp="1"/>
          </p:cNvSpPr>
          <p:nvPr/>
        </p:nvSpPr>
        <p:spPr>
          <a:xfrm>
            <a:off x="3333750" y="3724275"/>
            <a:ext cx="8334375" cy="552450"/>
          </a:xfrm>
          <a:prstGeom prst="rect">
            <a:avLst/>
          </a:prstGeom>
          <a:noFill/>
          <a:ln w="0">
            <a:noFill/>
            <a:prstDash val="solid"/>
          </a:ln>
        </p:spPr>
        <p:txBody>
          <a:bodyPr/>
          <a:lstStyle>
            <a:defPPr>
              <a:defRPr sz="1725" b="0">
                <a:solidFill>
                  <a:srgbClr val="173B3B"/>
                </a:solidFill>
                <a:latin typeface="Arial"/>
                <a:ea typeface="Arial"/>
                <a:cs typeface="Arial"/>
              </a:defRPr>
            </a:defPPr>
            <a:lvl1pPr>
              <a:defRPr sz="1725" b="0">
                <a:solidFill>
                  <a:srgbClr val="173B3B"/>
                </a:solidFill>
                <a:latin typeface="Arial"/>
                <a:ea typeface="Arial"/>
                <a:cs typeface="Arial"/>
              </a:defRPr>
            </a:lvl1pPr>
            <a:lvl2pPr>
              <a:defRPr sz="1725" b="0">
                <a:solidFill>
                  <a:srgbClr val="173B3B"/>
                </a:solidFill>
                <a:latin typeface="Arial"/>
                <a:ea typeface="Arial"/>
                <a:cs typeface="Arial"/>
              </a:defRPr>
            </a:lvl2pPr>
            <a:lvl3pPr>
              <a:defRPr sz="1725" b="0">
                <a:solidFill>
                  <a:srgbClr val="173B3B"/>
                </a:solidFill>
                <a:latin typeface="Arial"/>
                <a:ea typeface="Arial"/>
                <a:cs typeface="Arial"/>
              </a:defRPr>
            </a:lvl3pPr>
            <a:lvl4pPr>
              <a:defRPr sz="1725" b="0">
                <a:solidFill>
                  <a:srgbClr val="173B3B"/>
                </a:solidFill>
                <a:latin typeface="Arial"/>
                <a:ea typeface="Arial"/>
                <a:cs typeface="Arial"/>
              </a:defRPr>
            </a:lvl4pPr>
            <a:lvl5pPr>
              <a:defRPr sz="1725" b="0">
                <a:solidFill>
                  <a:srgbClr val="173B3B"/>
                </a:solidFill>
                <a:latin typeface="Arial"/>
                <a:ea typeface="Arial"/>
                <a:cs typeface="Arial"/>
              </a:defRPr>
            </a:lvl5pPr>
            <a:lvl6pPr>
              <a:defRPr sz="1725" b="0">
                <a:solidFill>
                  <a:srgbClr val="173B3B"/>
                </a:solidFill>
                <a:latin typeface="Arial"/>
                <a:ea typeface="Arial"/>
                <a:cs typeface="Arial"/>
              </a:defRPr>
            </a:lvl6pPr>
            <a:lvl7pPr>
              <a:defRPr sz="1725" b="0">
                <a:solidFill>
                  <a:srgbClr val="173B3B"/>
                </a:solidFill>
                <a:latin typeface="Arial"/>
                <a:ea typeface="Arial"/>
                <a:cs typeface="Arial"/>
              </a:defRPr>
            </a:lvl7pPr>
            <a:lvl8pPr>
              <a:defRPr sz="1725" b="0">
                <a:solidFill>
                  <a:srgbClr val="173B3B"/>
                </a:solidFill>
                <a:latin typeface="Arial"/>
                <a:ea typeface="Arial"/>
                <a:cs typeface="Arial"/>
              </a:defRPr>
            </a:lvl8pPr>
            <a:lvl9pPr>
              <a:defRPr sz="1725" b="0">
                <a:solidFill>
                  <a:srgbClr val="173B3B"/>
                </a:solidFill>
                <a:latin typeface="Arial"/>
                <a:ea typeface="Arial"/>
                <a:cs typeface="Arial"/>
              </a:defRPr>
            </a:lvl9pPr>
          </a:lstStyle>
          <a:p>
            <a:pPr>
              <a:defRPr sz="1725" b="0">
                <a:solidFill>
                  <a:srgbClr val="173B3B"/>
                </a:solidFill>
                <a:latin typeface="Arial"/>
                <a:ea typeface="Arial"/>
                <a:cs typeface="Arial"/>
              </a:defRPr>
            </a:pPr>
            <a:r>
              <a:rPr sz="1600" b="0">
                <a:solidFill>
                  <a:srgbClr val="131E29"/>
                </a:solidFill>
                <a:latin typeface="Arial"/>
                <a:ea typeface="Arial"/>
                <a:cs typeface="Arial"/>
              </a:rPr>
              <a:t>Build confidence in partners’ reliability, competence and commitments</a:t>
            </a:r>
          </a:p>
          <a:p>
            <a:pPr>
              <a:defRPr sz="1725" b="0">
                <a:solidFill>
                  <a:srgbClr val="173B3B"/>
                </a:solidFill>
                <a:latin typeface="Arial"/>
                <a:ea typeface="Arial"/>
                <a:cs typeface="Arial"/>
              </a:defRPr>
            </a:pPr>
            <a:r>
              <a:rPr sz="1600" b="0">
                <a:solidFill>
                  <a:srgbClr val="131E29"/>
                </a:solidFill>
                <a:latin typeface="Arial"/>
                <a:ea typeface="Arial"/>
                <a:cs typeface="Arial"/>
              </a:rPr>
              <a:t>so they can cooperate during disruption.</a:t>
            </a:r>
          </a:p>
        </p:txBody>
      </p:sp>
      <p:sp>
        <p:nvSpPr>
          <p:cNvPr id="15" name="Rectangle 14">
            <a:extLst>
              <a:ext uri="{FF2B5EF4-FFF2-40B4-BE49-F238E27FC236}">
                <a16:creationId xmlns:a16="http://schemas.microsoft.com/office/drawing/2014/main" id="{3C6FE207-716D-4CEA-8A43-810E65B5876A}"/>
              </a:ext>
            </a:extLst>
          </p:cNvPr>
          <p:cNvSpPr>
            <a:spLocks noGrp="1"/>
          </p:cNvSpPr>
          <p:nvPr/>
        </p:nvSpPr>
        <p:spPr>
          <a:xfrm>
            <a:off x="381000" y="4314825"/>
            <a:ext cx="11382375" cy="609600"/>
          </a:xfrm>
          <a:prstGeom prst="rect">
            <a:avLst/>
          </a:prstGeom>
          <a:solidFill>
            <a:srgbClr val="EEF5F5"/>
          </a:solidFill>
          <a:ln w="0">
            <a:noFill/>
            <a:prstDash val="solid"/>
          </a:ln>
        </p:spPr>
        <p:txBody>
          <a:bodyPr/>
          <a:lstStyle/>
          <a:p>
            <a:endParaRPr lang="en-GB"/>
          </a:p>
        </p:txBody>
      </p:sp>
      <p:sp>
        <p:nvSpPr>
          <p:cNvPr id="16" name="Rectangle 15">
            <a:extLst>
              <a:ext uri="{FF2B5EF4-FFF2-40B4-BE49-F238E27FC236}">
                <a16:creationId xmlns:a16="http://schemas.microsoft.com/office/drawing/2014/main" id="{79CDB887-B3B8-4AE0-A6A0-9B371C39B5C9}"/>
              </a:ext>
            </a:extLst>
          </p:cNvPr>
          <p:cNvSpPr>
            <a:spLocks noGrp="1"/>
          </p:cNvSpPr>
          <p:nvPr/>
        </p:nvSpPr>
        <p:spPr>
          <a:xfrm>
            <a:off x="476250" y="4362450"/>
            <a:ext cx="2714625" cy="552450"/>
          </a:xfrm>
          <a:prstGeom prst="rect">
            <a:avLst/>
          </a:prstGeom>
          <a:noFill/>
          <a:ln w="0">
            <a:noFill/>
            <a:prstDash val="solid"/>
          </a:ln>
        </p:spPr>
        <p:txBody>
          <a:bodyPr/>
          <a:lstStyle>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a:pPr>
              <a:defRPr sz="1725" b="1">
                <a:solidFill>
                  <a:srgbClr val="087F8C"/>
                </a:solidFill>
                <a:latin typeface="Arial"/>
                <a:ea typeface="Arial"/>
                <a:cs typeface="Arial"/>
              </a:defRPr>
            </a:pPr>
            <a:r>
              <a:rPr sz="1600" b="1">
                <a:solidFill>
                  <a:srgbClr val="005A8F"/>
                </a:solidFill>
                <a:latin typeface="Arial"/>
                <a:ea typeface="Arial"/>
                <a:cs typeface="Arial"/>
              </a:rPr>
              <a:t>Velocity</a:t>
            </a:r>
          </a:p>
        </p:txBody>
      </p:sp>
      <p:sp>
        <p:nvSpPr>
          <p:cNvPr id="17" name="Rectangle 16">
            <a:extLst>
              <a:ext uri="{FF2B5EF4-FFF2-40B4-BE49-F238E27FC236}">
                <a16:creationId xmlns:a16="http://schemas.microsoft.com/office/drawing/2014/main" id="{08842AB0-8DDB-440B-BBA0-35E7A2DDB1C5}"/>
              </a:ext>
            </a:extLst>
          </p:cNvPr>
          <p:cNvSpPr>
            <a:spLocks noGrp="1"/>
          </p:cNvSpPr>
          <p:nvPr/>
        </p:nvSpPr>
        <p:spPr>
          <a:xfrm>
            <a:off x="3333750" y="4362450"/>
            <a:ext cx="8334375" cy="552450"/>
          </a:xfrm>
          <a:prstGeom prst="rect">
            <a:avLst/>
          </a:prstGeom>
          <a:noFill/>
          <a:ln w="0">
            <a:noFill/>
            <a:prstDash val="solid"/>
          </a:ln>
        </p:spPr>
        <p:txBody>
          <a:bodyPr/>
          <a:lstStyle>
            <a:defPPr>
              <a:defRPr sz="1725" b="0">
                <a:solidFill>
                  <a:srgbClr val="173B3B"/>
                </a:solidFill>
                <a:latin typeface="Arial"/>
                <a:ea typeface="Arial"/>
                <a:cs typeface="Arial"/>
              </a:defRPr>
            </a:defPPr>
            <a:lvl1pPr>
              <a:defRPr sz="1725" b="0">
                <a:solidFill>
                  <a:srgbClr val="173B3B"/>
                </a:solidFill>
                <a:latin typeface="Arial"/>
                <a:ea typeface="Arial"/>
                <a:cs typeface="Arial"/>
              </a:defRPr>
            </a:lvl1pPr>
            <a:lvl2pPr>
              <a:defRPr sz="1725" b="0">
                <a:solidFill>
                  <a:srgbClr val="173B3B"/>
                </a:solidFill>
                <a:latin typeface="Arial"/>
                <a:ea typeface="Arial"/>
                <a:cs typeface="Arial"/>
              </a:defRPr>
            </a:lvl2pPr>
            <a:lvl3pPr>
              <a:defRPr sz="1725" b="0">
                <a:solidFill>
                  <a:srgbClr val="173B3B"/>
                </a:solidFill>
                <a:latin typeface="Arial"/>
                <a:ea typeface="Arial"/>
                <a:cs typeface="Arial"/>
              </a:defRPr>
            </a:lvl3pPr>
            <a:lvl4pPr>
              <a:defRPr sz="1725" b="0">
                <a:solidFill>
                  <a:srgbClr val="173B3B"/>
                </a:solidFill>
                <a:latin typeface="Arial"/>
                <a:ea typeface="Arial"/>
                <a:cs typeface="Arial"/>
              </a:defRPr>
            </a:lvl4pPr>
            <a:lvl5pPr>
              <a:defRPr sz="1725" b="0">
                <a:solidFill>
                  <a:srgbClr val="173B3B"/>
                </a:solidFill>
                <a:latin typeface="Arial"/>
                <a:ea typeface="Arial"/>
                <a:cs typeface="Arial"/>
              </a:defRPr>
            </a:lvl5pPr>
            <a:lvl6pPr>
              <a:defRPr sz="1725" b="0">
                <a:solidFill>
                  <a:srgbClr val="173B3B"/>
                </a:solidFill>
                <a:latin typeface="Arial"/>
                <a:ea typeface="Arial"/>
                <a:cs typeface="Arial"/>
              </a:defRPr>
            </a:lvl6pPr>
            <a:lvl7pPr>
              <a:defRPr sz="1725" b="0">
                <a:solidFill>
                  <a:srgbClr val="173B3B"/>
                </a:solidFill>
                <a:latin typeface="Arial"/>
                <a:ea typeface="Arial"/>
                <a:cs typeface="Arial"/>
              </a:defRPr>
            </a:lvl7pPr>
            <a:lvl8pPr>
              <a:defRPr sz="1725" b="0">
                <a:solidFill>
                  <a:srgbClr val="173B3B"/>
                </a:solidFill>
                <a:latin typeface="Arial"/>
                <a:ea typeface="Arial"/>
                <a:cs typeface="Arial"/>
              </a:defRPr>
            </a:lvl8pPr>
            <a:lvl9pPr>
              <a:defRPr sz="1725" b="0">
                <a:solidFill>
                  <a:srgbClr val="173B3B"/>
                </a:solidFill>
                <a:latin typeface="Arial"/>
                <a:ea typeface="Arial"/>
                <a:cs typeface="Arial"/>
              </a:defRPr>
            </a:lvl9pPr>
          </a:lstStyle>
          <a:p>
            <a:pPr>
              <a:defRPr sz="1725" b="0">
                <a:solidFill>
                  <a:srgbClr val="173B3B"/>
                </a:solidFill>
                <a:latin typeface="Arial"/>
                <a:ea typeface="Arial"/>
                <a:cs typeface="Arial"/>
              </a:defRPr>
            </a:pPr>
            <a:r>
              <a:rPr sz="1600" b="0">
                <a:solidFill>
                  <a:srgbClr val="131E29"/>
                </a:solidFill>
                <a:latin typeface="Arial"/>
                <a:ea typeface="Arial"/>
                <a:cs typeface="Arial"/>
              </a:rPr>
              <a:t>Detect threats and act quickly. Shorten response, replenishment</a:t>
            </a:r>
          </a:p>
          <a:p>
            <a:pPr>
              <a:defRPr sz="1725" b="0">
                <a:solidFill>
                  <a:srgbClr val="173B3B"/>
                </a:solidFill>
                <a:latin typeface="Arial"/>
                <a:ea typeface="Arial"/>
                <a:cs typeface="Arial"/>
              </a:defRPr>
            </a:pPr>
            <a:r>
              <a:rPr sz="1600" b="0">
                <a:solidFill>
                  <a:srgbClr val="131E29"/>
                </a:solidFill>
                <a:latin typeface="Arial"/>
                <a:ea typeface="Arial"/>
                <a:cs typeface="Arial"/>
              </a:rPr>
              <a:t>and recovery times.</a:t>
            </a:r>
          </a:p>
        </p:txBody>
      </p:sp>
      <p:sp>
        <p:nvSpPr>
          <p:cNvPr id="18" name="Rectangle 17">
            <a:extLst>
              <a:ext uri="{FF2B5EF4-FFF2-40B4-BE49-F238E27FC236}">
                <a16:creationId xmlns:a16="http://schemas.microsoft.com/office/drawing/2014/main" id="{97169A68-3F56-4D80-97D4-02D013DB0DE2}"/>
              </a:ext>
            </a:extLst>
          </p:cNvPr>
          <p:cNvSpPr>
            <a:spLocks noGrp="1"/>
          </p:cNvSpPr>
          <p:nvPr/>
        </p:nvSpPr>
        <p:spPr>
          <a:xfrm>
            <a:off x="381000" y="4953000"/>
            <a:ext cx="11382375" cy="609600"/>
          </a:xfrm>
          <a:prstGeom prst="rect">
            <a:avLst/>
          </a:prstGeom>
          <a:solidFill>
            <a:srgbClr val="FFFFFF"/>
          </a:solidFill>
          <a:ln w="0">
            <a:noFill/>
            <a:prstDash val="solid"/>
          </a:ln>
        </p:spPr>
        <p:txBody>
          <a:bodyPr/>
          <a:lstStyle/>
          <a:p>
            <a:endParaRPr lang="en-GB"/>
          </a:p>
        </p:txBody>
      </p:sp>
      <p:sp>
        <p:nvSpPr>
          <p:cNvPr id="19" name="Rectangle 18">
            <a:extLst>
              <a:ext uri="{FF2B5EF4-FFF2-40B4-BE49-F238E27FC236}">
                <a16:creationId xmlns:a16="http://schemas.microsoft.com/office/drawing/2014/main" id="{4617FA77-C413-40AC-AAAF-8191D65FA92B}"/>
              </a:ext>
            </a:extLst>
          </p:cNvPr>
          <p:cNvSpPr>
            <a:spLocks noGrp="1"/>
          </p:cNvSpPr>
          <p:nvPr/>
        </p:nvSpPr>
        <p:spPr>
          <a:xfrm>
            <a:off x="476250" y="5000625"/>
            <a:ext cx="2714625" cy="552450"/>
          </a:xfrm>
          <a:prstGeom prst="rect">
            <a:avLst/>
          </a:prstGeom>
          <a:noFill/>
          <a:ln w="0">
            <a:noFill/>
            <a:prstDash val="solid"/>
          </a:ln>
        </p:spPr>
        <p:txBody>
          <a:bodyPr/>
          <a:lstStyle>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a:pPr>
              <a:defRPr sz="1725" b="1">
                <a:solidFill>
                  <a:srgbClr val="087F8C"/>
                </a:solidFill>
                <a:latin typeface="Arial"/>
                <a:ea typeface="Arial"/>
                <a:cs typeface="Arial"/>
              </a:defRPr>
            </a:pPr>
            <a:r>
              <a:rPr sz="1600" b="1">
                <a:solidFill>
                  <a:srgbClr val="005A8F"/>
                </a:solidFill>
                <a:latin typeface="Arial"/>
                <a:ea typeface="Arial"/>
                <a:cs typeface="Arial"/>
              </a:rPr>
              <a:t>Visibility</a:t>
            </a:r>
          </a:p>
        </p:txBody>
      </p:sp>
      <p:sp>
        <p:nvSpPr>
          <p:cNvPr id="20" name="Rectangle 19">
            <a:extLst>
              <a:ext uri="{FF2B5EF4-FFF2-40B4-BE49-F238E27FC236}">
                <a16:creationId xmlns:a16="http://schemas.microsoft.com/office/drawing/2014/main" id="{58897FC9-34AB-4CFD-BF61-211F517E95B0}"/>
              </a:ext>
            </a:extLst>
          </p:cNvPr>
          <p:cNvSpPr>
            <a:spLocks noGrp="1"/>
          </p:cNvSpPr>
          <p:nvPr/>
        </p:nvSpPr>
        <p:spPr>
          <a:xfrm>
            <a:off x="3333750" y="5000625"/>
            <a:ext cx="8334375" cy="552450"/>
          </a:xfrm>
          <a:prstGeom prst="rect">
            <a:avLst/>
          </a:prstGeom>
          <a:noFill/>
          <a:ln w="0">
            <a:noFill/>
            <a:prstDash val="solid"/>
          </a:ln>
        </p:spPr>
        <p:txBody>
          <a:bodyPr/>
          <a:lstStyle>
            <a:defPPr>
              <a:defRPr sz="1725" b="0">
                <a:solidFill>
                  <a:srgbClr val="173B3B"/>
                </a:solidFill>
                <a:latin typeface="Arial"/>
                <a:ea typeface="Arial"/>
                <a:cs typeface="Arial"/>
              </a:defRPr>
            </a:defPPr>
            <a:lvl1pPr>
              <a:defRPr sz="1725" b="0">
                <a:solidFill>
                  <a:srgbClr val="173B3B"/>
                </a:solidFill>
                <a:latin typeface="Arial"/>
                <a:ea typeface="Arial"/>
                <a:cs typeface="Arial"/>
              </a:defRPr>
            </a:lvl1pPr>
            <a:lvl2pPr>
              <a:defRPr sz="1725" b="0">
                <a:solidFill>
                  <a:srgbClr val="173B3B"/>
                </a:solidFill>
                <a:latin typeface="Arial"/>
                <a:ea typeface="Arial"/>
                <a:cs typeface="Arial"/>
              </a:defRPr>
            </a:lvl2pPr>
            <a:lvl3pPr>
              <a:defRPr sz="1725" b="0">
                <a:solidFill>
                  <a:srgbClr val="173B3B"/>
                </a:solidFill>
                <a:latin typeface="Arial"/>
                <a:ea typeface="Arial"/>
                <a:cs typeface="Arial"/>
              </a:defRPr>
            </a:lvl3pPr>
            <a:lvl4pPr>
              <a:defRPr sz="1725" b="0">
                <a:solidFill>
                  <a:srgbClr val="173B3B"/>
                </a:solidFill>
                <a:latin typeface="Arial"/>
                <a:ea typeface="Arial"/>
                <a:cs typeface="Arial"/>
              </a:defRPr>
            </a:lvl4pPr>
            <a:lvl5pPr>
              <a:defRPr sz="1725" b="0">
                <a:solidFill>
                  <a:srgbClr val="173B3B"/>
                </a:solidFill>
                <a:latin typeface="Arial"/>
                <a:ea typeface="Arial"/>
                <a:cs typeface="Arial"/>
              </a:defRPr>
            </a:lvl5pPr>
            <a:lvl6pPr>
              <a:defRPr sz="1725" b="0">
                <a:solidFill>
                  <a:srgbClr val="173B3B"/>
                </a:solidFill>
                <a:latin typeface="Arial"/>
                <a:ea typeface="Arial"/>
                <a:cs typeface="Arial"/>
              </a:defRPr>
            </a:lvl6pPr>
            <a:lvl7pPr>
              <a:defRPr sz="1725" b="0">
                <a:solidFill>
                  <a:srgbClr val="173B3B"/>
                </a:solidFill>
                <a:latin typeface="Arial"/>
                <a:ea typeface="Arial"/>
                <a:cs typeface="Arial"/>
              </a:defRPr>
            </a:lvl7pPr>
            <a:lvl8pPr>
              <a:defRPr sz="1725" b="0">
                <a:solidFill>
                  <a:srgbClr val="173B3B"/>
                </a:solidFill>
                <a:latin typeface="Arial"/>
                <a:ea typeface="Arial"/>
                <a:cs typeface="Arial"/>
              </a:defRPr>
            </a:lvl8pPr>
            <a:lvl9pPr>
              <a:defRPr sz="1725" b="0">
                <a:solidFill>
                  <a:srgbClr val="173B3B"/>
                </a:solidFill>
                <a:latin typeface="Arial"/>
                <a:ea typeface="Arial"/>
                <a:cs typeface="Arial"/>
              </a:defRPr>
            </a:lvl9pPr>
          </a:lstStyle>
          <a:p>
            <a:pPr>
              <a:defRPr sz="1725" b="0">
                <a:solidFill>
                  <a:srgbClr val="173B3B"/>
                </a:solidFill>
                <a:latin typeface="Arial"/>
                <a:ea typeface="Arial"/>
                <a:cs typeface="Arial"/>
              </a:defRPr>
            </a:pPr>
            <a:r>
              <a:rPr sz="1600" b="0">
                <a:solidFill>
                  <a:srgbClr val="131E29"/>
                </a:solidFill>
                <a:latin typeface="Arial"/>
                <a:ea typeface="Arial"/>
                <a:cs typeface="Arial"/>
              </a:rPr>
              <a:t>See inventory, demand, capacity, shipment status and emerging risks</a:t>
            </a:r>
          </a:p>
          <a:p>
            <a:pPr>
              <a:defRPr sz="1725" b="0">
                <a:solidFill>
                  <a:srgbClr val="173B3B"/>
                </a:solidFill>
                <a:latin typeface="Arial"/>
                <a:ea typeface="Arial"/>
                <a:cs typeface="Arial"/>
              </a:defRPr>
            </a:pPr>
            <a:r>
              <a:rPr sz="1600" b="0">
                <a:solidFill>
                  <a:srgbClr val="131E29"/>
                </a:solidFill>
                <a:latin typeface="Arial"/>
                <a:ea typeface="Arial"/>
                <a:cs typeface="Arial"/>
              </a:rPr>
              <a:t>across supplier tiers and downstream partners.</a:t>
            </a:r>
          </a:p>
        </p:txBody>
      </p:sp>
      <p:sp>
        <p:nvSpPr>
          <p:cNvPr id="21" name="Rectangle 20">
            <a:extLst>
              <a:ext uri="{FF2B5EF4-FFF2-40B4-BE49-F238E27FC236}">
                <a16:creationId xmlns:a16="http://schemas.microsoft.com/office/drawing/2014/main" id="{25D7EF20-0E62-4557-92BA-EA8A3A4D3B69}"/>
              </a:ext>
            </a:extLst>
          </p:cNvPr>
          <p:cNvSpPr>
            <a:spLocks noGrp="1"/>
          </p:cNvSpPr>
          <p:nvPr/>
        </p:nvSpPr>
        <p:spPr>
          <a:xfrm>
            <a:off x="381000" y="5591175"/>
            <a:ext cx="11382375" cy="609600"/>
          </a:xfrm>
          <a:prstGeom prst="rect">
            <a:avLst/>
          </a:prstGeom>
          <a:solidFill>
            <a:srgbClr val="EEF5F5"/>
          </a:solidFill>
          <a:ln w="0">
            <a:noFill/>
            <a:prstDash val="solid"/>
          </a:ln>
        </p:spPr>
        <p:txBody>
          <a:bodyPr/>
          <a:lstStyle/>
          <a:p>
            <a:endParaRPr lang="en-GB"/>
          </a:p>
        </p:txBody>
      </p:sp>
      <p:sp>
        <p:nvSpPr>
          <p:cNvPr id="22" name="Rectangle 21">
            <a:extLst>
              <a:ext uri="{FF2B5EF4-FFF2-40B4-BE49-F238E27FC236}">
                <a16:creationId xmlns:a16="http://schemas.microsoft.com/office/drawing/2014/main" id="{C3482BD3-5F14-48B9-97C6-B91D3BFFA30C}"/>
              </a:ext>
            </a:extLst>
          </p:cNvPr>
          <p:cNvSpPr>
            <a:spLocks noGrp="1"/>
          </p:cNvSpPr>
          <p:nvPr/>
        </p:nvSpPr>
        <p:spPr>
          <a:xfrm>
            <a:off x="476250" y="5638800"/>
            <a:ext cx="2714625" cy="552450"/>
          </a:xfrm>
          <a:prstGeom prst="rect">
            <a:avLst/>
          </a:prstGeom>
          <a:noFill/>
          <a:ln w="0">
            <a:noFill/>
            <a:prstDash val="solid"/>
          </a:ln>
        </p:spPr>
        <p:txBody>
          <a:bodyPr/>
          <a:lstStyle>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a:pPr>
              <a:defRPr sz="1725" b="1">
                <a:solidFill>
                  <a:srgbClr val="087F8C"/>
                </a:solidFill>
                <a:latin typeface="Arial"/>
                <a:ea typeface="Arial"/>
                <a:cs typeface="Arial"/>
              </a:defRPr>
            </a:pPr>
            <a:r>
              <a:rPr sz="1600" b="1">
                <a:solidFill>
                  <a:srgbClr val="005A8F"/>
                </a:solidFill>
                <a:latin typeface="Arial"/>
                <a:ea typeface="Arial"/>
                <a:cs typeface="Arial"/>
              </a:rPr>
              <a:t>Cost-effectiveness</a:t>
            </a:r>
          </a:p>
        </p:txBody>
      </p:sp>
      <p:sp>
        <p:nvSpPr>
          <p:cNvPr id="23" name="Rectangle 22">
            <a:extLst>
              <a:ext uri="{FF2B5EF4-FFF2-40B4-BE49-F238E27FC236}">
                <a16:creationId xmlns:a16="http://schemas.microsoft.com/office/drawing/2014/main" id="{3E7A9F49-911D-4E29-BEFE-D0CD36FD3136}"/>
              </a:ext>
            </a:extLst>
          </p:cNvPr>
          <p:cNvSpPr>
            <a:spLocks noGrp="1"/>
          </p:cNvSpPr>
          <p:nvPr/>
        </p:nvSpPr>
        <p:spPr>
          <a:xfrm>
            <a:off x="3333750" y="5638800"/>
            <a:ext cx="8334375" cy="552450"/>
          </a:xfrm>
          <a:prstGeom prst="rect">
            <a:avLst/>
          </a:prstGeom>
          <a:noFill/>
          <a:ln w="0">
            <a:noFill/>
            <a:prstDash val="solid"/>
          </a:ln>
        </p:spPr>
        <p:txBody>
          <a:bodyPr/>
          <a:lstStyle>
            <a:defPPr>
              <a:defRPr sz="1725" b="0">
                <a:solidFill>
                  <a:srgbClr val="173B3B"/>
                </a:solidFill>
                <a:latin typeface="Arial"/>
                <a:ea typeface="Arial"/>
                <a:cs typeface="Arial"/>
              </a:defRPr>
            </a:defPPr>
            <a:lvl1pPr>
              <a:defRPr sz="1725" b="0">
                <a:solidFill>
                  <a:srgbClr val="173B3B"/>
                </a:solidFill>
                <a:latin typeface="Arial"/>
                <a:ea typeface="Arial"/>
                <a:cs typeface="Arial"/>
              </a:defRPr>
            </a:lvl1pPr>
            <a:lvl2pPr>
              <a:defRPr sz="1725" b="0">
                <a:solidFill>
                  <a:srgbClr val="173B3B"/>
                </a:solidFill>
                <a:latin typeface="Arial"/>
                <a:ea typeface="Arial"/>
                <a:cs typeface="Arial"/>
              </a:defRPr>
            </a:lvl2pPr>
            <a:lvl3pPr>
              <a:defRPr sz="1725" b="0">
                <a:solidFill>
                  <a:srgbClr val="173B3B"/>
                </a:solidFill>
                <a:latin typeface="Arial"/>
                <a:ea typeface="Arial"/>
                <a:cs typeface="Arial"/>
              </a:defRPr>
            </a:lvl3pPr>
            <a:lvl4pPr>
              <a:defRPr sz="1725" b="0">
                <a:solidFill>
                  <a:srgbClr val="173B3B"/>
                </a:solidFill>
                <a:latin typeface="Arial"/>
                <a:ea typeface="Arial"/>
                <a:cs typeface="Arial"/>
              </a:defRPr>
            </a:lvl4pPr>
            <a:lvl5pPr>
              <a:defRPr sz="1725" b="0">
                <a:solidFill>
                  <a:srgbClr val="173B3B"/>
                </a:solidFill>
                <a:latin typeface="Arial"/>
                <a:ea typeface="Arial"/>
                <a:cs typeface="Arial"/>
              </a:defRPr>
            </a:lvl5pPr>
            <a:lvl6pPr>
              <a:defRPr sz="1725" b="0">
                <a:solidFill>
                  <a:srgbClr val="173B3B"/>
                </a:solidFill>
                <a:latin typeface="Arial"/>
                <a:ea typeface="Arial"/>
                <a:cs typeface="Arial"/>
              </a:defRPr>
            </a:lvl6pPr>
            <a:lvl7pPr>
              <a:defRPr sz="1725" b="0">
                <a:solidFill>
                  <a:srgbClr val="173B3B"/>
                </a:solidFill>
                <a:latin typeface="Arial"/>
                <a:ea typeface="Arial"/>
                <a:cs typeface="Arial"/>
              </a:defRPr>
            </a:lvl7pPr>
            <a:lvl8pPr>
              <a:defRPr sz="1725" b="0">
                <a:solidFill>
                  <a:srgbClr val="173B3B"/>
                </a:solidFill>
                <a:latin typeface="Arial"/>
                <a:ea typeface="Arial"/>
                <a:cs typeface="Arial"/>
              </a:defRPr>
            </a:lvl8pPr>
            <a:lvl9pPr>
              <a:defRPr sz="1725" b="0">
                <a:solidFill>
                  <a:srgbClr val="173B3B"/>
                </a:solidFill>
                <a:latin typeface="Arial"/>
                <a:ea typeface="Arial"/>
                <a:cs typeface="Arial"/>
              </a:defRPr>
            </a:lvl9pPr>
          </a:lstStyle>
          <a:p>
            <a:pPr>
              <a:defRPr sz="1725" b="0">
                <a:solidFill>
                  <a:srgbClr val="173B3B"/>
                </a:solidFill>
                <a:latin typeface="Arial"/>
                <a:ea typeface="Arial"/>
                <a:cs typeface="Arial"/>
              </a:defRPr>
            </a:pPr>
            <a:r>
              <a:rPr sz="1600" b="0">
                <a:solidFill>
                  <a:srgbClr val="131E29"/>
                </a:solidFill>
                <a:latin typeface="Arial"/>
                <a:ea typeface="Arial"/>
                <a:cs typeface="Arial"/>
              </a:rPr>
              <a:t>Evaluate the cost of resilience measures against the disruption losses</a:t>
            </a:r>
          </a:p>
          <a:p>
            <a:pPr>
              <a:defRPr sz="1725" b="0">
                <a:solidFill>
                  <a:srgbClr val="173B3B"/>
                </a:solidFill>
                <a:latin typeface="Arial"/>
                <a:ea typeface="Arial"/>
                <a:cs typeface="Arial"/>
              </a:defRPr>
            </a:pPr>
            <a:r>
              <a:rPr sz="1600" b="0">
                <a:solidFill>
                  <a:srgbClr val="131E29"/>
                </a:solidFill>
                <a:latin typeface="Arial"/>
                <a:ea typeface="Arial"/>
                <a:cs typeface="Arial"/>
              </a:rPr>
              <a:t>they may avoid and the service they help maintain.</a:t>
            </a:r>
          </a:p>
        </p:txBody>
      </p:sp>
      <p:sp>
        <p:nvSpPr>
          <p:cNvPr id="24" name="Rectangle 23">
            <a:extLst>
              <a:ext uri="{FF2B5EF4-FFF2-40B4-BE49-F238E27FC236}">
                <a16:creationId xmlns:a16="http://schemas.microsoft.com/office/drawing/2014/main" id="{BCD51005-066F-47F0-B1E7-6D678A61593B}"/>
              </a:ext>
            </a:extLst>
          </p:cNvPr>
          <p:cNvSpPr>
            <a:spLocks noGrp="1"/>
          </p:cNvSpPr>
          <p:nvPr/>
        </p:nvSpPr>
        <p:spPr>
          <a:xfrm>
            <a:off x="381000" y="6524625"/>
            <a:ext cx="11430000" cy="238125"/>
          </a:xfrm>
          <a:prstGeom prst="rect">
            <a:avLst/>
          </a:prstGeom>
          <a:noFill/>
          <a:ln w="0">
            <a:noFill/>
            <a:prstDash val="solid"/>
          </a:ln>
        </p:spPr>
        <p:txBody>
          <a:bodyPr/>
          <a:lstStyle>
            <a:defPPr>
              <a:defRPr sz="1275" b="0">
                <a:solidFill>
                  <a:srgbClr val="5D686A"/>
                </a:solidFill>
                <a:latin typeface="Arial"/>
                <a:ea typeface="Arial"/>
                <a:cs typeface="Arial"/>
              </a:defRPr>
            </a:defPPr>
            <a:lvl1pPr>
              <a:defRPr sz="1275" b="0">
                <a:solidFill>
                  <a:srgbClr val="5D686A"/>
                </a:solidFill>
                <a:latin typeface="Arial"/>
                <a:ea typeface="Arial"/>
                <a:cs typeface="Arial"/>
              </a:defRPr>
            </a:lvl1pPr>
            <a:lvl2pPr>
              <a:defRPr sz="1275" b="0">
                <a:solidFill>
                  <a:srgbClr val="5D686A"/>
                </a:solidFill>
                <a:latin typeface="Arial"/>
                <a:ea typeface="Arial"/>
                <a:cs typeface="Arial"/>
              </a:defRPr>
            </a:lvl2pPr>
            <a:lvl3pPr>
              <a:defRPr sz="1275" b="0">
                <a:solidFill>
                  <a:srgbClr val="5D686A"/>
                </a:solidFill>
                <a:latin typeface="Arial"/>
                <a:ea typeface="Arial"/>
                <a:cs typeface="Arial"/>
              </a:defRPr>
            </a:lvl3pPr>
            <a:lvl4pPr>
              <a:defRPr sz="1275" b="0">
                <a:solidFill>
                  <a:srgbClr val="5D686A"/>
                </a:solidFill>
                <a:latin typeface="Arial"/>
                <a:ea typeface="Arial"/>
                <a:cs typeface="Arial"/>
              </a:defRPr>
            </a:lvl4pPr>
            <a:lvl5pPr>
              <a:defRPr sz="1275" b="0">
                <a:solidFill>
                  <a:srgbClr val="5D686A"/>
                </a:solidFill>
                <a:latin typeface="Arial"/>
                <a:ea typeface="Arial"/>
                <a:cs typeface="Arial"/>
              </a:defRPr>
            </a:lvl5pPr>
            <a:lvl6pPr>
              <a:defRPr sz="1275" b="0">
                <a:solidFill>
                  <a:srgbClr val="5D686A"/>
                </a:solidFill>
                <a:latin typeface="Arial"/>
                <a:ea typeface="Arial"/>
                <a:cs typeface="Arial"/>
              </a:defRPr>
            </a:lvl6pPr>
            <a:lvl7pPr>
              <a:defRPr sz="1275" b="0">
                <a:solidFill>
                  <a:srgbClr val="5D686A"/>
                </a:solidFill>
                <a:latin typeface="Arial"/>
                <a:ea typeface="Arial"/>
                <a:cs typeface="Arial"/>
              </a:defRPr>
            </a:lvl7pPr>
            <a:lvl8pPr>
              <a:defRPr sz="1275" b="0">
                <a:solidFill>
                  <a:srgbClr val="5D686A"/>
                </a:solidFill>
                <a:latin typeface="Arial"/>
                <a:ea typeface="Arial"/>
                <a:cs typeface="Arial"/>
              </a:defRPr>
            </a:lvl8pPr>
            <a:lvl9pPr>
              <a:defRPr sz="1275" b="0">
                <a:solidFill>
                  <a:srgbClr val="5D686A"/>
                </a:solidFill>
                <a:latin typeface="Arial"/>
                <a:ea typeface="Arial"/>
                <a:cs typeface="Arial"/>
              </a:defRPr>
            </a:lvl9pPr>
          </a:lstStyle>
          <a:p>
            <a:pPr>
              <a:defRPr sz="1275" b="0">
                <a:solidFill>
                  <a:srgbClr val="5D686A"/>
                </a:solidFill>
                <a:latin typeface="Arial"/>
                <a:ea typeface="Arial"/>
                <a:cs typeface="Arial"/>
              </a:defRPr>
            </a:pPr>
            <a:r>
              <a:rPr sz="1200" b="0">
                <a:solidFill>
                  <a:srgbClr val="5E6977"/>
                </a:solidFill>
                <a:latin typeface="Arial"/>
                <a:ea typeface="Arial"/>
                <a:cs typeface="Arial"/>
              </a:rPr>
              <a:t>Adapted from Tukamuhabwa et al. (2015). Cost-effectiveness is an evaluation criterion across all capabilities.</a:t>
            </a:r>
          </a:p>
        </p:txBody>
      </p:sp>
    </p:spTree>
    <p:extLst>
      <p:ext uri="{BB962C8B-B14F-4D97-AF65-F5344CB8AC3E}">
        <p14:creationId xmlns:p14="http://schemas.microsoft.com/office/powerpoint/2010/main" val="398636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Building Supply Chain Resilience</a:t>
            </a:r>
            <a:endParaRPr lang="en-US" sz="3000" dirty="0"/>
          </a:p>
        </p:txBody>
      </p:sp>
      <p:sp>
        <p:nvSpPr>
          <p:cNvPr id="4" name="Text 2"/>
          <p:cNvSpPr/>
          <p:nvPr/>
        </p:nvSpPr>
        <p:spPr>
          <a:xfrm>
            <a:off x="812800" y="1452042"/>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31E29"/>
                </a:solidFill>
                <a:latin typeface="Arial" pitchFamily="34" charset="0"/>
                <a:ea typeface="Arial" pitchFamily="34" charset="-122"/>
                <a:cs typeface="Arial" pitchFamily="34" charset="-120"/>
              </a:rPr>
              <a:t>The ability to prepare for disruption, respond and recover, while maintaining essential operations (Ponomarov and Holcomb, 2009; </a:t>
            </a:r>
            <a:r>
              <a:rPr lang="en-US" sz="1500" dirty="0" err="1">
                <a:solidFill>
                  <a:srgbClr val="131E29"/>
                </a:solidFill>
                <a:latin typeface="Arial" pitchFamily="34" charset="0"/>
                <a:ea typeface="Arial" pitchFamily="34" charset="-122"/>
                <a:cs typeface="Arial" pitchFamily="34" charset="-120"/>
              </a:rPr>
              <a:t>Tukamuhabwa</a:t>
            </a:r>
            <a:r>
              <a:rPr lang="en-US" sz="1500" dirty="0">
                <a:solidFill>
                  <a:srgbClr val="131E29"/>
                </a:solidFill>
                <a:latin typeface="Arial" pitchFamily="34" charset="0"/>
                <a:ea typeface="Arial" pitchFamily="34" charset="-122"/>
                <a:cs typeface="Arial" pitchFamily="34" charset="-120"/>
              </a:rPr>
              <a:t> et al. 2015).</a:t>
            </a:r>
            <a:endParaRPr lang="en-US" sz="1500" dirty="0"/>
          </a:p>
        </p:txBody>
      </p:sp>
      <p:sp>
        <p:nvSpPr>
          <p:cNvPr id="5" name="Shape 3"/>
          <p:cNvSpPr/>
          <p:nvPr/>
        </p:nvSpPr>
        <p:spPr>
          <a:xfrm>
            <a:off x="819150" y="2245792"/>
            <a:ext cx="5181600" cy="1252141"/>
          </a:xfrm>
          <a:prstGeom prst="roundRect">
            <a:avLst>
              <a:gd name="adj" fmla="val 5578"/>
            </a:avLst>
          </a:prstGeom>
          <a:solidFill>
            <a:srgbClr val="F4EFFA"/>
          </a:solidFill>
          <a:ln w="12700">
            <a:solidFill>
              <a:srgbClr val="440099"/>
            </a:solidFill>
            <a:prstDash val="solid"/>
          </a:ln>
        </p:spPr>
        <p:txBody>
          <a:bodyPr/>
          <a:lstStyle/>
          <a:p>
            <a:endParaRPr lang="en-GB"/>
          </a:p>
        </p:txBody>
      </p:sp>
      <p:sp>
        <p:nvSpPr>
          <p:cNvPr id="6" name="Text 4"/>
          <p:cNvSpPr/>
          <p:nvPr/>
        </p:nvSpPr>
        <p:spPr>
          <a:xfrm>
            <a:off x="1028700" y="2455342"/>
            <a:ext cx="4905375"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440099"/>
                </a:solidFill>
                <a:latin typeface="Arial" pitchFamily="34" charset="0"/>
                <a:ea typeface="Arial" pitchFamily="34" charset="-122"/>
                <a:cs typeface="Arial" pitchFamily="34" charset="-120"/>
              </a:rPr>
              <a:t>Robustness</a:t>
            </a:r>
            <a:endParaRPr lang="en-US" sz="1700" dirty="0"/>
          </a:p>
        </p:txBody>
      </p:sp>
      <p:sp>
        <p:nvSpPr>
          <p:cNvPr id="7" name="Text 5"/>
          <p:cNvSpPr/>
          <p:nvPr/>
        </p:nvSpPr>
        <p:spPr>
          <a:xfrm>
            <a:off x="1028700" y="2790577"/>
            <a:ext cx="490537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Reduce the chance of disruption: supplier audits, quality approval</a:t>
            </a:r>
            <a:endParaRPr lang="en-US" sz="1400" dirty="0"/>
          </a:p>
        </p:txBody>
      </p:sp>
      <p:sp>
        <p:nvSpPr>
          <p:cNvPr id="8" name="Shape 6"/>
          <p:cNvSpPr/>
          <p:nvPr/>
        </p:nvSpPr>
        <p:spPr>
          <a:xfrm>
            <a:off x="6191250" y="2245792"/>
            <a:ext cx="5181600" cy="1252141"/>
          </a:xfrm>
          <a:prstGeom prst="roundRect">
            <a:avLst>
              <a:gd name="adj" fmla="val 5578"/>
            </a:avLst>
          </a:prstGeom>
          <a:solidFill>
            <a:srgbClr val="F4EFFA"/>
          </a:solidFill>
          <a:ln w="12700">
            <a:solidFill>
              <a:srgbClr val="440099"/>
            </a:solidFill>
            <a:prstDash val="solid"/>
          </a:ln>
        </p:spPr>
        <p:txBody>
          <a:bodyPr/>
          <a:lstStyle/>
          <a:p>
            <a:endParaRPr lang="en-GB"/>
          </a:p>
        </p:txBody>
      </p:sp>
      <p:sp>
        <p:nvSpPr>
          <p:cNvPr id="9" name="Text 7"/>
          <p:cNvSpPr/>
          <p:nvPr/>
        </p:nvSpPr>
        <p:spPr>
          <a:xfrm>
            <a:off x="6400800" y="2455342"/>
            <a:ext cx="4905375"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440099"/>
                </a:solidFill>
                <a:latin typeface="Arial" pitchFamily="34" charset="0"/>
                <a:ea typeface="Arial" pitchFamily="34" charset="-122"/>
                <a:cs typeface="Arial" pitchFamily="34" charset="-120"/>
              </a:rPr>
              <a:t>Redundancy</a:t>
            </a:r>
            <a:endParaRPr lang="en-US" sz="1700" dirty="0"/>
          </a:p>
        </p:txBody>
      </p:sp>
      <p:sp>
        <p:nvSpPr>
          <p:cNvPr id="10" name="Text 8"/>
          <p:cNvSpPr/>
          <p:nvPr/>
        </p:nvSpPr>
        <p:spPr>
          <a:xfrm>
            <a:off x="6400800" y="2790577"/>
            <a:ext cx="490537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Deliberate slack: safety stock, dual sourcing, back-up sites</a:t>
            </a:r>
            <a:endParaRPr lang="en-US" sz="1400" dirty="0"/>
          </a:p>
        </p:txBody>
      </p:sp>
      <p:sp>
        <p:nvSpPr>
          <p:cNvPr id="11" name="Shape 9"/>
          <p:cNvSpPr/>
          <p:nvPr/>
        </p:nvSpPr>
        <p:spPr>
          <a:xfrm>
            <a:off x="819150" y="3688432"/>
            <a:ext cx="5181600" cy="1252141"/>
          </a:xfrm>
          <a:prstGeom prst="roundRect">
            <a:avLst>
              <a:gd name="adj" fmla="val 5578"/>
            </a:avLst>
          </a:prstGeom>
          <a:solidFill>
            <a:srgbClr val="F4EFFA"/>
          </a:solidFill>
          <a:ln w="12700">
            <a:solidFill>
              <a:srgbClr val="440099"/>
            </a:solidFill>
            <a:prstDash val="solid"/>
          </a:ln>
        </p:spPr>
        <p:txBody>
          <a:bodyPr/>
          <a:lstStyle/>
          <a:p>
            <a:endParaRPr lang="en-GB"/>
          </a:p>
        </p:txBody>
      </p:sp>
      <p:sp>
        <p:nvSpPr>
          <p:cNvPr id="12" name="Text 10"/>
          <p:cNvSpPr/>
          <p:nvPr/>
        </p:nvSpPr>
        <p:spPr>
          <a:xfrm>
            <a:off x="1028700" y="3897982"/>
            <a:ext cx="4905375"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440099"/>
                </a:solidFill>
                <a:latin typeface="Arial" pitchFamily="34" charset="0"/>
                <a:ea typeface="Arial" pitchFamily="34" charset="-122"/>
                <a:cs typeface="Arial" pitchFamily="34" charset="-120"/>
              </a:rPr>
              <a:t>Flexibility and agility</a:t>
            </a:r>
            <a:endParaRPr lang="en-US" sz="1700" dirty="0"/>
          </a:p>
        </p:txBody>
      </p:sp>
      <p:sp>
        <p:nvSpPr>
          <p:cNvPr id="13" name="Text 11"/>
          <p:cNvSpPr/>
          <p:nvPr/>
        </p:nvSpPr>
        <p:spPr>
          <a:xfrm>
            <a:off x="1028700" y="4233218"/>
            <a:ext cx="490537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Reconfigure fast: alternative routes, suppliers and production sites</a:t>
            </a:r>
            <a:endParaRPr lang="en-US" sz="1400" dirty="0"/>
          </a:p>
        </p:txBody>
      </p:sp>
      <p:sp>
        <p:nvSpPr>
          <p:cNvPr id="14" name="Shape 12"/>
          <p:cNvSpPr/>
          <p:nvPr/>
        </p:nvSpPr>
        <p:spPr>
          <a:xfrm>
            <a:off x="6191250" y="3688432"/>
            <a:ext cx="5181600" cy="1252141"/>
          </a:xfrm>
          <a:prstGeom prst="roundRect">
            <a:avLst>
              <a:gd name="adj" fmla="val 5578"/>
            </a:avLst>
          </a:prstGeom>
          <a:solidFill>
            <a:srgbClr val="F4EFFA"/>
          </a:solidFill>
          <a:ln w="12700">
            <a:solidFill>
              <a:srgbClr val="440099"/>
            </a:solidFill>
            <a:prstDash val="solid"/>
          </a:ln>
        </p:spPr>
        <p:txBody>
          <a:bodyPr/>
          <a:lstStyle/>
          <a:p>
            <a:endParaRPr lang="en-GB"/>
          </a:p>
        </p:txBody>
      </p:sp>
      <p:sp>
        <p:nvSpPr>
          <p:cNvPr id="15" name="Text 13"/>
          <p:cNvSpPr/>
          <p:nvPr/>
        </p:nvSpPr>
        <p:spPr>
          <a:xfrm>
            <a:off x="6400800" y="3897982"/>
            <a:ext cx="4905375"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440099"/>
                </a:solidFill>
                <a:latin typeface="Arial" pitchFamily="34" charset="0"/>
                <a:ea typeface="Arial" pitchFamily="34" charset="-122"/>
                <a:cs typeface="Arial" pitchFamily="34" charset="-120"/>
              </a:rPr>
              <a:t>Visibility and collaboration</a:t>
            </a:r>
            <a:endParaRPr lang="en-US" sz="1700" dirty="0"/>
          </a:p>
        </p:txBody>
      </p:sp>
      <p:sp>
        <p:nvSpPr>
          <p:cNvPr id="16" name="Text 14"/>
          <p:cNvSpPr/>
          <p:nvPr/>
        </p:nvSpPr>
        <p:spPr>
          <a:xfrm>
            <a:off x="6400800" y="4233218"/>
            <a:ext cx="490537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See problems early across tiers and respond together</a:t>
            </a:r>
            <a:endParaRPr lang="en-US" sz="1400" dirty="0"/>
          </a:p>
        </p:txBody>
      </p:sp>
      <p:sp>
        <p:nvSpPr>
          <p:cNvPr id="17" name="Text 15"/>
          <p:cNvSpPr/>
          <p:nvPr/>
        </p:nvSpPr>
        <p:spPr>
          <a:xfrm>
            <a:off x="812800" y="5200923"/>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E6977"/>
                </a:solidFill>
                <a:latin typeface="Arial" pitchFamily="34" charset="0"/>
                <a:ea typeface="Arial" pitchFamily="34" charset="-122"/>
                <a:cs typeface="Arial" pitchFamily="34" charset="-120"/>
              </a:rPr>
              <a:t>Each has a cost:</a:t>
            </a:r>
            <a:r>
              <a:rPr lang="en-US" sz="1400" dirty="0">
                <a:solidFill>
                  <a:srgbClr val="5E6977"/>
                </a:solidFill>
                <a:latin typeface="Arial" pitchFamily="34" charset="0"/>
                <a:ea typeface="Arial" pitchFamily="34" charset="-122"/>
                <a:cs typeface="Arial" pitchFamily="34" charset="-120"/>
              </a:rPr>
              <a:t> stock ties up cash, new suppliers need qualifying, faster transport adds cost and emissions.</a:t>
            </a:r>
            <a:endParaRPr lang="en-US" sz="1400" dirty="0"/>
          </a:p>
        </p:txBody>
      </p:sp>
      <p:sp>
        <p:nvSpPr>
          <p:cNvPr id="18" name="Text 16"/>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Sources: Christopher and Peck (2004); Ponomarov and Holcomb (2009)</a:t>
            </a:r>
            <a:endParaRPr lang="en-US" sz="1200" dirty="0"/>
          </a:p>
        </p:txBody>
      </p:sp>
      <p:sp>
        <p:nvSpPr>
          <p:cNvPr id="19" name="Text 17"/>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Label"/>
          <p:cNvSpPr txBox="1"/>
          <p:nvPr/>
        </p:nvSpPr>
        <p:spPr>
          <a:xfrm>
            <a:off x="813816" y="228600"/>
            <a:ext cx="7315200" cy="292608"/>
          </a:xfrm>
          <a:prstGeom prst="rect">
            <a:avLst/>
          </a:prstGeom>
          <a:noFill/>
        </p:spPr>
        <p:txBody>
          <a:bodyPr wrap="square" lIns="0" rIns="0" tIns="0" bIns="0" anchor="t">
            <a:spAutoFit/>
          </a:bodyPr>
          <a:lstStyle/>
          <a:p>
            <a:pPr algn="l">
              <a:spcAft>
                <a:spcPts val="0"/>
              </a:spcAft>
            </a:pPr>
            <a:r>
              <a:rPr sz="1200" b="1">
                <a:solidFill>
                  <a:srgbClr val="FF6371"/>
                </a:solidFill>
                <a:latin typeface="Arial"/>
              </a:rPr>
              <a:t>RESILIENCE IN REAL LIFE</a:t>
            </a:r>
          </a:p>
        </p:txBody>
      </p:sp>
      <p:sp>
        <p:nvSpPr>
          <p:cNvPr id="3" name="Title"/>
          <p:cNvSpPr txBox="1"/>
          <p:nvPr/>
        </p:nvSpPr>
        <p:spPr>
          <a:xfrm>
            <a:off x="658368" y="612648"/>
            <a:ext cx="10881360" cy="448056"/>
          </a:xfrm>
          <a:prstGeom prst="rect">
            <a:avLst/>
          </a:prstGeom>
          <a:noFill/>
        </p:spPr>
        <p:txBody>
          <a:bodyPr wrap="square" lIns="0" rIns="0" tIns="0" bIns="0" anchor="t">
            <a:spAutoFit/>
          </a:bodyPr>
          <a:lstStyle/>
          <a:p>
            <a:pPr algn="l">
              <a:spcAft>
                <a:spcPts val="0"/>
              </a:spcAft>
            </a:pPr>
            <a:r>
              <a:rPr sz="3000" b="1">
                <a:solidFill>
                  <a:srgbClr val="440099"/>
                </a:solidFill>
                <a:latin typeface="Arial"/>
              </a:rPr>
              <a:t>Red Sea 2024: Same Shock, Different Outcomes</a:t>
            </a:r>
          </a:p>
        </p:txBody>
      </p:sp>
      <p:cxnSp>
        <p:nvCxnSpPr>
          <p:cNvPr id="4" name="Divider"/>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5" name="Shock strip"/>
          <p:cNvSpPr/>
          <p:nvPr/>
        </p:nvSpPr>
        <p:spPr>
          <a:xfrm>
            <a:off x="813816" y="1371600"/>
            <a:ext cx="10570464" cy="658368"/>
          </a:xfrm>
          <a:prstGeom prst="roundRect">
            <a:avLst>
              <a:gd name="adj" fmla="val 10000"/>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hock text"/>
          <p:cNvSpPr txBox="1"/>
          <p:nvPr/>
        </p:nvSpPr>
        <p:spPr>
          <a:xfrm>
            <a:off x="1024128" y="1371600"/>
            <a:ext cx="10149840" cy="658368"/>
          </a:xfrm>
          <a:prstGeom prst="rect">
            <a:avLst/>
          </a:prstGeom>
          <a:noFill/>
        </p:spPr>
        <p:txBody>
          <a:bodyPr wrap="square" lIns="0" rIns="0" tIns="0" bIns="0" anchor="ctr">
            <a:spAutoFit/>
          </a:bodyPr>
          <a:lstStyle/>
          <a:p>
            <a:pPr algn="l">
              <a:spcAft>
                <a:spcPts val="0"/>
              </a:spcAft>
            </a:pPr>
            <a:r>
              <a:rPr sz="1400" b="1">
                <a:solidFill>
                  <a:srgbClr val="B4232F"/>
                </a:solidFill>
                <a:latin typeface="Arial"/>
              </a:rPr>
              <a:t>The shock: </a:t>
            </a:r>
            <a:r>
              <a:rPr sz="1400" b="0">
                <a:solidFill>
                  <a:srgbClr val="131E29"/>
                </a:solidFill>
                <a:latin typeface="Arial"/>
              </a:rPr>
              <a:t>Houthi attacks on ships from late 2023. Suez Canal traffic fell about 50% as carriers rerouted around the Cape of Good Hope, adding time and cost to every Asia–Europe shipment.</a:t>
            </a:r>
          </a:p>
        </p:txBody>
      </p:sp>
      <p:sp>
        <p:nvSpPr>
          <p:cNvPr id="7" name="Inditex (Zara) card"/>
          <p:cNvSpPr/>
          <p:nvPr/>
        </p:nvSpPr>
        <p:spPr>
          <a:xfrm>
            <a:off x="813816" y="2212848"/>
            <a:ext cx="5175504" cy="2743200"/>
          </a:xfrm>
          <a:prstGeom prst="roundRect">
            <a:avLst>
              <a:gd name="adj" fmla="val 4000"/>
            </a:avLst>
          </a:prstGeom>
          <a:solidFill>
            <a:srgbClr val="E6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nditex (Zara) accent"/>
          <p:cNvSpPr/>
          <p:nvPr/>
        </p:nvSpPr>
        <p:spPr>
          <a:xfrm>
            <a:off x="813816" y="2212848"/>
            <a:ext cx="73152" cy="2743200"/>
          </a:xfrm>
          <a:prstGeom prst="rect">
            <a:avLst/>
          </a:prstGeom>
          <a:solidFill>
            <a:srgbClr val="00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nditex (Zara) text"/>
          <p:cNvSpPr txBox="1"/>
          <p:nvPr/>
        </p:nvSpPr>
        <p:spPr>
          <a:xfrm>
            <a:off x="1088136" y="2359152"/>
            <a:ext cx="4709160" cy="2560320"/>
          </a:xfrm>
          <a:prstGeom prst="rect">
            <a:avLst/>
          </a:prstGeom>
          <a:noFill/>
        </p:spPr>
        <p:txBody>
          <a:bodyPr wrap="square" lIns="0" rIns="0" tIns="0" bIns="0" anchor="t">
            <a:spAutoFit/>
          </a:bodyPr>
          <a:lstStyle/>
          <a:p>
            <a:pPr algn="l">
              <a:spcAft>
                <a:spcPts val="800"/>
              </a:spcAft>
            </a:pPr>
            <a:r>
              <a:rPr sz="1600" b="1">
                <a:solidFill>
                  <a:srgbClr val="005A8F"/>
                </a:solidFill>
                <a:latin typeface="Arial"/>
              </a:rPr>
              <a:t>Inditex (Zara)</a:t>
            </a:r>
          </a:p>
          <a:p>
            <a:pPr algn="l">
              <a:spcAft>
                <a:spcPts val="600"/>
              </a:spcAft>
            </a:pPr>
            <a:r>
              <a:rPr sz="1200" b="1">
                <a:solidFill>
                  <a:srgbClr val="131E29"/>
                </a:solidFill>
                <a:latin typeface="Arial"/>
              </a:rPr>
              <a:t>Built in advance: </a:t>
            </a:r>
            <a:r>
              <a:rPr sz="1200" b="0">
                <a:solidFill>
                  <a:srgbClr val="131E29"/>
                </a:solidFill>
                <a:latin typeface="Arial"/>
              </a:rPr>
              <a:t>57% of production capacity in Spain, Portugal, Morocco and Turkey (2018), reached by road, not the Suez route.</a:t>
            </a:r>
          </a:p>
          <a:p>
            <a:pPr algn="l">
              <a:spcAft>
                <a:spcPts val="600"/>
              </a:spcAft>
            </a:pPr>
            <a:r>
              <a:rPr sz="1200" b="1">
                <a:solidFill>
                  <a:srgbClr val="131E29"/>
                </a:solidFill>
                <a:latin typeface="Arial"/>
              </a:rPr>
              <a:t>Senses and seizes: </a:t>
            </a:r>
            <a:r>
              <a:rPr sz="1200" b="0">
                <a:solidFill>
                  <a:srgbClr val="131E29"/>
                </a:solidFill>
                <a:latin typeface="Arial"/>
              </a:rPr>
              <a:t>daily store data; small, frequent orders; new styles in stores within weeks.</a:t>
            </a:r>
          </a:p>
          <a:p>
            <a:pPr algn="l">
              <a:spcAft>
                <a:spcPts val="600"/>
              </a:spcAft>
            </a:pPr>
            <a:r>
              <a:rPr sz="1200" b="1">
                <a:solidFill>
                  <a:srgbClr val="131E29"/>
                </a:solidFill>
                <a:latin typeface="Arial"/>
              </a:rPr>
              <a:t>Impact: </a:t>
            </a:r>
            <a:r>
              <a:rPr sz="1200" b="0">
                <a:solidFill>
                  <a:srgbClr val="131E29"/>
                </a:solidFill>
                <a:latin typeface="Arial"/>
              </a:rPr>
              <a:t>about a one-week average delay; “operations have not been significantly impacted”.</a:t>
            </a:r>
          </a:p>
          <a:p>
            <a:pPr algn="l">
              <a:spcAft>
                <a:spcPts val="600"/>
              </a:spcAft>
            </a:pPr>
            <a:r>
              <a:rPr sz="1200" b="1">
                <a:solidFill>
                  <a:srgbClr val="131E29"/>
                </a:solidFill>
                <a:latin typeface="Arial"/>
              </a:rPr>
              <a:t>Result: </a:t>
            </a:r>
            <a:r>
              <a:rPr sz="1200" b="0">
                <a:solidFill>
                  <a:srgbClr val="131E29"/>
                </a:solidFill>
                <a:latin typeface="Arial"/>
              </a:rPr>
              <a:t>sales up 11% in Feb–Mar 2024, outpacing H&amp;M.</a:t>
            </a:r>
          </a:p>
        </p:txBody>
      </p:sp>
      <p:sp>
        <p:nvSpPr>
          <p:cNvPr id="10" name="H&amp;M card"/>
          <p:cNvSpPr/>
          <p:nvPr/>
        </p:nvSpPr>
        <p:spPr>
          <a:xfrm>
            <a:off x="6208776" y="2212848"/>
            <a:ext cx="5175504" cy="2743200"/>
          </a:xfrm>
          <a:prstGeom prst="roundRect">
            <a:avLst>
              <a:gd name="adj" fmla="val 4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amp;M accent"/>
          <p:cNvSpPr/>
          <p:nvPr/>
        </p:nvSpPr>
        <p:spPr>
          <a:xfrm>
            <a:off x="6208776" y="2212848"/>
            <a:ext cx="73152" cy="2743200"/>
          </a:xfrm>
          <a:prstGeom prst="rect">
            <a:avLst/>
          </a:prstGeom>
          <a:solidFill>
            <a:srgbClr val="B42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amp;M text"/>
          <p:cNvSpPr txBox="1"/>
          <p:nvPr/>
        </p:nvSpPr>
        <p:spPr>
          <a:xfrm>
            <a:off x="6483096" y="2359152"/>
            <a:ext cx="4709160" cy="2560320"/>
          </a:xfrm>
          <a:prstGeom prst="rect">
            <a:avLst/>
          </a:prstGeom>
          <a:noFill/>
        </p:spPr>
        <p:txBody>
          <a:bodyPr wrap="square" lIns="0" rIns="0" tIns="0" bIns="0" anchor="t">
            <a:spAutoFit/>
          </a:bodyPr>
          <a:lstStyle/>
          <a:p>
            <a:pPr algn="l">
              <a:spcAft>
                <a:spcPts val="800"/>
              </a:spcAft>
            </a:pPr>
            <a:r>
              <a:rPr sz="1600" b="1">
                <a:solidFill>
                  <a:srgbClr val="B4232F"/>
                </a:solidFill>
                <a:latin typeface="Arial"/>
              </a:rPr>
              <a:t>H&amp;M</a:t>
            </a:r>
          </a:p>
          <a:p>
            <a:pPr algn="l">
              <a:spcAft>
                <a:spcPts val="600"/>
              </a:spcAft>
            </a:pPr>
            <a:r>
              <a:rPr sz="1200" b="1">
                <a:solidFill>
                  <a:srgbClr val="131E29"/>
                </a:solidFill>
                <a:latin typeface="Arial"/>
              </a:rPr>
              <a:t>Built in advance: </a:t>
            </a:r>
            <a:r>
              <a:rPr sz="1200" b="0">
                <a:solidFill>
                  <a:srgbClr val="131E29"/>
                </a:solidFill>
                <a:latin typeface="Arial"/>
              </a:rPr>
              <a:t>long-haul supply, mainly from Asia, designed for low cost.</a:t>
            </a:r>
          </a:p>
          <a:p>
            <a:pPr algn="l">
              <a:spcAft>
                <a:spcPts val="600"/>
              </a:spcAft>
            </a:pPr>
            <a:r>
              <a:rPr sz="1200" b="1">
                <a:solidFill>
                  <a:srgbClr val="131E29"/>
                </a:solidFill>
                <a:latin typeface="Arial"/>
              </a:rPr>
              <a:t>Senses and seizes: </a:t>
            </a:r>
            <a:r>
              <a:rPr sz="1200" b="0">
                <a:solidFill>
                  <a:srgbClr val="131E29"/>
                </a:solidFill>
                <a:latin typeface="Arial"/>
              </a:rPr>
              <a:t>asked suppliers to ship earlier; moved campaign dates; expanding nearshoring.</a:t>
            </a:r>
          </a:p>
          <a:p>
            <a:pPr algn="l">
              <a:spcAft>
                <a:spcPts val="600"/>
              </a:spcAft>
            </a:pPr>
            <a:r>
              <a:rPr sz="1200" b="1">
                <a:solidFill>
                  <a:srgbClr val="131E29"/>
                </a:solidFill>
                <a:latin typeface="Arial"/>
              </a:rPr>
              <a:t>Impact: </a:t>
            </a:r>
            <a:r>
              <a:rPr sz="1200" b="0">
                <a:solidFill>
                  <a:srgbClr val="131E29"/>
                </a:solidFill>
                <a:latin typeface="Arial"/>
              </a:rPr>
              <a:t>delays of up to about two weeks in some markets; spring/summer campaigns postponed.</a:t>
            </a:r>
          </a:p>
          <a:p>
            <a:pPr algn="l">
              <a:spcAft>
                <a:spcPts val="600"/>
              </a:spcAft>
            </a:pPr>
            <a:r>
              <a:rPr sz="1200" b="1">
                <a:solidFill>
                  <a:srgbClr val="131E29"/>
                </a:solidFill>
                <a:latin typeface="Arial"/>
              </a:rPr>
              <a:t>Result: </a:t>
            </a:r>
            <a:r>
              <a:rPr sz="1200" b="0">
                <a:solidFill>
                  <a:srgbClr val="131E29"/>
                </a:solidFill>
                <a:latin typeface="Arial"/>
              </a:rPr>
              <a:t>Q1 2024 sales dipped slightly (profit rose on cost cuts).</a:t>
            </a:r>
          </a:p>
        </p:txBody>
      </p:sp>
      <p:sp>
        <p:nvSpPr>
          <p:cNvPr id="13" name="React box"/>
          <p:cNvSpPr/>
          <p:nvPr/>
        </p:nvSpPr>
        <p:spPr>
          <a:xfrm>
            <a:off x="813816" y="5120640"/>
            <a:ext cx="10570464" cy="1005840"/>
          </a:xfrm>
          <a:prstGeom prst="roundRect">
            <a:avLst>
              <a:gd name="adj" fmla="val 10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act text"/>
          <p:cNvSpPr txBox="1"/>
          <p:nvPr/>
        </p:nvSpPr>
        <p:spPr>
          <a:xfrm>
            <a:off x="1051560" y="5120640"/>
            <a:ext cx="10149840" cy="1005840"/>
          </a:xfrm>
          <a:prstGeom prst="rect">
            <a:avLst/>
          </a:prstGeom>
          <a:noFill/>
        </p:spPr>
        <p:txBody>
          <a:bodyPr wrap="square" lIns="0" rIns="0" tIns="0" bIns="0" anchor="ctr">
            <a:spAutoFit/>
          </a:bodyPr>
          <a:lstStyle/>
          <a:p>
            <a:pPr algn="l">
              <a:spcAft>
                <a:spcPts val="400"/>
              </a:spcAft>
            </a:pPr>
            <a:r>
              <a:rPr sz="1500" b="1">
                <a:solidFill>
                  <a:srgbClr val="9ADBE8"/>
                </a:solidFill>
                <a:latin typeface="Arial"/>
              </a:rPr>
              <a:t>React: </a:t>
            </a:r>
            <a:r>
              <a:rPr sz="1500" b="0">
                <a:solidFill>
                  <a:srgbClr val="FFFFFF"/>
                </a:solidFill>
                <a:latin typeface="Arial"/>
              </a:rPr>
              <a:t>Was Zara resilient, or lucky that this shock hit sea routes it relied on less? </a:t>
            </a:r>
          </a:p>
          <a:p>
            <a:pPr algn="l">
              <a:spcAft>
                <a:spcPts val="0"/>
              </a:spcAft>
            </a:pPr>
            <a:r>
              <a:rPr sz="1500" b="0">
                <a:solidFill>
                  <a:srgbClr val="E6DBF5"/>
                </a:solidFill>
                <a:latin typeface="Arial"/>
              </a:rPr>
              <a:t>Its proximity network costs more in normal years. When is that premium a competitive advantage, and when is it waste?</a:t>
            </a:r>
          </a:p>
        </p:txBody>
      </p:sp>
      <p:sp>
        <p:nvSpPr>
          <p:cNvPr id="15" name="Source"/>
          <p:cNvSpPr txBox="1"/>
          <p:nvPr/>
        </p:nvSpPr>
        <p:spPr>
          <a:xfrm>
            <a:off x="813816" y="6291072"/>
            <a:ext cx="9052560" cy="237744"/>
          </a:xfrm>
          <a:prstGeom prst="rect">
            <a:avLst/>
          </a:prstGeom>
          <a:noFill/>
        </p:spPr>
        <p:txBody>
          <a:bodyPr wrap="square" lIns="0" rIns="0" tIns="0" bIns="0" anchor="t">
            <a:spAutoFit/>
          </a:bodyPr>
          <a:lstStyle/>
          <a:p>
            <a:pPr algn="l">
              <a:spcAft>
                <a:spcPts val="0"/>
              </a:spcAft>
            </a:pPr>
            <a:r>
              <a:rPr sz="1000" b="0">
                <a:solidFill>
                  <a:srgbClr val="5E6977"/>
                </a:solidFill>
                <a:latin typeface="Arial"/>
              </a:rPr>
              <a:t>Sources: Fortune (15 Mar 2024); Retail Gazette (Mar 2024); The MDS (2019, 2018 supplier data); IMF data cited by Fortune.</a:t>
            </a:r>
          </a:p>
        </p:txBody>
      </p:sp>
      <p:sp>
        <p:nvSpPr>
          <p:cNvPr id="16" name="Page number"/>
          <p:cNvSpPr txBox="1"/>
          <p:nvPr/>
        </p:nvSpPr>
        <p:spPr>
          <a:xfrm>
            <a:off x="10058400" y="6291072"/>
            <a:ext cx="1316736" cy="237744"/>
          </a:xfrm>
          <a:prstGeom prst="rect">
            <a:avLst/>
          </a:prstGeom>
          <a:noFill/>
        </p:spPr>
        <p:txBody>
          <a:bodyPr wrap="square" lIns="0" rIns="0" tIns="0" bIns="0" anchor="t">
            <a:spAutoFit/>
          </a:bodyPr>
          <a:lstStyle/>
          <a:p>
            <a:pPr algn="r">
              <a:spcAft>
                <a:spcPts val="0"/>
              </a:spcAft>
            </a:pPr>
            <a:r>
              <a:rPr sz="1200" b="0">
                <a:solidFill>
                  <a:srgbClr val="5E6977"/>
                </a:solidFill>
                <a:latin typeface="Arial"/>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Label"/>
          <p:cNvSpPr txBox="1"/>
          <p:nvPr/>
        </p:nvSpPr>
        <p:spPr>
          <a:xfrm>
            <a:off x="813816" y="228600"/>
            <a:ext cx="7315200" cy="292608"/>
          </a:xfrm>
          <a:prstGeom prst="rect">
            <a:avLst/>
          </a:prstGeom>
          <a:noFill/>
        </p:spPr>
        <p:txBody>
          <a:bodyPr wrap="square" lIns="0" rIns="0" tIns="0" bIns="0" anchor="t">
            <a:spAutoFit/>
          </a:bodyPr>
          <a:lstStyle/>
          <a:p>
            <a:pPr algn="l">
              <a:spcAft>
                <a:spcPts val="0"/>
              </a:spcAft>
            </a:pPr>
            <a:r>
              <a:rPr sz="1200" b="1">
                <a:solidFill>
                  <a:srgbClr val="FF6371"/>
                </a:solidFill>
                <a:latin typeface="Arial"/>
              </a:rPr>
              <a:t>RESILIENCE IN REAL LIFE · THEORY</a:t>
            </a:r>
          </a:p>
        </p:txBody>
      </p:sp>
      <p:sp>
        <p:nvSpPr>
          <p:cNvPr id="3" name="Title"/>
          <p:cNvSpPr txBox="1"/>
          <p:nvPr/>
        </p:nvSpPr>
        <p:spPr>
          <a:xfrm>
            <a:off x="658368" y="612648"/>
            <a:ext cx="10881360" cy="448056"/>
          </a:xfrm>
          <a:prstGeom prst="rect">
            <a:avLst/>
          </a:prstGeom>
          <a:noFill/>
        </p:spPr>
        <p:txBody>
          <a:bodyPr wrap="square" lIns="0" rIns="0" tIns="0" bIns="0" anchor="t">
            <a:spAutoFit/>
          </a:bodyPr>
          <a:lstStyle/>
          <a:p>
            <a:pPr algn="l">
              <a:spcAft>
                <a:spcPts val="0"/>
              </a:spcAft>
            </a:pPr>
            <a:r>
              <a:rPr sz="3000" b="1">
                <a:solidFill>
                  <a:srgbClr val="440099"/>
                </a:solidFill>
                <a:latin typeface="Arial"/>
              </a:rPr>
              <a:t>Three Lenses: Why Zara Coped Better</a:t>
            </a:r>
          </a:p>
        </p:txBody>
      </p:sp>
      <p:cxnSp>
        <p:nvCxnSpPr>
          <p:cNvPr id="4" name="Divider"/>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5" name="Resource-based view card"/>
          <p:cNvSpPr/>
          <p:nvPr/>
        </p:nvSpPr>
        <p:spPr>
          <a:xfrm>
            <a:off x="813816" y="1417320"/>
            <a:ext cx="3364992" cy="3611880"/>
          </a:xfrm>
          <a:prstGeom prst="roundRect">
            <a:avLst>
              <a:gd name="adj" fmla="val 4000"/>
            </a:avLst>
          </a:prstGeom>
          <a:solidFill>
            <a:srgbClr val="E6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based view accent"/>
          <p:cNvSpPr/>
          <p:nvPr/>
        </p:nvSpPr>
        <p:spPr>
          <a:xfrm>
            <a:off x="813816" y="1417320"/>
            <a:ext cx="3364992" cy="73152"/>
          </a:xfrm>
          <a:prstGeom prst="rect">
            <a:avLst/>
          </a:prstGeom>
          <a:solidFill>
            <a:srgbClr val="00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source-based view text"/>
          <p:cNvSpPr txBox="1"/>
          <p:nvPr/>
        </p:nvSpPr>
        <p:spPr>
          <a:xfrm>
            <a:off x="1014984" y="1618488"/>
            <a:ext cx="2962656" cy="3337560"/>
          </a:xfrm>
          <a:prstGeom prst="rect">
            <a:avLst/>
          </a:prstGeom>
          <a:noFill/>
        </p:spPr>
        <p:txBody>
          <a:bodyPr wrap="square" lIns="0" rIns="0" tIns="0" bIns="0" anchor="t">
            <a:spAutoFit/>
          </a:bodyPr>
          <a:lstStyle/>
          <a:p>
            <a:pPr algn="l">
              <a:spcAft>
                <a:spcPts val="100"/>
              </a:spcAft>
            </a:pPr>
            <a:r>
              <a:rPr sz="1600" b="1">
                <a:solidFill>
                  <a:srgbClr val="005A8F"/>
                </a:solidFill>
                <a:latin typeface="Arial"/>
              </a:rPr>
              <a:t>Resource-based view</a:t>
            </a:r>
          </a:p>
          <a:p>
            <a:pPr algn="l">
              <a:spcAft>
                <a:spcPts val="800"/>
              </a:spcAft>
            </a:pPr>
            <a:r>
              <a:rPr sz="1000" b="0">
                <a:solidFill>
                  <a:srgbClr val="5E6977"/>
                </a:solidFill>
                <a:latin typeface="Arial"/>
              </a:rPr>
              <a:t>Barney (1991)</a:t>
            </a:r>
          </a:p>
          <a:p>
            <a:pPr algn="l">
              <a:spcAft>
                <a:spcPts val="700"/>
              </a:spcAft>
            </a:pPr>
            <a:r>
              <a:rPr sz="1200" b="0">
                <a:solidFill>
                  <a:srgbClr val="131E29"/>
                </a:solidFill>
                <a:latin typeface="Arial"/>
              </a:rPr>
              <a:t>Resilience as a resource: a dense supplier network close to home, built over decades.</a:t>
            </a:r>
          </a:p>
          <a:p>
            <a:pPr algn="l">
              <a:spcAft>
                <a:spcPts val="700"/>
              </a:spcAft>
            </a:pPr>
            <a:r>
              <a:rPr sz="1200" b="1">
                <a:solidFill>
                  <a:srgbClr val="005A8F"/>
                </a:solidFill>
                <a:latin typeface="Arial"/>
              </a:rPr>
              <a:t>Red Sea: </a:t>
            </a:r>
            <a:r>
              <a:rPr sz="1200" b="0">
                <a:solidFill>
                  <a:srgbClr val="131E29"/>
                </a:solidFill>
                <a:latin typeface="Arial"/>
              </a:rPr>
              <a:t>VRIN: valuable when sea routes fail, rare among fast-fashion rivals, slow to imitate. H&amp;M is only now nearshoring.</a:t>
            </a:r>
          </a:p>
          <a:p>
            <a:pPr algn="l">
              <a:spcAft>
                <a:spcPts val="0"/>
              </a:spcAft>
            </a:pPr>
            <a:r>
              <a:rPr sz="1200" b="1">
                <a:solidFill>
                  <a:srgbClr val="B4232F"/>
                </a:solidFill>
                <a:latin typeface="Arial"/>
              </a:rPr>
              <a:t>So what: </a:t>
            </a:r>
            <a:r>
              <a:rPr sz="1200" b="0">
                <a:solidFill>
                  <a:srgbClr val="131E29"/>
                </a:solidFill>
                <a:latin typeface="Arial"/>
              </a:rPr>
              <a:t>Static and costly: the resource earns its premium only when the shock hits Asia routes.</a:t>
            </a:r>
          </a:p>
        </p:txBody>
      </p:sp>
      <p:sp>
        <p:nvSpPr>
          <p:cNvPr id="8" name="Dynamic capabilities card"/>
          <p:cNvSpPr/>
          <p:nvPr/>
        </p:nvSpPr>
        <p:spPr>
          <a:xfrm>
            <a:off x="4416552" y="1417320"/>
            <a:ext cx="3364992" cy="3611880"/>
          </a:xfrm>
          <a:prstGeom prst="roundRect">
            <a:avLst>
              <a:gd name="adj" fmla="val 4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ynamic capabilities accent"/>
          <p:cNvSpPr/>
          <p:nvPr/>
        </p:nvSpPr>
        <p:spPr>
          <a:xfrm>
            <a:off x="4416552" y="1417320"/>
            <a:ext cx="3364992" cy="73152"/>
          </a:xfrm>
          <a:prstGeom prst="rect">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ynamic capabilities text"/>
          <p:cNvSpPr txBox="1"/>
          <p:nvPr/>
        </p:nvSpPr>
        <p:spPr>
          <a:xfrm>
            <a:off x="4617720" y="1618488"/>
            <a:ext cx="2962656" cy="3337560"/>
          </a:xfrm>
          <a:prstGeom prst="rect">
            <a:avLst/>
          </a:prstGeom>
          <a:noFill/>
        </p:spPr>
        <p:txBody>
          <a:bodyPr wrap="square" lIns="0" rIns="0" tIns="0" bIns="0" anchor="t">
            <a:spAutoFit/>
          </a:bodyPr>
          <a:lstStyle/>
          <a:p>
            <a:pPr algn="l">
              <a:spcAft>
                <a:spcPts val="100"/>
              </a:spcAft>
            </a:pPr>
            <a:r>
              <a:rPr sz="1600" b="1">
                <a:solidFill>
                  <a:srgbClr val="440099"/>
                </a:solidFill>
                <a:latin typeface="Arial"/>
              </a:rPr>
              <a:t>Dynamic capabilities</a:t>
            </a:r>
          </a:p>
          <a:p>
            <a:pPr algn="l">
              <a:spcAft>
                <a:spcPts val="800"/>
              </a:spcAft>
            </a:pPr>
            <a:r>
              <a:rPr sz="1000" b="0">
                <a:solidFill>
                  <a:srgbClr val="5E6977"/>
                </a:solidFill>
                <a:latin typeface="Arial"/>
              </a:rPr>
              <a:t>Teece, Pisano and Shuen (1997); Teece (2007)</a:t>
            </a:r>
          </a:p>
          <a:p>
            <a:pPr algn="l">
              <a:spcAft>
                <a:spcPts val="700"/>
              </a:spcAft>
            </a:pPr>
            <a:r>
              <a:rPr sz="1200" b="0">
                <a:solidFill>
                  <a:srgbClr val="131E29"/>
                </a:solidFill>
                <a:latin typeface="Arial"/>
              </a:rPr>
              <a:t>Advantage from sensing, seizing and reconfiguring faster than rivals.</a:t>
            </a:r>
          </a:p>
          <a:p>
            <a:pPr algn="l">
              <a:spcAft>
                <a:spcPts val="700"/>
              </a:spcAft>
            </a:pPr>
            <a:r>
              <a:rPr sz="1200" b="1">
                <a:solidFill>
                  <a:srgbClr val="440099"/>
                </a:solidFill>
                <a:latin typeface="Arial"/>
              </a:rPr>
              <a:t>Red Sea: </a:t>
            </a:r>
            <a:r>
              <a:rPr sz="1200" b="0">
                <a:solidFill>
                  <a:srgbClr val="131E29"/>
                </a:solidFill>
                <a:latin typeface="Arial"/>
              </a:rPr>
              <a:t>Both firms sensed the shock. Zara could seize faster: daily store data, small batches, options a truck ride away. H&amp;M reconfigured slowly: earlier shipping, new campaign dates, nearshoring.</a:t>
            </a:r>
          </a:p>
          <a:p>
            <a:pPr algn="l">
              <a:spcAft>
                <a:spcPts val="0"/>
              </a:spcAft>
            </a:pPr>
            <a:r>
              <a:rPr sz="1200" b="1">
                <a:solidFill>
                  <a:srgbClr val="B4232F"/>
                </a:solidFill>
                <a:latin typeface="Arial"/>
              </a:rPr>
              <a:t>So what: </a:t>
            </a:r>
            <a:r>
              <a:rPr sz="1200" b="0">
                <a:solidFill>
                  <a:srgbClr val="131E29"/>
                </a:solidFill>
                <a:latin typeface="Arial"/>
              </a:rPr>
              <a:t>Capabilities depend on resources: you can only seize options you have built.</a:t>
            </a:r>
          </a:p>
        </p:txBody>
      </p:sp>
      <p:sp>
        <p:nvSpPr>
          <p:cNvPr id="11" name="Complex adaptive systems card"/>
          <p:cNvSpPr/>
          <p:nvPr/>
        </p:nvSpPr>
        <p:spPr>
          <a:xfrm>
            <a:off x="8019288" y="1417320"/>
            <a:ext cx="3364992" cy="3611880"/>
          </a:xfrm>
          <a:prstGeom prst="roundRect">
            <a:avLst>
              <a:gd name="adj" fmla="val 4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mplex adaptive systems accent"/>
          <p:cNvSpPr/>
          <p:nvPr/>
        </p:nvSpPr>
        <p:spPr>
          <a:xfrm>
            <a:off x="8019288" y="1417320"/>
            <a:ext cx="3364992"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mplex adaptive systems text"/>
          <p:cNvSpPr txBox="1"/>
          <p:nvPr/>
        </p:nvSpPr>
        <p:spPr>
          <a:xfrm>
            <a:off x="8220456" y="1618488"/>
            <a:ext cx="2962656" cy="3337560"/>
          </a:xfrm>
          <a:prstGeom prst="rect">
            <a:avLst/>
          </a:prstGeom>
          <a:noFill/>
        </p:spPr>
        <p:txBody>
          <a:bodyPr wrap="square" lIns="0" rIns="0" tIns="0" bIns="0" anchor="t">
            <a:spAutoFit/>
          </a:bodyPr>
          <a:lstStyle/>
          <a:p>
            <a:pPr algn="l">
              <a:spcAft>
                <a:spcPts val="100"/>
              </a:spcAft>
            </a:pPr>
            <a:r>
              <a:rPr sz="1600" b="1">
                <a:solidFill>
                  <a:srgbClr val="2E7D32"/>
                </a:solidFill>
                <a:latin typeface="Arial"/>
              </a:rPr>
              <a:t>Complex adaptive systems</a:t>
            </a:r>
          </a:p>
          <a:p>
            <a:pPr algn="l">
              <a:spcAft>
                <a:spcPts val="800"/>
              </a:spcAft>
            </a:pPr>
            <a:r>
              <a:rPr sz="1000" b="0">
                <a:solidFill>
                  <a:srgbClr val="5E6977"/>
                </a:solidFill>
                <a:latin typeface="Arial"/>
              </a:rPr>
              <a:t>Choi, Dooley and Rungtusanatham (2001)</a:t>
            </a:r>
          </a:p>
          <a:p>
            <a:pPr algn="l">
              <a:spcAft>
                <a:spcPts val="700"/>
              </a:spcAft>
            </a:pPr>
            <a:r>
              <a:rPr sz="1200" b="0">
                <a:solidFill>
                  <a:srgbClr val="131E29"/>
                </a:solidFill>
                <a:latin typeface="Arial"/>
              </a:rPr>
              <a:t>No one controls the network. System behaviour emerges from many firms adapting at once.</a:t>
            </a:r>
          </a:p>
          <a:p>
            <a:pPr algn="l">
              <a:spcAft>
                <a:spcPts val="700"/>
              </a:spcAft>
            </a:pPr>
            <a:r>
              <a:rPr sz="1200" b="1">
                <a:solidFill>
                  <a:srgbClr val="2E7D32"/>
                </a:solidFill>
                <a:latin typeface="Arial"/>
              </a:rPr>
              <a:t>Red Sea: </a:t>
            </a:r>
            <a:r>
              <a:rPr sz="1200" b="0">
                <a:solidFill>
                  <a:srgbClr val="131E29"/>
                </a:solidFill>
                <a:latin typeface="Arial"/>
              </a:rPr>
              <a:t>Thousands of shippers rerouted and shipped early. Ships bunched up at Singapore, freight rates rose and peak season arrived early (June 2024): nobody planned it.</a:t>
            </a:r>
          </a:p>
          <a:p>
            <a:pPr algn="l">
              <a:spcAft>
                <a:spcPts val="0"/>
              </a:spcAft>
            </a:pPr>
            <a:r>
              <a:rPr sz="1200" b="1">
                <a:solidFill>
                  <a:srgbClr val="B4232F"/>
                </a:solidFill>
                <a:latin typeface="Arial"/>
              </a:rPr>
              <a:t>So what: </a:t>
            </a:r>
            <a:r>
              <a:rPr sz="1200" b="0">
                <a:solidFill>
                  <a:srgbClr val="131E29"/>
                </a:solidFill>
                <a:latin typeface="Arial"/>
              </a:rPr>
              <a:t>Your resilience depends on what everyone else does; you can adapt, not control.</a:t>
            </a:r>
          </a:p>
        </p:txBody>
      </p:sp>
      <p:sp>
        <p:nvSpPr>
          <p:cNvPr id="14" name="React box"/>
          <p:cNvSpPr/>
          <p:nvPr/>
        </p:nvSpPr>
        <p:spPr>
          <a:xfrm>
            <a:off x="813816" y="5230368"/>
            <a:ext cx="10570464" cy="896112"/>
          </a:xfrm>
          <a:prstGeom prst="roundRect">
            <a:avLst>
              <a:gd name="adj" fmla="val 10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act text"/>
          <p:cNvSpPr txBox="1"/>
          <p:nvPr/>
        </p:nvSpPr>
        <p:spPr>
          <a:xfrm>
            <a:off x="1051560" y="5230368"/>
            <a:ext cx="10149840" cy="896112"/>
          </a:xfrm>
          <a:prstGeom prst="rect">
            <a:avLst/>
          </a:prstGeom>
          <a:noFill/>
        </p:spPr>
        <p:txBody>
          <a:bodyPr wrap="square" lIns="0" rIns="0" tIns="0" bIns="0" anchor="ctr">
            <a:spAutoFit/>
          </a:bodyPr>
          <a:lstStyle/>
          <a:p>
            <a:pPr algn="l">
              <a:spcAft>
                <a:spcPts val="300"/>
              </a:spcAft>
            </a:pPr>
            <a:r>
              <a:rPr sz="1500" b="1">
                <a:solidFill>
                  <a:srgbClr val="9ADBE8"/>
                </a:solidFill>
                <a:latin typeface="Arial"/>
              </a:rPr>
              <a:t>Pairs, 2 minutes: </a:t>
            </a:r>
            <a:r>
              <a:rPr sz="1500" b="0">
                <a:solidFill>
                  <a:srgbClr val="FFFFFF"/>
                </a:solidFill>
                <a:latin typeface="Arial"/>
              </a:rPr>
              <a:t>H&amp;M asked suppliers to ship early. If every retailer does the same, what happens, and which lens explains it? </a:t>
            </a:r>
          </a:p>
          <a:p>
            <a:pPr algn="l">
              <a:spcAft>
                <a:spcPts val="0"/>
              </a:spcAft>
            </a:pPr>
            <a:r>
              <a:rPr sz="1500" b="0">
                <a:solidFill>
                  <a:srgbClr val="E6DBF5"/>
                </a:solidFill>
                <a:latin typeface="Arial"/>
              </a:rPr>
              <a:t>Then: is resilience still a competitive advantage once rivals can copy it?</a:t>
            </a:r>
          </a:p>
        </p:txBody>
      </p:sp>
      <p:sp>
        <p:nvSpPr>
          <p:cNvPr id="16" name="Source"/>
          <p:cNvSpPr txBox="1"/>
          <p:nvPr/>
        </p:nvSpPr>
        <p:spPr>
          <a:xfrm>
            <a:off x="813816" y="6291072"/>
            <a:ext cx="9052560" cy="237744"/>
          </a:xfrm>
          <a:prstGeom prst="rect">
            <a:avLst/>
          </a:prstGeom>
          <a:noFill/>
        </p:spPr>
        <p:txBody>
          <a:bodyPr wrap="square" lIns="0" rIns="0" tIns="0" bIns="0" anchor="t">
            <a:spAutoFit/>
          </a:bodyPr>
          <a:lstStyle/>
          <a:p>
            <a:pPr algn="l">
              <a:spcAft>
                <a:spcPts val="0"/>
              </a:spcAft>
            </a:pPr>
            <a:r>
              <a:rPr sz="1000" b="0">
                <a:solidFill>
                  <a:srgbClr val="5E6977"/>
                </a:solidFill>
                <a:latin typeface="Arial"/>
              </a:rPr>
              <a:t>Sources: Barney (1991); Teece, Pisano and Shuen (1997); Teece (2007); Choi, Dooley and Rungtusanatham (2001); Bloomberg via gCaptain (21 Jun 2024)</a:t>
            </a:r>
          </a:p>
        </p:txBody>
      </p:sp>
      <p:sp>
        <p:nvSpPr>
          <p:cNvPr id="17" name="Page number"/>
          <p:cNvSpPr txBox="1"/>
          <p:nvPr/>
        </p:nvSpPr>
        <p:spPr>
          <a:xfrm>
            <a:off x="10058400" y="6291072"/>
            <a:ext cx="1316736" cy="237744"/>
          </a:xfrm>
          <a:prstGeom prst="rect">
            <a:avLst/>
          </a:prstGeom>
          <a:noFill/>
        </p:spPr>
        <p:txBody>
          <a:bodyPr wrap="square" lIns="0" rIns="0" tIns="0" bIns="0" anchor="t">
            <a:spAutoFit/>
          </a:bodyPr>
          <a:lstStyle/>
          <a:p>
            <a:pPr algn="r">
              <a:spcAft>
                <a:spcPts val="0"/>
              </a:spcAft>
            </a:pPr>
            <a:r>
              <a:rPr sz="1200" b="0">
                <a:solidFill>
                  <a:srgbClr val="5E6977"/>
                </a:solidFill>
                <a:latin typeface="Arial"/>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579BE2F-FC29-94C1-77DA-279451C7DC8F}"/>
              </a:ext>
            </a:extLst>
          </p:cNvPr>
          <p:cNvSpPr txBox="1">
            <a:spLocks/>
          </p:cNvSpPr>
          <p:nvPr/>
        </p:nvSpPr>
        <p:spPr>
          <a:xfrm>
            <a:off x="658368" y="89668"/>
            <a:ext cx="9671539" cy="1317101"/>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b="1" dirty="0">
                <a:solidFill>
                  <a:srgbClr val="440099"/>
                </a:solidFill>
                <a:latin typeface="Arial"/>
                <a:cs typeface="Arial" pitchFamily="34"/>
              </a:rPr>
              <a:t>Defining Sustainable Supply Chains</a:t>
            </a:r>
          </a:p>
          <a:p>
            <a:endParaRPr lang="en-US" sz="2400" b="1" dirty="0">
              <a:solidFill>
                <a:schemeClr val="accent1">
                  <a:lumMod val="75000"/>
                </a:schemeClr>
              </a:solidFill>
              <a:latin typeface="+mn-lt"/>
              <a:cs typeface="Arial" pitchFamily="34"/>
            </a:endParaRPr>
          </a:p>
        </p:txBody>
      </p:sp>
      <p:sp>
        <p:nvSpPr>
          <p:cNvPr id="9" name="AutoShape 2" descr="Business Strategy Hierarchy - MBA Knowledge Base">
            <a:extLst>
              <a:ext uri="{FF2B5EF4-FFF2-40B4-BE49-F238E27FC236}">
                <a16:creationId xmlns:a16="http://schemas.microsoft.com/office/drawing/2014/main" id="{041C9725-8E4A-99F2-2CDF-F2DAC4C03D60}"/>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endParaRPr lang="en-GB" sz="1200" dirty="0"/>
          </a:p>
        </p:txBody>
      </p:sp>
      <p:sp>
        <p:nvSpPr>
          <p:cNvPr id="13" name="TextBox 12">
            <a:extLst>
              <a:ext uri="{FF2B5EF4-FFF2-40B4-BE49-F238E27FC236}">
                <a16:creationId xmlns:a16="http://schemas.microsoft.com/office/drawing/2014/main" id="{7B7D52AE-BF49-E592-CEE3-1495DCC0F232}"/>
              </a:ext>
            </a:extLst>
          </p:cNvPr>
          <p:cNvSpPr txBox="1"/>
          <p:nvPr/>
        </p:nvSpPr>
        <p:spPr>
          <a:xfrm>
            <a:off x="93785" y="1125416"/>
            <a:ext cx="11359661" cy="5139869"/>
          </a:xfrm>
          <a:prstGeom prst="rect">
            <a:avLst/>
          </a:prstGeom>
          <a:noFill/>
        </p:spPr>
        <p:txBody>
          <a:bodyPr wrap="square" rtlCol="0">
            <a:spAutoFit/>
          </a:bodyPr>
          <a:lstStyle/>
          <a:p>
            <a:pPr marL="304815" indent="-304815" algn="just">
              <a:buFont typeface="Arial" panose="020B0604020202020204" pitchFamily="34" charset="0"/>
              <a:buChar char="•"/>
            </a:pPr>
            <a:endParaRPr lang="en-GB" altLang="en-US" sz="1867" dirty="0">
              <a:solidFill>
                <a:schemeClr val="tx2"/>
              </a:solidFill>
            </a:endParaRPr>
          </a:p>
          <a:p>
            <a:pPr marL="304815" indent="-304815" algn="just">
              <a:buFont typeface="Arial" panose="020B0604020202020204" pitchFamily="34" charset="0"/>
              <a:buChar char="•"/>
            </a:pPr>
            <a:r>
              <a:rPr lang="en-GB" sz="2400" dirty="0">
                <a:solidFill>
                  <a:srgbClr val="131E29"/>
                </a:solidFill>
                <a:latin typeface="Arial"/>
              </a:rPr>
              <a:t>The management of material, information and capital flows as well as cooperation among companies along the supply chain while taking goals from all three dimensions of sustainable development — </a:t>
            </a:r>
            <a:r>
              <a:rPr lang="en-GB" sz="2400" dirty="0">
                <a:solidFill>
                  <a:srgbClr val="B4232F"/>
                </a:solidFill>
                <a:latin typeface="Arial"/>
              </a:rPr>
              <a:t>economic, environmental and social </a:t>
            </a:r>
            <a:r>
              <a:rPr lang="en-GB" sz="2400" dirty="0">
                <a:solidFill>
                  <a:srgbClr val="131E29"/>
                </a:solidFill>
                <a:latin typeface="Arial"/>
              </a:rPr>
              <a:t>— into account, which are derived from customer and stakeholder requirements (</a:t>
            </a:r>
            <a:r>
              <a:rPr lang="en-GB" sz="2400" dirty="0" err="1">
                <a:solidFill>
                  <a:srgbClr val="131E29"/>
                </a:solidFill>
                <a:latin typeface="Arial"/>
              </a:rPr>
              <a:t>Seuring</a:t>
            </a:r>
            <a:r>
              <a:rPr lang="en-GB" sz="2400" dirty="0">
                <a:solidFill>
                  <a:srgbClr val="131E29"/>
                </a:solidFill>
                <a:latin typeface="Arial"/>
              </a:rPr>
              <a:t> and Muller, 2008).</a:t>
            </a:r>
          </a:p>
          <a:p>
            <a:pPr marL="304815" indent="-304815" algn="just">
              <a:buFont typeface="Arial" panose="020B0604020202020204" pitchFamily="34" charset="0"/>
              <a:buChar char="•"/>
            </a:pPr>
            <a:endParaRPr lang="en-GB" altLang="en-US" sz="2400" dirty="0">
              <a:solidFill>
                <a:srgbClr val="002060"/>
              </a:solidFill>
              <a:cs typeface="Calibri"/>
            </a:endParaRPr>
          </a:p>
          <a:p>
            <a:pPr marL="304815" indent="-304815" algn="just">
              <a:buFont typeface="Arial" panose="020B0604020202020204" pitchFamily="34" charset="0"/>
              <a:buChar char="•"/>
            </a:pPr>
            <a:endParaRPr lang="en-GB" altLang="en-US" sz="2400" dirty="0">
              <a:solidFill>
                <a:schemeClr val="tx2"/>
              </a:solidFill>
              <a:cs typeface="Calibri"/>
            </a:endParaRPr>
          </a:p>
          <a:p>
            <a:pPr marL="304815" indent="-304815" algn="just">
              <a:buFont typeface="Arial" panose="020B0604020202020204" pitchFamily="34" charset="0"/>
              <a:buChar char="•"/>
            </a:pPr>
            <a:endParaRPr lang="en-GB" altLang="en-US" sz="2400" dirty="0">
              <a:solidFill>
                <a:srgbClr val="002060"/>
              </a:solidFill>
              <a:cs typeface="Calibri"/>
            </a:endParaRPr>
          </a:p>
          <a:p>
            <a:pPr marL="304815" indent="-304815" algn="just">
              <a:buFont typeface="Arial" panose="020B0604020202020204" pitchFamily="34" charset="0"/>
              <a:buChar char="•"/>
            </a:pPr>
            <a:r>
              <a:rPr lang="en-GB" altLang="en-US" sz="2400" dirty="0">
                <a:solidFill>
                  <a:srgbClr val="131E29"/>
                </a:solidFill>
                <a:latin typeface="Arial"/>
                <a:cs typeface="Calibri"/>
              </a:rPr>
              <a:t>The management of </a:t>
            </a:r>
            <a:r>
              <a:rPr lang="en-GB" altLang="en-US" sz="2400" i="1" dirty="0">
                <a:solidFill>
                  <a:srgbClr val="131E29"/>
                </a:solidFill>
                <a:latin typeface="Arial"/>
                <a:cs typeface="Calibri"/>
              </a:rPr>
              <a:t>environmental, social and economic</a:t>
            </a:r>
            <a:r>
              <a:rPr lang="en-GB" altLang="en-US" sz="2400" dirty="0">
                <a:solidFill>
                  <a:srgbClr val="131E29"/>
                </a:solidFill>
                <a:latin typeface="Arial"/>
                <a:cs typeface="Calibri"/>
              </a:rPr>
              <a:t> impacts and the encouragements of good governance practices, throughout the lifecycles of goods and services" (UN Global Compact, 2015).</a:t>
            </a:r>
            <a:endParaRPr lang="en-GB" altLang="en-US" sz="2400" dirty="0">
              <a:solidFill>
                <a:srgbClr val="002060"/>
              </a:solidFill>
            </a:endParaRPr>
          </a:p>
          <a:p>
            <a:pPr marL="304815" indent="-304815" algn="just">
              <a:buFont typeface="Arial" panose="020B0604020202020204" pitchFamily="34" charset="0"/>
              <a:buChar char="•"/>
            </a:pPr>
            <a:endParaRPr lang="en-GB" altLang="en-US" sz="2400" dirty="0">
              <a:solidFill>
                <a:schemeClr val="tx2"/>
              </a:solidFill>
            </a:endParaRPr>
          </a:p>
          <a:p>
            <a:pPr algn="just"/>
            <a:endParaRPr lang="en-GB" altLang="en-US" sz="2133" dirty="0">
              <a:solidFill>
                <a:srgbClr val="002060"/>
              </a:solidFill>
            </a:endParaRPr>
          </a:p>
        </p:txBody>
      </p:sp>
    </p:spTree>
    <p:extLst>
      <p:ext uri="{BB962C8B-B14F-4D97-AF65-F5344CB8AC3E}">
        <p14:creationId xmlns:p14="http://schemas.microsoft.com/office/powerpoint/2010/main" val="2273220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7C23A72-CEA3-4547-96C0-A55D0700B274}"/>
              </a:ext>
            </a:extLst>
          </p:cNvPr>
          <p:cNvSpPr>
            <a:spLocks noGrp="1"/>
          </p:cNvSpPr>
          <p:nvPr/>
        </p:nvSpPr>
        <p:spPr>
          <a:xfrm>
            <a:off x="381000" y="285750"/>
            <a:ext cx="11430000" cy="619125"/>
          </a:xfrm>
          <a:prstGeom prst="rect">
            <a:avLst/>
          </a:prstGeom>
          <a:noFill/>
          <a:ln w="0">
            <a:noFill/>
            <a:prstDash val="solid"/>
          </a:ln>
        </p:spPr>
        <p:txBody>
          <a:bodyPr/>
          <a:lstStyle>
            <a:defPPr>
              <a:defRPr sz="3300" b="1">
                <a:solidFill>
                  <a:srgbClr val="420099"/>
                </a:solidFill>
                <a:latin typeface="Arial"/>
                <a:ea typeface="Arial"/>
                <a:cs typeface="Arial"/>
              </a:defRPr>
            </a:defPPr>
            <a:lvl1pPr>
              <a:defRPr sz="3300" b="1">
                <a:solidFill>
                  <a:srgbClr val="420099"/>
                </a:solidFill>
                <a:latin typeface="Arial"/>
                <a:ea typeface="Arial"/>
                <a:cs typeface="Arial"/>
              </a:defRPr>
            </a:lvl1pPr>
            <a:lvl2pPr>
              <a:defRPr sz="3300" b="1">
                <a:solidFill>
                  <a:srgbClr val="420099"/>
                </a:solidFill>
                <a:latin typeface="Arial"/>
                <a:ea typeface="Arial"/>
                <a:cs typeface="Arial"/>
              </a:defRPr>
            </a:lvl2pPr>
            <a:lvl3pPr>
              <a:defRPr sz="3300" b="1">
                <a:solidFill>
                  <a:srgbClr val="420099"/>
                </a:solidFill>
                <a:latin typeface="Arial"/>
                <a:ea typeface="Arial"/>
                <a:cs typeface="Arial"/>
              </a:defRPr>
            </a:lvl3pPr>
            <a:lvl4pPr>
              <a:defRPr sz="3300" b="1">
                <a:solidFill>
                  <a:srgbClr val="420099"/>
                </a:solidFill>
                <a:latin typeface="Arial"/>
                <a:ea typeface="Arial"/>
                <a:cs typeface="Arial"/>
              </a:defRPr>
            </a:lvl4pPr>
            <a:lvl5pPr>
              <a:defRPr sz="3300" b="1">
                <a:solidFill>
                  <a:srgbClr val="420099"/>
                </a:solidFill>
                <a:latin typeface="Arial"/>
                <a:ea typeface="Arial"/>
                <a:cs typeface="Arial"/>
              </a:defRPr>
            </a:lvl5pPr>
            <a:lvl6pPr>
              <a:defRPr sz="3300" b="1">
                <a:solidFill>
                  <a:srgbClr val="420099"/>
                </a:solidFill>
                <a:latin typeface="Arial"/>
                <a:ea typeface="Arial"/>
                <a:cs typeface="Arial"/>
              </a:defRPr>
            </a:lvl6pPr>
            <a:lvl7pPr>
              <a:defRPr sz="3300" b="1">
                <a:solidFill>
                  <a:srgbClr val="420099"/>
                </a:solidFill>
                <a:latin typeface="Arial"/>
                <a:ea typeface="Arial"/>
                <a:cs typeface="Arial"/>
              </a:defRPr>
            </a:lvl7pPr>
            <a:lvl8pPr>
              <a:defRPr sz="3300" b="1">
                <a:solidFill>
                  <a:srgbClr val="420099"/>
                </a:solidFill>
                <a:latin typeface="Arial"/>
                <a:ea typeface="Arial"/>
                <a:cs typeface="Arial"/>
              </a:defRPr>
            </a:lvl8pPr>
            <a:lvl9pPr>
              <a:defRPr sz="3300" b="1">
                <a:solidFill>
                  <a:srgbClr val="420099"/>
                </a:solidFill>
                <a:latin typeface="Arial"/>
                <a:ea typeface="Arial"/>
                <a:cs typeface="Arial"/>
              </a:defRPr>
            </a:lvl9pPr>
          </a:lstStyle>
          <a:p>
            <a:pPr algn="l">
              <a:defRPr sz="3300" b="1">
                <a:solidFill>
                  <a:srgbClr val="420099"/>
                </a:solidFill>
                <a:latin typeface="Arial"/>
                <a:ea typeface="Arial"/>
                <a:cs typeface="Arial"/>
              </a:defRPr>
            </a:pPr>
            <a:r>
              <a:rPr sz="3000" b="1">
                <a:solidFill>
                  <a:srgbClr val="440099"/>
                </a:solidFill>
                <a:latin typeface="Arial"/>
                <a:ea typeface="Arial"/>
                <a:cs typeface="Arial"/>
              </a:rPr>
              <a:t>Supply chain sustainability: the four Ps</a:t>
            </a:r>
          </a:p>
        </p:txBody>
      </p:sp>
      <p:sp>
        <p:nvSpPr>
          <p:cNvPr id="2" name="Rectangle 1">
            <a:extLst>
              <a:ext uri="{FF2B5EF4-FFF2-40B4-BE49-F238E27FC236}">
                <a16:creationId xmlns:a16="http://schemas.microsoft.com/office/drawing/2014/main" id="{78652AC0-29BA-4B72-8C3D-BD48889ED9FF}"/>
              </a:ext>
            </a:extLst>
          </p:cNvPr>
          <p:cNvSpPr>
            <a:spLocks noGrp="1"/>
          </p:cNvSpPr>
          <p:nvPr/>
        </p:nvSpPr>
        <p:spPr>
          <a:xfrm>
            <a:off x="381000" y="1066800"/>
            <a:ext cx="11430000" cy="428625"/>
          </a:xfrm>
          <a:prstGeom prst="rect">
            <a:avLst/>
          </a:prstGeom>
          <a:noFill/>
          <a:ln w="0">
            <a:noFill/>
            <a:prstDash val="solid"/>
          </a:ln>
        </p:spPr>
        <p:txBody>
          <a:bodyPr/>
          <a:lstStyle>
            <a:defPPr>
              <a:defRPr sz="2025" b="0">
                <a:solidFill>
                  <a:srgbClr val="173B3B"/>
                </a:solidFill>
                <a:latin typeface="Arial"/>
                <a:ea typeface="Arial"/>
                <a:cs typeface="Arial"/>
              </a:defRPr>
            </a:defPPr>
            <a:lvl1pPr>
              <a:defRPr sz="2025" b="0">
                <a:solidFill>
                  <a:srgbClr val="173B3B"/>
                </a:solidFill>
                <a:latin typeface="Arial"/>
                <a:ea typeface="Arial"/>
                <a:cs typeface="Arial"/>
              </a:defRPr>
            </a:lvl1pPr>
            <a:lvl2pPr>
              <a:defRPr sz="2025" b="0">
                <a:solidFill>
                  <a:srgbClr val="173B3B"/>
                </a:solidFill>
                <a:latin typeface="Arial"/>
                <a:ea typeface="Arial"/>
                <a:cs typeface="Arial"/>
              </a:defRPr>
            </a:lvl2pPr>
            <a:lvl3pPr>
              <a:defRPr sz="2025" b="0">
                <a:solidFill>
                  <a:srgbClr val="173B3B"/>
                </a:solidFill>
                <a:latin typeface="Arial"/>
                <a:ea typeface="Arial"/>
                <a:cs typeface="Arial"/>
              </a:defRPr>
            </a:lvl3pPr>
            <a:lvl4pPr>
              <a:defRPr sz="2025" b="0">
                <a:solidFill>
                  <a:srgbClr val="173B3B"/>
                </a:solidFill>
                <a:latin typeface="Arial"/>
                <a:ea typeface="Arial"/>
                <a:cs typeface="Arial"/>
              </a:defRPr>
            </a:lvl4pPr>
            <a:lvl5pPr>
              <a:defRPr sz="2025" b="0">
                <a:solidFill>
                  <a:srgbClr val="173B3B"/>
                </a:solidFill>
                <a:latin typeface="Arial"/>
                <a:ea typeface="Arial"/>
                <a:cs typeface="Arial"/>
              </a:defRPr>
            </a:lvl5pPr>
            <a:lvl6pPr>
              <a:defRPr sz="2025" b="0">
                <a:solidFill>
                  <a:srgbClr val="173B3B"/>
                </a:solidFill>
                <a:latin typeface="Arial"/>
                <a:ea typeface="Arial"/>
                <a:cs typeface="Arial"/>
              </a:defRPr>
            </a:lvl6pPr>
            <a:lvl7pPr>
              <a:defRPr sz="2025" b="0">
                <a:solidFill>
                  <a:srgbClr val="173B3B"/>
                </a:solidFill>
                <a:latin typeface="Arial"/>
                <a:ea typeface="Arial"/>
                <a:cs typeface="Arial"/>
              </a:defRPr>
            </a:lvl7pPr>
            <a:lvl8pPr>
              <a:defRPr sz="2025" b="0">
                <a:solidFill>
                  <a:srgbClr val="173B3B"/>
                </a:solidFill>
                <a:latin typeface="Arial"/>
                <a:ea typeface="Arial"/>
                <a:cs typeface="Arial"/>
              </a:defRPr>
            </a:lvl8pPr>
            <a:lvl9pPr>
              <a:defRPr sz="2025" b="0">
                <a:solidFill>
                  <a:srgbClr val="173B3B"/>
                </a:solidFill>
                <a:latin typeface="Arial"/>
                <a:ea typeface="Arial"/>
                <a:cs typeface="Arial"/>
              </a:defRPr>
            </a:lvl9pPr>
          </a:lstStyle>
          <a:p>
            <a:pPr>
              <a:defRPr sz="2025" b="0">
                <a:solidFill>
                  <a:srgbClr val="173B3B"/>
                </a:solidFill>
                <a:latin typeface="Arial"/>
                <a:ea typeface="Arial"/>
                <a:cs typeface="Arial"/>
              </a:defRPr>
            </a:pPr>
            <a:r>
              <a:rPr sz="2000" b="0">
                <a:solidFill>
                  <a:srgbClr val="131E29"/>
                </a:solidFill>
                <a:latin typeface="Arial"/>
                <a:ea typeface="Arial"/>
                <a:cs typeface="Arial"/>
              </a:rPr>
              <a:t>Balance environmental, social and economic outcomes, guided by purpose</a:t>
            </a:r>
          </a:p>
        </p:txBody>
      </p:sp>
      <p:pic>
        <p:nvPicPr>
          <p:cNvPr id="3" name="Picture 2">
            <a:extLst>
              <a:ext uri="{FF2B5EF4-FFF2-40B4-BE49-F238E27FC236}">
                <a16:creationId xmlns:a16="http://schemas.microsoft.com/office/drawing/2014/main" id="{9DB0E591-ECD8-4B1E-AD23-A4D77D6D3842}"/>
              </a:ext>
            </a:extLst>
          </p:cNvPr>
          <p:cNvPicPr>
            <a:picLocks noChangeAspect="1"/>
          </p:cNvPicPr>
          <p:nvPr/>
        </p:nvPicPr>
        <p:blipFill>
          <a:blip r:embed="rId3"/>
          <a:stretch/>
        </p:blipFill>
        <p:spPr>
          <a:xfrm>
            <a:off x="285750" y="1953816"/>
            <a:ext cx="4143375" cy="3521869"/>
          </a:xfrm>
          <a:prstGeom prst="rect">
            <a:avLst/>
          </a:prstGeom>
        </p:spPr>
      </p:pic>
      <p:sp>
        <p:nvSpPr>
          <p:cNvPr id="4" name="Rectangle 3">
            <a:extLst>
              <a:ext uri="{FF2B5EF4-FFF2-40B4-BE49-F238E27FC236}">
                <a16:creationId xmlns:a16="http://schemas.microsoft.com/office/drawing/2014/main" id="{466CF415-34B4-494C-A8CF-11887F04A2E8}"/>
              </a:ext>
            </a:extLst>
          </p:cNvPr>
          <p:cNvSpPr>
            <a:spLocks noGrp="1"/>
          </p:cNvSpPr>
          <p:nvPr/>
        </p:nvSpPr>
        <p:spPr>
          <a:xfrm>
            <a:off x="428625" y="5591175"/>
            <a:ext cx="4000500" cy="666750"/>
          </a:xfrm>
          <a:prstGeom prst="rect">
            <a:avLst/>
          </a:prstGeom>
          <a:noFill/>
          <a:ln w="0">
            <a:noFill/>
            <a:prstDash val="solid"/>
          </a:ln>
        </p:spPr>
        <p:txBody>
          <a:bodyPr/>
          <a:lstStyle>
            <a:defPPr>
              <a:defRPr sz="1875" b="1">
                <a:solidFill>
                  <a:srgbClr val="420099"/>
                </a:solidFill>
                <a:latin typeface="Arial"/>
                <a:ea typeface="Arial"/>
                <a:cs typeface="Arial"/>
              </a:defRPr>
            </a:defPPr>
            <a:lvl1pPr>
              <a:defRPr sz="1875" b="1">
                <a:solidFill>
                  <a:srgbClr val="420099"/>
                </a:solidFill>
                <a:latin typeface="Arial"/>
                <a:ea typeface="Arial"/>
                <a:cs typeface="Arial"/>
              </a:defRPr>
            </a:lvl1pPr>
            <a:lvl2pPr>
              <a:defRPr sz="1875" b="1">
                <a:solidFill>
                  <a:srgbClr val="420099"/>
                </a:solidFill>
                <a:latin typeface="Arial"/>
                <a:ea typeface="Arial"/>
                <a:cs typeface="Arial"/>
              </a:defRPr>
            </a:lvl2pPr>
            <a:lvl3pPr>
              <a:defRPr sz="1875" b="1">
                <a:solidFill>
                  <a:srgbClr val="420099"/>
                </a:solidFill>
                <a:latin typeface="Arial"/>
                <a:ea typeface="Arial"/>
                <a:cs typeface="Arial"/>
              </a:defRPr>
            </a:lvl3pPr>
            <a:lvl4pPr>
              <a:defRPr sz="1875" b="1">
                <a:solidFill>
                  <a:srgbClr val="420099"/>
                </a:solidFill>
                <a:latin typeface="Arial"/>
                <a:ea typeface="Arial"/>
                <a:cs typeface="Arial"/>
              </a:defRPr>
            </a:lvl4pPr>
            <a:lvl5pPr>
              <a:defRPr sz="1875" b="1">
                <a:solidFill>
                  <a:srgbClr val="420099"/>
                </a:solidFill>
                <a:latin typeface="Arial"/>
                <a:ea typeface="Arial"/>
                <a:cs typeface="Arial"/>
              </a:defRPr>
            </a:lvl5pPr>
            <a:lvl6pPr>
              <a:defRPr sz="1875" b="1">
                <a:solidFill>
                  <a:srgbClr val="420099"/>
                </a:solidFill>
                <a:latin typeface="Arial"/>
                <a:ea typeface="Arial"/>
                <a:cs typeface="Arial"/>
              </a:defRPr>
            </a:lvl6pPr>
            <a:lvl7pPr>
              <a:defRPr sz="1875" b="1">
                <a:solidFill>
                  <a:srgbClr val="420099"/>
                </a:solidFill>
                <a:latin typeface="Arial"/>
                <a:ea typeface="Arial"/>
                <a:cs typeface="Arial"/>
              </a:defRPr>
            </a:lvl7pPr>
            <a:lvl8pPr>
              <a:defRPr sz="1875" b="1">
                <a:solidFill>
                  <a:srgbClr val="420099"/>
                </a:solidFill>
                <a:latin typeface="Arial"/>
                <a:ea typeface="Arial"/>
                <a:cs typeface="Arial"/>
              </a:defRPr>
            </a:lvl8pPr>
            <a:lvl9pPr>
              <a:defRPr sz="1875" b="1">
                <a:solidFill>
                  <a:srgbClr val="420099"/>
                </a:solidFill>
                <a:latin typeface="Arial"/>
                <a:ea typeface="Arial"/>
                <a:cs typeface="Arial"/>
              </a:defRPr>
            </a:lvl9pPr>
          </a:lstStyle>
          <a:p>
            <a:pPr>
              <a:defRPr sz="1875" b="1">
                <a:solidFill>
                  <a:srgbClr val="420099"/>
                </a:solidFill>
                <a:latin typeface="Arial"/>
                <a:ea typeface="Arial"/>
                <a:cs typeface="Arial"/>
              </a:defRPr>
            </a:pPr>
            <a:r>
              <a:rPr sz="1800" b="1">
                <a:solidFill>
                  <a:srgbClr val="440099"/>
                </a:solidFill>
                <a:latin typeface="Arial"/>
                <a:ea typeface="Arial"/>
                <a:cs typeface="Arial"/>
              </a:rPr>
              <a:t>Purpose guides decisions</a:t>
            </a:r>
          </a:p>
          <a:p>
            <a:pPr>
              <a:defRPr sz="1875" b="1">
                <a:solidFill>
                  <a:srgbClr val="420099"/>
                </a:solidFill>
                <a:latin typeface="Arial"/>
                <a:ea typeface="Arial"/>
                <a:cs typeface="Arial"/>
              </a:defRPr>
            </a:pPr>
            <a:r>
              <a:rPr sz="1800" b="1">
                <a:solidFill>
                  <a:srgbClr val="440099"/>
                </a:solidFill>
                <a:latin typeface="Arial"/>
                <a:ea typeface="Arial"/>
                <a:cs typeface="Arial"/>
              </a:rPr>
              <a:t>across all three outcomes</a:t>
            </a:r>
          </a:p>
        </p:txBody>
      </p:sp>
      <p:sp>
        <p:nvSpPr>
          <p:cNvPr id="5" name="Rectangle 4">
            <a:extLst>
              <a:ext uri="{FF2B5EF4-FFF2-40B4-BE49-F238E27FC236}">
                <a16:creationId xmlns:a16="http://schemas.microsoft.com/office/drawing/2014/main" id="{83AFD42D-41D5-454C-8439-045E762D664E}"/>
              </a:ext>
            </a:extLst>
          </p:cNvPr>
          <p:cNvSpPr>
            <a:spLocks noGrp="1"/>
          </p:cNvSpPr>
          <p:nvPr/>
        </p:nvSpPr>
        <p:spPr>
          <a:xfrm>
            <a:off x="4905375" y="1857375"/>
            <a:ext cx="1571625" cy="361950"/>
          </a:xfrm>
          <a:prstGeom prst="rect">
            <a:avLst/>
          </a:prstGeom>
          <a:noFill/>
          <a:ln w="0">
            <a:noFill/>
            <a:prstDash val="solid"/>
          </a:ln>
        </p:spPr>
        <p:txBody>
          <a:bodyPr/>
          <a:lstStyle>
            <a:defPPr>
              <a:defRPr sz="2025" b="1">
                <a:solidFill>
                  <a:srgbClr val="087F8C"/>
                </a:solidFill>
                <a:latin typeface="Arial"/>
                <a:ea typeface="Arial"/>
                <a:cs typeface="Arial"/>
              </a:defRPr>
            </a:defPPr>
            <a:lvl1pPr>
              <a:defRPr sz="2025" b="1">
                <a:solidFill>
                  <a:srgbClr val="087F8C"/>
                </a:solidFill>
                <a:latin typeface="Arial"/>
                <a:ea typeface="Arial"/>
                <a:cs typeface="Arial"/>
              </a:defRPr>
            </a:lvl1pPr>
            <a:lvl2pPr>
              <a:defRPr sz="2025" b="1">
                <a:solidFill>
                  <a:srgbClr val="087F8C"/>
                </a:solidFill>
                <a:latin typeface="Arial"/>
                <a:ea typeface="Arial"/>
                <a:cs typeface="Arial"/>
              </a:defRPr>
            </a:lvl2pPr>
            <a:lvl3pPr>
              <a:defRPr sz="2025" b="1">
                <a:solidFill>
                  <a:srgbClr val="087F8C"/>
                </a:solidFill>
                <a:latin typeface="Arial"/>
                <a:ea typeface="Arial"/>
                <a:cs typeface="Arial"/>
              </a:defRPr>
            </a:lvl3pPr>
            <a:lvl4pPr>
              <a:defRPr sz="2025" b="1">
                <a:solidFill>
                  <a:srgbClr val="087F8C"/>
                </a:solidFill>
                <a:latin typeface="Arial"/>
                <a:ea typeface="Arial"/>
                <a:cs typeface="Arial"/>
              </a:defRPr>
            </a:lvl4pPr>
            <a:lvl5pPr>
              <a:defRPr sz="2025" b="1">
                <a:solidFill>
                  <a:srgbClr val="087F8C"/>
                </a:solidFill>
                <a:latin typeface="Arial"/>
                <a:ea typeface="Arial"/>
                <a:cs typeface="Arial"/>
              </a:defRPr>
            </a:lvl5pPr>
            <a:lvl6pPr>
              <a:defRPr sz="2025" b="1">
                <a:solidFill>
                  <a:srgbClr val="087F8C"/>
                </a:solidFill>
                <a:latin typeface="Arial"/>
                <a:ea typeface="Arial"/>
                <a:cs typeface="Arial"/>
              </a:defRPr>
            </a:lvl6pPr>
            <a:lvl7pPr>
              <a:defRPr sz="2025" b="1">
                <a:solidFill>
                  <a:srgbClr val="087F8C"/>
                </a:solidFill>
                <a:latin typeface="Arial"/>
                <a:ea typeface="Arial"/>
                <a:cs typeface="Arial"/>
              </a:defRPr>
            </a:lvl7pPr>
            <a:lvl8pPr>
              <a:defRPr sz="2025" b="1">
                <a:solidFill>
                  <a:srgbClr val="087F8C"/>
                </a:solidFill>
                <a:latin typeface="Arial"/>
                <a:ea typeface="Arial"/>
                <a:cs typeface="Arial"/>
              </a:defRPr>
            </a:lvl8pPr>
            <a:lvl9pPr>
              <a:defRPr sz="2025" b="1">
                <a:solidFill>
                  <a:srgbClr val="087F8C"/>
                </a:solidFill>
                <a:latin typeface="Arial"/>
                <a:ea typeface="Arial"/>
                <a:cs typeface="Arial"/>
              </a:defRPr>
            </a:lvl9pPr>
          </a:lstStyle>
          <a:p>
            <a:pPr>
              <a:defRPr sz="2025" b="1">
                <a:solidFill>
                  <a:srgbClr val="087F8C"/>
                </a:solidFill>
                <a:latin typeface="Arial"/>
                <a:ea typeface="Arial"/>
                <a:cs typeface="Arial"/>
              </a:defRPr>
            </a:pPr>
            <a:r>
              <a:rPr sz="2000" b="1">
                <a:solidFill>
                  <a:srgbClr val="005A8F"/>
                </a:solidFill>
                <a:latin typeface="Arial"/>
                <a:ea typeface="Arial"/>
                <a:cs typeface="Arial"/>
              </a:rPr>
              <a:t>PLANET</a:t>
            </a:r>
          </a:p>
        </p:txBody>
      </p:sp>
      <p:sp>
        <p:nvSpPr>
          <p:cNvPr id="6" name="Rectangle 5">
            <a:extLst>
              <a:ext uri="{FF2B5EF4-FFF2-40B4-BE49-F238E27FC236}">
                <a16:creationId xmlns:a16="http://schemas.microsoft.com/office/drawing/2014/main" id="{1CE8C763-21B5-4A06-9217-8EE1F2DA0394}"/>
              </a:ext>
            </a:extLst>
          </p:cNvPr>
          <p:cNvSpPr>
            <a:spLocks noGrp="1"/>
          </p:cNvSpPr>
          <p:nvPr/>
        </p:nvSpPr>
        <p:spPr>
          <a:xfrm>
            <a:off x="6572250" y="1857375"/>
            <a:ext cx="5238750" cy="333375"/>
          </a:xfrm>
          <a:prstGeom prst="rect">
            <a:avLst/>
          </a:prstGeom>
          <a:noFill/>
          <a:ln w="0">
            <a:noFill/>
            <a:prstDash val="solid"/>
          </a:ln>
        </p:spPr>
        <p:txBody>
          <a:bodyPr/>
          <a:lstStyle>
            <a:defPPr>
              <a:defRPr sz="1875" b="1">
                <a:solidFill>
                  <a:srgbClr val="173B3B"/>
                </a:solidFill>
                <a:latin typeface="Arial"/>
                <a:ea typeface="Arial"/>
                <a:cs typeface="Arial"/>
              </a:defRPr>
            </a:defPPr>
            <a:lvl1pPr>
              <a:defRPr sz="1875" b="1">
                <a:solidFill>
                  <a:srgbClr val="173B3B"/>
                </a:solidFill>
                <a:latin typeface="Arial"/>
                <a:ea typeface="Arial"/>
                <a:cs typeface="Arial"/>
              </a:defRPr>
            </a:lvl1pPr>
            <a:lvl2pPr>
              <a:defRPr sz="1875" b="1">
                <a:solidFill>
                  <a:srgbClr val="173B3B"/>
                </a:solidFill>
                <a:latin typeface="Arial"/>
                <a:ea typeface="Arial"/>
                <a:cs typeface="Arial"/>
              </a:defRPr>
            </a:lvl2pPr>
            <a:lvl3pPr>
              <a:defRPr sz="1875" b="1">
                <a:solidFill>
                  <a:srgbClr val="173B3B"/>
                </a:solidFill>
                <a:latin typeface="Arial"/>
                <a:ea typeface="Arial"/>
                <a:cs typeface="Arial"/>
              </a:defRPr>
            </a:lvl3pPr>
            <a:lvl4pPr>
              <a:defRPr sz="1875" b="1">
                <a:solidFill>
                  <a:srgbClr val="173B3B"/>
                </a:solidFill>
                <a:latin typeface="Arial"/>
                <a:ea typeface="Arial"/>
                <a:cs typeface="Arial"/>
              </a:defRPr>
            </a:lvl4pPr>
            <a:lvl5pPr>
              <a:defRPr sz="1875" b="1">
                <a:solidFill>
                  <a:srgbClr val="173B3B"/>
                </a:solidFill>
                <a:latin typeface="Arial"/>
                <a:ea typeface="Arial"/>
                <a:cs typeface="Arial"/>
              </a:defRPr>
            </a:lvl5pPr>
            <a:lvl6pPr>
              <a:defRPr sz="1875" b="1">
                <a:solidFill>
                  <a:srgbClr val="173B3B"/>
                </a:solidFill>
                <a:latin typeface="Arial"/>
                <a:ea typeface="Arial"/>
                <a:cs typeface="Arial"/>
              </a:defRPr>
            </a:lvl6pPr>
            <a:lvl7pPr>
              <a:defRPr sz="1875" b="1">
                <a:solidFill>
                  <a:srgbClr val="173B3B"/>
                </a:solidFill>
                <a:latin typeface="Arial"/>
                <a:ea typeface="Arial"/>
                <a:cs typeface="Arial"/>
              </a:defRPr>
            </a:lvl7pPr>
            <a:lvl8pPr>
              <a:defRPr sz="1875" b="1">
                <a:solidFill>
                  <a:srgbClr val="173B3B"/>
                </a:solidFill>
                <a:latin typeface="Arial"/>
                <a:ea typeface="Arial"/>
                <a:cs typeface="Arial"/>
              </a:defRPr>
            </a:lvl8pPr>
            <a:lvl9pPr>
              <a:defRPr sz="1875" b="1">
                <a:solidFill>
                  <a:srgbClr val="173B3B"/>
                </a:solidFill>
                <a:latin typeface="Arial"/>
                <a:ea typeface="Arial"/>
                <a:cs typeface="Arial"/>
              </a:defRPr>
            </a:lvl9pPr>
          </a:lstStyle>
          <a:p>
            <a:pPr>
              <a:defRPr sz="1875" b="1">
                <a:solidFill>
                  <a:srgbClr val="173B3B"/>
                </a:solidFill>
                <a:latin typeface="Arial"/>
                <a:ea typeface="Arial"/>
                <a:cs typeface="Arial"/>
              </a:defRPr>
            </a:pPr>
            <a:r>
              <a:rPr sz="1800" b="1">
                <a:solidFill>
                  <a:srgbClr val="131E29"/>
                </a:solidFill>
                <a:latin typeface="Arial"/>
                <a:ea typeface="Arial"/>
                <a:cs typeface="Arial"/>
              </a:rPr>
              <a:t>Environmental impact</a:t>
            </a:r>
          </a:p>
        </p:txBody>
      </p:sp>
      <p:sp>
        <p:nvSpPr>
          <p:cNvPr id="7" name="Rectangle 6">
            <a:extLst>
              <a:ext uri="{FF2B5EF4-FFF2-40B4-BE49-F238E27FC236}">
                <a16:creationId xmlns:a16="http://schemas.microsoft.com/office/drawing/2014/main" id="{DC90A364-9C94-4CCB-9E0B-7700DD9BC802}"/>
              </a:ext>
            </a:extLst>
          </p:cNvPr>
          <p:cNvSpPr>
            <a:spLocks noGrp="1"/>
          </p:cNvSpPr>
          <p:nvPr/>
        </p:nvSpPr>
        <p:spPr>
          <a:xfrm>
            <a:off x="6572250" y="2238375"/>
            <a:ext cx="5238750" cy="647700"/>
          </a:xfrm>
          <a:prstGeom prst="rect">
            <a:avLst/>
          </a:prstGeom>
          <a:noFill/>
          <a:ln w="0">
            <a:noFill/>
            <a:prstDash val="solid"/>
          </a:ln>
        </p:spPr>
        <p:txBody>
          <a:bodyPr/>
          <a:lstStyle>
            <a:defPPr>
              <a:defRPr sz="1800" b="0">
                <a:solidFill>
                  <a:srgbClr val="173B3B"/>
                </a:solidFill>
                <a:latin typeface="Arial"/>
                <a:ea typeface="Arial"/>
                <a:cs typeface="Arial"/>
              </a:defRPr>
            </a:defPPr>
            <a:lvl1pPr>
              <a:defRPr sz="1800" b="0">
                <a:solidFill>
                  <a:srgbClr val="173B3B"/>
                </a:solidFill>
                <a:latin typeface="Arial"/>
                <a:ea typeface="Arial"/>
                <a:cs typeface="Arial"/>
              </a:defRPr>
            </a:lvl1pPr>
            <a:lvl2pPr>
              <a:defRPr sz="1800" b="0">
                <a:solidFill>
                  <a:srgbClr val="173B3B"/>
                </a:solidFill>
                <a:latin typeface="Arial"/>
                <a:ea typeface="Arial"/>
                <a:cs typeface="Arial"/>
              </a:defRPr>
            </a:lvl2pPr>
            <a:lvl3pPr>
              <a:defRPr sz="1800" b="0">
                <a:solidFill>
                  <a:srgbClr val="173B3B"/>
                </a:solidFill>
                <a:latin typeface="Arial"/>
                <a:ea typeface="Arial"/>
                <a:cs typeface="Arial"/>
              </a:defRPr>
            </a:lvl3pPr>
            <a:lvl4pPr>
              <a:defRPr sz="1800" b="0">
                <a:solidFill>
                  <a:srgbClr val="173B3B"/>
                </a:solidFill>
                <a:latin typeface="Arial"/>
                <a:ea typeface="Arial"/>
                <a:cs typeface="Arial"/>
              </a:defRPr>
            </a:lvl4pPr>
            <a:lvl5pPr>
              <a:defRPr sz="1800" b="0">
                <a:solidFill>
                  <a:srgbClr val="173B3B"/>
                </a:solidFill>
                <a:latin typeface="Arial"/>
                <a:ea typeface="Arial"/>
                <a:cs typeface="Arial"/>
              </a:defRPr>
            </a:lvl5pPr>
            <a:lvl6pPr>
              <a:defRPr sz="1800" b="0">
                <a:solidFill>
                  <a:srgbClr val="173B3B"/>
                </a:solidFill>
                <a:latin typeface="Arial"/>
                <a:ea typeface="Arial"/>
                <a:cs typeface="Arial"/>
              </a:defRPr>
            </a:lvl6pPr>
            <a:lvl7pPr>
              <a:defRPr sz="1800" b="0">
                <a:solidFill>
                  <a:srgbClr val="173B3B"/>
                </a:solidFill>
                <a:latin typeface="Arial"/>
                <a:ea typeface="Arial"/>
                <a:cs typeface="Arial"/>
              </a:defRPr>
            </a:lvl7pPr>
            <a:lvl8pPr>
              <a:defRPr sz="1800" b="0">
                <a:solidFill>
                  <a:srgbClr val="173B3B"/>
                </a:solidFill>
                <a:latin typeface="Arial"/>
                <a:ea typeface="Arial"/>
                <a:cs typeface="Arial"/>
              </a:defRPr>
            </a:lvl8pPr>
            <a:lvl9pPr>
              <a:defRPr sz="1800" b="0">
                <a:solidFill>
                  <a:srgbClr val="173B3B"/>
                </a:solidFill>
                <a:latin typeface="Arial"/>
                <a:ea typeface="Arial"/>
                <a:cs typeface="Arial"/>
              </a:defRPr>
            </a:lvl9pPr>
          </a:lstStyle>
          <a:p>
            <a:pPr>
              <a:defRPr sz="1800" b="0">
                <a:solidFill>
                  <a:srgbClr val="173B3B"/>
                </a:solidFill>
                <a:latin typeface="Arial"/>
                <a:ea typeface="Arial"/>
                <a:cs typeface="Arial"/>
              </a:defRPr>
            </a:pPr>
            <a:r>
              <a:rPr sz="1800" b="0">
                <a:solidFill>
                  <a:srgbClr val="131E29"/>
                </a:solidFill>
                <a:latin typeface="Arial"/>
                <a:ea typeface="Arial"/>
                <a:cs typeface="Arial"/>
              </a:rPr>
              <a:t>Emissions, energy and water use,</a:t>
            </a:r>
          </a:p>
          <a:p>
            <a:pPr>
              <a:defRPr sz="1800" b="0">
                <a:solidFill>
                  <a:srgbClr val="173B3B"/>
                </a:solidFill>
                <a:latin typeface="Arial"/>
                <a:ea typeface="Arial"/>
                <a:cs typeface="Arial"/>
              </a:defRPr>
            </a:pPr>
            <a:r>
              <a:rPr sz="1800" b="0">
                <a:solidFill>
                  <a:srgbClr val="131E29"/>
                </a:solidFill>
                <a:latin typeface="Arial"/>
                <a:ea typeface="Arial"/>
                <a:cs typeface="Arial"/>
              </a:rPr>
              <a:t>waste, biodiversity and sourcing.</a:t>
            </a:r>
          </a:p>
        </p:txBody>
      </p:sp>
      <p:sp>
        <p:nvSpPr>
          <p:cNvPr id="8" name="Rectangle 7">
            <a:extLst>
              <a:ext uri="{FF2B5EF4-FFF2-40B4-BE49-F238E27FC236}">
                <a16:creationId xmlns:a16="http://schemas.microsoft.com/office/drawing/2014/main" id="{6AFF6435-3D99-48D4-AF34-9A33000F3AF4}"/>
              </a:ext>
            </a:extLst>
          </p:cNvPr>
          <p:cNvSpPr>
            <a:spLocks noGrp="1"/>
          </p:cNvSpPr>
          <p:nvPr/>
        </p:nvSpPr>
        <p:spPr>
          <a:xfrm>
            <a:off x="4905375" y="2952750"/>
            <a:ext cx="1571625" cy="361950"/>
          </a:xfrm>
          <a:prstGeom prst="rect">
            <a:avLst/>
          </a:prstGeom>
          <a:noFill/>
          <a:ln w="0">
            <a:noFill/>
            <a:prstDash val="solid"/>
          </a:ln>
        </p:spPr>
        <p:txBody>
          <a:bodyPr/>
          <a:lstStyle>
            <a:defPPr>
              <a:defRPr sz="2025" b="1">
                <a:solidFill>
                  <a:srgbClr val="087F8C"/>
                </a:solidFill>
                <a:latin typeface="Arial"/>
                <a:ea typeface="Arial"/>
                <a:cs typeface="Arial"/>
              </a:defRPr>
            </a:defPPr>
            <a:lvl1pPr>
              <a:defRPr sz="2025" b="1">
                <a:solidFill>
                  <a:srgbClr val="087F8C"/>
                </a:solidFill>
                <a:latin typeface="Arial"/>
                <a:ea typeface="Arial"/>
                <a:cs typeface="Arial"/>
              </a:defRPr>
            </a:lvl1pPr>
            <a:lvl2pPr>
              <a:defRPr sz="2025" b="1">
                <a:solidFill>
                  <a:srgbClr val="087F8C"/>
                </a:solidFill>
                <a:latin typeface="Arial"/>
                <a:ea typeface="Arial"/>
                <a:cs typeface="Arial"/>
              </a:defRPr>
            </a:lvl2pPr>
            <a:lvl3pPr>
              <a:defRPr sz="2025" b="1">
                <a:solidFill>
                  <a:srgbClr val="087F8C"/>
                </a:solidFill>
                <a:latin typeface="Arial"/>
                <a:ea typeface="Arial"/>
                <a:cs typeface="Arial"/>
              </a:defRPr>
            </a:lvl3pPr>
            <a:lvl4pPr>
              <a:defRPr sz="2025" b="1">
                <a:solidFill>
                  <a:srgbClr val="087F8C"/>
                </a:solidFill>
                <a:latin typeface="Arial"/>
                <a:ea typeface="Arial"/>
                <a:cs typeface="Arial"/>
              </a:defRPr>
            </a:lvl4pPr>
            <a:lvl5pPr>
              <a:defRPr sz="2025" b="1">
                <a:solidFill>
                  <a:srgbClr val="087F8C"/>
                </a:solidFill>
                <a:latin typeface="Arial"/>
                <a:ea typeface="Arial"/>
                <a:cs typeface="Arial"/>
              </a:defRPr>
            </a:lvl5pPr>
            <a:lvl6pPr>
              <a:defRPr sz="2025" b="1">
                <a:solidFill>
                  <a:srgbClr val="087F8C"/>
                </a:solidFill>
                <a:latin typeface="Arial"/>
                <a:ea typeface="Arial"/>
                <a:cs typeface="Arial"/>
              </a:defRPr>
            </a:lvl6pPr>
            <a:lvl7pPr>
              <a:defRPr sz="2025" b="1">
                <a:solidFill>
                  <a:srgbClr val="087F8C"/>
                </a:solidFill>
                <a:latin typeface="Arial"/>
                <a:ea typeface="Arial"/>
                <a:cs typeface="Arial"/>
              </a:defRPr>
            </a:lvl7pPr>
            <a:lvl8pPr>
              <a:defRPr sz="2025" b="1">
                <a:solidFill>
                  <a:srgbClr val="087F8C"/>
                </a:solidFill>
                <a:latin typeface="Arial"/>
                <a:ea typeface="Arial"/>
                <a:cs typeface="Arial"/>
              </a:defRPr>
            </a:lvl8pPr>
            <a:lvl9pPr>
              <a:defRPr sz="2025" b="1">
                <a:solidFill>
                  <a:srgbClr val="087F8C"/>
                </a:solidFill>
                <a:latin typeface="Arial"/>
                <a:ea typeface="Arial"/>
                <a:cs typeface="Arial"/>
              </a:defRPr>
            </a:lvl9pPr>
          </a:lstStyle>
          <a:p>
            <a:pPr>
              <a:defRPr sz="2025" b="1">
                <a:solidFill>
                  <a:srgbClr val="087F8C"/>
                </a:solidFill>
                <a:latin typeface="Arial"/>
                <a:ea typeface="Arial"/>
                <a:cs typeface="Arial"/>
              </a:defRPr>
            </a:pPr>
            <a:r>
              <a:rPr sz="2000" b="1">
                <a:solidFill>
                  <a:srgbClr val="005A8F"/>
                </a:solidFill>
                <a:latin typeface="Arial"/>
                <a:ea typeface="Arial"/>
                <a:cs typeface="Arial"/>
              </a:rPr>
              <a:t>PEOPLE</a:t>
            </a:r>
          </a:p>
        </p:txBody>
      </p:sp>
      <p:sp>
        <p:nvSpPr>
          <p:cNvPr id="9" name="Rectangle 8">
            <a:extLst>
              <a:ext uri="{FF2B5EF4-FFF2-40B4-BE49-F238E27FC236}">
                <a16:creationId xmlns:a16="http://schemas.microsoft.com/office/drawing/2014/main" id="{6DC01625-2DBC-4693-9613-CE3B5A06A982}"/>
              </a:ext>
            </a:extLst>
          </p:cNvPr>
          <p:cNvSpPr>
            <a:spLocks noGrp="1"/>
          </p:cNvSpPr>
          <p:nvPr/>
        </p:nvSpPr>
        <p:spPr>
          <a:xfrm>
            <a:off x="6572250" y="2952750"/>
            <a:ext cx="5238750" cy="333375"/>
          </a:xfrm>
          <a:prstGeom prst="rect">
            <a:avLst/>
          </a:prstGeom>
          <a:noFill/>
          <a:ln w="0">
            <a:noFill/>
            <a:prstDash val="solid"/>
          </a:ln>
        </p:spPr>
        <p:txBody>
          <a:bodyPr/>
          <a:lstStyle>
            <a:defPPr>
              <a:defRPr sz="1875" b="1">
                <a:solidFill>
                  <a:srgbClr val="173B3B"/>
                </a:solidFill>
                <a:latin typeface="Arial"/>
                <a:ea typeface="Arial"/>
                <a:cs typeface="Arial"/>
              </a:defRPr>
            </a:defPPr>
            <a:lvl1pPr>
              <a:defRPr sz="1875" b="1">
                <a:solidFill>
                  <a:srgbClr val="173B3B"/>
                </a:solidFill>
                <a:latin typeface="Arial"/>
                <a:ea typeface="Arial"/>
                <a:cs typeface="Arial"/>
              </a:defRPr>
            </a:lvl1pPr>
            <a:lvl2pPr>
              <a:defRPr sz="1875" b="1">
                <a:solidFill>
                  <a:srgbClr val="173B3B"/>
                </a:solidFill>
                <a:latin typeface="Arial"/>
                <a:ea typeface="Arial"/>
                <a:cs typeface="Arial"/>
              </a:defRPr>
            </a:lvl2pPr>
            <a:lvl3pPr>
              <a:defRPr sz="1875" b="1">
                <a:solidFill>
                  <a:srgbClr val="173B3B"/>
                </a:solidFill>
                <a:latin typeface="Arial"/>
                <a:ea typeface="Arial"/>
                <a:cs typeface="Arial"/>
              </a:defRPr>
            </a:lvl3pPr>
            <a:lvl4pPr>
              <a:defRPr sz="1875" b="1">
                <a:solidFill>
                  <a:srgbClr val="173B3B"/>
                </a:solidFill>
                <a:latin typeface="Arial"/>
                <a:ea typeface="Arial"/>
                <a:cs typeface="Arial"/>
              </a:defRPr>
            </a:lvl4pPr>
            <a:lvl5pPr>
              <a:defRPr sz="1875" b="1">
                <a:solidFill>
                  <a:srgbClr val="173B3B"/>
                </a:solidFill>
                <a:latin typeface="Arial"/>
                <a:ea typeface="Arial"/>
                <a:cs typeface="Arial"/>
              </a:defRPr>
            </a:lvl5pPr>
            <a:lvl6pPr>
              <a:defRPr sz="1875" b="1">
                <a:solidFill>
                  <a:srgbClr val="173B3B"/>
                </a:solidFill>
                <a:latin typeface="Arial"/>
                <a:ea typeface="Arial"/>
                <a:cs typeface="Arial"/>
              </a:defRPr>
            </a:lvl6pPr>
            <a:lvl7pPr>
              <a:defRPr sz="1875" b="1">
                <a:solidFill>
                  <a:srgbClr val="173B3B"/>
                </a:solidFill>
                <a:latin typeface="Arial"/>
                <a:ea typeface="Arial"/>
                <a:cs typeface="Arial"/>
              </a:defRPr>
            </a:lvl7pPr>
            <a:lvl8pPr>
              <a:defRPr sz="1875" b="1">
                <a:solidFill>
                  <a:srgbClr val="173B3B"/>
                </a:solidFill>
                <a:latin typeface="Arial"/>
                <a:ea typeface="Arial"/>
                <a:cs typeface="Arial"/>
              </a:defRPr>
            </a:lvl8pPr>
            <a:lvl9pPr>
              <a:defRPr sz="1875" b="1">
                <a:solidFill>
                  <a:srgbClr val="173B3B"/>
                </a:solidFill>
                <a:latin typeface="Arial"/>
                <a:ea typeface="Arial"/>
                <a:cs typeface="Arial"/>
              </a:defRPr>
            </a:lvl9pPr>
          </a:lstStyle>
          <a:p>
            <a:pPr>
              <a:defRPr sz="1875" b="1">
                <a:solidFill>
                  <a:srgbClr val="173B3B"/>
                </a:solidFill>
                <a:latin typeface="Arial"/>
                <a:ea typeface="Arial"/>
                <a:cs typeface="Arial"/>
              </a:defRPr>
            </a:pPr>
            <a:r>
              <a:rPr sz="1800" b="1">
                <a:solidFill>
                  <a:srgbClr val="131E29"/>
                </a:solidFill>
                <a:latin typeface="Arial"/>
                <a:ea typeface="Arial"/>
                <a:cs typeface="Arial"/>
              </a:rPr>
              <a:t>Impact on workers and communities</a:t>
            </a:r>
          </a:p>
        </p:txBody>
      </p:sp>
      <p:sp>
        <p:nvSpPr>
          <p:cNvPr id="10" name="Rectangle 9">
            <a:extLst>
              <a:ext uri="{FF2B5EF4-FFF2-40B4-BE49-F238E27FC236}">
                <a16:creationId xmlns:a16="http://schemas.microsoft.com/office/drawing/2014/main" id="{1DBE9686-9043-4CEF-BF98-7470B233B4C4}"/>
              </a:ext>
            </a:extLst>
          </p:cNvPr>
          <p:cNvSpPr>
            <a:spLocks noGrp="1"/>
          </p:cNvSpPr>
          <p:nvPr/>
        </p:nvSpPr>
        <p:spPr>
          <a:xfrm>
            <a:off x="6572250" y="3333750"/>
            <a:ext cx="5238750" cy="647700"/>
          </a:xfrm>
          <a:prstGeom prst="rect">
            <a:avLst/>
          </a:prstGeom>
          <a:noFill/>
          <a:ln w="0">
            <a:noFill/>
            <a:prstDash val="solid"/>
          </a:ln>
        </p:spPr>
        <p:txBody>
          <a:bodyPr/>
          <a:lstStyle>
            <a:defPPr>
              <a:defRPr sz="1800" b="0">
                <a:solidFill>
                  <a:srgbClr val="173B3B"/>
                </a:solidFill>
                <a:latin typeface="Arial"/>
                <a:ea typeface="Arial"/>
                <a:cs typeface="Arial"/>
              </a:defRPr>
            </a:defPPr>
            <a:lvl1pPr>
              <a:defRPr sz="1800" b="0">
                <a:solidFill>
                  <a:srgbClr val="173B3B"/>
                </a:solidFill>
                <a:latin typeface="Arial"/>
                <a:ea typeface="Arial"/>
                <a:cs typeface="Arial"/>
              </a:defRPr>
            </a:lvl1pPr>
            <a:lvl2pPr>
              <a:defRPr sz="1800" b="0">
                <a:solidFill>
                  <a:srgbClr val="173B3B"/>
                </a:solidFill>
                <a:latin typeface="Arial"/>
                <a:ea typeface="Arial"/>
                <a:cs typeface="Arial"/>
              </a:defRPr>
            </a:lvl2pPr>
            <a:lvl3pPr>
              <a:defRPr sz="1800" b="0">
                <a:solidFill>
                  <a:srgbClr val="173B3B"/>
                </a:solidFill>
                <a:latin typeface="Arial"/>
                <a:ea typeface="Arial"/>
                <a:cs typeface="Arial"/>
              </a:defRPr>
            </a:lvl3pPr>
            <a:lvl4pPr>
              <a:defRPr sz="1800" b="0">
                <a:solidFill>
                  <a:srgbClr val="173B3B"/>
                </a:solidFill>
                <a:latin typeface="Arial"/>
                <a:ea typeface="Arial"/>
                <a:cs typeface="Arial"/>
              </a:defRPr>
            </a:lvl4pPr>
            <a:lvl5pPr>
              <a:defRPr sz="1800" b="0">
                <a:solidFill>
                  <a:srgbClr val="173B3B"/>
                </a:solidFill>
                <a:latin typeface="Arial"/>
                <a:ea typeface="Arial"/>
                <a:cs typeface="Arial"/>
              </a:defRPr>
            </a:lvl5pPr>
            <a:lvl6pPr>
              <a:defRPr sz="1800" b="0">
                <a:solidFill>
                  <a:srgbClr val="173B3B"/>
                </a:solidFill>
                <a:latin typeface="Arial"/>
                <a:ea typeface="Arial"/>
                <a:cs typeface="Arial"/>
              </a:defRPr>
            </a:lvl6pPr>
            <a:lvl7pPr>
              <a:defRPr sz="1800" b="0">
                <a:solidFill>
                  <a:srgbClr val="173B3B"/>
                </a:solidFill>
                <a:latin typeface="Arial"/>
                <a:ea typeface="Arial"/>
                <a:cs typeface="Arial"/>
              </a:defRPr>
            </a:lvl7pPr>
            <a:lvl8pPr>
              <a:defRPr sz="1800" b="0">
                <a:solidFill>
                  <a:srgbClr val="173B3B"/>
                </a:solidFill>
                <a:latin typeface="Arial"/>
                <a:ea typeface="Arial"/>
                <a:cs typeface="Arial"/>
              </a:defRPr>
            </a:lvl8pPr>
            <a:lvl9pPr>
              <a:defRPr sz="1800" b="0">
                <a:solidFill>
                  <a:srgbClr val="173B3B"/>
                </a:solidFill>
                <a:latin typeface="Arial"/>
                <a:ea typeface="Arial"/>
                <a:cs typeface="Arial"/>
              </a:defRPr>
            </a:lvl9pPr>
          </a:lstStyle>
          <a:p>
            <a:pPr>
              <a:defRPr sz="1800" b="0">
                <a:solidFill>
                  <a:srgbClr val="173B3B"/>
                </a:solidFill>
                <a:latin typeface="Arial"/>
                <a:ea typeface="Arial"/>
                <a:cs typeface="Arial"/>
              </a:defRPr>
            </a:pPr>
            <a:r>
              <a:rPr sz="1800" b="0">
                <a:solidFill>
                  <a:srgbClr val="131E29"/>
                </a:solidFill>
                <a:latin typeface="Arial"/>
                <a:ea typeface="Arial"/>
                <a:cs typeface="Arial"/>
              </a:rPr>
              <a:t>Safe work, fair treatment, human rights</a:t>
            </a:r>
          </a:p>
          <a:p>
            <a:pPr>
              <a:defRPr sz="1800" b="0">
                <a:solidFill>
                  <a:srgbClr val="173B3B"/>
                </a:solidFill>
                <a:latin typeface="Arial"/>
                <a:ea typeface="Arial"/>
                <a:cs typeface="Arial"/>
              </a:defRPr>
            </a:pPr>
            <a:r>
              <a:rPr sz="1800" b="0">
                <a:solidFill>
                  <a:srgbClr val="131E29"/>
                </a:solidFill>
                <a:latin typeface="Arial"/>
                <a:ea typeface="Arial"/>
                <a:cs typeface="Arial"/>
              </a:rPr>
              <a:t>and customer safety across the chain.</a:t>
            </a:r>
          </a:p>
        </p:txBody>
      </p:sp>
      <p:sp>
        <p:nvSpPr>
          <p:cNvPr id="11" name="Rectangle 10">
            <a:extLst>
              <a:ext uri="{FF2B5EF4-FFF2-40B4-BE49-F238E27FC236}">
                <a16:creationId xmlns:a16="http://schemas.microsoft.com/office/drawing/2014/main" id="{7B355750-129F-4DB7-B473-7BAB3EC7DAED}"/>
              </a:ext>
            </a:extLst>
          </p:cNvPr>
          <p:cNvSpPr>
            <a:spLocks noGrp="1"/>
          </p:cNvSpPr>
          <p:nvPr/>
        </p:nvSpPr>
        <p:spPr>
          <a:xfrm>
            <a:off x="4905375" y="4048125"/>
            <a:ext cx="1571625" cy="361950"/>
          </a:xfrm>
          <a:prstGeom prst="rect">
            <a:avLst/>
          </a:prstGeom>
          <a:noFill/>
          <a:ln w="0">
            <a:noFill/>
            <a:prstDash val="solid"/>
          </a:ln>
        </p:spPr>
        <p:txBody>
          <a:bodyPr/>
          <a:lstStyle>
            <a:defPPr>
              <a:defRPr sz="2025" b="1">
                <a:solidFill>
                  <a:srgbClr val="087F8C"/>
                </a:solidFill>
                <a:latin typeface="Arial"/>
                <a:ea typeface="Arial"/>
                <a:cs typeface="Arial"/>
              </a:defRPr>
            </a:defPPr>
            <a:lvl1pPr>
              <a:defRPr sz="2025" b="1">
                <a:solidFill>
                  <a:srgbClr val="087F8C"/>
                </a:solidFill>
                <a:latin typeface="Arial"/>
                <a:ea typeface="Arial"/>
                <a:cs typeface="Arial"/>
              </a:defRPr>
            </a:lvl1pPr>
            <a:lvl2pPr>
              <a:defRPr sz="2025" b="1">
                <a:solidFill>
                  <a:srgbClr val="087F8C"/>
                </a:solidFill>
                <a:latin typeface="Arial"/>
                <a:ea typeface="Arial"/>
                <a:cs typeface="Arial"/>
              </a:defRPr>
            </a:lvl2pPr>
            <a:lvl3pPr>
              <a:defRPr sz="2025" b="1">
                <a:solidFill>
                  <a:srgbClr val="087F8C"/>
                </a:solidFill>
                <a:latin typeface="Arial"/>
                <a:ea typeface="Arial"/>
                <a:cs typeface="Arial"/>
              </a:defRPr>
            </a:lvl3pPr>
            <a:lvl4pPr>
              <a:defRPr sz="2025" b="1">
                <a:solidFill>
                  <a:srgbClr val="087F8C"/>
                </a:solidFill>
                <a:latin typeface="Arial"/>
                <a:ea typeface="Arial"/>
                <a:cs typeface="Arial"/>
              </a:defRPr>
            </a:lvl4pPr>
            <a:lvl5pPr>
              <a:defRPr sz="2025" b="1">
                <a:solidFill>
                  <a:srgbClr val="087F8C"/>
                </a:solidFill>
                <a:latin typeface="Arial"/>
                <a:ea typeface="Arial"/>
                <a:cs typeface="Arial"/>
              </a:defRPr>
            </a:lvl5pPr>
            <a:lvl6pPr>
              <a:defRPr sz="2025" b="1">
                <a:solidFill>
                  <a:srgbClr val="087F8C"/>
                </a:solidFill>
                <a:latin typeface="Arial"/>
                <a:ea typeface="Arial"/>
                <a:cs typeface="Arial"/>
              </a:defRPr>
            </a:lvl6pPr>
            <a:lvl7pPr>
              <a:defRPr sz="2025" b="1">
                <a:solidFill>
                  <a:srgbClr val="087F8C"/>
                </a:solidFill>
                <a:latin typeface="Arial"/>
                <a:ea typeface="Arial"/>
                <a:cs typeface="Arial"/>
              </a:defRPr>
            </a:lvl7pPr>
            <a:lvl8pPr>
              <a:defRPr sz="2025" b="1">
                <a:solidFill>
                  <a:srgbClr val="087F8C"/>
                </a:solidFill>
                <a:latin typeface="Arial"/>
                <a:ea typeface="Arial"/>
                <a:cs typeface="Arial"/>
              </a:defRPr>
            </a:lvl8pPr>
            <a:lvl9pPr>
              <a:defRPr sz="2025" b="1">
                <a:solidFill>
                  <a:srgbClr val="087F8C"/>
                </a:solidFill>
                <a:latin typeface="Arial"/>
                <a:ea typeface="Arial"/>
                <a:cs typeface="Arial"/>
              </a:defRPr>
            </a:lvl9pPr>
          </a:lstStyle>
          <a:p>
            <a:pPr>
              <a:defRPr sz="2025" b="1">
                <a:solidFill>
                  <a:srgbClr val="087F8C"/>
                </a:solidFill>
                <a:latin typeface="Arial"/>
                <a:ea typeface="Arial"/>
                <a:cs typeface="Arial"/>
              </a:defRPr>
            </a:pPr>
            <a:r>
              <a:rPr sz="2000" b="1">
                <a:solidFill>
                  <a:srgbClr val="005A8F"/>
                </a:solidFill>
                <a:latin typeface="Arial"/>
                <a:ea typeface="Arial"/>
                <a:cs typeface="Arial"/>
              </a:rPr>
              <a:t>PROFIT</a:t>
            </a:r>
          </a:p>
        </p:txBody>
      </p:sp>
      <p:sp>
        <p:nvSpPr>
          <p:cNvPr id="12" name="Rectangle 11">
            <a:extLst>
              <a:ext uri="{FF2B5EF4-FFF2-40B4-BE49-F238E27FC236}">
                <a16:creationId xmlns:a16="http://schemas.microsoft.com/office/drawing/2014/main" id="{752D6BB4-ED1F-4015-A883-A5615B8CFB52}"/>
              </a:ext>
            </a:extLst>
          </p:cNvPr>
          <p:cNvSpPr>
            <a:spLocks noGrp="1"/>
          </p:cNvSpPr>
          <p:nvPr/>
        </p:nvSpPr>
        <p:spPr>
          <a:xfrm>
            <a:off x="6572250" y="4048125"/>
            <a:ext cx="5238750" cy="333375"/>
          </a:xfrm>
          <a:prstGeom prst="rect">
            <a:avLst/>
          </a:prstGeom>
          <a:noFill/>
          <a:ln w="0">
            <a:noFill/>
            <a:prstDash val="solid"/>
          </a:ln>
        </p:spPr>
        <p:txBody>
          <a:bodyPr/>
          <a:lstStyle>
            <a:defPPr>
              <a:defRPr sz="1875" b="1">
                <a:solidFill>
                  <a:srgbClr val="173B3B"/>
                </a:solidFill>
                <a:latin typeface="Arial"/>
                <a:ea typeface="Arial"/>
                <a:cs typeface="Arial"/>
              </a:defRPr>
            </a:defPPr>
            <a:lvl1pPr>
              <a:defRPr sz="1875" b="1">
                <a:solidFill>
                  <a:srgbClr val="173B3B"/>
                </a:solidFill>
                <a:latin typeface="Arial"/>
                <a:ea typeface="Arial"/>
                <a:cs typeface="Arial"/>
              </a:defRPr>
            </a:lvl1pPr>
            <a:lvl2pPr>
              <a:defRPr sz="1875" b="1">
                <a:solidFill>
                  <a:srgbClr val="173B3B"/>
                </a:solidFill>
                <a:latin typeface="Arial"/>
                <a:ea typeface="Arial"/>
                <a:cs typeface="Arial"/>
              </a:defRPr>
            </a:lvl2pPr>
            <a:lvl3pPr>
              <a:defRPr sz="1875" b="1">
                <a:solidFill>
                  <a:srgbClr val="173B3B"/>
                </a:solidFill>
                <a:latin typeface="Arial"/>
                <a:ea typeface="Arial"/>
                <a:cs typeface="Arial"/>
              </a:defRPr>
            </a:lvl3pPr>
            <a:lvl4pPr>
              <a:defRPr sz="1875" b="1">
                <a:solidFill>
                  <a:srgbClr val="173B3B"/>
                </a:solidFill>
                <a:latin typeface="Arial"/>
                <a:ea typeface="Arial"/>
                <a:cs typeface="Arial"/>
              </a:defRPr>
            </a:lvl4pPr>
            <a:lvl5pPr>
              <a:defRPr sz="1875" b="1">
                <a:solidFill>
                  <a:srgbClr val="173B3B"/>
                </a:solidFill>
                <a:latin typeface="Arial"/>
                <a:ea typeface="Arial"/>
                <a:cs typeface="Arial"/>
              </a:defRPr>
            </a:lvl5pPr>
            <a:lvl6pPr>
              <a:defRPr sz="1875" b="1">
                <a:solidFill>
                  <a:srgbClr val="173B3B"/>
                </a:solidFill>
                <a:latin typeface="Arial"/>
                <a:ea typeface="Arial"/>
                <a:cs typeface="Arial"/>
              </a:defRPr>
            </a:lvl6pPr>
            <a:lvl7pPr>
              <a:defRPr sz="1875" b="1">
                <a:solidFill>
                  <a:srgbClr val="173B3B"/>
                </a:solidFill>
                <a:latin typeface="Arial"/>
                <a:ea typeface="Arial"/>
                <a:cs typeface="Arial"/>
              </a:defRPr>
            </a:lvl7pPr>
            <a:lvl8pPr>
              <a:defRPr sz="1875" b="1">
                <a:solidFill>
                  <a:srgbClr val="173B3B"/>
                </a:solidFill>
                <a:latin typeface="Arial"/>
                <a:ea typeface="Arial"/>
                <a:cs typeface="Arial"/>
              </a:defRPr>
            </a:lvl8pPr>
            <a:lvl9pPr>
              <a:defRPr sz="1875" b="1">
                <a:solidFill>
                  <a:srgbClr val="173B3B"/>
                </a:solidFill>
                <a:latin typeface="Arial"/>
                <a:ea typeface="Arial"/>
                <a:cs typeface="Arial"/>
              </a:defRPr>
            </a:lvl9pPr>
          </a:lstStyle>
          <a:p>
            <a:pPr>
              <a:defRPr sz="1875" b="1">
                <a:solidFill>
                  <a:srgbClr val="173B3B"/>
                </a:solidFill>
                <a:latin typeface="Arial"/>
                <a:ea typeface="Arial"/>
                <a:cs typeface="Arial"/>
              </a:defRPr>
            </a:pPr>
            <a:r>
              <a:rPr sz="1800" b="1">
                <a:solidFill>
                  <a:srgbClr val="131E29"/>
                </a:solidFill>
                <a:latin typeface="Arial"/>
                <a:ea typeface="Arial"/>
                <a:cs typeface="Arial"/>
              </a:rPr>
              <a:t>Long-term economic viability</a:t>
            </a:r>
          </a:p>
        </p:txBody>
      </p:sp>
      <p:sp>
        <p:nvSpPr>
          <p:cNvPr id="13" name="Rectangle 12">
            <a:extLst>
              <a:ext uri="{FF2B5EF4-FFF2-40B4-BE49-F238E27FC236}">
                <a16:creationId xmlns:a16="http://schemas.microsoft.com/office/drawing/2014/main" id="{2FF6B809-A05A-4D58-90FD-760C6BA7CB4E}"/>
              </a:ext>
            </a:extLst>
          </p:cNvPr>
          <p:cNvSpPr>
            <a:spLocks noGrp="1"/>
          </p:cNvSpPr>
          <p:nvPr/>
        </p:nvSpPr>
        <p:spPr>
          <a:xfrm>
            <a:off x="6572250" y="4429125"/>
            <a:ext cx="5238750" cy="647700"/>
          </a:xfrm>
          <a:prstGeom prst="rect">
            <a:avLst/>
          </a:prstGeom>
          <a:noFill/>
          <a:ln w="0">
            <a:noFill/>
            <a:prstDash val="solid"/>
          </a:ln>
        </p:spPr>
        <p:txBody>
          <a:bodyPr/>
          <a:lstStyle>
            <a:defPPr>
              <a:defRPr sz="1800" b="0">
                <a:solidFill>
                  <a:srgbClr val="173B3B"/>
                </a:solidFill>
                <a:latin typeface="Arial"/>
                <a:ea typeface="Arial"/>
                <a:cs typeface="Arial"/>
              </a:defRPr>
            </a:defPPr>
            <a:lvl1pPr>
              <a:defRPr sz="1800" b="0">
                <a:solidFill>
                  <a:srgbClr val="173B3B"/>
                </a:solidFill>
                <a:latin typeface="Arial"/>
                <a:ea typeface="Arial"/>
                <a:cs typeface="Arial"/>
              </a:defRPr>
            </a:lvl1pPr>
            <a:lvl2pPr>
              <a:defRPr sz="1800" b="0">
                <a:solidFill>
                  <a:srgbClr val="173B3B"/>
                </a:solidFill>
                <a:latin typeface="Arial"/>
                <a:ea typeface="Arial"/>
                <a:cs typeface="Arial"/>
              </a:defRPr>
            </a:lvl2pPr>
            <a:lvl3pPr>
              <a:defRPr sz="1800" b="0">
                <a:solidFill>
                  <a:srgbClr val="173B3B"/>
                </a:solidFill>
                <a:latin typeface="Arial"/>
                <a:ea typeface="Arial"/>
                <a:cs typeface="Arial"/>
              </a:defRPr>
            </a:lvl3pPr>
            <a:lvl4pPr>
              <a:defRPr sz="1800" b="0">
                <a:solidFill>
                  <a:srgbClr val="173B3B"/>
                </a:solidFill>
                <a:latin typeface="Arial"/>
                <a:ea typeface="Arial"/>
                <a:cs typeface="Arial"/>
              </a:defRPr>
            </a:lvl4pPr>
            <a:lvl5pPr>
              <a:defRPr sz="1800" b="0">
                <a:solidFill>
                  <a:srgbClr val="173B3B"/>
                </a:solidFill>
                <a:latin typeface="Arial"/>
                <a:ea typeface="Arial"/>
                <a:cs typeface="Arial"/>
              </a:defRPr>
            </a:lvl5pPr>
            <a:lvl6pPr>
              <a:defRPr sz="1800" b="0">
                <a:solidFill>
                  <a:srgbClr val="173B3B"/>
                </a:solidFill>
                <a:latin typeface="Arial"/>
                <a:ea typeface="Arial"/>
                <a:cs typeface="Arial"/>
              </a:defRPr>
            </a:lvl6pPr>
            <a:lvl7pPr>
              <a:defRPr sz="1800" b="0">
                <a:solidFill>
                  <a:srgbClr val="173B3B"/>
                </a:solidFill>
                <a:latin typeface="Arial"/>
                <a:ea typeface="Arial"/>
                <a:cs typeface="Arial"/>
              </a:defRPr>
            </a:lvl7pPr>
            <a:lvl8pPr>
              <a:defRPr sz="1800" b="0">
                <a:solidFill>
                  <a:srgbClr val="173B3B"/>
                </a:solidFill>
                <a:latin typeface="Arial"/>
                <a:ea typeface="Arial"/>
                <a:cs typeface="Arial"/>
              </a:defRPr>
            </a:lvl8pPr>
            <a:lvl9pPr>
              <a:defRPr sz="1800" b="0">
                <a:solidFill>
                  <a:srgbClr val="173B3B"/>
                </a:solidFill>
                <a:latin typeface="Arial"/>
                <a:ea typeface="Arial"/>
                <a:cs typeface="Arial"/>
              </a:defRPr>
            </a:lvl9pPr>
          </a:lstStyle>
          <a:p>
            <a:pPr>
              <a:defRPr sz="1800" b="0">
                <a:solidFill>
                  <a:srgbClr val="173B3B"/>
                </a:solidFill>
                <a:latin typeface="Arial"/>
                <a:ea typeface="Arial"/>
                <a:cs typeface="Arial"/>
              </a:defRPr>
            </a:pPr>
            <a:r>
              <a:rPr sz="1800" b="0">
                <a:solidFill>
                  <a:srgbClr val="131E29"/>
                </a:solidFill>
                <a:latin typeface="Arial"/>
                <a:ea typeface="Arial"/>
                <a:cs typeface="Arial"/>
              </a:rPr>
              <a:t>Productivity, total cost, resilient suppliers</a:t>
            </a:r>
          </a:p>
          <a:p>
            <a:pPr>
              <a:defRPr sz="1800" b="0">
                <a:solidFill>
                  <a:srgbClr val="173B3B"/>
                </a:solidFill>
                <a:latin typeface="Arial"/>
                <a:ea typeface="Arial"/>
                <a:cs typeface="Arial"/>
              </a:defRPr>
            </a:pPr>
            <a:r>
              <a:rPr sz="1800" b="0">
                <a:solidFill>
                  <a:srgbClr val="131E29"/>
                </a:solidFill>
                <a:latin typeface="Arial"/>
                <a:ea typeface="Arial"/>
                <a:cs typeface="Arial"/>
              </a:rPr>
              <a:t>and investment in sustainable operations.</a:t>
            </a:r>
          </a:p>
        </p:txBody>
      </p:sp>
      <p:sp>
        <p:nvSpPr>
          <p:cNvPr id="14" name="Rectangle 13">
            <a:extLst>
              <a:ext uri="{FF2B5EF4-FFF2-40B4-BE49-F238E27FC236}">
                <a16:creationId xmlns:a16="http://schemas.microsoft.com/office/drawing/2014/main" id="{0FEEAF2A-6626-45C6-9C5C-E2762226D788}"/>
              </a:ext>
            </a:extLst>
          </p:cNvPr>
          <p:cNvSpPr>
            <a:spLocks noGrp="1"/>
          </p:cNvSpPr>
          <p:nvPr/>
        </p:nvSpPr>
        <p:spPr>
          <a:xfrm>
            <a:off x="4905375" y="5143500"/>
            <a:ext cx="1571625" cy="361950"/>
          </a:xfrm>
          <a:prstGeom prst="rect">
            <a:avLst/>
          </a:prstGeom>
          <a:noFill/>
          <a:ln w="0">
            <a:noFill/>
            <a:prstDash val="solid"/>
          </a:ln>
        </p:spPr>
        <p:txBody>
          <a:bodyPr/>
          <a:lstStyle>
            <a:defPPr>
              <a:defRPr sz="2025" b="1">
                <a:solidFill>
                  <a:srgbClr val="420099"/>
                </a:solidFill>
                <a:latin typeface="Arial"/>
                <a:ea typeface="Arial"/>
                <a:cs typeface="Arial"/>
              </a:defRPr>
            </a:defPPr>
            <a:lvl1pPr>
              <a:defRPr sz="2025" b="1">
                <a:solidFill>
                  <a:srgbClr val="420099"/>
                </a:solidFill>
                <a:latin typeface="Arial"/>
                <a:ea typeface="Arial"/>
                <a:cs typeface="Arial"/>
              </a:defRPr>
            </a:lvl1pPr>
            <a:lvl2pPr>
              <a:defRPr sz="2025" b="1">
                <a:solidFill>
                  <a:srgbClr val="420099"/>
                </a:solidFill>
                <a:latin typeface="Arial"/>
                <a:ea typeface="Arial"/>
                <a:cs typeface="Arial"/>
              </a:defRPr>
            </a:lvl2pPr>
            <a:lvl3pPr>
              <a:defRPr sz="2025" b="1">
                <a:solidFill>
                  <a:srgbClr val="420099"/>
                </a:solidFill>
                <a:latin typeface="Arial"/>
                <a:ea typeface="Arial"/>
                <a:cs typeface="Arial"/>
              </a:defRPr>
            </a:lvl3pPr>
            <a:lvl4pPr>
              <a:defRPr sz="2025" b="1">
                <a:solidFill>
                  <a:srgbClr val="420099"/>
                </a:solidFill>
                <a:latin typeface="Arial"/>
                <a:ea typeface="Arial"/>
                <a:cs typeface="Arial"/>
              </a:defRPr>
            </a:lvl4pPr>
            <a:lvl5pPr>
              <a:defRPr sz="2025" b="1">
                <a:solidFill>
                  <a:srgbClr val="420099"/>
                </a:solidFill>
                <a:latin typeface="Arial"/>
                <a:ea typeface="Arial"/>
                <a:cs typeface="Arial"/>
              </a:defRPr>
            </a:lvl5pPr>
            <a:lvl6pPr>
              <a:defRPr sz="2025" b="1">
                <a:solidFill>
                  <a:srgbClr val="420099"/>
                </a:solidFill>
                <a:latin typeface="Arial"/>
                <a:ea typeface="Arial"/>
                <a:cs typeface="Arial"/>
              </a:defRPr>
            </a:lvl6pPr>
            <a:lvl7pPr>
              <a:defRPr sz="2025" b="1">
                <a:solidFill>
                  <a:srgbClr val="420099"/>
                </a:solidFill>
                <a:latin typeface="Arial"/>
                <a:ea typeface="Arial"/>
                <a:cs typeface="Arial"/>
              </a:defRPr>
            </a:lvl7pPr>
            <a:lvl8pPr>
              <a:defRPr sz="2025" b="1">
                <a:solidFill>
                  <a:srgbClr val="420099"/>
                </a:solidFill>
                <a:latin typeface="Arial"/>
                <a:ea typeface="Arial"/>
                <a:cs typeface="Arial"/>
              </a:defRPr>
            </a:lvl8pPr>
            <a:lvl9pPr>
              <a:defRPr sz="2025" b="1">
                <a:solidFill>
                  <a:srgbClr val="420099"/>
                </a:solidFill>
                <a:latin typeface="Arial"/>
                <a:ea typeface="Arial"/>
                <a:cs typeface="Arial"/>
              </a:defRPr>
            </a:lvl9pPr>
          </a:lstStyle>
          <a:p>
            <a:pPr>
              <a:defRPr sz="2025" b="1">
                <a:solidFill>
                  <a:srgbClr val="420099"/>
                </a:solidFill>
                <a:latin typeface="Arial"/>
                <a:ea typeface="Arial"/>
                <a:cs typeface="Arial"/>
              </a:defRPr>
            </a:pPr>
            <a:r>
              <a:rPr sz="2000" b="1">
                <a:solidFill>
                  <a:srgbClr val="440099"/>
                </a:solidFill>
                <a:latin typeface="Arial"/>
                <a:ea typeface="Arial"/>
                <a:cs typeface="Arial"/>
              </a:rPr>
              <a:t>PURPOSE</a:t>
            </a:r>
          </a:p>
        </p:txBody>
      </p:sp>
      <p:sp>
        <p:nvSpPr>
          <p:cNvPr id="15" name="Rectangle 14">
            <a:extLst>
              <a:ext uri="{FF2B5EF4-FFF2-40B4-BE49-F238E27FC236}">
                <a16:creationId xmlns:a16="http://schemas.microsoft.com/office/drawing/2014/main" id="{25A9EFAE-347F-44C6-A27B-BA1F98D5612E}"/>
              </a:ext>
            </a:extLst>
          </p:cNvPr>
          <p:cNvSpPr>
            <a:spLocks noGrp="1"/>
          </p:cNvSpPr>
          <p:nvPr/>
        </p:nvSpPr>
        <p:spPr>
          <a:xfrm>
            <a:off x="6572250" y="5143500"/>
            <a:ext cx="5238750" cy="333375"/>
          </a:xfrm>
          <a:prstGeom prst="rect">
            <a:avLst/>
          </a:prstGeom>
          <a:noFill/>
          <a:ln w="0">
            <a:noFill/>
            <a:prstDash val="solid"/>
          </a:ln>
        </p:spPr>
        <p:txBody>
          <a:bodyPr/>
          <a:lstStyle>
            <a:defPPr>
              <a:defRPr sz="1875" b="1">
                <a:solidFill>
                  <a:srgbClr val="173B3B"/>
                </a:solidFill>
                <a:latin typeface="Arial"/>
                <a:ea typeface="Arial"/>
                <a:cs typeface="Arial"/>
              </a:defRPr>
            </a:defPPr>
            <a:lvl1pPr>
              <a:defRPr sz="1875" b="1">
                <a:solidFill>
                  <a:srgbClr val="173B3B"/>
                </a:solidFill>
                <a:latin typeface="Arial"/>
                <a:ea typeface="Arial"/>
                <a:cs typeface="Arial"/>
              </a:defRPr>
            </a:lvl1pPr>
            <a:lvl2pPr>
              <a:defRPr sz="1875" b="1">
                <a:solidFill>
                  <a:srgbClr val="173B3B"/>
                </a:solidFill>
                <a:latin typeface="Arial"/>
                <a:ea typeface="Arial"/>
                <a:cs typeface="Arial"/>
              </a:defRPr>
            </a:lvl2pPr>
            <a:lvl3pPr>
              <a:defRPr sz="1875" b="1">
                <a:solidFill>
                  <a:srgbClr val="173B3B"/>
                </a:solidFill>
                <a:latin typeface="Arial"/>
                <a:ea typeface="Arial"/>
                <a:cs typeface="Arial"/>
              </a:defRPr>
            </a:lvl3pPr>
            <a:lvl4pPr>
              <a:defRPr sz="1875" b="1">
                <a:solidFill>
                  <a:srgbClr val="173B3B"/>
                </a:solidFill>
                <a:latin typeface="Arial"/>
                <a:ea typeface="Arial"/>
                <a:cs typeface="Arial"/>
              </a:defRPr>
            </a:lvl4pPr>
            <a:lvl5pPr>
              <a:defRPr sz="1875" b="1">
                <a:solidFill>
                  <a:srgbClr val="173B3B"/>
                </a:solidFill>
                <a:latin typeface="Arial"/>
                <a:ea typeface="Arial"/>
                <a:cs typeface="Arial"/>
              </a:defRPr>
            </a:lvl5pPr>
            <a:lvl6pPr>
              <a:defRPr sz="1875" b="1">
                <a:solidFill>
                  <a:srgbClr val="173B3B"/>
                </a:solidFill>
                <a:latin typeface="Arial"/>
                <a:ea typeface="Arial"/>
                <a:cs typeface="Arial"/>
              </a:defRPr>
            </a:lvl6pPr>
            <a:lvl7pPr>
              <a:defRPr sz="1875" b="1">
                <a:solidFill>
                  <a:srgbClr val="173B3B"/>
                </a:solidFill>
                <a:latin typeface="Arial"/>
                <a:ea typeface="Arial"/>
                <a:cs typeface="Arial"/>
              </a:defRPr>
            </a:lvl7pPr>
            <a:lvl8pPr>
              <a:defRPr sz="1875" b="1">
                <a:solidFill>
                  <a:srgbClr val="173B3B"/>
                </a:solidFill>
                <a:latin typeface="Arial"/>
                <a:ea typeface="Arial"/>
                <a:cs typeface="Arial"/>
              </a:defRPr>
            </a:lvl8pPr>
            <a:lvl9pPr>
              <a:defRPr sz="1875" b="1">
                <a:solidFill>
                  <a:srgbClr val="173B3B"/>
                </a:solidFill>
                <a:latin typeface="Arial"/>
                <a:ea typeface="Arial"/>
                <a:cs typeface="Arial"/>
              </a:defRPr>
            </a:lvl9pPr>
          </a:lstStyle>
          <a:p>
            <a:pPr>
              <a:defRPr sz="1875" b="1">
                <a:solidFill>
                  <a:srgbClr val="173B3B"/>
                </a:solidFill>
                <a:latin typeface="Arial"/>
                <a:ea typeface="Arial"/>
                <a:cs typeface="Arial"/>
              </a:defRPr>
            </a:pPr>
            <a:r>
              <a:rPr sz="1800" b="1">
                <a:solidFill>
                  <a:srgbClr val="131E29"/>
                </a:solidFill>
                <a:latin typeface="Arial"/>
                <a:ea typeface="Arial"/>
                <a:cs typeface="Arial"/>
              </a:rPr>
              <a:t>Direction, values and accountability</a:t>
            </a:r>
          </a:p>
        </p:txBody>
      </p:sp>
      <p:sp>
        <p:nvSpPr>
          <p:cNvPr id="16" name="Rectangle 15">
            <a:extLst>
              <a:ext uri="{FF2B5EF4-FFF2-40B4-BE49-F238E27FC236}">
                <a16:creationId xmlns:a16="http://schemas.microsoft.com/office/drawing/2014/main" id="{36517349-B953-4D4A-B2DB-80730428C93A}"/>
              </a:ext>
            </a:extLst>
          </p:cNvPr>
          <p:cNvSpPr>
            <a:spLocks noGrp="1"/>
          </p:cNvSpPr>
          <p:nvPr/>
        </p:nvSpPr>
        <p:spPr>
          <a:xfrm>
            <a:off x="6572250" y="5524500"/>
            <a:ext cx="5238750" cy="647700"/>
          </a:xfrm>
          <a:prstGeom prst="rect">
            <a:avLst/>
          </a:prstGeom>
          <a:noFill/>
          <a:ln w="0">
            <a:noFill/>
            <a:prstDash val="solid"/>
          </a:ln>
        </p:spPr>
        <p:txBody>
          <a:bodyPr/>
          <a:lstStyle>
            <a:defPPr>
              <a:defRPr sz="1800" b="0">
                <a:solidFill>
                  <a:srgbClr val="173B3B"/>
                </a:solidFill>
                <a:latin typeface="Arial"/>
                <a:ea typeface="Arial"/>
                <a:cs typeface="Arial"/>
              </a:defRPr>
            </a:defPPr>
            <a:lvl1pPr>
              <a:defRPr sz="1800" b="0">
                <a:solidFill>
                  <a:srgbClr val="173B3B"/>
                </a:solidFill>
                <a:latin typeface="Arial"/>
                <a:ea typeface="Arial"/>
                <a:cs typeface="Arial"/>
              </a:defRPr>
            </a:lvl1pPr>
            <a:lvl2pPr>
              <a:defRPr sz="1800" b="0">
                <a:solidFill>
                  <a:srgbClr val="173B3B"/>
                </a:solidFill>
                <a:latin typeface="Arial"/>
                <a:ea typeface="Arial"/>
                <a:cs typeface="Arial"/>
              </a:defRPr>
            </a:lvl2pPr>
            <a:lvl3pPr>
              <a:defRPr sz="1800" b="0">
                <a:solidFill>
                  <a:srgbClr val="173B3B"/>
                </a:solidFill>
                <a:latin typeface="Arial"/>
                <a:ea typeface="Arial"/>
                <a:cs typeface="Arial"/>
              </a:defRPr>
            </a:lvl3pPr>
            <a:lvl4pPr>
              <a:defRPr sz="1800" b="0">
                <a:solidFill>
                  <a:srgbClr val="173B3B"/>
                </a:solidFill>
                <a:latin typeface="Arial"/>
                <a:ea typeface="Arial"/>
                <a:cs typeface="Arial"/>
              </a:defRPr>
            </a:lvl4pPr>
            <a:lvl5pPr>
              <a:defRPr sz="1800" b="0">
                <a:solidFill>
                  <a:srgbClr val="173B3B"/>
                </a:solidFill>
                <a:latin typeface="Arial"/>
                <a:ea typeface="Arial"/>
                <a:cs typeface="Arial"/>
              </a:defRPr>
            </a:lvl5pPr>
            <a:lvl6pPr>
              <a:defRPr sz="1800" b="0">
                <a:solidFill>
                  <a:srgbClr val="173B3B"/>
                </a:solidFill>
                <a:latin typeface="Arial"/>
                <a:ea typeface="Arial"/>
                <a:cs typeface="Arial"/>
              </a:defRPr>
            </a:lvl6pPr>
            <a:lvl7pPr>
              <a:defRPr sz="1800" b="0">
                <a:solidFill>
                  <a:srgbClr val="173B3B"/>
                </a:solidFill>
                <a:latin typeface="Arial"/>
                <a:ea typeface="Arial"/>
                <a:cs typeface="Arial"/>
              </a:defRPr>
            </a:lvl7pPr>
            <a:lvl8pPr>
              <a:defRPr sz="1800" b="0">
                <a:solidFill>
                  <a:srgbClr val="173B3B"/>
                </a:solidFill>
                <a:latin typeface="Arial"/>
                <a:ea typeface="Arial"/>
                <a:cs typeface="Arial"/>
              </a:defRPr>
            </a:lvl8pPr>
            <a:lvl9pPr>
              <a:defRPr sz="1800" b="0">
                <a:solidFill>
                  <a:srgbClr val="173B3B"/>
                </a:solidFill>
                <a:latin typeface="Arial"/>
                <a:ea typeface="Arial"/>
                <a:cs typeface="Arial"/>
              </a:defRPr>
            </a:lvl9pPr>
          </a:lstStyle>
          <a:p>
            <a:pPr>
              <a:defRPr sz="1800" b="0">
                <a:solidFill>
                  <a:srgbClr val="173B3B"/>
                </a:solidFill>
                <a:latin typeface="Arial"/>
                <a:ea typeface="Arial"/>
                <a:cs typeface="Arial"/>
              </a:defRPr>
            </a:pPr>
            <a:r>
              <a:rPr sz="1800" b="0">
                <a:solidFill>
                  <a:srgbClr val="131E29"/>
                </a:solidFill>
                <a:latin typeface="Arial"/>
                <a:ea typeface="Arial"/>
                <a:cs typeface="Arial"/>
              </a:rPr>
              <a:t>Clear commitments, ethical leadership</a:t>
            </a:r>
          </a:p>
          <a:p>
            <a:pPr>
              <a:defRPr sz="1800" b="0">
                <a:solidFill>
                  <a:srgbClr val="173B3B"/>
                </a:solidFill>
                <a:latin typeface="Arial"/>
                <a:ea typeface="Arial"/>
                <a:cs typeface="Arial"/>
              </a:defRPr>
            </a:pPr>
            <a:r>
              <a:rPr sz="1800" b="0">
                <a:solidFill>
                  <a:srgbClr val="131E29"/>
                </a:solidFill>
                <a:latin typeface="Arial"/>
                <a:ea typeface="Arial"/>
                <a:cs typeface="Arial"/>
              </a:rPr>
              <a:t>and responsible purchasing decisions.</a:t>
            </a:r>
          </a:p>
        </p:txBody>
      </p:sp>
      <p:sp>
        <p:nvSpPr>
          <p:cNvPr id="17" name="Rectangle 16">
            <a:extLst>
              <a:ext uri="{FF2B5EF4-FFF2-40B4-BE49-F238E27FC236}">
                <a16:creationId xmlns:a16="http://schemas.microsoft.com/office/drawing/2014/main" id="{764A99C2-C299-440C-A9D5-AA8DEBC92EDC}"/>
              </a:ext>
            </a:extLst>
          </p:cNvPr>
          <p:cNvSpPr>
            <a:spLocks noGrp="1"/>
          </p:cNvSpPr>
          <p:nvPr/>
        </p:nvSpPr>
        <p:spPr>
          <a:xfrm>
            <a:off x="381000" y="6477000"/>
            <a:ext cx="11430000" cy="266700"/>
          </a:xfrm>
          <a:prstGeom prst="rect">
            <a:avLst/>
          </a:prstGeom>
          <a:noFill/>
          <a:ln w="0">
            <a:noFill/>
            <a:prstDash val="solid"/>
          </a:ln>
        </p:spPr>
        <p:txBody>
          <a:bodyPr/>
          <a:lstStyle>
            <a:defPPr>
              <a:defRPr sz="1350" b="0">
                <a:solidFill>
                  <a:srgbClr val="576762"/>
                </a:solidFill>
                <a:latin typeface="Arial"/>
                <a:ea typeface="Arial"/>
                <a:cs typeface="Arial"/>
              </a:defRPr>
            </a:defPPr>
            <a:lvl1pPr>
              <a:defRPr sz="1350" b="0">
                <a:solidFill>
                  <a:srgbClr val="576762"/>
                </a:solidFill>
                <a:latin typeface="Arial"/>
                <a:ea typeface="Arial"/>
                <a:cs typeface="Arial"/>
              </a:defRPr>
            </a:lvl1pPr>
            <a:lvl2pPr>
              <a:defRPr sz="1350" b="0">
                <a:solidFill>
                  <a:srgbClr val="576762"/>
                </a:solidFill>
                <a:latin typeface="Arial"/>
                <a:ea typeface="Arial"/>
                <a:cs typeface="Arial"/>
              </a:defRPr>
            </a:lvl2pPr>
            <a:lvl3pPr>
              <a:defRPr sz="1350" b="0">
                <a:solidFill>
                  <a:srgbClr val="576762"/>
                </a:solidFill>
                <a:latin typeface="Arial"/>
                <a:ea typeface="Arial"/>
                <a:cs typeface="Arial"/>
              </a:defRPr>
            </a:lvl3pPr>
            <a:lvl4pPr>
              <a:defRPr sz="1350" b="0">
                <a:solidFill>
                  <a:srgbClr val="576762"/>
                </a:solidFill>
                <a:latin typeface="Arial"/>
                <a:ea typeface="Arial"/>
                <a:cs typeface="Arial"/>
              </a:defRPr>
            </a:lvl4pPr>
            <a:lvl5pPr>
              <a:defRPr sz="1350" b="0">
                <a:solidFill>
                  <a:srgbClr val="576762"/>
                </a:solidFill>
                <a:latin typeface="Arial"/>
                <a:ea typeface="Arial"/>
                <a:cs typeface="Arial"/>
              </a:defRPr>
            </a:lvl5pPr>
            <a:lvl6pPr>
              <a:defRPr sz="1350" b="0">
                <a:solidFill>
                  <a:srgbClr val="576762"/>
                </a:solidFill>
                <a:latin typeface="Arial"/>
                <a:ea typeface="Arial"/>
                <a:cs typeface="Arial"/>
              </a:defRPr>
            </a:lvl6pPr>
            <a:lvl7pPr>
              <a:defRPr sz="1350" b="0">
                <a:solidFill>
                  <a:srgbClr val="576762"/>
                </a:solidFill>
                <a:latin typeface="Arial"/>
                <a:ea typeface="Arial"/>
                <a:cs typeface="Arial"/>
              </a:defRPr>
            </a:lvl7pPr>
            <a:lvl8pPr>
              <a:defRPr sz="1350" b="0">
                <a:solidFill>
                  <a:srgbClr val="576762"/>
                </a:solidFill>
                <a:latin typeface="Arial"/>
                <a:ea typeface="Arial"/>
                <a:cs typeface="Arial"/>
              </a:defRPr>
            </a:lvl8pPr>
            <a:lvl9pPr>
              <a:defRPr sz="1350" b="0">
                <a:solidFill>
                  <a:srgbClr val="576762"/>
                </a:solidFill>
                <a:latin typeface="Arial"/>
                <a:ea typeface="Arial"/>
                <a:cs typeface="Arial"/>
              </a:defRPr>
            </a:lvl9pPr>
          </a:lstStyle>
          <a:p>
            <a:pPr>
              <a:defRPr sz="1350" b="0">
                <a:solidFill>
                  <a:srgbClr val="576762"/>
                </a:solidFill>
                <a:latin typeface="Arial"/>
                <a:ea typeface="Arial"/>
                <a:cs typeface="Arial"/>
              </a:defRPr>
            </a:pPr>
            <a:r>
              <a:rPr sz="1300" b="0">
                <a:solidFill>
                  <a:srgbClr val="5E6977"/>
                </a:solidFill>
                <a:latin typeface="Arial"/>
                <a:ea typeface="Arial"/>
                <a:cs typeface="Arial"/>
              </a:rPr>
              <a:t>Triple bottom line: people, planet and profit. The 4P model adds purpose as a guiding lens.</a:t>
            </a:r>
          </a:p>
        </p:txBody>
      </p:sp>
    </p:spTree>
    <p:extLst>
      <p:ext uri="{BB962C8B-B14F-4D97-AF65-F5344CB8AC3E}">
        <p14:creationId xmlns:p14="http://schemas.microsoft.com/office/powerpoint/2010/main" val="345864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2812F33E-B03F-04B8-E369-B090782BAA3C}"/>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EA554C0-945A-DD6C-3622-C112E293AFF6}"/>
              </a:ext>
            </a:extLst>
          </p:cNvPr>
          <p:cNvSpPr txBox="1">
            <a:spLocks/>
          </p:cNvSpPr>
          <p:nvPr/>
        </p:nvSpPr>
        <p:spPr>
          <a:xfrm>
            <a:off x="490538" y="56471"/>
            <a:ext cx="11210925" cy="744836"/>
          </a:xfrm>
          <a:prstGeom prst="rect">
            <a:avLst/>
          </a:prstGeom>
        </p:spPr>
        <p:txBody>
          <a:bodyPr vert="horz" lIns="60960" tIns="30480" rIns="60960" bIns="3048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spcAft>
                <a:spcPts val="400"/>
              </a:spcAft>
            </a:pPr>
            <a:r>
              <a:rPr lang="en-US" sz="3000" b="1" dirty="0">
                <a:solidFill>
                  <a:srgbClr val="440099"/>
                </a:solidFill>
                <a:latin typeface="Arial"/>
              </a:rPr>
              <a:t>Sustainable Strategies in Supply Chains </a:t>
            </a:r>
          </a:p>
          <a:p>
            <a:pPr>
              <a:lnSpc>
                <a:spcPct val="90000"/>
              </a:lnSpc>
              <a:spcAft>
                <a:spcPts val="400"/>
              </a:spcAft>
            </a:pPr>
            <a:r>
              <a:rPr lang="en-US" sz="2200" b="1" dirty="0">
                <a:solidFill>
                  <a:schemeClr val="tx1">
                    <a:lumMod val="85000"/>
                    <a:lumOff val="15000"/>
                  </a:schemeClr>
                </a:solidFill>
                <a:latin typeface="Arial"/>
              </a:rPr>
              <a:t>           </a:t>
            </a:r>
          </a:p>
        </p:txBody>
      </p:sp>
      <p:sp>
        <p:nvSpPr>
          <p:cNvPr id="9" name="AutoShape 2" descr="Business Strategy Hierarchy - MBA Knowledge Base">
            <a:extLst>
              <a:ext uri="{FF2B5EF4-FFF2-40B4-BE49-F238E27FC236}">
                <a16:creationId xmlns:a16="http://schemas.microsoft.com/office/drawing/2014/main" id="{4CBDD85A-E58D-399A-5432-F55C0206770F}"/>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endParaRPr lang="en-GB" sz="1200"/>
          </a:p>
        </p:txBody>
      </p:sp>
      <p:pic>
        <p:nvPicPr>
          <p:cNvPr id="11" name="Picture 10" descr="A diagram of a logistics process">
            <a:extLst>
              <a:ext uri="{FF2B5EF4-FFF2-40B4-BE49-F238E27FC236}">
                <a16:creationId xmlns:a16="http://schemas.microsoft.com/office/drawing/2014/main" id="{1EE35736-6F07-7609-2E91-9A158361A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377" y="428890"/>
            <a:ext cx="9430871" cy="6287247"/>
          </a:xfrm>
          <a:prstGeom prst="rect">
            <a:avLst/>
          </a:prstGeom>
        </p:spPr>
      </p:pic>
    </p:spTree>
    <p:extLst>
      <p:ext uri="{BB962C8B-B14F-4D97-AF65-F5344CB8AC3E}">
        <p14:creationId xmlns:p14="http://schemas.microsoft.com/office/powerpoint/2010/main" val="2763824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2337F7E-114D-4E1E-B558-08974AB70368}"/>
              </a:ext>
            </a:extLst>
          </p:cNvPr>
          <p:cNvSpPr>
            <a:spLocks noGrp="1"/>
          </p:cNvSpPr>
          <p:nvPr/>
        </p:nvSpPr>
        <p:spPr>
          <a:xfrm>
            <a:off x="381000" y="238125"/>
            <a:ext cx="11430000" cy="619125"/>
          </a:xfrm>
          <a:prstGeom prst="rect">
            <a:avLst/>
          </a:prstGeom>
          <a:noFill/>
          <a:ln w="0">
            <a:noFill/>
            <a:prstDash val="solid"/>
          </a:ln>
        </p:spPr>
        <p:txBody>
          <a:bodyPr/>
          <a:lstStyle>
            <a:defPPr>
              <a:defRPr sz="3225" b="1">
                <a:solidFill>
                  <a:srgbClr val="173B3B"/>
                </a:solidFill>
                <a:latin typeface="Arial"/>
                <a:ea typeface="Arial"/>
                <a:cs typeface="Arial"/>
              </a:defRPr>
            </a:defPPr>
            <a:lvl1pPr>
              <a:defRPr sz="3225" b="1">
                <a:solidFill>
                  <a:srgbClr val="173B3B"/>
                </a:solidFill>
                <a:latin typeface="Arial"/>
                <a:ea typeface="Arial"/>
                <a:cs typeface="Arial"/>
              </a:defRPr>
            </a:lvl1pPr>
            <a:lvl2pPr>
              <a:defRPr sz="3225" b="1">
                <a:solidFill>
                  <a:srgbClr val="173B3B"/>
                </a:solidFill>
                <a:latin typeface="Arial"/>
                <a:ea typeface="Arial"/>
                <a:cs typeface="Arial"/>
              </a:defRPr>
            </a:lvl2pPr>
            <a:lvl3pPr>
              <a:defRPr sz="3225" b="1">
                <a:solidFill>
                  <a:srgbClr val="173B3B"/>
                </a:solidFill>
                <a:latin typeface="Arial"/>
                <a:ea typeface="Arial"/>
                <a:cs typeface="Arial"/>
              </a:defRPr>
            </a:lvl3pPr>
            <a:lvl4pPr>
              <a:defRPr sz="3225" b="1">
                <a:solidFill>
                  <a:srgbClr val="173B3B"/>
                </a:solidFill>
                <a:latin typeface="Arial"/>
                <a:ea typeface="Arial"/>
                <a:cs typeface="Arial"/>
              </a:defRPr>
            </a:lvl4pPr>
            <a:lvl5pPr>
              <a:defRPr sz="3225" b="1">
                <a:solidFill>
                  <a:srgbClr val="173B3B"/>
                </a:solidFill>
                <a:latin typeface="Arial"/>
                <a:ea typeface="Arial"/>
                <a:cs typeface="Arial"/>
              </a:defRPr>
            </a:lvl5pPr>
            <a:lvl6pPr>
              <a:defRPr sz="3225" b="1">
                <a:solidFill>
                  <a:srgbClr val="173B3B"/>
                </a:solidFill>
                <a:latin typeface="Arial"/>
                <a:ea typeface="Arial"/>
                <a:cs typeface="Arial"/>
              </a:defRPr>
            </a:lvl6pPr>
            <a:lvl7pPr>
              <a:defRPr sz="3225" b="1">
                <a:solidFill>
                  <a:srgbClr val="173B3B"/>
                </a:solidFill>
                <a:latin typeface="Arial"/>
                <a:ea typeface="Arial"/>
                <a:cs typeface="Arial"/>
              </a:defRPr>
            </a:lvl7pPr>
            <a:lvl8pPr>
              <a:defRPr sz="3225" b="1">
                <a:solidFill>
                  <a:srgbClr val="173B3B"/>
                </a:solidFill>
                <a:latin typeface="Arial"/>
                <a:ea typeface="Arial"/>
                <a:cs typeface="Arial"/>
              </a:defRPr>
            </a:lvl8pPr>
            <a:lvl9pPr>
              <a:defRPr sz="3225" b="1">
                <a:solidFill>
                  <a:srgbClr val="173B3B"/>
                </a:solidFill>
                <a:latin typeface="Arial"/>
                <a:ea typeface="Arial"/>
                <a:cs typeface="Arial"/>
              </a:defRPr>
            </a:lvl9pPr>
          </a:lstStyle>
          <a:p>
            <a:pPr algn="l">
              <a:defRPr sz="3225" b="1">
                <a:solidFill>
                  <a:srgbClr val="173B3B"/>
                </a:solidFill>
                <a:latin typeface="Arial"/>
                <a:ea typeface="Arial"/>
                <a:cs typeface="Arial"/>
              </a:defRPr>
            </a:pPr>
            <a:r>
              <a:rPr sz="3000" b="1">
                <a:solidFill>
                  <a:srgbClr val="440099"/>
                </a:solidFill>
                <a:latin typeface="Arial"/>
                <a:ea typeface="Arial"/>
                <a:cs typeface="Arial"/>
              </a:rPr>
              <a:t>Circular supply chains: the 10R strategies</a:t>
            </a:r>
          </a:p>
        </p:txBody>
      </p:sp>
      <p:sp>
        <p:nvSpPr>
          <p:cNvPr id="2" name="Rectangle 1">
            <a:extLst>
              <a:ext uri="{FF2B5EF4-FFF2-40B4-BE49-F238E27FC236}">
                <a16:creationId xmlns:a16="http://schemas.microsoft.com/office/drawing/2014/main" id="{0E4E8EEA-D6F6-4281-971E-F675AE92EA85}"/>
              </a:ext>
            </a:extLst>
          </p:cNvPr>
          <p:cNvSpPr>
            <a:spLocks noGrp="1"/>
          </p:cNvSpPr>
          <p:nvPr/>
        </p:nvSpPr>
        <p:spPr>
          <a:xfrm>
            <a:off x="381000" y="952500"/>
            <a:ext cx="11430000" cy="400050"/>
          </a:xfrm>
          <a:prstGeom prst="rect">
            <a:avLst/>
          </a:prstGeom>
          <a:noFill/>
          <a:ln w="0">
            <a:noFill/>
            <a:prstDash val="solid"/>
          </a:ln>
        </p:spPr>
        <p:txBody>
          <a:bodyPr/>
          <a:lstStyle>
            <a:defPPr>
              <a:defRPr sz="2025" b="0">
                <a:solidFill>
                  <a:srgbClr val="173B3B"/>
                </a:solidFill>
                <a:latin typeface="Arial"/>
                <a:ea typeface="Arial"/>
                <a:cs typeface="Arial"/>
              </a:defRPr>
            </a:defPPr>
            <a:lvl1pPr>
              <a:defRPr sz="2025" b="0">
                <a:solidFill>
                  <a:srgbClr val="173B3B"/>
                </a:solidFill>
                <a:latin typeface="Arial"/>
                <a:ea typeface="Arial"/>
                <a:cs typeface="Arial"/>
              </a:defRPr>
            </a:lvl1pPr>
            <a:lvl2pPr>
              <a:defRPr sz="2025" b="0">
                <a:solidFill>
                  <a:srgbClr val="173B3B"/>
                </a:solidFill>
                <a:latin typeface="Arial"/>
                <a:ea typeface="Arial"/>
                <a:cs typeface="Arial"/>
              </a:defRPr>
            </a:lvl2pPr>
            <a:lvl3pPr>
              <a:defRPr sz="2025" b="0">
                <a:solidFill>
                  <a:srgbClr val="173B3B"/>
                </a:solidFill>
                <a:latin typeface="Arial"/>
                <a:ea typeface="Arial"/>
                <a:cs typeface="Arial"/>
              </a:defRPr>
            </a:lvl3pPr>
            <a:lvl4pPr>
              <a:defRPr sz="2025" b="0">
                <a:solidFill>
                  <a:srgbClr val="173B3B"/>
                </a:solidFill>
                <a:latin typeface="Arial"/>
                <a:ea typeface="Arial"/>
                <a:cs typeface="Arial"/>
              </a:defRPr>
            </a:lvl4pPr>
            <a:lvl5pPr>
              <a:defRPr sz="2025" b="0">
                <a:solidFill>
                  <a:srgbClr val="173B3B"/>
                </a:solidFill>
                <a:latin typeface="Arial"/>
                <a:ea typeface="Arial"/>
                <a:cs typeface="Arial"/>
              </a:defRPr>
            </a:lvl5pPr>
            <a:lvl6pPr>
              <a:defRPr sz="2025" b="0">
                <a:solidFill>
                  <a:srgbClr val="173B3B"/>
                </a:solidFill>
                <a:latin typeface="Arial"/>
                <a:ea typeface="Arial"/>
                <a:cs typeface="Arial"/>
              </a:defRPr>
            </a:lvl6pPr>
            <a:lvl7pPr>
              <a:defRPr sz="2025" b="0">
                <a:solidFill>
                  <a:srgbClr val="173B3B"/>
                </a:solidFill>
                <a:latin typeface="Arial"/>
                <a:ea typeface="Arial"/>
                <a:cs typeface="Arial"/>
              </a:defRPr>
            </a:lvl7pPr>
            <a:lvl8pPr>
              <a:defRPr sz="2025" b="0">
                <a:solidFill>
                  <a:srgbClr val="173B3B"/>
                </a:solidFill>
                <a:latin typeface="Arial"/>
                <a:ea typeface="Arial"/>
                <a:cs typeface="Arial"/>
              </a:defRPr>
            </a:lvl8pPr>
            <a:lvl9pPr>
              <a:defRPr sz="2025" b="0">
                <a:solidFill>
                  <a:srgbClr val="173B3B"/>
                </a:solidFill>
                <a:latin typeface="Arial"/>
                <a:ea typeface="Arial"/>
                <a:cs typeface="Arial"/>
              </a:defRPr>
            </a:lvl9pPr>
          </a:lstStyle>
          <a:p>
            <a:pPr>
              <a:defRPr sz="2025" b="0">
                <a:solidFill>
                  <a:srgbClr val="173B3B"/>
                </a:solidFill>
                <a:latin typeface="Arial"/>
                <a:ea typeface="Arial"/>
                <a:cs typeface="Arial"/>
              </a:defRPr>
            </a:pPr>
            <a:r>
              <a:rPr sz="2000" b="0">
                <a:solidFill>
                  <a:srgbClr val="131E29"/>
                </a:solidFill>
                <a:latin typeface="Arial"/>
                <a:ea typeface="Arial"/>
                <a:cs typeface="Arial"/>
              </a:rPr>
              <a:t>Keep products, components and materials in use for longer</a:t>
            </a:r>
          </a:p>
        </p:txBody>
      </p:sp>
      <p:pic>
        <p:nvPicPr>
          <p:cNvPr id="3" name="Picture 2">
            <a:extLst>
              <a:ext uri="{FF2B5EF4-FFF2-40B4-BE49-F238E27FC236}">
                <a16:creationId xmlns:a16="http://schemas.microsoft.com/office/drawing/2014/main" id="{F31F1159-5E22-4052-BD07-46BD32561F6F}"/>
              </a:ext>
            </a:extLst>
          </p:cNvPr>
          <p:cNvPicPr>
            <a:picLocks noChangeAspect="1"/>
          </p:cNvPicPr>
          <p:nvPr/>
        </p:nvPicPr>
        <p:blipFill>
          <a:blip r:embed="rId3"/>
          <a:stretch/>
        </p:blipFill>
        <p:spPr>
          <a:xfrm>
            <a:off x="238125" y="1722438"/>
            <a:ext cx="5238750" cy="2794000"/>
          </a:xfrm>
          <a:prstGeom prst="rect">
            <a:avLst/>
          </a:prstGeom>
        </p:spPr>
      </p:pic>
      <p:sp>
        <p:nvSpPr>
          <p:cNvPr id="4" name="Rectangle 3">
            <a:extLst>
              <a:ext uri="{FF2B5EF4-FFF2-40B4-BE49-F238E27FC236}">
                <a16:creationId xmlns:a16="http://schemas.microsoft.com/office/drawing/2014/main" id="{275664F2-3607-4120-BD7E-66A346DC09E7}"/>
              </a:ext>
            </a:extLst>
          </p:cNvPr>
          <p:cNvSpPr>
            <a:spLocks noGrp="1"/>
          </p:cNvSpPr>
          <p:nvPr/>
        </p:nvSpPr>
        <p:spPr>
          <a:xfrm>
            <a:off x="428625" y="4762500"/>
            <a:ext cx="4857750" cy="333375"/>
          </a:xfrm>
          <a:prstGeom prst="rect">
            <a:avLst/>
          </a:prstGeom>
          <a:noFill/>
          <a:ln w="0">
            <a:noFill/>
            <a:prstDash val="solid"/>
          </a:ln>
        </p:spPr>
        <p:txBody>
          <a:bodyPr/>
          <a:lstStyle>
            <a:defPPr>
              <a:defRPr sz="2025" b="1">
                <a:solidFill>
                  <a:srgbClr val="173B3B"/>
                </a:solidFill>
                <a:latin typeface="Arial"/>
                <a:ea typeface="Arial"/>
                <a:cs typeface="Arial"/>
              </a:defRPr>
            </a:defPPr>
            <a:lvl1pPr>
              <a:defRPr sz="2025" b="1">
                <a:solidFill>
                  <a:srgbClr val="173B3B"/>
                </a:solidFill>
                <a:latin typeface="Arial"/>
                <a:ea typeface="Arial"/>
                <a:cs typeface="Arial"/>
              </a:defRPr>
            </a:lvl1pPr>
            <a:lvl2pPr>
              <a:defRPr sz="2025" b="1">
                <a:solidFill>
                  <a:srgbClr val="173B3B"/>
                </a:solidFill>
                <a:latin typeface="Arial"/>
                <a:ea typeface="Arial"/>
                <a:cs typeface="Arial"/>
              </a:defRPr>
            </a:lvl2pPr>
            <a:lvl3pPr>
              <a:defRPr sz="2025" b="1">
                <a:solidFill>
                  <a:srgbClr val="173B3B"/>
                </a:solidFill>
                <a:latin typeface="Arial"/>
                <a:ea typeface="Arial"/>
                <a:cs typeface="Arial"/>
              </a:defRPr>
            </a:lvl3pPr>
            <a:lvl4pPr>
              <a:defRPr sz="2025" b="1">
                <a:solidFill>
                  <a:srgbClr val="173B3B"/>
                </a:solidFill>
                <a:latin typeface="Arial"/>
                <a:ea typeface="Arial"/>
                <a:cs typeface="Arial"/>
              </a:defRPr>
            </a:lvl4pPr>
            <a:lvl5pPr>
              <a:defRPr sz="2025" b="1">
                <a:solidFill>
                  <a:srgbClr val="173B3B"/>
                </a:solidFill>
                <a:latin typeface="Arial"/>
                <a:ea typeface="Arial"/>
                <a:cs typeface="Arial"/>
              </a:defRPr>
            </a:lvl5pPr>
            <a:lvl6pPr>
              <a:defRPr sz="2025" b="1">
                <a:solidFill>
                  <a:srgbClr val="173B3B"/>
                </a:solidFill>
                <a:latin typeface="Arial"/>
                <a:ea typeface="Arial"/>
                <a:cs typeface="Arial"/>
              </a:defRPr>
            </a:lvl6pPr>
            <a:lvl7pPr>
              <a:defRPr sz="2025" b="1">
                <a:solidFill>
                  <a:srgbClr val="173B3B"/>
                </a:solidFill>
                <a:latin typeface="Arial"/>
                <a:ea typeface="Arial"/>
                <a:cs typeface="Arial"/>
              </a:defRPr>
            </a:lvl7pPr>
            <a:lvl8pPr>
              <a:defRPr sz="2025" b="1">
                <a:solidFill>
                  <a:srgbClr val="173B3B"/>
                </a:solidFill>
                <a:latin typeface="Arial"/>
                <a:ea typeface="Arial"/>
                <a:cs typeface="Arial"/>
              </a:defRPr>
            </a:lvl8pPr>
            <a:lvl9pPr>
              <a:defRPr sz="2025" b="1">
                <a:solidFill>
                  <a:srgbClr val="173B3B"/>
                </a:solidFill>
                <a:latin typeface="Arial"/>
                <a:ea typeface="Arial"/>
                <a:cs typeface="Arial"/>
              </a:defRPr>
            </a:lvl9pPr>
          </a:lstStyle>
          <a:p>
            <a:pPr>
              <a:defRPr sz="2025" b="1">
                <a:solidFill>
                  <a:srgbClr val="173B3B"/>
                </a:solidFill>
                <a:latin typeface="Arial"/>
                <a:ea typeface="Arial"/>
                <a:cs typeface="Arial"/>
              </a:defRPr>
            </a:pPr>
            <a:r>
              <a:rPr sz="2000" b="1">
                <a:solidFill>
                  <a:srgbClr val="131E29"/>
                </a:solidFill>
                <a:latin typeface="Arial"/>
                <a:ea typeface="Arial"/>
                <a:cs typeface="Arial"/>
              </a:rPr>
              <a:t>Supply chain implications</a:t>
            </a:r>
          </a:p>
        </p:txBody>
      </p:sp>
      <p:sp>
        <p:nvSpPr>
          <p:cNvPr id="5" name="Rectangle 4">
            <a:extLst>
              <a:ext uri="{FF2B5EF4-FFF2-40B4-BE49-F238E27FC236}">
                <a16:creationId xmlns:a16="http://schemas.microsoft.com/office/drawing/2014/main" id="{679E48CE-EE82-4681-8688-76CE2A44FCBE}"/>
              </a:ext>
            </a:extLst>
          </p:cNvPr>
          <p:cNvSpPr>
            <a:spLocks noGrp="1"/>
          </p:cNvSpPr>
          <p:nvPr/>
        </p:nvSpPr>
        <p:spPr>
          <a:xfrm>
            <a:off x="428625" y="5219700"/>
            <a:ext cx="4857750" cy="1000125"/>
          </a:xfrm>
          <a:prstGeom prst="rect">
            <a:avLst/>
          </a:prstGeom>
          <a:noFill/>
          <a:ln w="0">
            <a:noFill/>
            <a:prstDash val="solid"/>
          </a:ln>
        </p:spPr>
        <p:txBody>
          <a:bodyPr/>
          <a:lstStyle>
            <a:defPPr>
              <a:defRPr sz="1800" b="0">
                <a:solidFill>
                  <a:srgbClr val="173B3B"/>
                </a:solidFill>
                <a:latin typeface="Arial"/>
                <a:ea typeface="Arial"/>
                <a:cs typeface="Arial"/>
              </a:defRPr>
            </a:defPPr>
            <a:lvl1pPr>
              <a:defRPr sz="1800" b="0">
                <a:solidFill>
                  <a:srgbClr val="173B3B"/>
                </a:solidFill>
                <a:latin typeface="Arial"/>
                <a:ea typeface="Arial"/>
                <a:cs typeface="Arial"/>
              </a:defRPr>
            </a:lvl1pPr>
            <a:lvl2pPr>
              <a:defRPr sz="1800" b="0">
                <a:solidFill>
                  <a:srgbClr val="173B3B"/>
                </a:solidFill>
                <a:latin typeface="Arial"/>
                <a:ea typeface="Arial"/>
                <a:cs typeface="Arial"/>
              </a:defRPr>
            </a:lvl2pPr>
            <a:lvl3pPr>
              <a:defRPr sz="1800" b="0">
                <a:solidFill>
                  <a:srgbClr val="173B3B"/>
                </a:solidFill>
                <a:latin typeface="Arial"/>
                <a:ea typeface="Arial"/>
                <a:cs typeface="Arial"/>
              </a:defRPr>
            </a:lvl3pPr>
            <a:lvl4pPr>
              <a:defRPr sz="1800" b="0">
                <a:solidFill>
                  <a:srgbClr val="173B3B"/>
                </a:solidFill>
                <a:latin typeface="Arial"/>
                <a:ea typeface="Arial"/>
                <a:cs typeface="Arial"/>
              </a:defRPr>
            </a:lvl4pPr>
            <a:lvl5pPr>
              <a:defRPr sz="1800" b="0">
                <a:solidFill>
                  <a:srgbClr val="173B3B"/>
                </a:solidFill>
                <a:latin typeface="Arial"/>
                <a:ea typeface="Arial"/>
                <a:cs typeface="Arial"/>
              </a:defRPr>
            </a:lvl5pPr>
            <a:lvl6pPr>
              <a:defRPr sz="1800" b="0">
                <a:solidFill>
                  <a:srgbClr val="173B3B"/>
                </a:solidFill>
                <a:latin typeface="Arial"/>
                <a:ea typeface="Arial"/>
                <a:cs typeface="Arial"/>
              </a:defRPr>
            </a:lvl6pPr>
            <a:lvl7pPr>
              <a:defRPr sz="1800" b="0">
                <a:solidFill>
                  <a:srgbClr val="173B3B"/>
                </a:solidFill>
                <a:latin typeface="Arial"/>
                <a:ea typeface="Arial"/>
                <a:cs typeface="Arial"/>
              </a:defRPr>
            </a:lvl7pPr>
            <a:lvl8pPr>
              <a:defRPr sz="1800" b="0">
                <a:solidFill>
                  <a:srgbClr val="173B3B"/>
                </a:solidFill>
                <a:latin typeface="Arial"/>
                <a:ea typeface="Arial"/>
                <a:cs typeface="Arial"/>
              </a:defRPr>
            </a:lvl8pPr>
            <a:lvl9pPr>
              <a:defRPr sz="1800" b="0">
                <a:solidFill>
                  <a:srgbClr val="173B3B"/>
                </a:solidFill>
                <a:latin typeface="Arial"/>
                <a:ea typeface="Arial"/>
                <a:cs typeface="Arial"/>
              </a:defRPr>
            </a:lvl9pPr>
          </a:lstStyle>
          <a:p>
            <a:pPr>
              <a:defRPr sz="1800" b="0">
                <a:solidFill>
                  <a:srgbClr val="173B3B"/>
                </a:solidFill>
                <a:latin typeface="Arial"/>
                <a:ea typeface="Arial"/>
                <a:cs typeface="Arial"/>
              </a:defRPr>
            </a:pPr>
            <a:r>
              <a:rPr sz="1800" b="0">
                <a:solidFill>
                  <a:srgbClr val="131E29"/>
                </a:solidFill>
                <a:latin typeface="Arial"/>
                <a:ea typeface="Arial"/>
                <a:cs typeface="Arial"/>
              </a:rPr>
              <a:t>Design out unnecessary inputs.</a:t>
            </a:r>
          </a:p>
          <a:p>
            <a:pPr>
              <a:defRPr sz="1800" b="0">
                <a:solidFill>
                  <a:srgbClr val="173B3B"/>
                </a:solidFill>
                <a:latin typeface="Arial"/>
                <a:ea typeface="Arial"/>
                <a:cs typeface="Arial"/>
              </a:defRPr>
            </a:pPr>
            <a:r>
              <a:rPr sz="1800" b="0">
                <a:solidFill>
                  <a:srgbClr val="131E29"/>
                </a:solidFill>
                <a:latin typeface="Arial"/>
                <a:ea typeface="Arial"/>
                <a:cs typeface="Arial"/>
              </a:rPr>
              <a:t>Organise collection and reverse logistics.</a:t>
            </a:r>
          </a:p>
          <a:p>
            <a:pPr>
              <a:defRPr sz="1800" b="0">
                <a:solidFill>
                  <a:srgbClr val="173B3B"/>
                </a:solidFill>
                <a:latin typeface="Arial"/>
                <a:ea typeface="Arial"/>
                <a:cs typeface="Arial"/>
              </a:defRPr>
            </a:pPr>
            <a:r>
              <a:rPr sz="1800" b="0">
                <a:solidFill>
                  <a:srgbClr val="131E29"/>
                </a:solidFill>
                <a:latin typeface="Arial"/>
                <a:ea typeface="Arial"/>
                <a:cs typeface="Arial"/>
              </a:rPr>
              <a:t>Support repair, resale and parts recovery.</a:t>
            </a:r>
          </a:p>
        </p:txBody>
      </p:sp>
      <p:sp>
        <p:nvSpPr>
          <p:cNvPr id="6" name="Rectangle 5">
            <a:extLst>
              <a:ext uri="{FF2B5EF4-FFF2-40B4-BE49-F238E27FC236}">
                <a16:creationId xmlns:a16="http://schemas.microsoft.com/office/drawing/2014/main" id="{8F06BADB-A1C3-4CFD-8B3B-1DC47A728CF8}"/>
              </a:ext>
            </a:extLst>
          </p:cNvPr>
          <p:cNvSpPr>
            <a:spLocks noGrp="1"/>
          </p:cNvSpPr>
          <p:nvPr/>
        </p:nvSpPr>
        <p:spPr>
          <a:xfrm>
            <a:off x="5715000" y="1743075"/>
            <a:ext cx="6000750" cy="371475"/>
          </a:xfrm>
          <a:prstGeom prst="rect">
            <a:avLst/>
          </a:prstGeom>
          <a:solidFill>
            <a:srgbClr val="E9F5F3"/>
          </a:solidFill>
          <a:ln w="0">
            <a:noFill/>
            <a:prstDash val="solid"/>
          </a:ln>
        </p:spPr>
        <p:txBody>
          <a:bodyPr/>
          <a:lstStyle/>
          <a:p>
            <a:endParaRPr lang="en-GB"/>
          </a:p>
        </p:txBody>
      </p:sp>
      <p:sp>
        <p:nvSpPr>
          <p:cNvPr id="7" name="Rectangle 6">
            <a:extLst>
              <a:ext uri="{FF2B5EF4-FFF2-40B4-BE49-F238E27FC236}">
                <a16:creationId xmlns:a16="http://schemas.microsoft.com/office/drawing/2014/main" id="{5D1F726B-11FF-41B0-9025-5C682C55CCB9}"/>
              </a:ext>
            </a:extLst>
          </p:cNvPr>
          <p:cNvSpPr>
            <a:spLocks noGrp="1"/>
          </p:cNvSpPr>
          <p:nvPr/>
        </p:nvSpPr>
        <p:spPr>
          <a:xfrm>
            <a:off x="5762625" y="1790700"/>
            <a:ext cx="523875" cy="285750"/>
          </a:xfrm>
          <a:prstGeom prst="rect">
            <a:avLst/>
          </a:prstGeom>
          <a:noFill/>
          <a:ln w="0">
            <a:noFill/>
            <a:prstDash val="solid"/>
          </a:ln>
        </p:spPr>
        <p:txBody>
          <a:bodyPr/>
          <a:lstStyle>
            <a:defPPr>
              <a:defRPr sz="1350" b="1">
                <a:solidFill>
                  <a:srgbClr val="087F8C"/>
                </a:solidFill>
                <a:latin typeface="Arial"/>
                <a:ea typeface="Arial"/>
                <a:cs typeface="Arial"/>
              </a:defRPr>
            </a:defPPr>
            <a:lvl1pPr>
              <a:defRPr sz="1350" b="1">
                <a:solidFill>
                  <a:srgbClr val="087F8C"/>
                </a:solidFill>
                <a:latin typeface="Arial"/>
                <a:ea typeface="Arial"/>
                <a:cs typeface="Arial"/>
              </a:defRPr>
            </a:lvl1pPr>
            <a:lvl2pPr>
              <a:defRPr sz="1350" b="1">
                <a:solidFill>
                  <a:srgbClr val="087F8C"/>
                </a:solidFill>
                <a:latin typeface="Arial"/>
                <a:ea typeface="Arial"/>
                <a:cs typeface="Arial"/>
              </a:defRPr>
            </a:lvl2pPr>
            <a:lvl3pPr>
              <a:defRPr sz="1350" b="1">
                <a:solidFill>
                  <a:srgbClr val="087F8C"/>
                </a:solidFill>
                <a:latin typeface="Arial"/>
                <a:ea typeface="Arial"/>
                <a:cs typeface="Arial"/>
              </a:defRPr>
            </a:lvl3pPr>
            <a:lvl4pPr>
              <a:defRPr sz="1350" b="1">
                <a:solidFill>
                  <a:srgbClr val="087F8C"/>
                </a:solidFill>
                <a:latin typeface="Arial"/>
                <a:ea typeface="Arial"/>
                <a:cs typeface="Arial"/>
              </a:defRPr>
            </a:lvl4pPr>
            <a:lvl5pPr>
              <a:defRPr sz="1350" b="1">
                <a:solidFill>
                  <a:srgbClr val="087F8C"/>
                </a:solidFill>
                <a:latin typeface="Arial"/>
                <a:ea typeface="Arial"/>
                <a:cs typeface="Arial"/>
              </a:defRPr>
            </a:lvl5pPr>
            <a:lvl6pPr>
              <a:defRPr sz="1350" b="1">
                <a:solidFill>
                  <a:srgbClr val="087F8C"/>
                </a:solidFill>
                <a:latin typeface="Arial"/>
                <a:ea typeface="Arial"/>
                <a:cs typeface="Arial"/>
              </a:defRPr>
            </a:lvl6pPr>
            <a:lvl7pPr>
              <a:defRPr sz="1350" b="1">
                <a:solidFill>
                  <a:srgbClr val="087F8C"/>
                </a:solidFill>
                <a:latin typeface="Arial"/>
                <a:ea typeface="Arial"/>
                <a:cs typeface="Arial"/>
              </a:defRPr>
            </a:lvl7pPr>
            <a:lvl8pPr>
              <a:defRPr sz="1350" b="1">
                <a:solidFill>
                  <a:srgbClr val="087F8C"/>
                </a:solidFill>
                <a:latin typeface="Arial"/>
                <a:ea typeface="Arial"/>
                <a:cs typeface="Arial"/>
              </a:defRPr>
            </a:lvl8pPr>
            <a:lvl9pPr>
              <a:defRPr sz="1350" b="1">
                <a:solidFill>
                  <a:srgbClr val="087F8C"/>
                </a:solidFill>
                <a:latin typeface="Arial"/>
                <a:ea typeface="Arial"/>
                <a:cs typeface="Arial"/>
              </a:defRPr>
            </a:lvl9pPr>
          </a:lstStyle>
          <a:p>
            <a:pPr>
              <a:defRPr sz="1350" b="1">
                <a:solidFill>
                  <a:srgbClr val="087F8C"/>
                </a:solidFill>
                <a:latin typeface="Arial"/>
                <a:ea typeface="Arial"/>
                <a:cs typeface="Arial"/>
              </a:defRPr>
            </a:pPr>
            <a:r>
              <a:rPr sz="1300" b="1">
                <a:solidFill>
                  <a:srgbClr val="005A8F"/>
                </a:solidFill>
                <a:latin typeface="Arial"/>
                <a:ea typeface="Arial"/>
                <a:cs typeface="Arial"/>
              </a:rPr>
              <a:t>R0</a:t>
            </a:r>
          </a:p>
        </p:txBody>
      </p:sp>
      <p:sp>
        <p:nvSpPr>
          <p:cNvPr id="8" name="Rectangle 7">
            <a:extLst>
              <a:ext uri="{FF2B5EF4-FFF2-40B4-BE49-F238E27FC236}">
                <a16:creationId xmlns:a16="http://schemas.microsoft.com/office/drawing/2014/main" id="{E2B5EE22-91FF-444D-AED1-15566E77C573}"/>
              </a:ext>
            </a:extLst>
          </p:cNvPr>
          <p:cNvSpPr>
            <a:spLocks noGrp="1"/>
          </p:cNvSpPr>
          <p:nvPr/>
        </p:nvSpPr>
        <p:spPr>
          <a:xfrm>
            <a:off x="6286500" y="1781175"/>
            <a:ext cx="1762125" cy="304800"/>
          </a:xfrm>
          <a:prstGeom prst="rect">
            <a:avLst/>
          </a:prstGeom>
          <a:noFill/>
          <a:ln w="0">
            <a:noFill/>
            <a:prstDash val="solid"/>
          </a:ln>
        </p:spPr>
        <p:txBody>
          <a:bodyPr/>
          <a:lstStyle>
            <a:defPPr>
              <a:defRPr sz="1650" b="1">
                <a:solidFill>
                  <a:srgbClr val="087F8C"/>
                </a:solidFill>
                <a:latin typeface="Arial"/>
                <a:ea typeface="Arial"/>
                <a:cs typeface="Arial"/>
              </a:defRPr>
            </a:defPPr>
            <a:lvl1pPr>
              <a:defRPr sz="1650" b="1">
                <a:solidFill>
                  <a:srgbClr val="087F8C"/>
                </a:solidFill>
                <a:latin typeface="Arial"/>
                <a:ea typeface="Arial"/>
                <a:cs typeface="Arial"/>
              </a:defRPr>
            </a:lvl1pPr>
            <a:lvl2pPr>
              <a:defRPr sz="1650" b="1">
                <a:solidFill>
                  <a:srgbClr val="087F8C"/>
                </a:solidFill>
                <a:latin typeface="Arial"/>
                <a:ea typeface="Arial"/>
                <a:cs typeface="Arial"/>
              </a:defRPr>
            </a:lvl2pPr>
            <a:lvl3pPr>
              <a:defRPr sz="1650" b="1">
                <a:solidFill>
                  <a:srgbClr val="087F8C"/>
                </a:solidFill>
                <a:latin typeface="Arial"/>
                <a:ea typeface="Arial"/>
                <a:cs typeface="Arial"/>
              </a:defRPr>
            </a:lvl3pPr>
            <a:lvl4pPr>
              <a:defRPr sz="1650" b="1">
                <a:solidFill>
                  <a:srgbClr val="087F8C"/>
                </a:solidFill>
                <a:latin typeface="Arial"/>
                <a:ea typeface="Arial"/>
                <a:cs typeface="Arial"/>
              </a:defRPr>
            </a:lvl4pPr>
            <a:lvl5pPr>
              <a:defRPr sz="1650" b="1">
                <a:solidFill>
                  <a:srgbClr val="087F8C"/>
                </a:solidFill>
                <a:latin typeface="Arial"/>
                <a:ea typeface="Arial"/>
                <a:cs typeface="Arial"/>
              </a:defRPr>
            </a:lvl5pPr>
            <a:lvl6pPr>
              <a:defRPr sz="1650" b="1">
                <a:solidFill>
                  <a:srgbClr val="087F8C"/>
                </a:solidFill>
                <a:latin typeface="Arial"/>
                <a:ea typeface="Arial"/>
                <a:cs typeface="Arial"/>
              </a:defRPr>
            </a:lvl6pPr>
            <a:lvl7pPr>
              <a:defRPr sz="1650" b="1">
                <a:solidFill>
                  <a:srgbClr val="087F8C"/>
                </a:solidFill>
                <a:latin typeface="Arial"/>
                <a:ea typeface="Arial"/>
                <a:cs typeface="Arial"/>
              </a:defRPr>
            </a:lvl7pPr>
            <a:lvl8pPr>
              <a:defRPr sz="1650" b="1">
                <a:solidFill>
                  <a:srgbClr val="087F8C"/>
                </a:solidFill>
                <a:latin typeface="Arial"/>
                <a:ea typeface="Arial"/>
                <a:cs typeface="Arial"/>
              </a:defRPr>
            </a:lvl8pPr>
            <a:lvl9pPr>
              <a:defRPr sz="1650" b="1">
                <a:solidFill>
                  <a:srgbClr val="087F8C"/>
                </a:solidFill>
                <a:latin typeface="Arial"/>
                <a:ea typeface="Arial"/>
                <a:cs typeface="Arial"/>
              </a:defRPr>
            </a:lvl9pPr>
          </a:lstStyle>
          <a:p>
            <a:pPr>
              <a:defRPr sz="1650" b="1">
                <a:solidFill>
                  <a:srgbClr val="087F8C"/>
                </a:solidFill>
                <a:latin typeface="Arial"/>
                <a:ea typeface="Arial"/>
                <a:cs typeface="Arial"/>
              </a:defRPr>
            </a:pPr>
            <a:r>
              <a:rPr sz="1600" b="1">
                <a:solidFill>
                  <a:srgbClr val="005A8F"/>
                </a:solidFill>
                <a:latin typeface="Arial"/>
                <a:ea typeface="Arial"/>
                <a:cs typeface="Arial"/>
              </a:rPr>
              <a:t>Refuse</a:t>
            </a:r>
          </a:p>
        </p:txBody>
      </p:sp>
      <p:sp>
        <p:nvSpPr>
          <p:cNvPr id="9" name="Rectangle 8">
            <a:extLst>
              <a:ext uri="{FF2B5EF4-FFF2-40B4-BE49-F238E27FC236}">
                <a16:creationId xmlns:a16="http://schemas.microsoft.com/office/drawing/2014/main" id="{5943DBDF-FCD8-4E4C-94D5-4247655DFAFD}"/>
              </a:ext>
            </a:extLst>
          </p:cNvPr>
          <p:cNvSpPr>
            <a:spLocks noGrp="1"/>
          </p:cNvSpPr>
          <p:nvPr/>
        </p:nvSpPr>
        <p:spPr>
          <a:xfrm>
            <a:off x="8096250" y="1790700"/>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Avoid unnecessary products</a:t>
            </a:r>
          </a:p>
        </p:txBody>
      </p:sp>
      <p:sp>
        <p:nvSpPr>
          <p:cNvPr id="10" name="Rectangle 9">
            <a:extLst>
              <a:ext uri="{FF2B5EF4-FFF2-40B4-BE49-F238E27FC236}">
                <a16:creationId xmlns:a16="http://schemas.microsoft.com/office/drawing/2014/main" id="{FD5F31C7-15A2-4FF8-859B-C9C7753963A4}"/>
              </a:ext>
            </a:extLst>
          </p:cNvPr>
          <p:cNvSpPr>
            <a:spLocks noGrp="1"/>
          </p:cNvSpPr>
          <p:nvPr/>
        </p:nvSpPr>
        <p:spPr>
          <a:xfrm>
            <a:off x="5715000" y="2152650"/>
            <a:ext cx="6000750" cy="371475"/>
          </a:xfrm>
          <a:prstGeom prst="rect">
            <a:avLst/>
          </a:prstGeom>
          <a:solidFill>
            <a:srgbClr val="E9F5F3"/>
          </a:solidFill>
          <a:ln w="0">
            <a:noFill/>
            <a:prstDash val="solid"/>
          </a:ln>
        </p:spPr>
        <p:txBody>
          <a:bodyPr/>
          <a:lstStyle/>
          <a:p>
            <a:endParaRPr lang="en-GB"/>
          </a:p>
        </p:txBody>
      </p:sp>
      <p:sp>
        <p:nvSpPr>
          <p:cNvPr id="11" name="Rectangle 10">
            <a:extLst>
              <a:ext uri="{FF2B5EF4-FFF2-40B4-BE49-F238E27FC236}">
                <a16:creationId xmlns:a16="http://schemas.microsoft.com/office/drawing/2014/main" id="{5C6827A5-3BA1-4F4C-9E03-03ECE91BF248}"/>
              </a:ext>
            </a:extLst>
          </p:cNvPr>
          <p:cNvSpPr>
            <a:spLocks noGrp="1"/>
          </p:cNvSpPr>
          <p:nvPr/>
        </p:nvSpPr>
        <p:spPr>
          <a:xfrm>
            <a:off x="5762625" y="2200275"/>
            <a:ext cx="523875" cy="285750"/>
          </a:xfrm>
          <a:prstGeom prst="rect">
            <a:avLst/>
          </a:prstGeom>
          <a:noFill/>
          <a:ln w="0">
            <a:noFill/>
            <a:prstDash val="solid"/>
          </a:ln>
        </p:spPr>
        <p:txBody>
          <a:bodyPr/>
          <a:lstStyle>
            <a:defPPr>
              <a:defRPr sz="1350" b="1">
                <a:solidFill>
                  <a:srgbClr val="087F8C"/>
                </a:solidFill>
                <a:latin typeface="Arial"/>
                <a:ea typeface="Arial"/>
                <a:cs typeface="Arial"/>
              </a:defRPr>
            </a:defPPr>
            <a:lvl1pPr>
              <a:defRPr sz="1350" b="1">
                <a:solidFill>
                  <a:srgbClr val="087F8C"/>
                </a:solidFill>
                <a:latin typeface="Arial"/>
                <a:ea typeface="Arial"/>
                <a:cs typeface="Arial"/>
              </a:defRPr>
            </a:lvl1pPr>
            <a:lvl2pPr>
              <a:defRPr sz="1350" b="1">
                <a:solidFill>
                  <a:srgbClr val="087F8C"/>
                </a:solidFill>
                <a:latin typeface="Arial"/>
                <a:ea typeface="Arial"/>
                <a:cs typeface="Arial"/>
              </a:defRPr>
            </a:lvl2pPr>
            <a:lvl3pPr>
              <a:defRPr sz="1350" b="1">
                <a:solidFill>
                  <a:srgbClr val="087F8C"/>
                </a:solidFill>
                <a:latin typeface="Arial"/>
                <a:ea typeface="Arial"/>
                <a:cs typeface="Arial"/>
              </a:defRPr>
            </a:lvl3pPr>
            <a:lvl4pPr>
              <a:defRPr sz="1350" b="1">
                <a:solidFill>
                  <a:srgbClr val="087F8C"/>
                </a:solidFill>
                <a:latin typeface="Arial"/>
                <a:ea typeface="Arial"/>
                <a:cs typeface="Arial"/>
              </a:defRPr>
            </a:lvl4pPr>
            <a:lvl5pPr>
              <a:defRPr sz="1350" b="1">
                <a:solidFill>
                  <a:srgbClr val="087F8C"/>
                </a:solidFill>
                <a:latin typeface="Arial"/>
                <a:ea typeface="Arial"/>
                <a:cs typeface="Arial"/>
              </a:defRPr>
            </a:lvl5pPr>
            <a:lvl6pPr>
              <a:defRPr sz="1350" b="1">
                <a:solidFill>
                  <a:srgbClr val="087F8C"/>
                </a:solidFill>
                <a:latin typeface="Arial"/>
                <a:ea typeface="Arial"/>
                <a:cs typeface="Arial"/>
              </a:defRPr>
            </a:lvl6pPr>
            <a:lvl7pPr>
              <a:defRPr sz="1350" b="1">
                <a:solidFill>
                  <a:srgbClr val="087F8C"/>
                </a:solidFill>
                <a:latin typeface="Arial"/>
                <a:ea typeface="Arial"/>
                <a:cs typeface="Arial"/>
              </a:defRPr>
            </a:lvl7pPr>
            <a:lvl8pPr>
              <a:defRPr sz="1350" b="1">
                <a:solidFill>
                  <a:srgbClr val="087F8C"/>
                </a:solidFill>
                <a:latin typeface="Arial"/>
                <a:ea typeface="Arial"/>
                <a:cs typeface="Arial"/>
              </a:defRPr>
            </a:lvl8pPr>
            <a:lvl9pPr>
              <a:defRPr sz="1350" b="1">
                <a:solidFill>
                  <a:srgbClr val="087F8C"/>
                </a:solidFill>
                <a:latin typeface="Arial"/>
                <a:ea typeface="Arial"/>
                <a:cs typeface="Arial"/>
              </a:defRPr>
            </a:lvl9pPr>
          </a:lstStyle>
          <a:p>
            <a:pPr>
              <a:defRPr sz="1350" b="1">
                <a:solidFill>
                  <a:srgbClr val="087F8C"/>
                </a:solidFill>
                <a:latin typeface="Arial"/>
                <a:ea typeface="Arial"/>
                <a:cs typeface="Arial"/>
              </a:defRPr>
            </a:pPr>
            <a:r>
              <a:rPr sz="1300" b="1">
                <a:solidFill>
                  <a:srgbClr val="005A8F"/>
                </a:solidFill>
                <a:latin typeface="Arial"/>
                <a:ea typeface="Arial"/>
                <a:cs typeface="Arial"/>
              </a:rPr>
              <a:t>R1</a:t>
            </a:r>
          </a:p>
        </p:txBody>
      </p:sp>
      <p:sp>
        <p:nvSpPr>
          <p:cNvPr id="12" name="Rectangle 11">
            <a:extLst>
              <a:ext uri="{FF2B5EF4-FFF2-40B4-BE49-F238E27FC236}">
                <a16:creationId xmlns:a16="http://schemas.microsoft.com/office/drawing/2014/main" id="{1F514660-A253-4E5E-BCC3-EC007B972FBA}"/>
              </a:ext>
            </a:extLst>
          </p:cNvPr>
          <p:cNvSpPr>
            <a:spLocks noGrp="1"/>
          </p:cNvSpPr>
          <p:nvPr/>
        </p:nvSpPr>
        <p:spPr>
          <a:xfrm>
            <a:off x="6286500" y="2190750"/>
            <a:ext cx="1762125" cy="304800"/>
          </a:xfrm>
          <a:prstGeom prst="rect">
            <a:avLst/>
          </a:prstGeom>
          <a:noFill/>
          <a:ln w="0">
            <a:noFill/>
            <a:prstDash val="solid"/>
          </a:ln>
        </p:spPr>
        <p:txBody>
          <a:bodyPr/>
          <a:lstStyle>
            <a:defPPr>
              <a:defRPr sz="1650" b="1">
                <a:solidFill>
                  <a:srgbClr val="087F8C"/>
                </a:solidFill>
                <a:latin typeface="Arial"/>
                <a:ea typeface="Arial"/>
                <a:cs typeface="Arial"/>
              </a:defRPr>
            </a:defPPr>
            <a:lvl1pPr>
              <a:defRPr sz="1650" b="1">
                <a:solidFill>
                  <a:srgbClr val="087F8C"/>
                </a:solidFill>
                <a:latin typeface="Arial"/>
                <a:ea typeface="Arial"/>
                <a:cs typeface="Arial"/>
              </a:defRPr>
            </a:lvl1pPr>
            <a:lvl2pPr>
              <a:defRPr sz="1650" b="1">
                <a:solidFill>
                  <a:srgbClr val="087F8C"/>
                </a:solidFill>
                <a:latin typeface="Arial"/>
                <a:ea typeface="Arial"/>
                <a:cs typeface="Arial"/>
              </a:defRPr>
            </a:lvl2pPr>
            <a:lvl3pPr>
              <a:defRPr sz="1650" b="1">
                <a:solidFill>
                  <a:srgbClr val="087F8C"/>
                </a:solidFill>
                <a:latin typeface="Arial"/>
                <a:ea typeface="Arial"/>
                <a:cs typeface="Arial"/>
              </a:defRPr>
            </a:lvl3pPr>
            <a:lvl4pPr>
              <a:defRPr sz="1650" b="1">
                <a:solidFill>
                  <a:srgbClr val="087F8C"/>
                </a:solidFill>
                <a:latin typeface="Arial"/>
                <a:ea typeface="Arial"/>
                <a:cs typeface="Arial"/>
              </a:defRPr>
            </a:lvl4pPr>
            <a:lvl5pPr>
              <a:defRPr sz="1650" b="1">
                <a:solidFill>
                  <a:srgbClr val="087F8C"/>
                </a:solidFill>
                <a:latin typeface="Arial"/>
                <a:ea typeface="Arial"/>
                <a:cs typeface="Arial"/>
              </a:defRPr>
            </a:lvl5pPr>
            <a:lvl6pPr>
              <a:defRPr sz="1650" b="1">
                <a:solidFill>
                  <a:srgbClr val="087F8C"/>
                </a:solidFill>
                <a:latin typeface="Arial"/>
                <a:ea typeface="Arial"/>
                <a:cs typeface="Arial"/>
              </a:defRPr>
            </a:lvl6pPr>
            <a:lvl7pPr>
              <a:defRPr sz="1650" b="1">
                <a:solidFill>
                  <a:srgbClr val="087F8C"/>
                </a:solidFill>
                <a:latin typeface="Arial"/>
                <a:ea typeface="Arial"/>
                <a:cs typeface="Arial"/>
              </a:defRPr>
            </a:lvl7pPr>
            <a:lvl8pPr>
              <a:defRPr sz="1650" b="1">
                <a:solidFill>
                  <a:srgbClr val="087F8C"/>
                </a:solidFill>
                <a:latin typeface="Arial"/>
                <a:ea typeface="Arial"/>
                <a:cs typeface="Arial"/>
              </a:defRPr>
            </a:lvl8pPr>
            <a:lvl9pPr>
              <a:defRPr sz="1650" b="1">
                <a:solidFill>
                  <a:srgbClr val="087F8C"/>
                </a:solidFill>
                <a:latin typeface="Arial"/>
                <a:ea typeface="Arial"/>
                <a:cs typeface="Arial"/>
              </a:defRPr>
            </a:lvl9pPr>
          </a:lstStyle>
          <a:p>
            <a:pPr>
              <a:defRPr sz="1650" b="1">
                <a:solidFill>
                  <a:srgbClr val="087F8C"/>
                </a:solidFill>
                <a:latin typeface="Arial"/>
                <a:ea typeface="Arial"/>
                <a:cs typeface="Arial"/>
              </a:defRPr>
            </a:pPr>
            <a:r>
              <a:rPr sz="1600" b="1">
                <a:solidFill>
                  <a:srgbClr val="005A8F"/>
                </a:solidFill>
                <a:latin typeface="Arial"/>
                <a:ea typeface="Arial"/>
                <a:cs typeface="Arial"/>
              </a:rPr>
              <a:t>Rethink</a:t>
            </a:r>
          </a:p>
        </p:txBody>
      </p:sp>
      <p:sp>
        <p:nvSpPr>
          <p:cNvPr id="13" name="Rectangle 12">
            <a:extLst>
              <a:ext uri="{FF2B5EF4-FFF2-40B4-BE49-F238E27FC236}">
                <a16:creationId xmlns:a16="http://schemas.microsoft.com/office/drawing/2014/main" id="{C84FDD2C-C60A-416F-8600-9D758B8125AC}"/>
              </a:ext>
            </a:extLst>
          </p:cNvPr>
          <p:cNvSpPr>
            <a:spLocks noGrp="1"/>
          </p:cNvSpPr>
          <p:nvPr/>
        </p:nvSpPr>
        <p:spPr>
          <a:xfrm>
            <a:off x="8096250" y="2200275"/>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Share or offer products as a service</a:t>
            </a:r>
          </a:p>
        </p:txBody>
      </p:sp>
      <p:sp>
        <p:nvSpPr>
          <p:cNvPr id="14" name="Rectangle 13">
            <a:extLst>
              <a:ext uri="{FF2B5EF4-FFF2-40B4-BE49-F238E27FC236}">
                <a16:creationId xmlns:a16="http://schemas.microsoft.com/office/drawing/2014/main" id="{30583EF5-7D04-4460-9740-BA9A694B8F18}"/>
              </a:ext>
            </a:extLst>
          </p:cNvPr>
          <p:cNvSpPr>
            <a:spLocks noGrp="1"/>
          </p:cNvSpPr>
          <p:nvPr/>
        </p:nvSpPr>
        <p:spPr>
          <a:xfrm>
            <a:off x="5715000" y="2562225"/>
            <a:ext cx="6000750" cy="371475"/>
          </a:xfrm>
          <a:prstGeom prst="rect">
            <a:avLst/>
          </a:prstGeom>
          <a:solidFill>
            <a:srgbClr val="E9F5F3"/>
          </a:solidFill>
          <a:ln w="0">
            <a:noFill/>
            <a:prstDash val="solid"/>
          </a:ln>
        </p:spPr>
        <p:txBody>
          <a:bodyPr/>
          <a:lstStyle/>
          <a:p>
            <a:endParaRPr lang="en-GB"/>
          </a:p>
        </p:txBody>
      </p:sp>
      <p:sp>
        <p:nvSpPr>
          <p:cNvPr id="15" name="Rectangle 14">
            <a:extLst>
              <a:ext uri="{FF2B5EF4-FFF2-40B4-BE49-F238E27FC236}">
                <a16:creationId xmlns:a16="http://schemas.microsoft.com/office/drawing/2014/main" id="{F032BD01-5E7A-4777-921C-357D7E042D72}"/>
              </a:ext>
            </a:extLst>
          </p:cNvPr>
          <p:cNvSpPr>
            <a:spLocks noGrp="1"/>
          </p:cNvSpPr>
          <p:nvPr/>
        </p:nvSpPr>
        <p:spPr>
          <a:xfrm>
            <a:off x="5762625" y="2609850"/>
            <a:ext cx="523875" cy="285750"/>
          </a:xfrm>
          <a:prstGeom prst="rect">
            <a:avLst/>
          </a:prstGeom>
          <a:noFill/>
          <a:ln w="0">
            <a:noFill/>
            <a:prstDash val="solid"/>
          </a:ln>
        </p:spPr>
        <p:txBody>
          <a:bodyPr/>
          <a:lstStyle>
            <a:defPPr>
              <a:defRPr sz="1350" b="1">
                <a:solidFill>
                  <a:srgbClr val="087F8C"/>
                </a:solidFill>
                <a:latin typeface="Arial"/>
                <a:ea typeface="Arial"/>
                <a:cs typeface="Arial"/>
              </a:defRPr>
            </a:defPPr>
            <a:lvl1pPr>
              <a:defRPr sz="1350" b="1">
                <a:solidFill>
                  <a:srgbClr val="087F8C"/>
                </a:solidFill>
                <a:latin typeface="Arial"/>
                <a:ea typeface="Arial"/>
                <a:cs typeface="Arial"/>
              </a:defRPr>
            </a:lvl1pPr>
            <a:lvl2pPr>
              <a:defRPr sz="1350" b="1">
                <a:solidFill>
                  <a:srgbClr val="087F8C"/>
                </a:solidFill>
                <a:latin typeface="Arial"/>
                <a:ea typeface="Arial"/>
                <a:cs typeface="Arial"/>
              </a:defRPr>
            </a:lvl2pPr>
            <a:lvl3pPr>
              <a:defRPr sz="1350" b="1">
                <a:solidFill>
                  <a:srgbClr val="087F8C"/>
                </a:solidFill>
                <a:latin typeface="Arial"/>
                <a:ea typeface="Arial"/>
                <a:cs typeface="Arial"/>
              </a:defRPr>
            </a:lvl3pPr>
            <a:lvl4pPr>
              <a:defRPr sz="1350" b="1">
                <a:solidFill>
                  <a:srgbClr val="087F8C"/>
                </a:solidFill>
                <a:latin typeface="Arial"/>
                <a:ea typeface="Arial"/>
                <a:cs typeface="Arial"/>
              </a:defRPr>
            </a:lvl4pPr>
            <a:lvl5pPr>
              <a:defRPr sz="1350" b="1">
                <a:solidFill>
                  <a:srgbClr val="087F8C"/>
                </a:solidFill>
                <a:latin typeface="Arial"/>
                <a:ea typeface="Arial"/>
                <a:cs typeface="Arial"/>
              </a:defRPr>
            </a:lvl5pPr>
            <a:lvl6pPr>
              <a:defRPr sz="1350" b="1">
                <a:solidFill>
                  <a:srgbClr val="087F8C"/>
                </a:solidFill>
                <a:latin typeface="Arial"/>
                <a:ea typeface="Arial"/>
                <a:cs typeface="Arial"/>
              </a:defRPr>
            </a:lvl6pPr>
            <a:lvl7pPr>
              <a:defRPr sz="1350" b="1">
                <a:solidFill>
                  <a:srgbClr val="087F8C"/>
                </a:solidFill>
                <a:latin typeface="Arial"/>
                <a:ea typeface="Arial"/>
                <a:cs typeface="Arial"/>
              </a:defRPr>
            </a:lvl7pPr>
            <a:lvl8pPr>
              <a:defRPr sz="1350" b="1">
                <a:solidFill>
                  <a:srgbClr val="087F8C"/>
                </a:solidFill>
                <a:latin typeface="Arial"/>
                <a:ea typeface="Arial"/>
                <a:cs typeface="Arial"/>
              </a:defRPr>
            </a:lvl8pPr>
            <a:lvl9pPr>
              <a:defRPr sz="1350" b="1">
                <a:solidFill>
                  <a:srgbClr val="087F8C"/>
                </a:solidFill>
                <a:latin typeface="Arial"/>
                <a:ea typeface="Arial"/>
                <a:cs typeface="Arial"/>
              </a:defRPr>
            </a:lvl9pPr>
          </a:lstStyle>
          <a:p>
            <a:pPr>
              <a:defRPr sz="1350" b="1">
                <a:solidFill>
                  <a:srgbClr val="087F8C"/>
                </a:solidFill>
                <a:latin typeface="Arial"/>
                <a:ea typeface="Arial"/>
                <a:cs typeface="Arial"/>
              </a:defRPr>
            </a:pPr>
            <a:r>
              <a:rPr sz="1300" b="1">
                <a:solidFill>
                  <a:srgbClr val="005A8F"/>
                </a:solidFill>
                <a:latin typeface="Arial"/>
                <a:ea typeface="Arial"/>
                <a:cs typeface="Arial"/>
              </a:rPr>
              <a:t>R2</a:t>
            </a:r>
          </a:p>
        </p:txBody>
      </p:sp>
      <p:sp>
        <p:nvSpPr>
          <p:cNvPr id="16" name="Rectangle 15">
            <a:extLst>
              <a:ext uri="{FF2B5EF4-FFF2-40B4-BE49-F238E27FC236}">
                <a16:creationId xmlns:a16="http://schemas.microsoft.com/office/drawing/2014/main" id="{CBE82E33-4D04-4B37-9E01-08048A8F8826}"/>
              </a:ext>
            </a:extLst>
          </p:cNvPr>
          <p:cNvSpPr>
            <a:spLocks noGrp="1"/>
          </p:cNvSpPr>
          <p:nvPr/>
        </p:nvSpPr>
        <p:spPr>
          <a:xfrm>
            <a:off x="6286500" y="2600325"/>
            <a:ext cx="1762125" cy="304800"/>
          </a:xfrm>
          <a:prstGeom prst="rect">
            <a:avLst/>
          </a:prstGeom>
          <a:noFill/>
          <a:ln w="0">
            <a:noFill/>
            <a:prstDash val="solid"/>
          </a:ln>
        </p:spPr>
        <p:txBody>
          <a:bodyPr/>
          <a:lstStyle>
            <a:defPPr>
              <a:defRPr sz="1650" b="1">
                <a:solidFill>
                  <a:srgbClr val="087F8C"/>
                </a:solidFill>
                <a:latin typeface="Arial"/>
                <a:ea typeface="Arial"/>
                <a:cs typeface="Arial"/>
              </a:defRPr>
            </a:defPPr>
            <a:lvl1pPr>
              <a:defRPr sz="1650" b="1">
                <a:solidFill>
                  <a:srgbClr val="087F8C"/>
                </a:solidFill>
                <a:latin typeface="Arial"/>
                <a:ea typeface="Arial"/>
                <a:cs typeface="Arial"/>
              </a:defRPr>
            </a:lvl1pPr>
            <a:lvl2pPr>
              <a:defRPr sz="1650" b="1">
                <a:solidFill>
                  <a:srgbClr val="087F8C"/>
                </a:solidFill>
                <a:latin typeface="Arial"/>
                <a:ea typeface="Arial"/>
                <a:cs typeface="Arial"/>
              </a:defRPr>
            </a:lvl2pPr>
            <a:lvl3pPr>
              <a:defRPr sz="1650" b="1">
                <a:solidFill>
                  <a:srgbClr val="087F8C"/>
                </a:solidFill>
                <a:latin typeface="Arial"/>
                <a:ea typeface="Arial"/>
                <a:cs typeface="Arial"/>
              </a:defRPr>
            </a:lvl3pPr>
            <a:lvl4pPr>
              <a:defRPr sz="1650" b="1">
                <a:solidFill>
                  <a:srgbClr val="087F8C"/>
                </a:solidFill>
                <a:latin typeface="Arial"/>
                <a:ea typeface="Arial"/>
                <a:cs typeface="Arial"/>
              </a:defRPr>
            </a:lvl4pPr>
            <a:lvl5pPr>
              <a:defRPr sz="1650" b="1">
                <a:solidFill>
                  <a:srgbClr val="087F8C"/>
                </a:solidFill>
                <a:latin typeface="Arial"/>
                <a:ea typeface="Arial"/>
                <a:cs typeface="Arial"/>
              </a:defRPr>
            </a:lvl5pPr>
            <a:lvl6pPr>
              <a:defRPr sz="1650" b="1">
                <a:solidFill>
                  <a:srgbClr val="087F8C"/>
                </a:solidFill>
                <a:latin typeface="Arial"/>
                <a:ea typeface="Arial"/>
                <a:cs typeface="Arial"/>
              </a:defRPr>
            </a:lvl6pPr>
            <a:lvl7pPr>
              <a:defRPr sz="1650" b="1">
                <a:solidFill>
                  <a:srgbClr val="087F8C"/>
                </a:solidFill>
                <a:latin typeface="Arial"/>
                <a:ea typeface="Arial"/>
                <a:cs typeface="Arial"/>
              </a:defRPr>
            </a:lvl7pPr>
            <a:lvl8pPr>
              <a:defRPr sz="1650" b="1">
                <a:solidFill>
                  <a:srgbClr val="087F8C"/>
                </a:solidFill>
                <a:latin typeface="Arial"/>
                <a:ea typeface="Arial"/>
                <a:cs typeface="Arial"/>
              </a:defRPr>
            </a:lvl8pPr>
            <a:lvl9pPr>
              <a:defRPr sz="1650" b="1">
                <a:solidFill>
                  <a:srgbClr val="087F8C"/>
                </a:solidFill>
                <a:latin typeface="Arial"/>
                <a:ea typeface="Arial"/>
                <a:cs typeface="Arial"/>
              </a:defRPr>
            </a:lvl9pPr>
          </a:lstStyle>
          <a:p>
            <a:pPr>
              <a:defRPr sz="1650" b="1">
                <a:solidFill>
                  <a:srgbClr val="087F8C"/>
                </a:solidFill>
                <a:latin typeface="Arial"/>
                <a:ea typeface="Arial"/>
                <a:cs typeface="Arial"/>
              </a:defRPr>
            </a:pPr>
            <a:r>
              <a:rPr sz="1600" b="1">
                <a:solidFill>
                  <a:srgbClr val="005A8F"/>
                </a:solidFill>
                <a:latin typeface="Arial"/>
                <a:ea typeface="Arial"/>
                <a:cs typeface="Arial"/>
              </a:rPr>
              <a:t>Reduce</a:t>
            </a:r>
          </a:p>
        </p:txBody>
      </p:sp>
      <p:sp>
        <p:nvSpPr>
          <p:cNvPr id="17" name="Rectangle 16">
            <a:extLst>
              <a:ext uri="{FF2B5EF4-FFF2-40B4-BE49-F238E27FC236}">
                <a16:creationId xmlns:a16="http://schemas.microsoft.com/office/drawing/2014/main" id="{BF0A1EBE-EE7B-47A2-8AB6-DCF13254A570}"/>
              </a:ext>
            </a:extLst>
          </p:cNvPr>
          <p:cNvSpPr>
            <a:spLocks noGrp="1"/>
          </p:cNvSpPr>
          <p:nvPr/>
        </p:nvSpPr>
        <p:spPr>
          <a:xfrm>
            <a:off x="8096250" y="2609850"/>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Use fewer materials and less energy</a:t>
            </a:r>
          </a:p>
        </p:txBody>
      </p:sp>
      <p:sp>
        <p:nvSpPr>
          <p:cNvPr id="18" name="Rectangle 17">
            <a:extLst>
              <a:ext uri="{FF2B5EF4-FFF2-40B4-BE49-F238E27FC236}">
                <a16:creationId xmlns:a16="http://schemas.microsoft.com/office/drawing/2014/main" id="{FBC76C63-3D64-4767-B811-3B77FFB10D20}"/>
              </a:ext>
            </a:extLst>
          </p:cNvPr>
          <p:cNvSpPr>
            <a:spLocks noGrp="1"/>
          </p:cNvSpPr>
          <p:nvPr/>
        </p:nvSpPr>
        <p:spPr>
          <a:xfrm>
            <a:off x="5715000" y="2971800"/>
            <a:ext cx="6000750" cy="371475"/>
          </a:xfrm>
          <a:prstGeom prst="rect">
            <a:avLst/>
          </a:prstGeom>
          <a:solidFill>
            <a:srgbClr val="F0F6F0"/>
          </a:solidFill>
          <a:ln w="0">
            <a:noFill/>
            <a:prstDash val="solid"/>
          </a:ln>
        </p:spPr>
        <p:txBody>
          <a:bodyPr/>
          <a:lstStyle/>
          <a:p>
            <a:endParaRPr lang="en-GB"/>
          </a:p>
        </p:txBody>
      </p:sp>
      <p:sp>
        <p:nvSpPr>
          <p:cNvPr id="19" name="Rectangle 18">
            <a:extLst>
              <a:ext uri="{FF2B5EF4-FFF2-40B4-BE49-F238E27FC236}">
                <a16:creationId xmlns:a16="http://schemas.microsoft.com/office/drawing/2014/main" id="{A6FD8018-7437-4BB2-A8C6-4DDCB16ED678}"/>
              </a:ext>
            </a:extLst>
          </p:cNvPr>
          <p:cNvSpPr>
            <a:spLocks noGrp="1"/>
          </p:cNvSpPr>
          <p:nvPr/>
        </p:nvSpPr>
        <p:spPr>
          <a:xfrm>
            <a:off x="5762625" y="3019425"/>
            <a:ext cx="523875" cy="285750"/>
          </a:xfrm>
          <a:prstGeom prst="rect">
            <a:avLst/>
          </a:prstGeom>
          <a:noFill/>
          <a:ln w="0">
            <a:noFill/>
            <a:prstDash val="solid"/>
          </a:ln>
        </p:spPr>
        <p:txBody>
          <a:bodyPr/>
          <a:lstStyle>
            <a:defPPr>
              <a:defRPr sz="1350" b="1">
                <a:solidFill>
                  <a:srgbClr val="257249"/>
                </a:solidFill>
                <a:latin typeface="Arial"/>
                <a:ea typeface="Arial"/>
                <a:cs typeface="Arial"/>
              </a:defRPr>
            </a:defPPr>
            <a:lvl1pPr>
              <a:defRPr sz="1350" b="1">
                <a:solidFill>
                  <a:srgbClr val="257249"/>
                </a:solidFill>
                <a:latin typeface="Arial"/>
                <a:ea typeface="Arial"/>
                <a:cs typeface="Arial"/>
              </a:defRPr>
            </a:lvl1pPr>
            <a:lvl2pPr>
              <a:defRPr sz="1350" b="1">
                <a:solidFill>
                  <a:srgbClr val="257249"/>
                </a:solidFill>
                <a:latin typeface="Arial"/>
                <a:ea typeface="Arial"/>
                <a:cs typeface="Arial"/>
              </a:defRPr>
            </a:lvl2pPr>
            <a:lvl3pPr>
              <a:defRPr sz="1350" b="1">
                <a:solidFill>
                  <a:srgbClr val="257249"/>
                </a:solidFill>
                <a:latin typeface="Arial"/>
                <a:ea typeface="Arial"/>
                <a:cs typeface="Arial"/>
              </a:defRPr>
            </a:lvl3pPr>
            <a:lvl4pPr>
              <a:defRPr sz="1350" b="1">
                <a:solidFill>
                  <a:srgbClr val="257249"/>
                </a:solidFill>
                <a:latin typeface="Arial"/>
                <a:ea typeface="Arial"/>
                <a:cs typeface="Arial"/>
              </a:defRPr>
            </a:lvl4pPr>
            <a:lvl5pPr>
              <a:defRPr sz="1350" b="1">
                <a:solidFill>
                  <a:srgbClr val="257249"/>
                </a:solidFill>
                <a:latin typeface="Arial"/>
                <a:ea typeface="Arial"/>
                <a:cs typeface="Arial"/>
              </a:defRPr>
            </a:lvl5pPr>
            <a:lvl6pPr>
              <a:defRPr sz="1350" b="1">
                <a:solidFill>
                  <a:srgbClr val="257249"/>
                </a:solidFill>
                <a:latin typeface="Arial"/>
                <a:ea typeface="Arial"/>
                <a:cs typeface="Arial"/>
              </a:defRPr>
            </a:lvl6pPr>
            <a:lvl7pPr>
              <a:defRPr sz="1350" b="1">
                <a:solidFill>
                  <a:srgbClr val="257249"/>
                </a:solidFill>
                <a:latin typeface="Arial"/>
                <a:ea typeface="Arial"/>
                <a:cs typeface="Arial"/>
              </a:defRPr>
            </a:lvl7pPr>
            <a:lvl8pPr>
              <a:defRPr sz="1350" b="1">
                <a:solidFill>
                  <a:srgbClr val="257249"/>
                </a:solidFill>
                <a:latin typeface="Arial"/>
                <a:ea typeface="Arial"/>
                <a:cs typeface="Arial"/>
              </a:defRPr>
            </a:lvl8pPr>
            <a:lvl9pPr>
              <a:defRPr sz="1350" b="1">
                <a:solidFill>
                  <a:srgbClr val="257249"/>
                </a:solidFill>
                <a:latin typeface="Arial"/>
                <a:ea typeface="Arial"/>
                <a:cs typeface="Arial"/>
              </a:defRPr>
            </a:lvl9pPr>
          </a:lstStyle>
          <a:p>
            <a:pPr>
              <a:defRPr sz="1350" b="1">
                <a:solidFill>
                  <a:srgbClr val="257249"/>
                </a:solidFill>
                <a:latin typeface="Arial"/>
                <a:ea typeface="Arial"/>
                <a:cs typeface="Arial"/>
              </a:defRPr>
            </a:pPr>
            <a:r>
              <a:rPr sz="1300" b="1">
                <a:solidFill>
                  <a:srgbClr val="2E7D32"/>
                </a:solidFill>
                <a:latin typeface="Arial"/>
                <a:ea typeface="Arial"/>
                <a:cs typeface="Arial"/>
              </a:rPr>
              <a:t>R3</a:t>
            </a:r>
          </a:p>
        </p:txBody>
      </p:sp>
      <p:sp>
        <p:nvSpPr>
          <p:cNvPr id="20" name="Rectangle 19">
            <a:extLst>
              <a:ext uri="{FF2B5EF4-FFF2-40B4-BE49-F238E27FC236}">
                <a16:creationId xmlns:a16="http://schemas.microsoft.com/office/drawing/2014/main" id="{D1C67563-9C0D-4097-A476-157F6BDED3A3}"/>
              </a:ext>
            </a:extLst>
          </p:cNvPr>
          <p:cNvSpPr>
            <a:spLocks noGrp="1"/>
          </p:cNvSpPr>
          <p:nvPr/>
        </p:nvSpPr>
        <p:spPr>
          <a:xfrm>
            <a:off x="6286500" y="3009900"/>
            <a:ext cx="1762125" cy="304800"/>
          </a:xfrm>
          <a:prstGeom prst="rect">
            <a:avLst/>
          </a:prstGeom>
          <a:noFill/>
          <a:ln w="0">
            <a:noFill/>
            <a:prstDash val="solid"/>
          </a:ln>
        </p:spPr>
        <p:txBody>
          <a:bodyPr/>
          <a:lstStyle>
            <a:defPPr>
              <a:defRPr sz="1650" b="1">
                <a:solidFill>
                  <a:srgbClr val="257249"/>
                </a:solidFill>
                <a:latin typeface="Arial"/>
                <a:ea typeface="Arial"/>
                <a:cs typeface="Arial"/>
              </a:defRPr>
            </a:defPPr>
            <a:lvl1pPr>
              <a:defRPr sz="1650" b="1">
                <a:solidFill>
                  <a:srgbClr val="257249"/>
                </a:solidFill>
                <a:latin typeface="Arial"/>
                <a:ea typeface="Arial"/>
                <a:cs typeface="Arial"/>
              </a:defRPr>
            </a:lvl1pPr>
            <a:lvl2pPr>
              <a:defRPr sz="1650" b="1">
                <a:solidFill>
                  <a:srgbClr val="257249"/>
                </a:solidFill>
                <a:latin typeface="Arial"/>
                <a:ea typeface="Arial"/>
                <a:cs typeface="Arial"/>
              </a:defRPr>
            </a:lvl2pPr>
            <a:lvl3pPr>
              <a:defRPr sz="1650" b="1">
                <a:solidFill>
                  <a:srgbClr val="257249"/>
                </a:solidFill>
                <a:latin typeface="Arial"/>
                <a:ea typeface="Arial"/>
                <a:cs typeface="Arial"/>
              </a:defRPr>
            </a:lvl3pPr>
            <a:lvl4pPr>
              <a:defRPr sz="1650" b="1">
                <a:solidFill>
                  <a:srgbClr val="257249"/>
                </a:solidFill>
                <a:latin typeface="Arial"/>
                <a:ea typeface="Arial"/>
                <a:cs typeface="Arial"/>
              </a:defRPr>
            </a:lvl4pPr>
            <a:lvl5pPr>
              <a:defRPr sz="1650" b="1">
                <a:solidFill>
                  <a:srgbClr val="257249"/>
                </a:solidFill>
                <a:latin typeface="Arial"/>
                <a:ea typeface="Arial"/>
                <a:cs typeface="Arial"/>
              </a:defRPr>
            </a:lvl5pPr>
            <a:lvl6pPr>
              <a:defRPr sz="1650" b="1">
                <a:solidFill>
                  <a:srgbClr val="257249"/>
                </a:solidFill>
                <a:latin typeface="Arial"/>
                <a:ea typeface="Arial"/>
                <a:cs typeface="Arial"/>
              </a:defRPr>
            </a:lvl6pPr>
            <a:lvl7pPr>
              <a:defRPr sz="1650" b="1">
                <a:solidFill>
                  <a:srgbClr val="257249"/>
                </a:solidFill>
                <a:latin typeface="Arial"/>
                <a:ea typeface="Arial"/>
                <a:cs typeface="Arial"/>
              </a:defRPr>
            </a:lvl7pPr>
            <a:lvl8pPr>
              <a:defRPr sz="1650" b="1">
                <a:solidFill>
                  <a:srgbClr val="257249"/>
                </a:solidFill>
                <a:latin typeface="Arial"/>
                <a:ea typeface="Arial"/>
                <a:cs typeface="Arial"/>
              </a:defRPr>
            </a:lvl8pPr>
            <a:lvl9pPr>
              <a:defRPr sz="1650" b="1">
                <a:solidFill>
                  <a:srgbClr val="257249"/>
                </a:solidFill>
                <a:latin typeface="Arial"/>
                <a:ea typeface="Arial"/>
                <a:cs typeface="Arial"/>
              </a:defRPr>
            </a:lvl9pPr>
          </a:lstStyle>
          <a:p>
            <a:pPr>
              <a:defRPr sz="1650" b="1">
                <a:solidFill>
                  <a:srgbClr val="257249"/>
                </a:solidFill>
                <a:latin typeface="Arial"/>
                <a:ea typeface="Arial"/>
                <a:cs typeface="Arial"/>
              </a:defRPr>
            </a:pPr>
            <a:r>
              <a:rPr sz="1600" b="1">
                <a:solidFill>
                  <a:srgbClr val="2E7D32"/>
                </a:solidFill>
                <a:latin typeface="Arial"/>
                <a:ea typeface="Arial"/>
                <a:cs typeface="Arial"/>
              </a:rPr>
              <a:t>Reuse</a:t>
            </a:r>
          </a:p>
        </p:txBody>
      </p:sp>
      <p:sp>
        <p:nvSpPr>
          <p:cNvPr id="21" name="Rectangle 20">
            <a:extLst>
              <a:ext uri="{FF2B5EF4-FFF2-40B4-BE49-F238E27FC236}">
                <a16:creationId xmlns:a16="http://schemas.microsoft.com/office/drawing/2014/main" id="{602763FC-ACB9-4CFD-983C-E7517CF1C3C9}"/>
              </a:ext>
            </a:extLst>
          </p:cNvPr>
          <p:cNvSpPr>
            <a:spLocks noGrp="1"/>
          </p:cNvSpPr>
          <p:nvPr/>
        </p:nvSpPr>
        <p:spPr>
          <a:xfrm>
            <a:off x="8096250" y="3019425"/>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Use again or resell</a:t>
            </a:r>
          </a:p>
        </p:txBody>
      </p:sp>
      <p:sp>
        <p:nvSpPr>
          <p:cNvPr id="22" name="Rectangle 21">
            <a:extLst>
              <a:ext uri="{FF2B5EF4-FFF2-40B4-BE49-F238E27FC236}">
                <a16:creationId xmlns:a16="http://schemas.microsoft.com/office/drawing/2014/main" id="{66EE6A0B-24E0-49A0-9232-65A6610BE7D3}"/>
              </a:ext>
            </a:extLst>
          </p:cNvPr>
          <p:cNvSpPr>
            <a:spLocks noGrp="1"/>
          </p:cNvSpPr>
          <p:nvPr/>
        </p:nvSpPr>
        <p:spPr>
          <a:xfrm>
            <a:off x="5715000" y="3381375"/>
            <a:ext cx="6000750" cy="371475"/>
          </a:xfrm>
          <a:prstGeom prst="rect">
            <a:avLst/>
          </a:prstGeom>
          <a:solidFill>
            <a:srgbClr val="F0F6F0"/>
          </a:solidFill>
          <a:ln w="0">
            <a:noFill/>
            <a:prstDash val="solid"/>
          </a:ln>
        </p:spPr>
        <p:txBody>
          <a:bodyPr/>
          <a:lstStyle/>
          <a:p>
            <a:endParaRPr lang="en-GB"/>
          </a:p>
        </p:txBody>
      </p:sp>
      <p:sp>
        <p:nvSpPr>
          <p:cNvPr id="23" name="Rectangle 22">
            <a:extLst>
              <a:ext uri="{FF2B5EF4-FFF2-40B4-BE49-F238E27FC236}">
                <a16:creationId xmlns:a16="http://schemas.microsoft.com/office/drawing/2014/main" id="{EDBDD92B-0A6F-4BBD-901F-D7D8B52AA68B}"/>
              </a:ext>
            </a:extLst>
          </p:cNvPr>
          <p:cNvSpPr>
            <a:spLocks noGrp="1"/>
          </p:cNvSpPr>
          <p:nvPr/>
        </p:nvSpPr>
        <p:spPr>
          <a:xfrm>
            <a:off x="5762625" y="3429000"/>
            <a:ext cx="523875" cy="285750"/>
          </a:xfrm>
          <a:prstGeom prst="rect">
            <a:avLst/>
          </a:prstGeom>
          <a:noFill/>
          <a:ln w="0">
            <a:noFill/>
            <a:prstDash val="solid"/>
          </a:ln>
        </p:spPr>
        <p:txBody>
          <a:bodyPr/>
          <a:lstStyle>
            <a:defPPr>
              <a:defRPr sz="1350" b="1">
                <a:solidFill>
                  <a:srgbClr val="257249"/>
                </a:solidFill>
                <a:latin typeface="Arial"/>
                <a:ea typeface="Arial"/>
                <a:cs typeface="Arial"/>
              </a:defRPr>
            </a:defPPr>
            <a:lvl1pPr>
              <a:defRPr sz="1350" b="1">
                <a:solidFill>
                  <a:srgbClr val="257249"/>
                </a:solidFill>
                <a:latin typeface="Arial"/>
                <a:ea typeface="Arial"/>
                <a:cs typeface="Arial"/>
              </a:defRPr>
            </a:lvl1pPr>
            <a:lvl2pPr>
              <a:defRPr sz="1350" b="1">
                <a:solidFill>
                  <a:srgbClr val="257249"/>
                </a:solidFill>
                <a:latin typeface="Arial"/>
                <a:ea typeface="Arial"/>
                <a:cs typeface="Arial"/>
              </a:defRPr>
            </a:lvl2pPr>
            <a:lvl3pPr>
              <a:defRPr sz="1350" b="1">
                <a:solidFill>
                  <a:srgbClr val="257249"/>
                </a:solidFill>
                <a:latin typeface="Arial"/>
                <a:ea typeface="Arial"/>
                <a:cs typeface="Arial"/>
              </a:defRPr>
            </a:lvl3pPr>
            <a:lvl4pPr>
              <a:defRPr sz="1350" b="1">
                <a:solidFill>
                  <a:srgbClr val="257249"/>
                </a:solidFill>
                <a:latin typeface="Arial"/>
                <a:ea typeface="Arial"/>
                <a:cs typeface="Arial"/>
              </a:defRPr>
            </a:lvl4pPr>
            <a:lvl5pPr>
              <a:defRPr sz="1350" b="1">
                <a:solidFill>
                  <a:srgbClr val="257249"/>
                </a:solidFill>
                <a:latin typeface="Arial"/>
                <a:ea typeface="Arial"/>
                <a:cs typeface="Arial"/>
              </a:defRPr>
            </a:lvl5pPr>
            <a:lvl6pPr>
              <a:defRPr sz="1350" b="1">
                <a:solidFill>
                  <a:srgbClr val="257249"/>
                </a:solidFill>
                <a:latin typeface="Arial"/>
                <a:ea typeface="Arial"/>
                <a:cs typeface="Arial"/>
              </a:defRPr>
            </a:lvl6pPr>
            <a:lvl7pPr>
              <a:defRPr sz="1350" b="1">
                <a:solidFill>
                  <a:srgbClr val="257249"/>
                </a:solidFill>
                <a:latin typeface="Arial"/>
                <a:ea typeface="Arial"/>
                <a:cs typeface="Arial"/>
              </a:defRPr>
            </a:lvl7pPr>
            <a:lvl8pPr>
              <a:defRPr sz="1350" b="1">
                <a:solidFill>
                  <a:srgbClr val="257249"/>
                </a:solidFill>
                <a:latin typeface="Arial"/>
                <a:ea typeface="Arial"/>
                <a:cs typeface="Arial"/>
              </a:defRPr>
            </a:lvl8pPr>
            <a:lvl9pPr>
              <a:defRPr sz="1350" b="1">
                <a:solidFill>
                  <a:srgbClr val="257249"/>
                </a:solidFill>
                <a:latin typeface="Arial"/>
                <a:ea typeface="Arial"/>
                <a:cs typeface="Arial"/>
              </a:defRPr>
            </a:lvl9pPr>
          </a:lstStyle>
          <a:p>
            <a:pPr>
              <a:defRPr sz="1350" b="1">
                <a:solidFill>
                  <a:srgbClr val="257249"/>
                </a:solidFill>
                <a:latin typeface="Arial"/>
                <a:ea typeface="Arial"/>
                <a:cs typeface="Arial"/>
              </a:defRPr>
            </a:pPr>
            <a:r>
              <a:rPr sz="1300" b="1">
                <a:solidFill>
                  <a:srgbClr val="2E7D32"/>
                </a:solidFill>
                <a:latin typeface="Arial"/>
                <a:ea typeface="Arial"/>
                <a:cs typeface="Arial"/>
              </a:rPr>
              <a:t>R4</a:t>
            </a:r>
          </a:p>
        </p:txBody>
      </p:sp>
      <p:sp>
        <p:nvSpPr>
          <p:cNvPr id="24" name="Rectangle 23">
            <a:extLst>
              <a:ext uri="{FF2B5EF4-FFF2-40B4-BE49-F238E27FC236}">
                <a16:creationId xmlns:a16="http://schemas.microsoft.com/office/drawing/2014/main" id="{0DC2802D-FC6D-4A1D-BBD4-D977169A226A}"/>
              </a:ext>
            </a:extLst>
          </p:cNvPr>
          <p:cNvSpPr>
            <a:spLocks noGrp="1"/>
          </p:cNvSpPr>
          <p:nvPr/>
        </p:nvSpPr>
        <p:spPr>
          <a:xfrm>
            <a:off x="6286500" y="3419475"/>
            <a:ext cx="1762125" cy="304800"/>
          </a:xfrm>
          <a:prstGeom prst="rect">
            <a:avLst/>
          </a:prstGeom>
          <a:noFill/>
          <a:ln w="0">
            <a:noFill/>
            <a:prstDash val="solid"/>
          </a:ln>
        </p:spPr>
        <p:txBody>
          <a:bodyPr/>
          <a:lstStyle>
            <a:defPPr>
              <a:defRPr sz="1650" b="1">
                <a:solidFill>
                  <a:srgbClr val="257249"/>
                </a:solidFill>
                <a:latin typeface="Arial"/>
                <a:ea typeface="Arial"/>
                <a:cs typeface="Arial"/>
              </a:defRPr>
            </a:defPPr>
            <a:lvl1pPr>
              <a:defRPr sz="1650" b="1">
                <a:solidFill>
                  <a:srgbClr val="257249"/>
                </a:solidFill>
                <a:latin typeface="Arial"/>
                <a:ea typeface="Arial"/>
                <a:cs typeface="Arial"/>
              </a:defRPr>
            </a:lvl1pPr>
            <a:lvl2pPr>
              <a:defRPr sz="1650" b="1">
                <a:solidFill>
                  <a:srgbClr val="257249"/>
                </a:solidFill>
                <a:latin typeface="Arial"/>
                <a:ea typeface="Arial"/>
                <a:cs typeface="Arial"/>
              </a:defRPr>
            </a:lvl2pPr>
            <a:lvl3pPr>
              <a:defRPr sz="1650" b="1">
                <a:solidFill>
                  <a:srgbClr val="257249"/>
                </a:solidFill>
                <a:latin typeface="Arial"/>
                <a:ea typeface="Arial"/>
                <a:cs typeface="Arial"/>
              </a:defRPr>
            </a:lvl3pPr>
            <a:lvl4pPr>
              <a:defRPr sz="1650" b="1">
                <a:solidFill>
                  <a:srgbClr val="257249"/>
                </a:solidFill>
                <a:latin typeface="Arial"/>
                <a:ea typeface="Arial"/>
                <a:cs typeface="Arial"/>
              </a:defRPr>
            </a:lvl4pPr>
            <a:lvl5pPr>
              <a:defRPr sz="1650" b="1">
                <a:solidFill>
                  <a:srgbClr val="257249"/>
                </a:solidFill>
                <a:latin typeface="Arial"/>
                <a:ea typeface="Arial"/>
                <a:cs typeface="Arial"/>
              </a:defRPr>
            </a:lvl5pPr>
            <a:lvl6pPr>
              <a:defRPr sz="1650" b="1">
                <a:solidFill>
                  <a:srgbClr val="257249"/>
                </a:solidFill>
                <a:latin typeface="Arial"/>
                <a:ea typeface="Arial"/>
                <a:cs typeface="Arial"/>
              </a:defRPr>
            </a:lvl6pPr>
            <a:lvl7pPr>
              <a:defRPr sz="1650" b="1">
                <a:solidFill>
                  <a:srgbClr val="257249"/>
                </a:solidFill>
                <a:latin typeface="Arial"/>
                <a:ea typeface="Arial"/>
                <a:cs typeface="Arial"/>
              </a:defRPr>
            </a:lvl7pPr>
            <a:lvl8pPr>
              <a:defRPr sz="1650" b="1">
                <a:solidFill>
                  <a:srgbClr val="257249"/>
                </a:solidFill>
                <a:latin typeface="Arial"/>
                <a:ea typeface="Arial"/>
                <a:cs typeface="Arial"/>
              </a:defRPr>
            </a:lvl8pPr>
            <a:lvl9pPr>
              <a:defRPr sz="1650" b="1">
                <a:solidFill>
                  <a:srgbClr val="257249"/>
                </a:solidFill>
                <a:latin typeface="Arial"/>
                <a:ea typeface="Arial"/>
                <a:cs typeface="Arial"/>
              </a:defRPr>
            </a:lvl9pPr>
          </a:lstStyle>
          <a:p>
            <a:pPr>
              <a:defRPr sz="1650" b="1">
                <a:solidFill>
                  <a:srgbClr val="257249"/>
                </a:solidFill>
                <a:latin typeface="Arial"/>
                <a:ea typeface="Arial"/>
                <a:cs typeface="Arial"/>
              </a:defRPr>
            </a:pPr>
            <a:r>
              <a:rPr sz="1600" b="1">
                <a:solidFill>
                  <a:srgbClr val="2E7D32"/>
                </a:solidFill>
                <a:latin typeface="Arial"/>
                <a:ea typeface="Arial"/>
                <a:cs typeface="Arial"/>
              </a:rPr>
              <a:t>Repair</a:t>
            </a:r>
          </a:p>
        </p:txBody>
      </p:sp>
      <p:sp>
        <p:nvSpPr>
          <p:cNvPr id="25" name="Rectangle 24">
            <a:extLst>
              <a:ext uri="{FF2B5EF4-FFF2-40B4-BE49-F238E27FC236}">
                <a16:creationId xmlns:a16="http://schemas.microsoft.com/office/drawing/2014/main" id="{EB704124-4FEA-400E-9713-7A14A75FE489}"/>
              </a:ext>
            </a:extLst>
          </p:cNvPr>
          <p:cNvSpPr>
            <a:spLocks noGrp="1"/>
          </p:cNvSpPr>
          <p:nvPr/>
        </p:nvSpPr>
        <p:spPr>
          <a:xfrm>
            <a:off x="8096250" y="3429000"/>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Fix faults and extend useful life</a:t>
            </a:r>
          </a:p>
        </p:txBody>
      </p:sp>
      <p:sp>
        <p:nvSpPr>
          <p:cNvPr id="26" name="Rectangle 25">
            <a:extLst>
              <a:ext uri="{FF2B5EF4-FFF2-40B4-BE49-F238E27FC236}">
                <a16:creationId xmlns:a16="http://schemas.microsoft.com/office/drawing/2014/main" id="{81F29DE6-CCD8-4A4B-A2ED-13151DB7D046}"/>
              </a:ext>
            </a:extLst>
          </p:cNvPr>
          <p:cNvSpPr>
            <a:spLocks noGrp="1"/>
          </p:cNvSpPr>
          <p:nvPr/>
        </p:nvSpPr>
        <p:spPr>
          <a:xfrm>
            <a:off x="5715000" y="3790950"/>
            <a:ext cx="6000750" cy="371475"/>
          </a:xfrm>
          <a:prstGeom prst="rect">
            <a:avLst/>
          </a:prstGeom>
          <a:solidFill>
            <a:srgbClr val="F0F6F0"/>
          </a:solidFill>
          <a:ln w="0">
            <a:noFill/>
            <a:prstDash val="solid"/>
          </a:ln>
        </p:spPr>
        <p:txBody>
          <a:bodyPr/>
          <a:lstStyle/>
          <a:p>
            <a:endParaRPr lang="en-GB"/>
          </a:p>
        </p:txBody>
      </p:sp>
      <p:sp>
        <p:nvSpPr>
          <p:cNvPr id="27" name="Rectangle 26">
            <a:extLst>
              <a:ext uri="{FF2B5EF4-FFF2-40B4-BE49-F238E27FC236}">
                <a16:creationId xmlns:a16="http://schemas.microsoft.com/office/drawing/2014/main" id="{C22FB52B-E2BC-4025-9B35-B83126347C20}"/>
              </a:ext>
            </a:extLst>
          </p:cNvPr>
          <p:cNvSpPr>
            <a:spLocks noGrp="1"/>
          </p:cNvSpPr>
          <p:nvPr/>
        </p:nvSpPr>
        <p:spPr>
          <a:xfrm>
            <a:off x="5762625" y="3838575"/>
            <a:ext cx="523875" cy="285750"/>
          </a:xfrm>
          <a:prstGeom prst="rect">
            <a:avLst/>
          </a:prstGeom>
          <a:noFill/>
          <a:ln w="0">
            <a:noFill/>
            <a:prstDash val="solid"/>
          </a:ln>
        </p:spPr>
        <p:txBody>
          <a:bodyPr/>
          <a:lstStyle>
            <a:defPPr>
              <a:defRPr sz="1350" b="1">
                <a:solidFill>
                  <a:srgbClr val="257249"/>
                </a:solidFill>
                <a:latin typeface="Arial"/>
                <a:ea typeface="Arial"/>
                <a:cs typeface="Arial"/>
              </a:defRPr>
            </a:defPPr>
            <a:lvl1pPr>
              <a:defRPr sz="1350" b="1">
                <a:solidFill>
                  <a:srgbClr val="257249"/>
                </a:solidFill>
                <a:latin typeface="Arial"/>
                <a:ea typeface="Arial"/>
                <a:cs typeface="Arial"/>
              </a:defRPr>
            </a:lvl1pPr>
            <a:lvl2pPr>
              <a:defRPr sz="1350" b="1">
                <a:solidFill>
                  <a:srgbClr val="257249"/>
                </a:solidFill>
                <a:latin typeface="Arial"/>
                <a:ea typeface="Arial"/>
                <a:cs typeface="Arial"/>
              </a:defRPr>
            </a:lvl2pPr>
            <a:lvl3pPr>
              <a:defRPr sz="1350" b="1">
                <a:solidFill>
                  <a:srgbClr val="257249"/>
                </a:solidFill>
                <a:latin typeface="Arial"/>
                <a:ea typeface="Arial"/>
                <a:cs typeface="Arial"/>
              </a:defRPr>
            </a:lvl3pPr>
            <a:lvl4pPr>
              <a:defRPr sz="1350" b="1">
                <a:solidFill>
                  <a:srgbClr val="257249"/>
                </a:solidFill>
                <a:latin typeface="Arial"/>
                <a:ea typeface="Arial"/>
                <a:cs typeface="Arial"/>
              </a:defRPr>
            </a:lvl4pPr>
            <a:lvl5pPr>
              <a:defRPr sz="1350" b="1">
                <a:solidFill>
                  <a:srgbClr val="257249"/>
                </a:solidFill>
                <a:latin typeface="Arial"/>
                <a:ea typeface="Arial"/>
                <a:cs typeface="Arial"/>
              </a:defRPr>
            </a:lvl5pPr>
            <a:lvl6pPr>
              <a:defRPr sz="1350" b="1">
                <a:solidFill>
                  <a:srgbClr val="257249"/>
                </a:solidFill>
                <a:latin typeface="Arial"/>
                <a:ea typeface="Arial"/>
                <a:cs typeface="Arial"/>
              </a:defRPr>
            </a:lvl6pPr>
            <a:lvl7pPr>
              <a:defRPr sz="1350" b="1">
                <a:solidFill>
                  <a:srgbClr val="257249"/>
                </a:solidFill>
                <a:latin typeface="Arial"/>
                <a:ea typeface="Arial"/>
                <a:cs typeface="Arial"/>
              </a:defRPr>
            </a:lvl7pPr>
            <a:lvl8pPr>
              <a:defRPr sz="1350" b="1">
                <a:solidFill>
                  <a:srgbClr val="257249"/>
                </a:solidFill>
                <a:latin typeface="Arial"/>
                <a:ea typeface="Arial"/>
                <a:cs typeface="Arial"/>
              </a:defRPr>
            </a:lvl8pPr>
            <a:lvl9pPr>
              <a:defRPr sz="1350" b="1">
                <a:solidFill>
                  <a:srgbClr val="257249"/>
                </a:solidFill>
                <a:latin typeface="Arial"/>
                <a:ea typeface="Arial"/>
                <a:cs typeface="Arial"/>
              </a:defRPr>
            </a:lvl9pPr>
          </a:lstStyle>
          <a:p>
            <a:pPr>
              <a:defRPr sz="1350" b="1">
                <a:solidFill>
                  <a:srgbClr val="257249"/>
                </a:solidFill>
                <a:latin typeface="Arial"/>
                <a:ea typeface="Arial"/>
                <a:cs typeface="Arial"/>
              </a:defRPr>
            </a:pPr>
            <a:r>
              <a:rPr sz="1300" b="1">
                <a:solidFill>
                  <a:srgbClr val="2E7D32"/>
                </a:solidFill>
                <a:latin typeface="Arial"/>
                <a:ea typeface="Arial"/>
                <a:cs typeface="Arial"/>
              </a:rPr>
              <a:t>R5</a:t>
            </a:r>
          </a:p>
        </p:txBody>
      </p:sp>
      <p:sp>
        <p:nvSpPr>
          <p:cNvPr id="28" name="Rectangle 27">
            <a:extLst>
              <a:ext uri="{FF2B5EF4-FFF2-40B4-BE49-F238E27FC236}">
                <a16:creationId xmlns:a16="http://schemas.microsoft.com/office/drawing/2014/main" id="{243D53CA-4A74-4548-BBB1-CA37C7BC3DF9}"/>
              </a:ext>
            </a:extLst>
          </p:cNvPr>
          <p:cNvSpPr>
            <a:spLocks noGrp="1"/>
          </p:cNvSpPr>
          <p:nvPr/>
        </p:nvSpPr>
        <p:spPr>
          <a:xfrm>
            <a:off x="6286500" y="3829050"/>
            <a:ext cx="1762125" cy="304800"/>
          </a:xfrm>
          <a:prstGeom prst="rect">
            <a:avLst/>
          </a:prstGeom>
          <a:noFill/>
          <a:ln w="0">
            <a:noFill/>
            <a:prstDash val="solid"/>
          </a:ln>
        </p:spPr>
        <p:txBody>
          <a:bodyPr/>
          <a:lstStyle>
            <a:defPPr>
              <a:defRPr sz="1650" b="1">
                <a:solidFill>
                  <a:srgbClr val="257249"/>
                </a:solidFill>
                <a:latin typeface="Arial"/>
                <a:ea typeface="Arial"/>
                <a:cs typeface="Arial"/>
              </a:defRPr>
            </a:defPPr>
            <a:lvl1pPr>
              <a:defRPr sz="1650" b="1">
                <a:solidFill>
                  <a:srgbClr val="257249"/>
                </a:solidFill>
                <a:latin typeface="Arial"/>
                <a:ea typeface="Arial"/>
                <a:cs typeface="Arial"/>
              </a:defRPr>
            </a:lvl1pPr>
            <a:lvl2pPr>
              <a:defRPr sz="1650" b="1">
                <a:solidFill>
                  <a:srgbClr val="257249"/>
                </a:solidFill>
                <a:latin typeface="Arial"/>
                <a:ea typeface="Arial"/>
                <a:cs typeface="Arial"/>
              </a:defRPr>
            </a:lvl2pPr>
            <a:lvl3pPr>
              <a:defRPr sz="1650" b="1">
                <a:solidFill>
                  <a:srgbClr val="257249"/>
                </a:solidFill>
                <a:latin typeface="Arial"/>
                <a:ea typeface="Arial"/>
                <a:cs typeface="Arial"/>
              </a:defRPr>
            </a:lvl3pPr>
            <a:lvl4pPr>
              <a:defRPr sz="1650" b="1">
                <a:solidFill>
                  <a:srgbClr val="257249"/>
                </a:solidFill>
                <a:latin typeface="Arial"/>
                <a:ea typeface="Arial"/>
                <a:cs typeface="Arial"/>
              </a:defRPr>
            </a:lvl4pPr>
            <a:lvl5pPr>
              <a:defRPr sz="1650" b="1">
                <a:solidFill>
                  <a:srgbClr val="257249"/>
                </a:solidFill>
                <a:latin typeface="Arial"/>
                <a:ea typeface="Arial"/>
                <a:cs typeface="Arial"/>
              </a:defRPr>
            </a:lvl5pPr>
            <a:lvl6pPr>
              <a:defRPr sz="1650" b="1">
                <a:solidFill>
                  <a:srgbClr val="257249"/>
                </a:solidFill>
                <a:latin typeface="Arial"/>
                <a:ea typeface="Arial"/>
                <a:cs typeface="Arial"/>
              </a:defRPr>
            </a:lvl6pPr>
            <a:lvl7pPr>
              <a:defRPr sz="1650" b="1">
                <a:solidFill>
                  <a:srgbClr val="257249"/>
                </a:solidFill>
                <a:latin typeface="Arial"/>
                <a:ea typeface="Arial"/>
                <a:cs typeface="Arial"/>
              </a:defRPr>
            </a:lvl7pPr>
            <a:lvl8pPr>
              <a:defRPr sz="1650" b="1">
                <a:solidFill>
                  <a:srgbClr val="257249"/>
                </a:solidFill>
                <a:latin typeface="Arial"/>
                <a:ea typeface="Arial"/>
                <a:cs typeface="Arial"/>
              </a:defRPr>
            </a:lvl8pPr>
            <a:lvl9pPr>
              <a:defRPr sz="1650" b="1">
                <a:solidFill>
                  <a:srgbClr val="257249"/>
                </a:solidFill>
                <a:latin typeface="Arial"/>
                <a:ea typeface="Arial"/>
                <a:cs typeface="Arial"/>
              </a:defRPr>
            </a:lvl9pPr>
          </a:lstStyle>
          <a:p>
            <a:pPr>
              <a:defRPr sz="1650" b="1">
                <a:solidFill>
                  <a:srgbClr val="257249"/>
                </a:solidFill>
                <a:latin typeface="Arial"/>
                <a:ea typeface="Arial"/>
                <a:cs typeface="Arial"/>
              </a:defRPr>
            </a:pPr>
            <a:r>
              <a:rPr sz="1600" b="1">
                <a:solidFill>
                  <a:srgbClr val="2E7D32"/>
                </a:solidFill>
                <a:latin typeface="Arial"/>
                <a:ea typeface="Arial"/>
                <a:cs typeface="Arial"/>
              </a:rPr>
              <a:t>Refurbish</a:t>
            </a:r>
          </a:p>
        </p:txBody>
      </p:sp>
      <p:sp>
        <p:nvSpPr>
          <p:cNvPr id="29" name="Rectangle 28">
            <a:extLst>
              <a:ext uri="{FF2B5EF4-FFF2-40B4-BE49-F238E27FC236}">
                <a16:creationId xmlns:a16="http://schemas.microsoft.com/office/drawing/2014/main" id="{9BF9C407-1BF2-4209-A309-815B63D08FB1}"/>
              </a:ext>
            </a:extLst>
          </p:cNvPr>
          <p:cNvSpPr>
            <a:spLocks noGrp="1"/>
          </p:cNvSpPr>
          <p:nvPr/>
        </p:nvSpPr>
        <p:spPr>
          <a:xfrm>
            <a:off x="8096250" y="3838575"/>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Restore and update an older product</a:t>
            </a:r>
          </a:p>
        </p:txBody>
      </p:sp>
      <p:sp>
        <p:nvSpPr>
          <p:cNvPr id="30" name="Rectangle 29">
            <a:extLst>
              <a:ext uri="{FF2B5EF4-FFF2-40B4-BE49-F238E27FC236}">
                <a16:creationId xmlns:a16="http://schemas.microsoft.com/office/drawing/2014/main" id="{39B08ED8-90DC-4664-A77E-A4070AC978F9}"/>
              </a:ext>
            </a:extLst>
          </p:cNvPr>
          <p:cNvSpPr>
            <a:spLocks noGrp="1"/>
          </p:cNvSpPr>
          <p:nvPr/>
        </p:nvSpPr>
        <p:spPr>
          <a:xfrm>
            <a:off x="5715000" y="4200525"/>
            <a:ext cx="6000750" cy="371475"/>
          </a:xfrm>
          <a:prstGeom prst="rect">
            <a:avLst/>
          </a:prstGeom>
          <a:solidFill>
            <a:srgbClr val="F0F6F0"/>
          </a:solidFill>
          <a:ln w="0">
            <a:noFill/>
            <a:prstDash val="solid"/>
          </a:ln>
        </p:spPr>
        <p:txBody>
          <a:bodyPr/>
          <a:lstStyle/>
          <a:p>
            <a:endParaRPr lang="en-GB"/>
          </a:p>
        </p:txBody>
      </p:sp>
      <p:sp>
        <p:nvSpPr>
          <p:cNvPr id="31" name="Rectangle 30">
            <a:extLst>
              <a:ext uri="{FF2B5EF4-FFF2-40B4-BE49-F238E27FC236}">
                <a16:creationId xmlns:a16="http://schemas.microsoft.com/office/drawing/2014/main" id="{CDFDB69B-827D-4CB8-9AB0-1D8B746EFA91}"/>
              </a:ext>
            </a:extLst>
          </p:cNvPr>
          <p:cNvSpPr>
            <a:spLocks noGrp="1"/>
          </p:cNvSpPr>
          <p:nvPr/>
        </p:nvSpPr>
        <p:spPr>
          <a:xfrm>
            <a:off x="5762625" y="4248150"/>
            <a:ext cx="523875" cy="285750"/>
          </a:xfrm>
          <a:prstGeom prst="rect">
            <a:avLst/>
          </a:prstGeom>
          <a:noFill/>
          <a:ln w="0">
            <a:noFill/>
            <a:prstDash val="solid"/>
          </a:ln>
        </p:spPr>
        <p:txBody>
          <a:bodyPr/>
          <a:lstStyle>
            <a:defPPr>
              <a:defRPr sz="1350" b="1">
                <a:solidFill>
                  <a:srgbClr val="257249"/>
                </a:solidFill>
                <a:latin typeface="Arial"/>
                <a:ea typeface="Arial"/>
                <a:cs typeface="Arial"/>
              </a:defRPr>
            </a:defPPr>
            <a:lvl1pPr>
              <a:defRPr sz="1350" b="1">
                <a:solidFill>
                  <a:srgbClr val="257249"/>
                </a:solidFill>
                <a:latin typeface="Arial"/>
                <a:ea typeface="Arial"/>
                <a:cs typeface="Arial"/>
              </a:defRPr>
            </a:lvl1pPr>
            <a:lvl2pPr>
              <a:defRPr sz="1350" b="1">
                <a:solidFill>
                  <a:srgbClr val="257249"/>
                </a:solidFill>
                <a:latin typeface="Arial"/>
                <a:ea typeface="Arial"/>
                <a:cs typeface="Arial"/>
              </a:defRPr>
            </a:lvl2pPr>
            <a:lvl3pPr>
              <a:defRPr sz="1350" b="1">
                <a:solidFill>
                  <a:srgbClr val="257249"/>
                </a:solidFill>
                <a:latin typeface="Arial"/>
                <a:ea typeface="Arial"/>
                <a:cs typeface="Arial"/>
              </a:defRPr>
            </a:lvl3pPr>
            <a:lvl4pPr>
              <a:defRPr sz="1350" b="1">
                <a:solidFill>
                  <a:srgbClr val="257249"/>
                </a:solidFill>
                <a:latin typeface="Arial"/>
                <a:ea typeface="Arial"/>
                <a:cs typeface="Arial"/>
              </a:defRPr>
            </a:lvl4pPr>
            <a:lvl5pPr>
              <a:defRPr sz="1350" b="1">
                <a:solidFill>
                  <a:srgbClr val="257249"/>
                </a:solidFill>
                <a:latin typeface="Arial"/>
                <a:ea typeface="Arial"/>
                <a:cs typeface="Arial"/>
              </a:defRPr>
            </a:lvl5pPr>
            <a:lvl6pPr>
              <a:defRPr sz="1350" b="1">
                <a:solidFill>
                  <a:srgbClr val="257249"/>
                </a:solidFill>
                <a:latin typeface="Arial"/>
                <a:ea typeface="Arial"/>
                <a:cs typeface="Arial"/>
              </a:defRPr>
            </a:lvl6pPr>
            <a:lvl7pPr>
              <a:defRPr sz="1350" b="1">
                <a:solidFill>
                  <a:srgbClr val="257249"/>
                </a:solidFill>
                <a:latin typeface="Arial"/>
                <a:ea typeface="Arial"/>
                <a:cs typeface="Arial"/>
              </a:defRPr>
            </a:lvl7pPr>
            <a:lvl8pPr>
              <a:defRPr sz="1350" b="1">
                <a:solidFill>
                  <a:srgbClr val="257249"/>
                </a:solidFill>
                <a:latin typeface="Arial"/>
                <a:ea typeface="Arial"/>
                <a:cs typeface="Arial"/>
              </a:defRPr>
            </a:lvl8pPr>
            <a:lvl9pPr>
              <a:defRPr sz="1350" b="1">
                <a:solidFill>
                  <a:srgbClr val="257249"/>
                </a:solidFill>
                <a:latin typeface="Arial"/>
                <a:ea typeface="Arial"/>
                <a:cs typeface="Arial"/>
              </a:defRPr>
            </a:lvl9pPr>
          </a:lstStyle>
          <a:p>
            <a:pPr>
              <a:defRPr sz="1350" b="1">
                <a:solidFill>
                  <a:srgbClr val="257249"/>
                </a:solidFill>
                <a:latin typeface="Arial"/>
                <a:ea typeface="Arial"/>
                <a:cs typeface="Arial"/>
              </a:defRPr>
            </a:pPr>
            <a:r>
              <a:rPr sz="1300" b="1">
                <a:solidFill>
                  <a:srgbClr val="2E7D32"/>
                </a:solidFill>
                <a:latin typeface="Arial"/>
                <a:ea typeface="Arial"/>
                <a:cs typeface="Arial"/>
              </a:rPr>
              <a:t>R6</a:t>
            </a:r>
          </a:p>
        </p:txBody>
      </p:sp>
      <p:sp>
        <p:nvSpPr>
          <p:cNvPr id="32" name="Rectangle 31">
            <a:extLst>
              <a:ext uri="{FF2B5EF4-FFF2-40B4-BE49-F238E27FC236}">
                <a16:creationId xmlns:a16="http://schemas.microsoft.com/office/drawing/2014/main" id="{F4B6F253-B1FC-4C8E-A7A2-19D2CDE33748}"/>
              </a:ext>
            </a:extLst>
          </p:cNvPr>
          <p:cNvSpPr>
            <a:spLocks noGrp="1"/>
          </p:cNvSpPr>
          <p:nvPr/>
        </p:nvSpPr>
        <p:spPr>
          <a:xfrm>
            <a:off x="6286500" y="4238625"/>
            <a:ext cx="1762125" cy="304800"/>
          </a:xfrm>
          <a:prstGeom prst="rect">
            <a:avLst/>
          </a:prstGeom>
          <a:noFill/>
          <a:ln w="0">
            <a:noFill/>
            <a:prstDash val="solid"/>
          </a:ln>
        </p:spPr>
        <p:txBody>
          <a:bodyPr/>
          <a:lstStyle>
            <a:defPPr>
              <a:defRPr sz="1650" b="1">
                <a:solidFill>
                  <a:srgbClr val="257249"/>
                </a:solidFill>
                <a:latin typeface="Arial"/>
                <a:ea typeface="Arial"/>
                <a:cs typeface="Arial"/>
              </a:defRPr>
            </a:defPPr>
            <a:lvl1pPr>
              <a:defRPr sz="1650" b="1">
                <a:solidFill>
                  <a:srgbClr val="257249"/>
                </a:solidFill>
                <a:latin typeface="Arial"/>
                <a:ea typeface="Arial"/>
                <a:cs typeface="Arial"/>
              </a:defRPr>
            </a:lvl1pPr>
            <a:lvl2pPr>
              <a:defRPr sz="1650" b="1">
                <a:solidFill>
                  <a:srgbClr val="257249"/>
                </a:solidFill>
                <a:latin typeface="Arial"/>
                <a:ea typeface="Arial"/>
                <a:cs typeface="Arial"/>
              </a:defRPr>
            </a:lvl2pPr>
            <a:lvl3pPr>
              <a:defRPr sz="1650" b="1">
                <a:solidFill>
                  <a:srgbClr val="257249"/>
                </a:solidFill>
                <a:latin typeface="Arial"/>
                <a:ea typeface="Arial"/>
                <a:cs typeface="Arial"/>
              </a:defRPr>
            </a:lvl3pPr>
            <a:lvl4pPr>
              <a:defRPr sz="1650" b="1">
                <a:solidFill>
                  <a:srgbClr val="257249"/>
                </a:solidFill>
                <a:latin typeface="Arial"/>
                <a:ea typeface="Arial"/>
                <a:cs typeface="Arial"/>
              </a:defRPr>
            </a:lvl4pPr>
            <a:lvl5pPr>
              <a:defRPr sz="1650" b="1">
                <a:solidFill>
                  <a:srgbClr val="257249"/>
                </a:solidFill>
                <a:latin typeface="Arial"/>
                <a:ea typeface="Arial"/>
                <a:cs typeface="Arial"/>
              </a:defRPr>
            </a:lvl5pPr>
            <a:lvl6pPr>
              <a:defRPr sz="1650" b="1">
                <a:solidFill>
                  <a:srgbClr val="257249"/>
                </a:solidFill>
                <a:latin typeface="Arial"/>
                <a:ea typeface="Arial"/>
                <a:cs typeface="Arial"/>
              </a:defRPr>
            </a:lvl6pPr>
            <a:lvl7pPr>
              <a:defRPr sz="1650" b="1">
                <a:solidFill>
                  <a:srgbClr val="257249"/>
                </a:solidFill>
                <a:latin typeface="Arial"/>
                <a:ea typeface="Arial"/>
                <a:cs typeface="Arial"/>
              </a:defRPr>
            </a:lvl7pPr>
            <a:lvl8pPr>
              <a:defRPr sz="1650" b="1">
                <a:solidFill>
                  <a:srgbClr val="257249"/>
                </a:solidFill>
                <a:latin typeface="Arial"/>
                <a:ea typeface="Arial"/>
                <a:cs typeface="Arial"/>
              </a:defRPr>
            </a:lvl8pPr>
            <a:lvl9pPr>
              <a:defRPr sz="1650" b="1">
                <a:solidFill>
                  <a:srgbClr val="257249"/>
                </a:solidFill>
                <a:latin typeface="Arial"/>
                <a:ea typeface="Arial"/>
                <a:cs typeface="Arial"/>
              </a:defRPr>
            </a:lvl9pPr>
          </a:lstStyle>
          <a:p>
            <a:pPr>
              <a:defRPr sz="1650" b="1">
                <a:solidFill>
                  <a:srgbClr val="257249"/>
                </a:solidFill>
                <a:latin typeface="Arial"/>
                <a:ea typeface="Arial"/>
                <a:cs typeface="Arial"/>
              </a:defRPr>
            </a:pPr>
            <a:r>
              <a:rPr sz="1600" b="1">
                <a:solidFill>
                  <a:srgbClr val="2E7D32"/>
                </a:solidFill>
                <a:latin typeface="Arial"/>
                <a:ea typeface="Arial"/>
                <a:cs typeface="Arial"/>
              </a:rPr>
              <a:t>Remanufacture</a:t>
            </a:r>
          </a:p>
        </p:txBody>
      </p:sp>
      <p:sp>
        <p:nvSpPr>
          <p:cNvPr id="33" name="Rectangle 32">
            <a:extLst>
              <a:ext uri="{FF2B5EF4-FFF2-40B4-BE49-F238E27FC236}">
                <a16:creationId xmlns:a16="http://schemas.microsoft.com/office/drawing/2014/main" id="{FDE81D83-F5DB-4C17-9385-D1F89C03CC0D}"/>
              </a:ext>
            </a:extLst>
          </p:cNvPr>
          <p:cNvSpPr>
            <a:spLocks noGrp="1"/>
          </p:cNvSpPr>
          <p:nvPr/>
        </p:nvSpPr>
        <p:spPr>
          <a:xfrm>
            <a:off x="8096250" y="4248150"/>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Rebuild with recovered components</a:t>
            </a:r>
          </a:p>
        </p:txBody>
      </p:sp>
      <p:sp>
        <p:nvSpPr>
          <p:cNvPr id="34" name="Rectangle 33">
            <a:extLst>
              <a:ext uri="{FF2B5EF4-FFF2-40B4-BE49-F238E27FC236}">
                <a16:creationId xmlns:a16="http://schemas.microsoft.com/office/drawing/2014/main" id="{B1CFB691-052D-42B9-920A-22BD67DF5C6E}"/>
              </a:ext>
            </a:extLst>
          </p:cNvPr>
          <p:cNvSpPr>
            <a:spLocks noGrp="1"/>
          </p:cNvSpPr>
          <p:nvPr/>
        </p:nvSpPr>
        <p:spPr>
          <a:xfrm>
            <a:off x="5715000" y="4610100"/>
            <a:ext cx="6000750" cy="371475"/>
          </a:xfrm>
          <a:prstGeom prst="rect">
            <a:avLst/>
          </a:prstGeom>
          <a:solidFill>
            <a:srgbClr val="F0F6F0"/>
          </a:solidFill>
          <a:ln w="0">
            <a:noFill/>
            <a:prstDash val="solid"/>
          </a:ln>
        </p:spPr>
        <p:txBody>
          <a:bodyPr/>
          <a:lstStyle/>
          <a:p>
            <a:endParaRPr lang="en-GB"/>
          </a:p>
        </p:txBody>
      </p:sp>
      <p:sp>
        <p:nvSpPr>
          <p:cNvPr id="35" name="Rectangle 34">
            <a:extLst>
              <a:ext uri="{FF2B5EF4-FFF2-40B4-BE49-F238E27FC236}">
                <a16:creationId xmlns:a16="http://schemas.microsoft.com/office/drawing/2014/main" id="{2B635B76-E92C-4002-B327-55ABEB3D2DFA}"/>
              </a:ext>
            </a:extLst>
          </p:cNvPr>
          <p:cNvSpPr>
            <a:spLocks noGrp="1"/>
          </p:cNvSpPr>
          <p:nvPr/>
        </p:nvSpPr>
        <p:spPr>
          <a:xfrm>
            <a:off x="5762625" y="4657725"/>
            <a:ext cx="523875" cy="285750"/>
          </a:xfrm>
          <a:prstGeom prst="rect">
            <a:avLst/>
          </a:prstGeom>
          <a:noFill/>
          <a:ln w="0">
            <a:noFill/>
            <a:prstDash val="solid"/>
          </a:ln>
        </p:spPr>
        <p:txBody>
          <a:bodyPr/>
          <a:lstStyle>
            <a:defPPr>
              <a:defRPr sz="1350" b="1">
                <a:solidFill>
                  <a:srgbClr val="257249"/>
                </a:solidFill>
                <a:latin typeface="Arial"/>
                <a:ea typeface="Arial"/>
                <a:cs typeface="Arial"/>
              </a:defRPr>
            </a:defPPr>
            <a:lvl1pPr>
              <a:defRPr sz="1350" b="1">
                <a:solidFill>
                  <a:srgbClr val="257249"/>
                </a:solidFill>
                <a:latin typeface="Arial"/>
                <a:ea typeface="Arial"/>
                <a:cs typeface="Arial"/>
              </a:defRPr>
            </a:lvl1pPr>
            <a:lvl2pPr>
              <a:defRPr sz="1350" b="1">
                <a:solidFill>
                  <a:srgbClr val="257249"/>
                </a:solidFill>
                <a:latin typeface="Arial"/>
                <a:ea typeface="Arial"/>
                <a:cs typeface="Arial"/>
              </a:defRPr>
            </a:lvl2pPr>
            <a:lvl3pPr>
              <a:defRPr sz="1350" b="1">
                <a:solidFill>
                  <a:srgbClr val="257249"/>
                </a:solidFill>
                <a:latin typeface="Arial"/>
                <a:ea typeface="Arial"/>
                <a:cs typeface="Arial"/>
              </a:defRPr>
            </a:lvl3pPr>
            <a:lvl4pPr>
              <a:defRPr sz="1350" b="1">
                <a:solidFill>
                  <a:srgbClr val="257249"/>
                </a:solidFill>
                <a:latin typeface="Arial"/>
                <a:ea typeface="Arial"/>
                <a:cs typeface="Arial"/>
              </a:defRPr>
            </a:lvl4pPr>
            <a:lvl5pPr>
              <a:defRPr sz="1350" b="1">
                <a:solidFill>
                  <a:srgbClr val="257249"/>
                </a:solidFill>
                <a:latin typeface="Arial"/>
                <a:ea typeface="Arial"/>
                <a:cs typeface="Arial"/>
              </a:defRPr>
            </a:lvl5pPr>
            <a:lvl6pPr>
              <a:defRPr sz="1350" b="1">
                <a:solidFill>
                  <a:srgbClr val="257249"/>
                </a:solidFill>
                <a:latin typeface="Arial"/>
                <a:ea typeface="Arial"/>
                <a:cs typeface="Arial"/>
              </a:defRPr>
            </a:lvl6pPr>
            <a:lvl7pPr>
              <a:defRPr sz="1350" b="1">
                <a:solidFill>
                  <a:srgbClr val="257249"/>
                </a:solidFill>
                <a:latin typeface="Arial"/>
                <a:ea typeface="Arial"/>
                <a:cs typeface="Arial"/>
              </a:defRPr>
            </a:lvl7pPr>
            <a:lvl8pPr>
              <a:defRPr sz="1350" b="1">
                <a:solidFill>
                  <a:srgbClr val="257249"/>
                </a:solidFill>
                <a:latin typeface="Arial"/>
                <a:ea typeface="Arial"/>
                <a:cs typeface="Arial"/>
              </a:defRPr>
            </a:lvl8pPr>
            <a:lvl9pPr>
              <a:defRPr sz="1350" b="1">
                <a:solidFill>
                  <a:srgbClr val="257249"/>
                </a:solidFill>
                <a:latin typeface="Arial"/>
                <a:ea typeface="Arial"/>
                <a:cs typeface="Arial"/>
              </a:defRPr>
            </a:lvl9pPr>
          </a:lstStyle>
          <a:p>
            <a:pPr>
              <a:defRPr sz="1350" b="1">
                <a:solidFill>
                  <a:srgbClr val="257249"/>
                </a:solidFill>
                <a:latin typeface="Arial"/>
                <a:ea typeface="Arial"/>
                <a:cs typeface="Arial"/>
              </a:defRPr>
            </a:pPr>
            <a:r>
              <a:rPr sz="1300" b="1">
                <a:solidFill>
                  <a:srgbClr val="2E7D32"/>
                </a:solidFill>
                <a:latin typeface="Arial"/>
                <a:ea typeface="Arial"/>
                <a:cs typeface="Arial"/>
              </a:rPr>
              <a:t>R7</a:t>
            </a:r>
          </a:p>
        </p:txBody>
      </p:sp>
      <p:sp>
        <p:nvSpPr>
          <p:cNvPr id="36" name="Rectangle 35">
            <a:extLst>
              <a:ext uri="{FF2B5EF4-FFF2-40B4-BE49-F238E27FC236}">
                <a16:creationId xmlns:a16="http://schemas.microsoft.com/office/drawing/2014/main" id="{71419477-15B8-4BA4-BB24-02A32FF9B550}"/>
              </a:ext>
            </a:extLst>
          </p:cNvPr>
          <p:cNvSpPr>
            <a:spLocks noGrp="1"/>
          </p:cNvSpPr>
          <p:nvPr/>
        </p:nvSpPr>
        <p:spPr>
          <a:xfrm>
            <a:off x="6286500" y="4648200"/>
            <a:ext cx="1762125" cy="304800"/>
          </a:xfrm>
          <a:prstGeom prst="rect">
            <a:avLst/>
          </a:prstGeom>
          <a:noFill/>
          <a:ln w="0">
            <a:noFill/>
            <a:prstDash val="solid"/>
          </a:ln>
        </p:spPr>
        <p:txBody>
          <a:bodyPr/>
          <a:lstStyle>
            <a:defPPr>
              <a:defRPr sz="1650" b="1">
                <a:solidFill>
                  <a:srgbClr val="257249"/>
                </a:solidFill>
                <a:latin typeface="Arial"/>
                <a:ea typeface="Arial"/>
                <a:cs typeface="Arial"/>
              </a:defRPr>
            </a:defPPr>
            <a:lvl1pPr>
              <a:defRPr sz="1650" b="1">
                <a:solidFill>
                  <a:srgbClr val="257249"/>
                </a:solidFill>
                <a:latin typeface="Arial"/>
                <a:ea typeface="Arial"/>
                <a:cs typeface="Arial"/>
              </a:defRPr>
            </a:lvl1pPr>
            <a:lvl2pPr>
              <a:defRPr sz="1650" b="1">
                <a:solidFill>
                  <a:srgbClr val="257249"/>
                </a:solidFill>
                <a:latin typeface="Arial"/>
                <a:ea typeface="Arial"/>
                <a:cs typeface="Arial"/>
              </a:defRPr>
            </a:lvl2pPr>
            <a:lvl3pPr>
              <a:defRPr sz="1650" b="1">
                <a:solidFill>
                  <a:srgbClr val="257249"/>
                </a:solidFill>
                <a:latin typeface="Arial"/>
                <a:ea typeface="Arial"/>
                <a:cs typeface="Arial"/>
              </a:defRPr>
            </a:lvl3pPr>
            <a:lvl4pPr>
              <a:defRPr sz="1650" b="1">
                <a:solidFill>
                  <a:srgbClr val="257249"/>
                </a:solidFill>
                <a:latin typeface="Arial"/>
                <a:ea typeface="Arial"/>
                <a:cs typeface="Arial"/>
              </a:defRPr>
            </a:lvl4pPr>
            <a:lvl5pPr>
              <a:defRPr sz="1650" b="1">
                <a:solidFill>
                  <a:srgbClr val="257249"/>
                </a:solidFill>
                <a:latin typeface="Arial"/>
                <a:ea typeface="Arial"/>
                <a:cs typeface="Arial"/>
              </a:defRPr>
            </a:lvl5pPr>
            <a:lvl6pPr>
              <a:defRPr sz="1650" b="1">
                <a:solidFill>
                  <a:srgbClr val="257249"/>
                </a:solidFill>
                <a:latin typeface="Arial"/>
                <a:ea typeface="Arial"/>
                <a:cs typeface="Arial"/>
              </a:defRPr>
            </a:lvl6pPr>
            <a:lvl7pPr>
              <a:defRPr sz="1650" b="1">
                <a:solidFill>
                  <a:srgbClr val="257249"/>
                </a:solidFill>
                <a:latin typeface="Arial"/>
                <a:ea typeface="Arial"/>
                <a:cs typeface="Arial"/>
              </a:defRPr>
            </a:lvl7pPr>
            <a:lvl8pPr>
              <a:defRPr sz="1650" b="1">
                <a:solidFill>
                  <a:srgbClr val="257249"/>
                </a:solidFill>
                <a:latin typeface="Arial"/>
                <a:ea typeface="Arial"/>
                <a:cs typeface="Arial"/>
              </a:defRPr>
            </a:lvl8pPr>
            <a:lvl9pPr>
              <a:defRPr sz="1650" b="1">
                <a:solidFill>
                  <a:srgbClr val="257249"/>
                </a:solidFill>
                <a:latin typeface="Arial"/>
                <a:ea typeface="Arial"/>
                <a:cs typeface="Arial"/>
              </a:defRPr>
            </a:lvl9pPr>
          </a:lstStyle>
          <a:p>
            <a:pPr>
              <a:defRPr sz="1650" b="1">
                <a:solidFill>
                  <a:srgbClr val="257249"/>
                </a:solidFill>
                <a:latin typeface="Arial"/>
                <a:ea typeface="Arial"/>
                <a:cs typeface="Arial"/>
              </a:defRPr>
            </a:pPr>
            <a:r>
              <a:rPr sz="1600" b="1">
                <a:solidFill>
                  <a:srgbClr val="2E7D32"/>
                </a:solidFill>
                <a:latin typeface="Arial"/>
                <a:ea typeface="Arial"/>
                <a:cs typeface="Arial"/>
              </a:rPr>
              <a:t>Repurpose</a:t>
            </a:r>
          </a:p>
        </p:txBody>
      </p:sp>
      <p:sp>
        <p:nvSpPr>
          <p:cNvPr id="37" name="Rectangle 36">
            <a:extLst>
              <a:ext uri="{FF2B5EF4-FFF2-40B4-BE49-F238E27FC236}">
                <a16:creationId xmlns:a16="http://schemas.microsoft.com/office/drawing/2014/main" id="{37681647-614C-44D1-A0FA-3CF4C6932DA4}"/>
              </a:ext>
            </a:extLst>
          </p:cNvPr>
          <p:cNvSpPr>
            <a:spLocks noGrp="1"/>
          </p:cNvSpPr>
          <p:nvPr/>
        </p:nvSpPr>
        <p:spPr>
          <a:xfrm>
            <a:off x="8096250" y="4657725"/>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Give products or parts a new function</a:t>
            </a:r>
          </a:p>
        </p:txBody>
      </p:sp>
      <p:sp>
        <p:nvSpPr>
          <p:cNvPr id="38" name="Rectangle 37">
            <a:extLst>
              <a:ext uri="{FF2B5EF4-FFF2-40B4-BE49-F238E27FC236}">
                <a16:creationId xmlns:a16="http://schemas.microsoft.com/office/drawing/2014/main" id="{F5E4B3AA-E4B0-4BAA-B16D-66D916D82BBF}"/>
              </a:ext>
            </a:extLst>
          </p:cNvPr>
          <p:cNvSpPr>
            <a:spLocks noGrp="1"/>
          </p:cNvSpPr>
          <p:nvPr/>
        </p:nvSpPr>
        <p:spPr>
          <a:xfrm>
            <a:off x="5715000" y="5019675"/>
            <a:ext cx="6000750" cy="371475"/>
          </a:xfrm>
          <a:prstGeom prst="rect">
            <a:avLst/>
          </a:prstGeom>
          <a:solidFill>
            <a:srgbClr val="F6F1E9"/>
          </a:solidFill>
          <a:ln w="0">
            <a:noFill/>
            <a:prstDash val="solid"/>
          </a:ln>
        </p:spPr>
        <p:txBody>
          <a:bodyPr/>
          <a:lstStyle/>
          <a:p>
            <a:endParaRPr lang="en-GB"/>
          </a:p>
        </p:txBody>
      </p:sp>
      <p:sp>
        <p:nvSpPr>
          <p:cNvPr id="39" name="Rectangle 38">
            <a:extLst>
              <a:ext uri="{FF2B5EF4-FFF2-40B4-BE49-F238E27FC236}">
                <a16:creationId xmlns:a16="http://schemas.microsoft.com/office/drawing/2014/main" id="{ECEE3EF4-8EBC-458B-ABDB-A54D559ECB8C}"/>
              </a:ext>
            </a:extLst>
          </p:cNvPr>
          <p:cNvSpPr>
            <a:spLocks noGrp="1"/>
          </p:cNvSpPr>
          <p:nvPr/>
        </p:nvSpPr>
        <p:spPr>
          <a:xfrm>
            <a:off x="5762625" y="5067300"/>
            <a:ext cx="523875" cy="285750"/>
          </a:xfrm>
          <a:prstGeom prst="rect">
            <a:avLst/>
          </a:prstGeom>
          <a:noFill/>
          <a:ln w="0">
            <a:noFill/>
            <a:prstDash val="solid"/>
          </a:ln>
        </p:spPr>
        <p:txBody>
          <a:bodyPr/>
          <a:lstStyle>
            <a:defPPr>
              <a:defRPr sz="1350" b="1">
                <a:solidFill>
                  <a:srgbClr val="8C6328"/>
                </a:solidFill>
                <a:latin typeface="Arial"/>
                <a:ea typeface="Arial"/>
                <a:cs typeface="Arial"/>
              </a:defRPr>
            </a:defPPr>
            <a:lvl1pPr>
              <a:defRPr sz="1350" b="1">
                <a:solidFill>
                  <a:srgbClr val="8C6328"/>
                </a:solidFill>
                <a:latin typeface="Arial"/>
                <a:ea typeface="Arial"/>
                <a:cs typeface="Arial"/>
              </a:defRPr>
            </a:lvl1pPr>
            <a:lvl2pPr>
              <a:defRPr sz="1350" b="1">
                <a:solidFill>
                  <a:srgbClr val="8C6328"/>
                </a:solidFill>
                <a:latin typeface="Arial"/>
                <a:ea typeface="Arial"/>
                <a:cs typeface="Arial"/>
              </a:defRPr>
            </a:lvl2pPr>
            <a:lvl3pPr>
              <a:defRPr sz="1350" b="1">
                <a:solidFill>
                  <a:srgbClr val="8C6328"/>
                </a:solidFill>
                <a:latin typeface="Arial"/>
                <a:ea typeface="Arial"/>
                <a:cs typeface="Arial"/>
              </a:defRPr>
            </a:lvl3pPr>
            <a:lvl4pPr>
              <a:defRPr sz="1350" b="1">
                <a:solidFill>
                  <a:srgbClr val="8C6328"/>
                </a:solidFill>
                <a:latin typeface="Arial"/>
                <a:ea typeface="Arial"/>
                <a:cs typeface="Arial"/>
              </a:defRPr>
            </a:lvl4pPr>
            <a:lvl5pPr>
              <a:defRPr sz="1350" b="1">
                <a:solidFill>
                  <a:srgbClr val="8C6328"/>
                </a:solidFill>
                <a:latin typeface="Arial"/>
                <a:ea typeface="Arial"/>
                <a:cs typeface="Arial"/>
              </a:defRPr>
            </a:lvl5pPr>
            <a:lvl6pPr>
              <a:defRPr sz="1350" b="1">
                <a:solidFill>
                  <a:srgbClr val="8C6328"/>
                </a:solidFill>
                <a:latin typeface="Arial"/>
                <a:ea typeface="Arial"/>
                <a:cs typeface="Arial"/>
              </a:defRPr>
            </a:lvl6pPr>
            <a:lvl7pPr>
              <a:defRPr sz="1350" b="1">
                <a:solidFill>
                  <a:srgbClr val="8C6328"/>
                </a:solidFill>
                <a:latin typeface="Arial"/>
                <a:ea typeface="Arial"/>
                <a:cs typeface="Arial"/>
              </a:defRPr>
            </a:lvl7pPr>
            <a:lvl8pPr>
              <a:defRPr sz="1350" b="1">
                <a:solidFill>
                  <a:srgbClr val="8C6328"/>
                </a:solidFill>
                <a:latin typeface="Arial"/>
                <a:ea typeface="Arial"/>
                <a:cs typeface="Arial"/>
              </a:defRPr>
            </a:lvl8pPr>
            <a:lvl9pPr>
              <a:defRPr sz="1350" b="1">
                <a:solidFill>
                  <a:srgbClr val="8C6328"/>
                </a:solidFill>
                <a:latin typeface="Arial"/>
                <a:ea typeface="Arial"/>
                <a:cs typeface="Arial"/>
              </a:defRPr>
            </a:lvl9pPr>
          </a:lstStyle>
          <a:p>
            <a:pPr>
              <a:defRPr sz="1350" b="1">
                <a:solidFill>
                  <a:srgbClr val="8C6328"/>
                </a:solidFill>
                <a:latin typeface="Arial"/>
                <a:ea typeface="Arial"/>
                <a:cs typeface="Arial"/>
              </a:defRPr>
            </a:pPr>
            <a:r>
              <a:rPr sz="1300" b="1">
                <a:solidFill>
                  <a:srgbClr val="A65F00"/>
                </a:solidFill>
                <a:latin typeface="Arial"/>
                <a:ea typeface="Arial"/>
                <a:cs typeface="Arial"/>
              </a:rPr>
              <a:t>R8</a:t>
            </a:r>
          </a:p>
        </p:txBody>
      </p:sp>
      <p:sp>
        <p:nvSpPr>
          <p:cNvPr id="40" name="Rectangle 39">
            <a:extLst>
              <a:ext uri="{FF2B5EF4-FFF2-40B4-BE49-F238E27FC236}">
                <a16:creationId xmlns:a16="http://schemas.microsoft.com/office/drawing/2014/main" id="{922B7D59-D4FF-4331-B4EF-FAA7A615E8C1}"/>
              </a:ext>
            </a:extLst>
          </p:cNvPr>
          <p:cNvSpPr>
            <a:spLocks noGrp="1"/>
          </p:cNvSpPr>
          <p:nvPr/>
        </p:nvSpPr>
        <p:spPr>
          <a:xfrm>
            <a:off x="6286500" y="5057775"/>
            <a:ext cx="1762125" cy="304800"/>
          </a:xfrm>
          <a:prstGeom prst="rect">
            <a:avLst/>
          </a:prstGeom>
          <a:noFill/>
          <a:ln w="0">
            <a:noFill/>
            <a:prstDash val="solid"/>
          </a:ln>
        </p:spPr>
        <p:txBody>
          <a:bodyPr/>
          <a:lstStyle>
            <a:defPPr>
              <a:defRPr sz="1650" b="1">
                <a:solidFill>
                  <a:srgbClr val="8C6328"/>
                </a:solidFill>
                <a:latin typeface="Arial"/>
                <a:ea typeface="Arial"/>
                <a:cs typeface="Arial"/>
              </a:defRPr>
            </a:defPPr>
            <a:lvl1pPr>
              <a:defRPr sz="1650" b="1">
                <a:solidFill>
                  <a:srgbClr val="8C6328"/>
                </a:solidFill>
                <a:latin typeface="Arial"/>
                <a:ea typeface="Arial"/>
                <a:cs typeface="Arial"/>
              </a:defRPr>
            </a:lvl1pPr>
            <a:lvl2pPr>
              <a:defRPr sz="1650" b="1">
                <a:solidFill>
                  <a:srgbClr val="8C6328"/>
                </a:solidFill>
                <a:latin typeface="Arial"/>
                <a:ea typeface="Arial"/>
                <a:cs typeface="Arial"/>
              </a:defRPr>
            </a:lvl2pPr>
            <a:lvl3pPr>
              <a:defRPr sz="1650" b="1">
                <a:solidFill>
                  <a:srgbClr val="8C6328"/>
                </a:solidFill>
                <a:latin typeface="Arial"/>
                <a:ea typeface="Arial"/>
                <a:cs typeface="Arial"/>
              </a:defRPr>
            </a:lvl3pPr>
            <a:lvl4pPr>
              <a:defRPr sz="1650" b="1">
                <a:solidFill>
                  <a:srgbClr val="8C6328"/>
                </a:solidFill>
                <a:latin typeface="Arial"/>
                <a:ea typeface="Arial"/>
                <a:cs typeface="Arial"/>
              </a:defRPr>
            </a:lvl4pPr>
            <a:lvl5pPr>
              <a:defRPr sz="1650" b="1">
                <a:solidFill>
                  <a:srgbClr val="8C6328"/>
                </a:solidFill>
                <a:latin typeface="Arial"/>
                <a:ea typeface="Arial"/>
                <a:cs typeface="Arial"/>
              </a:defRPr>
            </a:lvl5pPr>
            <a:lvl6pPr>
              <a:defRPr sz="1650" b="1">
                <a:solidFill>
                  <a:srgbClr val="8C6328"/>
                </a:solidFill>
                <a:latin typeface="Arial"/>
                <a:ea typeface="Arial"/>
                <a:cs typeface="Arial"/>
              </a:defRPr>
            </a:lvl6pPr>
            <a:lvl7pPr>
              <a:defRPr sz="1650" b="1">
                <a:solidFill>
                  <a:srgbClr val="8C6328"/>
                </a:solidFill>
                <a:latin typeface="Arial"/>
                <a:ea typeface="Arial"/>
                <a:cs typeface="Arial"/>
              </a:defRPr>
            </a:lvl7pPr>
            <a:lvl8pPr>
              <a:defRPr sz="1650" b="1">
                <a:solidFill>
                  <a:srgbClr val="8C6328"/>
                </a:solidFill>
                <a:latin typeface="Arial"/>
                <a:ea typeface="Arial"/>
                <a:cs typeface="Arial"/>
              </a:defRPr>
            </a:lvl8pPr>
            <a:lvl9pPr>
              <a:defRPr sz="1650" b="1">
                <a:solidFill>
                  <a:srgbClr val="8C6328"/>
                </a:solidFill>
                <a:latin typeface="Arial"/>
                <a:ea typeface="Arial"/>
                <a:cs typeface="Arial"/>
              </a:defRPr>
            </a:lvl9pPr>
          </a:lstStyle>
          <a:p>
            <a:pPr>
              <a:defRPr sz="1650" b="1">
                <a:solidFill>
                  <a:srgbClr val="8C6328"/>
                </a:solidFill>
                <a:latin typeface="Arial"/>
                <a:ea typeface="Arial"/>
                <a:cs typeface="Arial"/>
              </a:defRPr>
            </a:pPr>
            <a:r>
              <a:rPr sz="1600" b="1">
                <a:solidFill>
                  <a:srgbClr val="A65F00"/>
                </a:solidFill>
                <a:latin typeface="Arial"/>
                <a:ea typeface="Arial"/>
                <a:cs typeface="Arial"/>
              </a:rPr>
              <a:t>Recycle</a:t>
            </a:r>
          </a:p>
        </p:txBody>
      </p:sp>
      <p:sp>
        <p:nvSpPr>
          <p:cNvPr id="41" name="Rectangle 40">
            <a:extLst>
              <a:ext uri="{FF2B5EF4-FFF2-40B4-BE49-F238E27FC236}">
                <a16:creationId xmlns:a16="http://schemas.microsoft.com/office/drawing/2014/main" id="{07BFBE03-E2D3-47E2-8E0E-3BD2F2630D79}"/>
              </a:ext>
            </a:extLst>
          </p:cNvPr>
          <p:cNvSpPr>
            <a:spLocks noGrp="1"/>
          </p:cNvSpPr>
          <p:nvPr/>
        </p:nvSpPr>
        <p:spPr>
          <a:xfrm>
            <a:off x="8096250" y="5067300"/>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Recover materials for processing</a:t>
            </a:r>
          </a:p>
        </p:txBody>
      </p:sp>
      <p:sp>
        <p:nvSpPr>
          <p:cNvPr id="42" name="Rectangle 41">
            <a:extLst>
              <a:ext uri="{FF2B5EF4-FFF2-40B4-BE49-F238E27FC236}">
                <a16:creationId xmlns:a16="http://schemas.microsoft.com/office/drawing/2014/main" id="{3B606F8E-35EF-4F8B-823B-76DF643F9D3E}"/>
              </a:ext>
            </a:extLst>
          </p:cNvPr>
          <p:cNvSpPr>
            <a:spLocks noGrp="1"/>
          </p:cNvSpPr>
          <p:nvPr/>
        </p:nvSpPr>
        <p:spPr>
          <a:xfrm>
            <a:off x="5715000" y="5429250"/>
            <a:ext cx="6000750" cy="371475"/>
          </a:xfrm>
          <a:prstGeom prst="rect">
            <a:avLst/>
          </a:prstGeom>
          <a:solidFill>
            <a:srgbClr val="F6F1E9"/>
          </a:solidFill>
          <a:ln w="0">
            <a:noFill/>
            <a:prstDash val="solid"/>
          </a:ln>
        </p:spPr>
        <p:txBody>
          <a:bodyPr/>
          <a:lstStyle/>
          <a:p>
            <a:endParaRPr lang="en-GB"/>
          </a:p>
        </p:txBody>
      </p:sp>
      <p:sp>
        <p:nvSpPr>
          <p:cNvPr id="43" name="Rectangle 42">
            <a:extLst>
              <a:ext uri="{FF2B5EF4-FFF2-40B4-BE49-F238E27FC236}">
                <a16:creationId xmlns:a16="http://schemas.microsoft.com/office/drawing/2014/main" id="{207C01BE-B5CD-4EB0-8F65-EEFD1259797D}"/>
              </a:ext>
            </a:extLst>
          </p:cNvPr>
          <p:cNvSpPr>
            <a:spLocks noGrp="1"/>
          </p:cNvSpPr>
          <p:nvPr/>
        </p:nvSpPr>
        <p:spPr>
          <a:xfrm>
            <a:off x="5762625" y="5476875"/>
            <a:ext cx="523875" cy="285750"/>
          </a:xfrm>
          <a:prstGeom prst="rect">
            <a:avLst/>
          </a:prstGeom>
          <a:noFill/>
          <a:ln w="0">
            <a:noFill/>
            <a:prstDash val="solid"/>
          </a:ln>
        </p:spPr>
        <p:txBody>
          <a:bodyPr/>
          <a:lstStyle>
            <a:defPPr>
              <a:defRPr sz="1350" b="1">
                <a:solidFill>
                  <a:srgbClr val="8C6328"/>
                </a:solidFill>
                <a:latin typeface="Arial"/>
                <a:ea typeface="Arial"/>
                <a:cs typeface="Arial"/>
              </a:defRPr>
            </a:defPPr>
            <a:lvl1pPr>
              <a:defRPr sz="1350" b="1">
                <a:solidFill>
                  <a:srgbClr val="8C6328"/>
                </a:solidFill>
                <a:latin typeface="Arial"/>
                <a:ea typeface="Arial"/>
                <a:cs typeface="Arial"/>
              </a:defRPr>
            </a:lvl1pPr>
            <a:lvl2pPr>
              <a:defRPr sz="1350" b="1">
                <a:solidFill>
                  <a:srgbClr val="8C6328"/>
                </a:solidFill>
                <a:latin typeface="Arial"/>
                <a:ea typeface="Arial"/>
                <a:cs typeface="Arial"/>
              </a:defRPr>
            </a:lvl2pPr>
            <a:lvl3pPr>
              <a:defRPr sz="1350" b="1">
                <a:solidFill>
                  <a:srgbClr val="8C6328"/>
                </a:solidFill>
                <a:latin typeface="Arial"/>
                <a:ea typeface="Arial"/>
                <a:cs typeface="Arial"/>
              </a:defRPr>
            </a:lvl3pPr>
            <a:lvl4pPr>
              <a:defRPr sz="1350" b="1">
                <a:solidFill>
                  <a:srgbClr val="8C6328"/>
                </a:solidFill>
                <a:latin typeface="Arial"/>
                <a:ea typeface="Arial"/>
                <a:cs typeface="Arial"/>
              </a:defRPr>
            </a:lvl4pPr>
            <a:lvl5pPr>
              <a:defRPr sz="1350" b="1">
                <a:solidFill>
                  <a:srgbClr val="8C6328"/>
                </a:solidFill>
                <a:latin typeface="Arial"/>
                <a:ea typeface="Arial"/>
                <a:cs typeface="Arial"/>
              </a:defRPr>
            </a:lvl5pPr>
            <a:lvl6pPr>
              <a:defRPr sz="1350" b="1">
                <a:solidFill>
                  <a:srgbClr val="8C6328"/>
                </a:solidFill>
                <a:latin typeface="Arial"/>
                <a:ea typeface="Arial"/>
                <a:cs typeface="Arial"/>
              </a:defRPr>
            </a:lvl6pPr>
            <a:lvl7pPr>
              <a:defRPr sz="1350" b="1">
                <a:solidFill>
                  <a:srgbClr val="8C6328"/>
                </a:solidFill>
                <a:latin typeface="Arial"/>
                <a:ea typeface="Arial"/>
                <a:cs typeface="Arial"/>
              </a:defRPr>
            </a:lvl7pPr>
            <a:lvl8pPr>
              <a:defRPr sz="1350" b="1">
                <a:solidFill>
                  <a:srgbClr val="8C6328"/>
                </a:solidFill>
                <a:latin typeface="Arial"/>
                <a:ea typeface="Arial"/>
                <a:cs typeface="Arial"/>
              </a:defRPr>
            </a:lvl8pPr>
            <a:lvl9pPr>
              <a:defRPr sz="1350" b="1">
                <a:solidFill>
                  <a:srgbClr val="8C6328"/>
                </a:solidFill>
                <a:latin typeface="Arial"/>
                <a:ea typeface="Arial"/>
                <a:cs typeface="Arial"/>
              </a:defRPr>
            </a:lvl9pPr>
          </a:lstStyle>
          <a:p>
            <a:pPr>
              <a:defRPr sz="1350" b="1">
                <a:solidFill>
                  <a:srgbClr val="8C6328"/>
                </a:solidFill>
                <a:latin typeface="Arial"/>
                <a:ea typeface="Arial"/>
                <a:cs typeface="Arial"/>
              </a:defRPr>
            </a:pPr>
            <a:r>
              <a:rPr sz="1300" b="1">
                <a:solidFill>
                  <a:srgbClr val="A65F00"/>
                </a:solidFill>
                <a:latin typeface="Arial"/>
                <a:ea typeface="Arial"/>
                <a:cs typeface="Arial"/>
              </a:rPr>
              <a:t>R9</a:t>
            </a:r>
          </a:p>
        </p:txBody>
      </p:sp>
      <p:sp>
        <p:nvSpPr>
          <p:cNvPr id="44" name="Rectangle 43">
            <a:extLst>
              <a:ext uri="{FF2B5EF4-FFF2-40B4-BE49-F238E27FC236}">
                <a16:creationId xmlns:a16="http://schemas.microsoft.com/office/drawing/2014/main" id="{AA93E7EA-DE11-4E78-8952-BB9C5B238D6A}"/>
              </a:ext>
            </a:extLst>
          </p:cNvPr>
          <p:cNvSpPr>
            <a:spLocks noGrp="1"/>
          </p:cNvSpPr>
          <p:nvPr/>
        </p:nvSpPr>
        <p:spPr>
          <a:xfrm>
            <a:off x="6286500" y="5467350"/>
            <a:ext cx="1762125" cy="304800"/>
          </a:xfrm>
          <a:prstGeom prst="rect">
            <a:avLst/>
          </a:prstGeom>
          <a:noFill/>
          <a:ln w="0">
            <a:noFill/>
            <a:prstDash val="solid"/>
          </a:ln>
        </p:spPr>
        <p:txBody>
          <a:bodyPr/>
          <a:lstStyle>
            <a:defPPr>
              <a:defRPr sz="1650" b="1">
                <a:solidFill>
                  <a:srgbClr val="8C6328"/>
                </a:solidFill>
                <a:latin typeface="Arial"/>
                <a:ea typeface="Arial"/>
                <a:cs typeface="Arial"/>
              </a:defRPr>
            </a:defPPr>
            <a:lvl1pPr>
              <a:defRPr sz="1650" b="1">
                <a:solidFill>
                  <a:srgbClr val="8C6328"/>
                </a:solidFill>
                <a:latin typeface="Arial"/>
                <a:ea typeface="Arial"/>
                <a:cs typeface="Arial"/>
              </a:defRPr>
            </a:lvl1pPr>
            <a:lvl2pPr>
              <a:defRPr sz="1650" b="1">
                <a:solidFill>
                  <a:srgbClr val="8C6328"/>
                </a:solidFill>
                <a:latin typeface="Arial"/>
                <a:ea typeface="Arial"/>
                <a:cs typeface="Arial"/>
              </a:defRPr>
            </a:lvl2pPr>
            <a:lvl3pPr>
              <a:defRPr sz="1650" b="1">
                <a:solidFill>
                  <a:srgbClr val="8C6328"/>
                </a:solidFill>
                <a:latin typeface="Arial"/>
                <a:ea typeface="Arial"/>
                <a:cs typeface="Arial"/>
              </a:defRPr>
            </a:lvl3pPr>
            <a:lvl4pPr>
              <a:defRPr sz="1650" b="1">
                <a:solidFill>
                  <a:srgbClr val="8C6328"/>
                </a:solidFill>
                <a:latin typeface="Arial"/>
                <a:ea typeface="Arial"/>
                <a:cs typeface="Arial"/>
              </a:defRPr>
            </a:lvl4pPr>
            <a:lvl5pPr>
              <a:defRPr sz="1650" b="1">
                <a:solidFill>
                  <a:srgbClr val="8C6328"/>
                </a:solidFill>
                <a:latin typeface="Arial"/>
                <a:ea typeface="Arial"/>
                <a:cs typeface="Arial"/>
              </a:defRPr>
            </a:lvl5pPr>
            <a:lvl6pPr>
              <a:defRPr sz="1650" b="1">
                <a:solidFill>
                  <a:srgbClr val="8C6328"/>
                </a:solidFill>
                <a:latin typeface="Arial"/>
                <a:ea typeface="Arial"/>
                <a:cs typeface="Arial"/>
              </a:defRPr>
            </a:lvl6pPr>
            <a:lvl7pPr>
              <a:defRPr sz="1650" b="1">
                <a:solidFill>
                  <a:srgbClr val="8C6328"/>
                </a:solidFill>
                <a:latin typeface="Arial"/>
                <a:ea typeface="Arial"/>
                <a:cs typeface="Arial"/>
              </a:defRPr>
            </a:lvl7pPr>
            <a:lvl8pPr>
              <a:defRPr sz="1650" b="1">
                <a:solidFill>
                  <a:srgbClr val="8C6328"/>
                </a:solidFill>
                <a:latin typeface="Arial"/>
                <a:ea typeface="Arial"/>
                <a:cs typeface="Arial"/>
              </a:defRPr>
            </a:lvl8pPr>
            <a:lvl9pPr>
              <a:defRPr sz="1650" b="1">
                <a:solidFill>
                  <a:srgbClr val="8C6328"/>
                </a:solidFill>
                <a:latin typeface="Arial"/>
                <a:ea typeface="Arial"/>
                <a:cs typeface="Arial"/>
              </a:defRPr>
            </a:lvl9pPr>
          </a:lstStyle>
          <a:p>
            <a:pPr>
              <a:defRPr sz="1650" b="1">
                <a:solidFill>
                  <a:srgbClr val="8C6328"/>
                </a:solidFill>
                <a:latin typeface="Arial"/>
                <a:ea typeface="Arial"/>
                <a:cs typeface="Arial"/>
              </a:defRPr>
            </a:pPr>
            <a:r>
              <a:rPr sz="1600" b="1">
                <a:solidFill>
                  <a:srgbClr val="A65F00"/>
                </a:solidFill>
                <a:latin typeface="Arial"/>
                <a:ea typeface="Arial"/>
                <a:cs typeface="Arial"/>
              </a:rPr>
              <a:t>Recover</a:t>
            </a:r>
          </a:p>
        </p:txBody>
      </p:sp>
      <p:sp>
        <p:nvSpPr>
          <p:cNvPr id="45" name="Rectangle 44">
            <a:extLst>
              <a:ext uri="{FF2B5EF4-FFF2-40B4-BE49-F238E27FC236}">
                <a16:creationId xmlns:a16="http://schemas.microsoft.com/office/drawing/2014/main" id="{4D6C1FBF-EB1F-496C-A0C4-F1A6304BABBF}"/>
              </a:ext>
            </a:extLst>
          </p:cNvPr>
          <p:cNvSpPr>
            <a:spLocks noGrp="1"/>
          </p:cNvSpPr>
          <p:nvPr/>
        </p:nvSpPr>
        <p:spPr>
          <a:xfrm>
            <a:off x="8096250" y="5476875"/>
            <a:ext cx="3571875" cy="295275"/>
          </a:xfrm>
          <a:prstGeom prst="rect">
            <a:avLst/>
          </a:prstGeom>
          <a:noFill/>
          <a:ln w="0">
            <a:noFill/>
            <a:prstDash val="solid"/>
          </a:ln>
        </p:spPr>
        <p:txBody>
          <a:bodyPr/>
          <a:lstStyle>
            <a:defPPr>
              <a:defRPr sz="1500" b="0">
                <a:solidFill>
                  <a:srgbClr val="173B3B"/>
                </a:solidFill>
                <a:latin typeface="Arial"/>
                <a:ea typeface="Arial"/>
                <a:cs typeface="Arial"/>
              </a:defRPr>
            </a:defPPr>
            <a:lvl1pPr>
              <a:defRPr sz="1500" b="0">
                <a:solidFill>
                  <a:srgbClr val="173B3B"/>
                </a:solidFill>
                <a:latin typeface="Arial"/>
                <a:ea typeface="Arial"/>
                <a:cs typeface="Arial"/>
              </a:defRPr>
            </a:lvl1pPr>
            <a:lvl2pPr>
              <a:defRPr sz="1500" b="0">
                <a:solidFill>
                  <a:srgbClr val="173B3B"/>
                </a:solidFill>
                <a:latin typeface="Arial"/>
                <a:ea typeface="Arial"/>
                <a:cs typeface="Arial"/>
              </a:defRPr>
            </a:lvl2pPr>
            <a:lvl3pPr>
              <a:defRPr sz="1500" b="0">
                <a:solidFill>
                  <a:srgbClr val="173B3B"/>
                </a:solidFill>
                <a:latin typeface="Arial"/>
                <a:ea typeface="Arial"/>
                <a:cs typeface="Arial"/>
              </a:defRPr>
            </a:lvl3pPr>
            <a:lvl4pPr>
              <a:defRPr sz="1500" b="0">
                <a:solidFill>
                  <a:srgbClr val="173B3B"/>
                </a:solidFill>
                <a:latin typeface="Arial"/>
                <a:ea typeface="Arial"/>
                <a:cs typeface="Arial"/>
              </a:defRPr>
            </a:lvl4pPr>
            <a:lvl5pPr>
              <a:defRPr sz="1500" b="0">
                <a:solidFill>
                  <a:srgbClr val="173B3B"/>
                </a:solidFill>
                <a:latin typeface="Arial"/>
                <a:ea typeface="Arial"/>
                <a:cs typeface="Arial"/>
              </a:defRPr>
            </a:lvl5pPr>
            <a:lvl6pPr>
              <a:defRPr sz="1500" b="0">
                <a:solidFill>
                  <a:srgbClr val="173B3B"/>
                </a:solidFill>
                <a:latin typeface="Arial"/>
                <a:ea typeface="Arial"/>
                <a:cs typeface="Arial"/>
              </a:defRPr>
            </a:lvl6pPr>
            <a:lvl7pPr>
              <a:defRPr sz="1500" b="0">
                <a:solidFill>
                  <a:srgbClr val="173B3B"/>
                </a:solidFill>
                <a:latin typeface="Arial"/>
                <a:ea typeface="Arial"/>
                <a:cs typeface="Arial"/>
              </a:defRPr>
            </a:lvl7pPr>
            <a:lvl8pPr>
              <a:defRPr sz="1500" b="0">
                <a:solidFill>
                  <a:srgbClr val="173B3B"/>
                </a:solidFill>
                <a:latin typeface="Arial"/>
                <a:ea typeface="Arial"/>
                <a:cs typeface="Arial"/>
              </a:defRPr>
            </a:lvl8pPr>
            <a:lvl9pPr>
              <a:defRPr sz="1500" b="0">
                <a:solidFill>
                  <a:srgbClr val="173B3B"/>
                </a:solidFill>
                <a:latin typeface="Arial"/>
                <a:ea typeface="Arial"/>
                <a:cs typeface="Arial"/>
              </a:defRPr>
            </a:lvl9pPr>
          </a:lstStyle>
          <a:p>
            <a:pPr>
              <a:defRPr sz="1500" b="0">
                <a:solidFill>
                  <a:srgbClr val="173B3B"/>
                </a:solidFill>
                <a:latin typeface="Arial"/>
                <a:ea typeface="Arial"/>
                <a:cs typeface="Arial"/>
              </a:defRPr>
            </a:pPr>
            <a:r>
              <a:rPr sz="1500" b="0">
                <a:solidFill>
                  <a:srgbClr val="131E29"/>
                </a:solidFill>
                <a:latin typeface="Arial"/>
                <a:ea typeface="Arial"/>
                <a:cs typeface="Arial"/>
              </a:rPr>
              <a:t>Recover energy from residual waste</a:t>
            </a:r>
          </a:p>
        </p:txBody>
      </p:sp>
      <p:sp>
        <p:nvSpPr>
          <p:cNvPr id="46" name="Rectangle 45">
            <a:extLst>
              <a:ext uri="{FF2B5EF4-FFF2-40B4-BE49-F238E27FC236}">
                <a16:creationId xmlns:a16="http://schemas.microsoft.com/office/drawing/2014/main" id="{B73DEF7D-72BA-4B9C-A60A-1FC9A9FCC206}"/>
              </a:ext>
            </a:extLst>
          </p:cNvPr>
          <p:cNvSpPr>
            <a:spLocks noGrp="1"/>
          </p:cNvSpPr>
          <p:nvPr/>
        </p:nvSpPr>
        <p:spPr>
          <a:xfrm>
            <a:off x="5715000" y="5972175"/>
            <a:ext cx="6000750" cy="428625"/>
          </a:xfrm>
          <a:prstGeom prst="rect">
            <a:avLst/>
          </a:prstGeom>
          <a:noFill/>
          <a:ln w="0">
            <a:noFill/>
            <a:prstDash val="solid"/>
          </a:ln>
        </p:spPr>
        <p:txBody>
          <a:bodyPr/>
          <a:lstStyle>
            <a:defPPr>
              <a:defRPr sz="1500" b="1">
                <a:solidFill>
                  <a:srgbClr val="173B3B"/>
                </a:solidFill>
                <a:latin typeface="Arial"/>
                <a:ea typeface="Arial"/>
                <a:cs typeface="Arial"/>
              </a:defRPr>
            </a:defPPr>
            <a:lvl1pPr>
              <a:defRPr sz="1500" b="1">
                <a:solidFill>
                  <a:srgbClr val="173B3B"/>
                </a:solidFill>
                <a:latin typeface="Arial"/>
                <a:ea typeface="Arial"/>
                <a:cs typeface="Arial"/>
              </a:defRPr>
            </a:lvl1pPr>
            <a:lvl2pPr>
              <a:defRPr sz="1500" b="1">
                <a:solidFill>
                  <a:srgbClr val="173B3B"/>
                </a:solidFill>
                <a:latin typeface="Arial"/>
                <a:ea typeface="Arial"/>
                <a:cs typeface="Arial"/>
              </a:defRPr>
            </a:lvl2pPr>
            <a:lvl3pPr>
              <a:defRPr sz="1500" b="1">
                <a:solidFill>
                  <a:srgbClr val="173B3B"/>
                </a:solidFill>
                <a:latin typeface="Arial"/>
                <a:ea typeface="Arial"/>
                <a:cs typeface="Arial"/>
              </a:defRPr>
            </a:lvl3pPr>
            <a:lvl4pPr>
              <a:defRPr sz="1500" b="1">
                <a:solidFill>
                  <a:srgbClr val="173B3B"/>
                </a:solidFill>
                <a:latin typeface="Arial"/>
                <a:ea typeface="Arial"/>
                <a:cs typeface="Arial"/>
              </a:defRPr>
            </a:lvl4pPr>
            <a:lvl5pPr>
              <a:defRPr sz="1500" b="1">
                <a:solidFill>
                  <a:srgbClr val="173B3B"/>
                </a:solidFill>
                <a:latin typeface="Arial"/>
                <a:ea typeface="Arial"/>
                <a:cs typeface="Arial"/>
              </a:defRPr>
            </a:lvl5pPr>
            <a:lvl6pPr>
              <a:defRPr sz="1500" b="1">
                <a:solidFill>
                  <a:srgbClr val="173B3B"/>
                </a:solidFill>
                <a:latin typeface="Arial"/>
                <a:ea typeface="Arial"/>
                <a:cs typeface="Arial"/>
              </a:defRPr>
            </a:lvl6pPr>
            <a:lvl7pPr>
              <a:defRPr sz="1500" b="1">
                <a:solidFill>
                  <a:srgbClr val="173B3B"/>
                </a:solidFill>
                <a:latin typeface="Arial"/>
                <a:ea typeface="Arial"/>
                <a:cs typeface="Arial"/>
              </a:defRPr>
            </a:lvl7pPr>
            <a:lvl8pPr>
              <a:defRPr sz="1500" b="1">
                <a:solidFill>
                  <a:srgbClr val="173B3B"/>
                </a:solidFill>
                <a:latin typeface="Arial"/>
                <a:ea typeface="Arial"/>
                <a:cs typeface="Arial"/>
              </a:defRPr>
            </a:lvl8pPr>
            <a:lvl9pPr>
              <a:defRPr sz="1500" b="1">
                <a:solidFill>
                  <a:srgbClr val="173B3B"/>
                </a:solidFill>
                <a:latin typeface="Arial"/>
                <a:ea typeface="Arial"/>
                <a:cs typeface="Arial"/>
              </a:defRPr>
            </a:lvl9pPr>
          </a:lstStyle>
          <a:p>
            <a:pPr>
              <a:defRPr sz="1500" b="1">
                <a:solidFill>
                  <a:srgbClr val="173B3B"/>
                </a:solidFill>
                <a:latin typeface="Arial"/>
                <a:ea typeface="Arial"/>
                <a:cs typeface="Arial"/>
              </a:defRPr>
            </a:pPr>
            <a:r>
              <a:rPr sz="1500" b="1">
                <a:solidFill>
                  <a:srgbClr val="131E29"/>
                </a:solidFill>
                <a:latin typeface="Arial"/>
                <a:ea typeface="Arial"/>
                <a:cs typeface="Arial"/>
              </a:rPr>
              <a:t>Prioritise prevention and life extension before material or energy recovery.</a:t>
            </a:r>
          </a:p>
        </p:txBody>
      </p:sp>
      <p:sp>
        <p:nvSpPr>
          <p:cNvPr id="47" name="Rectangle 46">
            <a:extLst>
              <a:ext uri="{FF2B5EF4-FFF2-40B4-BE49-F238E27FC236}">
                <a16:creationId xmlns:a16="http://schemas.microsoft.com/office/drawing/2014/main" id="{9A59F26F-D002-431B-A021-51EDA43FBC65}"/>
              </a:ext>
            </a:extLst>
          </p:cNvPr>
          <p:cNvSpPr>
            <a:spLocks noGrp="1"/>
          </p:cNvSpPr>
          <p:nvPr/>
        </p:nvSpPr>
        <p:spPr>
          <a:xfrm>
            <a:off x="381000" y="6524625"/>
            <a:ext cx="11430000" cy="238125"/>
          </a:xfrm>
          <a:prstGeom prst="rect">
            <a:avLst/>
          </a:prstGeom>
          <a:noFill/>
          <a:ln w="0">
            <a:noFill/>
            <a:prstDash val="solid"/>
          </a:ln>
        </p:spPr>
        <p:txBody>
          <a:bodyPr/>
          <a:lstStyle>
            <a:defPPr>
              <a:defRPr sz="1275" b="0">
                <a:solidFill>
                  <a:srgbClr val="576762"/>
                </a:solidFill>
                <a:latin typeface="Arial"/>
                <a:ea typeface="Arial"/>
                <a:cs typeface="Arial"/>
              </a:defRPr>
            </a:defPPr>
            <a:lvl1pPr>
              <a:defRPr sz="1275" b="0">
                <a:solidFill>
                  <a:srgbClr val="576762"/>
                </a:solidFill>
                <a:latin typeface="Arial"/>
                <a:ea typeface="Arial"/>
                <a:cs typeface="Arial"/>
              </a:defRPr>
            </a:lvl1pPr>
            <a:lvl2pPr>
              <a:defRPr sz="1275" b="0">
                <a:solidFill>
                  <a:srgbClr val="576762"/>
                </a:solidFill>
                <a:latin typeface="Arial"/>
                <a:ea typeface="Arial"/>
                <a:cs typeface="Arial"/>
              </a:defRPr>
            </a:lvl2pPr>
            <a:lvl3pPr>
              <a:defRPr sz="1275" b="0">
                <a:solidFill>
                  <a:srgbClr val="576762"/>
                </a:solidFill>
                <a:latin typeface="Arial"/>
                <a:ea typeface="Arial"/>
                <a:cs typeface="Arial"/>
              </a:defRPr>
            </a:lvl3pPr>
            <a:lvl4pPr>
              <a:defRPr sz="1275" b="0">
                <a:solidFill>
                  <a:srgbClr val="576762"/>
                </a:solidFill>
                <a:latin typeface="Arial"/>
                <a:ea typeface="Arial"/>
                <a:cs typeface="Arial"/>
              </a:defRPr>
            </a:lvl4pPr>
            <a:lvl5pPr>
              <a:defRPr sz="1275" b="0">
                <a:solidFill>
                  <a:srgbClr val="576762"/>
                </a:solidFill>
                <a:latin typeface="Arial"/>
                <a:ea typeface="Arial"/>
                <a:cs typeface="Arial"/>
              </a:defRPr>
            </a:lvl5pPr>
            <a:lvl6pPr>
              <a:defRPr sz="1275" b="0">
                <a:solidFill>
                  <a:srgbClr val="576762"/>
                </a:solidFill>
                <a:latin typeface="Arial"/>
                <a:ea typeface="Arial"/>
                <a:cs typeface="Arial"/>
              </a:defRPr>
            </a:lvl6pPr>
            <a:lvl7pPr>
              <a:defRPr sz="1275" b="0">
                <a:solidFill>
                  <a:srgbClr val="576762"/>
                </a:solidFill>
                <a:latin typeface="Arial"/>
                <a:ea typeface="Arial"/>
                <a:cs typeface="Arial"/>
              </a:defRPr>
            </a:lvl7pPr>
            <a:lvl8pPr>
              <a:defRPr sz="1275" b="0">
                <a:solidFill>
                  <a:srgbClr val="576762"/>
                </a:solidFill>
                <a:latin typeface="Arial"/>
                <a:ea typeface="Arial"/>
                <a:cs typeface="Arial"/>
              </a:defRPr>
            </a:lvl8pPr>
            <a:lvl9pPr>
              <a:defRPr sz="1275" b="0">
                <a:solidFill>
                  <a:srgbClr val="576762"/>
                </a:solidFill>
                <a:latin typeface="Arial"/>
                <a:ea typeface="Arial"/>
                <a:cs typeface="Arial"/>
              </a:defRPr>
            </a:lvl9pPr>
          </a:lstStyle>
          <a:p>
            <a:pPr>
              <a:defRPr sz="1275" b="0">
                <a:solidFill>
                  <a:srgbClr val="576762"/>
                </a:solidFill>
                <a:latin typeface="Arial"/>
                <a:ea typeface="Arial"/>
                <a:cs typeface="Arial"/>
              </a:defRPr>
            </a:pPr>
            <a:r>
              <a:rPr sz="1200" b="0">
                <a:solidFill>
                  <a:srgbClr val="5E6977"/>
                </a:solidFill>
                <a:latin typeface="Arial"/>
                <a:ea typeface="Arial"/>
                <a:cs typeface="Arial"/>
              </a:rPr>
              <a:t>10R hierarchy: Potting et al. (2017). Circular economy: Geissdoerfer et al. (2017).</a:t>
            </a:r>
          </a:p>
        </p:txBody>
      </p:sp>
    </p:spTree>
    <p:extLst>
      <p:ext uri="{BB962C8B-B14F-4D97-AF65-F5344CB8AC3E}">
        <p14:creationId xmlns:p14="http://schemas.microsoft.com/office/powerpoint/2010/main" val="2118659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440099"/>
        </a:solidFill>
        <a:effectLst/>
      </p:bgPr>
    </p:bg>
    <p:spTree>
      <p:nvGrpSpPr>
        <p:cNvPr id="1" name=""/>
        <p:cNvGrpSpPr/>
        <p:nvPr/>
      </p:nvGrpSpPr>
      <p:grpSpPr>
        <a:xfrm>
          <a:off x="0" y="0"/>
          <a:ext cx="0" cy="0"/>
          <a:chOff x="0" y="0"/>
          <a:chExt cx="0" cy="0"/>
        </a:xfrm>
      </p:grpSpPr>
      <p:sp>
        <p:nvSpPr>
          <p:cNvPr id="2" name="Text 0"/>
          <p:cNvSpPr/>
          <p:nvPr/>
        </p:nvSpPr>
        <p:spPr>
          <a:xfrm>
            <a:off x="812800" y="1610469"/>
            <a:ext cx="3790884" cy="401307"/>
          </a:xfrm>
          <a:prstGeom prst="roundRect">
            <a:avLst>
              <a:gd name="adj" fmla="val 50000"/>
            </a:avLst>
          </a:prstGeom>
          <a:solidFill>
            <a:srgbClr val="9ADBE8"/>
          </a:solidFill>
          <a:ln/>
        </p:spPr>
        <p:txBody>
          <a:bodyPr wrap="none" lIns="0" tIns="0" rIns="0" bIns="0" rtlCol="0" anchor="ctr">
            <a:normAutofit/>
          </a:bodyPr>
          <a:lstStyle/>
          <a:p>
            <a:pPr marL="0" indent="0" algn="ctr">
              <a:lnSpc>
                <a:spcPts val="1960"/>
              </a:lnSpc>
              <a:buNone/>
            </a:pPr>
            <a:r>
              <a:rPr lang="en-US" sz="1400" b="1" kern="0" spc="100" dirty="0">
                <a:solidFill>
                  <a:srgbClr val="131E29"/>
                </a:solidFill>
                <a:latin typeface="Arial" pitchFamily="34" charset="0"/>
                <a:ea typeface="Arial" pitchFamily="34" charset="-122"/>
                <a:cs typeface="Arial" pitchFamily="34" charset="-120"/>
              </a:rPr>
              <a:t>WOOCLAP 6 · POLL + ONE SENTENCE</a:t>
            </a:r>
            <a:endParaRPr lang="en-US" sz="1400" dirty="0"/>
          </a:p>
        </p:txBody>
      </p:sp>
      <p:sp>
        <p:nvSpPr>
          <p:cNvPr id="3" name="Text 1"/>
          <p:cNvSpPr/>
          <p:nvPr/>
        </p:nvSpPr>
        <p:spPr>
          <a:xfrm>
            <a:off x="4756084" y="1686669"/>
            <a:ext cx="170632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DBF5"/>
                </a:solidFill>
                <a:latin typeface="Arial" pitchFamily="34" charset="0"/>
                <a:ea typeface="Arial" pitchFamily="34" charset="-122"/>
                <a:cs typeface="Arial" pitchFamily="34" charset="-120"/>
              </a:rPr>
              <a:t>≈ 1:30 · 5 minutes</a:t>
            </a:r>
            <a:endParaRPr lang="en-US" sz="1400" dirty="0"/>
          </a:p>
        </p:txBody>
      </p:sp>
      <p:sp>
        <p:nvSpPr>
          <p:cNvPr id="4" name="Text 2"/>
          <p:cNvSpPr>
            <a:spLocks noGrp="1"/>
          </p:cNvSpPr>
          <p:nvPr>
            <p:ph type="title"/>
          </p:nvPr>
        </p:nvSpPr>
        <p:spPr>
          <a:xfrm>
            <a:off x="812800" y="2265759"/>
            <a:ext cx="10883392" cy="960041"/>
          </a:xfrm>
          <a:prstGeom prst="rect">
            <a:avLst/>
          </a:prstGeom>
          <a:noFill/>
          <a:ln/>
        </p:spPr>
        <p:txBody>
          <a:bodyPr wrap="square" lIns="0" tIns="0" rIns="0" bIns="0" rtlCol="0" anchor="t">
            <a:normAutofit/>
          </a:bodyPr>
          <a:lstStyle/>
          <a:p>
            <a:pPr marL="0" indent="0" algn="l">
              <a:lnSpc>
                <a:spcPts val="3680"/>
              </a:lnSpc>
              <a:buNone/>
            </a:pPr>
            <a:r>
              <a:rPr lang="en-US" sz="2800" b="1" i="0" dirty="0">
                <a:solidFill>
                  <a:srgbClr val="FFFFFF"/>
                </a:solidFill>
                <a:latin typeface="Arial" pitchFamily="34" charset="0"/>
                <a:ea typeface="Arial" pitchFamily="34" charset="-122"/>
                <a:cs typeface="Arial" pitchFamily="34" charset="-120"/>
              </a:rPr>
              <a:t>You run sustainability for a UK fashion brand. You can fund one change. Which cuts its footprint most?</a:t>
            </a:r>
            <a:endParaRPr lang="en-US" sz="3200" dirty="0"/>
          </a:p>
        </p:txBody>
      </p:sp>
      <p:sp>
        <p:nvSpPr>
          <p:cNvPr id="5" name="Text 3"/>
          <p:cNvSpPr/>
          <p:nvPr/>
        </p:nvSpPr>
        <p:spPr>
          <a:xfrm>
            <a:off x="819150" y="3460750"/>
            <a:ext cx="2533650" cy="779727"/>
          </a:xfrm>
          <a:prstGeom prst="roundRect">
            <a:avLst>
              <a:gd name="adj" fmla="val 8958"/>
            </a:avLst>
          </a:prstGeom>
          <a:noFill/>
          <a:ln w="12700">
            <a:solidFill>
              <a:srgbClr val="9ADBE8"/>
            </a:solidFill>
            <a:prstDash val="solid"/>
          </a:ln>
        </p:spPr>
        <p:txBody>
          <a:bodyPr wrap="square" lIns="138292" tIns="138292" rIns="71807" bIns="112892" rtlCol="0" anchor="t">
            <a:normAutofit/>
          </a:bodyPr>
          <a:lstStyle/>
          <a:p>
            <a:pPr marL="0" indent="0" algn="l">
              <a:lnSpc>
                <a:spcPts val="1820"/>
              </a:lnSpc>
              <a:buNone/>
            </a:pPr>
            <a:r>
              <a:rPr lang="en-US" sz="1400" b="1" dirty="0">
                <a:solidFill>
                  <a:srgbClr val="FFFFFF"/>
                </a:solidFill>
                <a:latin typeface="Arial" pitchFamily="34" charset="0"/>
                <a:ea typeface="Arial" pitchFamily="34" charset="-122"/>
                <a:cs typeface="Arial" pitchFamily="34" charset="-120"/>
              </a:rPr>
              <a:t>A Switch from air freight to sea freight</a:t>
            </a:r>
            <a:endParaRPr lang="en-US" sz="1400" dirty="0"/>
          </a:p>
        </p:txBody>
      </p:sp>
      <p:sp>
        <p:nvSpPr>
          <p:cNvPr id="6" name="Text 4"/>
          <p:cNvSpPr/>
          <p:nvPr/>
        </p:nvSpPr>
        <p:spPr>
          <a:xfrm>
            <a:off x="3492500" y="3460750"/>
            <a:ext cx="2533650" cy="779727"/>
          </a:xfrm>
          <a:prstGeom prst="roundRect">
            <a:avLst>
              <a:gd name="adj" fmla="val 8958"/>
            </a:avLst>
          </a:prstGeom>
          <a:noFill/>
          <a:ln w="12700">
            <a:solidFill>
              <a:srgbClr val="9ADBE8"/>
            </a:solidFill>
            <a:prstDash val="solid"/>
          </a:ln>
        </p:spPr>
        <p:txBody>
          <a:bodyPr wrap="square" lIns="138292" tIns="138292" rIns="71807" bIns="112892" rtlCol="0" anchor="t">
            <a:normAutofit/>
          </a:bodyPr>
          <a:lstStyle/>
          <a:p>
            <a:pPr marL="0" indent="0" algn="l">
              <a:lnSpc>
                <a:spcPts val="1820"/>
              </a:lnSpc>
              <a:buNone/>
            </a:pPr>
            <a:r>
              <a:rPr lang="en-US" sz="1400" b="1" dirty="0">
                <a:solidFill>
                  <a:srgbClr val="FFFFFF"/>
                </a:solidFill>
                <a:latin typeface="Arial" pitchFamily="34" charset="0"/>
                <a:ea typeface="Arial" pitchFamily="34" charset="-122"/>
                <a:cs typeface="Arial" pitchFamily="34" charset="-120"/>
              </a:rPr>
              <a:t>B Nearshore production to Europe</a:t>
            </a:r>
            <a:endParaRPr lang="en-US" sz="1400" dirty="0"/>
          </a:p>
        </p:txBody>
      </p:sp>
      <p:sp>
        <p:nvSpPr>
          <p:cNvPr id="7" name="Text 5"/>
          <p:cNvSpPr/>
          <p:nvPr/>
        </p:nvSpPr>
        <p:spPr>
          <a:xfrm>
            <a:off x="6165850" y="3460750"/>
            <a:ext cx="2533650" cy="779727"/>
          </a:xfrm>
          <a:prstGeom prst="roundRect">
            <a:avLst>
              <a:gd name="adj" fmla="val 8958"/>
            </a:avLst>
          </a:prstGeom>
          <a:noFill/>
          <a:ln w="12700">
            <a:solidFill>
              <a:srgbClr val="9ADBE8"/>
            </a:solidFill>
            <a:prstDash val="solid"/>
          </a:ln>
        </p:spPr>
        <p:txBody>
          <a:bodyPr wrap="square" lIns="138292" tIns="138292" rIns="71807" bIns="112892" rtlCol="0" anchor="t">
            <a:normAutofit/>
          </a:bodyPr>
          <a:lstStyle/>
          <a:p>
            <a:pPr marL="0" indent="0" algn="l">
              <a:lnSpc>
                <a:spcPts val="1820"/>
              </a:lnSpc>
              <a:buNone/>
            </a:pPr>
            <a:r>
              <a:rPr lang="en-US" sz="1400" b="1" dirty="0">
                <a:solidFill>
                  <a:srgbClr val="FFFFFF"/>
                </a:solidFill>
                <a:latin typeface="Arial" pitchFamily="34" charset="0"/>
                <a:ea typeface="Arial" pitchFamily="34" charset="-122"/>
                <a:cs typeface="Arial" pitchFamily="34" charset="-120"/>
              </a:rPr>
              <a:t>C Switch to recycled polyester</a:t>
            </a:r>
            <a:endParaRPr lang="en-US" sz="1400" dirty="0"/>
          </a:p>
        </p:txBody>
      </p:sp>
      <p:sp>
        <p:nvSpPr>
          <p:cNvPr id="8" name="Text 6"/>
          <p:cNvSpPr/>
          <p:nvPr/>
        </p:nvSpPr>
        <p:spPr>
          <a:xfrm>
            <a:off x="8839200" y="3460750"/>
            <a:ext cx="2533650" cy="779727"/>
          </a:xfrm>
          <a:prstGeom prst="roundRect">
            <a:avLst>
              <a:gd name="adj" fmla="val 8958"/>
            </a:avLst>
          </a:prstGeom>
          <a:noFill/>
          <a:ln w="12700">
            <a:solidFill>
              <a:srgbClr val="9ADBE8"/>
            </a:solidFill>
            <a:prstDash val="solid"/>
          </a:ln>
        </p:spPr>
        <p:txBody>
          <a:bodyPr wrap="square" lIns="138292" tIns="138292" rIns="71807" bIns="112892" rtlCol="0" anchor="t">
            <a:normAutofit/>
          </a:bodyPr>
          <a:lstStyle/>
          <a:p>
            <a:pPr marL="0" indent="0" algn="l">
              <a:lnSpc>
                <a:spcPts val="1820"/>
              </a:lnSpc>
              <a:buNone/>
            </a:pPr>
            <a:r>
              <a:rPr lang="en-US" sz="1400" b="1" dirty="0">
                <a:solidFill>
                  <a:srgbClr val="FFFFFF"/>
                </a:solidFill>
                <a:latin typeface="Arial" pitchFamily="34" charset="0"/>
                <a:ea typeface="Arial" pitchFamily="34" charset="-122"/>
                <a:cs typeface="Arial" pitchFamily="34" charset="-120"/>
              </a:rPr>
              <a:t>D Design clothes to last, and sell fewer of them</a:t>
            </a:r>
            <a:endParaRPr lang="en-US" sz="1400" dirty="0"/>
          </a:p>
        </p:txBody>
      </p:sp>
      <p:sp>
        <p:nvSpPr>
          <p:cNvPr id="9" name="Text 7"/>
          <p:cNvSpPr/>
          <p:nvPr/>
        </p:nvSpPr>
        <p:spPr>
          <a:xfrm>
            <a:off x="812800" y="4500835"/>
            <a:ext cx="10883392"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6DBF5"/>
                </a:solidFill>
                <a:latin typeface="Arial" pitchFamily="34" charset="0"/>
                <a:ea typeface="Arial" pitchFamily="34" charset="-122"/>
                <a:cs typeface="Arial" pitchFamily="34" charset="-120"/>
              </a:rPr>
              <a:t>Vote, then write one sentence in Wooclap: </a:t>
            </a:r>
            <a:r>
              <a:rPr lang="en-US" sz="1600" b="1" dirty="0">
                <a:solidFill>
                  <a:srgbClr val="FFFFFF"/>
                </a:solidFill>
                <a:latin typeface="Arial" pitchFamily="34" charset="0"/>
                <a:ea typeface="Arial" pitchFamily="34" charset="-122"/>
                <a:cs typeface="Arial" pitchFamily="34" charset="-120"/>
              </a:rPr>
              <a:t>which option would your finance director block, and why?</a:t>
            </a:r>
            <a:r>
              <a:rPr lang="en-US" sz="1600" dirty="0">
                <a:solidFill>
                  <a:srgbClr val="E6DBF5"/>
                </a:solidFill>
                <a:latin typeface="Arial" pitchFamily="34" charset="0"/>
                <a:ea typeface="Arial" pitchFamily="34" charset="-122"/>
                <a:cs typeface="Arial" pitchFamily="34" charset="-120"/>
              </a:rPr>
              <a:t> No discussion needed.</a:t>
            </a:r>
            <a:endParaRPr lang="en-US" sz="1600" dirty="0"/>
          </a:p>
        </p:txBody>
      </p:sp>
      <p:sp>
        <p:nvSpPr>
          <p:cNvPr id="10" name="Text 8"/>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6DBF5"/>
                </a:solidFill>
                <a:latin typeface="Arial" pitchFamily="34" charset="0"/>
                <a:ea typeface="Arial" pitchFamily="34" charset="-122"/>
                <a:cs typeface="Arial" pitchFamily="34" charset="-120"/>
              </a:rPr>
              <a:t>40</a:t>
            </a:r>
            <a:endParaRPr lang="en-US" sz="1200" dirty="0"/>
          </a:p>
        </p:txBody>
      </p:sp>
      <p:sp>
        <p:nvSpPr>
          <p:cNvPr id="11" name="QR background"/>
          <p:cNvSpPr/>
          <p:nvPr/>
        </p:nvSpPr>
        <p:spPr>
          <a:xfrm>
            <a:off x="10561320" y="274320"/>
            <a:ext cx="1143000" cy="1143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Wooclap QR code" descr="QR code linking to the Wooclap event, code JXRSLXH"/>
          <p:cNvPicPr>
            <a:picLocks noChangeAspect="1"/>
          </p:cNvPicPr>
          <p:nvPr/>
        </p:nvPicPr>
        <p:blipFill>
          <a:blip r:embed="rId3"/>
          <a:stretch>
            <a:fillRect/>
          </a:stretch>
        </p:blipFill>
        <p:spPr>
          <a:xfrm>
            <a:off x="10618470" y="331470"/>
            <a:ext cx="1028700" cy="1028700"/>
          </a:xfrm>
          <a:prstGeom prst="rect">
            <a:avLst/>
          </a:prstGeom>
        </p:spPr>
      </p:pic>
      <p:sp>
        <p:nvSpPr>
          <p:cNvPr id="13" name="Wooclap code"/>
          <p:cNvSpPr txBox="1"/>
          <p:nvPr/>
        </p:nvSpPr>
        <p:spPr>
          <a:xfrm>
            <a:off x="9189720" y="566928"/>
            <a:ext cx="1261872" cy="548640"/>
          </a:xfrm>
          <a:prstGeom prst="rect">
            <a:avLst/>
          </a:prstGeom>
          <a:noFill/>
        </p:spPr>
        <p:txBody>
          <a:bodyPr wrap="square" lIns="0" tIns="0" rIns="0" bIns="0" anchor="ctr">
            <a:spAutoFit/>
          </a:bodyPr>
          <a:lstStyle/>
          <a:p>
            <a:pPr algn="r">
              <a:spcAft>
                <a:spcPts val="0"/>
              </a:spcAft>
            </a:pPr>
            <a:r>
              <a:rPr sz="1400" b="0">
                <a:solidFill>
                  <a:srgbClr val="E6DBF5"/>
                </a:solidFill>
                <a:latin typeface="Arial"/>
              </a:rPr>
              <a:t>Join: </a:t>
            </a:r>
            <a:r>
              <a:rPr sz="1400" b="1">
                <a:solidFill>
                  <a:srgbClr val="FFFFFF"/>
                </a:solidFill>
                <a:latin typeface="Arial"/>
              </a:rPr>
              <a:t>JXRSLXH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abel"/>
          <p:cNvSpPr txBox="1"/>
          <p:nvPr/>
        </p:nvSpPr>
        <p:spPr>
          <a:xfrm>
            <a:off x="813816" y="228600"/>
            <a:ext cx="7315200" cy="292608"/>
          </a:xfrm>
          <a:prstGeom prst="rect">
            <a:avLst/>
          </a:prstGeom>
          <a:noFill/>
        </p:spPr>
        <p:txBody>
          <a:bodyPr wrap="square" lIns="0" rIns="0" tIns="0" bIns="0" anchor="t">
            <a:spAutoFit/>
          </a:bodyPr>
          <a:lstStyle/>
          <a:p>
            <a:pPr algn="l">
              <a:spcAft>
                <a:spcPts val="0"/>
              </a:spcAft>
            </a:pPr>
            <a:r>
              <a:rPr sz="1200" b="1">
                <a:solidFill>
                  <a:srgbClr val="FF6371"/>
                </a:solidFill>
                <a:latin typeface="Arial"/>
              </a:rPr>
              <a:t>WOOCLAP 6 · THE REVEAL</a:t>
            </a:r>
          </a:p>
        </p:txBody>
      </p:sp>
      <p:sp>
        <p:nvSpPr>
          <p:cNvPr id="3" name="Title"/>
          <p:cNvSpPr txBox="1"/>
          <p:nvPr/>
        </p:nvSpPr>
        <p:spPr>
          <a:xfrm>
            <a:off x="658368" y="612648"/>
            <a:ext cx="10881360" cy="448056"/>
          </a:xfrm>
          <a:prstGeom prst="rect">
            <a:avLst/>
          </a:prstGeom>
          <a:noFill/>
        </p:spPr>
        <p:txBody>
          <a:bodyPr wrap="square" lIns="0" rIns="0" tIns="0" bIns="0" anchor="t">
            <a:spAutoFit/>
          </a:bodyPr>
          <a:lstStyle/>
          <a:p>
            <a:pPr algn="l">
              <a:spcAft>
                <a:spcPts val="0"/>
              </a:spcAft>
            </a:pPr>
            <a:r>
              <a:rPr sz="3000" b="1">
                <a:solidFill>
                  <a:srgbClr val="440099"/>
                </a:solidFill>
                <a:latin typeface="Arial"/>
              </a:rPr>
              <a:t>Where a Garment’s Emissions Come From</a:t>
            </a:r>
          </a:p>
        </p:txBody>
      </p:sp>
      <p:cxnSp>
        <p:nvCxnSpPr>
          <p:cNvPr id="4" name="Divider"/>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5" name="Chart heading"/>
          <p:cNvSpPr txBox="1"/>
          <p:nvPr/>
        </p:nvSpPr>
        <p:spPr>
          <a:xfrm>
            <a:off x="813816" y="1371600"/>
            <a:ext cx="6400800" cy="274320"/>
          </a:xfrm>
          <a:prstGeom prst="rect">
            <a:avLst/>
          </a:prstGeom>
          <a:noFill/>
        </p:spPr>
        <p:txBody>
          <a:bodyPr wrap="square" lIns="0" rIns="0" tIns="0" bIns="0" anchor="t">
            <a:spAutoFit/>
          </a:bodyPr>
          <a:lstStyle/>
          <a:p>
            <a:pPr algn="l">
              <a:spcAft>
                <a:spcPts val="0"/>
              </a:spcAft>
            </a:pPr>
            <a:r>
              <a:rPr sz="1100" b="1">
                <a:solidFill>
                  <a:srgbClr val="5E6977"/>
                </a:solidFill>
                <a:latin typeface="Arial"/>
              </a:rPr>
              <a:t>SHARE OF THE FASHION INDUSTRY’S GREENHOUSE GAS EMISSIONS</a:t>
            </a:r>
          </a:p>
        </p:txBody>
      </p:sp>
      <p:sp>
        <p:nvSpPr>
          <p:cNvPr id="6" name="Materials and production label"/>
          <p:cNvSpPr txBox="1"/>
          <p:nvPr/>
        </p:nvSpPr>
        <p:spPr>
          <a:xfrm>
            <a:off x="813816" y="1783080"/>
            <a:ext cx="2331720" cy="457200"/>
          </a:xfrm>
          <a:prstGeom prst="rect">
            <a:avLst/>
          </a:prstGeom>
          <a:noFill/>
        </p:spPr>
        <p:txBody>
          <a:bodyPr wrap="square" lIns="0" rIns="0" tIns="0" bIns="0" anchor="ctr">
            <a:spAutoFit/>
          </a:bodyPr>
          <a:lstStyle/>
          <a:p>
            <a:pPr algn="l">
              <a:spcAft>
                <a:spcPts val="0"/>
              </a:spcAft>
            </a:pPr>
            <a:r>
              <a:rPr sz="1300" b="1">
                <a:solidFill>
                  <a:srgbClr val="131E29"/>
                </a:solidFill>
                <a:latin typeface="Arial"/>
              </a:rPr>
              <a:t>Materials and production</a:t>
            </a:r>
          </a:p>
        </p:txBody>
      </p:sp>
      <p:sp>
        <p:nvSpPr>
          <p:cNvPr id="7" name="Materials and production bar"/>
          <p:cNvSpPr/>
          <p:nvPr/>
        </p:nvSpPr>
        <p:spPr>
          <a:xfrm>
            <a:off x="3145536" y="1856231"/>
            <a:ext cx="2926080" cy="310896"/>
          </a:xfrm>
          <a:prstGeom prst="roundRect">
            <a:avLst>
              <a:gd name="adj" fmla="val 15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terials and production value"/>
          <p:cNvSpPr txBox="1"/>
          <p:nvPr/>
        </p:nvSpPr>
        <p:spPr>
          <a:xfrm>
            <a:off x="6181344" y="1783080"/>
            <a:ext cx="1453895" cy="457200"/>
          </a:xfrm>
          <a:prstGeom prst="rect">
            <a:avLst/>
          </a:prstGeom>
          <a:noFill/>
        </p:spPr>
        <p:txBody>
          <a:bodyPr wrap="square" lIns="0" rIns="0" tIns="0" bIns="0" anchor="ctr">
            <a:spAutoFit/>
          </a:bodyPr>
          <a:lstStyle/>
          <a:p>
            <a:pPr algn="l">
              <a:spcAft>
                <a:spcPts val="0"/>
              </a:spcAft>
            </a:pPr>
            <a:r>
              <a:rPr sz="1200" b="1">
                <a:solidFill>
                  <a:srgbClr val="440099"/>
                </a:solidFill>
                <a:latin typeface="Arial"/>
              </a:rPr>
              <a:t>≈70%</a:t>
            </a:r>
            <a:r>
              <a:rPr sz="1200" b="0">
                <a:solidFill>
                  <a:srgbClr val="5E6977"/>
                </a:solidFill>
                <a:latin typeface="Arial"/>
              </a:rPr>
              <a:t>  fibres to finished fabric</a:t>
            </a:r>
          </a:p>
        </p:txBody>
      </p:sp>
      <p:sp>
        <p:nvSpPr>
          <p:cNvPr id="9" name="Consumer use label"/>
          <p:cNvSpPr txBox="1"/>
          <p:nvPr/>
        </p:nvSpPr>
        <p:spPr>
          <a:xfrm>
            <a:off x="813816" y="2350008"/>
            <a:ext cx="2331720" cy="457200"/>
          </a:xfrm>
          <a:prstGeom prst="rect">
            <a:avLst/>
          </a:prstGeom>
          <a:noFill/>
        </p:spPr>
        <p:txBody>
          <a:bodyPr wrap="square" lIns="0" rIns="0" tIns="0" bIns="0" anchor="ctr">
            <a:spAutoFit/>
          </a:bodyPr>
          <a:lstStyle/>
          <a:p>
            <a:pPr algn="l">
              <a:spcAft>
                <a:spcPts val="0"/>
              </a:spcAft>
            </a:pPr>
            <a:r>
              <a:rPr sz="1300" b="1">
                <a:solidFill>
                  <a:srgbClr val="131E29"/>
                </a:solidFill>
                <a:latin typeface="Arial"/>
              </a:rPr>
              <a:t>Consumer use</a:t>
            </a:r>
          </a:p>
        </p:txBody>
      </p:sp>
      <p:sp>
        <p:nvSpPr>
          <p:cNvPr id="10" name="Consumer use bar"/>
          <p:cNvSpPr/>
          <p:nvPr/>
        </p:nvSpPr>
        <p:spPr>
          <a:xfrm>
            <a:off x="3145536" y="2423160"/>
            <a:ext cx="836022" cy="310896"/>
          </a:xfrm>
          <a:prstGeom prst="roundRect">
            <a:avLst>
              <a:gd name="adj" fmla="val 15000"/>
            </a:avLst>
          </a:prstGeom>
          <a:solidFill>
            <a:srgbClr val="00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nsumer use value"/>
          <p:cNvSpPr txBox="1"/>
          <p:nvPr/>
        </p:nvSpPr>
        <p:spPr>
          <a:xfrm>
            <a:off x="4091286" y="2350008"/>
            <a:ext cx="3543953" cy="457200"/>
          </a:xfrm>
          <a:prstGeom prst="rect">
            <a:avLst/>
          </a:prstGeom>
          <a:noFill/>
        </p:spPr>
        <p:txBody>
          <a:bodyPr wrap="square" lIns="0" rIns="0" tIns="0" bIns="0" anchor="ctr">
            <a:spAutoFit/>
          </a:bodyPr>
          <a:lstStyle/>
          <a:p>
            <a:pPr algn="l">
              <a:spcAft>
                <a:spcPts val="0"/>
              </a:spcAft>
            </a:pPr>
            <a:r>
              <a:rPr sz="1200" b="1">
                <a:solidFill>
                  <a:srgbClr val="005A8F"/>
                </a:solidFill>
                <a:latin typeface="Arial"/>
              </a:rPr>
              <a:t>≈20%</a:t>
            </a:r>
            <a:r>
              <a:rPr sz="1200" b="0">
                <a:solidFill>
                  <a:srgbClr val="5E6977"/>
                </a:solidFill>
                <a:latin typeface="Arial"/>
              </a:rPr>
              <a:t>  washing and drying at home</a:t>
            </a:r>
          </a:p>
        </p:txBody>
      </p:sp>
      <p:sp>
        <p:nvSpPr>
          <p:cNvPr id="12" name="Transport label"/>
          <p:cNvSpPr txBox="1"/>
          <p:nvPr/>
        </p:nvSpPr>
        <p:spPr>
          <a:xfrm>
            <a:off x="813816" y="2916936"/>
            <a:ext cx="2331720" cy="457200"/>
          </a:xfrm>
          <a:prstGeom prst="rect">
            <a:avLst/>
          </a:prstGeom>
          <a:noFill/>
        </p:spPr>
        <p:txBody>
          <a:bodyPr wrap="square" lIns="0" rIns="0" tIns="0" bIns="0" anchor="ctr">
            <a:spAutoFit/>
          </a:bodyPr>
          <a:lstStyle/>
          <a:p>
            <a:pPr algn="l">
              <a:spcAft>
                <a:spcPts val="0"/>
              </a:spcAft>
            </a:pPr>
            <a:r>
              <a:rPr sz="1300" b="1">
                <a:solidFill>
                  <a:srgbClr val="131E29"/>
                </a:solidFill>
                <a:latin typeface="Arial"/>
              </a:rPr>
              <a:t>Transport</a:t>
            </a:r>
          </a:p>
        </p:txBody>
      </p:sp>
      <p:sp>
        <p:nvSpPr>
          <p:cNvPr id="13" name="Transport bar"/>
          <p:cNvSpPr/>
          <p:nvPr/>
        </p:nvSpPr>
        <p:spPr>
          <a:xfrm>
            <a:off x="3145536" y="2990088"/>
            <a:ext cx="125403" cy="310896"/>
          </a:xfrm>
          <a:prstGeom prst="roundRect">
            <a:avLst>
              <a:gd name="adj" fmla="val 15000"/>
            </a:avLst>
          </a:prstGeom>
          <a:solidFill>
            <a:srgbClr val="A6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ransport value"/>
          <p:cNvSpPr txBox="1"/>
          <p:nvPr/>
        </p:nvSpPr>
        <p:spPr>
          <a:xfrm>
            <a:off x="3380667" y="2916936"/>
            <a:ext cx="4254572" cy="457200"/>
          </a:xfrm>
          <a:prstGeom prst="rect">
            <a:avLst/>
          </a:prstGeom>
          <a:noFill/>
        </p:spPr>
        <p:txBody>
          <a:bodyPr wrap="square" lIns="0" rIns="0" tIns="0" bIns="0" anchor="ctr">
            <a:spAutoFit/>
          </a:bodyPr>
          <a:lstStyle/>
          <a:p>
            <a:pPr algn="l">
              <a:spcAft>
                <a:spcPts val="0"/>
              </a:spcAft>
            </a:pPr>
            <a:r>
              <a:rPr sz="1200" b="1">
                <a:solidFill>
                  <a:srgbClr val="A65F00"/>
                </a:solidFill>
                <a:latin typeface="Arial"/>
              </a:rPr>
              <a:t>≈3%</a:t>
            </a:r>
            <a:r>
              <a:rPr sz="1200" b="0">
                <a:solidFill>
                  <a:srgbClr val="5E6977"/>
                </a:solidFill>
                <a:latin typeface="Arial"/>
              </a:rPr>
              <a:t>  options A and B act here</a:t>
            </a:r>
          </a:p>
        </p:txBody>
      </p:sp>
      <p:sp>
        <p:nvSpPr>
          <p:cNvPr id="15" name="Retail and marketing label"/>
          <p:cNvSpPr txBox="1"/>
          <p:nvPr/>
        </p:nvSpPr>
        <p:spPr>
          <a:xfrm>
            <a:off x="813816" y="3483864"/>
            <a:ext cx="2331720" cy="457200"/>
          </a:xfrm>
          <a:prstGeom prst="rect">
            <a:avLst/>
          </a:prstGeom>
          <a:noFill/>
        </p:spPr>
        <p:txBody>
          <a:bodyPr wrap="square" lIns="0" rIns="0" tIns="0" bIns="0" anchor="ctr">
            <a:spAutoFit/>
          </a:bodyPr>
          <a:lstStyle/>
          <a:p>
            <a:pPr algn="l">
              <a:spcAft>
                <a:spcPts val="0"/>
              </a:spcAft>
            </a:pPr>
            <a:r>
              <a:rPr sz="1300" b="1">
                <a:solidFill>
                  <a:srgbClr val="131E29"/>
                </a:solidFill>
                <a:latin typeface="Arial"/>
              </a:rPr>
              <a:t>Retail and marketing</a:t>
            </a:r>
          </a:p>
        </p:txBody>
      </p:sp>
      <p:sp>
        <p:nvSpPr>
          <p:cNvPr id="16" name="Retail and marketing bar"/>
          <p:cNvSpPr/>
          <p:nvPr/>
        </p:nvSpPr>
        <p:spPr>
          <a:xfrm>
            <a:off x="3145536" y="3557016"/>
            <a:ext cx="125403" cy="310896"/>
          </a:xfrm>
          <a:prstGeom prst="roundRect">
            <a:avLst>
              <a:gd name="adj" fmla="val 15000"/>
            </a:avLst>
          </a:prstGeom>
          <a:solidFill>
            <a:srgbClr val="5E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tail and marketing value"/>
          <p:cNvSpPr txBox="1"/>
          <p:nvPr/>
        </p:nvSpPr>
        <p:spPr>
          <a:xfrm>
            <a:off x="3380667" y="3483864"/>
            <a:ext cx="4254572" cy="457200"/>
          </a:xfrm>
          <a:prstGeom prst="rect">
            <a:avLst/>
          </a:prstGeom>
          <a:noFill/>
        </p:spPr>
        <p:txBody>
          <a:bodyPr wrap="square" lIns="0" rIns="0" tIns="0" bIns="0" anchor="ctr">
            <a:spAutoFit/>
          </a:bodyPr>
          <a:lstStyle/>
          <a:p>
            <a:pPr algn="l">
              <a:spcAft>
                <a:spcPts val="0"/>
              </a:spcAft>
            </a:pPr>
            <a:r>
              <a:rPr sz="1300" b="1">
                <a:solidFill>
                  <a:srgbClr val="131E29"/>
                </a:solidFill>
                <a:latin typeface="Arial"/>
              </a:rPr>
              <a:t>≈3%</a:t>
            </a:r>
            <a:r>
              <a:rPr sz="1300" b="0">
                <a:solidFill>
                  <a:srgbClr val="5E6977"/>
                </a:solidFill>
                <a:latin typeface="Arial"/>
              </a:rPr>
              <a:t/>
            </a:r>
          </a:p>
        </p:txBody>
      </p:sp>
      <p:sp>
        <p:nvSpPr>
          <p:cNvPr id="18" name="End of life label"/>
          <p:cNvSpPr txBox="1"/>
          <p:nvPr/>
        </p:nvSpPr>
        <p:spPr>
          <a:xfrm>
            <a:off x="813816" y="4050791"/>
            <a:ext cx="2331720" cy="457200"/>
          </a:xfrm>
          <a:prstGeom prst="rect">
            <a:avLst/>
          </a:prstGeom>
          <a:noFill/>
        </p:spPr>
        <p:txBody>
          <a:bodyPr wrap="square" lIns="0" rIns="0" tIns="0" bIns="0" anchor="ctr">
            <a:spAutoFit/>
          </a:bodyPr>
          <a:lstStyle/>
          <a:p>
            <a:pPr algn="l">
              <a:spcAft>
                <a:spcPts val="0"/>
              </a:spcAft>
            </a:pPr>
            <a:r>
              <a:rPr sz="1300" b="1">
                <a:solidFill>
                  <a:srgbClr val="131E29"/>
                </a:solidFill>
                <a:latin typeface="Arial"/>
              </a:rPr>
              <a:t>End of life</a:t>
            </a:r>
          </a:p>
        </p:txBody>
      </p:sp>
      <p:sp>
        <p:nvSpPr>
          <p:cNvPr id="19" name="End of life bar"/>
          <p:cNvSpPr/>
          <p:nvPr/>
        </p:nvSpPr>
        <p:spPr>
          <a:xfrm>
            <a:off x="3145536" y="4123944"/>
            <a:ext cx="125403" cy="310896"/>
          </a:xfrm>
          <a:prstGeom prst="roundRect">
            <a:avLst>
              <a:gd name="adj" fmla="val 15000"/>
            </a:avLst>
          </a:prstGeom>
          <a:solidFill>
            <a:srgbClr val="5E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nd of life value"/>
          <p:cNvSpPr txBox="1"/>
          <p:nvPr/>
        </p:nvSpPr>
        <p:spPr>
          <a:xfrm>
            <a:off x="3380667" y="4050791"/>
            <a:ext cx="4254572" cy="457200"/>
          </a:xfrm>
          <a:prstGeom prst="rect">
            <a:avLst/>
          </a:prstGeom>
          <a:noFill/>
        </p:spPr>
        <p:txBody>
          <a:bodyPr wrap="square" lIns="0" rIns="0" tIns="0" bIns="0" anchor="ctr">
            <a:spAutoFit/>
          </a:bodyPr>
          <a:lstStyle/>
          <a:p>
            <a:pPr algn="l">
              <a:spcAft>
                <a:spcPts val="0"/>
              </a:spcAft>
            </a:pPr>
            <a:r>
              <a:rPr sz="1300" b="1">
                <a:solidFill>
                  <a:srgbClr val="131E29"/>
                </a:solidFill>
                <a:latin typeface="Arial"/>
              </a:rPr>
              <a:t>≈3%</a:t>
            </a:r>
            <a:r>
              <a:rPr sz="1300" b="0">
                <a:solidFill>
                  <a:srgbClr val="5E6977"/>
                </a:solidFill>
                <a:latin typeface="Arial"/>
              </a:rPr>
              <a:t/>
            </a:r>
          </a:p>
        </p:txBody>
      </p:sp>
      <p:sp>
        <p:nvSpPr>
          <p:cNvPr id="21" name="Options card"/>
          <p:cNvSpPr/>
          <p:nvPr/>
        </p:nvSpPr>
        <p:spPr>
          <a:xfrm>
            <a:off x="7818120" y="1371600"/>
            <a:ext cx="3566160" cy="3291840"/>
          </a:xfrm>
          <a:prstGeom prst="roundRect">
            <a:avLst>
              <a:gd name="adj" fmla="val 4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tions accent"/>
          <p:cNvSpPr/>
          <p:nvPr/>
        </p:nvSpPr>
        <p:spPr>
          <a:xfrm>
            <a:off x="7818120" y="1371600"/>
            <a:ext cx="73152" cy="3291840"/>
          </a:xfrm>
          <a:prstGeom prst="rect">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ptions text"/>
          <p:cNvSpPr txBox="1"/>
          <p:nvPr/>
        </p:nvSpPr>
        <p:spPr>
          <a:xfrm>
            <a:off x="8074152" y="1536192"/>
            <a:ext cx="3154680" cy="3063240"/>
          </a:xfrm>
          <a:prstGeom prst="rect">
            <a:avLst/>
          </a:prstGeom>
          <a:noFill/>
        </p:spPr>
        <p:txBody>
          <a:bodyPr wrap="square" lIns="0" rIns="0" tIns="0" bIns="0" anchor="t">
            <a:spAutoFit/>
          </a:bodyPr>
          <a:lstStyle/>
          <a:p>
            <a:pPr algn="l">
              <a:spcAft>
                <a:spcPts val="800"/>
              </a:spcAft>
            </a:pPr>
            <a:r>
              <a:rPr sz="1200" b="1">
                <a:solidFill>
                  <a:srgbClr val="440099"/>
                </a:solidFill>
                <a:latin typeface="Arial"/>
              </a:rPr>
              <a:t>WHAT EACH OPTION TOUCHES</a:t>
            </a:r>
          </a:p>
          <a:p>
            <a:pPr algn="l">
              <a:spcAft>
                <a:spcPts val="600"/>
              </a:spcAft>
            </a:pPr>
            <a:r>
              <a:rPr sz="1200" b="1">
                <a:solidFill>
                  <a:srgbClr val="131E29"/>
                </a:solidFill>
                <a:latin typeface="Arial"/>
              </a:rPr>
              <a:t>A  Air to sea: </a:t>
            </a:r>
            <a:r>
              <a:rPr sz="1200" b="0">
                <a:solidFill>
                  <a:srgbClr val="131E29"/>
                </a:solidFill>
                <a:latin typeface="Arial"/>
              </a:rPr>
              <a:t>big cut per item, but most clothing already ships by sea.</a:t>
            </a:r>
          </a:p>
          <a:p>
            <a:pPr algn="l">
              <a:spcAft>
                <a:spcPts val="600"/>
              </a:spcAft>
            </a:pPr>
            <a:r>
              <a:rPr sz="1200" b="1">
                <a:solidFill>
                  <a:srgbClr val="131E29"/>
                </a:solidFill>
                <a:latin typeface="Arial"/>
              </a:rPr>
              <a:t>B  Nearshore: </a:t>
            </a:r>
            <a:r>
              <a:rPr sz="1200" b="0">
                <a:solidFill>
                  <a:srgbClr val="131E29"/>
                </a:solidFill>
                <a:latin typeface="Arial"/>
              </a:rPr>
              <a:t>saves transport; helps more if the new factories run on cleaner energy.</a:t>
            </a:r>
          </a:p>
          <a:p>
            <a:pPr algn="l">
              <a:spcAft>
                <a:spcPts val="600"/>
              </a:spcAft>
            </a:pPr>
            <a:r>
              <a:rPr sz="1200" b="1">
                <a:solidFill>
                  <a:srgbClr val="131E29"/>
                </a:solidFill>
                <a:latin typeface="Arial"/>
              </a:rPr>
              <a:t>C  Recycled polyester: </a:t>
            </a:r>
            <a:r>
              <a:rPr sz="1200" b="0">
                <a:solidFill>
                  <a:srgbClr val="131E29"/>
                </a:solidFill>
                <a:latin typeface="Arial"/>
              </a:rPr>
              <a:t>trims the materials slice, but often from bottles, not old clothes, and it still sheds microfibres.</a:t>
            </a:r>
          </a:p>
          <a:p>
            <a:pPr algn="l">
              <a:spcAft>
                <a:spcPts val="0"/>
              </a:spcAft>
            </a:pPr>
            <a:r>
              <a:rPr sz="1200" b="1">
                <a:solidFill>
                  <a:srgbClr val="131E29"/>
                </a:solidFill>
                <a:latin typeface="Arial"/>
              </a:rPr>
              <a:t>D  Fewer, longer-lasting clothes: </a:t>
            </a:r>
            <a:r>
              <a:rPr sz="1200" b="0">
                <a:solidFill>
                  <a:srgbClr val="131E29"/>
                </a:solidFill>
                <a:latin typeface="Arial"/>
              </a:rPr>
              <a:t>removes whole garments, and all their production emissions.</a:t>
            </a:r>
          </a:p>
        </p:txBody>
      </p:sp>
      <p:sp>
        <p:nvSpPr>
          <p:cNvPr id="24" name="Callout"/>
          <p:cNvSpPr/>
          <p:nvPr/>
        </p:nvSpPr>
        <p:spPr>
          <a:xfrm>
            <a:off x="813816" y="4892040"/>
            <a:ext cx="10570464" cy="1188720"/>
          </a:xfrm>
          <a:prstGeom prst="roundRect">
            <a:avLst>
              <a:gd name="adj" fmla="val 10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llout text"/>
          <p:cNvSpPr txBox="1"/>
          <p:nvPr/>
        </p:nvSpPr>
        <p:spPr>
          <a:xfrm>
            <a:off x="1051560" y="4892040"/>
            <a:ext cx="10149840" cy="1188720"/>
          </a:xfrm>
          <a:prstGeom prst="rect">
            <a:avLst/>
          </a:prstGeom>
          <a:noFill/>
        </p:spPr>
        <p:txBody>
          <a:bodyPr wrap="square" lIns="0" rIns="0" tIns="0" bIns="0" anchor="ctr">
            <a:spAutoFit/>
          </a:bodyPr>
          <a:lstStyle/>
          <a:p>
            <a:pPr algn="l">
              <a:spcAft>
                <a:spcPts val="400"/>
              </a:spcAft>
            </a:pPr>
            <a:r>
              <a:rPr sz="1600" b="1">
                <a:solidFill>
                  <a:srgbClr val="FFFFFF"/>
                </a:solidFill>
                <a:latin typeface="Arial"/>
              </a:rPr>
              <a:t>Distance is the smallest slice. </a:t>
            </a:r>
            <a:r>
              <a:rPr sz="1600" b="0">
                <a:solidFill>
                  <a:srgbClr val="E6DBF5"/>
                </a:solidFill>
                <a:latin typeface="Arial"/>
              </a:rPr>
              <a:t>The biggest cut, making and selling less, attacks the volume business model. </a:t>
            </a:r>
          </a:p>
          <a:p>
            <a:pPr algn="l">
              <a:spcAft>
                <a:spcPts val="0"/>
              </a:spcAft>
            </a:pPr>
            <a:r>
              <a:rPr sz="1600" b="1">
                <a:solidFill>
                  <a:srgbClr val="9ADBE8"/>
                </a:solidFill>
                <a:latin typeface="Arial"/>
              </a:rPr>
              <a:t>So is sustainability decided in the supply chain, or in the business model?</a:t>
            </a:r>
          </a:p>
        </p:txBody>
      </p:sp>
      <p:sp>
        <p:nvSpPr>
          <p:cNvPr id="26" name="Source"/>
          <p:cNvSpPr txBox="1"/>
          <p:nvPr/>
        </p:nvSpPr>
        <p:spPr>
          <a:xfrm>
            <a:off x="813816" y="6291072"/>
            <a:ext cx="9052560" cy="237744"/>
          </a:xfrm>
          <a:prstGeom prst="rect">
            <a:avLst/>
          </a:prstGeom>
          <a:noFill/>
        </p:spPr>
        <p:txBody>
          <a:bodyPr wrap="square" lIns="0" rIns="0" tIns="0" bIns="0" anchor="t">
            <a:spAutoFit/>
          </a:bodyPr>
          <a:lstStyle/>
          <a:p>
            <a:pPr algn="l">
              <a:spcAft>
                <a:spcPts val="0"/>
              </a:spcAft>
            </a:pPr>
            <a:r>
              <a:rPr sz="1000" b="0">
                <a:solidFill>
                  <a:srgbClr val="5E6977"/>
                </a:solidFill>
                <a:latin typeface="Arial"/>
              </a:rPr>
              <a:t>Source: McKinsey &amp; Company and Global Fashion Agenda (2020) Fashion on Climate; figures for 2018, rounded.</a:t>
            </a:r>
          </a:p>
        </p:txBody>
      </p:sp>
      <p:sp>
        <p:nvSpPr>
          <p:cNvPr id="27" name="Page number"/>
          <p:cNvSpPr txBox="1"/>
          <p:nvPr/>
        </p:nvSpPr>
        <p:spPr>
          <a:xfrm>
            <a:off x="10058400" y="6291072"/>
            <a:ext cx="1316736" cy="237744"/>
          </a:xfrm>
          <a:prstGeom prst="rect">
            <a:avLst/>
          </a:prstGeom>
          <a:noFill/>
        </p:spPr>
        <p:txBody>
          <a:bodyPr wrap="square" lIns="0" rIns="0" tIns="0" bIns="0" anchor="t">
            <a:spAutoFit/>
          </a:bodyPr>
          <a:lstStyle/>
          <a:p>
            <a:pPr algn="r">
              <a:spcAft>
                <a:spcPts val="0"/>
              </a:spcAft>
            </a:pPr>
            <a:r>
              <a:rPr sz="1200" b="0">
                <a:solidFill>
                  <a:srgbClr val="5E6977"/>
                </a:solidFill>
                <a:latin typeface="Arial"/>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Digital Tools That Connect Operations and Supply Chains</a:t>
            </a:r>
            <a:endParaRPr lang="en-US" sz="3000" dirty="0"/>
          </a:p>
        </p:txBody>
      </p:sp>
      <p:graphicFrame>
        <p:nvGraphicFramePr>
          <p:cNvPr id="4" name="Table 0"/>
          <p:cNvGraphicFramePr>
            <a:graphicFrameLocks noGrp="1"/>
          </p:cNvGraphicFramePr>
          <p:nvPr/>
        </p:nvGraphicFramePr>
        <p:xfrm>
          <a:off x="825500" y="1464742"/>
          <a:ext cx="10553700" cy="2950634"/>
        </p:xfrm>
        <a:graphic>
          <a:graphicData uri="http://schemas.openxmlformats.org/drawingml/2006/table">
            <a:tbl>
              <a:tblPr/>
              <a:tblGrid>
                <a:gridCol w="2321814">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FFFFF"/>
                          </a:solidFill>
                          <a:latin typeface="Arial" pitchFamily="34" charset="0"/>
                          <a:ea typeface="Arial" pitchFamily="34" charset="-122"/>
                          <a:cs typeface="Arial" pitchFamily="34" charset="-120"/>
                        </a:rPr>
                        <a:t>Function</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960"/>
                        </a:lnSpc>
                        <a:buNone/>
                      </a:pPr>
                      <a:r>
                        <a:rPr lang="en-US" sz="1400" b="1" dirty="0">
                          <a:solidFill>
                            <a:srgbClr val="FFFFFF"/>
                          </a:solidFill>
                          <a:latin typeface="Arial" pitchFamily="34" charset="0"/>
                          <a:ea typeface="Arial" pitchFamily="34" charset="-122"/>
                          <a:cs typeface="Arial" pitchFamily="34" charset="-120"/>
                        </a:rPr>
                        <a:t>Technologies</a:t>
                      </a:r>
                      <a:endParaRPr lang="en-US" sz="1400" dirty="0">
                        <a:latin typeface="Arial" charset="0"/>
                        <a:ea typeface="Arial" charset="0"/>
                        <a:cs typeface="Arial" charset="0"/>
                      </a:endParaRPr>
                    </a:p>
                  </a:txBody>
                  <a:tcPr marL="62230" marR="62230" marT="62230" marB="62230">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tc>
                  <a:txBody>
                    <a:bodyPr/>
                    <a:lstStyle/>
                    <a:p>
                      <a:pPr marL="0" indent="0">
                        <a:lnSpc>
                          <a:spcPts val="1960"/>
                        </a:lnSpc>
                        <a:buNone/>
                      </a:pPr>
                      <a:r>
                        <a:rPr lang="en-US" sz="1400" b="1" dirty="0">
                          <a:solidFill>
                            <a:srgbClr val="FFFFFF"/>
                          </a:solidFill>
                          <a:latin typeface="Arial" pitchFamily="34" charset="0"/>
                          <a:ea typeface="Arial" pitchFamily="34" charset="-122"/>
                          <a:cs typeface="Arial" pitchFamily="34" charset="-120"/>
                        </a:rPr>
                        <a:t>What it does for operations</a:t>
                      </a:r>
                      <a:endParaRPr lang="en-US" sz="1400" dirty="0">
                        <a:latin typeface="Arial" charset="0"/>
                        <a:ea typeface="Arial" charset="0"/>
                        <a:cs typeface="Arial" charset="0"/>
                      </a:endParaRPr>
                    </a:p>
                  </a:txBody>
                  <a:tcPr marL="62230" marR="62230" marT="62230" marB="62230">
                    <a:lnL w="12700" cap="flat" cmpd="sng" algn="ctr">
                      <a:solidFill>
                        <a:srgbClr val="39047C"/>
                      </a:solidFill>
                      <a:prstDash val="solid"/>
                      <a:round/>
                      <a:headEnd type="none" w="med" len="med"/>
                      <a:tailEnd type="none" w="med" len="med"/>
                    </a:lnL>
                    <a:lnR w="12700" cap="flat" cmpd="sng" algn="ctr">
                      <a:solidFill>
                        <a:srgbClr val="3904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9047C"/>
                      </a:solidFill>
                      <a:prstDash val="solid"/>
                      <a:round/>
                      <a:headEnd type="none" w="med" len="med"/>
                      <a:tailEnd type="none" w="med" len="med"/>
                    </a:lnB>
                    <a:solidFill>
                      <a:srgbClr val="440099"/>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Sense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IoT, RFID, computer vision</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Creates visibility of stock and assets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904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Connect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ERP, cloud platforms, blockchain</a:t>
                      </a:r>
                      <a:endParaRPr lang="en-US" sz="14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Shares data across firms</a:t>
                      </a:r>
                      <a:endParaRPr lang="en-US" sz="14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Analyse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Analytics, machine learning, GenAI</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Forecasts demand and predicts risk</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Simulate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Digital twins</a:t>
                      </a:r>
                      <a:endParaRPr lang="en-US" sz="14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Tests disruption scenarios before they happen</a:t>
                      </a:r>
                      <a:endParaRPr lang="en-US" sz="14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Decide and act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Control towers, agentic AI</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Flags exceptions and coordinates response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F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634868">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Execute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Robotics, automation</a:t>
                      </a:r>
                      <a:endParaRPr lang="en-US" sz="14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tc>
                  <a:txBody>
                    <a:bodyPr/>
                    <a:lstStyle/>
                    <a:p>
                      <a:pPr marL="0" indent="0">
                        <a:lnSpc>
                          <a:spcPts val="1960"/>
                        </a:lnSpc>
                        <a:buNone/>
                      </a:pPr>
                      <a:r>
                        <a:rPr lang="en-US" sz="1400" dirty="0">
                          <a:solidFill>
                            <a:srgbClr val="131E29"/>
                          </a:solidFill>
                          <a:latin typeface="Arial" pitchFamily="34" charset="0"/>
                          <a:ea typeface="Arial" pitchFamily="34" charset="-122"/>
                          <a:cs typeface="Arial" pitchFamily="34" charset="-120"/>
                        </a:rPr>
                        <a:t>Carries out physical work in plants and warehouses</a:t>
                      </a:r>
                      <a:endParaRPr lang="en-US" sz="1400" dirty="0">
                        <a:latin typeface="Arial" charset="0"/>
                        <a:ea typeface="Arial" charset="0"/>
                        <a:cs typeface="Arial" charset="0"/>
                      </a:endParaRPr>
                    </a:p>
                  </a:txBody>
                  <a:tcPr marL="62230" marR="62230" marT="62230" marB="62230">
                    <a:lnL w="12700" cap="flat" cmpd="sng" algn="ctr">
                      <a:solidFill>
                        <a:srgbClr val="C3BFC7"/>
                      </a:solidFill>
                      <a:prstDash val="solid"/>
                      <a:round/>
                      <a:headEnd type="none" w="med" len="med"/>
                      <a:tailEnd type="none" w="med" len="med"/>
                    </a:lnL>
                    <a:lnR w="12700" cap="flat" cmpd="sng" algn="ctr">
                      <a:solidFill>
                        <a:srgbClr val="C3BF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FC7"/>
                      </a:solidFill>
                      <a:prstDash val="solid"/>
                      <a:round/>
                      <a:headEnd type="none" w="med" len="med"/>
                      <a:tailEnd type="none" w="med" len="med"/>
                    </a:lnB>
                    <a:solidFill>
                      <a:srgbClr val="F4EFFA"/>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669383"/>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31E29"/>
                </a:solidFill>
                <a:latin typeface="Arial" pitchFamily="34" charset="0"/>
                <a:ea typeface="Arial" pitchFamily="34" charset="-122"/>
                <a:cs typeface="Arial" pitchFamily="34" charset="-120"/>
              </a:rPr>
              <a:t>Technology reduces the bullwhip and speeds recovery, but only with good data, shared incentives and people able to act.</a:t>
            </a:r>
            <a:endParaRPr lang="en-US" sz="1500" dirty="0"/>
          </a:p>
        </p:txBody>
      </p:sp>
      <p:sp>
        <p:nvSpPr>
          <p:cNvPr id="6" name="Text 3"/>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Arial" pitchFamily="34" charset="0"/>
                <a:ea typeface="Arial" pitchFamily="34" charset="-122"/>
                <a:cs typeface="Arial" pitchFamily="34" charset="-120"/>
              </a:rPr>
              <a:t>Source: Week 5, Digital Supply-Network Framework</a:t>
            </a:r>
            <a:endParaRPr lang="en-US" sz="1200" dirty="0"/>
          </a:p>
        </p:txBody>
      </p:sp>
      <p:sp>
        <p:nvSpPr>
          <p:cNvPr id="7" name="Text 4"/>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Title"/>
          <p:cNvSpPr txBox="1"/>
          <p:nvPr/>
        </p:nvSpPr>
        <p:spPr>
          <a:xfrm>
            <a:off x="658368" y="228600"/>
            <a:ext cx="10200640" cy="923330"/>
          </a:xfrm>
          <a:prstGeom prst="rect">
            <a:avLst/>
          </a:prstGeom>
          <a:noFill/>
        </p:spPr>
        <p:txBody>
          <a:bodyPr wrap="square" lIns="0" tIns="0" rIns="0" bIns="0" anchor="t">
            <a:spAutoFit/>
          </a:bodyPr>
          <a:lstStyle/>
          <a:p>
            <a:pPr algn="l">
              <a:spcAft>
                <a:spcPts val="0"/>
              </a:spcAft>
            </a:pPr>
            <a:r>
              <a:rPr sz="3000" b="1" dirty="0">
                <a:solidFill>
                  <a:srgbClr val="440099"/>
                </a:solidFill>
                <a:latin typeface="Arial"/>
              </a:rPr>
              <a:t>The Changing Landscape: </a:t>
            </a:r>
            <a:r>
              <a:rPr sz="3000" b="1" dirty="0" err="1">
                <a:solidFill>
                  <a:srgbClr val="440099"/>
                </a:solidFill>
                <a:latin typeface="Arial"/>
              </a:rPr>
              <a:t>Regionalis</a:t>
            </a:r>
            <a:r>
              <a:rPr lang="en-GB" sz="3000" b="1" dirty="0" err="1">
                <a:solidFill>
                  <a:srgbClr val="440099"/>
                </a:solidFill>
                <a:latin typeface="Arial"/>
              </a:rPr>
              <a:t>ation</a:t>
            </a:r>
            <a:r>
              <a:rPr lang="en-GB" sz="3000" b="1" dirty="0">
                <a:solidFill>
                  <a:srgbClr val="440099"/>
                </a:solidFill>
                <a:latin typeface="Arial"/>
              </a:rPr>
              <a:t> and Deglobalisation</a:t>
            </a:r>
            <a:endParaRPr sz="3000" b="1" dirty="0">
              <a:solidFill>
                <a:srgbClr val="440099"/>
              </a:solidFill>
              <a:latin typeface="Arial"/>
            </a:endParaRPr>
          </a:p>
        </p:txBody>
      </p:sp>
      <p:cxnSp>
        <p:nvCxnSpPr>
          <p:cNvPr id="4" name="Divider"/>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5" name="Then panel"/>
          <p:cNvSpPr/>
          <p:nvPr/>
        </p:nvSpPr>
        <p:spPr>
          <a:xfrm>
            <a:off x="813816" y="1417320"/>
            <a:ext cx="4983480" cy="960120"/>
          </a:xfrm>
          <a:prstGeom prst="roundRect">
            <a:avLst>
              <a:gd name="adj" fmla="val 8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hen text"/>
          <p:cNvSpPr txBox="1"/>
          <p:nvPr/>
        </p:nvSpPr>
        <p:spPr>
          <a:xfrm>
            <a:off x="1024128" y="1481328"/>
            <a:ext cx="4572000" cy="868680"/>
          </a:xfrm>
          <a:prstGeom prst="rect">
            <a:avLst/>
          </a:prstGeom>
          <a:noFill/>
        </p:spPr>
        <p:txBody>
          <a:bodyPr wrap="square" lIns="0" tIns="0" rIns="0" bIns="0" anchor="ctr">
            <a:spAutoFit/>
          </a:bodyPr>
          <a:lstStyle/>
          <a:p>
            <a:pPr algn="l">
              <a:spcAft>
                <a:spcPts val="300"/>
              </a:spcAft>
            </a:pPr>
            <a:r>
              <a:rPr sz="1100" b="1">
                <a:solidFill>
                  <a:srgbClr val="5E6977"/>
                </a:solidFill>
                <a:latin typeface="Arial"/>
              </a:rPr>
              <a:t>THEN</a:t>
            </a:r>
          </a:p>
          <a:p>
            <a:pPr algn="l">
              <a:spcAft>
                <a:spcPts val="0"/>
              </a:spcAft>
            </a:pPr>
            <a:r>
              <a:rPr sz="1600" b="0">
                <a:solidFill>
                  <a:srgbClr val="131E29"/>
                </a:solidFill>
                <a:latin typeface="Arial"/>
              </a:rPr>
              <a:t>Global chains designed for </a:t>
            </a:r>
            <a:r>
              <a:rPr sz="1600" b="1">
                <a:solidFill>
                  <a:srgbClr val="131E29"/>
                </a:solidFill>
                <a:latin typeface="Arial"/>
              </a:rPr>
              <a:t>cost efficiency and scale</a:t>
            </a:r>
          </a:p>
        </p:txBody>
      </p:sp>
      <p:sp>
        <p:nvSpPr>
          <p:cNvPr id="7" name="Then to now arrow"/>
          <p:cNvSpPr/>
          <p:nvPr/>
        </p:nvSpPr>
        <p:spPr>
          <a:xfrm>
            <a:off x="5925312" y="1664208"/>
            <a:ext cx="457200" cy="457200"/>
          </a:xfrm>
          <a:prstGeom prst="rightArrow">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Now panel"/>
          <p:cNvSpPr/>
          <p:nvPr/>
        </p:nvSpPr>
        <p:spPr>
          <a:xfrm>
            <a:off x="6510528" y="1417320"/>
            <a:ext cx="4873752" cy="960120"/>
          </a:xfrm>
          <a:prstGeom prst="roundRect">
            <a:avLst>
              <a:gd name="adj" fmla="val 8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Now text"/>
          <p:cNvSpPr txBox="1"/>
          <p:nvPr/>
        </p:nvSpPr>
        <p:spPr>
          <a:xfrm>
            <a:off x="6720840" y="1481328"/>
            <a:ext cx="4480560" cy="868680"/>
          </a:xfrm>
          <a:prstGeom prst="rect">
            <a:avLst/>
          </a:prstGeom>
          <a:noFill/>
        </p:spPr>
        <p:txBody>
          <a:bodyPr wrap="square" lIns="0" tIns="0" rIns="0" bIns="0" anchor="ctr">
            <a:spAutoFit/>
          </a:bodyPr>
          <a:lstStyle/>
          <a:p>
            <a:pPr algn="l">
              <a:spcAft>
                <a:spcPts val="300"/>
              </a:spcAft>
            </a:pPr>
            <a:r>
              <a:rPr sz="1100" b="1">
                <a:solidFill>
                  <a:srgbClr val="9ADBE8"/>
                </a:solidFill>
                <a:latin typeface="Arial"/>
              </a:rPr>
              <a:t>NOW</a:t>
            </a:r>
          </a:p>
          <a:p>
            <a:pPr algn="l">
              <a:spcAft>
                <a:spcPts val="0"/>
              </a:spcAft>
            </a:pPr>
            <a:r>
              <a:rPr sz="1600" b="0">
                <a:solidFill>
                  <a:srgbClr val="FFFFFF"/>
                </a:solidFill>
                <a:latin typeface="Arial"/>
              </a:rPr>
              <a:t>Networks redesigned for </a:t>
            </a:r>
            <a:r>
              <a:rPr sz="1600" b="1">
                <a:solidFill>
                  <a:srgbClr val="FFFFFF"/>
                </a:solidFill>
                <a:latin typeface="Arial"/>
              </a:rPr>
              <a:t>risk, sustainability and uncertainty</a:t>
            </a:r>
          </a:p>
        </p:txBody>
      </p:sp>
      <p:sp>
        <p:nvSpPr>
          <p:cNvPr id="10" name="How card"/>
          <p:cNvSpPr/>
          <p:nvPr/>
        </p:nvSpPr>
        <p:spPr>
          <a:xfrm>
            <a:off x="813816" y="2606040"/>
            <a:ext cx="3364992" cy="2743200"/>
          </a:xfrm>
          <a:prstGeom prst="roundRect">
            <a:avLst>
              <a:gd name="adj" fmla="val 4000"/>
            </a:avLst>
          </a:prstGeom>
          <a:solidFill>
            <a:srgbClr val="E6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How accent"/>
          <p:cNvSpPr/>
          <p:nvPr/>
        </p:nvSpPr>
        <p:spPr>
          <a:xfrm>
            <a:off x="813816" y="2606040"/>
            <a:ext cx="73152" cy="2743200"/>
          </a:xfrm>
          <a:prstGeom prst="rect">
            <a:avLst/>
          </a:prstGeom>
          <a:solidFill>
            <a:srgbClr val="00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How text"/>
          <p:cNvSpPr txBox="1"/>
          <p:nvPr/>
        </p:nvSpPr>
        <p:spPr>
          <a:xfrm>
            <a:off x="1069848" y="2788920"/>
            <a:ext cx="2926080" cy="2468880"/>
          </a:xfrm>
          <a:prstGeom prst="rect">
            <a:avLst/>
          </a:prstGeom>
          <a:noFill/>
        </p:spPr>
        <p:txBody>
          <a:bodyPr wrap="square" lIns="0" tIns="0" rIns="0" bIns="0" anchor="t">
            <a:spAutoFit/>
          </a:bodyPr>
          <a:lstStyle/>
          <a:p>
            <a:pPr algn="l">
              <a:spcAft>
                <a:spcPts val="800"/>
              </a:spcAft>
            </a:pPr>
            <a:r>
              <a:rPr sz="1200" b="1" dirty="0">
                <a:solidFill>
                  <a:srgbClr val="005A8F"/>
                </a:solidFill>
                <a:latin typeface="Arial"/>
              </a:rPr>
              <a:t>DEGLOBALISATION: HOW FIRMS REBALANCE</a:t>
            </a:r>
          </a:p>
          <a:p>
            <a:pPr algn="l">
              <a:spcAft>
                <a:spcPts val="500"/>
              </a:spcAft>
            </a:pPr>
            <a:r>
              <a:rPr sz="1300" b="1" dirty="0">
                <a:solidFill>
                  <a:srgbClr val="131E29"/>
                </a:solidFill>
                <a:latin typeface="Arial"/>
              </a:rPr>
              <a:t>Nearshoring: </a:t>
            </a:r>
            <a:r>
              <a:rPr sz="1300" b="0" dirty="0">
                <a:solidFill>
                  <a:srgbClr val="131E29"/>
                </a:solidFill>
                <a:latin typeface="Arial"/>
              </a:rPr>
              <a:t>make closer to the customer</a:t>
            </a:r>
          </a:p>
          <a:p>
            <a:pPr algn="l">
              <a:spcAft>
                <a:spcPts val="500"/>
              </a:spcAft>
            </a:pPr>
            <a:r>
              <a:rPr sz="1300" b="1" dirty="0">
                <a:solidFill>
                  <a:srgbClr val="131E29"/>
                </a:solidFill>
                <a:latin typeface="Arial"/>
              </a:rPr>
              <a:t>Multi-regional networks: </a:t>
            </a:r>
            <a:r>
              <a:rPr sz="1300" b="0" dirty="0">
                <a:solidFill>
                  <a:srgbClr val="131E29"/>
                </a:solidFill>
                <a:latin typeface="Arial"/>
              </a:rPr>
              <a:t>a hub in each region</a:t>
            </a:r>
          </a:p>
          <a:p>
            <a:pPr algn="l">
              <a:spcAft>
                <a:spcPts val="500"/>
              </a:spcAft>
            </a:pPr>
            <a:r>
              <a:rPr sz="1300" b="1" dirty="0">
                <a:solidFill>
                  <a:srgbClr val="131E29"/>
                </a:solidFill>
                <a:latin typeface="Arial"/>
              </a:rPr>
              <a:t>Redundancy: </a:t>
            </a:r>
            <a:r>
              <a:rPr sz="1300" b="0" dirty="0">
                <a:solidFill>
                  <a:srgbClr val="131E29"/>
                </a:solidFill>
                <a:latin typeface="Arial"/>
              </a:rPr>
              <a:t>a second supplier, spare stock</a:t>
            </a:r>
          </a:p>
          <a:p>
            <a:pPr algn="l">
              <a:spcAft>
                <a:spcPts val="500"/>
              </a:spcAft>
            </a:pPr>
            <a:r>
              <a:rPr sz="1300" b="1" dirty="0">
                <a:solidFill>
                  <a:srgbClr val="131E29"/>
                </a:solidFill>
                <a:latin typeface="Arial"/>
              </a:rPr>
              <a:t>Strategic autonomy: </a:t>
            </a:r>
            <a:r>
              <a:rPr sz="1300" b="0" dirty="0">
                <a:solidFill>
                  <a:srgbClr val="131E29"/>
                </a:solidFill>
                <a:latin typeface="Arial"/>
              </a:rPr>
              <a:t>control of critical goods</a:t>
            </a:r>
          </a:p>
        </p:txBody>
      </p:sp>
      <p:sp>
        <p:nvSpPr>
          <p:cNvPr id="13" name="Why card"/>
          <p:cNvSpPr/>
          <p:nvPr/>
        </p:nvSpPr>
        <p:spPr>
          <a:xfrm>
            <a:off x="7836408" y="2578608"/>
            <a:ext cx="3364992" cy="2743200"/>
          </a:xfrm>
          <a:prstGeom prst="roundRect">
            <a:avLst>
              <a:gd name="adj" fmla="val 4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Why accent"/>
          <p:cNvSpPr/>
          <p:nvPr/>
        </p:nvSpPr>
        <p:spPr>
          <a:xfrm>
            <a:off x="7946136" y="2592324"/>
            <a:ext cx="73152" cy="2743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Why text"/>
          <p:cNvSpPr txBox="1"/>
          <p:nvPr/>
        </p:nvSpPr>
        <p:spPr>
          <a:xfrm>
            <a:off x="8129016" y="2788920"/>
            <a:ext cx="2926080" cy="2468880"/>
          </a:xfrm>
          <a:prstGeom prst="rect">
            <a:avLst/>
          </a:prstGeom>
          <a:noFill/>
        </p:spPr>
        <p:txBody>
          <a:bodyPr wrap="square" lIns="0" tIns="0" rIns="0" bIns="0" anchor="t">
            <a:spAutoFit/>
          </a:bodyPr>
          <a:lstStyle/>
          <a:p>
            <a:pPr algn="l">
              <a:spcAft>
                <a:spcPts val="800"/>
              </a:spcAft>
            </a:pPr>
            <a:r>
              <a:rPr sz="1200" b="1" dirty="0">
                <a:solidFill>
                  <a:srgbClr val="2E7D32"/>
                </a:solidFill>
                <a:latin typeface="Arial"/>
              </a:rPr>
              <a:t>WHY REGIONALISE?</a:t>
            </a:r>
          </a:p>
          <a:p>
            <a:pPr algn="l">
              <a:spcAft>
                <a:spcPts val="500"/>
              </a:spcAft>
            </a:pPr>
            <a:r>
              <a:rPr sz="1400" b="0" dirty="0">
                <a:solidFill>
                  <a:srgbClr val="131E29"/>
                </a:solidFill>
                <a:latin typeface="Arial"/>
              </a:rPr>
              <a:t>Resilience to disruption</a:t>
            </a:r>
          </a:p>
          <a:p>
            <a:pPr algn="l">
              <a:spcAft>
                <a:spcPts val="500"/>
              </a:spcAft>
            </a:pPr>
            <a:r>
              <a:rPr sz="1400" b="0" dirty="0">
                <a:solidFill>
                  <a:srgbClr val="131E29"/>
                </a:solidFill>
                <a:latin typeface="Arial"/>
              </a:rPr>
              <a:t>Sustainability and lower transport emissions</a:t>
            </a:r>
          </a:p>
          <a:p>
            <a:pPr algn="l">
              <a:spcAft>
                <a:spcPts val="500"/>
              </a:spcAft>
            </a:pPr>
            <a:r>
              <a:rPr sz="1400" b="0" dirty="0">
                <a:solidFill>
                  <a:srgbClr val="131E29"/>
                </a:solidFill>
                <a:latin typeface="Arial"/>
              </a:rPr>
              <a:t>Policy incentives</a:t>
            </a:r>
          </a:p>
          <a:p>
            <a:pPr algn="l">
              <a:spcAft>
                <a:spcPts val="500"/>
              </a:spcAft>
            </a:pPr>
            <a:r>
              <a:rPr sz="1400" b="0" dirty="0">
                <a:solidFill>
                  <a:srgbClr val="131E29"/>
                </a:solidFill>
                <a:latin typeface="Arial"/>
              </a:rPr>
              <a:t>Geopolitical risk</a:t>
            </a:r>
          </a:p>
        </p:txBody>
      </p:sp>
      <p:sp>
        <p:nvSpPr>
          <p:cNvPr id="19" name="Callout"/>
          <p:cNvSpPr/>
          <p:nvPr/>
        </p:nvSpPr>
        <p:spPr>
          <a:xfrm>
            <a:off x="813816" y="5550408"/>
            <a:ext cx="10570464" cy="566928"/>
          </a:xfrm>
          <a:prstGeom prst="roundRect">
            <a:avLst>
              <a:gd name="adj" fmla="val 15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allout text"/>
          <p:cNvSpPr txBox="1"/>
          <p:nvPr/>
        </p:nvSpPr>
        <p:spPr>
          <a:xfrm>
            <a:off x="1051560" y="5550408"/>
            <a:ext cx="10149840" cy="566928"/>
          </a:xfrm>
          <a:prstGeom prst="rect">
            <a:avLst/>
          </a:prstGeom>
          <a:noFill/>
        </p:spPr>
        <p:txBody>
          <a:bodyPr wrap="square" lIns="0" tIns="0" rIns="0" bIns="0" anchor="ctr">
            <a:spAutoFit/>
          </a:bodyPr>
          <a:lstStyle/>
          <a:p>
            <a:pPr algn="l">
              <a:spcAft>
                <a:spcPts val="0"/>
              </a:spcAft>
            </a:pPr>
            <a:r>
              <a:rPr sz="1600" b="1">
                <a:solidFill>
                  <a:srgbClr val="FFFFFF"/>
                </a:solidFill>
                <a:latin typeface="Arial"/>
              </a:rPr>
              <a:t>Not the end of globalisation: </a:t>
            </a:r>
            <a:r>
              <a:rPr sz="1600" b="0">
                <a:solidFill>
                  <a:srgbClr val="E6DBF5"/>
                </a:solidFill>
                <a:latin typeface="Arial"/>
              </a:rPr>
              <a:t>a rebalancing between global reach and regional security.</a:t>
            </a:r>
          </a:p>
        </p:txBody>
      </p:sp>
      <p:sp>
        <p:nvSpPr>
          <p:cNvPr id="21" name="Source"/>
          <p:cNvSpPr txBox="1"/>
          <p:nvPr/>
        </p:nvSpPr>
        <p:spPr>
          <a:xfrm>
            <a:off x="813816" y="6291072"/>
            <a:ext cx="9052560" cy="237744"/>
          </a:xfrm>
          <a:prstGeom prst="rect">
            <a:avLst/>
          </a:prstGeom>
          <a:noFill/>
        </p:spPr>
        <p:txBody>
          <a:bodyPr wrap="square" lIns="0" tIns="0" rIns="0" bIns="0" anchor="t">
            <a:spAutoFit/>
          </a:bodyPr>
          <a:lstStyle/>
          <a:p>
            <a:pPr algn="l">
              <a:spcAft>
                <a:spcPts val="0"/>
              </a:spcAft>
            </a:pPr>
            <a:r>
              <a:rPr sz="1100" b="0">
                <a:solidFill>
                  <a:srgbClr val="5E6977"/>
                </a:solidFill>
                <a:latin typeface="Arial"/>
              </a:rPr>
              <a:t>Source: module material</a:t>
            </a:r>
          </a:p>
        </p:txBody>
      </p:sp>
      <p:sp>
        <p:nvSpPr>
          <p:cNvPr id="22" name="Page number"/>
          <p:cNvSpPr txBox="1"/>
          <p:nvPr/>
        </p:nvSpPr>
        <p:spPr>
          <a:xfrm>
            <a:off x="10058400" y="6291072"/>
            <a:ext cx="1316736" cy="237744"/>
          </a:xfrm>
          <a:prstGeom prst="rect">
            <a:avLst/>
          </a:prstGeom>
          <a:noFill/>
        </p:spPr>
        <p:txBody>
          <a:bodyPr wrap="square" lIns="0" tIns="0" rIns="0" bIns="0" anchor="t">
            <a:spAutoFit/>
          </a:bodyPr>
          <a:lstStyle/>
          <a:p>
            <a:pPr algn="r">
              <a:spcAft>
                <a:spcPts val="0"/>
              </a:spcAft>
            </a:pPr>
            <a:r>
              <a:rPr sz="1200" b="0">
                <a:solidFill>
                  <a:srgbClr val="5E6977"/>
                </a:solidFill>
                <a:latin typeface="Arial"/>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Title"/>
          <p:cNvSpPr txBox="1"/>
          <p:nvPr/>
        </p:nvSpPr>
        <p:spPr>
          <a:xfrm>
            <a:off x="658368" y="612648"/>
            <a:ext cx="10881360" cy="448056"/>
          </a:xfrm>
          <a:prstGeom prst="rect">
            <a:avLst/>
          </a:prstGeom>
          <a:noFill/>
        </p:spPr>
        <p:txBody>
          <a:bodyPr wrap="square" lIns="0" tIns="0" rIns="0" bIns="0" anchor="t">
            <a:spAutoFit/>
          </a:bodyPr>
          <a:lstStyle/>
          <a:p>
            <a:pPr algn="l">
              <a:spcAft>
                <a:spcPts val="0"/>
              </a:spcAft>
            </a:pPr>
            <a:r>
              <a:rPr sz="3000" b="1">
                <a:solidFill>
                  <a:srgbClr val="440099"/>
                </a:solidFill>
                <a:latin typeface="Arial"/>
              </a:rPr>
              <a:t>What Is Reshaping Supply Chains?</a:t>
            </a:r>
          </a:p>
        </p:txBody>
      </p:sp>
      <p:cxnSp>
        <p:nvCxnSpPr>
          <p:cNvPr id="4" name="Divider"/>
          <p:cNvCxnSpPr/>
          <p:nvPr/>
        </p:nvCxnSpPr>
        <p:spPr>
          <a:xfrm>
            <a:off x="813816" y="1188720"/>
            <a:ext cx="10570464" cy="0"/>
          </a:xfrm>
          <a:prstGeom prst="line">
            <a:avLst/>
          </a:prstGeom>
          <a:ln w="19050">
            <a:solidFill>
              <a:srgbClr val="440099"/>
            </a:solidFill>
          </a:ln>
        </p:spPr>
        <p:style>
          <a:lnRef idx="2">
            <a:schemeClr val="accent1"/>
          </a:lnRef>
          <a:fillRef idx="0">
            <a:schemeClr val="accent1"/>
          </a:fillRef>
          <a:effectRef idx="1">
            <a:schemeClr val="accent1"/>
          </a:effectRef>
          <a:fontRef idx="minor">
            <a:schemeClr val="tx1"/>
          </a:fontRef>
        </p:style>
      </p:cxnSp>
      <p:sp>
        <p:nvSpPr>
          <p:cNvPr id="5" name="Drivers heading"/>
          <p:cNvSpPr txBox="1"/>
          <p:nvPr/>
        </p:nvSpPr>
        <p:spPr>
          <a:xfrm>
            <a:off x="813816" y="1371600"/>
            <a:ext cx="6035040" cy="274320"/>
          </a:xfrm>
          <a:prstGeom prst="rect">
            <a:avLst/>
          </a:prstGeom>
          <a:noFill/>
        </p:spPr>
        <p:txBody>
          <a:bodyPr wrap="square" lIns="0" tIns="0" rIns="0" bIns="0" anchor="t">
            <a:spAutoFit/>
          </a:bodyPr>
          <a:lstStyle/>
          <a:p>
            <a:pPr algn="l">
              <a:spcAft>
                <a:spcPts val="0"/>
              </a:spcAft>
            </a:pPr>
            <a:r>
              <a:rPr sz="1200" b="1">
                <a:solidFill>
                  <a:srgbClr val="440099"/>
                </a:solidFill>
                <a:latin typeface="Arial"/>
              </a:rPr>
              <a:t>DRIVERS AND WHAT THEY DEMAND OF SUPPLY CHAINS</a:t>
            </a:r>
          </a:p>
        </p:txBody>
      </p:sp>
      <p:sp>
        <p:nvSpPr>
          <p:cNvPr id="6" name="Driver 1"/>
          <p:cNvSpPr/>
          <p:nvPr/>
        </p:nvSpPr>
        <p:spPr>
          <a:xfrm>
            <a:off x="813816" y="1737360"/>
            <a:ext cx="2606040" cy="512064"/>
          </a:xfrm>
          <a:prstGeom prst="roundRect">
            <a:avLst>
              <a:gd name="adj" fmla="val 12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Driver 1 text"/>
          <p:cNvSpPr txBox="1"/>
          <p:nvPr/>
        </p:nvSpPr>
        <p:spPr>
          <a:xfrm>
            <a:off x="960120" y="1737360"/>
            <a:ext cx="2377440" cy="512064"/>
          </a:xfrm>
          <a:prstGeom prst="rect">
            <a:avLst/>
          </a:prstGeom>
          <a:noFill/>
        </p:spPr>
        <p:txBody>
          <a:bodyPr wrap="square" lIns="0" tIns="0" rIns="0" bIns="0" anchor="ctr">
            <a:spAutoFit/>
          </a:bodyPr>
          <a:lstStyle/>
          <a:p>
            <a:pPr algn="l">
              <a:spcAft>
                <a:spcPts val="0"/>
              </a:spcAft>
            </a:pPr>
            <a:r>
              <a:rPr sz="1300" b="1">
                <a:solidFill>
                  <a:srgbClr val="2E7D32"/>
                </a:solidFill>
                <a:latin typeface="Arial"/>
              </a:rPr>
              <a:t>Regulation and policy</a:t>
            </a:r>
          </a:p>
        </p:txBody>
      </p:sp>
      <p:cxnSp>
        <p:nvCxnSpPr>
          <p:cNvPr id="8" name="Driver 1 arrow"/>
          <p:cNvCxnSpPr/>
          <p:nvPr/>
        </p:nvCxnSpPr>
        <p:spPr>
          <a:xfrm>
            <a:off x="3493008" y="1993391"/>
            <a:ext cx="438912" cy="0"/>
          </a:xfrm>
          <a:prstGeom prst="line">
            <a:avLst/>
          </a:prstGeom>
          <a:ln w="25400">
            <a:solidFill>
              <a:srgbClr val="2E7D32"/>
            </a:solidFill>
            <a:tailEnd type="triangle"/>
          </a:ln>
        </p:spPr>
        <p:style>
          <a:lnRef idx="2">
            <a:schemeClr val="accent1"/>
          </a:lnRef>
          <a:fillRef idx="0">
            <a:schemeClr val="accent1"/>
          </a:fillRef>
          <a:effectRef idx="1">
            <a:schemeClr val="accent1"/>
          </a:effectRef>
          <a:fontRef idx="minor">
            <a:schemeClr val="tx1"/>
          </a:fontRef>
        </p:style>
      </p:cxnSp>
      <p:sp>
        <p:nvSpPr>
          <p:cNvPr id="9" name="Impact 1"/>
          <p:cNvSpPr/>
          <p:nvPr/>
        </p:nvSpPr>
        <p:spPr>
          <a:xfrm>
            <a:off x="4005072" y="1737360"/>
            <a:ext cx="2788920" cy="512064"/>
          </a:xfrm>
          <a:prstGeom prst="roundRect">
            <a:avLst>
              <a:gd name="adj" fmla="val 12000"/>
            </a:avLst>
          </a:prstGeom>
          <a:solidFill>
            <a:srgbClr val="FFFFFF"/>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Impact 1 text"/>
          <p:cNvSpPr txBox="1"/>
          <p:nvPr/>
        </p:nvSpPr>
        <p:spPr>
          <a:xfrm>
            <a:off x="4142232" y="1737360"/>
            <a:ext cx="2560320" cy="512064"/>
          </a:xfrm>
          <a:prstGeom prst="rect">
            <a:avLst/>
          </a:prstGeom>
          <a:noFill/>
        </p:spPr>
        <p:txBody>
          <a:bodyPr wrap="square" lIns="0" tIns="0" rIns="0" bIns="0" anchor="ctr">
            <a:spAutoFit/>
          </a:bodyPr>
          <a:lstStyle/>
          <a:p>
            <a:pPr algn="l">
              <a:spcAft>
                <a:spcPts val="0"/>
              </a:spcAft>
            </a:pPr>
            <a:r>
              <a:rPr sz="1300" b="0">
                <a:solidFill>
                  <a:srgbClr val="131E29"/>
                </a:solidFill>
                <a:latin typeface="Arial"/>
              </a:rPr>
              <a:t>Stricter compliance and reporting</a:t>
            </a:r>
          </a:p>
        </p:txBody>
      </p:sp>
      <p:sp>
        <p:nvSpPr>
          <p:cNvPr id="11" name="Driver 2"/>
          <p:cNvSpPr/>
          <p:nvPr/>
        </p:nvSpPr>
        <p:spPr>
          <a:xfrm>
            <a:off x="813816" y="2340864"/>
            <a:ext cx="2606040" cy="512064"/>
          </a:xfrm>
          <a:prstGeom prst="roundRect">
            <a:avLst>
              <a:gd name="adj" fmla="val 12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river 2 text"/>
          <p:cNvSpPr txBox="1"/>
          <p:nvPr/>
        </p:nvSpPr>
        <p:spPr>
          <a:xfrm>
            <a:off x="960120" y="2340864"/>
            <a:ext cx="2377440" cy="512064"/>
          </a:xfrm>
          <a:prstGeom prst="rect">
            <a:avLst/>
          </a:prstGeom>
          <a:noFill/>
        </p:spPr>
        <p:txBody>
          <a:bodyPr wrap="square" lIns="0" tIns="0" rIns="0" bIns="0" anchor="ctr">
            <a:spAutoFit/>
          </a:bodyPr>
          <a:lstStyle/>
          <a:p>
            <a:pPr algn="l">
              <a:spcAft>
                <a:spcPts val="0"/>
              </a:spcAft>
            </a:pPr>
            <a:r>
              <a:rPr sz="1300" b="1">
                <a:solidFill>
                  <a:srgbClr val="A65F00"/>
                </a:solidFill>
                <a:latin typeface="Arial"/>
              </a:rPr>
              <a:t>Changing consumer demand</a:t>
            </a:r>
          </a:p>
        </p:txBody>
      </p:sp>
      <p:cxnSp>
        <p:nvCxnSpPr>
          <p:cNvPr id="13" name="Driver 2 arrow"/>
          <p:cNvCxnSpPr/>
          <p:nvPr/>
        </p:nvCxnSpPr>
        <p:spPr>
          <a:xfrm>
            <a:off x="3493008" y="2596896"/>
            <a:ext cx="438912" cy="0"/>
          </a:xfrm>
          <a:prstGeom prst="line">
            <a:avLst/>
          </a:prstGeom>
          <a:ln w="25400">
            <a:solidFill>
              <a:srgbClr val="A65F00"/>
            </a:solidFill>
            <a:tailEnd type="triangle"/>
          </a:ln>
        </p:spPr>
        <p:style>
          <a:lnRef idx="2">
            <a:schemeClr val="accent1"/>
          </a:lnRef>
          <a:fillRef idx="0">
            <a:schemeClr val="accent1"/>
          </a:fillRef>
          <a:effectRef idx="1">
            <a:schemeClr val="accent1"/>
          </a:effectRef>
          <a:fontRef idx="minor">
            <a:schemeClr val="tx1"/>
          </a:fontRef>
        </p:style>
      </p:cxnSp>
      <p:sp>
        <p:nvSpPr>
          <p:cNvPr id="14" name="Impact 2"/>
          <p:cNvSpPr/>
          <p:nvPr/>
        </p:nvSpPr>
        <p:spPr>
          <a:xfrm>
            <a:off x="4005072" y="2340864"/>
            <a:ext cx="2788920" cy="512064"/>
          </a:xfrm>
          <a:prstGeom prst="roundRect">
            <a:avLst>
              <a:gd name="adj" fmla="val 12000"/>
            </a:avLst>
          </a:prstGeom>
          <a:solidFill>
            <a:srgbClr val="FFFFFF"/>
          </a:solidFill>
          <a:ln w="15875">
            <a:solidFill>
              <a:srgbClr val="A65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mpact 2 text"/>
          <p:cNvSpPr txBox="1"/>
          <p:nvPr/>
        </p:nvSpPr>
        <p:spPr>
          <a:xfrm>
            <a:off x="4142232" y="2340864"/>
            <a:ext cx="2560320" cy="512064"/>
          </a:xfrm>
          <a:prstGeom prst="rect">
            <a:avLst/>
          </a:prstGeom>
          <a:noFill/>
        </p:spPr>
        <p:txBody>
          <a:bodyPr wrap="square" lIns="0" tIns="0" rIns="0" bIns="0" anchor="ctr">
            <a:spAutoFit/>
          </a:bodyPr>
          <a:lstStyle/>
          <a:p>
            <a:pPr algn="l">
              <a:spcAft>
                <a:spcPts val="0"/>
              </a:spcAft>
            </a:pPr>
            <a:r>
              <a:rPr sz="1300" b="0">
                <a:solidFill>
                  <a:srgbClr val="131E29"/>
                </a:solidFill>
                <a:latin typeface="Arial"/>
              </a:rPr>
              <a:t>Ethical and transparent sourcing</a:t>
            </a:r>
          </a:p>
        </p:txBody>
      </p:sp>
      <p:sp>
        <p:nvSpPr>
          <p:cNvPr id="16" name="Driver 3"/>
          <p:cNvSpPr/>
          <p:nvPr/>
        </p:nvSpPr>
        <p:spPr>
          <a:xfrm>
            <a:off x="813816" y="2944368"/>
            <a:ext cx="2606040" cy="512064"/>
          </a:xfrm>
          <a:prstGeom prst="roundRect">
            <a:avLst>
              <a:gd name="adj" fmla="val 12000"/>
            </a:avLst>
          </a:prstGeom>
          <a:solidFill>
            <a:srgbClr val="E6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Driver 3 text"/>
          <p:cNvSpPr txBox="1"/>
          <p:nvPr/>
        </p:nvSpPr>
        <p:spPr>
          <a:xfrm>
            <a:off x="960120" y="2944368"/>
            <a:ext cx="2377440" cy="512064"/>
          </a:xfrm>
          <a:prstGeom prst="rect">
            <a:avLst/>
          </a:prstGeom>
          <a:noFill/>
        </p:spPr>
        <p:txBody>
          <a:bodyPr wrap="square" lIns="0" tIns="0" rIns="0" bIns="0" anchor="ctr">
            <a:spAutoFit/>
          </a:bodyPr>
          <a:lstStyle/>
          <a:p>
            <a:pPr algn="l">
              <a:spcAft>
                <a:spcPts val="0"/>
              </a:spcAft>
            </a:pPr>
            <a:r>
              <a:rPr sz="1300" b="1">
                <a:solidFill>
                  <a:srgbClr val="005A8F"/>
                </a:solidFill>
                <a:latin typeface="Arial"/>
              </a:rPr>
              <a:t>Climate and resource risk</a:t>
            </a:r>
          </a:p>
        </p:txBody>
      </p:sp>
      <p:cxnSp>
        <p:nvCxnSpPr>
          <p:cNvPr id="18" name="Driver 3 arrow"/>
          <p:cNvCxnSpPr/>
          <p:nvPr/>
        </p:nvCxnSpPr>
        <p:spPr>
          <a:xfrm>
            <a:off x="3493008" y="3200400"/>
            <a:ext cx="438912" cy="0"/>
          </a:xfrm>
          <a:prstGeom prst="line">
            <a:avLst/>
          </a:prstGeom>
          <a:ln w="25400">
            <a:solidFill>
              <a:srgbClr val="005A8F"/>
            </a:solidFill>
            <a:tailEnd type="triangle"/>
          </a:ln>
        </p:spPr>
        <p:style>
          <a:lnRef idx="2">
            <a:schemeClr val="accent1"/>
          </a:lnRef>
          <a:fillRef idx="0">
            <a:schemeClr val="accent1"/>
          </a:fillRef>
          <a:effectRef idx="1">
            <a:schemeClr val="accent1"/>
          </a:effectRef>
          <a:fontRef idx="minor">
            <a:schemeClr val="tx1"/>
          </a:fontRef>
        </p:style>
      </p:cxnSp>
      <p:sp>
        <p:nvSpPr>
          <p:cNvPr id="19" name="Impact 3"/>
          <p:cNvSpPr/>
          <p:nvPr/>
        </p:nvSpPr>
        <p:spPr>
          <a:xfrm>
            <a:off x="4005072" y="2944368"/>
            <a:ext cx="2788920" cy="512064"/>
          </a:xfrm>
          <a:prstGeom prst="roundRect">
            <a:avLst>
              <a:gd name="adj" fmla="val 12000"/>
            </a:avLst>
          </a:prstGeom>
          <a:solidFill>
            <a:srgbClr val="FFFFFF"/>
          </a:solidFill>
          <a:ln w="15875">
            <a:solidFill>
              <a:srgbClr val="005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mpact 3 text"/>
          <p:cNvSpPr txBox="1"/>
          <p:nvPr/>
        </p:nvSpPr>
        <p:spPr>
          <a:xfrm>
            <a:off x="4142232" y="2944368"/>
            <a:ext cx="2560320" cy="512064"/>
          </a:xfrm>
          <a:prstGeom prst="rect">
            <a:avLst/>
          </a:prstGeom>
          <a:noFill/>
        </p:spPr>
        <p:txBody>
          <a:bodyPr wrap="square" lIns="0" tIns="0" rIns="0" bIns="0" anchor="ctr">
            <a:spAutoFit/>
          </a:bodyPr>
          <a:lstStyle/>
          <a:p>
            <a:pPr algn="l">
              <a:spcAft>
                <a:spcPts val="0"/>
              </a:spcAft>
            </a:pPr>
            <a:r>
              <a:rPr sz="1300" b="0">
                <a:solidFill>
                  <a:srgbClr val="131E29"/>
                </a:solidFill>
                <a:latin typeface="Arial"/>
              </a:rPr>
              <a:t>Resilient, low-carbon operations</a:t>
            </a:r>
          </a:p>
        </p:txBody>
      </p:sp>
      <p:sp>
        <p:nvSpPr>
          <p:cNvPr id="21" name="Driver 4"/>
          <p:cNvSpPr/>
          <p:nvPr/>
        </p:nvSpPr>
        <p:spPr>
          <a:xfrm>
            <a:off x="813816" y="3547872"/>
            <a:ext cx="2606040" cy="512064"/>
          </a:xfrm>
          <a:prstGeom prst="roundRect">
            <a:avLst>
              <a:gd name="adj" fmla="val 12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river 4 text"/>
          <p:cNvSpPr txBox="1"/>
          <p:nvPr/>
        </p:nvSpPr>
        <p:spPr>
          <a:xfrm>
            <a:off x="960120" y="3547872"/>
            <a:ext cx="2377440" cy="512064"/>
          </a:xfrm>
          <a:prstGeom prst="rect">
            <a:avLst/>
          </a:prstGeom>
          <a:noFill/>
        </p:spPr>
        <p:txBody>
          <a:bodyPr wrap="square" lIns="0" tIns="0" rIns="0" bIns="0" anchor="ctr">
            <a:spAutoFit/>
          </a:bodyPr>
          <a:lstStyle/>
          <a:p>
            <a:pPr algn="l">
              <a:spcAft>
                <a:spcPts val="0"/>
              </a:spcAft>
            </a:pPr>
            <a:r>
              <a:rPr sz="1300" b="1">
                <a:solidFill>
                  <a:srgbClr val="B4232F"/>
                </a:solidFill>
                <a:latin typeface="Arial"/>
              </a:rPr>
              <a:t>Geopolitical uncertainty</a:t>
            </a:r>
          </a:p>
        </p:txBody>
      </p:sp>
      <p:cxnSp>
        <p:nvCxnSpPr>
          <p:cNvPr id="23" name="Driver 4 arrow"/>
          <p:cNvCxnSpPr/>
          <p:nvPr/>
        </p:nvCxnSpPr>
        <p:spPr>
          <a:xfrm>
            <a:off x="3493008" y="3803904"/>
            <a:ext cx="438912" cy="0"/>
          </a:xfrm>
          <a:prstGeom prst="line">
            <a:avLst/>
          </a:prstGeom>
          <a:ln w="25400">
            <a:solidFill>
              <a:srgbClr val="B4232F"/>
            </a:solidFill>
            <a:tailEnd type="triangle"/>
          </a:ln>
        </p:spPr>
        <p:style>
          <a:lnRef idx="2">
            <a:schemeClr val="accent1"/>
          </a:lnRef>
          <a:fillRef idx="0">
            <a:schemeClr val="accent1"/>
          </a:fillRef>
          <a:effectRef idx="1">
            <a:schemeClr val="accent1"/>
          </a:effectRef>
          <a:fontRef idx="minor">
            <a:schemeClr val="tx1"/>
          </a:fontRef>
        </p:style>
      </p:cxnSp>
      <p:sp>
        <p:nvSpPr>
          <p:cNvPr id="24" name="Impact 4"/>
          <p:cNvSpPr/>
          <p:nvPr/>
        </p:nvSpPr>
        <p:spPr>
          <a:xfrm>
            <a:off x="4005072" y="3547872"/>
            <a:ext cx="2788920" cy="512064"/>
          </a:xfrm>
          <a:prstGeom prst="roundRect">
            <a:avLst>
              <a:gd name="adj" fmla="val 12000"/>
            </a:avLst>
          </a:prstGeom>
          <a:solidFill>
            <a:srgbClr val="FFFFFF"/>
          </a:solidFill>
          <a:ln w="15875">
            <a:solidFill>
              <a:srgbClr val="B423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Impact 4 text"/>
          <p:cNvSpPr txBox="1"/>
          <p:nvPr/>
        </p:nvSpPr>
        <p:spPr>
          <a:xfrm>
            <a:off x="4142232" y="3547872"/>
            <a:ext cx="2560320" cy="512064"/>
          </a:xfrm>
          <a:prstGeom prst="rect">
            <a:avLst/>
          </a:prstGeom>
          <a:noFill/>
        </p:spPr>
        <p:txBody>
          <a:bodyPr wrap="square" lIns="0" tIns="0" rIns="0" bIns="0" anchor="ctr">
            <a:spAutoFit/>
          </a:bodyPr>
          <a:lstStyle/>
          <a:p>
            <a:pPr algn="l">
              <a:spcAft>
                <a:spcPts val="0"/>
              </a:spcAft>
            </a:pPr>
            <a:r>
              <a:rPr sz="1300" b="0">
                <a:solidFill>
                  <a:srgbClr val="131E29"/>
                </a:solidFill>
                <a:latin typeface="Arial"/>
              </a:rPr>
              <a:t>Regional, redundant networks</a:t>
            </a:r>
          </a:p>
        </p:txBody>
      </p:sp>
      <p:sp>
        <p:nvSpPr>
          <p:cNvPr id="26" name="Driver 5"/>
          <p:cNvSpPr/>
          <p:nvPr/>
        </p:nvSpPr>
        <p:spPr>
          <a:xfrm>
            <a:off x="813816" y="4151376"/>
            <a:ext cx="2606040" cy="512064"/>
          </a:xfrm>
          <a:prstGeom prst="roundRect">
            <a:avLst>
              <a:gd name="adj" fmla="val 12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river 5 text"/>
          <p:cNvSpPr txBox="1"/>
          <p:nvPr/>
        </p:nvSpPr>
        <p:spPr>
          <a:xfrm>
            <a:off x="960120" y="4151376"/>
            <a:ext cx="2377440" cy="512064"/>
          </a:xfrm>
          <a:prstGeom prst="rect">
            <a:avLst/>
          </a:prstGeom>
          <a:noFill/>
        </p:spPr>
        <p:txBody>
          <a:bodyPr wrap="square" lIns="0" tIns="0" rIns="0" bIns="0" anchor="ctr">
            <a:spAutoFit/>
          </a:bodyPr>
          <a:lstStyle/>
          <a:p>
            <a:pPr algn="l">
              <a:spcAft>
                <a:spcPts val="0"/>
              </a:spcAft>
            </a:pPr>
            <a:r>
              <a:rPr sz="1300" b="1">
                <a:solidFill>
                  <a:srgbClr val="440099"/>
                </a:solidFill>
                <a:latin typeface="Arial"/>
              </a:rPr>
              <a:t>Technology</a:t>
            </a:r>
          </a:p>
        </p:txBody>
      </p:sp>
      <p:cxnSp>
        <p:nvCxnSpPr>
          <p:cNvPr id="28" name="Driver 5 arrow"/>
          <p:cNvCxnSpPr/>
          <p:nvPr/>
        </p:nvCxnSpPr>
        <p:spPr>
          <a:xfrm>
            <a:off x="3493008" y="4407408"/>
            <a:ext cx="438912" cy="0"/>
          </a:xfrm>
          <a:prstGeom prst="line">
            <a:avLst/>
          </a:prstGeom>
          <a:ln w="25400">
            <a:solidFill>
              <a:srgbClr val="440099"/>
            </a:solidFill>
            <a:tailEnd type="triangle"/>
          </a:ln>
        </p:spPr>
        <p:style>
          <a:lnRef idx="2">
            <a:schemeClr val="accent1"/>
          </a:lnRef>
          <a:fillRef idx="0">
            <a:schemeClr val="accent1"/>
          </a:fillRef>
          <a:effectRef idx="1">
            <a:schemeClr val="accent1"/>
          </a:effectRef>
          <a:fontRef idx="minor">
            <a:schemeClr val="tx1"/>
          </a:fontRef>
        </p:style>
      </p:cxnSp>
      <p:sp>
        <p:nvSpPr>
          <p:cNvPr id="29" name="Impact 5"/>
          <p:cNvSpPr/>
          <p:nvPr/>
        </p:nvSpPr>
        <p:spPr>
          <a:xfrm>
            <a:off x="4005072" y="4151376"/>
            <a:ext cx="2788920" cy="512064"/>
          </a:xfrm>
          <a:prstGeom prst="roundRect">
            <a:avLst>
              <a:gd name="adj" fmla="val 12000"/>
            </a:avLst>
          </a:prstGeom>
          <a:solidFill>
            <a:srgbClr val="FFFFFF"/>
          </a:solidFill>
          <a:ln w="15875">
            <a:solidFill>
              <a:srgbClr val="4400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Impact 5 text"/>
          <p:cNvSpPr txBox="1"/>
          <p:nvPr/>
        </p:nvSpPr>
        <p:spPr>
          <a:xfrm>
            <a:off x="4142232" y="4151376"/>
            <a:ext cx="2560320" cy="512064"/>
          </a:xfrm>
          <a:prstGeom prst="rect">
            <a:avLst/>
          </a:prstGeom>
          <a:noFill/>
        </p:spPr>
        <p:txBody>
          <a:bodyPr wrap="square" lIns="0" tIns="0" rIns="0" bIns="0" anchor="ctr">
            <a:spAutoFit/>
          </a:bodyPr>
          <a:lstStyle/>
          <a:p>
            <a:pPr algn="l">
              <a:spcAft>
                <a:spcPts val="0"/>
              </a:spcAft>
            </a:pPr>
            <a:r>
              <a:rPr sz="1300" b="0">
                <a:solidFill>
                  <a:srgbClr val="131E29"/>
                </a:solidFill>
                <a:latin typeface="Arial"/>
              </a:rPr>
              <a:t>Digital visibility and innovation</a:t>
            </a:r>
          </a:p>
        </p:txBody>
      </p:sp>
      <p:sp>
        <p:nvSpPr>
          <p:cNvPr id="31" name="Driver 6"/>
          <p:cNvSpPr/>
          <p:nvPr/>
        </p:nvSpPr>
        <p:spPr>
          <a:xfrm>
            <a:off x="813816" y="4754880"/>
            <a:ext cx="2606040" cy="512064"/>
          </a:xfrm>
          <a:prstGeom prst="roundRect">
            <a:avLst>
              <a:gd name="adj" fmla="val 12000"/>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river 6 text"/>
          <p:cNvSpPr txBox="1"/>
          <p:nvPr/>
        </p:nvSpPr>
        <p:spPr>
          <a:xfrm>
            <a:off x="960120" y="4754880"/>
            <a:ext cx="2377440" cy="512064"/>
          </a:xfrm>
          <a:prstGeom prst="rect">
            <a:avLst/>
          </a:prstGeom>
          <a:noFill/>
        </p:spPr>
        <p:txBody>
          <a:bodyPr wrap="square" lIns="0" tIns="0" rIns="0" bIns="0" anchor="ctr">
            <a:spAutoFit/>
          </a:bodyPr>
          <a:lstStyle/>
          <a:p>
            <a:pPr algn="l">
              <a:spcAft>
                <a:spcPts val="0"/>
              </a:spcAft>
            </a:pPr>
            <a:r>
              <a:rPr sz="1300" b="1">
                <a:solidFill>
                  <a:srgbClr val="5E6977"/>
                </a:solidFill>
                <a:latin typeface="Arial"/>
              </a:rPr>
              <a:t>Circular economy</a:t>
            </a:r>
          </a:p>
        </p:txBody>
      </p:sp>
      <p:cxnSp>
        <p:nvCxnSpPr>
          <p:cNvPr id="33" name="Driver 6 arrow"/>
          <p:cNvCxnSpPr/>
          <p:nvPr/>
        </p:nvCxnSpPr>
        <p:spPr>
          <a:xfrm>
            <a:off x="3493008" y="5010912"/>
            <a:ext cx="438912" cy="0"/>
          </a:xfrm>
          <a:prstGeom prst="line">
            <a:avLst/>
          </a:prstGeom>
          <a:ln w="25400">
            <a:solidFill>
              <a:srgbClr val="5E6977"/>
            </a:solidFill>
            <a:tailEnd type="triangle"/>
          </a:ln>
        </p:spPr>
        <p:style>
          <a:lnRef idx="2">
            <a:schemeClr val="accent1"/>
          </a:lnRef>
          <a:fillRef idx="0">
            <a:schemeClr val="accent1"/>
          </a:fillRef>
          <a:effectRef idx="1">
            <a:schemeClr val="accent1"/>
          </a:effectRef>
          <a:fontRef idx="minor">
            <a:schemeClr val="tx1"/>
          </a:fontRef>
        </p:style>
      </p:cxnSp>
      <p:sp>
        <p:nvSpPr>
          <p:cNvPr id="34" name="Impact 6"/>
          <p:cNvSpPr/>
          <p:nvPr/>
        </p:nvSpPr>
        <p:spPr>
          <a:xfrm>
            <a:off x="4005072" y="4754880"/>
            <a:ext cx="2788920" cy="512064"/>
          </a:xfrm>
          <a:prstGeom prst="roundRect">
            <a:avLst>
              <a:gd name="adj" fmla="val 12000"/>
            </a:avLst>
          </a:prstGeom>
          <a:solidFill>
            <a:srgbClr val="FFFFFF"/>
          </a:solidFill>
          <a:ln w="15875">
            <a:solidFill>
              <a:srgbClr val="5E69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Impact 6 text"/>
          <p:cNvSpPr txBox="1"/>
          <p:nvPr/>
        </p:nvSpPr>
        <p:spPr>
          <a:xfrm>
            <a:off x="4142232" y="4754880"/>
            <a:ext cx="2560320" cy="512064"/>
          </a:xfrm>
          <a:prstGeom prst="rect">
            <a:avLst/>
          </a:prstGeom>
          <a:noFill/>
        </p:spPr>
        <p:txBody>
          <a:bodyPr wrap="square" lIns="0" tIns="0" rIns="0" bIns="0" anchor="ctr">
            <a:spAutoFit/>
          </a:bodyPr>
          <a:lstStyle/>
          <a:p>
            <a:pPr algn="l">
              <a:spcAft>
                <a:spcPts val="0"/>
              </a:spcAft>
            </a:pPr>
            <a:r>
              <a:rPr sz="1300" b="0">
                <a:solidFill>
                  <a:srgbClr val="131E29"/>
                </a:solidFill>
                <a:latin typeface="Arial"/>
              </a:rPr>
              <a:t>Reuse, repair and reverse flows</a:t>
            </a:r>
          </a:p>
        </p:txBody>
      </p:sp>
      <p:sp>
        <p:nvSpPr>
          <p:cNvPr id="36" name="Policy card"/>
          <p:cNvSpPr/>
          <p:nvPr/>
        </p:nvSpPr>
        <p:spPr>
          <a:xfrm>
            <a:off x="7114032" y="1371600"/>
            <a:ext cx="4270248" cy="1901952"/>
          </a:xfrm>
          <a:prstGeom prst="roundRect">
            <a:avLst>
              <a:gd name="adj" fmla="val 4000"/>
            </a:avLst>
          </a:prstGeom>
          <a:solidFill>
            <a:srgbClr val="F4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olicy accent"/>
          <p:cNvSpPr/>
          <p:nvPr/>
        </p:nvSpPr>
        <p:spPr>
          <a:xfrm>
            <a:off x="7114032" y="1371600"/>
            <a:ext cx="73152" cy="1901952"/>
          </a:xfrm>
          <a:prstGeom prst="rect">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Policy text"/>
          <p:cNvSpPr txBox="1"/>
          <p:nvPr/>
        </p:nvSpPr>
        <p:spPr>
          <a:xfrm>
            <a:off x="7370064" y="1554480"/>
            <a:ext cx="3831335" cy="1627632"/>
          </a:xfrm>
          <a:prstGeom prst="rect">
            <a:avLst/>
          </a:prstGeom>
          <a:noFill/>
        </p:spPr>
        <p:txBody>
          <a:bodyPr wrap="square" lIns="0" tIns="0" rIns="0" bIns="0" anchor="t">
            <a:spAutoFit/>
          </a:bodyPr>
          <a:lstStyle/>
          <a:p>
            <a:pPr algn="l">
              <a:spcAft>
                <a:spcPts val="800"/>
              </a:spcAft>
            </a:pPr>
            <a:r>
              <a:rPr sz="1200" b="1">
                <a:solidFill>
                  <a:srgbClr val="440099"/>
                </a:solidFill>
                <a:latin typeface="Arial"/>
              </a:rPr>
              <a:t>POLICY NOW SHAPES THE CHAIN, NOT JUST MARKETS</a:t>
            </a:r>
          </a:p>
          <a:p>
            <a:pPr algn="l">
              <a:spcAft>
                <a:spcPts val="500"/>
              </a:spcAft>
            </a:pPr>
            <a:r>
              <a:rPr sz="1300" b="0">
                <a:solidFill>
                  <a:srgbClr val="131E29"/>
                </a:solidFill>
                <a:latin typeface="Arial"/>
              </a:rPr>
              <a:t>Carbon border adjustment mechanisms</a:t>
            </a:r>
          </a:p>
          <a:p>
            <a:pPr algn="l">
              <a:spcAft>
                <a:spcPts val="500"/>
              </a:spcAft>
            </a:pPr>
            <a:r>
              <a:rPr sz="1300" b="0">
                <a:solidFill>
                  <a:srgbClr val="131E29"/>
                </a:solidFill>
                <a:latin typeface="Arial"/>
              </a:rPr>
              <a:t>Due diligence and sustainability disclosure rules</a:t>
            </a:r>
          </a:p>
          <a:p>
            <a:pPr algn="l">
              <a:spcAft>
                <a:spcPts val="500"/>
              </a:spcAft>
            </a:pPr>
            <a:r>
              <a:rPr sz="1300" b="0">
                <a:solidFill>
                  <a:srgbClr val="131E29"/>
                </a:solidFill>
                <a:latin typeface="Arial"/>
              </a:rPr>
              <a:t>Food security and localisation incentives</a:t>
            </a:r>
          </a:p>
          <a:p>
            <a:pPr algn="l">
              <a:spcAft>
                <a:spcPts val="500"/>
              </a:spcAft>
            </a:pPr>
            <a:r>
              <a:rPr sz="1300" b="0">
                <a:solidFill>
                  <a:srgbClr val="131E29"/>
                </a:solidFill>
                <a:latin typeface="Arial"/>
              </a:rPr>
              <a:t>Industrial decarbonisation strategies</a:t>
            </a:r>
          </a:p>
        </p:txBody>
      </p:sp>
      <p:sp>
        <p:nvSpPr>
          <p:cNvPr id="39" name="Industry 5.0 card"/>
          <p:cNvSpPr/>
          <p:nvPr/>
        </p:nvSpPr>
        <p:spPr>
          <a:xfrm>
            <a:off x="7114032" y="3438144"/>
            <a:ext cx="4270248" cy="2011680"/>
          </a:xfrm>
          <a:prstGeom prst="roundRect">
            <a:avLst>
              <a:gd name="adj" fmla="val 4000"/>
            </a:avLst>
          </a:prstGeom>
          <a:solidFill>
            <a:srgbClr val="13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Industry 5.0 text"/>
          <p:cNvSpPr txBox="1"/>
          <p:nvPr/>
        </p:nvSpPr>
        <p:spPr>
          <a:xfrm>
            <a:off x="7342631" y="3584448"/>
            <a:ext cx="3886200" cy="1828800"/>
          </a:xfrm>
          <a:prstGeom prst="rect">
            <a:avLst/>
          </a:prstGeom>
          <a:noFill/>
        </p:spPr>
        <p:txBody>
          <a:bodyPr wrap="square" lIns="0" tIns="0" rIns="0" bIns="0" anchor="t">
            <a:spAutoFit/>
          </a:bodyPr>
          <a:lstStyle/>
          <a:p>
            <a:pPr algn="l">
              <a:spcAft>
                <a:spcPts val="600"/>
              </a:spcAft>
            </a:pPr>
            <a:r>
              <a:rPr sz="1200" b="1">
                <a:solidFill>
                  <a:srgbClr val="9ADBE8"/>
                </a:solidFill>
                <a:latin typeface="Arial"/>
              </a:rPr>
              <a:t>INDUSTRY 4.0 → INDUSTRY 5.0</a:t>
            </a:r>
          </a:p>
          <a:p>
            <a:pPr algn="l">
              <a:spcAft>
                <a:spcPts val="200"/>
              </a:spcAft>
            </a:pPr>
            <a:r>
              <a:rPr sz="1300" b="0">
                <a:solidFill>
                  <a:srgbClr val="E6DBF5"/>
                </a:solidFill>
                <a:latin typeface="Arial"/>
              </a:rPr>
              <a:t>From </a:t>
            </a:r>
            <a:r>
              <a:rPr sz="1300" b="1">
                <a:solidFill>
                  <a:srgbClr val="FFFFFF"/>
                </a:solidFill>
                <a:latin typeface="Arial"/>
              </a:rPr>
              <a:t>automation, digitalisation, efficiency</a:t>
            </a:r>
          </a:p>
          <a:p>
            <a:pPr algn="l">
              <a:spcAft>
                <a:spcPts val="800"/>
              </a:spcAft>
            </a:pPr>
            <a:r>
              <a:rPr sz="1300" b="0">
                <a:solidFill>
                  <a:srgbClr val="E6DBF5"/>
                </a:solidFill>
                <a:latin typeface="Arial"/>
              </a:rPr>
              <a:t>to </a:t>
            </a:r>
            <a:r>
              <a:rPr sz="1300" b="1">
                <a:solidFill>
                  <a:srgbClr val="FFFFFF"/>
                </a:solidFill>
                <a:latin typeface="Arial"/>
              </a:rPr>
              <a:t>human-centric, sustainable, resilient</a:t>
            </a:r>
          </a:p>
          <a:p>
            <a:pPr algn="l">
              <a:spcAft>
                <a:spcPts val="0"/>
              </a:spcAft>
            </a:pPr>
            <a:r>
              <a:rPr sz="1200" b="1">
                <a:solidFill>
                  <a:srgbClr val="9ADBE8"/>
                </a:solidFill>
                <a:latin typeface="Arial"/>
              </a:rPr>
              <a:t>Human–AI collaboration: </a:t>
            </a:r>
            <a:r>
              <a:rPr sz="1200" b="0">
                <a:solidFill>
                  <a:srgbClr val="FFFFFF"/>
                </a:solidFill>
                <a:latin typeface="Arial"/>
              </a:rPr>
              <a:t>cobots, digital twins for network planning, AI-assisted decisions, cyber-physical production, sustainable manufacturing</a:t>
            </a:r>
          </a:p>
        </p:txBody>
      </p:sp>
      <p:sp>
        <p:nvSpPr>
          <p:cNvPr id="41" name="Callout"/>
          <p:cNvSpPr/>
          <p:nvPr/>
        </p:nvSpPr>
        <p:spPr>
          <a:xfrm>
            <a:off x="813816" y="5596128"/>
            <a:ext cx="10570464" cy="548640"/>
          </a:xfrm>
          <a:prstGeom prst="roundRect">
            <a:avLst>
              <a:gd name="adj" fmla="val 15000"/>
            </a:avLst>
          </a:prstGeom>
          <a:solidFill>
            <a:srgbClr val="44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Callout text"/>
          <p:cNvSpPr txBox="1"/>
          <p:nvPr/>
        </p:nvSpPr>
        <p:spPr>
          <a:xfrm>
            <a:off x="1051560" y="5596128"/>
            <a:ext cx="10149840" cy="548640"/>
          </a:xfrm>
          <a:prstGeom prst="rect">
            <a:avLst/>
          </a:prstGeom>
          <a:noFill/>
        </p:spPr>
        <p:txBody>
          <a:bodyPr wrap="square" lIns="0" tIns="0" rIns="0" bIns="0" anchor="ctr">
            <a:spAutoFit/>
          </a:bodyPr>
          <a:lstStyle/>
          <a:p>
            <a:pPr algn="l">
              <a:spcAft>
                <a:spcPts val="0"/>
              </a:spcAft>
            </a:pPr>
            <a:r>
              <a:rPr sz="1600" b="1">
                <a:solidFill>
                  <a:srgbClr val="9ADBE8"/>
                </a:solidFill>
                <a:latin typeface="Arial"/>
              </a:rPr>
              <a:t>Think: </a:t>
            </a:r>
            <a:r>
              <a:rPr sz="1600" b="0">
                <a:solidFill>
                  <a:srgbClr val="FFFFFF"/>
                </a:solidFill>
                <a:latin typeface="Arial"/>
              </a:rPr>
              <a:t>which driver will matter most for the supply chain you hope to work in, and why?</a:t>
            </a:r>
          </a:p>
        </p:txBody>
      </p:sp>
      <p:sp>
        <p:nvSpPr>
          <p:cNvPr id="43" name="Source"/>
          <p:cNvSpPr txBox="1"/>
          <p:nvPr/>
        </p:nvSpPr>
        <p:spPr>
          <a:xfrm>
            <a:off x="813816" y="6291072"/>
            <a:ext cx="9052560" cy="237744"/>
          </a:xfrm>
          <a:prstGeom prst="rect">
            <a:avLst/>
          </a:prstGeom>
          <a:noFill/>
        </p:spPr>
        <p:txBody>
          <a:bodyPr wrap="square" lIns="0" tIns="0" rIns="0" bIns="0" anchor="t">
            <a:spAutoFit/>
          </a:bodyPr>
          <a:lstStyle/>
          <a:p>
            <a:pPr algn="l">
              <a:spcAft>
                <a:spcPts val="0"/>
              </a:spcAft>
            </a:pPr>
            <a:r>
              <a:rPr sz="1100" b="0">
                <a:solidFill>
                  <a:srgbClr val="5E6977"/>
                </a:solidFill>
                <a:latin typeface="Arial"/>
              </a:rPr>
              <a:t>Sources: Ivanov (2023); Modgil et al. (2025); Vann Yaroson et al. (2025)</a:t>
            </a:r>
          </a:p>
        </p:txBody>
      </p:sp>
      <p:sp>
        <p:nvSpPr>
          <p:cNvPr id="44" name="Page number"/>
          <p:cNvSpPr txBox="1"/>
          <p:nvPr/>
        </p:nvSpPr>
        <p:spPr>
          <a:xfrm>
            <a:off x="10058400" y="6291072"/>
            <a:ext cx="1316736" cy="237744"/>
          </a:xfrm>
          <a:prstGeom prst="rect">
            <a:avLst/>
          </a:prstGeom>
          <a:noFill/>
        </p:spPr>
        <p:txBody>
          <a:bodyPr wrap="square" lIns="0" tIns="0" rIns="0" bIns="0" anchor="t">
            <a:spAutoFit/>
          </a:bodyPr>
          <a:lstStyle/>
          <a:p>
            <a:pPr algn="r">
              <a:spcAft>
                <a:spcPts val="0"/>
              </a:spcAft>
            </a:pPr>
            <a:r>
              <a:rPr sz="1200" b="0">
                <a:solidFill>
                  <a:srgbClr val="5E6977"/>
                </a:solidFill>
                <a:latin typeface="Arial"/>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Why Supply Chains Matter for Operations Management</a:t>
            </a:r>
            <a:endParaRPr lang="en-US" sz="3000" dirty="0"/>
          </a:p>
        </p:txBody>
      </p:sp>
      <p:sp>
        <p:nvSpPr>
          <p:cNvPr id="4" name="Text 2"/>
          <p:cNvSpPr/>
          <p:nvPr/>
        </p:nvSpPr>
        <p:spPr>
          <a:xfrm>
            <a:off x="812800" y="1506606"/>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440099"/>
                </a:solidFill>
                <a:latin typeface="Arial" pitchFamily="34" charset="0"/>
                <a:ea typeface="Arial" pitchFamily="34" charset="-122"/>
                <a:cs typeface="Arial" pitchFamily="34" charset="-120"/>
              </a:rPr>
              <a:t>1</a:t>
            </a:r>
            <a:endParaRPr lang="en-US" sz="2000" dirty="0"/>
          </a:p>
        </p:txBody>
      </p:sp>
      <p:sp>
        <p:nvSpPr>
          <p:cNvPr id="5" name="Text 3"/>
          <p:cNvSpPr/>
          <p:nvPr/>
        </p:nvSpPr>
        <p:spPr>
          <a:xfrm>
            <a:off x="1397000" y="1426635"/>
            <a:ext cx="10281666"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31E29"/>
                </a:solidFill>
                <a:latin typeface="Arial" pitchFamily="34" charset="0"/>
                <a:ea typeface="Arial" pitchFamily="34" charset="-122"/>
                <a:cs typeface="Arial" pitchFamily="34" charset="-120"/>
              </a:rPr>
              <a:t>Most cost and performance sit outside the firm’s walls.</a:t>
            </a:r>
            <a:r>
              <a:rPr lang="en-US" sz="1400" dirty="0">
                <a:solidFill>
                  <a:srgbClr val="131E29"/>
                </a:solidFill>
                <a:latin typeface="Arial" pitchFamily="34" charset="0"/>
                <a:ea typeface="Arial" pitchFamily="34" charset="-122"/>
                <a:cs typeface="Arial" pitchFamily="34" charset="-120"/>
              </a:rPr>
              <a:t> Bought-in inputs and logistics drive much of what customers experience.</a:t>
            </a:r>
            <a:endParaRPr lang="en-US" sz="1450" dirty="0"/>
          </a:p>
        </p:txBody>
      </p:sp>
      <p:sp>
        <p:nvSpPr>
          <p:cNvPr id="6" name="Text 4"/>
          <p:cNvSpPr/>
          <p:nvPr/>
        </p:nvSpPr>
        <p:spPr>
          <a:xfrm>
            <a:off x="812800" y="2149146"/>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440099"/>
                </a:solidFill>
                <a:latin typeface="Arial" pitchFamily="34" charset="0"/>
                <a:ea typeface="Arial" pitchFamily="34" charset="-122"/>
                <a:cs typeface="Arial" pitchFamily="34" charset="-120"/>
              </a:rPr>
              <a:t>2</a:t>
            </a:r>
            <a:endParaRPr lang="en-US" sz="2000" dirty="0"/>
          </a:p>
        </p:txBody>
      </p:sp>
      <p:sp>
        <p:nvSpPr>
          <p:cNvPr id="7" name="Text 5"/>
          <p:cNvSpPr/>
          <p:nvPr/>
        </p:nvSpPr>
        <p:spPr>
          <a:xfrm>
            <a:off x="1397000" y="2069176"/>
            <a:ext cx="10281666"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31E29"/>
                </a:solidFill>
                <a:latin typeface="Arial" pitchFamily="34" charset="0"/>
                <a:ea typeface="Arial" pitchFamily="34" charset="-122"/>
                <a:cs typeface="Arial" pitchFamily="34" charset="-120"/>
              </a:rPr>
              <a:t>It shapes competitiveness, not just efficiency.</a:t>
            </a:r>
            <a:r>
              <a:rPr lang="en-US" sz="1400" dirty="0">
                <a:solidFill>
                  <a:srgbClr val="131E29"/>
                </a:solidFill>
                <a:latin typeface="Arial" pitchFamily="34" charset="0"/>
                <a:ea typeface="Arial" pitchFamily="34" charset="-122"/>
                <a:cs typeface="Arial" pitchFamily="34" charset="-120"/>
              </a:rPr>
              <a:t> Understanding suppliers’ suppliers and customers’ customers explains why immediate partners behave as they do.</a:t>
            </a:r>
            <a:endParaRPr lang="en-US" sz="1450" dirty="0"/>
          </a:p>
        </p:txBody>
      </p:sp>
      <p:sp>
        <p:nvSpPr>
          <p:cNvPr id="8" name="Text 6"/>
          <p:cNvSpPr/>
          <p:nvPr/>
        </p:nvSpPr>
        <p:spPr>
          <a:xfrm>
            <a:off x="812800" y="2791687"/>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440099"/>
                </a:solidFill>
                <a:latin typeface="Arial" pitchFamily="34" charset="0"/>
                <a:ea typeface="Arial" pitchFamily="34" charset="-122"/>
                <a:cs typeface="Arial" pitchFamily="34" charset="-120"/>
              </a:rPr>
              <a:t>3</a:t>
            </a:r>
            <a:endParaRPr lang="en-US" sz="2000" dirty="0"/>
          </a:p>
        </p:txBody>
      </p:sp>
      <p:sp>
        <p:nvSpPr>
          <p:cNvPr id="9" name="Text 7"/>
          <p:cNvSpPr/>
          <p:nvPr/>
        </p:nvSpPr>
        <p:spPr>
          <a:xfrm>
            <a:off x="1397000" y="2711717"/>
            <a:ext cx="10281666"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31E29"/>
                </a:solidFill>
                <a:latin typeface="Arial" pitchFamily="34" charset="0"/>
                <a:ea typeface="Arial" pitchFamily="34" charset="-122"/>
                <a:cs typeface="Arial" pitchFamily="34" charset="-120"/>
              </a:rPr>
              <a:t>Not all links matter equally.</a:t>
            </a:r>
            <a:r>
              <a:rPr lang="en-US" sz="1400" dirty="0">
                <a:solidFill>
                  <a:srgbClr val="131E29"/>
                </a:solidFill>
                <a:latin typeface="Arial" pitchFamily="34" charset="0"/>
                <a:ea typeface="Arial" pitchFamily="34" charset="-122"/>
                <a:cs typeface="Arial" pitchFamily="34" charset="-120"/>
              </a:rPr>
              <a:t> Some operations have outsized influence on what the end customer values; managers must find them.</a:t>
            </a:r>
            <a:endParaRPr lang="en-US" sz="1450" dirty="0"/>
          </a:p>
        </p:txBody>
      </p:sp>
      <p:sp>
        <p:nvSpPr>
          <p:cNvPr id="10" name="Text 8"/>
          <p:cNvSpPr/>
          <p:nvPr/>
        </p:nvSpPr>
        <p:spPr>
          <a:xfrm>
            <a:off x="812800" y="343422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440099"/>
                </a:solidFill>
                <a:latin typeface="Arial" pitchFamily="34" charset="0"/>
                <a:ea typeface="Arial" pitchFamily="34" charset="-122"/>
                <a:cs typeface="Arial" pitchFamily="34" charset="-120"/>
              </a:rPr>
              <a:t>4</a:t>
            </a:r>
            <a:endParaRPr lang="en-US" sz="2000" dirty="0"/>
          </a:p>
        </p:txBody>
      </p:sp>
      <p:sp>
        <p:nvSpPr>
          <p:cNvPr id="11" name="Text 9"/>
          <p:cNvSpPr/>
          <p:nvPr/>
        </p:nvSpPr>
        <p:spPr>
          <a:xfrm>
            <a:off x="1397000" y="3354257"/>
            <a:ext cx="10281666"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31E29"/>
                </a:solidFill>
                <a:latin typeface="Arial" pitchFamily="34" charset="0"/>
                <a:ea typeface="Arial" pitchFamily="34" charset="-122"/>
                <a:cs typeface="Arial" pitchFamily="34" charset="-120"/>
              </a:rPr>
              <a:t>It exposes long-term structural risk.</a:t>
            </a:r>
            <a:r>
              <a:rPr lang="en-US" sz="1400" dirty="0">
                <a:solidFill>
                  <a:srgbClr val="131E29"/>
                </a:solidFill>
                <a:latin typeface="Arial" pitchFamily="34" charset="0"/>
                <a:ea typeface="Arial" pitchFamily="34" charset="-122"/>
                <a:cs typeface="Arial" pitchFamily="34" charset="-120"/>
              </a:rPr>
              <a:t> Chains evolve: a link that once seemed secure can be bypassed, as retailers were by direct online sales.</a:t>
            </a:r>
            <a:endParaRPr lang="en-US" sz="1450" dirty="0"/>
          </a:p>
        </p:txBody>
      </p:sp>
      <p:sp>
        <p:nvSpPr>
          <p:cNvPr id="12" name="Text 10"/>
          <p:cNvSpPr/>
          <p:nvPr/>
        </p:nvSpPr>
        <p:spPr>
          <a:xfrm>
            <a:off x="812800" y="407676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440099"/>
                </a:solidFill>
                <a:latin typeface="Arial" pitchFamily="34" charset="0"/>
                <a:ea typeface="Arial" pitchFamily="34" charset="-122"/>
                <a:cs typeface="Arial" pitchFamily="34" charset="-120"/>
              </a:rPr>
              <a:t>5</a:t>
            </a:r>
            <a:endParaRPr lang="en-US" sz="2000" dirty="0"/>
          </a:p>
        </p:txBody>
      </p:sp>
      <p:sp>
        <p:nvSpPr>
          <p:cNvPr id="13" name="Text 11"/>
          <p:cNvSpPr/>
          <p:nvPr/>
        </p:nvSpPr>
        <p:spPr>
          <a:xfrm>
            <a:off x="1397000" y="3996798"/>
            <a:ext cx="10281666"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31E29"/>
                </a:solidFill>
                <a:latin typeface="Arial" pitchFamily="34" charset="0"/>
                <a:ea typeface="Arial" pitchFamily="34" charset="-122"/>
                <a:cs typeface="Arial" pitchFamily="34" charset="-120"/>
              </a:rPr>
              <a:t>It underpins the biggest strategic decisions.</a:t>
            </a:r>
            <a:r>
              <a:rPr lang="en-US" sz="1400" dirty="0">
                <a:solidFill>
                  <a:srgbClr val="131E29"/>
                </a:solidFill>
                <a:latin typeface="Arial" pitchFamily="34" charset="0"/>
                <a:ea typeface="Arial" pitchFamily="34" charset="-122"/>
                <a:cs typeface="Arial" pitchFamily="34" charset="-120"/>
              </a:rPr>
              <a:t> Network configuration, location and capacity are hard to reverse and set the context for everything else.</a:t>
            </a:r>
            <a:endParaRPr lang="en-US" sz="1450" dirty="0"/>
          </a:p>
        </p:txBody>
      </p:sp>
      <p:sp>
        <p:nvSpPr>
          <p:cNvPr id="14" name="Text 12"/>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Key Takeaways</a:t>
            </a:r>
            <a:endParaRPr lang="en-US" sz="3000" dirty="0"/>
          </a:p>
        </p:txBody>
      </p:sp>
      <p:sp>
        <p:nvSpPr>
          <p:cNvPr id="4" name="Shape 2"/>
          <p:cNvSpPr/>
          <p:nvPr/>
        </p:nvSpPr>
        <p:spPr>
          <a:xfrm>
            <a:off x="819150" y="1458392"/>
            <a:ext cx="5181600" cy="1252141"/>
          </a:xfrm>
          <a:prstGeom prst="roundRect">
            <a:avLst>
              <a:gd name="adj" fmla="val 5578"/>
            </a:avLst>
          </a:prstGeom>
          <a:solidFill>
            <a:srgbClr val="F4EFFA"/>
          </a:solidFill>
          <a:ln w="12700">
            <a:solidFill>
              <a:srgbClr val="440099"/>
            </a:solidFill>
            <a:prstDash val="solid"/>
          </a:ln>
        </p:spPr>
        <p:txBody>
          <a:bodyPr/>
          <a:lstStyle/>
          <a:p>
            <a:endParaRPr lang="en-GB"/>
          </a:p>
        </p:txBody>
      </p:sp>
      <p:sp>
        <p:nvSpPr>
          <p:cNvPr id="5" name="Text 3"/>
          <p:cNvSpPr/>
          <p:nvPr/>
        </p:nvSpPr>
        <p:spPr>
          <a:xfrm>
            <a:off x="1028700" y="1667942"/>
            <a:ext cx="4905375"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440099"/>
                </a:solidFill>
                <a:latin typeface="Arial" pitchFamily="34" charset="0"/>
                <a:ea typeface="Arial" pitchFamily="34" charset="-122"/>
                <a:cs typeface="Arial" pitchFamily="34" charset="-120"/>
              </a:rPr>
              <a:t>OM and SCM are one system</a:t>
            </a:r>
            <a:endParaRPr lang="en-US" sz="1700" dirty="0"/>
          </a:p>
        </p:txBody>
      </p:sp>
      <p:sp>
        <p:nvSpPr>
          <p:cNvPr id="6" name="Text 4"/>
          <p:cNvSpPr/>
          <p:nvPr/>
        </p:nvSpPr>
        <p:spPr>
          <a:xfrm>
            <a:off x="1028700" y="2003177"/>
            <a:ext cx="490537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An operation performs only as well as the chain that feeds and serves it.</a:t>
            </a:r>
            <a:endParaRPr lang="en-US" sz="1400" dirty="0"/>
          </a:p>
        </p:txBody>
      </p:sp>
      <p:sp>
        <p:nvSpPr>
          <p:cNvPr id="7" name="Shape 5"/>
          <p:cNvSpPr/>
          <p:nvPr/>
        </p:nvSpPr>
        <p:spPr>
          <a:xfrm>
            <a:off x="6191250" y="1458392"/>
            <a:ext cx="5181600" cy="1252141"/>
          </a:xfrm>
          <a:prstGeom prst="roundRect">
            <a:avLst>
              <a:gd name="adj" fmla="val 5578"/>
            </a:avLst>
          </a:prstGeom>
          <a:solidFill>
            <a:srgbClr val="F4EFFA"/>
          </a:solidFill>
          <a:ln w="12700">
            <a:solidFill>
              <a:srgbClr val="440099"/>
            </a:solidFill>
            <a:prstDash val="solid"/>
          </a:ln>
        </p:spPr>
        <p:txBody>
          <a:bodyPr/>
          <a:lstStyle/>
          <a:p>
            <a:endParaRPr lang="en-GB"/>
          </a:p>
        </p:txBody>
      </p:sp>
      <p:sp>
        <p:nvSpPr>
          <p:cNvPr id="8" name="Text 6"/>
          <p:cNvSpPr/>
          <p:nvPr/>
        </p:nvSpPr>
        <p:spPr>
          <a:xfrm>
            <a:off x="6400800" y="1667942"/>
            <a:ext cx="4905375"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440099"/>
                </a:solidFill>
                <a:latin typeface="Arial" pitchFamily="34" charset="0"/>
                <a:ea typeface="Arial" pitchFamily="34" charset="-122"/>
                <a:cs typeface="Arial" pitchFamily="34" charset="-120"/>
              </a:rPr>
              <a:t>Decisions are strategic</a:t>
            </a:r>
            <a:endParaRPr lang="en-US" sz="1700" dirty="0"/>
          </a:p>
        </p:txBody>
      </p:sp>
      <p:sp>
        <p:nvSpPr>
          <p:cNvPr id="9" name="Text 7"/>
          <p:cNvSpPr/>
          <p:nvPr/>
        </p:nvSpPr>
        <p:spPr>
          <a:xfrm>
            <a:off x="6400800" y="2003177"/>
            <a:ext cx="490537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Configuration, location, sourcing and capacity lock in cost and risk for years.</a:t>
            </a:r>
            <a:endParaRPr lang="en-US" sz="1400" dirty="0"/>
          </a:p>
        </p:txBody>
      </p:sp>
      <p:sp>
        <p:nvSpPr>
          <p:cNvPr id="10" name="Shape 8"/>
          <p:cNvSpPr/>
          <p:nvPr/>
        </p:nvSpPr>
        <p:spPr>
          <a:xfrm>
            <a:off x="819150" y="2901032"/>
            <a:ext cx="5181600" cy="1252141"/>
          </a:xfrm>
          <a:prstGeom prst="roundRect">
            <a:avLst>
              <a:gd name="adj" fmla="val 5578"/>
            </a:avLst>
          </a:prstGeom>
          <a:solidFill>
            <a:srgbClr val="F4EFFA"/>
          </a:solidFill>
          <a:ln w="12700">
            <a:solidFill>
              <a:srgbClr val="440099"/>
            </a:solidFill>
            <a:prstDash val="solid"/>
          </a:ln>
        </p:spPr>
        <p:txBody>
          <a:bodyPr/>
          <a:lstStyle/>
          <a:p>
            <a:endParaRPr lang="en-GB"/>
          </a:p>
        </p:txBody>
      </p:sp>
      <p:sp>
        <p:nvSpPr>
          <p:cNvPr id="11" name="Text 9"/>
          <p:cNvSpPr/>
          <p:nvPr/>
        </p:nvSpPr>
        <p:spPr>
          <a:xfrm>
            <a:off x="1028700" y="3110582"/>
            <a:ext cx="4905375"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440099"/>
                </a:solidFill>
                <a:latin typeface="Arial" pitchFamily="34" charset="0"/>
                <a:ea typeface="Arial" pitchFamily="34" charset="-122"/>
                <a:cs typeface="Arial" pitchFamily="34" charset="-120"/>
              </a:rPr>
              <a:t>Failure can be rational</a:t>
            </a:r>
            <a:endParaRPr lang="en-US" sz="1700" dirty="0"/>
          </a:p>
        </p:txBody>
      </p:sp>
      <p:sp>
        <p:nvSpPr>
          <p:cNvPr id="12" name="Text 10"/>
          <p:cNvSpPr/>
          <p:nvPr/>
        </p:nvSpPr>
        <p:spPr>
          <a:xfrm>
            <a:off x="1028700" y="3445818"/>
            <a:ext cx="490537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The bullwhip has competing explanations; if power drives it, data sharing alone will not fix it.</a:t>
            </a:r>
            <a:endParaRPr lang="en-US" sz="1400" dirty="0"/>
          </a:p>
        </p:txBody>
      </p:sp>
      <p:sp>
        <p:nvSpPr>
          <p:cNvPr id="13" name="Shape 11"/>
          <p:cNvSpPr/>
          <p:nvPr/>
        </p:nvSpPr>
        <p:spPr>
          <a:xfrm>
            <a:off x="6191250" y="2901032"/>
            <a:ext cx="5181600" cy="1252141"/>
          </a:xfrm>
          <a:prstGeom prst="roundRect">
            <a:avLst>
              <a:gd name="adj" fmla="val 5578"/>
            </a:avLst>
          </a:prstGeom>
          <a:solidFill>
            <a:srgbClr val="F4EFFA"/>
          </a:solidFill>
          <a:ln w="12700">
            <a:solidFill>
              <a:srgbClr val="440099"/>
            </a:solidFill>
            <a:prstDash val="solid"/>
          </a:ln>
        </p:spPr>
        <p:txBody>
          <a:bodyPr/>
          <a:lstStyle/>
          <a:p>
            <a:endParaRPr lang="en-GB"/>
          </a:p>
        </p:txBody>
      </p:sp>
      <p:sp>
        <p:nvSpPr>
          <p:cNvPr id="14" name="Text 12"/>
          <p:cNvSpPr/>
          <p:nvPr/>
        </p:nvSpPr>
        <p:spPr>
          <a:xfrm>
            <a:off x="6400800" y="3110582"/>
            <a:ext cx="4905375" cy="284427"/>
          </a:xfrm>
          <a:prstGeom prst="rect">
            <a:avLst/>
          </a:prstGeom>
          <a:noFill/>
          <a:ln/>
        </p:spPr>
        <p:txBody>
          <a:bodyPr wrap="square" lIns="0" tIns="0" rIns="0" bIns="0" rtlCol="0" anchor="t">
            <a:normAutofit/>
          </a:bodyPr>
          <a:lstStyle/>
          <a:p>
            <a:pPr marL="0" indent="0" algn="l">
              <a:lnSpc>
                <a:spcPts val="2040"/>
              </a:lnSpc>
              <a:buNone/>
            </a:pPr>
            <a:r>
              <a:rPr lang="en-US" sz="1600" b="1" dirty="0">
                <a:solidFill>
                  <a:srgbClr val="440099"/>
                </a:solidFill>
                <a:latin typeface="Arial" pitchFamily="34" charset="0"/>
                <a:ea typeface="Arial" pitchFamily="34" charset="-122"/>
                <a:cs typeface="Arial" pitchFamily="34" charset="-120"/>
              </a:rPr>
              <a:t>Trade-offs are unavoidable</a:t>
            </a:r>
            <a:endParaRPr lang="en-US" sz="1700" dirty="0"/>
          </a:p>
        </p:txBody>
      </p:sp>
      <p:sp>
        <p:nvSpPr>
          <p:cNvPr id="15" name="Text 13"/>
          <p:cNvSpPr/>
          <p:nvPr/>
        </p:nvSpPr>
        <p:spPr>
          <a:xfrm>
            <a:off x="6400800" y="3445818"/>
            <a:ext cx="490537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1E29"/>
                </a:solidFill>
                <a:latin typeface="Arial" pitchFamily="34" charset="0"/>
                <a:ea typeface="Arial" pitchFamily="34" charset="-122"/>
                <a:cs typeface="Arial" pitchFamily="34" charset="-120"/>
              </a:rPr>
              <a:t>Resilience costs someone; deciding who pays is a strategic and policy choice.</a:t>
            </a:r>
            <a:endParaRPr lang="en-US" sz="1400" dirty="0"/>
          </a:p>
        </p:txBody>
      </p:sp>
      <p:sp>
        <p:nvSpPr>
          <p:cNvPr id="16" name="Text 14"/>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188508"/>
            <a:ext cx="10566400" cy="0"/>
          </a:xfrm>
          <a:prstGeom prst="line">
            <a:avLst/>
          </a:prstGeom>
          <a:noFill/>
          <a:ln w="19050">
            <a:solidFill>
              <a:srgbClr val="440099"/>
            </a:solidFill>
            <a:prstDash val="solid"/>
          </a:ln>
        </p:spPr>
        <p:txBody>
          <a:bodyPr/>
          <a:lstStyle/>
          <a:p>
            <a:endParaRPr lang="en-GB"/>
          </a:p>
        </p:txBody>
      </p:sp>
      <p:sp>
        <p:nvSpPr>
          <p:cNvPr id="3" name="Text 1"/>
          <p:cNvSpPr>
            <a:spLocks noGrp="1"/>
          </p:cNvSpPr>
          <p:nvPr>
            <p:ph type="title"/>
          </p:nvPr>
        </p:nvSpPr>
        <p:spPr>
          <a:xfrm>
            <a:off x="654304"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440099"/>
                </a:solidFill>
                <a:latin typeface="Arial" pitchFamily="34" charset="0"/>
                <a:ea typeface="Arial" pitchFamily="34" charset="-122"/>
                <a:cs typeface="Arial" pitchFamily="34" charset="-120"/>
              </a:rPr>
              <a:t>References</a:t>
            </a:r>
            <a:endParaRPr lang="en-US" sz="3000" dirty="0"/>
          </a:p>
        </p:txBody>
      </p:sp>
      <p:sp>
        <p:nvSpPr>
          <p:cNvPr id="4" name="Text 2"/>
          <p:cNvSpPr/>
          <p:nvPr/>
        </p:nvSpPr>
        <p:spPr>
          <a:xfrm>
            <a:off x="812800" y="1426642"/>
            <a:ext cx="5284724"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ASCM (2022) </a:t>
            </a:r>
            <a:r>
              <a:rPr lang="en-US" sz="1200" i="1" dirty="0">
                <a:solidFill>
                  <a:srgbClr val="131E29"/>
                </a:solidFill>
                <a:latin typeface="Arial" pitchFamily="34" charset="0"/>
                <a:ea typeface="Arial" pitchFamily="34" charset="-122"/>
                <a:cs typeface="Arial" pitchFamily="34" charset="-120"/>
              </a:rPr>
              <a:t>SCOR Digital Standard</a:t>
            </a:r>
            <a:r>
              <a:rPr lang="en-US" sz="1200" dirty="0">
                <a:solidFill>
                  <a:srgbClr val="131E29"/>
                </a:solidFill>
                <a:latin typeface="Arial" pitchFamily="34" charset="0"/>
                <a:ea typeface="Arial" pitchFamily="34" charset="-122"/>
                <a:cs typeface="Arial" pitchFamily="34" charset="-120"/>
              </a:rPr>
              <a:t>. Association for Supply Chain Management.</a:t>
            </a:r>
            <a:endParaRPr lang="en-US" sz="1200" dirty="0"/>
          </a:p>
        </p:txBody>
      </p:sp>
      <p:sp>
        <p:nvSpPr>
          <p:cNvPr id="5" name="Text 3"/>
          <p:cNvSpPr/>
          <p:nvPr/>
        </p:nvSpPr>
        <p:spPr>
          <a:xfrm>
            <a:off x="6248400" y="1426642"/>
            <a:ext cx="5284724"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Christopher, M. (1992) </a:t>
            </a:r>
            <a:r>
              <a:rPr lang="en-US" sz="1200" i="1" dirty="0">
                <a:solidFill>
                  <a:srgbClr val="131E29"/>
                </a:solidFill>
                <a:latin typeface="Arial" pitchFamily="34" charset="0"/>
                <a:ea typeface="Arial" pitchFamily="34" charset="-122"/>
                <a:cs typeface="Arial" pitchFamily="34" charset="-120"/>
              </a:rPr>
              <a:t>Logistics and Supply Chain Management</a:t>
            </a:r>
            <a:r>
              <a:rPr lang="en-US" sz="1200" dirty="0">
                <a:solidFill>
                  <a:srgbClr val="131E29"/>
                </a:solidFill>
                <a:latin typeface="Arial" pitchFamily="34" charset="0"/>
                <a:ea typeface="Arial" pitchFamily="34" charset="-122"/>
                <a:cs typeface="Arial" pitchFamily="34" charset="-120"/>
              </a:rPr>
              <a:t>. London: Pitman.</a:t>
            </a:r>
            <a:endParaRPr lang="en-US" sz="1200" dirty="0"/>
          </a:p>
        </p:txBody>
      </p:sp>
      <p:sp>
        <p:nvSpPr>
          <p:cNvPr id="6" name="Text 4"/>
          <p:cNvSpPr/>
          <p:nvPr/>
        </p:nvSpPr>
        <p:spPr>
          <a:xfrm>
            <a:off x="812800" y="1899047"/>
            <a:ext cx="5284724"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Christopher, M. and Peck, H. (2004) ‘Building the resilient supply chain’, </a:t>
            </a:r>
            <a:r>
              <a:rPr lang="en-US" sz="1200" i="1" dirty="0">
                <a:solidFill>
                  <a:srgbClr val="131E29"/>
                </a:solidFill>
                <a:latin typeface="Arial" pitchFamily="34" charset="0"/>
                <a:ea typeface="Arial" pitchFamily="34" charset="-122"/>
                <a:cs typeface="Arial" pitchFamily="34" charset="-120"/>
              </a:rPr>
              <a:t>IJLM</a:t>
            </a:r>
            <a:r>
              <a:rPr lang="en-US" sz="1200" dirty="0">
                <a:solidFill>
                  <a:srgbClr val="131E29"/>
                </a:solidFill>
                <a:latin typeface="Arial" pitchFamily="34" charset="0"/>
                <a:ea typeface="Arial" pitchFamily="34" charset="-122"/>
                <a:cs typeface="Arial" pitchFamily="34" charset="-120"/>
              </a:rPr>
              <a:t>, 15(2), pp. 1–14.</a:t>
            </a:r>
            <a:endParaRPr lang="en-US" sz="1200" dirty="0"/>
          </a:p>
        </p:txBody>
      </p:sp>
      <p:sp>
        <p:nvSpPr>
          <p:cNvPr id="7" name="Text 5"/>
          <p:cNvSpPr/>
          <p:nvPr/>
        </p:nvSpPr>
        <p:spPr>
          <a:xfrm>
            <a:off x="6248400" y="1899047"/>
            <a:ext cx="5284724"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Fisher, M.L. (1997) ‘What is the right supply chain for your product?’, </a:t>
            </a:r>
            <a:r>
              <a:rPr lang="en-US" sz="1200" i="1" dirty="0">
                <a:solidFill>
                  <a:srgbClr val="131E29"/>
                </a:solidFill>
                <a:latin typeface="Arial" pitchFamily="34" charset="0"/>
                <a:ea typeface="Arial" pitchFamily="34" charset="-122"/>
                <a:cs typeface="Arial" pitchFamily="34" charset="-120"/>
              </a:rPr>
              <a:t>Harvard Business Review</a:t>
            </a:r>
            <a:r>
              <a:rPr lang="en-US" sz="1200" dirty="0">
                <a:solidFill>
                  <a:srgbClr val="131E29"/>
                </a:solidFill>
                <a:latin typeface="Arial" pitchFamily="34" charset="0"/>
                <a:ea typeface="Arial" pitchFamily="34" charset="-122"/>
                <a:cs typeface="Arial" pitchFamily="34" charset="-120"/>
              </a:rPr>
              <a:t>, 75(2), pp. 105–116.</a:t>
            </a:r>
            <a:endParaRPr lang="en-US" sz="1200" dirty="0"/>
          </a:p>
        </p:txBody>
      </p:sp>
      <p:sp>
        <p:nvSpPr>
          <p:cNvPr id="8" name="Text 6"/>
          <p:cNvSpPr/>
          <p:nvPr/>
        </p:nvSpPr>
        <p:spPr>
          <a:xfrm>
            <a:off x="812800" y="2371477"/>
            <a:ext cx="5284724"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Lee, H.L., Padmanabhan, V. and Whang, S. (1997) ‘The bullwhip effect in supply chains’, </a:t>
            </a:r>
            <a:r>
              <a:rPr lang="en-US" sz="1200" i="1" dirty="0">
                <a:solidFill>
                  <a:srgbClr val="131E29"/>
                </a:solidFill>
                <a:latin typeface="Arial" pitchFamily="34" charset="0"/>
                <a:ea typeface="Arial" pitchFamily="34" charset="-122"/>
                <a:cs typeface="Arial" pitchFamily="34" charset="-120"/>
              </a:rPr>
              <a:t>Sloan Management Review</a:t>
            </a:r>
            <a:r>
              <a:rPr lang="en-US" sz="1200" dirty="0">
                <a:solidFill>
                  <a:srgbClr val="131E29"/>
                </a:solidFill>
                <a:latin typeface="Arial" pitchFamily="34" charset="0"/>
                <a:ea typeface="Arial" pitchFamily="34" charset="-122"/>
                <a:cs typeface="Arial" pitchFamily="34" charset="-120"/>
              </a:rPr>
              <a:t>, 38(3), pp. 93–102.</a:t>
            </a:r>
            <a:endParaRPr lang="en-US" sz="1200" dirty="0"/>
          </a:p>
        </p:txBody>
      </p:sp>
      <p:sp>
        <p:nvSpPr>
          <p:cNvPr id="9" name="Text 7"/>
          <p:cNvSpPr/>
          <p:nvPr/>
        </p:nvSpPr>
        <p:spPr>
          <a:xfrm>
            <a:off x="6248400" y="2371477"/>
            <a:ext cx="5284724"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León-Bravo, V. and Caniato, F. (2022), as cited in Lecture 1.</a:t>
            </a:r>
            <a:endParaRPr lang="en-US" sz="1200" dirty="0"/>
          </a:p>
        </p:txBody>
      </p:sp>
      <p:sp>
        <p:nvSpPr>
          <p:cNvPr id="10" name="Text 8"/>
          <p:cNvSpPr/>
          <p:nvPr/>
        </p:nvSpPr>
        <p:spPr>
          <a:xfrm>
            <a:off x="812800" y="2843882"/>
            <a:ext cx="5284724"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Mentzer, J.T. et al. (2001) ‘Defining supply chain management’, </a:t>
            </a:r>
            <a:r>
              <a:rPr lang="en-US" sz="1200" i="1" dirty="0">
                <a:solidFill>
                  <a:srgbClr val="131E29"/>
                </a:solidFill>
                <a:latin typeface="Arial" pitchFamily="34" charset="0"/>
                <a:ea typeface="Arial" pitchFamily="34" charset="-122"/>
                <a:cs typeface="Arial" pitchFamily="34" charset="-120"/>
              </a:rPr>
              <a:t>Journal of Business Logistics</a:t>
            </a:r>
            <a:r>
              <a:rPr lang="en-US" sz="1200" dirty="0">
                <a:solidFill>
                  <a:srgbClr val="131E29"/>
                </a:solidFill>
                <a:latin typeface="Arial" pitchFamily="34" charset="0"/>
                <a:ea typeface="Arial" pitchFamily="34" charset="-122"/>
                <a:cs typeface="Arial" pitchFamily="34" charset="-120"/>
              </a:rPr>
              <a:t>, 22(2), pp. 1–25.</a:t>
            </a:r>
            <a:endParaRPr lang="en-US" sz="1200" dirty="0"/>
          </a:p>
        </p:txBody>
      </p:sp>
      <p:sp>
        <p:nvSpPr>
          <p:cNvPr id="11" name="Text 9"/>
          <p:cNvSpPr/>
          <p:nvPr/>
        </p:nvSpPr>
        <p:spPr>
          <a:xfrm>
            <a:off x="6248400" y="2843882"/>
            <a:ext cx="5943600"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Perrow, C. (1999) </a:t>
            </a:r>
            <a:r>
              <a:rPr lang="en-US" sz="1200" i="1" dirty="0">
                <a:solidFill>
                  <a:srgbClr val="131E29"/>
                </a:solidFill>
                <a:latin typeface="Arial" pitchFamily="34" charset="0"/>
                <a:ea typeface="Arial" pitchFamily="34" charset="-122"/>
                <a:cs typeface="Arial" pitchFamily="34" charset="-120"/>
              </a:rPr>
              <a:t>Normal Accidents</a:t>
            </a:r>
            <a:r>
              <a:rPr lang="en-US" sz="1200" dirty="0">
                <a:solidFill>
                  <a:srgbClr val="131E29"/>
                </a:solidFill>
                <a:latin typeface="Arial" pitchFamily="34" charset="0"/>
                <a:ea typeface="Arial" pitchFamily="34" charset="-122"/>
                <a:cs typeface="Arial" pitchFamily="34" charset="-120"/>
              </a:rPr>
              <a:t>. Princeton: Princeton University Press.</a:t>
            </a:r>
            <a:endParaRPr lang="en-US" sz="1200" dirty="0"/>
          </a:p>
        </p:txBody>
      </p:sp>
      <p:sp>
        <p:nvSpPr>
          <p:cNvPr id="12" name="Text 10"/>
          <p:cNvSpPr/>
          <p:nvPr/>
        </p:nvSpPr>
        <p:spPr>
          <a:xfrm>
            <a:off x="812800" y="3316288"/>
            <a:ext cx="5284724"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Ponomarov, S.Y. and Holcomb, M.C. (2009) ‘Understanding the concept of supply chain resilience’, </a:t>
            </a:r>
            <a:r>
              <a:rPr lang="en-US" sz="1200" i="1" dirty="0">
                <a:solidFill>
                  <a:srgbClr val="131E29"/>
                </a:solidFill>
                <a:latin typeface="Arial" pitchFamily="34" charset="0"/>
                <a:ea typeface="Arial" pitchFamily="34" charset="-122"/>
                <a:cs typeface="Arial" pitchFamily="34" charset="-120"/>
              </a:rPr>
              <a:t>IJLM</a:t>
            </a:r>
            <a:r>
              <a:rPr lang="en-US" sz="1200" dirty="0">
                <a:solidFill>
                  <a:srgbClr val="131E29"/>
                </a:solidFill>
                <a:latin typeface="Arial" pitchFamily="34" charset="0"/>
                <a:ea typeface="Arial" pitchFamily="34" charset="-122"/>
                <a:cs typeface="Arial" pitchFamily="34" charset="-120"/>
              </a:rPr>
              <a:t>, 20(1), pp. 124–143.</a:t>
            </a:r>
            <a:endParaRPr lang="en-US" sz="1200" dirty="0"/>
          </a:p>
        </p:txBody>
      </p:sp>
      <p:sp>
        <p:nvSpPr>
          <p:cNvPr id="13" name="Text 11"/>
          <p:cNvSpPr/>
          <p:nvPr/>
        </p:nvSpPr>
        <p:spPr>
          <a:xfrm>
            <a:off x="6248400" y="3316288"/>
            <a:ext cx="5284724"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Seuring, S. and Müller, M. (2008) ‘From a literature review to a conceptual framework for sustainable supply chain management’, </a:t>
            </a:r>
            <a:r>
              <a:rPr lang="en-US" sz="1200" i="1" dirty="0">
                <a:solidFill>
                  <a:srgbClr val="131E29"/>
                </a:solidFill>
                <a:latin typeface="Arial" pitchFamily="34" charset="0"/>
                <a:ea typeface="Arial" pitchFamily="34" charset="-122"/>
                <a:cs typeface="Arial" pitchFamily="34" charset="-120"/>
              </a:rPr>
              <a:t>Journal of Cleaner Production</a:t>
            </a:r>
            <a:r>
              <a:rPr lang="en-US" sz="1200" dirty="0">
                <a:solidFill>
                  <a:srgbClr val="131E29"/>
                </a:solidFill>
                <a:latin typeface="Arial" pitchFamily="34" charset="0"/>
                <a:ea typeface="Arial" pitchFamily="34" charset="-122"/>
                <a:cs typeface="Arial" pitchFamily="34" charset="-120"/>
              </a:rPr>
              <a:t>, 16(15), pp. 1699–1710.</a:t>
            </a:r>
            <a:endParaRPr lang="en-US" sz="1200" dirty="0"/>
          </a:p>
        </p:txBody>
      </p:sp>
      <p:sp>
        <p:nvSpPr>
          <p:cNvPr id="14" name="Text 12"/>
          <p:cNvSpPr/>
          <p:nvPr/>
        </p:nvSpPr>
        <p:spPr>
          <a:xfrm>
            <a:off x="812800" y="3986808"/>
            <a:ext cx="5284724"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Slack, N., Brandon-Jones, A. and Burgess, N. (2022) </a:t>
            </a:r>
            <a:r>
              <a:rPr lang="en-US" sz="1200" i="1" dirty="0">
                <a:solidFill>
                  <a:srgbClr val="131E29"/>
                </a:solidFill>
                <a:latin typeface="Arial" pitchFamily="34" charset="0"/>
                <a:ea typeface="Arial" pitchFamily="34" charset="-122"/>
                <a:cs typeface="Arial" pitchFamily="34" charset="-120"/>
              </a:rPr>
              <a:t>Operations Management</a:t>
            </a:r>
            <a:r>
              <a:rPr lang="en-US" sz="1200" dirty="0">
                <a:solidFill>
                  <a:srgbClr val="131E29"/>
                </a:solidFill>
                <a:latin typeface="Arial" pitchFamily="34" charset="0"/>
                <a:ea typeface="Arial" pitchFamily="34" charset="-122"/>
                <a:cs typeface="Arial" pitchFamily="34" charset="-120"/>
              </a:rPr>
              <a:t>. 10th edn. Harlow: Pearson.</a:t>
            </a:r>
            <a:endParaRPr lang="en-US" sz="1200" dirty="0"/>
          </a:p>
        </p:txBody>
      </p:sp>
      <p:sp>
        <p:nvSpPr>
          <p:cNvPr id="15" name="Text 13"/>
          <p:cNvSpPr/>
          <p:nvPr/>
        </p:nvSpPr>
        <p:spPr>
          <a:xfrm>
            <a:off x="6248400" y="3986808"/>
            <a:ext cx="5284724"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Sterman, J.D. (1989) ‘Modeling managerial behavior: misperceptions of feedback in a dynamic decision making experiment’, </a:t>
            </a:r>
            <a:r>
              <a:rPr lang="en-US" sz="1200" i="1" dirty="0">
                <a:solidFill>
                  <a:srgbClr val="131E29"/>
                </a:solidFill>
                <a:latin typeface="Arial" pitchFamily="34" charset="0"/>
                <a:ea typeface="Arial" pitchFamily="34" charset="-122"/>
                <a:cs typeface="Arial" pitchFamily="34" charset="-120"/>
              </a:rPr>
              <a:t>Management Science</a:t>
            </a:r>
            <a:r>
              <a:rPr lang="en-US" sz="1200" dirty="0">
                <a:solidFill>
                  <a:srgbClr val="131E29"/>
                </a:solidFill>
                <a:latin typeface="Arial" pitchFamily="34" charset="0"/>
                <a:ea typeface="Arial" pitchFamily="34" charset="-122"/>
                <a:cs typeface="Arial" pitchFamily="34" charset="-120"/>
              </a:rPr>
              <a:t>, 35(3), pp. 321–339.</a:t>
            </a:r>
            <a:endParaRPr lang="en-US" sz="1200" dirty="0"/>
          </a:p>
        </p:txBody>
      </p:sp>
      <p:sp>
        <p:nvSpPr>
          <p:cNvPr id="16" name="Text 14"/>
          <p:cNvSpPr/>
          <p:nvPr/>
        </p:nvSpPr>
        <p:spPr>
          <a:xfrm>
            <a:off x="812800" y="4657328"/>
            <a:ext cx="5284724"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1E29"/>
                </a:solidFill>
                <a:latin typeface="Arial" pitchFamily="34" charset="0"/>
                <a:ea typeface="Arial" pitchFamily="34" charset="-122"/>
                <a:cs typeface="Arial" pitchFamily="34" charset="-120"/>
              </a:rPr>
              <a:t>Teece, D.J. (2007) ‘Explicating dynamic capabilities’, </a:t>
            </a:r>
            <a:r>
              <a:rPr lang="en-US" sz="1200" i="1" dirty="0">
                <a:solidFill>
                  <a:srgbClr val="131E29"/>
                </a:solidFill>
                <a:latin typeface="Arial" pitchFamily="34" charset="0"/>
                <a:ea typeface="Arial" pitchFamily="34" charset="-122"/>
                <a:cs typeface="Arial" pitchFamily="34" charset="-120"/>
              </a:rPr>
              <a:t>Strategic Management Journal</a:t>
            </a:r>
            <a:r>
              <a:rPr lang="en-US" sz="1200" dirty="0">
                <a:solidFill>
                  <a:srgbClr val="131E29"/>
                </a:solidFill>
                <a:latin typeface="Arial" pitchFamily="34" charset="0"/>
                <a:ea typeface="Arial" pitchFamily="34" charset="-122"/>
                <a:cs typeface="Arial" pitchFamily="34" charset="-120"/>
              </a:rPr>
              <a:t>, 28(13), pp. 1319–1350.</a:t>
            </a:r>
            <a:endParaRPr lang="en-US" sz="1200" dirty="0"/>
          </a:p>
        </p:txBody>
      </p:sp>
      <p:sp>
        <p:nvSpPr>
          <p:cNvPr id="17" name="Text 15"/>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Arial" pitchFamily="34" charset="0"/>
                <a:ea typeface="Arial" pitchFamily="34" charset="-122"/>
                <a:cs typeface="Arial"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0">
    <p:bg>
      <p:bgPr>
        <a:solidFill>
          <a:srgbClr val="F3F3F3"/>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3801269" y="2260600"/>
            <a:ext cx="4589463" cy="863600"/>
          </a:xfrm>
          <a:prstGeom prst="rect">
            <a:avLst/>
          </a:prstGeom>
          <a:noFill/>
          <a:ln/>
        </p:spPr>
        <p:txBody>
          <a:bodyPr wrap="square" lIns="0" tIns="0" rIns="0" bIns="0" rtlCol="0" anchor="t">
            <a:normAutofit/>
          </a:bodyPr>
          <a:lstStyle/>
          <a:p>
            <a:pPr marL="0" indent="0" algn="ctr">
              <a:lnSpc>
                <a:spcPts val="6600"/>
              </a:lnSpc>
              <a:buNone/>
            </a:pPr>
            <a:r>
              <a:rPr lang="en-US" sz="6000" b="1" i="0" dirty="0">
                <a:solidFill>
                  <a:srgbClr val="440099"/>
                </a:solidFill>
                <a:latin typeface="Arial" pitchFamily="34" charset="0"/>
                <a:ea typeface="Arial" pitchFamily="34" charset="-122"/>
                <a:cs typeface="Arial" pitchFamily="34" charset="-120"/>
              </a:rPr>
              <a:t>Thank You</a:t>
            </a:r>
            <a:endParaRPr lang="en-US" sz="6000" dirty="0"/>
          </a:p>
        </p:txBody>
      </p:sp>
      <p:sp>
        <p:nvSpPr>
          <p:cNvPr id="4" name="Text 1"/>
          <p:cNvSpPr/>
          <p:nvPr/>
        </p:nvSpPr>
        <p:spPr>
          <a:xfrm>
            <a:off x="5053886" y="3302000"/>
            <a:ext cx="2084229" cy="381000"/>
          </a:xfrm>
          <a:prstGeom prst="rect">
            <a:avLst/>
          </a:prstGeom>
          <a:noFill/>
          <a:ln/>
        </p:spPr>
        <p:txBody>
          <a:bodyPr wrap="square" lIns="0" tIns="0" rIns="0" bIns="0" rtlCol="0" anchor="t">
            <a:normAutofit/>
          </a:bodyPr>
          <a:lstStyle/>
          <a:p>
            <a:pPr marL="0" indent="0" algn="ctr">
              <a:lnSpc>
                <a:spcPts val="2800"/>
              </a:lnSpc>
              <a:buNone/>
            </a:pPr>
            <a:r>
              <a:rPr lang="en-US" sz="2000" dirty="0">
                <a:solidFill>
                  <a:srgbClr val="131E29"/>
                </a:solidFill>
                <a:latin typeface="Arial" pitchFamily="34" charset="0"/>
                <a:ea typeface="Arial" pitchFamily="34" charset="-122"/>
                <a:cs typeface="Arial" pitchFamily="34" charset="-120"/>
              </a:rPr>
              <a:t>Any questions?</a:t>
            </a:r>
            <a:endParaRPr lang="en-US" sz="2000" dirty="0"/>
          </a:p>
        </p:txBody>
      </p:sp>
      <p:sp>
        <p:nvSpPr>
          <p:cNvPr id="5" name="Text 2"/>
          <p:cNvSpPr/>
          <p:nvPr/>
        </p:nvSpPr>
        <p:spPr>
          <a:xfrm>
            <a:off x="4729487" y="3860800"/>
            <a:ext cx="2732961" cy="30982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440099"/>
                </a:solidFill>
                <a:latin typeface="Arial" pitchFamily="34" charset="0"/>
                <a:ea typeface="Arial" pitchFamily="34" charset="-122"/>
                <a:cs typeface="Arial" pitchFamily="34" charset="-120"/>
              </a:rPr>
              <a:t>Dr Emilia Vann Yaroson</a:t>
            </a:r>
            <a:endParaRPr lang="en-US" sz="1600" dirty="0"/>
          </a:p>
        </p:txBody>
      </p:sp>
      <p:sp>
        <p:nvSpPr>
          <p:cNvPr id="6" name="Text 3"/>
          <p:cNvSpPr/>
          <p:nvPr/>
        </p:nvSpPr>
        <p:spPr>
          <a:xfrm>
            <a:off x="4764088" y="4348435"/>
            <a:ext cx="2663825"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5E6977"/>
                </a:solidFill>
                <a:latin typeface="Arial" pitchFamily="34" charset="0"/>
                <a:ea typeface="Arial" pitchFamily="34" charset="-122"/>
                <a:cs typeface="Arial" pitchFamily="34" charset="-120"/>
              </a:rPr>
              <a:t>e.v.yaroson@sheffield.ac.uk</a:t>
            </a:r>
            <a:endParaRPr lang="en-US" sz="1400" dirty="0"/>
          </a:p>
        </p:txBody>
      </p:sp>
      <p:pic>
        <p:nvPicPr>
          <p:cNvPr id="7" name="Image 1" descr="University of Sheffield logo"/>
          <p:cNvPicPr>
            <a:picLocks noChangeAspect="1"/>
          </p:cNvPicPr>
          <p:nvPr/>
        </p:nvPicPr>
        <p:blipFill>
          <a:blip r:embed="rId4"/>
          <a:srcRect t="-235" b="-235"/>
          <a:stretch/>
        </p:blipFill>
        <p:spPr>
          <a:xfrm>
            <a:off x="812800" y="5588000"/>
            <a:ext cx="2667000" cy="812800"/>
          </a:xfrm>
          <a:prstGeom prst="rect">
            <a:avLst/>
          </a:prstGeom>
        </p:spPr>
      </p:pic>
      <p:pic>
        <p:nvPicPr>
          <p:cNvPr id="8" name="Image 2" descr="A World Top 100 University"/>
          <p:cNvPicPr>
            <a:picLocks noChangeAspect="1"/>
          </p:cNvPicPr>
          <p:nvPr/>
        </p:nvPicPr>
        <p:blipFill>
          <a:blip r:embed="rId5"/>
          <a:srcRect l="-338" r="-338"/>
          <a:stretch/>
        </p:blipFill>
        <p:spPr>
          <a:xfrm>
            <a:off x="9093200" y="5562600"/>
            <a:ext cx="2286000" cy="838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1958</TotalTime>
  <Words>8347</Words>
  <Application>Microsoft Office PowerPoint</Application>
  <PresentationFormat>Widescreen</PresentationFormat>
  <Paragraphs>693</Paragraphs>
  <Slides>42</Slides>
  <Notes>39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Aptos</vt:lpstr>
      <vt:lpstr>Aptos Display</vt:lpstr>
      <vt:lpstr>Arial</vt:lpstr>
      <vt:lpstr>Calibri</vt:lpstr>
      <vt:lpstr>Office Theme</vt:lpstr>
      <vt:lpstr>Supply Chain Management and its Role in Operations Management</vt:lpstr>
      <vt:lpstr>PowerPoint Presentation</vt:lpstr>
      <vt:lpstr>PowerPoint Presentation</vt:lpstr>
      <vt:lpstr>PowerPoint Presentation</vt:lpstr>
      <vt:lpstr>PowerPoint Presentation</vt:lpstr>
      <vt:lpstr>PowerPoint Presentation</vt:lpstr>
      <vt:lpstr>PowerPoint Presentation</vt:lpstr>
      <vt:lpstr>Learning Outcomes</vt:lpstr>
      <vt:lpstr>What is a Supply Chain?</vt:lpstr>
      <vt:lpstr>Recall: Let’s Make a Cup of Tea or Coffee</vt:lpstr>
      <vt:lpstr>OM and SCM: One System, Two Lenses</vt:lpstr>
      <vt:lpstr>PowerPoint Presentation</vt:lpstr>
      <vt:lpstr>PowerPoint Presentation</vt:lpstr>
      <vt:lpstr>The Supply Network Perspective</vt:lpstr>
      <vt:lpstr>Three Strategic Network Design Decisions</vt:lpstr>
      <vt:lpstr>Make or Buy? Outsourcing and Vertical Integration</vt:lpstr>
      <vt:lpstr>Sourcing: How Many Suppliers, and How Close?</vt:lpstr>
      <vt:lpstr>Matching the Supply Chain to the Product</vt:lpstr>
      <vt:lpstr>PowerPoint Presentation</vt:lpstr>
      <vt:lpstr>The Bullwhip Effect</vt:lpstr>
      <vt:lpstr>Why Does the Bullwhip Happen? Three Competing Explanations</vt:lpstr>
      <vt:lpstr>Bullwhip Causes Seen in the UK Medicines Supply Chain</vt:lpstr>
      <vt:lpstr>PowerPoint Presentation</vt:lpstr>
      <vt:lpstr>10-Minute Break</vt:lpstr>
      <vt:lpstr>Trade-offs in Supply Chains</vt:lpstr>
      <vt:lpstr>Spare capacity and buffer stock make medicines resilient but cost money. Who should pay?</vt:lpstr>
      <vt:lpstr>Supply Chain Disruptions</vt:lpstr>
      <vt:lpstr>PowerPoint Presentation</vt:lpstr>
      <vt:lpstr>PowerPoint Presentation</vt:lpstr>
      <vt:lpstr>PowerPoint Presentation</vt:lpstr>
      <vt:lpstr>Building Supply Chain Resilience</vt:lpstr>
      <vt:lpstr>PowerPoint Presentation</vt:lpstr>
      <vt:lpstr>PowerPoint Presentation</vt:lpstr>
      <vt:lpstr>PowerPoint Presentation</vt:lpstr>
      <vt:lpstr>PowerPoint Presentation</vt:lpstr>
      <vt:lpstr>Digital Tools That Connect Operations and Supply Chains</vt:lpstr>
      <vt:lpstr>PowerPoint Presentation</vt:lpstr>
      <vt:lpstr>PowerPoint Presentation</vt:lpstr>
      <vt:lpstr>Why Supply Chains Matter for Operations Management</vt:lpstr>
      <vt:lpstr>Key Takeaways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Management in Operations</dc:title>
  <dc:subject/>
  <dc:creator>Emilia Vann Yaroson</dc:creator>
  <cp:lastModifiedBy>Emilia Vann Yaroson</cp:lastModifiedBy>
  <cp:revision>11</cp:revision>
  <dcterms:created xsi:type="dcterms:W3CDTF">2026-10-26T10:18:06Z</dcterms:created>
  <dcterms:modified xsi:type="dcterms:W3CDTF">2026-10-27T19:54:54Z</dcterms:modified>
</cp:coreProperties>
</file>