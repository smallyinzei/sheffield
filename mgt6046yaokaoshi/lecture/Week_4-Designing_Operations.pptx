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87" r:id="rId2"/>
    <p:sldId id="319" r:id="rId3"/>
    <p:sldId id="318" r:id="rId4"/>
    <p:sldId id="301" r:id="rId5"/>
    <p:sldId id="320" r:id="rId6"/>
    <p:sldId id="321" r:id="rId7"/>
    <p:sldId id="322" r:id="rId8"/>
    <p:sldId id="323" r:id="rId9"/>
    <p:sldId id="324" r:id="rId10"/>
    <p:sldId id="325" r:id="rId11"/>
    <p:sldId id="326" r:id="rId12"/>
    <p:sldId id="327" r:id="rId13"/>
    <p:sldId id="314" r:id="rId14"/>
    <p:sldId id="373" r:id="rId15"/>
    <p:sldId id="316" r:id="rId16"/>
    <p:sldId id="261" r:id="rId17"/>
    <p:sldId id="317" r:id="rId18"/>
    <p:sldId id="260" r:id="rId19"/>
    <p:sldId id="374" r:id="rId20"/>
    <p:sldId id="330" r:id="rId21"/>
    <p:sldId id="264" r:id="rId22"/>
    <p:sldId id="332" r:id="rId23"/>
    <p:sldId id="333" r:id="rId24"/>
    <p:sldId id="337" r:id="rId25"/>
    <p:sldId id="367" r:id="rId26"/>
    <p:sldId id="340" r:id="rId27"/>
    <p:sldId id="341" r:id="rId28"/>
    <p:sldId id="342" r:id="rId29"/>
    <p:sldId id="384" r:id="rId30"/>
    <p:sldId id="382" r:id="rId31"/>
    <p:sldId id="343" r:id="rId32"/>
    <p:sldId id="345" r:id="rId33"/>
    <p:sldId id="349" r:id="rId34"/>
    <p:sldId id="350" r:id="rId35"/>
    <p:sldId id="351" r:id="rId36"/>
    <p:sldId id="362" r:id="rId37"/>
    <p:sldId id="376" r:id="rId38"/>
    <p:sldId id="377" r:id="rId39"/>
    <p:sldId id="379" r:id="rId40"/>
    <p:sldId id="380" r:id="rId41"/>
    <p:sldId id="378" r:id="rId42"/>
    <p:sldId id="381" r:id="rId43"/>
    <p:sldId id="375" r:id="rId44"/>
    <p:sldId id="383" r:id="rId45"/>
    <p:sldId id="37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4610"/>
  </p:normalViewPr>
  <p:slideViewPr>
    <p:cSldViewPr snapToGrid="0" snapToObjects="1">
      <p:cViewPr>
        <p:scale>
          <a:sx n="73" d="100"/>
          <a:sy n="73" d="100"/>
        </p:scale>
        <p:origin x="3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0093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7bb6d15d2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59" name="Google Shape;59;g37bb6d15d2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09D6386C-2092-23FD-DAAE-5899BEC734F4}"/>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C37607C8-A109-CF82-D73A-A6707B5E2A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
        <p:nvSpPr>
          <p:cNvPr id="64" name="Google Shape;64;g2e3367c67fa_0_21:notes">
            <a:extLst>
              <a:ext uri="{FF2B5EF4-FFF2-40B4-BE49-F238E27FC236}">
                <a16:creationId xmlns:a16="http://schemas.microsoft.com/office/drawing/2014/main" id="{A11393F9-0781-FC42-C524-EC105B67AD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56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29AB-3A7C-AE89-35EE-292200D8E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F01B0-4132-7B74-99AB-7EEBD5E62A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EFF676B-0829-0CC0-64B5-4AF468AF4C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54AEF6-ACA5-008A-F718-B20A4226A66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0573261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Answers: cycle time 2.5 min (Fill). Idle 1.0 + 0 + 0.5 + 0.3 = 1.8 min. Balancing loss 1.8 ÷ (2.5 × 4) = 18%. Output 60 ÷ 2.5 = 24 per hour.</a:t>
            </a:r>
          </a:p>
          <a:p>
            <a:r>
              <a:rPr lang="en-GB" dirty="0"/>
              <a:t>Rebalanced (1.8, 2.2, 2.0, 2.2): cycle time 2.2 min; idle 0.4 + 0 + 0.2 + 0 = 0.6; balancing loss 0.6 ÷ 8.8 = 6.8%; output 27.3 per hour (+14%).</a:t>
            </a:r>
          </a:p>
          <a:p>
            <a:r>
              <a:rPr lang="en-GB" dirty="0"/>
              <a:t>Key point: rebalancing work raised output by 14% without any new technology. Always ask what can be done before buying equipment.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00000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Compare with Slack’s resource-based classification on the previous slide: that one asks WHAT is transformed (materials, information, customers); this one asks WHAT JOB the technology does.</a:t>
            </a:r>
          </a:p>
          <a:p>
            <a:r>
              <a:rPr lang="en-GB" dirty="0"/>
              <a:t>Slack notes robots are “not always good at performing tasks which require delicate sensory feedback” (p. 229): tactile sensing is closing that gap, e.g. grippers that pick soft fruit.</a:t>
            </a:r>
          </a:p>
          <a:p>
            <a:r>
              <a:rPr lang="en-GB" dirty="0"/>
              <a:t>Wooclap idea: matching question. Match the technology to its function: machine vision → Sense; demand forecasting → Think; warehouse robot → Act; blockchain → Connect; self-checkout → Interact.</a:t>
            </a:r>
          </a:p>
          <a:p>
            <a:r>
              <a:rPr lang="en-GB" dirty="0"/>
              <a:t>Performance objectives shown are the main ones each group typically affects, for discussion.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500000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IBM, ‘What is artificial intelligence?’ and ‘What is agentic AI?’ (accessed 20 Oct 2026)</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5000002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IBM, ‘What is blockchain?’ (accessed 20 Oct 2026)</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500000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IBM, ‘What is a digital twin?’ (accessed 20 Oct 2026)</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500000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IBM, ‘What is big data analytics?’ (accessed 20 Oct 2026)</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500000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IBM, ‘What is quantum computing?’ (accessed 20 Oct 2026); arXiv:2305.07323</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500000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Discussion: ask students to identify the affected resource, the bottleneck and the most relevant performance objective before revealing the table.</a:t>
            </a:r>
          </a:p>
          <a:p>
            <a:r>
              <a:rPr lang="en-GB" dirty="0"/>
              <a:t>Performance-objective effects and KPIs are teaching interpretations to test, not measured benefits. Benefits depend on implementation, data quality and context.</a:t>
            </a:r>
          </a:p>
          <a:p>
            <a:r>
              <a:rPr lang="en-GB" dirty="0"/>
              <a:t>TOC check: does the technology relieve the system bottleneck? A local improvement may leave total throughput unchanged.</a:t>
            </a:r>
          </a:p>
          <a:p>
            <a:r>
              <a:rPr lang="en-GB" dirty="0"/>
              <a:t>The picture is an animated GIF: it plays in Slide Show mode (static in editing view and PDF).</a:t>
            </a:r>
          </a:p>
          <a:p>
            <a:r>
              <a:rPr lang="en-GB" dirty="0"/>
              <a:t>Concept source: NVIDIA, ‘What is the metaverse?’ (accessed 20 Oct 2026)</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500000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Ask students to challenge one rating with an example. Quantum is “potential” across the board because benefits are not yet proven at scale.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500000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 Title slide">
  <p:cSld name="1. Title slide">
    <p:bg>
      <p:bgPr>
        <a:solidFill>
          <a:srgbClr val="F3F3F3"/>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98000" y="334867"/>
            <a:ext cx="11189600" cy="23864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chemeClr val="dk2"/>
              </a:buClr>
              <a:buSzPts val="5400"/>
              <a:buFont typeface="Source Serif Pro"/>
              <a:buNone/>
              <a:defRPr sz="7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 name="Google Shape;11;p2"/>
          <p:cNvSpPr txBox="1">
            <a:spLocks noGrp="1"/>
          </p:cNvSpPr>
          <p:nvPr>
            <p:ph type="subTitle" idx="1"/>
          </p:nvPr>
        </p:nvSpPr>
        <p:spPr>
          <a:xfrm>
            <a:off x="434567" y="2822667"/>
            <a:ext cx="11152800" cy="15708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1"/>
              </a:buClr>
              <a:buSzPts val="2300"/>
              <a:buNone/>
              <a:defRPr sz="3067">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12" name="Google Shape;12;p2" descr="University of Sheffield logo"/>
          <p:cNvPicPr preferRelativeResize="0"/>
          <p:nvPr/>
        </p:nvPicPr>
        <p:blipFill>
          <a:blip r:embed="rId2">
            <a:alphaModFix/>
          </a:blip>
          <a:stretch>
            <a:fillRect/>
          </a:stretch>
        </p:blipFill>
        <p:spPr>
          <a:xfrm>
            <a:off x="550039" y="5746267"/>
            <a:ext cx="2418000" cy="733500"/>
          </a:xfrm>
          <a:prstGeom prst="rect">
            <a:avLst/>
          </a:prstGeom>
          <a:noFill/>
          <a:ln>
            <a:noFill/>
          </a:ln>
        </p:spPr>
      </p:pic>
      <p:pic>
        <p:nvPicPr>
          <p:cNvPr id="13" name="Google Shape;13;p2"/>
          <p:cNvPicPr preferRelativeResize="0"/>
          <p:nvPr/>
        </p:nvPicPr>
        <p:blipFill>
          <a:blip r:embed="rId3">
            <a:alphaModFix/>
          </a:blip>
          <a:stretch>
            <a:fillRect/>
          </a:stretch>
        </p:blipFill>
        <p:spPr>
          <a:xfrm>
            <a:off x="9590513" y="5798746"/>
            <a:ext cx="1993603" cy="735933"/>
          </a:xfrm>
          <a:prstGeom prst="rect">
            <a:avLst/>
          </a:prstGeom>
          <a:noFill/>
          <a:ln>
            <a:noFill/>
          </a:ln>
        </p:spPr>
      </p:pic>
    </p:spTree>
    <p:extLst>
      <p:ext uri="{BB962C8B-B14F-4D97-AF65-F5344CB8AC3E}">
        <p14:creationId xmlns:p14="http://schemas.microsoft.com/office/powerpoint/2010/main" val="182500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 Title text" type="blank">
  <p:cSld name="3. Title text">
    <p:bg>
      <p:bgPr>
        <a:solidFill>
          <a:srgbClr val="F3F3F3"/>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7400" y="233267"/>
            <a:ext cx="10673200" cy="985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2"/>
              </a:buClr>
              <a:buSzPts val="3000"/>
              <a:buFont typeface="Source Serif Pro"/>
              <a:buNone/>
              <a:defRPr sz="4000">
                <a:solidFill>
                  <a:schemeClr val="dk2"/>
                </a:solidFill>
                <a:latin typeface="Source Serif Pro"/>
                <a:ea typeface="Source Serif Pro"/>
                <a:cs typeface="Source Serif Pro"/>
                <a:sym typeface="Source Serif Pro"/>
              </a:defRPr>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cxnSp>
        <p:nvCxnSpPr>
          <p:cNvPr id="16" name="Google Shape;16;p3"/>
          <p:cNvCxnSpPr/>
          <p:nvPr/>
        </p:nvCxnSpPr>
        <p:spPr>
          <a:xfrm>
            <a:off x="506035" y="1068647"/>
            <a:ext cx="10933600" cy="0"/>
          </a:xfrm>
          <a:prstGeom prst="straightConnector1">
            <a:avLst/>
          </a:prstGeom>
          <a:noFill/>
          <a:ln w="9525" cap="flat" cmpd="sng">
            <a:solidFill>
              <a:schemeClr val="dk2"/>
            </a:solidFill>
            <a:prstDash val="solid"/>
            <a:round/>
            <a:headEnd type="none" w="med" len="med"/>
            <a:tailEnd type="none" w="med" len="med"/>
          </a:ln>
        </p:spPr>
      </p:cxnSp>
      <p:sp>
        <p:nvSpPr>
          <p:cNvPr id="17" name="Google Shape;17;p3"/>
          <p:cNvSpPr txBox="1">
            <a:spLocks noGrp="1"/>
          </p:cNvSpPr>
          <p:nvPr>
            <p:ph type="body" idx="1"/>
          </p:nvPr>
        </p:nvSpPr>
        <p:spPr>
          <a:xfrm>
            <a:off x="423600" y="1430933"/>
            <a:ext cx="11032400" cy="4717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11259112" y="6327635"/>
            <a:ext cx="731600" cy="524800"/>
          </a:xfrm>
          <a:prstGeom prst="rect">
            <a:avLst/>
          </a:prstGeom>
        </p:spPr>
        <p:txBody>
          <a:bodyPr spcFirstLastPara="1" wrap="square" lIns="91425" tIns="91425" rIns="91425" bIns="91425" anchor="t" anchorCtr="0">
            <a:noAutofit/>
          </a:bodyPr>
          <a:lstStyle>
            <a:lvl1pPr lvl="0" rtl="0">
              <a:buNone/>
              <a:defRPr sz="1733">
                <a:solidFill>
                  <a:schemeClr val="dk1"/>
                </a:solidFill>
                <a:latin typeface="Source Sans Pro"/>
                <a:ea typeface="Source Sans Pro"/>
                <a:cs typeface="Source Sans Pro"/>
                <a:sym typeface="Source Sans Pro"/>
              </a:defRPr>
            </a:lvl1pPr>
            <a:lvl2pPr lvl="1" rtl="0">
              <a:buNone/>
              <a:defRPr sz="1733">
                <a:solidFill>
                  <a:schemeClr val="dk1"/>
                </a:solidFill>
                <a:latin typeface="Source Sans Pro"/>
                <a:ea typeface="Source Sans Pro"/>
                <a:cs typeface="Source Sans Pro"/>
                <a:sym typeface="Source Sans Pro"/>
              </a:defRPr>
            </a:lvl2pPr>
            <a:lvl3pPr lvl="2" rtl="0">
              <a:buNone/>
              <a:defRPr sz="1733">
                <a:solidFill>
                  <a:schemeClr val="dk1"/>
                </a:solidFill>
                <a:latin typeface="Source Sans Pro"/>
                <a:ea typeface="Source Sans Pro"/>
                <a:cs typeface="Source Sans Pro"/>
                <a:sym typeface="Source Sans Pro"/>
              </a:defRPr>
            </a:lvl3pPr>
            <a:lvl4pPr lvl="3" rtl="0">
              <a:buNone/>
              <a:defRPr sz="1733">
                <a:solidFill>
                  <a:schemeClr val="dk1"/>
                </a:solidFill>
                <a:latin typeface="Source Sans Pro"/>
                <a:ea typeface="Source Sans Pro"/>
                <a:cs typeface="Source Sans Pro"/>
                <a:sym typeface="Source Sans Pro"/>
              </a:defRPr>
            </a:lvl4pPr>
            <a:lvl5pPr lvl="4" rtl="0">
              <a:buNone/>
              <a:defRPr sz="1733">
                <a:solidFill>
                  <a:schemeClr val="dk1"/>
                </a:solidFill>
                <a:latin typeface="Source Sans Pro"/>
                <a:ea typeface="Source Sans Pro"/>
                <a:cs typeface="Source Sans Pro"/>
                <a:sym typeface="Source Sans Pro"/>
              </a:defRPr>
            </a:lvl5pPr>
            <a:lvl6pPr lvl="5" rtl="0">
              <a:buNone/>
              <a:defRPr sz="1733">
                <a:solidFill>
                  <a:schemeClr val="dk1"/>
                </a:solidFill>
                <a:latin typeface="Source Sans Pro"/>
                <a:ea typeface="Source Sans Pro"/>
                <a:cs typeface="Source Sans Pro"/>
                <a:sym typeface="Source Sans Pro"/>
              </a:defRPr>
            </a:lvl6pPr>
            <a:lvl7pPr lvl="6" rtl="0">
              <a:buNone/>
              <a:defRPr sz="1733">
                <a:solidFill>
                  <a:schemeClr val="dk1"/>
                </a:solidFill>
                <a:latin typeface="Source Sans Pro"/>
                <a:ea typeface="Source Sans Pro"/>
                <a:cs typeface="Source Sans Pro"/>
                <a:sym typeface="Source Sans Pro"/>
              </a:defRPr>
            </a:lvl7pPr>
            <a:lvl8pPr lvl="7" rtl="0">
              <a:buNone/>
              <a:defRPr sz="1733">
                <a:solidFill>
                  <a:schemeClr val="dk1"/>
                </a:solidFill>
                <a:latin typeface="Source Sans Pro"/>
                <a:ea typeface="Source Sans Pro"/>
                <a:cs typeface="Source Sans Pro"/>
                <a:sym typeface="Source Sans Pro"/>
              </a:defRPr>
            </a:lvl8pPr>
            <a:lvl9pPr lvl="8" rtl="0">
              <a:buNone/>
              <a:defRPr sz="1733">
                <a:solidFill>
                  <a:schemeClr val="dk1"/>
                </a:solidFill>
                <a:latin typeface="Source Sans Pro"/>
                <a:ea typeface="Source Sans Pro"/>
                <a:cs typeface="Source Sans Pro"/>
                <a:sym typeface="Source Sans Pro"/>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36909313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claude.ai/artifact/9ALFxyzdSsjCEpqgcCqFfi" TargetMode="Externa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image" Target="../media/image34.png"/><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0.gif"/><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51.gif"/></Relationships>
</file>

<file path=ppt/slides/_rels/slide38.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53.gi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subTitle" idx="1"/>
          </p:nvPr>
        </p:nvSpPr>
        <p:spPr>
          <a:xfrm>
            <a:off x="519600" y="1026809"/>
            <a:ext cx="11152800" cy="1570800"/>
          </a:xfrm>
          <a:prstGeom prst="rect">
            <a:avLst/>
          </a:prstGeom>
        </p:spPr>
        <p:txBody>
          <a:bodyPr spcFirstLastPara="1" wrap="square" lIns="121900" tIns="121900" rIns="121900" bIns="121900" anchor="t" anchorCtr="0">
            <a:noAutofit/>
          </a:bodyPr>
          <a:lstStyle/>
          <a:p>
            <a:pPr marL="0" indent="0" algn="ctr">
              <a:spcAft>
                <a:spcPts val="1600"/>
              </a:spcAft>
            </a:pPr>
            <a:r>
              <a:rPr lang="en-GB" sz="3733" b="1" dirty="0">
                <a:solidFill>
                  <a:srgbClr val="7030A0"/>
                </a:solidFill>
              </a:rPr>
              <a:t>Operations and Supply Chain Management</a:t>
            </a:r>
          </a:p>
          <a:p>
            <a:pPr marL="0" indent="0" algn="ctr">
              <a:spcAft>
                <a:spcPts val="1600"/>
              </a:spcAft>
            </a:pPr>
            <a:r>
              <a:rPr lang="pt-PT" sz="3733" b="1" dirty="0">
                <a:solidFill>
                  <a:srgbClr val="7030A0"/>
                </a:solidFill>
              </a:rPr>
              <a:t>MGT6046</a:t>
            </a:r>
          </a:p>
          <a:p>
            <a:pPr marL="0" indent="0" algn="ctr">
              <a:spcAft>
                <a:spcPts val="1600"/>
              </a:spcAft>
            </a:pPr>
            <a:endParaRPr lang="pt-PT" sz="3733" b="1" dirty="0">
              <a:solidFill>
                <a:schemeClr val="bg2"/>
              </a:solidFill>
            </a:endParaRPr>
          </a:p>
          <a:p>
            <a:pPr marL="0" indent="0" algn="ctr">
              <a:spcAft>
                <a:spcPts val="1600"/>
              </a:spcAft>
            </a:pPr>
            <a:r>
              <a:rPr lang="en-GB" dirty="0">
                <a:latin typeface="+mj-lt"/>
              </a:rPr>
              <a:t>Designing Operations: Theory of Constraints, Line Balancing and Process Technology</a:t>
            </a:r>
          </a:p>
          <a:p>
            <a:pPr marL="0" indent="0" algn="ctr">
              <a:spcAft>
                <a:spcPts val="1600"/>
              </a:spcAft>
            </a:pPr>
            <a:r>
              <a:rPr lang="pt-PT" sz="3733" b="1" dirty="0">
                <a:solidFill>
                  <a:schemeClr val="accent3">
                    <a:lumMod val="10000"/>
                  </a:schemeClr>
                </a:solidFill>
              </a:rPr>
              <a:t>Dr Emilia Vann Yaroson</a:t>
            </a:r>
            <a:endParaRPr sz="3733" b="1" dirty="0">
              <a:solidFill>
                <a:schemeClr val="accent3">
                  <a:lumMod val="1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Join the Session on Wooclap</a:t>
            </a:r>
          </a:p>
        </p:txBody>
      </p:sp>
      <p:cxnSp>
        <p:nvCxnSpPr>
          <p:cNvPr id="4" name="Line 4"/>
          <p:cNvCxnSpPr/>
          <p:nvPr/>
        </p:nvCxnSpPr>
        <p:spPr>
          <a:xfrm>
            <a:off x="457200" y="960120"/>
            <a:ext cx="11274552" cy="0"/>
          </a:xfrm>
          <a:prstGeom prst="line">
            <a:avLst/>
          </a:prstGeom>
          <a:ln w="15875">
            <a:solidFill>
              <a:srgbClr val="5B2C91"/>
            </a:solidFill>
          </a:ln>
        </p:spPr>
      </p:cxnSp>
      <p:sp>
        <p:nvSpPr>
          <p:cNvPr id="6" name="Box 6"/>
          <p:cNvSpPr/>
          <p:nvPr/>
        </p:nvSpPr>
        <p:spPr>
          <a:xfrm>
            <a:off x="685800" y="1234440"/>
            <a:ext cx="4572000" cy="4572000"/>
          </a:xfrm>
          <a:prstGeom prst="roundRect">
            <a:avLst>
              <a:gd name="adj" fmla="val 4000"/>
            </a:avLst>
          </a:prstGeom>
          <a:solidFill>
            <a:srgbClr val="FFFFFF"/>
          </a:solidFill>
          <a:ln w="28575">
            <a:solidFill>
              <a:srgbClr val="5B2C91"/>
            </a:solidFill>
          </a:ln>
        </p:spPr>
        <p:txBody>
          <a:bodyPr wrap="square" lIns="73152" tIns="45720" rIns="73152" bIns="45720" rtlCol="0" anchor="t">
            <a:normAutofit/>
          </a:bodyPr>
          <a:lstStyle/>
          <a:p>
            <a:endParaRPr lang="en-GB" sz="1000"/>
          </a:p>
        </p:txBody>
      </p:sp>
      <p:pic>
        <p:nvPicPr>
          <p:cNvPr id="55" name="Wooclap QR code" descr="QR code linking to the Wooclap live session CITLFMY"/>
          <p:cNvPicPr>
            <a:picLocks noChangeAspect="1"/>
          </p:cNvPicPr>
          <p:nvPr/>
        </p:nvPicPr>
        <p:blipFill>
          <a:blip r:embed="rId2"/>
          <a:stretch>
            <a:fillRect/>
          </a:stretch>
        </p:blipFill>
        <p:spPr>
          <a:xfrm>
            <a:off x="868680" y="1417320"/>
            <a:ext cx="4206240" cy="4206240"/>
          </a:xfrm>
          <a:prstGeom prst="rect">
            <a:avLst/>
          </a:prstGeom>
        </p:spPr>
      </p:pic>
      <p:sp>
        <p:nvSpPr>
          <p:cNvPr id="7" name="Box 7"/>
          <p:cNvSpPr/>
          <p:nvPr/>
        </p:nvSpPr>
        <p:spPr>
          <a:xfrm>
            <a:off x="685800" y="5897880"/>
            <a:ext cx="4572000" cy="4114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5B2C91"/>
                </a:solidFill>
                <a:latin typeface="Arial"/>
                <a:cs typeface="Arial"/>
              </a:rPr>
              <a:t>Scan with your phone camera</a:t>
            </a:r>
          </a:p>
        </p:txBody>
      </p:sp>
      <p:sp>
        <p:nvSpPr>
          <p:cNvPr id="8" name="Box 8"/>
          <p:cNvSpPr/>
          <p:nvPr/>
        </p:nvSpPr>
        <p:spPr>
          <a:xfrm>
            <a:off x="6035040" y="13716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1</a:t>
            </a:r>
          </a:p>
        </p:txBody>
      </p:sp>
      <p:sp>
        <p:nvSpPr>
          <p:cNvPr id="9" name="Box 9"/>
          <p:cNvSpPr/>
          <p:nvPr/>
        </p:nvSpPr>
        <p:spPr>
          <a:xfrm>
            <a:off x="6766560" y="13258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Scan the QR code</a:t>
            </a:r>
          </a:p>
          <a:p>
            <a:pPr marL="0" indent="0" algn="l">
              <a:spcBef>
                <a:spcPts val="0"/>
              </a:spcBef>
              <a:spcAft>
                <a:spcPts val="0"/>
              </a:spcAft>
              <a:buNone/>
            </a:pPr>
            <a:r>
              <a:rPr lang="en-GB" sz="1600" dirty="0">
                <a:solidFill>
                  <a:srgbClr val="1A1A1A"/>
                </a:solidFill>
                <a:latin typeface="Arial"/>
                <a:cs typeface="Arial"/>
              </a:rPr>
              <a:t>Point your phone camera at the code on the left.</a:t>
            </a:r>
          </a:p>
        </p:txBody>
      </p:sp>
      <p:sp>
        <p:nvSpPr>
          <p:cNvPr id="10" name="Box 10"/>
          <p:cNvSpPr/>
          <p:nvPr/>
        </p:nvSpPr>
        <p:spPr>
          <a:xfrm>
            <a:off x="6035040" y="29718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2</a:t>
            </a:r>
          </a:p>
        </p:txBody>
      </p:sp>
      <p:sp>
        <p:nvSpPr>
          <p:cNvPr id="11" name="Box 11"/>
          <p:cNvSpPr/>
          <p:nvPr/>
        </p:nvSpPr>
        <p:spPr>
          <a:xfrm>
            <a:off x="6766560" y="29260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Or go to app.wooclap.com</a:t>
            </a:r>
          </a:p>
          <a:p>
            <a:pPr marL="0" indent="0" algn="l">
              <a:spcBef>
                <a:spcPts val="0"/>
              </a:spcBef>
              <a:spcAft>
                <a:spcPts val="0"/>
              </a:spcAft>
              <a:buNone/>
            </a:pPr>
            <a:r>
              <a:rPr lang="en-GB" sz="1600" dirty="0">
                <a:solidFill>
                  <a:srgbClr val="1A1A1A"/>
                </a:solidFill>
                <a:latin typeface="Arial"/>
                <a:cs typeface="Arial"/>
              </a:rPr>
              <a:t>and enter the event code:</a:t>
            </a:r>
          </a:p>
        </p:txBody>
      </p:sp>
      <p:sp>
        <p:nvSpPr>
          <p:cNvPr id="12" name="Box 12"/>
          <p:cNvSpPr/>
          <p:nvPr/>
        </p:nvSpPr>
        <p:spPr>
          <a:xfrm>
            <a:off x="6035040" y="45720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3</a:t>
            </a:r>
          </a:p>
        </p:txBody>
      </p:sp>
      <p:sp>
        <p:nvSpPr>
          <p:cNvPr id="13" name="Box 13"/>
          <p:cNvSpPr/>
          <p:nvPr/>
        </p:nvSpPr>
        <p:spPr>
          <a:xfrm>
            <a:off x="6766560" y="4526280"/>
            <a:ext cx="4937760" cy="868680"/>
          </a:xfrm>
          <a:prstGeom prst="rect">
            <a:avLst/>
          </a:prstGeom>
          <a:noFill/>
          <a:ln>
            <a:noFill/>
          </a:ln>
        </p:spPr>
        <p:txBody>
          <a:bodyPr wrap="square" lIns="73152" tIns="45720" rIns="73152" bIns="45720" rtlCol="0" anchor="t">
            <a:normAutofit lnSpcReduction="10000"/>
          </a:bodyPr>
          <a:lstStyle/>
          <a:p>
            <a:pPr marL="0" indent="0" algn="l">
              <a:spcBef>
                <a:spcPts val="0"/>
              </a:spcBef>
              <a:spcAft>
                <a:spcPts val="150"/>
              </a:spcAft>
              <a:buNone/>
            </a:pPr>
            <a:r>
              <a:rPr lang="en-GB" sz="1800" b="1" dirty="0">
                <a:solidFill>
                  <a:srgbClr val="5B2C91"/>
                </a:solidFill>
                <a:latin typeface="Arial"/>
                <a:cs typeface="Arial"/>
              </a:rPr>
              <a:t>Keep it open</a:t>
            </a:r>
          </a:p>
          <a:p>
            <a:pPr marL="0" indent="0" algn="l">
              <a:spcBef>
                <a:spcPts val="0"/>
              </a:spcBef>
              <a:spcAft>
                <a:spcPts val="0"/>
              </a:spcAft>
              <a:buNone/>
            </a:pPr>
            <a:r>
              <a:rPr lang="en-GB" sz="1600" dirty="0">
                <a:solidFill>
                  <a:srgbClr val="1A1A1A"/>
                </a:solidFill>
                <a:latin typeface="Arial"/>
                <a:cs typeface="Arial"/>
              </a:rPr>
              <a:t>We will use Wooclap for questions and activities throughout the session.</a:t>
            </a:r>
          </a:p>
        </p:txBody>
      </p:sp>
      <p:sp>
        <p:nvSpPr>
          <p:cNvPr id="14" name="Box 14"/>
          <p:cNvSpPr/>
          <p:nvPr/>
        </p:nvSpPr>
        <p:spPr>
          <a:xfrm>
            <a:off x="6766560" y="3520440"/>
            <a:ext cx="3840480" cy="7772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3600" b="1" dirty="0">
                <a:solidFill>
                  <a:srgbClr val="FFFFFF"/>
                </a:solidFill>
                <a:latin typeface="Arial"/>
                <a:cs typeface="Arial"/>
              </a:rPr>
              <a:t>CITLFMY</a:t>
            </a:r>
          </a:p>
        </p:txBody>
      </p:sp>
      <p:sp>
        <p:nvSpPr>
          <p:cNvPr id="15" name="Page 15"/>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Users" descr="Users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3200" dirty="0">
                <a:solidFill>
                  <a:srgbClr val="5B2C91"/>
                </a:solidFill>
                <a:latin typeface="Arial"/>
                <a:cs typeface="Arial"/>
              </a:rPr>
              <a:t>Module Outline</a:t>
            </a:r>
          </a:p>
        </p:txBody>
      </p:sp>
      <p:cxnSp>
        <p:nvCxnSpPr>
          <p:cNvPr id="4" name="Line 4"/>
          <p:cNvCxnSpPr/>
          <p:nvPr/>
        </p:nvCxnSpPr>
        <p:spPr>
          <a:xfrm>
            <a:off x="457200" y="960120"/>
            <a:ext cx="11274552" cy="0"/>
          </a:xfrm>
          <a:prstGeom prst="line">
            <a:avLst/>
          </a:prstGeom>
          <a:ln w="15875">
            <a:solidFill>
              <a:srgbClr val="5B2C91"/>
            </a:solidFill>
          </a:ln>
        </p:spPr>
      </p:cxnSp>
      <p:graphicFrame>
        <p:nvGraphicFramePr>
          <p:cNvPr id="5" name="Module outline 5"/>
          <p:cNvGraphicFramePr>
            <a:graphicFrameLocks noGrp="1"/>
          </p:cNvGraphicFramePr>
          <p:nvPr>
            <p:extLst>
              <p:ext uri="{D42A27DB-BD31-4B8C-83A1-F6EECF244321}">
                <p14:modId xmlns:p14="http://schemas.microsoft.com/office/powerpoint/2010/main" val="1646319250"/>
              </p:ext>
            </p:extLst>
          </p:nvPr>
        </p:nvGraphicFramePr>
        <p:xfrm>
          <a:off x="457200" y="1143000"/>
          <a:ext cx="11274552" cy="5283200"/>
        </p:xfrm>
        <a:graphic>
          <a:graphicData uri="http://schemas.openxmlformats.org/drawingml/2006/table">
            <a:tbl>
              <a:tblPr firstRow="1"/>
              <a:tblGrid>
                <a:gridCol w="6858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5010912">
                  <a:extLst>
                    <a:ext uri="{9D8B030D-6E8A-4147-A177-3AD203B41FA5}">
                      <a16:colId xmlns:a16="http://schemas.microsoft.com/office/drawing/2014/main" val="20003"/>
                    </a:ext>
                  </a:extLst>
                </a:gridCol>
                <a:gridCol w="2743200">
                  <a:extLst>
                    <a:ext uri="{9D8B030D-6E8A-4147-A177-3AD203B41FA5}">
                      <a16:colId xmlns:a16="http://schemas.microsoft.com/office/drawing/2014/main" val="20004"/>
                    </a:ext>
                  </a:extLst>
                </a:gridCol>
              </a:tblGrid>
              <a:tr h="411480">
                <a:tc>
                  <a:txBody>
                    <a:bodyPr/>
                    <a:lstStyle/>
                    <a:p>
                      <a:pPr marL="0" indent="0" algn="l">
                        <a:spcBef>
                          <a:spcPts val="0"/>
                        </a:spcBef>
                        <a:spcAft>
                          <a:spcPts val="0"/>
                        </a:spcAft>
                        <a:buNone/>
                      </a:pPr>
                      <a:r>
                        <a:rPr lang="en-GB" sz="1550" b="1" dirty="0">
                          <a:solidFill>
                            <a:srgbClr val="FFFFFF"/>
                          </a:solidFill>
                          <a:latin typeface="Arial"/>
                          <a:cs typeface="Arial"/>
                        </a:rPr>
                        <a:t>Wk</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50" b="1" dirty="0">
                          <a:solidFill>
                            <a:srgbClr val="FFFFFF"/>
                          </a:solidFill>
                          <a:latin typeface="Arial"/>
                          <a:cs typeface="Arial"/>
                        </a:rPr>
                        <a:t>Starts</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50" b="1" dirty="0">
                          <a:solidFill>
                            <a:srgbClr val="FFFFFF"/>
                          </a:solidFill>
                          <a:latin typeface="Arial"/>
                          <a:cs typeface="Arial"/>
                        </a:rPr>
                        <a:t>4D</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50" b="1" dirty="0">
                          <a:solidFill>
                            <a:srgbClr val="FFFFFF"/>
                          </a:solidFill>
                          <a:latin typeface="Arial"/>
                          <a:cs typeface="Arial"/>
                        </a:rPr>
                        <a:t>Lecture</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tc>
                  <a:txBody>
                    <a:bodyPr/>
                    <a:lstStyle/>
                    <a:p>
                      <a:pPr marL="0" indent="0" algn="l">
                        <a:spcBef>
                          <a:spcPts val="0"/>
                        </a:spcBef>
                        <a:spcAft>
                          <a:spcPts val="0"/>
                        </a:spcAft>
                        <a:buNone/>
                      </a:pPr>
                      <a:r>
                        <a:rPr lang="en-GB" sz="1550" b="1" dirty="0">
                          <a:solidFill>
                            <a:srgbClr val="FFFFFF"/>
                          </a:solidFill>
                          <a:latin typeface="Arial"/>
                          <a:cs typeface="Arial"/>
                        </a:rPr>
                        <a:t>Tutorial</a:t>
                      </a:r>
                    </a:p>
                  </a:txBody>
                  <a:tcPr marR="73152" marT="36576" marB="36576" anchor="ctr">
                    <a:lnL w="19050">
                      <a:solidFill>
                        <a:srgbClr val="FFFFFF"/>
                      </a:solidFill>
                    </a:lnL>
                    <a:lnR w="19050">
                      <a:solidFill>
                        <a:srgbClr val="FFFFFF"/>
                      </a:solidFill>
                    </a:lnR>
                    <a:lnT w="19050">
                      <a:solidFill>
                        <a:srgbClr val="FFFFFF"/>
                      </a:solidFill>
                    </a:lnT>
                    <a:lnB w="19050">
                      <a:solidFill>
                        <a:srgbClr val="FFFFFF"/>
                      </a:solidFill>
                    </a:lnB>
                    <a:solidFill>
                      <a:srgbClr val="5B2C91"/>
                    </a:solidFill>
                  </a:tcPr>
                </a:tc>
                <a:extLst>
                  <a:ext uri="{0D108BD9-81ED-4DB2-BD59-A6C34878D82A}">
                    <a16:rowId xmlns:a16="http://schemas.microsoft.com/office/drawing/2014/main" val="10000"/>
                  </a:ext>
                </a:extLst>
              </a:tr>
              <a:tr h="786384">
                <a:tc>
                  <a:txBody>
                    <a:bodyPr/>
                    <a:lstStyle/>
                    <a:p>
                      <a:pPr marL="0" indent="0" algn="ctr">
                        <a:spcBef>
                          <a:spcPts val="0"/>
                        </a:spcBef>
                        <a:spcAft>
                          <a:spcPts val="0"/>
                        </a:spcAft>
                        <a:buNone/>
                      </a:pPr>
                      <a:r>
                        <a:rPr lang="en-GB" sz="1600" b="1" dirty="0">
                          <a:solidFill>
                            <a:srgbClr val="1A1A1A"/>
                          </a:solidFill>
                          <a:latin typeface="Arial"/>
                          <a:cs typeface="Arial"/>
                        </a:rPr>
                        <a:t>1</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28 Sep 2026</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Develop</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100"/>
                        </a:spcAft>
                        <a:buNone/>
                      </a:pPr>
                      <a:r>
                        <a:rPr lang="en-GB" sz="1450" b="1" dirty="0">
                          <a:solidFill>
                            <a:srgbClr val="1A1A1A"/>
                          </a:solidFill>
                          <a:latin typeface="Arial"/>
                          <a:cs typeface="Arial"/>
                        </a:rPr>
                        <a:t>Operations and Supply Chain Management Foundations</a:t>
                      </a:r>
                    </a:p>
                    <a:p>
                      <a:pPr marL="0" indent="0" algn="l">
                        <a:spcBef>
                          <a:spcPts val="0"/>
                        </a:spcBef>
                        <a:spcAft>
                          <a:spcPts val="0"/>
                        </a:spcAft>
                        <a:buNone/>
                      </a:pPr>
                      <a:r>
                        <a:rPr lang="en-GB" sz="1100" dirty="0">
                          <a:solidFill>
                            <a:srgbClr val="595959"/>
                          </a:solidFill>
                          <a:latin typeface="Arial"/>
                          <a:cs typeface="Arial"/>
                        </a:rPr>
                        <a:t>Operations strategy, performance objectives, interdependencies and customer value.</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No tutorial</a:t>
                      </a:r>
                    </a:p>
                  </a:txBody>
                  <a:tcPr marR="73152" marT="36576" marB="36576" anchor="ctr">
                    <a:lnL w="9525">
                      <a:solidFill>
                        <a:srgbClr val="D9D9D9"/>
                      </a:solidFill>
                    </a:lnL>
                    <a:lnR w="9525">
                      <a:solidFill>
                        <a:srgbClr val="D9D9D9"/>
                      </a:solidFill>
                    </a:lnR>
                    <a:lnT w="19050" cap="flat" cmpd="sng" algn="ctr">
                      <a:solidFill>
                        <a:srgbClr val="FFFFFF"/>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786384">
                <a:tc>
                  <a:txBody>
                    <a:bodyPr/>
                    <a:lstStyle/>
                    <a:p>
                      <a:pPr marL="0" indent="0" algn="ctr">
                        <a:spcBef>
                          <a:spcPts val="0"/>
                        </a:spcBef>
                        <a:spcAft>
                          <a:spcPts val="0"/>
                        </a:spcAft>
                        <a:buNone/>
                      </a:pPr>
                      <a:r>
                        <a:rPr lang="en-GB" sz="1600" b="1" dirty="0">
                          <a:solidFill>
                            <a:srgbClr val="1A1A1A"/>
                          </a:solidFill>
                          <a:latin typeface="Arial"/>
                          <a:cs typeface="Arial"/>
                        </a:rPr>
                        <a:t>2</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5 Oct 2026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Develop</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100"/>
                        </a:spcAft>
                        <a:buNone/>
                      </a:pPr>
                      <a:r>
                        <a:rPr lang="en-GB" sz="1450" b="1" dirty="0">
                          <a:solidFill>
                            <a:srgbClr val="1A1A1A"/>
                          </a:solidFill>
                          <a:latin typeface="Arial"/>
                          <a:cs typeface="Arial"/>
                        </a:rPr>
                        <a:t>Capacity, Utilisation, Efficiency and Little’s Law</a:t>
                      </a:r>
                    </a:p>
                    <a:p>
                      <a:pPr marL="0" indent="0" algn="l">
                        <a:spcBef>
                          <a:spcPts val="0"/>
                        </a:spcBef>
                        <a:spcAft>
                          <a:spcPts val="0"/>
                        </a:spcAft>
                        <a:buNone/>
                      </a:pPr>
                      <a:r>
                        <a:rPr lang="en-GB" sz="1100" dirty="0">
                          <a:solidFill>
                            <a:srgbClr val="595959"/>
                          </a:solidFill>
                          <a:latin typeface="Arial"/>
                          <a:cs typeface="Arial"/>
                        </a:rPr>
                        <a:t>Design and effective capacity, utilisation, efficiency, WIP, throughput, flow time and demand–capacity relationships.</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No tutorial</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extLst>
                  <a:ext uri="{0D108BD9-81ED-4DB2-BD59-A6C34878D82A}">
                    <a16:rowId xmlns:a16="http://schemas.microsoft.com/office/drawing/2014/main" val="10002"/>
                  </a:ext>
                </a:extLst>
              </a:tr>
              <a:tr h="786384">
                <a:tc>
                  <a:txBody>
                    <a:bodyPr/>
                    <a:lstStyle/>
                    <a:p>
                      <a:pPr marL="0" indent="0" algn="ctr">
                        <a:spcBef>
                          <a:spcPts val="0"/>
                        </a:spcBef>
                        <a:spcAft>
                          <a:spcPts val="0"/>
                        </a:spcAft>
                        <a:buNone/>
                      </a:pPr>
                      <a:r>
                        <a:rPr lang="en-GB" sz="1600" b="1" dirty="0">
                          <a:solidFill>
                            <a:srgbClr val="1A1A1A"/>
                          </a:solidFill>
                          <a:latin typeface="Arial"/>
                          <a:cs typeface="Arial"/>
                        </a:rPr>
                        <a:t>3</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12 Oct 2026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Design</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100"/>
                        </a:spcAft>
                        <a:buNone/>
                      </a:pPr>
                      <a:r>
                        <a:rPr lang="en-GB" sz="1450" b="1" dirty="0">
                          <a:solidFill>
                            <a:srgbClr val="1A1A1A"/>
                          </a:solidFill>
                          <a:latin typeface="Arial"/>
                          <a:cs typeface="Arial"/>
                        </a:rPr>
                        <a:t>Productivity, Throughput and Service Failure Analysis</a:t>
                      </a:r>
                    </a:p>
                    <a:p>
                      <a:pPr marL="0" indent="0" algn="l">
                        <a:spcBef>
                          <a:spcPts val="0"/>
                        </a:spcBef>
                        <a:spcAft>
                          <a:spcPts val="0"/>
                        </a:spcAft>
                        <a:buNone/>
                      </a:pPr>
                      <a:r>
                        <a:rPr lang="en-GB" sz="1100" dirty="0">
                          <a:solidFill>
                            <a:srgbClr val="595959"/>
                          </a:solidFill>
                          <a:latin typeface="Arial"/>
                          <a:cs typeface="Arial"/>
                        </a:rPr>
                        <a:t>Productivity, throughput efficiency, waiting, delays, capacity–demand mismatch and service failure, using operational and ERP data.</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Tutorial 1: applying Week 2 (capacity, utilisation, efficiency, Little’s Law, WIP, servers, strategy)</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extLst>
                  <a:ext uri="{0D108BD9-81ED-4DB2-BD59-A6C34878D82A}">
                    <a16:rowId xmlns:a16="http://schemas.microsoft.com/office/drawing/2014/main" val="10003"/>
                  </a:ext>
                </a:extLst>
              </a:tr>
              <a:tr h="786384">
                <a:tc>
                  <a:txBody>
                    <a:bodyPr/>
                    <a:lstStyle/>
                    <a:p>
                      <a:pPr marL="0" indent="0" algn="ctr">
                        <a:spcBef>
                          <a:spcPts val="0"/>
                        </a:spcBef>
                        <a:spcAft>
                          <a:spcPts val="0"/>
                        </a:spcAft>
                        <a:buNone/>
                      </a:pPr>
                      <a:r>
                        <a:rPr lang="en-GB" sz="1600" b="1" dirty="0">
                          <a:solidFill>
                            <a:srgbClr val="5B2C91"/>
                          </a:solidFill>
                          <a:latin typeface="Arial"/>
                          <a:cs typeface="Arial"/>
                        </a:rPr>
                        <a:t>4</a:t>
                      </a:r>
                    </a:p>
                  </a:txBody>
                  <a:tcPr marR="73152" marT="36576" marB="36576" anchor="ctr">
                    <a:lnL w="25400">
                      <a:solidFill>
                        <a:srgbClr val="5B2C91"/>
                      </a:solidFill>
                    </a:lnL>
                    <a:lnR w="25400">
                      <a:solidFill>
                        <a:srgbClr val="5B2C91"/>
                      </a:solidFill>
                    </a:lnR>
                    <a:lnT w="9525" cap="flat" cmpd="sng" algn="ctr">
                      <a:solidFill>
                        <a:srgbClr val="D9D9D9"/>
                      </a:solidFill>
                      <a:prstDash val="solid"/>
                      <a:round/>
                      <a:headEnd type="none" w="med" len="med"/>
                      <a:tailEnd type="none" w="med" len="med"/>
                    </a:lnT>
                    <a:lnB w="25400">
                      <a:solidFill>
                        <a:srgbClr val="5B2C91"/>
                      </a:solidFill>
                    </a:lnB>
                    <a:solidFill>
                      <a:srgbClr val="EBE1F5"/>
                    </a:solidFill>
                  </a:tcPr>
                </a:tc>
                <a:tc>
                  <a:txBody>
                    <a:bodyPr/>
                    <a:lstStyle/>
                    <a:p>
                      <a:pPr marL="0" indent="0" algn="l">
                        <a:spcBef>
                          <a:spcPts val="0"/>
                        </a:spcBef>
                        <a:spcAft>
                          <a:spcPts val="0"/>
                        </a:spcAft>
                        <a:buNone/>
                      </a:pPr>
                      <a:r>
                        <a:rPr lang="en-GB" sz="1300" b="1" dirty="0">
                          <a:solidFill>
                            <a:srgbClr val="5B2C91"/>
                          </a:solidFill>
                          <a:latin typeface="Arial"/>
                          <a:cs typeface="Arial"/>
                        </a:rPr>
                        <a:t>19 Oct 2026</a:t>
                      </a:r>
                    </a:p>
                  </a:txBody>
                  <a:tcPr marR="73152" marT="36576" marB="36576" anchor="ctr">
                    <a:lnL w="25400">
                      <a:solidFill>
                        <a:srgbClr val="5B2C91"/>
                      </a:solidFill>
                    </a:lnL>
                    <a:lnR w="25400">
                      <a:solidFill>
                        <a:srgbClr val="5B2C91"/>
                      </a:solidFill>
                    </a:lnR>
                    <a:lnT w="9525" cap="flat" cmpd="sng" algn="ctr">
                      <a:solidFill>
                        <a:srgbClr val="D9D9D9"/>
                      </a:solidFill>
                      <a:prstDash val="solid"/>
                      <a:round/>
                      <a:headEnd type="none" w="med" len="med"/>
                      <a:tailEnd type="none" w="med" len="med"/>
                    </a:lnT>
                    <a:lnB w="25400">
                      <a:solidFill>
                        <a:srgbClr val="5B2C91"/>
                      </a:solidFill>
                    </a:lnB>
                    <a:solidFill>
                      <a:srgbClr val="EBE1F5"/>
                    </a:solidFill>
                  </a:tcPr>
                </a:tc>
                <a:tc>
                  <a:txBody>
                    <a:bodyPr/>
                    <a:lstStyle/>
                    <a:p>
                      <a:pPr marL="0" indent="0" algn="l">
                        <a:spcBef>
                          <a:spcPts val="0"/>
                        </a:spcBef>
                        <a:spcAft>
                          <a:spcPts val="0"/>
                        </a:spcAft>
                        <a:buNone/>
                      </a:pPr>
                      <a:r>
                        <a:rPr lang="en-GB" sz="1300" b="1" dirty="0">
                          <a:solidFill>
                            <a:srgbClr val="5B2C91"/>
                          </a:solidFill>
                          <a:latin typeface="Arial"/>
                          <a:cs typeface="Arial"/>
                        </a:rPr>
                        <a:t>Design</a:t>
                      </a:r>
                    </a:p>
                  </a:txBody>
                  <a:tcPr marR="73152" marT="36576" marB="36576" anchor="ctr">
                    <a:lnL w="25400">
                      <a:solidFill>
                        <a:srgbClr val="5B2C91"/>
                      </a:solidFill>
                    </a:lnL>
                    <a:lnR w="25400">
                      <a:solidFill>
                        <a:srgbClr val="5B2C91"/>
                      </a:solidFill>
                    </a:lnR>
                    <a:lnT w="9525" cap="flat" cmpd="sng" algn="ctr">
                      <a:solidFill>
                        <a:srgbClr val="D9D9D9"/>
                      </a:solidFill>
                      <a:prstDash val="solid"/>
                      <a:round/>
                      <a:headEnd type="none" w="med" len="med"/>
                      <a:tailEnd type="none" w="med" len="med"/>
                    </a:lnT>
                    <a:lnB w="25400">
                      <a:solidFill>
                        <a:srgbClr val="5B2C91"/>
                      </a:solidFill>
                    </a:lnB>
                    <a:solidFill>
                      <a:srgbClr val="EBE1F5"/>
                    </a:solidFill>
                  </a:tcPr>
                </a:tc>
                <a:tc>
                  <a:txBody>
                    <a:bodyPr/>
                    <a:lstStyle/>
                    <a:p>
                      <a:pPr marL="0" indent="0" algn="l">
                        <a:spcBef>
                          <a:spcPts val="0"/>
                        </a:spcBef>
                        <a:spcAft>
                          <a:spcPts val="100"/>
                        </a:spcAft>
                        <a:buNone/>
                      </a:pPr>
                      <a:r>
                        <a:rPr lang="en-GB" sz="1450" b="1" dirty="0">
                          <a:solidFill>
                            <a:srgbClr val="5B2C91"/>
                          </a:solidFill>
                          <a:latin typeface="Arial"/>
                          <a:cs typeface="Arial"/>
                        </a:rPr>
                        <a:t>Designing Operations: Theory of Constraints, Line Balancing, ERP and Digitalisation</a:t>
                      </a:r>
                    </a:p>
                    <a:p>
                      <a:pPr marL="0" indent="0" algn="l">
                        <a:spcBef>
                          <a:spcPts val="0"/>
                        </a:spcBef>
                        <a:spcAft>
                          <a:spcPts val="0"/>
                        </a:spcAft>
                        <a:buNone/>
                      </a:pPr>
                      <a:r>
                        <a:rPr lang="en-GB" sz="1100" dirty="0">
                          <a:solidFill>
                            <a:srgbClr val="595959"/>
                          </a:solidFill>
                          <a:latin typeface="Arial"/>
                          <a:cs typeface="Arial"/>
                        </a:rPr>
                        <a:t>Bottlenecks, cycle time, line balancing, ERP, automation, AI, IoT and real-time visibility.</a:t>
                      </a:r>
                    </a:p>
                  </a:txBody>
                  <a:tcPr marR="73152" marT="36576" marB="36576" anchor="ctr">
                    <a:lnL w="25400">
                      <a:solidFill>
                        <a:srgbClr val="5B2C91"/>
                      </a:solidFill>
                    </a:lnL>
                    <a:lnR w="25400">
                      <a:solidFill>
                        <a:srgbClr val="5B2C91"/>
                      </a:solidFill>
                    </a:lnR>
                    <a:lnT w="9525" cap="flat" cmpd="sng" algn="ctr">
                      <a:solidFill>
                        <a:srgbClr val="D9D9D9"/>
                      </a:solidFill>
                      <a:prstDash val="solid"/>
                      <a:round/>
                      <a:headEnd type="none" w="med" len="med"/>
                      <a:tailEnd type="none" w="med" len="med"/>
                    </a:lnT>
                    <a:lnB w="25400">
                      <a:solidFill>
                        <a:srgbClr val="5B2C91"/>
                      </a:solidFill>
                    </a:lnB>
                    <a:solidFill>
                      <a:srgbClr val="EBE1F5"/>
                    </a:solidFill>
                  </a:tcPr>
                </a:tc>
                <a:tc>
                  <a:txBody>
                    <a:bodyPr/>
                    <a:lstStyle/>
                    <a:p>
                      <a:pPr marL="0" indent="0" algn="l">
                        <a:spcBef>
                          <a:spcPts val="0"/>
                        </a:spcBef>
                        <a:spcAft>
                          <a:spcPts val="0"/>
                        </a:spcAft>
                        <a:buNone/>
                      </a:pPr>
                      <a:r>
                        <a:rPr lang="en-GB" sz="1100" dirty="0">
                          <a:solidFill>
                            <a:srgbClr val="5B2C91"/>
                          </a:solidFill>
                          <a:latin typeface="Arial"/>
                          <a:cs typeface="Arial"/>
                        </a:rPr>
                        <a:t>No tutorial</a:t>
                      </a:r>
                    </a:p>
                  </a:txBody>
                  <a:tcPr marR="73152" marT="36576" marB="36576" anchor="ctr">
                    <a:lnL w="25400">
                      <a:solidFill>
                        <a:srgbClr val="5B2C91"/>
                      </a:solidFill>
                    </a:lnL>
                    <a:lnR w="25400">
                      <a:solidFill>
                        <a:srgbClr val="5B2C91"/>
                      </a:solidFill>
                    </a:lnR>
                    <a:lnT w="9525" cap="flat" cmpd="sng" algn="ctr">
                      <a:solidFill>
                        <a:srgbClr val="D9D9D9"/>
                      </a:solidFill>
                      <a:prstDash val="solid"/>
                      <a:round/>
                      <a:headEnd type="none" w="med" len="med"/>
                      <a:tailEnd type="none" w="med" len="med"/>
                    </a:lnT>
                    <a:lnB w="25400">
                      <a:solidFill>
                        <a:srgbClr val="5B2C91"/>
                      </a:solidFill>
                    </a:lnB>
                    <a:solidFill>
                      <a:srgbClr val="EBE1F5"/>
                    </a:solidFill>
                  </a:tcPr>
                </a:tc>
                <a:extLst>
                  <a:ext uri="{0D108BD9-81ED-4DB2-BD59-A6C34878D82A}">
                    <a16:rowId xmlns:a16="http://schemas.microsoft.com/office/drawing/2014/main" val="10004"/>
                  </a:ext>
                </a:extLst>
              </a:tr>
              <a:tr h="786384">
                <a:tc>
                  <a:txBody>
                    <a:bodyPr/>
                    <a:lstStyle/>
                    <a:p>
                      <a:pPr marL="0" indent="0" algn="ctr">
                        <a:spcBef>
                          <a:spcPts val="0"/>
                        </a:spcBef>
                        <a:spcAft>
                          <a:spcPts val="0"/>
                        </a:spcAft>
                        <a:buNone/>
                      </a:pPr>
                      <a:r>
                        <a:rPr lang="en-GB" sz="1600" b="1" dirty="0">
                          <a:solidFill>
                            <a:srgbClr val="1A1A1A"/>
                          </a:solidFill>
                          <a:latin typeface="Arial"/>
                          <a:cs typeface="Arial"/>
                        </a:rPr>
                        <a:t>5</a:t>
                      </a:r>
                    </a:p>
                  </a:txBody>
                  <a:tcPr marR="73152" marT="36576" marB="36576" anchor="ctr">
                    <a:lnL w="9525">
                      <a:solidFill>
                        <a:srgbClr val="D9D9D9"/>
                      </a:solidFill>
                    </a:lnL>
                    <a:lnR w="9525">
                      <a:solidFill>
                        <a:srgbClr val="D9D9D9"/>
                      </a:solidFill>
                    </a:lnR>
                    <a:lnT w="25400" cap="flat" cmpd="sng" algn="ctr">
                      <a:solidFill>
                        <a:srgbClr val="5B2C91"/>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26 Oct 2026</a:t>
                      </a:r>
                    </a:p>
                  </a:txBody>
                  <a:tcPr marR="73152" marT="36576" marB="36576" anchor="ctr">
                    <a:lnL w="9525">
                      <a:solidFill>
                        <a:srgbClr val="D9D9D9"/>
                      </a:solidFill>
                    </a:lnL>
                    <a:lnR w="9525">
                      <a:solidFill>
                        <a:srgbClr val="D9D9D9"/>
                      </a:solidFill>
                    </a:lnR>
                    <a:lnT w="25400" cap="flat" cmpd="sng" algn="ctr">
                      <a:solidFill>
                        <a:srgbClr val="5B2C91"/>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Delivering operations</a:t>
                      </a:r>
                    </a:p>
                  </a:txBody>
                  <a:tcPr marR="73152" marT="36576" marB="36576" anchor="ctr">
                    <a:lnL w="9525">
                      <a:solidFill>
                        <a:srgbClr val="D9D9D9"/>
                      </a:solidFill>
                    </a:lnL>
                    <a:lnR w="9525">
                      <a:solidFill>
                        <a:srgbClr val="D9D9D9"/>
                      </a:solidFill>
                    </a:lnR>
                    <a:lnT w="25400" cap="flat" cmpd="sng" algn="ctr">
                      <a:solidFill>
                        <a:srgbClr val="5B2C91"/>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100"/>
                        </a:spcAft>
                        <a:buNone/>
                      </a:pPr>
                      <a:r>
                        <a:rPr lang="en-GB" sz="1450" b="1" dirty="0">
                          <a:solidFill>
                            <a:srgbClr val="1A1A1A"/>
                          </a:solidFill>
                          <a:latin typeface="Arial"/>
                          <a:cs typeface="Arial"/>
                        </a:rPr>
                        <a:t>Supply Chain Management</a:t>
                      </a:r>
                    </a:p>
                    <a:p>
                      <a:pPr marL="0" indent="0" algn="l">
                        <a:spcBef>
                          <a:spcPts val="0"/>
                        </a:spcBef>
                        <a:spcAft>
                          <a:spcPts val="0"/>
                        </a:spcAft>
                        <a:buNone/>
                      </a:pPr>
                      <a:r>
                        <a:rPr lang="en-GB" sz="1100" dirty="0">
                          <a:solidFill>
                            <a:srgbClr val="595959"/>
                          </a:solidFill>
                          <a:latin typeface="Arial"/>
                          <a:cs typeface="Arial"/>
                        </a:rPr>
                        <a:t>Disruptions, resilience and sustainability.</a:t>
                      </a:r>
                    </a:p>
                  </a:txBody>
                  <a:tcPr marR="73152" marT="36576" marB="36576" anchor="ctr">
                    <a:lnL w="9525">
                      <a:solidFill>
                        <a:srgbClr val="D9D9D9"/>
                      </a:solidFill>
                    </a:lnL>
                    <a:lnR w="9525">
                      <a:solidFill>
                        <a:srgbClr val="D9D9D9"/>
                      </a:solidFill>
                    </a:lnR>
                    <a:lnT w="25400" cap="flat" cmpd="sng" algn="ctr">
                      <a:solidFill>
                        <a:srgbClr val="5B2C91"/>
                      </a:solidFill>
                      <a:prstDash val="solid"/>
                      <a:round/>
                      <a:headEnd type="none" w="med" len="med"/>
                      <a:tailEnd type="none" w="med" len="med"/>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Tutorial 2: applying Week 4 (TOC, bottlenecks, idle time, balancing loss, productivity)</a:t>
                      </a:r>
                    </a:p>
                  </a:txBody>
                  <a:tcPr marR="73152" marT="36576" marB="36576" anchor="ctr">
                    <a:lnL w="9525">
                      <a:solidFill>
                        <a:srgbClr val="D9D9D9"/>
                      </a:solidFill>
                    </a:lnL>
                    <a:lnR w="9525">
                      <a:solidFill>
                        <a:srgbClr val="D9D9D9"/>
                      </a:solidFill>
                    </a:lnR>
                    <a:lnT w="25400" cap="flat" cmpd="sng" algn="ctr">
                      <a:solidFill>
                        <a:srgbClr val="5B2C91"/>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r h="786384">
                <a:tc>
                  <a:txBody>
                    <a:bodyPr/>
                    <a:lstStyle/>
                    <a:p>
                      <a:pPr marL="0" indent="0" algn="ctr">
                        <a:spcBef>
                          <a:spcPts val="0"/>
                        </a:spcBef>
                        <a:spcAft>
                          <a:spcPts val="0"/>
                        </a:spcAft>
                        <a:buNone/>
                      </a:pPr>
                      <a:r>
                        <a:rPr lang="en-GB" sz="1600" b="1" dirty="0">
                          <a:solidFill>
                            <a:srgbClr val="1A1A1A"/>
                          </a:solidFill>
                          <a:latin typeface="Arial"/>
                          <a:cs typeface="Arial"/>
                        </a:rPr>
                        <a:t>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2 Nov 2026</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Deliver</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100"/>
                        </a:spcAft>
                        <a:buNone/>
                      </a:pPr>
                      <a:r>
                        <a:rPr lang="en-GB" sz="1450" b="1" dirty="0">
                          <a:solidFill>
                            <a:srgbClr val="1A1A1A"/>
                          </a:solidFill>
                          <a:latin typeface="Arial"/>
                          <a:cs typeface="Arial"/>
                        </a:rPr>
                        <a:t>Make-or-Buy Decisions and Break-even Analysis</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No tutorial</a:t>
                      </a:r>
                    </a:p>
                  </a:txBody>
                  <a:tcPr marR="73152" marT="36576" marB="36576" anchor="ctr">
                    <a:lnL w="9525">
                      <a:solidFill>
                        <a:srgbClr val="D9D9D9"/>
                      </a:solidFill>
                    </a:lnL>
                    <a:lnR w="9525">
                      <a:solidFill>
                        <a:srgbClr val="D9D9D9"/>
                      </a:solidFill>
                    </a:lnR>
                    <a:lnT w="9525">
                      <a:solidFill>
                        <a:srgbClr val="D9D9D9"/>
                      </a:solidFill>
                    </a:lnT>
                    <a:lnB w="9525">
                      <a:solidFill>
                        <a:srgbClr val="D9D9D9"/>
                      </a:solidFill>
                    </a:lnB>
                    <a:solidFill>
                      <a:srgbClr val="FFFFFF"/>
                    </a:solidFill>
                  </a:tcPr>
                </a:tc>
                <a:extLst>
                  <a:ext uri="{0D108BD9-81ED-4DB2-BD59-A6C34878D82A}">
                    <a16:rowId xmlns:a16="http://schemas.microsoft.com/office/drawing/2014/main" val="10006"/>
                  </a:ext>
                </a:extLst>
              </a:tr>
            </a:tbl>
          </a:graphicData>
        </a:graphic>
      </p:graphicFrame>
      <p:sp>
        <p:nvSpPr>
          <p:cNvPr id="6" name="Page 6"/>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2</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alendarAlt" descr="CalendarAl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E5F056DD-FF75-CA97-EDE2-59246AF2AB48}"/>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FAF440B7-34F2-582B-736A-B507D282220A}"/>
              </a:ext>
            </a:extLst>
          </p:cNvPr>
          <p:cNvSpPr txBox="1">
            <a:spLocks noGrp="1"/>
          </p:cNvSpPr>
          <p:nvPr>
            <p:ph type="title"/>
          </p:nvPr>
        </p:nvSpPr>
        <p:spPr>
          <a:xfrm>
            <a:off x="-119742" y="0"/>
            <a:ext cx="12594769" cy="1219200"/>
          </a:xfrm>
          <a:prstGeom prst="rect">
            <a:avLst/>
          </a:prstGeom>
        </p:spPr>
        <p:txBody>
          <a:bodyPr spcFirstLastPara="1" wrap="square" lIns="121900" tIns="121900" rIns="121900" bIns="121900" anchor="t" anchorCtr="0">
            <a:normAutofit/>
          </a:bodyPr>
          <a:lstStyle/>
          <a:p>
            <a:r>
              <a:rPr lang="en-GB" sz="4267" b="1" dirty="0">
                <a:solidFill>
                  <a:srgbClr val="7030A0"/>
                </a:solidFill>
                <a:latin typeface="Arial" panose="020B0604020202020204" pitchFamily="34" charset="0"/>
                <a:cs typeface="Arial" panose="020B0604020202020204" pitchFamily="34" charset="0"/>
              </a:rPr>
              <a:t>Learning Outcomes</a:t>
            </a:r>
            <a:endParaRPr sz="4267" b="1" dirty="0">
              <a:solidFill>
                <a:srgbClr val="7030A0"/>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114932-ECC5-ED14-CF7D-420BE249F95E}"/>
              </a:ext>
            </a:extLst>
          </p:cNvPr>
          <p:cNvSpPr txBox="1"/>
          <p:nvPr/>
        </p:nvSpPr>
        <p:spPr>
          <a:xfrm>
            <a:off x="470807" y="1374180"/>
            <a:ext cx="11427279" cy="4093428"/>
          </a:xfrm>
          <a:prstGeom prst="rect">
            <a:avLst/>
          </a:prstGeom>
          <a:noFill/>
        </p:spPr>
        <p:txBody>
          <a:bodyPr wrap="square">
            <a:spAutoFit/>
          </a:bodyPr>
          <a:lstStyle/>
          <a:p>
            <a:pPr>
              <a:buNone/>
            </a:pPr>
            <a:r>
              <a:rPr lang="en-GB" sz="2000" dirty="0">
                <a:latin typeface="Arial" panose="020B0604020202020204" pitchFamily="34" charset="0"/>
                <a:cs typeface="Arial" panose="020B0604020202020204" pitchFamily="34" charset="0"/>
              </a:rPr>
              <a:t>By the end of the session, students should be able to:</a:t>
            </a:r>
          </a:p>
          <a:p>
            <a:pPr marL="380990" indent="-380990">
              <a:buFont typeface="Courier New" panose="02070309020205020404" pitchFamily="49" charset="0"/>
              <a:buChar char="o"/>
            </a:pPr>
            <a:r>
              <a:rPr lang="en-GB" sz="2000" dirty="0">
                <a:latin typeface="Arial" panose="020B0604020202020204" pitchFamily="34" charset="0"/>
                <a:cs typeface="Arial" panose="020B0604020202020204" pitchFamily="34" charset="0"/>
              </a:rPr>
              <a:t>Identify and analyse bottlenecks using the Theory of Constraints, its five focusing steps and drum–buffer–rope, and explain how constraints affect throughput.</a:t>
            </a:r>
          </a:p>
          <a:p>
            <a:endParaRPr lang="en-GB" sz="2000" dirty="0">
              <a:latin typeface="Arial" panose="020B0604020202020204" pitchFamily="34" charset="0"/>
              <a:cs typeface="Arial" panose="020B0604020202020204" pitchFamily="34" charset="0"/>
            </a:endParaRPr>
          </a:p>
          <a:p>
            <a:pPr marL="380990" indent="-380990">
              <a:buFont typeface="Courier New" panose="02070309020205020404" pitchFamily="49" charset="0"/>
              <a:buChar char="o"/>
            </a:pPr>
            <a:r>
              <a:rPr lang="en-GB" sz="2000" dirty="0">
                <a:latin typeface="Arial" panose="020B0604020202020204" pitchFamily="34" charset="0"/>
                <a:cs typeface="Arial" panose="020B0604020202020204" pitchFamily="34" charset="0"/>
              </a:rPr>
              <a:t>Calculate and interpret cycle time, idle time and balancing loss to assess and improve process design.</a:t>
            </a:r>
          </a:p>
          <a:p>
            <a:pPr marL="380990" indent="-380990">
              <a:buFont typeface="Courier New" panose="02070309020205020404" pitchFamily="49" charset="0"/>
              <a:buChar char="o"/>
            </a:pPr>
            <a:endParaRPr lang="en-GB" sz="2000" dirty="0">
              <a:latin typeface="Arial" panose="020B0604020202020204" pitchFamily="34" charset="0"/>
              <a:cs typeface="Arial" panose="020B0604020202020204" pitchFamily="34" charset="0"/>
            </a:endParaRPr>
          </a:p>
          <a:p>
            <a:pPr marL="380990" indent="-380990">
              <a:buFont typeface="Courier New" panose="02070309020205020404" pitchFamily="49" charset="0"/>
              <a:buChar char="o"/>
            </a:pPr>
            <a:r>
              <a:rPr lang="en-GB" sz="2000" dirty="0">
                <a:latin typeface="Arial" panose="020B0604020202020204" pitchFamily="34" charset="0"/>
                <a:cs typeface="Arial" panose="020B0604020202020204" pitchFamily="34" charset="0"/>
              </a:rPr>
              <a:t>Explain how operations technology has developed from MRP and ERP to today’s digital technologies, and how each can help identify, exploit and elevate constraints.</a:t>
            </a:r>
          </a:p>
          <a:p>
            <a:pPr marL="380990" indent="-380990">
              <a:buFont typeface="Courier New" panose="02070309020205020404" pitchFamily="49" charset="0"/>
              <a:buChar char="o"/>
            </a:pPr>
            <a:endParaRPr lang="en-GB" sz="2000" dirty="0">
              <a:latin typeface="Arial" panose="020B0604020202020204" pitchFamily="34" charset="0"/>
              <a:cs typeface="Arial" panose="020B0604020202020204" pitchFamily="34" charset="0"/>
            </a:endParaRPr>
          </a:p>
          <a:p>
            <a:pPr marL="380990" indent="-380990">
              <a:buFont typeface="Courier New" panose="02070309020205020404" pitchFamily="49" charset="0"/>
              <a:buChar char="o"/>
            </a:pPr>
            <a:r>
              <a:rPr lang="en-GB" sz="2000" dirty="0">
                <a:latin typeface="Arial" panose="020B0604020202020204" pitchFamily="34" charset="0"/>
                <a:cs typeface="Arial" panose="020B0604020202020204" pitchFamily="34" charset="0"/>
              </a:rPr>
              <a:t>Assess emerging process technologies (big data, digital twins, agentic AI, blockchain, quantum computing, the metaverse) and evaluate technology choices using fit, performance objectives and NPV.</a:t>
            </a:r>
          </a:p>
        </p:txBody>
      </p:sp>
    </p:spTree>
    <p:extLst>
      <p:ext uri="{BB962C8B-B14F-4D97-AF65-F5344CB8AC3E}">
        <p14:creationId xmlns:p14="http://schemas.microsoft.com/office/powerpoint/2010/main" val="2136423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Productivity Gap</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97280"/>
            <a:ext cx="11274552" cy="685800"/>
          </a:xfrm>
          <a:prstGeom prst="roundRect">
            <a:avLst>
              <a:gd name="adj" fmla="val 12000"/>
            </a:avLst>
          </a:prstGeom>
          <a:solidFill>
            <a:srgbClr val="EBE1F5"/>
          </a:solidFill>
          <a:ln w="15875">
            <a:solidFill>
              <a:srgbClr val="5B2C91"/>
            </a:solidFill>
          </a:ln>
        </p:spPr>
        <p:txBody>
          <a:bodyPr wrap="square" lIns="182880" tIns="54864" rIns="182880" bIns="54864" rtlCol="0" anchor="ctr">
            <a:normAutofit/>
          </a:bodyPr>
          <a:lstStyle/>
          <a:p>
            <a:pPr marL="0" indent="0" algn="ctr">
              <a:spcBef>
                <a:spcPts val="0"/>
              </a:spcBef>
              <a:spcAft>
                <a:spcPts val="0"/>
              </a:spcAft>
              <a:buNone/>
            </a:pPr>
            <a:r>
              <a:rPr lang="en-GB" sz="1800" b="1" i="1" dirty="0">
                <a:solidFill>
                  <a:srgbClr val="5B2C91"/>
                </a:solidFill>
                <a:latin typeface="Arial"/>
                <a:cs typeface="Arial"/>
              </a:rPr>
              <a:t>The difference between actual productivity and a target or benchmark.</a:t>
            </a:r>
          </a:p>
        </p:txBody>
      </p:sp>
      <p:sp>
        <p:nvSpPr>
          <p:cNvPr id="6" name="Box 6"/>
          <p:cNvSpPr/>
          <p:nvPr/>
        </p:nvSpPr>
        <p:spPr>
          <a:xfrm>
            <a:off x="457200" y="2011680"/>
            <a:ext cx="5486400"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WHAT DOES IT SHOW?</a:t>
            </a:r>
          </a:p>
        </p:txBody>
      </p:sp>
      <p:sp>
        <p:nvSpPr>
          <p:cNvPr id="7" name="Box 7"/>
          <p:cNvSpPr/>
          <p:nvPr/>
        </p:nvSpPr>
        <p:spPr>
          <a:xfrm>
            <a:off x="457200" y="2423160"/>
            <a:ext cx="5486400" cy="822960"/>
          </a:xfrm>
          <a:prstGeom prst="rect">
            <a:avLst/>
          </a:prstGeom>
          <a:noFill/>
          <a:ln>
            <a:noFill/>
          </a:ln>
        </p:spPr>
        <p:txBody>
          <a:bodyPr wrap="square" lIns="73152" tIns="45720" rIns="73152" bIns="45720" rtlCol="0" anchor="t">
            <a:normAutofit/>
          </a:bodyPr>
          <a:lstStyle/>
          <a:p>
            <a:pPr marL="0" indent="0" algn="l">
              <a:spcBef>
                <a:spcPts val="0"/>
              </a:spcBef>
              <a:spcAft>
                <a:spcPts val="0"/>
              </a:spcAft>
              <a:buNone/>
            </a:pPr>
            <a:r>
              <a:rPr lang="en-GB" sz="1650" dirty="0">
                <a:solidFill>
                  <a:srgbClr val="1A1A1A"/>
                </a:solidFill>
                <a:latin typeface="Arial"/>
                <a:cs typeface="Arial"/>
              </a:rPr>
              <a:t>How much more output an operation could produce from the same resources.</a:t>
            </a:r>
          </a:p>
        </p:txBody>
      </p:sp>
      <p:sp>
        <p:nvSpPr>
          <p:cNvPr id="8" name="Box 8"/>
          <p:cNvSpPr/>
          <p:nvPr/>
        </p:nvSpPr>
        <p:spPr>
          <a:xfrm>
            <a:off x="457200" y="3383280"/>
            <a:ext cx="5486400" cy="2514600"/>
          </a:xfrm>
          <a:prstGeom prst="roundRect">
            <a:avLst>
              <a:gd name="adj" fmla="val 6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9" name="Icon circle 9"/>
          <p:cNvSpPr/>
          <p:nvPr/>
        </p:nvSpPr>
        <p:spPr>
          <a:xfrm>
            <a:off x="685800" y="3547872"/>
            <a:ext cx="548640" cy="548640"/>
          </a:xfrm>
          <a:prstGeom prst="ellipse">
            <a:avLst/>
          </a:prstGeom>
          <a:solidFill>
            <a:srgbClr val="5B2C91"/>
          </a:solidFill>
          <a:ln>
            <a:noFill/>
          </a:ln>
        </p:spPr>
        <p:txBody>
          <a:bodyPr/>
          <a:lstStyle/>
          <a:p>
            <a:endParaRPr lang="en-GB"/>
          </a:p>
        </p:txBody>
      </p:sp>
      <p:pic>
        <p:nvPicPr>
          <p:cNvPr id="10" name="Icon FaCoffee" descr="Coffee icon"/>
          <p:cNvPicPr>
            <a:picLocks noChangeAspect="1"/>
          </p:cNvPicPr>
          <p:nvPr/>
        </p:nvPicPr>
        <p:blipFill>
          <a:blip r:embed="rId2"/>
          <a:stretch>
            <a:fillRect/>
          </a:stretch>
        </p:blipFill>
        <p:spPr>
          <a:xfrm>
            <a:off x="806501" y="3668573"/>
            <a:ext cx="307238" cy="307238"/>
          </a:xfrm>
          <a:prstGeom prst="rect">
            <a:avLst/>
          </a:prstGeom>
        </p:spPr>
      </p:pic>
      <p:sp>
        <p:nvSpPr>
          <p:cNvPr id="11" name="Box 11"/>
          <p:cNvSpPr/>
          <p:nvPr/>
        </p:nvSpPr>
        <p:spPr>
          <a:xfrm>
            <a:off x="1371600" y="3547872"/>
            <a:ext cx="438912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700" b="1" dirty="0">
                <a:solidFill>
                  <a:srgbClr val="5B2C91"/>
                </a:solidFill>
                <a:latin typeface="Arial"/>
                <a:cs typeface="Arial"/>
              </a:rPr>
              <a:t>Coffee shop example</a:t>
            </a:r>
          </a:p>
        </p:txBody>
      </p:sp>
      <p:sp>
        <p:nvSpPr>
          <p:cNvPr id="12" name="Box 12"/>
          <p:cNvSpPr/>
          <p:nvPr/>
        </p:nvSpPr>
        <p:spPr>
          <a:xfrm>
            <a:off x="685800" y="4206240"/>
            <a:ext cx="5120640" cy="77724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550" dirty="0">
                <a:solidFill>
                  <a:srgbClr val="1A1A1A"/>
                </a:solidFill>
                <a:latin typeface="Arial"/>
                <a:cs typeface="Arial"/>
              </a:rPr>
              <a:t>Actual: 30 drinks per labour-hour</a:t>
            </a:r>
          </a:p>
          <a:p>
            <a:pPr marL="0" indent="0" algn="l">
              <a:spcBef>
                <a:spcPts val="0"/>
              </a:spcBef>
              <a:spcAft>
                <a:spcPts val="0"/>
              </a:spcAft>
              <a:buNone/>
            </a:pPr>
            <a:r>
              <a:rPr lang="en-GB" sz="1550" dirty="0">
                <a:solidFill>
                  <a:srgbClr val="1A1A1A"/>
                </a:solidFill>
                <a:latin typeface="Arial"/>
                <a:cs typeface="Arial"/>
              </a:rPr>
              <a:t>Benchmark: 40 drinks per labour-hour</a:t>
            </a:r>
          </a:p>
        </p:txBody>
      </p:sp>
      <p:sp>
        <p:nvSpPr>
          <p:cNvPr id="13" name="Box 13"/>
          <p:cNvSpPr/>
          <p:nvPr/>
        </p:nvSpPr>
        <p:spPr>
          <a:xfrm>
            <a:off x="685800" y="5029200"/>
            <a:ext cx="5120640" cy="777240"/>
          </a:xfrm>
          <a:prstGeom prst="rect">
            <a:avLst/>
          </a:prstGeom>
          <a:noFill/>
          <a:ln>
            <a:noFill/>
          </a:ln>
        </p:spPr>
        <p:txBody>
          <a:bodyPr wrap="square" lIns="73152" tIns="45720" rIns="73152" bIns="45720" rtlCol="0" anchor="t">
            <a:normAutofit/>
          </a:bodyPr>
          <a:lstStyle/>
          <a:p>
            <a:pPr marL="0" indent="0" algn="l">
              <a:spcBef>
                <a:spcPts val="0"/>
              </a:spcBef>
              <a:spcAft>
                <a:spcPts val="100"/>
              </a:spcAft>
              <a:buNone/>
            </a:pPr>
            <a:r>
              <a:rPr lang="en-GB" sz="1800" b="1" dirty="0">
                <a:solidFill>
                  <a:srgbClr val="B4285A"/>
                </a:solidFill>
                <a:latin typeface="Arial"/>
                <a:cs typeface="Arial"/>
              </a:rPr>
              <a:t>Gap = 10 drinks per labour-hour</a:t>
            </a:r>
          </a:p>
          <a:p>
            <a:pPr marL="0" indent="0" algn="l">
              <a:spcBef>
                <a:spcPts val="0"/>
              </a:spcBef>
              <a:spcAft>
                <a:spcPts val="0"/>
              </a:spcAft>
              <a:buNone/>
            </a:pPr>
            <a:r>
              <a:rPr lang="en-GB" sz="1600" b="1" dirty="0">
                <a:solidFill>
                  <a:srgbClr val="B4285A"/>
                </a:solidFill>
                <a:latin typeface="Arial"/>
                <a:cs typeface="Arial"/>
              </a:rPr>
              <a:t>= 10 ÷ 40 = 25% below the benchmark</a:t>
            </a:r>
          </a:p>
        </p:txBody>
      </p:sp>
      <p:sp>
        <p:nvSpPr>
          <p:cNvPr id="14" name="Box 14"/>
          <p:cNvSpPr/>
          <p:nvPr/>
        </p:nvSpPr>
        <p:spPr>
          <a:xfrm>
            <a:off x="6309360" y="2011680"/>
            <a:ext cx="542239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WHY IT MATTERS IN OPERATIONS</a:t>
            </a:r>
          </a:p>
        </p:txBody>
      </p:sp>
      <p:sp>
        <p:nvSpPr>
          <p:cNvPr id="15" name="Icon circle 15"/>
          <p:cNvSpPr/>
          <p:nvPr/>
        </p:nvSpPr>
        <p:spPr>
          <a:xfrm>
            <a:off x="6309360" y="2587752"/>
            <a:ext cx="566928" cy="566928"/>
          </a:xfrm>
          <a:prstGeom prst="ellipse">
            <a:avLst/>
          </a:prstGeom>
          <a:solidFill>
            <a:srgbClr val="5B2C91"/>
          </a:solidFill>
          <a:ln>
            <a:noFill/>
          </a:ln>
        </p:spPr>
        <p:txBody>
          <a:bodyPr/>
          <a:lstStyle/>
          <a:p>
            <a:endParaRPr lang="en-GB"/>
          </a:p>
        </p:txBody>
      </p:sp>
      <p:pic>
        <p:nvPicPr>
          <p:cNvPr id="16" name="Icon FaSearch" descr="Search icon"/>
          <p:cNvPicPr>
            <a:picLocks noChangeAspect="1"/>
          </p:cNvPicPr>
          <p:nvPr/>
        </p:nvPicPr>
        <p:blipFill>
          <a:blip r:embed="rId3"/>
          <a:stretch>
            <a:fillRect/>
          </a:stretch>
        </p:blipFill>
        <p:spPr>
          <a:xfrm>
            <a:off x="6434084" y="2712476"/>
            <a:ext cx="317480" cy="317480"/>
          </a:xfrm>
          <a:prstGeom prst="rect">
            <a:avLst/>
          </a:prstGeom>
        </p:spPr>
      </p:pic>
      <p:sp>
        <p:nvSpPr>
          <p:cNvPr id="17" name="Box 17"/>
          <p:cNvSpPr/>
          <p:nvPr/>
        </p:nvSpPr>
        <p:spPr>
          <a:xfrm>
            <a:off x="7040880" y="2514600"/>
            <a:ext cx="4690872" cy="777240"/>
          </a:xfrm>
          <a:prstGeom prst="rect">
            <a:avLst/>
          </a:prstGeom>
          <a:noFill/>
          <a:ln>
            <a:noFill/>
          </a:ln>
        </p:spPr>
        <p:txBody>
          <a:bodyPr wrap="square" lIns="73152" tIns="45720" rIns="73152" bIns="45720" rtlCol="0" anchor="ctr">
            <a:normAutofit/>
          </a:bodyPr>
          <a:lstStyle/>
          <a:p>
            <a:pPr marL="0" indent="0" algn="l">
              <a:spcBef>
                <a:spcPts val="0"/>
              </a:spcBef>
              <a:spcAft>
                <a:spcPts val="100"/>
              </a:spcAft>
              <a:buNone/>
            </a:pPr>
            <a:r>
              <a:rPr lang="en-GB" sz="1600" b="1" dirty="0">
                <a:solidFill>
                  <a:srgbClr val="1A1A1A"/>
                </a:solidFill>
                <a:latin typeface="Arial"/>
                <a:cs typeface="Arial"/>
              </a:rPr>
              <a:t>Identify improvement opportunities</a:t>
            </a:r>
          </a:p>
          <a:p>
            <a:pPr marL="0" indent="0" algn="l">
              <a:spcBef>
                <a:spcPts val="0"/>
              </a:spcBef>
              <a:spcAft>
                <a:spcPts val="0"/>
              </a:spcAft>
              <a:buNone/>
            </a:pPr>
            <a:r>
              <a:rPr lang="en-GB" sz="1550" dirty="0">
                <a:solidFill>
                  <a:srgbClr val="333333"/>
                </a:solidFill>
                <a:latin typeface="Arial"/>
                <a:cs typeface="Arial"/>
              </a:rPr>
              <a:t>Investigate delays, bottlenecks and rework.</a:t>
            </a:r>
          </a:p>
        </p:txBody>
      </p:sp>
      <p:sp>
        <p:nvSpPr>
          <p:cNvPr id="18" name="Icon circle 18"/>
          <p:cNvSpPr/>
          <p:nvPr/>
        </p:nvSpPr>
        <p:spPr>
          <a:xfrm>
            <a:off x="6309360" y="3456432"/>
            <a:ext cx="566928" cy="566928"/>
          </a:xfrm>
          <a:prstGeom prst="ellipse">
            <a:avLst/>
          </a:prstGeom>
          <a:solidFill>
            <a:srgbClr val="5B2C91"/>
          </a:solidFill>
          <a:ln>
            <a:noFill/>
          </a:ln>
        </p:spPr>
        <p:txBody>
          <a:bodyPr/>
          <a:lstStyle/>
          <a:p>
            <a:endParaRPr lang="en-GB"/>
          </a:p>
        </p:txBody>
      </p:sp>
      <p:pic>
        <p:nvPicPr>
          <p:cNvPr id="19" name="Icon FaPoundSign" descr="PoundSign icon"/>
          <p:cNvPicPr>
            <a:picLocks noChangeAspect="1"/>
          </p:cNvPicPr>
          <p:nvPr/>
        </p:nvPicPr>
        <p:blipFill>
          <a:blip r:embed="rId4"/>
          <a:stretch>
            <a:fillRect/>
          </a:stretch>
        </p:blipFill>
        <p:spPr>
          <a:xfrm>
            <a:off x="6434084" y="3581156"/>
            <a:ext cx="317480" cy="317480"/>
          </a:xfrm>
          <a:prstGeom prst="rect">
            <a:avLst/>
          </a:prstGeom>
        </p:spPr>
      </p:pic>
      <p:sp>
        <p:nvSpPr>
          <p:cNvPr id="20" name="Box 20"/>
          <p:cNvSpPr/>
          <p:nvPr/>
        </p:nvSpPr>
        <p:spPr>
          <a:xfrm>
            <a:off x="7040880" y="3383280"/>
            <a:ext cx="4690872" cy="777240"/>
          </a:xfrm>
          <a:prstGeom prst="rect">
            <a:avLst/>
          </a:prstGeom>
          <a:noFill/>
          <a:ln>
            <a:noFill/>
          </a:ln>
        </p:spPr>
        <p:txBody>
          <a:bodyPr wrap="square" lIns="73152" tIns="45720" rIns="73152" bIns="45720" rtlCol="0" anchor="ctr">
            <a:normAutofit/>
          </a:bodyPr>
          <a:lstStyle/>
          <a:p>
            <a:pPr marL="0" indent="0" algn="l">
              <a:spcBef>
                <a:spcPts val="0"/>
              </a:spcBef>
              <a:spcAft>
                <a:spcPts val="100"/>
              </a:spcAft>
              <a:buNone/>
            </a:pPr>
            <a:r>
              <a:rPr lang="en-GB" sz="1600" b="1" dirty="0">
                <a:solidFill>
                  <a:srgbClr val="1A1A1A"/>
                </a:solidFill>
                <a:latin typeface="Arial"/>
                <a:cs typeface="Arial"/>
              </a:rPr>
              <a:t>Reduce the cost per unit</a:t>
            </a:r>
          </a:p>
          <a:p>
            <a:pPr marL="0" indent="0" algn="l">
              <a:spcBef>
                <a:spcPts val="0"/>
              </a:spcBef>
              <a:spcAft>
                <a:spcPts val="0"/>
              </a:spcAft>
              <a:buNone/>
            </a:pPr>
            <a:r>
              <a:rPr lang="en-GB" sz="1550" dirty="0">
                <a:solidFill>
                  <a:srgbClr val="333333"/>
                </a:solidFill>
                <a:latin typeface="Arial"/>
                <a:cs typeface="Arial"/>
              </a:rPr>
              <a:t>Produce more with the same resources.</a:t>
            </a:r>
          </a:p>
        </p:txBody>
      </p:sp>
      <p:sp>
        <p:nvSpPr>
          <p:cNvPr id="21" name="Icon circle 21"/>
          <p:cNvSpPr/>
          <p:nvPr/>
        </p:nvSpPr>
        <p:spPr>
          <a:xfrm>
            <a:off x="6309360" y="4325112"/>
            <a:ext cx="566928" cy="566928"/>
          </a:xfrm>
          <a:prstGeom prst="ellipse">
            <a:avLst/>
          </a:prstGeom>
          <a:solidFill>
            <a:srgbClr val="5B2C91"/>
          </a:solidFill>
          <a:ln>
            <a:noFill/>
          </a:ln>
        </p:spPr>
        <p:txBody>
          <a:bodyPr/>
          <a:lstStyle/>
          <a:p>
            <a:endParaRPr lang="en-GB"/>
          </a:p>
        </p:txBody>
      </p:sp>
      <p:pic>
        <p:nvPicPr>
          <p:cNvPr id="22" name="Icon FaSlidersH" descr="SlidersH icon"/>
          <p:cNvPicPr>
            <a:picLocks noChangeAspect="1"/>
          </p:cNvPicPr>
          <p:nvPr/>
        </p:nvPicPr>
        <p:blipFill>
          <a:blip r:embed="rId5"/>
          <a:stretch>
            <a:fillRect/>
          </a:stretch>
        </p:blipFill>
        <p:spPr>
          <a:xfrm>
            <a:off x="6434084" y="4449836"/>
            <a:ext cx="317480" cy="317480"/>
          </a:xfrm>
          <a:prstGeom prst="rect">
            <a:avLst/>
          </a:prstGeom>
        </p:spPr>
      </p:pic>
      <p:sp>
        <p:nvSpPr>
          <p:cNvPr id="23" name="Box 23"/>
          <p:cNvSpPr/>
          <p:nvPr/>
        </p:nvSpPr>
        <p:spPr>
          <a:xfrm>
            <a:off x="7040880" y="4251960"/>
            <a:ext cx="4690872" cy="777240"/>
          </a:xfrm>
          <a:prstGeom prst="rect">
            <a:avLst/>
          </a:prstGeom>
          <a:noFill/>
          <a:ln>
            <a:noFill/>
          </a:ln>
        </p:spPr>
        <p:txBody>
          <a:bodyPr wrap="square" lIns="73152" tIns="45720" rIns="73152" bIns="45720" rtlCol="0" anchor="ctr">
            <a:normAutofit lnSpcReduction="10000"/>
          </a:bodyPr>
          <a:lstStyle/>
          <a:p>
            <a:pPr marL="0" indent="0" algn="l">
              <a:spcBef>
                <a:spcPts val="0"/>
              </a:spcBef>
              <a:spcAft>
                <a:spcPts val="100"/>
              </a:spcAft>
              <a:buNone/>
            </a:pPr>
            <a:r>
              <a:rPr lang="en-GB" sz="1600" b="1" dirty="0">
                <a:solidFill>
                  <a:srgbClr val="1A1A1A"/>
                </a:solidFill>
                <a:latin typeface="Arial"/>
                <a:cs typeface="Arial"/>
              </a:rPr>
              <a:t>Guide resource decisions</a:t>
            </a:r>
          </a:p>
          <a:p>
            <a:pPr marL="0" indent="0" algn="l">
              <a:spcBef>
                <a:spcPts val="0"/>
              </a:spcBef>
              <a:spcAft>
                <a:spcPts val="0"/>
              </a:spcAft>
              <a:buNone/>
            </a:pPr>
            <a:r>
              <a:rPr lang="en-GB" sz="1550" dirty="0">
                <a:solidFill>
                  <a:srgbClr val="333333"/>
                </a:solidFill>
                <a:latin typeface="Arial"/>
                <a:cs typeface="Arial"/>
              </a:rPr>
              <a:t>Assess changes to processes, training or technology.</a:t>
            </a:r>
          </a:p>
        </p:txBody>
      </p:sp>
      <p:sp>
        <p:nvSpPr>
          <p:cNvPr id="24" name="Icon circle 24"/>
          <p:cNvSpPr/>
          <p:nvPr/>
        </p:nvSpPr>
        <p:spPr>
          <a:xfrm>
            <a:off x="6309360" y="5193792"/>
            <a:ext cx="566928" cy="566928"/>
          </a:xfrm>
          <a:prstGeom prst="ellipse">
            <a:avLst/>
          </a:prstGeom>
          <a:solidFill>
            <a:srgbClr val="5B2C91"/>
          </a:solidFill>
          <a:ln>
            <a:noFill/>
          </a:ln>
        </p:spPr>
        <p:txBody>
          <a:bodyPr/>
          <a:lstStyle/>
          <a:p>
            <a:endParaRPr lang="en-GB"/>
          </a:p>
        </p:txBody>
      </p:sp>
      <p:pic>
        <p:nvPicPr>
          <p:cNvPr id="25" name="Icon FaChartLine" descr="ChartLine icon"/>
          <p:cNvPicPr>
            <a:picLocks noChangeAspect="1"/>
          </p:cNvPicPr>
          <p:nvPr/>
        </p:nvPicPr>
        <p:blipFill>
          <a:blip r:embed="rId6"/>
          <a:stretch>
            <a:fillRect/>
          </a:stretch>
        </p:blipFill>
        <p:spPr>
          <a:xfrm>
            <a:off x="6434084" y="5318516"/>
            <a:ext cx="317480" cy="317480"/>
          </a:xfrm>
          <a:prstGeom prst="rect">
            <a:avLst/>
          </a:prstGeom>
        </p:spPr>
      </p:pic>
      <p:sp>
        <p:nvSpPr>
          <p:cNvPr id="26" name="Box 26"/>
          <p:cNvSpPr/>
          <p:nvPr/>
        </p:nvSpPr>
        <p:spPr>
          <a:xfrm>
            <a:off x="7040880" y="5120640"/>
            <a:ext cx="4690872" cy="777240"/>
          </a:xfrm>
          <a:prstGeom prst="rect">
            <a:avLst/>
          </a:prstGeom>
          <a:noFill/>
          <a:ln>
            <a:noFill/>
          </a:ln>
        </p:spPr>
        <p:txBody>
          <a:bodyPr wrap="square" lIns="73152" tIns="45720" rIns="73152" bIns="45720" rtlCol="0" anchor="ctr">
            <a:normAutofit/>
          </a:bodyPr>
          <a:lstStyle/>
          <a:p>
            <a:pPr marL="0" indent="0" algn="l">
              <a:spcBef>
                <a:spcPts val="0"/>
              </a:spcBef>
              <a:spcAft>
                <a:spcPts val="100"/>
              </a:spcAft>
              <a:buNone/>
            </a:pPr>
            <a:r>
              <a:rPr lang="en-GB" sz="1600" b="1" dirty="0">
                <a:solidFill>
                  <a:srgbClr val="1A1A1A"/>
                </a:solidFill>
                <a:latin typeface="Arial"/>
                <a:cs typeface="Arial"/>
              </a:rPr>
              <a:t>Track improvement</a:t>
            </a:r>
          </a:p>
          <a:p>
            <a:pPr marL="0" indent="0" algn="l">
              <a:spcBef>
                <a:spcPts val="0"/>
              </a:spcBef>
              <a:spcAft>
                <a:spcPts val="0"/>
              </a:spcAft>
              <a:buNone/>
            </a:pPr>
            <a:r>
              <a:rPr lang="en-GB" sz="1550" dirty="0">
                <a:solidFill>
                  <a:srgbClr val="333333"/>
                </a:solidFill>
                <a:latin typeface="Arial"/>
                <a:cs typeface="Arial"/>
              </a:rPr>
              <a:t>Check whether changes close the gap.</a:t>
            </a:r>
          </a:p>
        </p:txBody>
      </p:sp>
      <p:sp>
        <p:nvSpPr>
          <p:cNvPr id="27" name="Box 27"/>
          <p:cNvSpPr/>
          <p:nvPr/>
        </p:nvSpPr>
        <p:spPr>
          <a:xfrm>
            <a:off x="457200" y="6035040"/>
            <a:ext cx="11274552" cy="3657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00" i="1" dirty="0">
                <a:solidFill>
                  <a:srgbClr val="666666"/>
                </a:solidFill>
                <a:latin typeface="Arial"/>
                <a:cs typeface="Arial"/>
              </a:rPr>
              <a:t>Compare similar work and service standards. Productivity improvements must maintain quality.</a:t>
            </a:r>
          </a:p>
        </p:txBody>
      </p:sp>
      <p:sp>
        <p:nvSpPr>
          <p:cNvPr id="28" name="Page 28"/>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Percentage" descr="Percentage icon"/>
          <p:cNvPicPr>
            <a:picLocks noChangeAspect="1"/>
          </p:cNvPicPr>
          <p:nvPr/>
        </p:nvPicPr>
        <p:blipFill>
          <a:blip r:embed="rId7"/>
          <a:stretch>
            <a:fillRect/>
          </a:stretch>
        </p:blipFill>
        <p:spPr>
          <a:xfrm>
            <a:off x="577901" y="449885"/>
            <a:ext cx="307238" cy="3072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Key Definitions: Productivity and Gap Analysis</a:t>
            </a:r>
          </a:p>
        </p:txBody>
      </p:sp>
      <p:cxnSp>
        <p:nvCxnSpPr>
          <p:cNvPr id="4" name="Line 4"/>
          <p:cNvCxnSpPr/>
          <p:nvPr/>
        </p:nvCxnSpPr>
        <p:spPr>
          <a:xfrm>
            <a:off x="457200" y="960120"/>
            <a:ext cx="11274552" cy="0"/>
          </a:xfrm>
          <a:prstGeom prst="line">
            <a:avLst/>
          </a:prstGeom>
          <a:ln w="15875">
            <a:solidFill>
              <a:srgbClr val="5B2C91"/>
            </a:solidFill>
          </a:ln>
        </p:spPr>
      </p:cxnSp>
      <p:graphicFrame>
        <p:nvGraphicFramePr>
          <p:cNvPr id="5" name="Table 5"/>
          <p:cNvGraphicFramePr>
            <a:graphicFrameLocks noGrp="1"/>
          </p:cNvGraphicFramePr>
          <p:nvPr/>
        </p:nvGraphicFramePr>
        <p:xfrm>
          <a:off x="457200" y="1143000"/>
          <a:ext cx="11274552" cy="3950208"/>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36592">
                  <a:extLst>
                    <a:ext uri="{9D8B030D-6E8A-4147-A177-3AD203B41FA5}">
                      <a16:colId xmlns:a16="http://schemas.microsoft.com/office/drawing/2014/main" val="20002"/>
                    </a:ext>
                  </a:extLst>
                </a:gridCol>
              </a:tblGrid>
              <a:tr h="658368">
                <a:tc>
                  <a:txBody>
                    <a:bodyPr/>
                    <a:lstStyle/>
                    <a:p>
                      <a:pPr marL="0" indent="0" algn="l">
                        <a:spcBef>
                          <a:spcPts val="0"/>
                        </a:spcBef>
                        <a:spcAft>
                          <a:spcPts val="0"/>
                        </a:spcAft>
                        <a:buNone/>
                      </a:pPr>
                      <a:r>
                        <a:rPr lang="en-GB" sz="1400" b="1" dirty="0">
                          <a:solidFill>
                            <a:srgbClr val="FFFFFF"/>
                          </a:solidFill>
                          <a:latin typeface="Arial"/>
                          <a:cs typeface="Arial"/>
                        </a:rPr>
                        <a:t>Term</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400" b="1" dirty="0">
                          <a:solidFill>
                            <a:srgbClr val="FFFFFF"/>
                          </a:solidFill>
                          <a:latin typeface="Arial"/>
                          <a:cs typeface="Arial"/>
                        </a:rPr>
                        <a:t>Definition</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400" b="1" dirty="0">
                          <a:solidFill>
                            <a:srgbClr val="FFFFFF"/>
                          </a:solidFill>
                          <a:latin typeface="Arial"/>
                          <a:cs typeface="Arial"/>
                        </a:rPr>
                        <a:t>Formula</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658368">
                <a:tc>
                  <a:txBody>
                    <a:bodyPr/>
                    <a:lstStyle/>
                    <a:p>
                      <a:pPr marL="0" indent="0" algn="l">
                        <a:spcBef>
                          <a:spcPts val="0"/>
                        </a:spcBef>
                        <a:spcAft>
                          <a:spcPts val="0"/>
                        </a:spcAft>
                        <a:buNone/>
                      </a:pPr>
                      <a:r>
                        <a:rPr lang="en-GB" sz="1400" dirty="0">
                          <a:solidFill>
                            <a:srgbClr val="1A1A1A"/>
                          </a:solidFill>
                          <a:latin typeface="Arial"/>
                          <a:cs typeface="Arial"/>
                        </a:rPr>
                        <a:t>Productivity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Output achieved per unit of input (e.g. per labour-hour)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Productivity = Output ÷ Input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658368">
                <a:tc>
                  <a:txBody>
                    <a:bodyPr/>
                    <a:lstStyle/>
                    <a:p>
                      <a:pPr marL="0" indent="0" algn="l">
                        <a:spcBef>
                          <a:spcPts val="0"/>
                        </a:spcBef>
                        <a:spcAft>
                          <a:spcPts val="0"/>
                        </a:spcAft>
                        <a:buNone/>
                      </a:pPr>
                      <a:r>
                        <a:rPr lang="en-GB" sz="1400" dirty="0">
                          <a:solidFill>
                            <a:srgbClr val="1A1A1A"/>
                          </a:solidFill>
                          <a:latin typeface="Arial"/>
                          <a:cs typeface="Arial"/>
                        </a:rPr>
                        <a:t>Productivity gap</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How far actual productivity falls below the target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Gap = Target − Actual</a:t>
                      </a:r>
                      <a:br>
                        <a:rPr lang="en-GB"/>
                      </a:br>
                      <a:r>
                        <a:rPr lang="en-GB" sz="1400" dirty="0">
                          <a:solidFill>
                            <a:srgbClr val="1A1A1A"/>
                          </a:solidFill>
                          <a:latin typeface="Arial"/>
                          <a:cs typeface="Arial"/>
                        </a:rPr>
                        <a:t>Gap % = (Target − Actual) ÷ Target × 100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658368">
                <a:tc>
                  <a:txBody>
                    <a:bodyPr/>
                    <a:lstStyle/>
                    <a:p>
                      <a:pPr marL="0" indent="0" algn="l">
                        <a:spcBef>
                          <a:spcPts val="0"/>
                        </a:spcBef>
                        <a:spcAft>
                          <a:spcPts val="0"/>
                        </a:spcAft>
                        <a:buNone/>
                      </a:pPr>
                      <a:r>
                        <a:rPr lang="en-GB" sz="1400" dirty="0">
                          <a:solidFill>
                            <a:srgbClr val="1A1A1A"/>
                          </a:solidFill>
                          <a:latin typeface="Arial"/>
                          <a:cs typeface="Arial"/>
                        </a:rPr>
                        <a:t>Importance score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How much customers value a factor (1–9, where 9 = most important)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Measured by asking customers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658368">
                <a:tc>
                  <a:txBody>
                    <a:bodyPr/>
                    <a:lstStyle/>
                    <a:p>
                      <a:pPr marL="0" indent="0" algn="l">
                        <a:spcBef>
                          <a:spcPts val="0"/>
                        </a:spcBef>
                        <a:spcAft>
                          <a:spcPts val="0"/>
                        </a:spcAft>
                        <a:buNone/>
                      </a:pPr>
                      <a:r>
                        <a:rPr lang="en-GB" sz="1400" dirty="0">
                          <a:solidFill>
                            <a:srgbClr val="1A1A1A"/>
                          </a:solidFill>
                          <a:latin typeface="Arial"/>
                          <a:cs typeface="Arial"/>
                        </a:rPr>
                        <a:t>Performance score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How well the operation performs on that factor (1–9, where 9 = best)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Measured against targets or competitors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658368">
                <a:tc>
                  <a:txBody>
                    <a:bodyPr/>
                    <a:lstStyle/>
                    <a:p>
                      <a:pPr marL="0" indent="0" algn="l">
                        <a:spcBef>
                          <a:spcPts val="0"/>
                        </a:spcBef>
                        <a:spcAft>
                          <a:spcPts val="0"/>
                        </a:spcAft>
                        <a:buNone/>
                      </a:pPr>
                      <a:r>
                        <a:rPr lang="en-GB" sz="1400" dirty="0">
                          <a:solidFill>
                            <a:srgbClr val="1A1A1A"/>
                          </a:solidFill>
                          <a:latin typeface="Arial"/>
                          <a:cs typeface="Arial"/>
                        </a:rPr>
                        <a:t>Importance–performance gap</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The shortfall on the things customers value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IP gap = Importance − Performance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6" name="Box 6"/>
          <p:cNvSpPr/>
          <p:nvPr/>
        </p:nvSpPr>
        <p:spPr>
          <a:xfrm>
            <a:off x="457200" y="5257800"/>
            <a:ext cx="3657600" cy="777240"/>
          </a:xfrm>
          <a:prstGeom prst="roundRect">
            <a:avLst>
              <a:gd name="adj" fmla="val 12000"/>
            </a:avLst>
          </a:prstGeom>
          <a:solidFill>
            <a:srgbClr val="B4285A"/>
          </a:solidFill>
          <a:ln>
            <a:noFill/>
          </a:ln>
        </p:spPr>
        <p:txBody>
          <a:bodyPr wrap="square" lIns="73152" tIns="45720" rIns="73152" bIns="45720" rtlCol="0" anchor="ctr">
            <a:normAutofit/>
          </a:bodyPr>
          <a:lstStyle/>
          <a:p>
            <a:pPr marL="0" indent="0" algn="ctr">
              <a:spcBef>
                <a:spcPts val="0"/>
              </a:spcBef>
              <a:spcAft>
                <a:spcPts val="100"/>
              </a:spcAft>
              <a:buNone/>
            </a:pPr>
            <a:r>
              <a:rPr lang="en-GB" sz="1450" b="1" dirty="0">
                <a:solidFill>
                  <a:srgbClr val="FFFFFF"/>
                </a:solidFill>
                <a:latin typeface="Arial"/>
                <a:cs typeface="Arial"/>
              </a:rPr>
              <a:t>Large positive gap</a:t>
            </a:r>
          </a:p>
          <a:p>
            <a:pPr marL="0" indent="0" algn="ctr">
              <a:spcBef>
                <a:spcPts val="0"/>
              </a:spcBef>
              <a:spcAft>
                <a:spcPts val="0"/>
              </a:spcAft>
              <a:buNone/>
            </a:pPr>
            <a:r>
              <a:rPr lang="en-GB" sz="1150" dirty="0">
                <a:solidFill>
                  <a:srgbClr val="FFFFFF"/>
                </a:solidFill>
                <a:latin typeface="Arial"/>
                <a:cs typeface="Arial"/>
              </a:rPr>
              <a:t>Priority for improvement (urgent action)</a:t>
            </a:r>
          </a:p>
        </p:txBody>
      </p:sp>
      <p:sp>
        <p:nvSpPr>
          <p:cNvPr id="7" name="Box 7"/>
          <p:cNvSpPr/>
          <p:nvPr/>
        </p:nvSpPr>
        <p:spPr>
          <a:xfrm>
            <a:off x="4261104" y="5257800"/>
            <a:ext cx="3657600" cy="777240"/>
          </a:xfrm>
          <a:prstGeom prst="roundRect">
            <a:avLst>
              <a:gd name="adj" fmla="val 12000"/>
            </a:avLst>
          </a:prstGeom>
          <a:solidFill>
            <a:srgbClr val="5B2C91"/>
          </a:solidFill>
          <a:ln>
            <a:noFill/>
          </a:ln>
        </p:spPr>
        <p:txBody>
          <a:bodyPr wrap="square" lIns="73152" tIns="45720" rIns="73152" bIns="45720" rtlCol="0" anchor="ctr">
            <a:normAutofit/>
          </a:bodyPr>
          <a:lstStyle/>
          <a:p>
            <a:pPr marL="0" indent="0" algn="ctr">
              <a:spcBef>
                <a:spcPts val="0"/>
              </a:spcBef>
              <a:spcAft>
                <a:spcPts val="100"/>
              </a:spcAft>
              <a:buNone/>
            </a:pPr>
            <a:r>
              <a:rPr lang="en-GB" sz="1450" b="1" dirty="0">
                <a:solidFill>
                  <a:srgbClr val="FFFFFF"/>
                </a:solidFill>
                <a:latin typeface="Arial"/>
                <a:cs typeface="Arial"/>
              </a:rPr>
              <a:t>Gap near zero</a:t>
            </a:r>
          </a:p>
          <a:p>
            <a:pPr marL="0" indent="0" algn="ctr">
              <a:spcBef>
                <a:spcPts val="0"/>
              </a:spcBef>
              <a:spcAft>
                <a:spcPts val="0"/>
              </a:spcAft>
              <a:buNone/>
            </a:pPr>
            <a:r>
              <a:rPr lang="en-GB" sz="1150" dirty="0">
                <a:solidFill>
                  <a:srgbClr val="FFFFFF"/>
                </a:solidFill>
                <a:latin typeface="Arial"/>
                <a:cs typeface="Arial"/>
              </a:rPr>
              <a:t>Appropriate: maintain</a:t>
            </a:r>
          </a:p>
        </p:txBody>
      </p:sp>
      <p:sp>
        <p:nvSpPr>
          <p:cNvPr id="8" name="Box 8"/>
          <p:cNvSpPr/>
          <p:nvPr/>
        </p:nvSpPr>
        <p:spPr>
          <a:xfrm>
            <a:off x="8065008" y="5257800"/>
            <a:ext cx="3657600" cy="777240"/>
          </a:xfrm>
          <a:prstGeom prst="roundRect">
            <a:avLst>
              <a:gd name="adj" fmla="val 12000"/>
            </a:avLst>
          </a:prstGeom>
          <a:solidFill>
            <a:srgbClr val="666666"/>
          </a:solidFill>
          <a:ln>
            <a:noFill/>
          </a:ln>
        </p:spPr>
        <p:txBody>
          <a:bodyPr wrap="square" lIns="73152" tIns="45720" rIns="73152" bIns="45720" rtlCol="0" anchor="ctr">
            <a:normAutofit/>
          </a:bodyPr>
          <a:lstStyle/>
          <a:p>
            <a:pPr marL="0" indent="0" algn="ctr">
              <a:spcBef>
                <a:spcPts val="0"/>
              </a:spcBef>
              <a:spcAft>
                <a:spcPts val="100"/>
              </a:spcAft>
              <a:buNone/>
            </a:pPr>
            <a:r>
              <a:rPr lang="en-GB" sz="1450" b="1" dirty="0">
                <a:solidFill>
                  <a:srgbClr val="FFFFFF"/>
                </a:solidFill>
                <a:latin typeface="Arial"/>
                <a:cs typeface="Arial"/>
              </a:rPr>
              <a:t>Negative gap</a:t>
            </a:r>
          </a:p>
          <a:p>
            <a:pPr marL="0" indent="0" algn="ctr">
              <a:spcBef>
                <a:spcPts val="0"/>
              </a:spcBef>
              <a:spcAft>
                <a:spcPts val="0"/>
              </a:spcAft>
              <a:buNone/>
            </a:pPr>
            <a:r>
              <a:rPr lang="en-GB" sz="1150" dirty="0">
                <a:solidFill>
                  <a:srgbClr val="FFFFFF"/>
                </a:solidFill>
                <a:latin typeface="Arial"/>
                <a:cs typeface="Arial"/>
              </a:rPr>
              <a:t>Excess? Resources may be better used elsewhere</a:t>
            </a:r>
          </a:p>
        </p:txBody>
      </p:sp>
      <p:sp>
        <p:nvSpPr>
          <p:cNvPr id="9" name="Source 9"/>
          <p:cNvSpPr/>
          <p:nvPr/>
        </p:nvSpPr>
        <p:spPr>
          <a:xfrm>
            <a:off x="457200" y="6446520"/>
            <a:ext cx="10607040" cy="320040"/>
          </a:xfrm>
          <a:prstGeom prst="rect">
            <a:avLst/>
          </a:prstGeom>
          <a:noFill/>
          <a:ln>
            <a:noFill/>
          </a:ln>
        </p:spPr>
        <p:txBody>
          <a:bodyPr wrap="square" lIns="73152" tIns="45720" rIns="73152" bIns="45720" rtlCol="0" anchor="ctr">
            <a:normAutofit fontScale="92500" lnSpcReduction="20000"/>
          </a:bodyPr>
          <a:lstStyle/>
          <a:p>
            <a:pPr marL="0" indent="0" algn="l">
              <a:spcBef>
                <a:spcPts val="0"/>
              </a:spcBef>
              <a:spcAft>
                <a:spcPts val="0"/>
              </a:spcAft>
              <a:buNone/>
            </a:pPr>
            <a:r>
              <a:rPr lang="en-GB" sz="1000" i="1" dirty="0">
                <a:solidFill>
                  <a:srgbClr val="666666"/>
                </a:solidFill>
                <a:latin typeface="Arial"/>
                <a:cs typeface="Arial"/>
              </a:rPr>
              <a:t>Source: Productivity: Week 3. Importance–performance: Slack, N., Brandon-Jones, A. and Johnston, R. (2013) Operations Management, 7th edn. Harlow: Pearson, ch. 20 (Slack’s 9-point scales run the other way, with 1 = best; here 9 = high for simplicity)</a:t>
            </a:r>
          </a:p>
        </p:txBody>
      </p:sp>
      <p:sp>
        <p:nvSpPr>
          <p:cNvPr id="10" name="Page 10"/>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6</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Percentage" descr="Percentage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A Story Before the Analysis: Amazon at Peak Season</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114909"/>
            <a:ext cx="6720840" cy="4160520"/>
          </a:xfrm>
          <a:prstGeom prst="roundRect">
            <a:avLst>
              <a:gd name="adj" fmla="val 4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8" name="Box 8"/>
          <p:cNvSpPr/>
          <p:nvPr/>
        </p:nvSpPr>
        <p:spPr>
          <a:xfrm>
            <a:off x="2934788" y="1325880"/>
            <a:ext cx="4060371" cy="5943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50" b="1" dirty="0">
                <a:solidFill>
                  <a:srgbClr val="5B2C91"/>
                </a:solidFill>
                <a:latin typeface="Arial"/>
                <a:cs typeface="Arial"/>
              </a:rPr>
              <a:t>A UK Amazon fulfilment centre before Christmas</a:t>
            </a:r>
          </a:p>
        </p:txBody>
      </p:sp>
      <p:sp>
        <p:nvSpPr>
          <p:cNvPr id="9" name="Box 9"/>
          <p:cNvSpPr/>
          <p:nvPr/>
        </p:nvSpPr>
        <p:spPr>
          <a:xfrm>
            <a:off x="577901" y="2377440"/>
            <a:ext cx="6309360" cy="3200400"/>
          </a:xfrm>
          <a:prstGeom prst="rect">
            <a:avLst/>
          </a:prstGeom>
          <a:noFill/>
          <a:ln>
            <a:noFill/>
          </a:ln>
        </p:spPr>
        <p:txBody>
          <a:bodyPr wrap="square" lIns="73152" tIns="45720" rIns="73152" bIns="45720" rtlCol="0" anchor="t">
            <a:normAutofit/>
          </a:bodyPr>
          <a:lstStyle/>
          <a:p>
            <a:pPr marL="0" indent="0" algn="l">
              <a:spcBef>
                <a:spcPts val="0"/>
              </a:spcBef>
              <a:spcAft>
                <a:spcPts val="900"/>
              </a:spcAft>
              <a:buNone/>
            </a:pPr>
            <a:r>
              <a:rPr lang="en-GB" sz="1550" dirty="0">
                <a:solidFill>
                  <a:srgbClr val="1A1A1A"/>
                </a:solidFill>
                <a:latin typeface="Arial"/>
                <a:cs typeface="Arial"/>
              </a:rPr>
              <a:t>Amazon Prime members pay for fast, reliable delivery. For many, “arriving tomorrow” is the reason they buy from Amazon rather than elsewhere.</a:t>
            </a:r>
          </a:p>
          <a:p>
            <a:pPr marL="0" indent="0" algn="l">
              <a:spcBef>
                <a:spcPts val="0"/>
              </a:spcBef>
              <a:spcAft>
                <a:spcPts val="900"/>
              </a:spcAft>
              <a:buNone/>
            </a:pPr>
            <a:r>
              <a:rPr lang="en-GB" sz="1550" dirty="0">
                <a:solidFill>
                  <a:srgbClr val="1A1A1A"/>
                </a:solidFill>
                <a:latin typeface="Arial"/>
                <a:cs typeface="Arial"/>
              </a:rPr>
              <a:t>Imagine a fulfilment centre in the run-up to Christmas. Products are genuine and correctly picked, so returns for wrong or faulty items are low. The site has also invested in new branded boxes and printed tape.</a:t>
            </a:r>
          </a:p>
          <a:p>
            <a:pPr marL="0" indent="0" algn="l">
              <a:spcBef>
                <a:spcPts val="0"/>
              </a:spcBef>
              <a:spcAft>
                <a:spcPts val="900"/>
              </a:spcAft>
              <a:buNone/>
            </a:pPr>
            <a:r>
              <a:rPr lang="en-GB" sz="1550" dirty="0">
                <a:solidFill>
                  <a:srgbClr val="1A1A1A"/>
                </a:solidFill>
                <a:latin typeface="Arial"/>
                <a:cs typeface="Arial"/>
              </a:rPr>
              <a:t>But order volumes have doubled. Parcels queue at the packing stations, and a growing share of Prime orders miss their promised delivery day. Some customers start shopping elsewhere.</a:t>
            </a:r>
          </a:p>
        </p:txBody>
      </p:sp>
      <p:sp>
        <p:nvSpPr>
          <p:cNvPr id="10" name="Box 10"/>
          <p:cNvSpPr/>
          <p:nvPr/>
        </p:nvSpPr>
        <p:spPr>
          <a:xfrm>
            <a:off x="7589520" y="114300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“I pay for Prime so it arrives tomorrow. That’s the whole point.”</a:t>
            </a:r>
          </a:p>
          <a:p>
            <a:pPr marL="0" indent="0" algn="r">
              <a:spcBef>
                <a:spcPts val="0"/>
              </a:spcBef>
              <a:spcAft>
                <a:spcPts val="0"/>
              </a:spcAft>
              <a:buNone/>
            </a:pPr>
            <a:r>
              <a:rPr lang="en-GB" sz="1100" b="1" dirty="0">
                <a:solidFill>
                  <a:srgbClr val="5B2C91"/>
                </a:solidFill>
                <a:latin typeface="Arial"/>
                <a:cs typeface="Arial"/>
              </a:rPr>
              <a:t>Fast delivery</a:t>
            </a:r>
          </a:p>
        </p:txBody>
      </p:sp>
      <p:sp>
        <p:nvSpPr>
          <p:cNvPr id="11" name="Box 11"/>
          <p:cNvSpPr/>
          <p:nvPr/>
        </p:nvSpPr>
        <p:spPr>
          <a:xfrm>
            <a:off x="7589520" y="256032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“Right item, exactly as described. No complaints there.”</a:t>
            </a:r>
          </a:p>
          <a:p>
            <a:pPr marL="0" indent="0" algn="r">
              <a:spcBef>
                <a:spcPts val="0"/>
              </a:spcBef>
              <a:spcAft>
                <a:spcPts val="0"/>
              </a:spcAft>
              <a:buNone/>
            </a:pPr>
            <a:r>
              <a:rPr lang="en-GB" sz="1100" b="1" dirty="0">
                <a:solidFill>
                  <a:srgbClr val="5B2C91"/>
                </a:solidFill>
                <a:latin typeface="Arial"/>
                <a:cs typeface="Arial"/>
              </a:rPr>
              <a:t>Order accuracy and quality</a:t>
            </a:r>
          </a:p>
        </p:txBody>
      </p:sp>
      <p:sp>
        <p:nvSpPr>
          <p:cNvPr id="12" name="Box 12"/>
          <p:cNvSpPr/>
          <p:nvPr/>
        </p:nvSpPr>
        <p:spPr>
          <a:xfrm>
            <a:off x="7589520" y="397764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“The box is nice, but I just open it and recycle it.”</a:t>
            </a:r>
          </a:p>
          <a:p>
            <a:pPr marL="0" indent="0" algn="r">
              <a:spcBef>
                <a:spcPts val="0"/>
              </a:spcBef>
              <a:spcAft>
                <a:spcPts val="0"/>
              </a:spcAft>
              <a:buNone/>
            </a:pPr>
            <a:r>
              <a:rPr lang="en-GB" sz="1100" b="1" dirty="0">
                <a:solidFill>
                  <a:srgbClr val="5B2C91"/>
                </a:solidFill>
                <a:latin typeface="Arial"/>
                <a:cs typeface="Arial"/>
              </a:rPr>
              <a:t>Packaging appearance</a:t>
            </a:r>
          </a:p>
        </p:txBody>
      </p:sp>
      <p:sp>
        <p:nvSpPr>
          <p:cNvPr id="13" name="Box 13"/>
          <p:cNvSpPr/>
          <p:nvPr/>
        </p:nvSpPr>
        <p:spPr>
          <a:xfrm>
            <a:off x="7589520" y="5330952"/>
            <a:ext cx="4142232" cy="0"/>
          </a:xfrm>
          <a:prstGeom prst="rect">
            <a:avLst/>
          </a:prstGeom>
          <a:noFill/>
          <a:ln>
            <a:noFill/>
          </a:ln>
        </p:spPr>
        <p:txBody>
          <a:bodyPr wrap="square" lIns="73152" tIns="45720" rIns="73152" bIns="45720" rtlCol="0" anchor="t">
            <a:normAutofit fontScale="25000" lnSpcReduction="20000"/>
          </a:bodyPr>
          <a:lstStyle/>
          <a:p>
            <a:endParaRPr lang="en-GB" sz="1000"/>
          </a:p>
        </p:txBody>
      </p:sp>
      <p:sp>
        <p:nvSpPr>
          <p:cNvPr id="14" name="Box 14"/>
          <p:cNvSpPr/>
          <p:nvPr/>
        </p:nvSpPr>
        <p:spPr>
          <a:xfrm>
            <a:off x="457200" y="5532120"/>
            <a:ext cx="11274552" cy="77724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50" b="1" dirty="0">
                <a:solidFill>
                  <a:srgbClr val="FFFFFF"/>
                </a:solidFill>
                <a:latin typeface="Arial"/>
                <a:cs typeface="Arial"/>
              </a:rPr>
              <a:t>Before we analyse:  </a:t>
            </a:r>
            <a:r>
              <a:rPr lang="en-GB" sz="1550" dirty="0">
                <a:solidFill>
                  <a:srgbClr val="FFFFFF"/>
                </a:solidFill>
                <a:latin typeface="Arial"/>
                <a:cs typeface="Arial"/>
              </a:rPr>
              <a:t>what do Amazon’s Prime customers value most, how well is this site performing on it, and what should managers fix first?</a:t>
            </a:r>
          </a:p>
        </p:txBody>
      </p:sp>
      <p:sp>
        <p:nvSpPr>
          <p:cNvPr id="15" name="Source 15"/>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scenario built on Amazon’s Prime delivery promise; customer remarks are illustrative, not real reviews or company data</a:t>
            </a:r>
          </a:p>
        </p:txBody>
      </p:sp>
      <p:sp>
        <p:nvSpPr>
          <p:cNvPr id="16" name="Box 16"/>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1A</a:t>
            </a:r>
          </a:p>
        </p:txBody>
      </p:sp>
      <p:sp>
        <p:nvSpPr>
          <p:cNvPr id="17" name="Page 17"/>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7</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Users" descr="Users icon"/>
          <p:cNvPicPr>
            <a:picLocks noChangeAspect="1"/>
          </p:cNvPicPr>
          <p:nvPr/>
        </p:nvPicPr>
        <p:blipFill>
          <a:blip r:embed="rId2"/>
          <a:stretch>
            <a:fillRect/>
          </a:stretch>
        </p:blipFill>
        <p:spPr>
          <a:xfrm>
            <a:off x="577901" y="449885"/>
            <a:ext cx="307238" cy="307238"/>
          </a:xfrm>
          <a:prstGeom prst="rect">
            <a:avLst/>
          </a:prstGeom>
        </p:spPr>
      </p:pic>
      <p:sp>
        <p:nvSpPr>
          <p:cNvPr id="2" name="AutoShape 2" descr="Amazon results and outlook fall short as warehouse, fuel costs soar | Reuters">
            <a:extLst>
              <a:ext uri="{FF2B5EF4-FFF2-40B4-BE49-F238E27FC236}">
                <a16:creationId xmlns:a16="http://schemas.microsoft.com/office/drawing/2014/main" id="{C64B553D-3517-806E-39FF-3254ABFEB9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 name="AutoShape 4" descr="Amazon results and outlook fall short as warehouse, fuel costs soar | Reuters">
            <a:extLst>
              <a:ext uri="{FF2B5EF4-FFF2-40B4-BE49-F238E27FC236}">
                <a16:creationId xmlns:a16="http://schemas.microsoft.com/office/drawing/2014/main" id="{601D7D9D-9F06-2DF4-02DA-412B82769D5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 name="AutoShape 6" descr="Amazon results and outlook fall short as warehouse, fuel costs soar |  Reuters">
            <a:extLst>
              <a:ext uri="{FF2B5EF4-FFF2-40B4-BE49-F238E27FC236}">
                <a16:creationId xmlns:a16="http://schemas.microsoft.com/office/drawing/2014/main" id="{83E78293-30D0-01CA-532D-CB23DC69796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1" name="Picture 20" descr="Photograph of an Amazon building sign featuring raised black “amazon” lettering and orange smile arrow. Bright sunlight casts strong shadows across a white facade, with blue sky and orange trim framing corporate branding.">
            <a:extLst>
              <a:ext uri="{FF2B5EF4-FFF2-40B4-BE49-F238E27FC236}">
                <a16:creationId xmlns:a16="http://schemas.microsoft.com/office/drawing/2014/main" id="{F577A9D4-99DF-99BA-6CB8-2A44D66427E1}"/>
              </a:ext>
            </a:extLst>
          </p:cNvPr>
          <p:cNvPicPr>
            <a:picLocks noChangeAspect="1"/>
          </p:cNvPicPr>
          <p:nvPr/>
        </p:nvPicPr>
        <p:blipFill>
          <a:blip r:embed="rId3"/>
          <a:stretch>
            <a:fillRect/>
          </a:stretch>
        </p:blipFill>
        <p:spPr>
          <a:xfrm>
            <a:off x="514460" y="1097281"/>
            <a:ext cx="2214588" cy="12734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Measuring the Importance–Performance Gap</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143000"/>
            <a:ext cx="2057400" cy="960120"/>
          </a:xfrm>
          <a:prstGeom prst="roundRect">
            <a:avLst>
              <a:gd name="adj" fmla="val 12000"/>
            </a:avLst>
          </a:prstGeom>
          <a:solidFill>
            <a:srgbClr val="5B2C91"/>
          </a:solidFill>
          <a:ln>
            <a:noFill/>
          </a:ln>
        </p:spPr>
        <p:txBody>
          <a:bodyPr wrap="square" lIns="54864" tIns="27432" rIns="54864" bIns="27432" rtlCol="0" anchor="ctr">
            <a:normAutofit/>
          </a:bodyPr>
          <a:lstStyle/>
          <a:p>
            <a:pPr marL="0" indent="0" algn="ctr">
              <a:spcBef>
                <a:spcPts val="0"/>
              </a:spcBef>
              <a:spcAft>
                <a:spcPts val="150"/>
              </a:spcAft>
              <a:buNone/>
            </a:pPr>
            <a:r>
              <a:rPr lang="en-GB" sz="1550" b="1" dirty="0">
                <a:solidFill>
                  <a:srgbClr val="FFFFFF"/>
                </a:solidFill>
                <a:latin typeface="Arial"/>
                <a:cs typeface="Arial"/>
              </a:rPr>
              <a:t>1  List the factors</a:t>
            </a:r>
          </a:p>
          <a:p>
            <a:pPr marL="0" indent="0" algn="ctr">
              <a:spcBef>
                <a:spcPts val="0"/>
              </a:spcBef>
              <a:spcAft>
                <a:spcPts val="0"/>
              </a:spcAft>
              <a:buNone/>
            </a:pPr>
            <a:r>
              <a:rPr lang="en-GB" sz="1150" dirty="0">
                <a:solidFill>
                  <a:srgbClr val="EBE1F5"/>
                </a:solidFill>
                <a:latin typeface="Arial"/>
                <a:cs typeface="Arial"/>
              </a:rPr>
              <a:t>What customers care about</a:t>
            </a:r>
          </a:p>
        </p:txBody>
      </p:sp>
      <p:cxnSp>
        <p:nvCxnSpPr>
          <p:cNvPr id="6" name="Arrow 6"/>
          <p:cNvCxnSpPr/>
          <p:nvPr/>
        </p:nvCxnSpPr>
        <p:spPr>
          <a:xfrm>
            <a:off x="2542032" y="1627632"/>
            <a:ext cx="192024" cy="0"/>
          </a:xfrm>
          <a:prstGeom prst="straightConnector1">
            <a:avLst/>
          </a:prstGeom>
          <a:ln w="19050">
            <a:solidFill>
              <a:srgbClr val="5B2C91"/>
            </a:solidFill>
            <a:tailEnd type="triangle"/>
          </a:ln>
        </p:spPr>
      </p:cxnSp>
      <p:sp>
        <p:nvSpPr>
          <p:cNvPr id="7" name="Box 7"/>
          <p:cNvSpPr/>
          <p:nvPr/>
        </p:nvSpPr>
        <p:spPr>
          <a:xfrm>
            <a:off x="2761488" y="1143000"/>
            <a:ext cx="2057400" cy="960120"/>
          </a:xfrm>
          <a:prstGeom prst="roundRect">
            <a:avLst>
              <a:gd name="adj" fmla="val 12000"/>
            </a:avLst>
          </a:prstGeom>
          <a:solidFill>
            <a:srgbClr val="5B2C91"/>
          </a:solidFill>
          <a:ln>
            <a:noFill/>
          </a:ln>
        </p:spPr>
        <p:txBody>
          <a:bodyPr wrap="square" lIns="54864" tIns="27432" rIns="54864" bIns="27432" rtlCol="0" anchor="ctr">
            <a:normAutofit/>
          </a:bodyPr>
          <a:lstStyle/>
          <a:p>
            <a:pPr marL="0" indent="0" algn="ctr">
              <a:spcBef>
                <a:spcPts val="0"/>
              </a:spcBef>
              <a:spcAft>
                <a:spcPts val="150"/>
              </a:spcAft>
              <a:buNone/>
            </a:pPr>
            <a:r>
              <a:rPr lang="en-GB" sz="1550" b="1" dirty="0">
                <a:solidFill>
                  <a:srgbClr val="FFFFFF"/>
                </a:solidFill>
                <a:latin typeface="Arial"/>
                <a:cs typeface="Arial"/>
              </a:rPr>
              <a:t>2  Score importance</a:t>
            </a:r>
          </a:p>
          <a:p>
            <a:pPr marL="0" indent="0" algn="ctr">
              <a:spcBef>
                <a:spcPts val="0"/>
              </a:spcBef>
              <a:spcAft>
                <a:spcPts val="0"/>
              </a:spcAft>
              <a:buNone/>
            </a:pPr>
            <a:r>
              <a:rPr lang="en-GB" sz="1150" dirty="0">
                <a:solidFill>
                  <a:srgbClr val="EBE1F5"/>
                </a:solidFill>
                <a:latin typeface="Arial"/>
                <a:cs typeface="Arial"/>
              </a:rPr>
              <a:t>Customer survey, 1–9</a:t>
            </a:r>
          </a:p>
        </p:txBody>
      </p:sp>
      <p:cxnSp>
        <p:nvCxnSpPr>
          <p:cNvPr id="8" name="Arrow 8"/>
          <p:cNvCxnSpPr/>
          <p:nvPr/>
        </p:nvCxnSpPr>
        <p:spPr>
          <a:xfrm>
            <a:off x="4846320" y="1627632"/>
            <a:ext cx="192024" cy="0"/>
          </a:xfrm>
          <a:prstGeom prst="straightConnector1">
            <a:avLst/>
          </a:prstGeom>
          <a:ln w="19050">
            <a:solidFill>
              <a:srgbClr val="5B2C91"/>
            </a:solidFill>
            <a:tailEnd type="triangle"/>
          </a:ln>
        </p:spPr>
      </p:cxnSp>
      <p:sp>
        <p:nvSpPr>
          <p:cNvPr id="9" name="Box 9"/>
          <p:cNvSpPr/>
          <p:nvPr/>
        </p:nvSpPr>
        <p:spPr>
          <a:xfrm>
            <a:off x="5065776" y="1143000"/>
            <a:ext cx="2057400" cy="960120"/>
          </a:xfrm>
          <a:prstGeom prst="roundRect">
            <a:avLst>
              <a:gd name="adj" fmla="val 12000"/>
            </a:avLst>
          </a:prstGeom>
          <a:solidFill>
            <a:srgbClr val="5B2C91"/>
          </a:solidFill>
          <a:ln>
            <a:noFill/>
          </a:ln>
        </p:spPr>
        <p:txBody>
          <a:bodyPr wrap="square" lIns="54864" tIns="27432" rIns="54864" bIns="27432" rtlCol="0" anchor="ctr">
            <a:normAutofit/>
          </a:bodyPr>
          <a:lstStyle/>
          <a:p>
            <a:pPr marL="0" indent="0" algn="ctr">
              <a:spcBef>
                <a:spcPts val="0"/>
              </a:spcBef>
              <a:spcAft>
                <a:spcPts val="150"/>
              </a:spcAft>
              <a:buNone/>
            </a:pPr>
            <a:r>
              <a:rPr lang="en-GB" sz="1550" b="1" dirty="0">
                <a:solidFill>
                  <a:srgbClr val="FFFFFF"/>
                </a:solidFill>
                <a:latin typeface="Arial"/>
                <a:cs typeface="Arial"/>
              </a:rPr>
              <a:t>3  Score performance</a:t>
            </a:r>
          </a:p>
          <a:p>
            <a:pPr marL="0" indent="0" algn="ctr">
              <a:spcBef>
                <a:spcPts val="0"/>
              </a:spcBef>
              <a:spcAft>
                <a:spcPts val="0"/>
              </a:spcAft>
              <a:buNone/>
            </a:pPr>
            <a:r>
              <a:rPr lang="en-GB" sz="1150" dirty="0">
                <a:solidFill>
                  <a:srgbClr val="EBE1F5"/>
                </a:solidFill>
                <a:latin typeface="Arial"/>
                <a:cs typeface="Arial"/>
              </a:rPr>
              <a:t>Operational evidence, 1–9</a:t>
            </a:r>
          </a:p>
        </p:txBody>
      </p:sp>
      <p:cxnSp>
        <p:nvCxnSpPr>
          <p:cNvPr id="10" name="Arrow 10"/>
          <p:cNvCxnSpPr/>
          <p:nvPr/>
        </p:nvCxnSpPr>
        <p:spPr>
          <a:xfrm>
            <a:off x="7150608" y="1627632"/>
            <a:ext cx="192024" cy="0"/>
          </a:xfrm>
          <a:prstGeom prst="straightConnector1">
            <a:avLst/>
          </a:prstGeom>
          <a:ln w="19050">
            <a:solidFill>
              <a:srgbClr val="5B2C91"/>
            </a:solidFill>
            <a:tailEnd type="triangle"/>
          </a:ln>
        </p:spPr>
      </p:cxnSp>
      <p:sp>
        <p:nvSpPr>
          <p:cNvPr id="11" name="Box 11"/>
          <p:cNvSpPr/>
          <p:nvPr/>
        </p:nvSpPr>
        <p:spPr>
          <a:xfrm>
            <a:off x="7370064" y="1143000"/>
            <a:ext cx="2057400" cy="960120"/>
          </a:xfrm>
          <a:prstGeom prst="roundRect">
            <a:avLst>
              <a:gd name="adj" fmla="val 12000"/>
            </a:avLst>
          </a:prstGeom>
          <a:solidFill>
            <a:srgbClr val="5B2C91"/>
          </a:solidFill>
          <a:ln>
            <a:noFill/>
          </a:ln>
        </p:spPr>
        <p:txBody>
          <a:bodyPr wrap="square" lIns="54864" tIns="27432" rIns="54864" bIns="27432" rtlCol="0" anchor="ctr">
            <a:normAutofit/>
          </a:bodyPr>
          <a:lstStyle/>
          <a:p>
            <a:pPr marL="0" indent="0" algn="ctr">
              <a:spcBef>
                <a:spcPts val="0"/>
              </a:spcBef>
              <a:spcAft>
                <a:spcPts val="150"/>
              </a:spcAft>
              <a:buNone/>
            </a:pPr>
            <a:r>
              <a:rPr lang="en-GB" sz="1550" b="1" dirty="0">
                <a:solidFill>
                  <a:srgbClr val="FFFFFF"/>
                </a:solidFill>
                <a:latin typeface="Arial"/>
                <a:cs typeface="Arial"/>
              </a:rPr>
              <a:t>4  Calculate the gap</a:t>
            </a:r>
          </a:p>
          <a:p>
            <a:pPr marL="0" indent="0" algn="ctr">
              <a:spcBef>
                <a:spcPts val="0"/>
              </a:spcBef>
              <a:spcAft>
                <a:spcPts val="0"/>
              </a:spcAft>
              <a:buNone/>
            </a:pPr>
            <a:r>
              <a:rPr lang="en-GB" sz="1150" dirty="0">
                <a:solidFill>
                  <a:srgbClr val="EBE1F5"/>
                </a:solidFill>
                <a:latin typeface="Arial"/>
                <a:cs typeface="Arial"/>
              </a:rPr>
              <a:t>Importance − Performance</a:t>
            </a:r>
          </a:p>
        </p:txBody>
      </p:sp>
      <p:cxnSp>
        <p:nvCxnSpPr>
          <p:cNvPr id="12" name="Arrow 12"/>
          <p:cNvCxnSpPr/>
          <p:nvPr/>
        </p:nvCxnSpPr>
        <p:spPr>
          <a:xfrm>
            <a:off x="9454896" y="1627632"/>
            <a:ext cx="192024" cy="0"/>
          </a:xfrm>
          <a:prstGeom prst="straightConnector1">
            <a:avLst/>
          </a:prstGeom>
          <a:ln w="19050">
            <a:solidFill>
              <a:srgbClr val="5B2C91"/>
            </a:solidFill>
            <a:tailEnd type="triangle"/>
          </a:ln>
        </p:spPr>
      </p:cxnSp>
      <p:sp>
        <p:nvSpPr>
          <p:cNvPr id="13" name="Box 13"/>
          <p:cNvSpPr/>
          <p:nvPr/>
        </p:nvSpPr>
        <p:spPr>
          <a:xfrm>
            <a:off x="9674352" y="1143000"/>
            <a:ext cx="2057400" cy="960120"/>
          </a:xfrm>
          <a:prstGeom prst="roundRect">
            <a:avLst>
              <a:gd name="adj" fmla="val 12000"/>
            </a:avLst>
          </a:prstGeom>
          <a:solidFill>
            <a:srgbClr val="5B2C91"/>
          </a:solidFill>
          <a:ln>
            <a:noFill/>
          </a:ln>
        </p:spPr>
        <p:txBody>
          <a:bodyPr wrap="square" lIns="54864" tIns="27432" rIns="54864" bIns="27432" rtlCol="0" anchor="ctr">
            <a:normAutofit/>
          </a:bodyPr>
          <a:lstStyle/>
          <a:p>
            <a:pPr marL="0" indent="0" algn="ctr">
              <a:spcBef>
                <a:spcPts val="0"/>
              </a:spcBef>
              <a:spcAft>
                <a:spcPts val="150"/>
              </a:spcAft>
              <a:buNone/>
            </a:pPr>
            <a:r>
              <a:rPr lang="en-GB" sz="1550" b="1" dirty="0">
                <a:solidFill>
                  <a:srgbClr val="FFFFFF"/>
                </a:solidFill>
                <a:latin typeface="Arial"/>
                <a:cs typeface="Arial"/>
              </a:rPr>
              <a:t>5  Plot and prioritise</a:t>
            </a:r>
          </a:p>
          <a:p>
            <a:pPr marL="0" indent="0" algn="ctr">
              <a:spcBef>
                <a:spcPts val="0"/>
              </a:spcBef>
              <a:spcAft>
                <a:spcPts val="0"/>
              </a:spcAft>
              <a:buNone/>
            </a:pPr>
            <a:r>
              <a:rPr lang="en-GB" sz="1150" dirty="0">
                <a:solidFill>
                  <a:srgbClr val="EBE1F5"/>
                </a:solidFill>
                <a:latin typeface="Arial"/>
                <a:cs typeface="Arial"/>
              </a:rPr>
              <a:t>Biggest positive gap first</a:t>
            </a:r>
          </a:p>
        </p:txBody>
      </p:sp>
      <p:sp>
        <p:nvSpPr>
          <p:cNvPr id="14" name="Box 14"/>
          <p:cNvSpPr/>
          <p:nvPr/>
        </p:nvSpPr>
        <p:spPr>
          <a:xfrm>
            <a:off x="457200" y="2286000"/>
            <a:ext cx="11274552" cy="384048"/>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Applied to the Amazon fulfilment centre at peak (illustrative figures):</a:t>
            </a:r>
          </a:p>
        </p:txBody>
      </p:sp>
      <p:graphicFrame>
        <p:nvGraphicFramePr>
          <p:cNvPr id="15" name="Table 15"/>
          <p:cNvGraphicFramePr>
            <a:graphicFrameLocks noGrp="1"/>
          </p:cNvGraphicFramePr>
          <p:nvPr/>
        </p:nvGraphicFramePr>
        <p:xfrm>
          <a:off x="457200" y="2724912"/>
          <a:ext cx="11274552" cy="2267712"/>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87552">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566928">
                <a:tc>
                  <a:txBody>
                    <a:bodyPr/>
                    <a:lstStyle/>
                    <a:p>
                      <a:pPr marL="0" indent="0" algn="l">
                        <a:spcBef>
                          <a:spcPts val="0"/>
                        </a:spcBef>
                        <a:spcAft>
                          <a:spcPts val="0"/>
                        </a:spcAft>
                        <a:buNone/>
                      </a:pPr>
                      <a:r>
                        <a:rPr lang="en-GB" sz="1300" b="1" dirty="0">
                          <a:solidFill>
                            <a:srgbClr val="FFFFFF"/>
                          </a:solidFill>
                          <a:latin typeface="Arial"/>
                          <a:cs typeface="Arial"/>
                        </a:rPr>
                        <a:t>Factor</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Importance (survey)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300" b="1" dirty="0">
                          <a:solidFill>
                            <a:srgbClr val="FFFFFF"/>
                          </a:solidFill>
                          <a:latin typeface="Arial"/>
                          <a:cs typeface="Arial"/>
                        </a:rPr>
                        <a:t>Evidence of performance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Performance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Gap</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300" b="1" dirty="0">
                          <a:solidFill>
                            <a:srgbClr val="FFFFFF"/>
                          </a:solidFill>
                          <a:latin typeface="Arial"/>
                          <a:cs typeface="Arial"/>
                        </a:rPr>
                        <a:t>Priority</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566928">
                <a:tc>
                  <a:txBody>
                    <a:bodyPr/>
                    <a:lstStyle/>
                    <a:p>
                      <a:pPr marL="0" indent="0" algn="l">
                        <a:spcBef>
                          <a:spcPts val="0"/>
                        </a:spcBef>
                        <a:spcAft>
                          <a:spcPts val="0"/>
                        </a:spcAft>
                        <a:buNone/>
                      </a:pPr>
                      <a:r>
                        <a:rPr lang="en-GB" sz="1300" dirty="0">
                          <a:solidFill>
                            <a:srgbClr val="1A1A1A"/>
                          </a:solidFill>
                          <a:latin typeface="Arial"/>
                          <a:cs typeface="Arial"/>
                        </a:rPr>
                        <a:t>Fast (Prime) delivery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9</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Only 80% of Prime orders on time, against a 98% promise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3</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B4285A"/>
                          </a:solidFill>
                          <a:latin typeface="Arial"/>
                          <a:cs typeface="Arial"/>
                        </a:rPr>
                        <a:t>+6</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Urgent action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566928">
                <a:tc>
                  <a:txBody>
                    <a:bodyPr/>
                    <a:lstStyle/>
                    <a:p>
                      <a:pPr marL="0" indent="0" algn="l">
                        <a:spcBef>
                          <a:spcPts val="0"/>
                        </a:spcBef>
                        <a:spcAft>
                          <a:spcPts val="0"/>
                        </a:spcAft>
                        <a:buNone/>
                      </a:pPr>
                      <a:r>
                        <a:rPr lang="en-GB" sz="1300" dirty="0">
                          <a:solidFill>
                            <a:srgbClr val="1A1A1A"/>
                          </a:solidFill>
                          <a:latin typeface="Arial"/>
                          <a:cs typeface="Arial"/>
                        </a:rPr>
                        <a:t>Order accuracy and 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300" dirty="0">
                          <a:solidFill>
                            <a:srgbClr val="1A1A1A"/>
                          </a:solidFill>
                          <a:latin typeface="Arial"/>
                          <a:cs typeface="Arial"/>
                        </a:rPr>
                        <a:t>Wrong or faulty item returns 0.5%, better than a 1% target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300" dirty="0">
                          <a:solidFill>
                            <a:srgbClr val="1A1A1A"/>
                          </a:solidFill>
                          <a:latin typeface="Arial"/>
                          <a:cs typeface="Arial"/>
                        </a:rPr>
                        <a:t>Maintain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566928">
                <a:tc>
                  <a:txBody>
                    <a:bodyPr/>
                    <a:lstStyle/>
                    <a:p>
                      <a:pPr marL="0" indent="0" algn="l">
                        <a:spcBef>
                          <a:spcPts val="0"/>
                        </a:spcBef>
                        <a:spcAft>
                          <a:spcPts val="0"/>
                        </a:spcAft>
                        <a:buNone/>
                      </a:pPr>
                      <a:r>
                        <a:rPr lang="en-GB" sz="1300" dirty="0">
                          <a:solidFill>
                            <a:srgbClr val="1A1A1A"/>
                          </a:solidFill>
                          <a:latin typeface="Arial"/>
                          <a:cs typeface="Arial"/>
                        </a:rPr>
                        <a:t>Packaging appearance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3</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Packaging rated 4.8 out of 5 by customers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9</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−6</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Excess?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bl>
          </a:graphicData>
        </a:graphic>
      </p:graphicFrame>
      <p:sp>
        <p:nvSpPr>
          <p:cNvPr id="16" name="Box 16"/>
          <p:cNvSpPr/>
          <p:nvPr/>
        </p:nvSpPr>
        <p:spPr>
          <a:xfrm>
            <a:off x="457200" y="5074920"/>
            <a:ext cx="5559552"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150" i="1" dirty="0">
                <a:solidFill>
                  <a:srgbClr val="666666"/>
                </a:solidFill>
                <a:latin typeface="Arial"/>
                <a:cs typeface="Arial"/>
              </a:rPr>
              <a:t>Scale: 9 = most important / best performance; 1 = least important / worst.</a:t>
            </a:r>
          </a:p>
        </p:txBody>
      </p:sp>
      <p:sp>
        <p:nvSpPr>
          <p:cNvPr id="17" name="Box 17"/>
          <p:cNvSpPr/>
          <p:nvPr/>
        </p:nvSpPr>
        <p:spPr>
          <a:xfrm>
            <a:off x="457200" y="5669280"/>
            <a:ext cx="11274552" cy="68580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00" b="1" dirty="0">
                <a:solidFill>
                  <a:srgbClr val="FFFFFF"/>
                </a:solidFill>
                <a:latin typeface="Arial"/>
                <a:cs typeface="Arial"/>
              </a:rPr>
              <a:t>Result:  </a:t>
            </a:r>
            <a:r>
              <a:rPr lang="en-GB" sz="1500" dirty="0">
                <a:solidFill>
                  <a:srgbClr val="FFFFFF"/>
                </a:solidFill>
                <a:latin typeface="Arial"/>
                <a:cs typeface="Arial"/>
              </a:rPr>
              <a:t>fast delivery has the largest positive gap (+6), so it goes into the “urgent action” zone on the matrix (next slide).</a:t>
            </a:r>
          </a:p>
        </p:txBody>
      </p:sp>
      <p:sp>
        <p:nvSpPr>
          <p:cNvPr id="18" name="Source 18"/>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figures, not Amazon data. Method after Slack, N., Brandon-Jones, A. and Johnston, R. (2013) Operations Management, 7th edn. Harlow: Pearson, ch. 20, pp. 652–654</a:t>
            </a:r>
          </a:p>
        </p:txBody>
      </p:sp>
      <p:sp>
        <p:nvSpPr>
          <p:cNvPr id="19" name="Box 19"/>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1A</a:t>
            </a:r>
          </a:p>
        </p:txBody>
      </p:sp>
      <p:sp>
        <p:nvSpPr>
          <p:cNvPr id="20" name="Page 20"/>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8</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alculator" descr="Calculator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The Importance–Performance Gap</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97280"/>
            <a:ext cx="11274552" cy="713232"/>
          </a:xfrm>
          <a:prstGeom prst="roundRect">
            <a:avLst>
              <a:gd name="adj" fmla="val 12000"/>
            </a:avLst>
          </a:prstGeom>
          <a:solidFill>
            <a:srgbClr val="EBE1F5"/>
          </a:solidFill>
          <a:ln w="15875">
            <a:solidFill>
              <a:srgbClr val="5B2C91"/>
            </a:solidFill>
          </a:ln>
        </p:spPr>
        <p:txBody>
          <a:bodyPr wrap="square" lIns="182880" tIns="54864" rIns="182880" bIns="54864" rtlCol="0" anchor="ctr">
            <a:normAutofit/>
          </a:bodyPr>
          <a:lstStyle/>
          <a:p>
            <a:pPr marL="0" indent="0" algn="ctr">
              <a:spcBef>
                <a:spcPts val="0"/>
              </a:spcBef>
              <a:spcAft>
                <a:spcPts val="0"/>
              </a:spcAft>
              <a:buNone/>
            </a:pPr>
            <a:r>
              <a:rPr lang="en-GB" sz="1600" b="1" i="1" dirty="0">
                <a:solidFill>
                  <a:srgbClr val="5B2C91"/>
                </a:solidFill>
                <a:latin typeface="Arial"/>
                <a:cs typeface="Arial"/>
              </a:rPr>
              <a:t>The gap between how important something is to customers and how well the operation performs on it. It shows which performance problems deserve priority.</a:t>
            </a:r>
          </a:p>
        </p:txBody>
      </p:sp>
      <p:graphicFrame>
        <p:nvGraphicFramePr>
          <p:cNvPr id="6" name="Table 6"/>
          <p:cNvGraphicFramePr>
            <a:graphicFrameLocks noGrp="1"/>
          </p:cNvGraphicFramePr>
          <p:nvPr/>
        </p:nvGraphicFramePr>
        <p:xfrm>
          <a:off x="457200" y="2103120"/>
          <a:ext cx="5943600" cy="3108960"/>
        </p:xfrm>
        <a:graphic>
          <a:graphicData uri="http://schemas.openxmlformats.org/drawingml/2006/table">
            <a:tbl>
              <a:tblPr firstRow="1" bandRow="1"/>
              <a:tblGrid>
                <a:gridCol w="1691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777240">
                <a:tc>
                  <a:txBody>
                    <a:bodyPr/>
                    <a:lstStyle/>
                    <a:p>
                      <a:pPr marL="0" indent="0" algn="l">
                        <a:spcBef>
                          <a:spcPts val="0"/>
                        </a:spcBef>
                        <a:spcAft>
                          <a:spcPts val="0"/>
                        </a:spcAft>
                        <a:buNone/>
                      </a:pPr>
                      <a:r>
                        <a:rPr lang="en-GB" sz="1300" b="1" dirty="0">
                          <a:solidFill>
                            <a:srgbClr val="FFFFFF"/>
                          </a:solidFill>
                          <a:latin typeface="Arial"/>
                          <a:cs typeface="Arial"/>
                        </a:rPr>
                        <a:t>Performance factor</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Importance to customers</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Current performance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300" b="1" dirty="0">
                          <a:solidFill>
                            <a:srgbClr val="FFFFFF"/>
                          </a:solidFill>
                          <a:latin typeface="Arial"/>
                          <a:cs typeface="Arial"/>
                        </a:rPr>
                        <a:t>Implication</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777240">
                <a:tc>
                  <a:txBody>
                    <a:bodyPr/>
                    <a:lstStyle/>
                    <a:p>
                      <a:pPr marL="0" indent="0" algn="l">
                        <a:spcBef>
                          <a:spcPts val="0"/>
                        </a:spcBef>
                        <a:spcAft>
                          <a:spcPts val="0"/>
                        </a:spcAft>
                        <a:buNone/>
                      </a:pPr>
                      <a:r>
                        <a:rPr lang="en-GB" sz="1300" dirty="0">
                          <a:solidFill>
                            <a:srgbClr val="1A1A1A"/>
                          </a:solidFill>
                          <a:latin typeface="Arial"/>
                          <a:cs typeface="Arial"/>
                        </a:rPr>
                        <a:t>Fast (Prime) delivery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Poor at peak</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Priority for improvement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777240">
                <a:tc>
                  <a:txBody>
                    <a:bodyPr/>
                    <a:lstStyle/>
                    <a:p>
                      <a:pPr marL="0" indent="0" algn="l">
                        <a:spcBef>
                          <a:spcPts val="0"/>
                        </a:spcBef>
                        <a:spcAft>
                          <a:spcPts val="0"/>
                        </a:spcAft>
                        <a:buNone/>
                      </a:pPr>
                      <a:r>
                        <a:rPr lang="en-GB" sz="1300" dirty="0">
                          <a:solidFill>
                            <a:srgbClr val="1A1A1A"/>
                          </a:solidFill>
                          <a:latin typeface="Arial"/>
                          <a:cs typeface="Arial"/>
                        </a:rPr>
                        <a:t>Order accuracy and 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Good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300" dirty="0">
                          <a:solidFill>
                            <a:srgbClr val="1A1A1A"/>
                          </a:solidFill>
                          <a:latin typeface="Arial"/>
                          <a:cs typeface="Arial"/>
                        </a:rPr>
                        <a:t>Maintain performance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777240">
                <a:tc>
                  <a:txBody>
                    <a:bodyPr/>
                    <a:lstStyle/>
                    <a:p>
                      <a:pPr marL="0" indent="0" algn="l">
                        <a:spcBef>
                          <a:spcPts val="0"/>
                        </a:spcBef>
                        <a:spcAft>
                          <a:spcPts val="0"/>
                        </a:spcAft>
                        <a:buNone/>
                      </a:pPr>
                      <a:r>
                        <a:rPr lang="en-GB" sz="1300" dirty="0">
                          <a:solidFill>
                            <a:srgbClr val="1A1A1A"/>
                          </a:solidFill>
                          <a:latin typeface="Arial"/>
                          <a:cs typeface="Arial"/>
                        </a:rPr>
                        <a:t>Packaging appearance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Low</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Excellent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Additional investment may have limited value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bl>
          </a:graphicData>
        </a:graphic>
      </p:graphicFrame>
      <p:sp>
        <p:nvSpPr>
          <p:cNvPr id="7" name="Box 7"/>
          <p:cNvSpPr/>
          <p:nvPr/>
        </p:nvSpPr>
        <p:spPr>
          <a:xfrm>
            <a:off x="457200" y="2880360"/>
            <a:ext cx="5943600" cy="777240"/>
          </a:xfrm>
          <a:prstGeom prst="rect">
            <a:avLst/>
          </a:prstGeom>
          <a:noFill/>
          <a:ln w="28575">
            <a:solidFill>
              <a:srgbClr val="B4285A"/>
            </a:solidFill>
          </a:ln>
        </p:spPr>
        <p:txBody>
          <a:bodyPr wrap="square" lIns="73152" tIns="45720" rIns="73152" bIns="45720" rtlCol="0" anchor="t">
            <a:normAutofit/>
          </a:bodyPr>
          <a:lstStyle/>
          <a:p>
            <a:endParaRPr lang="en-GB" sz="1000"/>
          </a:p>
        </p:txBody>
      </p:sp>
      <p:sp>
        <p:nvSpPr>
          <p:cNvPr id="8" name="Box 8"/>
          <p:cNvSpPr/>
          <p:nvPr/>
        </p:nvSpPr>
        <p:spPr>
          <a:xfrm>
            <a:off x="457200" y="5257800"/>
            <a:ext cx="594360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b="1" i="1" dirty="0">
                <a:solidFill>
                  <a:srgbClr val="B4285A"/>
                </a:solidFill>
                <a:latin typeface="Arial"/>
                <a:cs typeface="Arial"/>
              </a:rPr>
              <a:t>Amazon at peak: fast delivery has the largest gap (9 − 3 = +6), so it is the priority.</a:t>
            </a:r>
          </a:p>
        </p:txBody>
      </p:sp>
      <p:sp>
        <p:nvSpPr>
          <p:cNvPr id="9" name="Box 9"/>
          <p:cNvSpPr/>
          <p:nvPr/>
        </p:nvSpPr>
        <p:spPr>
          <a:xfrm>
            <a:off x="7498080" y="2331720"/>
            <a:ext cx="2080260" cy="1668780"/>
          </a:xfrm>
          <a:prstGeom prst="rect">
            <a:avLst/>
          </a:prstGeom>
          <a:solidFill>
            <a:srgbClr val="E9D3DD"/>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B4285A"/>
                </a:solidFill>
                <a:latin typeface="Arial"/>
                <a:cs typeface="Arial"/>
              </a:rPr>
              <a:t>Urgent action</a:t>
            </a:r>
          </a:p>
        </p:txBody>
      </p:sp>
      <p:sp>
        <p:nvSpPr>
          <p:cNvPr id="10" name="Box 10"/>
          <p:cNvSpPr/>
          <p:nvPr/>
        </p:nvSpPr>
        <p:spPr>
          <a:xfrm>
            <a:off x="9578340" y="2331720"/>
            <a:ext cx="2080260" cy="1668780"/>
          </a:xfrm>
          <a:prstGeom prst="rect">
            <a:avLst/>
          </a:prstGeom>
          <a:solidFill>
            <a:srgbClr val="EBE1F5"/>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5B2C91"/>
                </a:solidFill>
                <a:latin typeface="Arial"/>
                <a:cs typeface="Arial"/>
              </a:rPr>
              <a:t>Appropriate: maintain</a:t>
            </a:r>
          </a:p>
        </p:txBody>
      </p:sp>
      <p:sp>
        <p:nvSpPr>
          <p:cNvPr id="11" name="Box 11"/>
          <p:cNvSpPr/>
          <p:nvPr/>
        </p:nvSpPr>
        <p:spPr>
          <a:xfrm>
            <a:off x="7498080" y="4000500"/>
            <a:ext cx="2080260" cy="1668780"/>
          </a:xfrm>
          <a:prstGeom prst="rect">
            <a:avLst/>
          </a:prstGeom>
          <a:solidFill>
            <a:srgbClr val="F3F3F3"/>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666666"/>
                </a:solidFill>
                <a:latin typeface="Arial"/>
                <a:cs typeface="Arial"/>
              </a:rPr>
              <a:t>Improve (less urgent)</a:t>
            </a:r>
          </a:p>
        </p:txBody>
      </p:sp>
      <p:sp>
        <p:nvSpPr>
          <p:cNvPr id="12" name="Box 12"/>
          <p:cNvSpPr/>
          <p:nvPr/>
        </p:nvSpPr>
        <p:spPr>
          <a:xfrm>
            <a:off x="9578340" y="4000500"/>
            <a:ext cx="2080260" cy="1668780"/>
          </a:xfrm>
          <a:prstGeom prst="rect">
            <a:avLst/>
          </a:prstGeom>
          <a:solidFill>
            <a:srgbClr val="F3F3F3"/>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666666"/>
                </a:solidFill>
                <a:latin typeface="Arial"/>
                <a:cs typeface="Arial"/>
              </a:rPr>
              <a:t>Excess?</a:t>
            </a:r>
          </a:p>
        </p:txBody>
      </p:sp>
      <p:cxnSp>
        <p:nvCxnSpPr>
          <p:cNvPr id="13" name="Arrow 13"/>
          <p:cNvCxnSpPr/>
          <p:nvPr/>
        </p:nvCxnSpPr>
        <p:spPr>
          <a:xfrm>
            <a:off x="7498080" y="5669280"/>
            <a:ext cx="4251960" cy="0"/>
          </a:xfrm>
          <a:prstGeom prst="straightConnector1">
            <a:avLst/>
          </a:prstGeom>
          <a:ln w="12700">
            <a:solidFill>
              <a:srgbClr val="1A1A1A"/>
            </a:solidFill>
            <a:tailEnd type="triangle"/>
          </a:ln>
        </p:spPr>
      </p:cxnSp>
      <p:cxnSp>
        <p:nvCxnSpPr>
          <p:cNvPr id="14" name="Arrow 14"/>
          <p:cNvCxnSpPr/>
          <p:nvPr/>
        </p:nvCxnSpPr>
        <p:spPr>
          <a:xfrm flipV="1">
            <a:off x="7498080" y="2240280"/>
            <a:ext cx="0" cy="3429000"/>
          </a:xfrm>
          <a:prstGeom prst="straightConnector1">
            <a:avLst/>
          </a:prstGeom>
          <a:ln w="12700">
            <a:solidFill>
              <a:srgbClr val="1A1A1A"/>
            </a:solidFill>
            <a:tailEnd type="triangle"/>
          </a:ln>
        </p:spPr>
      </p:cxnSp>
      <p:sp>
        <p:nvSpPr>
          <p:cNvPr id="15" name="Box 15"/>
          <p:cNvSpPr/>
          <p:nvPr/>
        </p:nvSpPr>
        <p:spPr>
          <a:xfrm>
            <a:off x="7498080" y="5687568"/>
            <a:ext cx="4160520" cy="292608"/>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150" b="1" dirty="0">
                <a:solidFill>
                  <a:srgbClr val="1A1A1A"/>
                </a:solidFill>
                <a:latin typeface="Arial"/>
                <a:cs typeface="Arial"/>
              </a:rPr>
              <a:t>Performance  (poor → excellent)</a:t>
            </a:r>
          </a:p>
        </p:txBody>
      </p:sp>
      <p:sp>
        <p:nvSpPr>
          <p:cNvPr id="16" name="Box 16"/>
          <p:cNvSpPr/>
          <p:nvPr/>
        </p:nvSpPr>
        <p:spPr>
          <a:xfrm>
            <a:off x="6400800" y="2331720"/>
            <a:ext cx="1051560" cy="3337560"/>
          </a:xfrm>
          <a:prstGeom prst="rect">
            <a:avLst/>
          </a:prstGeom>
          <a:noFill/>
          <a:ln>
            <a:noFill/>
          </a:ln>
        </p:spPr>
        <p:txBody>
          <a:bodyPr wrap="square" lIns="0" tIns="0" rIns="45720" bIns="0" rtlCol="0" anchor="ctr">
            <a:normAutofit/>
          </a:bodyPr>
          <a:lstStyle/>
          <a:p>
            <a:pPr marL="0" indent="0" algn="r">
              <a:spcBef>
                <a:spcPts val="0"/>
              </a:spcBef>
              <a:spcAft>
                <a:spcPts val="0"/>
              </a:spcAft>
              <a:buNone/>
            </a:pPr>
            <a:r>
              <a:rPr lang="en-GB" sz="1100" b="1" dirty="0">
                <a:solidFill>
                  <a:srgbClr val="1A1A1A"/>
                </a:solidFill>
                <a:latin typeface="Arial"/>
                <a:cs typeface="Arial"/>
              </a:rPr>
              <a:t>Importance</a:t>
            </a:r>
          </a:p>
          <a:p>
            <a:pPr marL="0" indent="0" algn="r">
              <a:spcBef>
                <a:spcPts val="0"/>
              </a:spcBef>
              <a:spcAft>
                <a:spcPts val="0"/>
              </a:spcAft>
              <a:buNone/>
            </a:pPr>
            <a:r>
              <a:rPr lang="en-GB" sz="1050" dirty="0">
                <a:solidFill>
                  <a:srgbClr val="666666"/>
                </a:solidFill>
                <a:latin typeface="Arial"/>
                <a:cs typeface="Arial"/>
              </a:rPr>
              <a:t>(low ↑ high)</a:t>
            </a:r>
          </a:p>
        </p:txBody>
      </p:sp>
      <p:sp>
        <p:nvSpPr>
          <p:cNvPr id="17" name="Box 17"/>
          <p:cNvSpPr/>
          <p:nvPr/>
        </p:nvSpPr>
        <p:spPr>
          <a:xfrm>
            <a:off x="8128102" y="3206801"/>
            <a:ext cx="237744" cy="237744"/>
          </a:xfrm>
          <a:prstGeom prst="ellipse">
            <a:avLst/>
          </a:prstGeom>
          <a:solidFill>
            <a:srgbClr val="B4285A"/>
          </a:solidFill>
          <a:ln>
            <a:noFill/>
          </a:ln>
        </p:spPr>
        <p:txBody>
          <a:bodyPr wrap="square" lIns="73152" tIns="45720" rIns="73152" bIns="45720" rtlCol="0" anchor="t">
            <a:normAutofit fontScale="62500" lnSpcReduction="20000"/>
          </a:bodyPr>
          <a:lstStyle/>
          <a:p>
            <a:endParaRPr lang="en-GB" sz="1000"/>
          </a:p>
        </p:txBody>
      </p:sp>
      <p:sp>
        <p:nvSpPr>
          <p:cNvPr id="18" name="Box 18"/>
          <p:cNvSpPr/>
          <p:nvPr/>
        </p:nvSpPr>
        <p:spPr>
          <a:xfrm>
            <a:off x="7378294" y="3462833"/>
            <a:ext cx="17373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150" b="1" dirty="0">
                <a:solidFill>
                  <a:srgbClr val="B4285A"/>
                </a:solidFill>
                <a:latin typeface="Arial"/>
                <a:cs typeface="Arial"/>
              </a:rPr>
              <a:t>Fast (Prime) delivery</a:t>
            </a:r>
          </a:p>
        </p:txBody>
      </p:sp>
      <p:sp>
        <p:nvSpPr>
          <p:cNvPr id="19" name="Box 19"/>
          <p:cNvSpPr/>
          <p:nvPr/>
        </p:nvSpPr>
        <p:spPr>
          <a:xfrm>
            <a:off x="10208362" y="3340303"/>
            <a:ext cx="237744" cy="237744"/>
          </a:xfrm>
          <a:prstGeom prst="ellipse">
            <a:avLst/>
          </a:prstGeom>
          <a:solidFill>
            <a:srgbClr val="5B2C91"/>
          </a:solidFill>
          <a:ln>
            <a:noFill/>
          </a:ln>
        </p:spPr>
        <p:txBody>
          <a:bodyPr wrap="square" lIns="73152" tIns="45720" rIns="73152" bIns="45720" rtlCol="0" anchor="t">
            <a:normAutofit fontScale="62500" lnSpcReduction="20000"/>
          </a:bodyPr>
          <a:lstStyle/>
          <a:p>
            <a:endParaRPr lang="en-GB" sz="1000"/>
          </a:p>
        </p:txBody>
      </p:sp>
      <p:sp>
        <p:nvSpPr>
          <p:cNvPr id="20" name="Box 20"/>
          <p:cNvSpPr/>
          <p:nvPr/>
        </p:nvSpPr>
        <p:spPr>
          <a:xfrm>
            <a:off x="9458554" y="3596335"/>
            <a:ext cx="1737360" cy="274320"/>
          </a:xfrm>
          <a:prstGeom prst="rect">
            <a:avLst/>
          </a:prstGeom>
          <a:noFill/>
          <a:ln>
            <a:noFill/>
          </a:ln>
        </p:spPr>
        <p:txBody>
          <a:bodyPr wrap="square" lIns="0" tIns="0" rIns="0" bIns="0" rtlCol="0" anchor="ctr">
            <a:normAutofit fontScale="92500" lnSpcReduction="20000"/>
          </a:bodyPr>
          <a:lstStyle/>
          <a:p>
            <a:pPr marL="0" indent="0" algn="ctr">
              <a:spcBef>
                <a:spcPts val="0"/>
              </a:spcBef>
              <a:spcAft>
                <a:spcPts val="0"/>
              </a:spcAft>
              <a:buNone/>
            </a:pPr>
            <a:r>
              <a:rPr lang="en-GB" sz="1150" b="1" dirty="0">
                <a:solidFill>
                  <a:srgbClr val="5B2C91"/>
                </a:solidFill>
                <a:latin typeface="Arial"/>
                <a:cs typeface="Arial"/>
              </a:rPr>
              <a:t>Order accuracy and quality</a:t>
            </a:r>
          </a:p>
        </p:txBody>
      </p:sp>
      <p:sp>
        <p:nvSpPr>
          <p:cNvPr id="21" name="Box 21"/>
          <p:cNvSpPr/>
          <p:nvPr/>
        </p:nvSpPr>
        <p:spPr>
          <a:xfrm>
            <a:off x="10707624" y="4808830"/>
            <a:ext cx="237744" cy="237744"/>
          </a:xfrm>
          <a:prstGeom prst="ellipse">
            <a:avLst/>
          </a:prstGeom>
          <a:solidFill>
            <a:srgbClr val="666666"/>
          </a:solidFill>
          <a:ln>
            <a:noFill/>
          </a:ln>
        </p:spPr>
        <p:txBody>
          <a:bodyPr wrap="square" lIns="73152" tIns="45720" rIns="73152" bIns="45720" rtlCol="0" anchor="t">
            <a:normAutofit fontScale="62500" lnSpcReduction="20000"/>
          </a:bodyPr>
          <a:lstStyle/>
          <a:p>
            <a:endParaRPr lang="en-GB" sz="1000"/>
          </a:p>
        </p:txBody>
      </p:sp>
      <p:sp>
        <p:nvSpPr>
          <p:cNvPr id="22" name="Box 22"/>
          <p:cNvSpPr/>
          <p:nvPr/>
        </p:nvSpPr>
        <p:spPr>
          <a:xfrm>
            <a:off x="9957816" y="5064862"/>
            <a:ext cx="17373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150" b="1" dirty="0">
                <a:solidFill>
                  <a:srgbClr val="666666"/>
                </a:solidFill>
                <a:latin typeface="Arial"/>
                <a:cs typeface="Arial"/>
              </a:rPr>
              <a:t>Packaging</a:t>
            </a:r>
          </a:p>
        </p:txBody>
      </p:sp>
      <p:sp>
        <p:nvSpPr>
          <p:cNvPr id="23" name="Box 23"/>
          <p:cNvSpPr/>
          <p:nvPr/>
        </p:nvSpPr>
        <p:spPr>
          <a:xfrm>
            <a:off x="7498080" y="1938528"/>
            <a:ext cx="4160520" cy="292608"/>
          </a:xfrm>
          <a:prstGeom prst="rect">
            <a:avLst/>
          </a:prstGeom>
          <a:noFill/>
          <a:ln>
            <a:noFill/>
          </a:ln>
        </p:spPr>
        <p:txBody>
          <a:bodyPr wrap="square" lIns="73152" tIns="45720" rIns="73152" bIns="45720" rtlCol="0" anchor="ctr">
            <a:normAutofit lnSpcReduction="10000"/>
          </a:bodyPr>
          <a:lstStyle/>
          <a:p>
            <a:pPr marL="0" indent="0" algn="ctr">
              <a:spcBef>
                <a:spcPts val="0"/>
              </a:spcBef>
              <a:spcAft>
                <a:spcPts val="0"/>
              </a:spcAft>
              <a:buNone/>
            </a:pPr>
            <a:r>
              <a:rPr lang="en-GB" sz="1400" b="1" dirty="0">
                <a:solidFill>
                  <a:srgbClr val="5B2C91"/>
                </a:solidFill>
                <a:latin typeface="Arial"/>
                <a:cs typeface="Arial"/>
              </a:rPr>
              <a:t>Importance–performance matrix</a:t>
            </a:r>
          </a:p>
        </p:txBody>
      </p:sp>
      <p:sp>
        <p:nvSpPr>
          <p:cNvPr id="24" name="Source 24"/>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20, pp. 652–654</a:t>
            </a:r>
          </a:p>
        </p:txBody>
      </p:sp>
      <p:sp>
        <p:nvSpPr>
          <p:cNvPr id="25" name="Box 25"/>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1A</a:t>
            </a:r>
          </a:p>
        </p:txBody>
      </p:sp>
      <p:sp>
        <p:nvSpPr>
          <p:cNvPr id="26" name="Page 26"/>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9</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ullseye" descr="Bullseye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The Morning Coffee Shop</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42068"/>
            <a:ext cx="6720840" cy="4160520"/>
          </a:xfrm>
          <a:prstGeom prst="roundRect">
            <a:avLst>
              <a:gd name="adj" fmla="val 4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8" name="Box 8"/>
          <p:cNvSpPr/>
          <p:nvPr/>
        </p:nvSpPr>
        <p:spPr>
          <a:xfrm>
            <a:off x="2204719" y="1280160"/>
            <a:ext cx="4640218" cy="5943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50" b="1" dirty="0">
                <a:solidFill>
                  <a:srgbClr val="5B2C91"/>
                </a:solidFill>
                <a:latin typeface="Arial"/>
                <a:cs typeface="Arial"/>
              </a:rPr>
              <a:t>Monday, 7.45am, by Sheffield station</a:t>
            </a:r>
          </a:p>
        </p:txBody>
      </p:sp>
      <p:sp>
        <p:nvSpPr>
          <p:cNvPr id="9" name="Box 9"/>
          <p:cNvSpPr/>
          <p:nvPr/>
        </p:nvSpPr>
        <p:spPr>
          <a:xfrm>
            <a:off x="577901" y="2156155"/>
            <a:ext cx="6515100" cy="3408861"/>
          </a:xfrm>
          <a:prstGeom prst="rect">
            <a:avLst/>
          </a:prstGeom>
          <a:noFill/>
          <a:ln>
            <a:noFill/>
          </a:ln>
        </p:spPr>
        <p:txBody>
          <a:bodyPr wrap="square" lIns="73152" tIns="45720" rIns="73152" bIns="45720" rtlCol="0" anchor="t">
            <a:normAutofit/>
          </a:bodyPr>
          <a:lstStyle/>
          <a:p>
            <a:pPr marL="0" indent="0" algn="l">
              <a:spcBef>
                <a:spcPts val="0"/>
              </a:spcBef>
              <a:spcAft>
                <a:spcPts val="800"/>
              </a:spcAft>
              <a:buNone/>
            </a:pPr>
            <a:r>
              <a:rPr lang="en-GB" sz="1500" dirty="0">
                <a:solidFill>
                  <a:srgbClr val="1A1A1A"/>
                </a:solidFill>
                <a:latin typeface="Arial"/>
                <a:cs typeface="Arial"/>
              </a:rPr>
              <a:t>A small coffee shop serves commuters on their way to work. Between 7.30 and 9.00am most customers have a train to catch: they want their coffee quickly, and they want it right.</a:t>
            </a:r>
          </a:p>
          <a:p>
            <a:pPr marL="0" indent="0" algn="l">
              <a:spcBef>
                <a:spcPts val="0"/>
              </a:spcBef>
              <a:spcAft>
                <a:spcPts val="800"/>
              </a:spcAft>
              <a:buNone/>
            </a:pPr>
            <a:r>
              <a:rPr lang="en-GB" sz="1500" dirty="0">
                <a:solidFill>
                  <a:srgbClr val="1A1A1A"/>
                </a:solidFill>
                <a:latin typeface="Arial"/>
                <a:cs typeface="Arial"/>
              </a:rPr>
              <a:t>Two people are on shift. The cashier takes orders in seconds. The barista makes every drink, takes payment, warms the food and labels each cup, and she is proud of her elaborate latte art.</a:t>
            </a:r>
          </a:p>
          <a:p>
            <a:pPr marL="0" indent="0" algn="l">
              <a:spcBef>
                <a:spcPts val="0"/>
              </a:spcBef>
              <a:spcAft>
                <a:spcPts val="800"/>
              </a:spcAft>
              <a:buNone/>
            </a:pPr>
            <a:r>
              <a:rPr lang="en-GB" sz="1500" dirty="0">
                <a:solidFill>
                  <a:srgbClr val="1A1A1A"/>
                </a:solidFill>
                <a:latin typeface="Arial"/>
                <a:cs typeface="Arial"/>
              </a:rPr>
              <a:t>By 8am the queue is out of the door. Customers wait around 12 minutes; some give up and walk to the chain café opposite. Orders are almost never wrong, but the shop serves only 30 drinks per labour-hour, against 40 at similar shops.</a:t>
            </a:r>
          </a:p>
        </p:txBody>
      </p:sp>
      <p:sp>
        <p:nvSpPr>
          <p:cNvPr id="10" name="Box 10"/>
          <p:cNvSpPr/>
          <p:nvPr/>
        </p:nvSpPr>
        <p:spPr>
          <a:xfrm>
            <a:off x="7589520" y="114300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“My train’s at 8.05. I can’t wait 12 minutes for a flat white.”</a:t>
            </a:r>
          </a:p>
          <a:p>
            <a:pPr marL="0" indent="0" algn="r">
              <a:spcBef>
                <a:spcPts val="0"/>
              </a:spcBef>
              <a:spcAft>
                <a:spcPts val="0"/>
              </a:spcAft>
              <a:buNone/>
            </a:pPr>
            <a:r>
              <a:rPr lang="en-GB" sz="1100" b="1" dirty="0">
                <a:solidFill>
                  <a:srgbClr val="5B2C91"/>
                </a:solidFill>
                <a:latin typeface="Arial"/>
                <a:cs typeface="Arial"/>
              </a:rPr>
              <a:t>— Commuter</a:t>
            </a:r>
          </a:p>
        </p:txBody>
      </p:sp>
      <p:sp>
        <p:nvSpPr>
          <p:cNvPr id="11" name="Box 11"/>
          <p:cNvSpPr/>
          <p:nvPr/>
        </p:nvSpPr>
        <p:spPr>
          <a:xfrm>
            <a:off x="7589520" y="256032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“They’ve never got my order wrong, to be fair.”</a:t>
            </a:r>
          </a:p>
          <a:p>
            <a:pPr marL="0" indent="0" algn="r">
              <a:spcBef>
                <a:spcPts val="0"/>
              </a:spcBef>
              <a:spcAft>
                <a:spcPts val="0"/>
              </a:spcAft>
              <a:buNone/>
            </a:pPr>
            <a:r>
              <a:rPr lang="en-GB" sz="1100" b="1" dirty="0">
                <a:solidFill>
                  <a:srgbClr val="5B2C91"/>
                </a:solidFill>
                <a:latin typeface="Arial"/>
                <a:cs typeface="Arial"/>
              </a:rPr>
              <a:t>— Regular customer</a:t>
            </a:r>
          </a:p>
        </p:txBody>
      </p:sp>
      <p:sp>
        <p:nvSpPr>
          <p:cNvPr id="12" name="Box 12"/>
          <p:cNvSpPr/>
          <p:nvPr/>
        </p:nvSpPr>
        <p:spPr>
          <a:xfrm>
            <a:off x="7589520" y="3977640"/>
            <a:ext cx="4142232" cy="1097280"/>
          </a:xfrm>
          <a:prstGeom prst="wedgeRoundRectCallout">
            <a:avLst>
              <a:gd name="adj1" fmla="val -58000"/>
              <a:gd name="adj2" fmla="val 15000"/>
              <a:gd name="adj3" fmla="val 16667"/>
            </a:avLst>
          </a:prstGeom>
          <a:solidFill>
            <a:srgbClr val="FFFFFF"/>
          </a:solidFill>
          <a:ln w="15875">
            <a:solidFill>
              <a:srgbClr val="5B2C91"/>
            </a:solidFill>
          </a:ln>
        </p:spPr>
        <p:txBody>
          <a:bodyPr wrap="square" lIns="164592" tIns="45720" rIns="164592" bIns="45720" rtlCol="0" anchor="ctr">
            <a:normAutofit/>
          </a:bodyPr>
          <a:lstStyle/>
          <a:p>
            <a:pPr marL="0" indent="0" algn="l">
              <a:spcBef>
                <a:spcPts val="0"/>
              </a:spcBef>
              <a:spcAft>
                <a:spcPts val="150"/>
              </a:spcAft>
              <a:buNone/>
            </a:pPr>
            <a:r>
              <a:rPr lang="en-GB" sz="1500" i="1" dirty="0">
                <a:solidFill>
                  <a:srgbClr val="1A1A1A"/>
                </a:solidFill>
                <a:latin typeface="Arial"/>
                <a:cs typeface="Arial"/>
              </a:rPr>
              <a:t>“I’m taking orders much faster than she can make them.”</a:t>
            </a:r>
          </a:p>
          <a:p>
            <a:pPr marL="0" indent="0" algn="r">
              <a:spcBef>
                <a:spcPts val="0"/>
              </a:spcBef>
              <a:spcAft>
                <a:spcPts val="0"/>
              </a:spcAft>
              <a:buNone/>
            </a:pPr>
            <a:r>
              <a:rPr lang="en-GB" sz="1100" b="1" dirty="0">
                <a:solidFill>
                  <a:srgbClr val="5B2C91"/>
                </a:solidFill>
                <a:latin typeface="Arial"/>
                <a:cs typeface="Arial"/>
              </a:rPr>
              <a:t>— Cashier</a:t>
            </a:r>
          </a:p>
        </p:txBody>
      </p:sp>
      <p:sp>
        <p:nvSpPr>
          <p:cNvPr id="13" name="Box 13"/>
          <p:cNvSpPr/>
          <p:nvPr/>
        </p:nvSpPr>
        <p:spPr>
          <a:xfrm>
            <a:off x="457200" y="5532120"/>
            <a:ext cx="11274552" cy="77724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50" b="1" dirty="0">
                <a:solidFill>
                  <a:srgbClr val="FFFFFF"/>
                </a:solidFill>
                <a:latin typeface="Arial"/>
                <a:cs typeface="Arial"/>
              </a:rPr>
              <a:t>Before we analyse:  </a:t>
            </a:r>
            <a:r>
              <a:rPr lang="en-GB" sz="1550" dirty="0">
                <a:solidFill>
                  <a:srgbClr val="FFFFFF"/>
                </a:solidFill>
                <a:latin typeface="Arial"/>
                <a:cs typeface="Arial"/>
              </a:rPr>
              <a:t>what do these customers value most? Where is the work piling up? How could the shop serve more drinks with the same two people?</a:t>
            </a:r>
          </a:p>
        </p:txBody>
      </p:sp>
      <p:sp>
        <p:nvSpPr>
          <p:cNvPr id="14" name="Source 14"/>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scenario</a:t>
            </a:r>
          </a:p>
        </p:txBody>
      </p:sp>
      <p:sp>
        <p:nvSpPr>
          <p:cNvPr id="15" name="Box 15"/>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1B</a:t>
            </a:r>
          </a:p>
        </p:txBody>
      </p:sp>
      <p:sp>
        <p:nvSpPr>
          <p:cNvPr id="16" name="Page 16"/>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10</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Users" descr="Users icon"/>
          <p:cNvPicPr>
            <a:picLocks noChangeAspect="1"/>
          </p:cNvPicPr>
          <p:nvPr/>
        </p:nvPicPr>
        <p:blipFill>
          <a:blip r:embed="rId2"/>
          <a:stretch>
            <a:fillRect/>
          </a:stretch>
        </p:blipFill>
        <p:spPr>
          <a:xfrm>
            <a:off x="577901" y="449885"/>
            <a:ext cx="307238" cy="307238"/>
          </a:xfrm>
          <a:prstGeom prst="rect">
            <a:avLst/>
          </a:prstGeom>
        </p:spPr>
      </p:pic>
      <p:sp>
        <p:nvSpPr>
          <p:cNvPr id="2" name="AutoShape 2" descr="Starbucks' Exciting Emblem Captures The Brand's Strong Legacy | DesignRush">
            <a:extLst>
              <a:ext uri="{FF2B5EF4-FFF2-40B4-BE49-F238E27FC236}">
                <a16:creationId xmlns:a16="http://schemas.microsoft.com/office/drawing/2014/main" id="{F571FBF4-947B-F094-15F0-0BE45F2D21C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AutoShape 4" descr="Starbucks Logo Design">
            <a:extLst>
              <a:ext uri="{FF2B5EF4-FFF2-40B4-BE49-F238E27FC236}">
                <a16:creationId xmlns:a16="http://schemas.microsoft.com/office/drawing/2014/main" id="{403C7313-C916-7072-3BBF-8FF9DE82663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9" name="Picture 18" descr="Circular brand logo for Starbucks Coffee, featuring a green, white, and black color scheme. White uppercase “STARBUCKS COFFEE” lettering surrounds a crowned twin-tailed siren, with white stars on both sides.">
            <a:extLst>
              <a:ext uri="{FF2B5EF4-FFF2-40B4-BE49-F238E27FC236}">
                <a16:creationId xmlns:a16="http://schemas.microsoft.com/office/drawing/2014/main" id="{05ED1711-5B98-DFFF-662D-60EA5C0E19CE}"/>
              </a:ext>
            </a:extLst>
          </p:cNvPr>
          <p:cNvPicPr>
            <a:picLocks noChangeAspect="1"/>
          </p:cNvPicPr>
          <p:nvPr/>
        </p:nvPicPr>
        <p:blipFill>
          <a:blip r:embed="rId3"/>
          <a:stretch>
            <a:fillRect/>
          </a:stretch>
        </p:blipFill>
        <p:spPr>
          <a:xfrm>
            <a:off x="502920" y="1115242"/>
            <a:ext cx="1290319" cy="9677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Morning Coffee Shop: Measuring the Gaps</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97280"/>
            <a:ext cx="2057400" cy="5486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00" b="1" dirty="0">
                <a:solidFill>
                  <a:srgbClr val="FFFFFF"/>
                </a:solidFill>
                <a:latin typeface="Arial"/>
                <a:cs typeface="Arial"/>
              </a:rPr>
              <a:t>1  List the factors</a:t>
            </a:r>
          </a:p>
        </p:txBody>
      </p:sp>
      <p:cxnSp>
        <p:nvCxnSpPr>
          <p:cNvPr id="6" name="Arrow 6"/>
          <p:cNvCxnSpPr/>
          <p:nvPr/>
        </p:nvCxnSpPr>
        <p:spPr>
          <a:xfrm>
            <a:off x="2542032" y="1371600"/>
            <a:ext cx="192024" cy="0"/>
          </a:xfrm>
          <a:prstGeom prst="straightConnector1">
            <a:avLst/>
          </a:prstGeom>
          <a:ln w="19050">
            <a:solidFill>
              <a:srgbClr val="5B2C91"/>
            </a:solidFill>
            <a:tailEnd type="triangle"/>
          </a:ln>
        </p:spPr>
      </p:cxnSp>
      <p:sp>
        <p:nvSpPr>
          <p:cNvPr id="7" name="Box 7"/>
          <p:cNvSpPr/>
          <p:nvPr/>
        </p:nvSpPr>
        <p:spPr>
          <a:xfrm>
            <a:off x="2761488" y="1097280"/>
            <a:ext cx="2057400" cy="5486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00" b="1" dirty="0">
                <a:solidFill>
                  <a:srgbClr val="FFFFFF"/>
                </a:solidFill>
                <a:latin typeface="Arial"/>
                <a:cs typeface="Arial"/>
              </a:rPr>
              <a:t>2  Score importance</a:t>
            </a:r>
          </a:p>
        </p:txBody>
      </p:sp>
      <p:cxnSp>
        <p:nvCxnSpPr>
          <p:cNvPr id="8" name="Arrow 8"/>
          <p:cNvCxnSpPr/>
          <p:nvPr/>
        </p:nvCxnSpPr>
        <p:spPr>
          <a:xfrm>
            <a:off x="4846320" y="1371600"/>
            <a:ext cx="192024" cy="0"/>
          </a:xfrm>
          <a:prstGeom prst="straightConnector1">
            <a:avLst/>
          </a:prstGeom>
          <a:ln w="19050">
            <a:solidFill>
              <a:srgbClr val="5B2C91"/>
            </a:solidFill>
            <a:tailEnd type="triangle"/>
          </a:ln>
        </p:spPr>
      </p:cxnSp>
      <p:sp>
        <p:nvSpPr>
          <p:cNvPr id="9" name="Box 9"/>
          <p:cNvSpPr/>
          <p:nvPr/>
        </p:nvSpPr>
        <p:spPr>
          <a:xfrm>
            <a:off x="5065776" y="1097280"/>
            <a:ext cx="2057400" cy="548640"/>
          </a:xfrm>
          <a:prstGeom prst="roundRect">
            <a:avLst>
              <a:gd name="adj" fmla="val 20000"/>
            </a:avLst>
          </a:prstGeom>
          <a:solidFill>
            <a:srgbClr val="5B2C91"/>
          </a:solidFill>
          <a:ln>
            <a:noFill/>
          </a:ln>
        </p:spPr>
        <p:txBody>
          <a:bodyPr wrap="square" lIns="73152" tIns="45720" rIns="73152" bIns="45720" rtlCol="0" anchor="ctr">
            <a:normAutofit fontScale="92500"/>
          </a:bodyPr>
          <a:lstStyle/>
          <a:p>
            <a:pPr marL="0" indent="0" algn="ctr">
              <a:spcBef>
                <a:spcPts val="0"/>
              </a:spcBef>
              <a:spcAft>
                <a:spcPts val="0"/>
              </a:spcAft>
              <a:buNone/>
            </a:pPr>
            <a:r>
              <a:rPr lang="en-GB" sz="1500" b="1" dirty="0">
                <a:solidFill>
                  <a:srgbClr val="FFFFFF"/>
                </a:solidFill>
                <a:latin typeface="Arial"/>
                <a:cs typeface="Arial"/>
              </a:rPr>
              <a:t>3  Score performance</a:t>
            </a:r>
          </a:p>
        </p:txBody>
      </p:sp>
      <p:cxnSp>
        <p:nvCxnSpPr>
          <p:cNvPr id="10" name="Arrow 10"/>
          <p:cNvCxnSpPr/>
          <p:nvPr/>
        </p:nvCxnSpPr>
        <p:spPr>
          <a:xfrm>
            <a:off x="7150608" y="1371600"/>
            <a:ext cx="192024" cy="0"/>
          </a:xfrm>
          <a:prstGeom prst="straightConnector1">
            <a:avLst/>
          </a:prstGeom>
          <a:ln w="19050">
            <a:solidFill>
              <a:srgbClr val="5B2C91"/>
            </a:solidFill>
            <a:tailEnd type="triangle"/>
          </a:ln>
        </p:spPr>
      </p:cxnSp>
      <p:sp>
        <p:nvSpPr>
          <p:cNvPr id="11" name="Box 11"/>
          <p:cNvSpPr/>
          <p:nvPr/>
        </p:nvSpPr>
        <p:spPr>
          <a:xfrm>
            <a:off x="7370064" y="1097280"/>
            <a:ext cx="2057400" cy="548640"/>
          </a:xfrm>
          <a:prstGeom prst="roundRect">
            <a:avLst>
              <a:gd name="adj" fmla="val 20000"/>
            </a:avLst>
          </a:prstGeom>
          <a:solidFill>
            <a:srgbClr val="5B2C91"/>
          </a:solidFill>
          <a:ln>
            <a:noFill/>
          </a:ln>
        </p:spPr>
        <p:txBody>
          <a:bodyPr wrap="square" lIns="73152" tIns="45720" rIns="73152" bIns="45720" rtlCol="0" anchor="ctr">
            <a:normAutofit fontScale="92500"/>
          </a:bodyPr>
          <a:lstStyle/>
          <a:p>
            <a:pPr marL="0" indent="0" algn="ctr">
              <a:spcBef>
                <a:spcPts val="0"/>
              </a:spcBef>
              <a:spcAft>
                <a:spcPts val="0"/>
              </a:spcAft>
              <a:buNone/>
            </a:pPr>
            <a:r>
              <a:rPr lang="en-GB" sz="1500" b="1" dirty="0">
                <a:solidFill>
                  <a:srgbClr val="FFFFFF"/>
                </a:solidFill>
                <a:latin typeface="Arial"/>
                <a:cs typeface="Arial"/>
              </a:rPr>
              <a:t>4  Calculate the gaps</a:t>
            </a:r>
          </a:p>
        </p:txBody>
      </p:sp>
      <p:cxnSp>
        <p:nvCxnSpPr>
          <p:cNvPr id="12" name="Arrow 12"/>
          <p:cNvCxnSpPr/>
          <p:nvPr/>
        </p:nvCxnSpPr>
        <p:spPr>
          <a:xfrm>
            <a:off x="9454896" y="1371600"/>
            <a:ext cx="192024" cy="0"/>
          </a:xfrm>
          <a:prstGeom prst="straightConnector1">
            <a:avLst/>
          </a:prstGeom>
          <a:ln w="19050">
            <a:solidFill>
              <a:srgbClr val="5B2C91"/>
            </a:solidFill>
            <a:tailEnd type="triangle"/>
          </a:ln>
        </p:spPr>
      </p:cxnSp>
      <p:sp>
        <p:nvSpPr>
          <p:cNvPr id="13" name="Box 13"/>
          <p:cNvSpPr/>
          <p:nvPr/>
        </p:nvSpPr>
        <p:spPr>
          <a:xfrm>
            <a:off x="9674352" y="1097280"/>
            <a:ext cx="2057400" cy="5486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00" b="1" dirty="0">
                <a:solidFill>
                  <a:srgbClr val="FFFFFF"/>
                </a:solidFill>
                <a:latin typeface="Arial"/>
                <a:cs typeface="Arial"/>
              </a:rPr>
              <a:t>5  Prioritise</a:t>
            </a:r>
          </a:p>
        </p:txBody>
      </p:sp>
      <p:sp>
        <p:nvSpPr>
          <p:cNvPr id="14" name="Box 14"/>
          <p:cNvSpPr/>
          <p:nvPr/>
        </p:nvSpPr>
        <p:spPr>
          <a:xfrm>
            <a:off x="457200" y="1783080"/>
            <a:ext cx="11274552" cy="3657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Importance–performance gap (illustrative scores, 1–9):</a:t>
            </a:r>
          </a:p>
        </p:txBody>
      </p:sp>
      <p:graphicFrame>
        <p:nvGraphicFramePr>
          <p:cNvPr id="15" name="Table 15"/>
          <p:cNvGraphicFramePr>
            <a:graphicFrameLocks noGrp="1"/>
          </p:cNvGraphicFramePr>
          <p:nvPr/>
        </p:nvGraphicFramePr>
        <p:xfrm>
          <a:off x="457200" y="2194560"/>
          <a:ext cx="11274552" cy="2121408"/>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627632">
                  <a:extLst>
                    <a:ext uri="{9D8B030D-6E8A-4147-A177-3AD203B41FA5}">
                      <a16:colId xmlns:a16="http://schemas.microsoft.com/office/drawing/2014/main" val="20005"/>
                    </a:ext>
                  </a:extLst>
                </a:gridCol>
              </a:tblGrid>
              <a:tr h="530352">
                <a:tc>
                  <a:txBody>
                    <a:bodyPr/>
                    <a:lstStyle/>
                    <a:p>
                      <a:pPr marL="0" indent="0" algn="l">
                        <a:spcBef>
                          <a:spcPts val="0"/>
                        </a:spcBef>
                        <a:spcAft>
                          <a:spcPts val="0"/>
                        </a:spcAft>
                        <a:buNone/>
                      </a:pPr>
                      <a:r>
                        <a:rPr lang="en-GB" sz="1300" b="1" dirty="0">
                          <a:solidFill>
                            <a:srgbClr val="FFFFFF"/>
                          </a:solidFill>
                          <a:latin typeface="Arial"/>
                          <a:cs typeface="Arial"/>
                        </a:rPr>
                        <a:t>Factor</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Importance (survey)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300" b="1" dirty="0">
                          <a:solidFill>
                            <a:srgbClr val="FFFFFF"/>
                          </a:solidFill>
                          <a:latin typeface="Arial"/>
                          <a:cs typeface="Arial"/>
                        </a:rPr>
                        <a:t>Evidence of performance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Performance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300" b="1" dirty="0">
                          <a:solidFill>
                            <a:srgbClr val="FFFFFF"/>
                          </a:solidFill>
                          <a:latin typeface="Arial"/>
                          <a:cs typeface="Arial"/>
                        </a:rPr>
                        <a:t>Gap</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300" b="1" dirty="0">
                          <a:solidFill>
                            <a:srgbClr val="FFFFFF"/>
                          </a:solidFill>
                          <a:latin typeface="Arial"/>
                          <a:cs typeface="Arial"/>
                        </a:rPr>
                        <a:t>Priority</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530352">
                <a:tc>
                  <a:txBody>
                    <a:bodyPr/>
                    <a:lstStyle/>
                    <a:p>
                      <a:pPr marL="0" indent="0" algn="l">
                        <a:spcBef>
                          <a:spcPts val="0"/>
                        </a:spcBef>
                        <a:spcAft>
                          <a:spcPts val="0"/>
                        </a:spcAft>
                        <a:buNone/>
                      </a:pPr>
                      <a:r>
                        <a:rPr lang="en-GB" sz="1300" dirty="0">
                          <a:solidFill>
                            <a:srgbClr val="1A1A1A"/>
                          </a:solidFill>
                          <a:latin typeface="Arial"/>
                          <a:cs typeface="Arial"/>
                        </a:rPr>
                        <a:t>Speed of service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9</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Average wait 12 minutes against a 3-minute target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3</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+6</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Urgent action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530352">
                <a:tc>
                  <a:txBody>
                    <a:bodyPr/>
                    <a:lstStyle/>
                    <a:p>
                      <a:pPr marL="0" indent="0" algn="l">
                        <a:spcBef>
                          <a:spcPts val="0"/>
                        </a:spcBef>
                        <a:spcAft>
                          <a:spcPts val="0"/>
                        </a:spcAft>
                        <a:buNone/>
                      </a:pPr>
                      <a:r>
                        <a:rPr lang="en-GB" sz="1300" dirty="0">
                          <a:solidFill>
                            <a:srgbClr val="1A1A1A"/>
                          </a:solidFill>
                          <a:latin typeface="Arial"/>
                          <a:cs typeface="Arial"/>
                        </a:rPr>
                        <a:t>Order accuracy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300" dirty="0">
                          <a:solidFill>
                            <a:srgbClr val="1A1A1A"/>
                          </a:solidFill>
                          <a:latin typeface="Arial"/>
                          <a:cs typeface="Arial"/>
                        </a:rPr>
                        <a:t>99% of orders correct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300" dirty="0">
                          <a:solidFill>
                            <a:srgbClr val="1A1A1A"/>
                          </a:solidFill>
                          <a:latin typeface="Arial"/>
                          <a:cs typeface="Arial"/>
                        </a:rPr>
                        <a:t>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300" dirty="0">
                          <a:solidFill>
                            <a:srgbClr val="1A1A1A"/>
                          </a:solidFill>
                          <a:latin typeface="Arial"/>
                          <a:cs typeface="Arial"/>
                        </a:rPr>
                        <a:t>Maintain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530352">
                <a:tc>
                  <a:txBody>
                    <a:bodyPr/>
                    <a:lstStyle/>
                    <a:p>
                      <a:pPr marL="0" indent="0" algn="l">
                        <a:spcBef>
                          <a:spcPts val="0"/>
                        </a:spcBef>
                        <a:spcAft>
                          <a:spcPts val="0"/>
                        </a:spcAft>
                        <a:buNone/>
                      </a:pPr>
                      <a:r>
                        <a:rPr lang="en-GB" sz="1300" dirty="0">
                          <a:solidFill>
                            <a:srgbClr val="1A1A1A"/>
                          </a:solidFill>
                          <a:latin typeface="Arial"/>
                          <a:cs typeface="Arial"/>
                        </a:rPr>
                        <a:t>Elaborate latte art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3</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Art on every drink, about 10 seconds each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9</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300" dirty="0">
                          <a:solidFill>
                            <a:srgbClr val="1A1A1A"/>
                          </a:solidFill>
                          <a:latin typeface="Arial"/>
                          <a:cs typeface="Arial"/>
                        </a:rPr>
                        <a:t>−6</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300" dirty="0">
                          <a:solidFill>
                            <a:srgbClr val="1A1A1A"/>
                          </a:solidFill>
                          <a:latin typeface="Arial"/>
                          <a:cs typeface="Arial"/>
                        </a:rPr>
                        <a:t>Excess? Review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bl>
          </a:graphicData>
        </a:graphic>
      </p:graphicFrame>
      <p:sp>
        <p:nvSpPr>
          <p:cNvPr id="16" name="Box 16"/>
          <p:cNvSpPr/>
          <p:nvPr/>
        </p:nvSpPr>
        <p:spPr>
          <a:xfrm>
            <a:off x="457200" y="4434840"/>
            <a:ext cx="11274552" cy="3657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Productivity gap:</a:t>
            </a:r>
          </a:p>
        </p:txBody>
      </p:sp>
      <p:sp>
        <p:nvSpPr>
          <p:cNvPr id="17" name="Box 17"/>
          <p:cNvSpPr/>
          <p:nvPr/>
        </p:nvSpPr>
        <p:spPr>
          <a:xfrm>
            <a:off x="457200" y="4846320"/>
            <a:ext cx="3657600" cy="685800"/>
          </a:xfrm>
          <a:prstGeom prst="roundRect">
            <a:avLst>
              <a:gd name="adj" fmla="val 15000"/>
            </a:avLst>
          </a:prstGeom>
          <a:solidFill>
            <a:srgbClr val="EBE1F5"/>
          </a:solidFill>
          <a:ln>
            <a:noFill/>
          </a:ln>
        </p:spPr>
        <p:txBody>
          <a:bodyPr wrap="square" lIns="73152" tIns="27432" rIns="73152" bIns="27432" rtlCol="0" anchor="ctr">
            <a:normAutofit lnSpcReduction="10000"/>
          </a:bodyPr>
          <a:lstStyle/>
          <a:p>
            <a:pPr marL="0" indent="0" algn="ctr">
              <a:spcBef>
                <a:spcPts val="0"/>
              </a:spcBef>
              <a:spcAft>
                <a:spcPts val="50"/>
              </a:spcAft>
              <a:buNone/>
            </a:pPr>
            <a:r>
              <a:rPr lang="en-GB" sz="1400" b="1" dirty="0">
                <a:solidFill>
                  <a:srgbClr val="5B2C91"/>
                </a:solidFill>
                <a:latin typeface="Arial"/>
                <a:cs typeface="Arial"/>
              </a:rPr>
              <a:t>Actual</a:t>
            </a:r>
          </a:p>
          <a:p>
            <a:pPr marL="0" indent="0" algn="ctr">
              <a:spcBef>
                <a:spcPts val="0"/>
              </a:spcBef>
              <a:spcAft>
                <a:spcPts val="0"/>
              </a:spcAft>
              <a:buNone/>
            </a:pPr>
            <a:r>
              <a:rPr lang="en-GB" sz="1300" dirty="0">
                <a:solidFill>
                  <a:srgbClr val="1A1A1A"/>
                </a:solidFill>
                <a:latin typeface="Arial"/>
                <a:cs typeface="Arial"/>
              </a:rPr>
              <a:t>60 drinks ÷ 2 labour-hours = 30 per labour-hour</a:t>
            </a:r>
          </a:p>
        </p:txBody>
      </p:sp>
      <p:sp>
        <p:nvSpPr>
          <p:cNvPr id="18" name="Box 18"/>
          <p:cNvSpPr/>
          <p:nvPr/>
        </p:nvSpPr>
        <p:spPr>
          <a:xfrm>
            <a:off x="4261104" y="4846320"/>
            <a:ext cx="3657600" cy="685800"/>
          </a:xfrm>
          <a:prstGeom prst="roundRect">
            <a:avLst>
              <a:gd name="adj" fmla="val 15000"/>
            </a:avLst>
          </a:prstGeom>
          <a:solidFill>
            <a:srgbClr val="EBE1F5"/>
          </a:solidFill>
          <a:ln>
            <a:noFill/>
          </a:ln>
        </p:spPr>
        <p:txBody>
          <a:bodyPr wrap="square" lIns="73152" tIns="27432" rIns="73152" bIns="27432" rtlCol="0" anchor="ctr">
            <a:normAutofit/>
          </a:bodyPr>
          <a:lstStyle/>
          <a:p>
            <a:pPr marL="0" indent="0" algn="ctr">
              <a:spcBef>
                <a:spcPts val="0"/>
              </a:spcBef>
              <a:spcAft>
                <a:spcPts val="50"/>
              </a:spcAft>
              <a:buNone/>
            </a:pPr>
            <a:r>
              <a:rPr lang="en-GB" sz="1400" b="1" dirty="0">
                <a:solidFill>
                  <a:srgbClr val="5B2C91"/>
                </a:solidFill>
                <a:latin typeface="Arial"/>
                <a:cs typeface="Arial"/>
              </a:rPr>
              <a:t>Benchmark</a:t>
            </a:r>
          </a:p>
          <a:p>
            <a:pPr marL="0" indent="0" algn="ctr">
              <a:spcBef>
                <a:spcPts val="0"/>
              </a:spcBef>
              <a:spcAft>
                <a:spcPts val="0"/>
              </a:spcAft>
              <a:buNone/>
            </a:pPr>
            <a:r>
              <a:rPr lang="en-GB" sz="1300" dirty="0">
                <a:solidFill>
                  <a:srgbClr val="1A1A1A"/>
                </a:solidFill>
                <a:latin typeface="Arial"/>
                <a:cs typeface="Arial"/>
              </a:rPr>
              <a:t>40 per labour-hour at similar shops</a:t>
            </a:r>
          </a:p>
        </p:txBody>
      </p:sp>
      <p:sp>
        <p:nvSpPr>
          <p:cNvPr id="19" name="Box 19"/>
          <p:cNvSpPr/>
          <p:nvPr/>
        </p:nvSpPr>
        <p:spPr>
          <a:xfrm>
            <a:off x="8065008" y="4846320"/>
            <a:ext cx="3657600" cy="685800"/>
          </a:xfrm>
          <a:prstGeom prst="roundRect">
            <a:avLst>
              <a:gd name="adj" fmla="val 15000"/>
            </a:avLst>
          </a:prstGeom>
          <a:solidFill>
            <a:srgbClr val="B4285A"/>
          </a:solidFill>
          <a:ln>
            <a:noFill/>
          </a:ln>
        </p:spPr>
        <p:txBody>
          <a:bodyPr wrap="square" lIns="73152" tIns="27432" rIns="73152" bIns="27432" rtlCol="0" anchor="ctr">
            <a:normAutofit/>
          </a:bodyPr>
          <a:lstStyle/>
          <a:p>
            <a:pPr marL="0" indent="0" algn="ctr">
              <a:spcBef>
                <a:spcPts val="0"/>
              </a:spcBef>
              <a:spcAft>
                <a:spcPts val="50"/>
              </a:spcAft>
              <a:buNone/>
            </a:pPr>
            <a:r>
              <a:rPr lang="en-GB" sz="1400" b="1" dirty="0">
                <a:solidFill>
                  <a:srgbClr val="FFFFFF"/>
                </a:solidFill>
                <a:latin typeface="Arial"/>
                <a:cs typeface="Arial"/>
              </a:rPr>
              <a:t>Gap</a:t>
            </a:r>
          </a:p>
          <a:p>
            <a:pPr marL="0" indent="0" algn="ctr">
              <a:spcBef>
                <a:spcPts val="0"/>
              </a:spcBef>
              <a:spcAft>
                <a:spcPts val="0"/>
              </a:spcAft>
              <a:buNone/>
            </a:pPr>
            <a:r>
              <a:rPr lang="en-GB" sz="1300" dirty="0">
                <a:solidFill>
                  <a:srgbClr val="FFFFFF"/>
                </a:solidFill>
                <a:latin typeface="Arial"/>
                <a:cs typeface="Arial"/>
              </a:rPr>
              <a:t>40 − 30 = 10  (10 ÷ 40 = 25% below)</a:t>
            </a:r>
          </a:p>
        </p:txBody>
      </p:sp>
      <p:sp>
        <p:nvSpPr>
          <p:cNvPr id="20" name="Box 20"/>
          <p:cNvSpPr/>
          <p:nvPr/>
        </p:nvSpPr>
        <p:spPr>
          <a:xfrm>
            <a:off x="457200" y="5669280"/>
            <a:ext cx="11274552" cy="68580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50" b="1" dirty="0">
                <a:solidFill>
                  <a:srgbClr val="FFFFFF"/>
                </a:solidFill>
                <a:latin typeface="Arial"/>
                <a:cs typeface="Arial"/>
              </a:rPr>
              <a:t>Result:  </a:t>
            </a:r>
            <a:r>
              <a:rPr lang="en-GB" sz="1450" dirty="0">
                <a:solidFill>
                  <a:srgbClr val="FFFFFF"/>
                </a:solidFill>
                <a:latin typeface="Arial"/>
                <a:cs typeface="Arial"/>
              </a:rPr>
              <a:t>speed has the largest gap (+6), and the shop produces 25% fewer drinks per labour-hour than the benchmark. Both point to the same problem.</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figures. Method after Slack, N., Brandon-Jones, A. and Johnston, R. (2013) Operations Management, 7th edn. Harlow: Pearson, ch. 20</a:t>
            </a:r>
          </a:p>
        </p:txBody>
      </p:sp>
      <p:sp>
        <p:nvSpPr>
          <p:cNvPr id="22" name="Box 22"/>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1B</a:t>
            </a:r>
          </a:p>
        </p:txBody>
      </p:sp>
      <p:sp>
        <p:nvSpPr>
          <p:cNvPr id="23" name="Page 23"/>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11</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alculator" descr="Calculator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Morning Coffee Shop: Plotting the Gaps</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143000"/>
            <a:ext cx="5120640"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b="1" dirty="0">
                <a:solidFill>
                  <a:srgbClr val="5B2C91"/>
                </a:solidFill>
                <a:latin typeface="Arial"/>
                <a:cs typeface="Arial"/>
              </a:rPr>
              <a:t>Productivity gap (drinks per labour-hour)</a:t>
            </a:r>
          </a:p>
        </p:txBody>
      </p:sp>
      <p:sp>
        <p:nvSpPr>
          <p:cNvPr id="6" name="Box 6"/>
          <p:cNvSpPr/>
          <p:nvPr/>
        </p:nvSpPr>
        <p:spPr>
          <a:xfrm>
            <a:off x="1097280" y="3072384"/>
            <a:ext cx="1371600" cy="1865376"/>
          </a:xfrm>
          <a:prstGeom prst="rect">
            <a:avLst/>
          </a:prstGeom>
          <a:solidFill>
            <a:srgbClr val="B4285A"/>
          </a:solidFill>
          <a:ln>
            <a:noFill/>
          </a:ln>
        </p:spPr>
        <p:txBody>
          <a:bodyPr wrap="square" lIns="0" tIns="91440" rIns="0" bIns="0" rtlCol="0" anchor="t">
            <a:normAutofit/>
          </a:bodyPr>
          <a:lstStyle/>
          <a:p>
            <a:pPr marL="0" indent="0" algn="ctr">
              <a:spcBef>
                <a:spcPts val="0"/>
              </a:spcBef>
              <a:spcAft>
                <a:spcPts val="0"/>
              </a:spcAft>
              <a:buNone/>
            </a:pPr>
            <a:r>
              <a:rPr lang="en-GB" sz="2000" b="1" dirty="0">
                <a:solidFill>
                  <a:srgbClr val="FFFFFF"/>
                </a:solidFill>
                <a:latin typeface="Arial"/>
                <a:cs typeface="Arial"/>
              </a:rPr>
              <a:t>30</a:t>
            </a:r>
          </a:p>
        </p:txBody>
      </p:sp>
      <p:sp>
        <p:nvSpPr>
          <p:cNvPr id="7" name="Box 7"/>
          <p:cNvSpPr/>
          <p:nvPr/>
        </p:nvSpPr>
        <p:spPr>
          <a:xfrm>
            <a:off x="914400" y="4983480"/>
            <a:ext cx="1737360" cy="36576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1A1A1A"/>
                </a:solidFill>
                <a:latin typeface="Arial"/>
                <a:cs typeface="Arial"/>
              </a:rPr>
              <a:t>Actual</a:t>
            </a:r>
          </a:p>
        </p:txBody>
      </p:sp>
      <p:sp>
        <p:nvSpPr>
          <p:cNvPr id="8" name="Box 8"/>
          <p:cNvSpPr/>
          <p:nvPr/>
        </p:nvSpPr>
        <p:spPr>
          <a:xfrm>
            <a:off x="3200400" y="2450592"/>
            <a:ext cx="1371600" cy="2487168"/>
          </a:xfrm>
          <a:prstGeom prst="rect">
            <a:avLst/>
          </a:prstGeom>
          <a:solidFill>
            <a:srgbClr val="5B2C91"/>
          </a:solidFill>
          <a:ln>
            <a:noFill/>
          </a:ln>
        </p:spPr>
        <p:txBody>
          <a:bodyPr wrap="square" lIns="0" tIns="91440" rIns="0" bIns="0" rtlCol="0" anchor="t">
            <a:normAutofit/>
          </a:bodyPr>
          <a:lstStyle/>
          <a:p>
            <a:pPr marL="0" indent="0" algn="ctr">
              <a:spcBef>
                <a:spcPts val="0"/>
              </a:spcBef>
              <a:spcAft>
                <a:spcPts val="0"/>
              </a:spcAft>
              <a:buNone/>
            </a:pPr>
            <a:r>
              <a:rPr lang="en-GB" sz="2000" b="1" dirty="0">
                <a:solidFill>
                  <a:srgbClr val="FFFFFF"/>
                </a:solidFill>
                <a:latin typeface="Arial"/>
                <a:cs typeface="Arial"/>
              </a:rPr>
              <a:t>40</a:t>
            </a:r>
          </a:p>
        </p:txBody>
      </p:sp>
      <p:sp>
        <p:nvSpPr>
          <p:cNvPr id="9" name="Box 9"/>
          <p:cNvSpPr/>
          <p:nvPr/>
        </p:nvSpPr>
        <p:spPr>
          <a:xfrm>
            <a:off x="3017520" y="4983480"/>
            <a:ext cx="1737360" cy="36576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1A1A1A"/>
                </a:solidFill>
                <a:latin typeface="Arial"/>
                <a:cs typeface="Arial"/>
              </a:rPr>
              <a:t>Benchmark</a:t>
            </a:r>
          </a:p>
        </p:txBody>
      </p:sp>
      <p:cxnSp>
        <p:nvCxnSpPr>
          <p:cNvPr id="10" name="Line 10"/>
          <p:cNvCxnSpPr/>
          <p:nvPr/>
        </p:nvCxnSpPr>
        <p:spPr>
          <a:xfrm>
            <a:off x="822960" y="4937760"/>
            <a:ext cx="4114800" cy="0"/>
          </a:xfrm>
          <a:prstGeom prst="line">
            <a:avLst/>
          </a:prstGeom>
          <a:ln w="12700">
            <a:solidFill>
              <a:srgbClr val="666666"/>
            </a:solidFill>
          </a:ln>
        </p:spPr>
      </p:cxnSp>
      <p:cxnSp>
        <p:nvCxnSpPr>
          <p:cNvPr id="11" name="Line 11"/>
          <p:cNvCxnSpPr/>
          <p:nvPr/>
        </p:nvCxnSpPr>
        <p:spPr>
          <a:xfrm>
            <a:off x="1097280" y="2450592"/>
            <a:ext cx="2926080" cy="0"/>
          </a:xfrm>
          <a:prstGeom prst="line">
            <a:avLst/>
          </a:prstGeom>
          <a:ln w="15875">
            <a:solidFill>
              <a:srgbClr val="B4285A"/>
            </a:solidFill>
            <a:prstDash val="dash"/>
          </a:ln>
        </p:spPr>
      </p:cxnSp>
      <p:sp>
        <p:nvSpPr>
          <p:cNvPr id="12" name="Box 12"/>
          <p:cNvSpPr/>
          <p:nvPr/>
        </p:nvSpPr>
        <p:spPr>
          <a:xfrm>
            <a:off x="2514600" y="2432304"/>
            <a:ext cx="0" cy="0"/>
          </a:xfrm>
          <a:prstGeom prst="rect">
            <a:avLst/>
          </a:prstGeom>
          <a:noFill/>
          <a:ln>
            <a:noFill/>
          </a:ln>
        </p:spPr>
        <p:txBody>
          <a:bodyPr wrap="square" lIns="73152" tIns="45720" rIns="73152" bIns="45720" rtlCol="0" anchor="t">
            <a:normAutofit fontScale="25000" lnSpcReduction="20000"/>
          </a:bodyPr>
          <a:lstStyle/>
          <a:p>
            <a:endParaRPr lang="en-GB" sz="1000"/>
          </a:p>
        </p:txBody>
      </p:sp>
      <p:sp>
        <p:nvSpPr>
          <p:cNvPr id="13" name="Box 13"/>
          <p:cNvSpPr/>
          <p:nvPr/>
        </p:nvSpPr>
        <p:spPr>
          <a:xfrm>
            <a:off x="731520" y="1691640"/>
            <a:ext cx="4754880" cy="45720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650" b="1" dirty="0">
                <a:solidFill>
                  <a:srgbClr val="B4285A"/>
                </a:solidFill>
                <a:latin typeface="Arial"/>
                <a:cs typeface="Arial"/>
              </a:rPr>
              <a:t>Gap = 10 per labour-hour (25%)</a:t>
            </a:r>
          </a:p>
        </p:txBody>
      </p:sp>
      <p:sp>
        <p:nvSpPr>
          <p:cNvPr id="14" name="Box 14"/>
          <p:cNvSpPr/>
          <p:nvPr/>
        </p:nvSpPr>
        <p:spPr>
          <a:xfrm>
            <a:off x="7498080" y="1188720"/>
            <a:ext cx="4160520" cy="32004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5B2C91"/>
                </a:solidFill>
                <a:latin typeface="Arial"/>
                <a:cs typeface="Arial"/>
              </a:rPr>
              <a:t>Importance–performance matrix</a:t>
            </a:r>
          </a:p>
        </p:txBody>
      </p:sp>
      <p:sp>
        <p:nvSpPr>
          <p:cNvPr id="15" name="Box 15"/>
          <p:cNvSpPr/>
          <p:nvPr/>
        </p:nvSpPr>
        <p:spPr>
          <a:xfrm>
            <a:off x="7498080" y="1600200"/>
            <a:ext cx="2080260" cy="1668780"/>
          </a:xfrm>
          <a:prstGeom prst="rect">
            <a:avLst/>
          </a:prstGeom>
          <a:solidFill>
            <a:srgbClr val="E9D3DD"/>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B4285A"/>
                </a:solidFill>
                <a:latin typeface="Arial"/>
                <a:cs typeface="Arial"/>
              </a:rPr>
              <a:t>Urgent action</a:t>
            </a:r>
          </a:p>
        </p:txBody>
      </p:sp>
      <p:sp>
        <p:nvSpPr>
          <p:cNvPr id="16" name="Box 16"/>
          <p:cNvSpPr/>
          <p:nvPr/>
        </p:nvSpPr>
        <p:spPr>
          <a:xfrm>
            <a:off x="9578340" y="1600200"/>
            <a:ext cx="2080260" cy="1668780"/>
          </a:xfrm>
          <a:prstGeom prst="rect">
            <a:avLst/>
          </a:prstGeom>
          <a:solidFill>
            <a:srgbClr val="EBE1F5"/>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5B2C91"/>
                </a:solidFill>
                <a:latin typeface="Arial"/>
                <a:cs typeface="Arial"/>
              </a:rPr>
              <a:t>Appropriate: maintain</a:t>
            </a:r>
          </a:p>
        </p:txBody>
      </p:sp>
      <p:sp>
        <p:nvSpPr>
          <p:cNvPr id="17" name="Box 17"/>
          <p:cNvSpPr/>
          <p:nvPr/>
        </p:nvSpPr>
        <p:spPr>
          <a:xfrm>
            <a:off x="7498080" y="3268980"/>
            <a:ext cx="2080260" cy="1668780"/>
          </a:xfrm>
          <a:prstGeom prst="rect">
            <a:avLst/>
          </a:prstGeom>
          <a:solidFill>
            <a:srgbClr val="F3F3F3"/>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666666"/>
                </a:solidFill>
                <a:latin typeface="Arial"/>
                <a:cs typeface="Arial"/>
              </a:rPr>
              <a:t>Improve (less urgent)</a:t>
            </a:r>
          </a:p>
        </p:txBody>
      </p:sp>
      <p:sp>
        <p:nvSpPr>
          <p:cNvPr id="18" name="Box 18"/>
          <p:cNvSpPr/>
          <p:nvPr/>
        </p:nvSpPr>
        <p:spPr>
          <a:xfrm>
            <a:off x="9578340" y="3268980"/>
            <a:ext cx="2080260" cy="1668780"/>
          </a:xfrm>
          <a:prstGeom prst="rect">
            <a:avLst/>
          </a:prstGeom>
          <a:solidFill>
            <a:srgbClr val="F3F3F3"/>
          </a:solidFill>
          <a:ln w="19050">
            <a:solidFill>
              <a:srgbClr val="FFFFFF"/>
            </a:solidFill>
          </a:ln>
        </p:spPr>
        <p:txBody>
          <a:bodyPr wrap="square" lIns="45720" tIns="73152" rIns="45720" bIns="45720" rtlCol="0" anchor="t">
            <a:normAutofit/>
          </a:bodyPr>
          <a:lstStyle/>
          <a:p>
            <a:pPr marL="0" indent="0" algn="ctr">
              <a:spcBef>
                <a:spcPts val="0"/>
              </a:spcBef>
              <a:spcAft>
                <a:spcPts val="0"/>
              </a:spcAft>
              <a:buNone/>
            </a:pPr>
            <a:r>
              <a:rPr lang="en-GB" sz="1300" b="1" dirty="0">
                <a:solidFill>
                  <a:srgbClr val="666666"/>
                </a:solidFill>
                <a:latin typeface="Arial"/>
                <a:cs typeface="Arial"/>
              </a:rPr>
              <a:t>Excess?</a:t>
            </a:r>
          </a:p>
        </p:txBody>
      </p:sp>
      <p:cxnSp>
        <p:nvCxnSpPr>
          <p:cNvPr id="19" name="Arrow 19"/>
          <p:cNvCxnSpPr/>
          <p:nvPr/>
        </p:nvCxnSpPr>
        <p:spPr>
          <a:xfrm>
            <a:off x="7498080" y="4937760"/>
            <a:ext cx="4251960" cy="0"/>
          </a:xfrm>
          <a:prstGeom prst="straightConnector1">
            <a:avLst/>
          </a:prstGeom>
          <a:ln w="12700">
            <a:solidFill>
              <a:srgbClr val="1A1A1A"/>
            </a:solidFill>
            <a:tailEnd type="triangle"/>
          </a:ln>
        </p:spPr>
      </p:cxnSp>
      <p:cxnSp>
        <p:nvCxnSpPr>
          <p:cNvPr id="20" name="Arrow 20"/>
          <p:cNvCxnSpPr/>
          <p:nvPr/>
        </p:nvCxnSpPr>
        <p:spPr>
          <a:xfrm flipV="1">
            <a:off x="7498080" y="1508760"/>
            <a:ext cx="0" cy="3429000"/>
          </a:xfrm>
          <a:prstGeom prst="straightConnector1">
            <a:avLst/>
          </a:prstGeom>
          <a:ln w="12700">
            <a:solidFill>
              <a:srgbClr val="1A1A1A"/>
            </a:solidFill>
            <a:tailEnd type="triangle"/>
          </a:ln>
        </p:spPr>
      </p:cxnSp>
      <p:sp>
        <p:nvSpPr>
          <p:cNvPr id="21" name="Box 21"/>
          <p:cNvSpPr/>
          <p:nvPr/>
        </p:nvSpPr>
        <p:spPr>
          <a:xfrm>
            <a:off x="7498080" y="4956048"/>
            <a:ext cx="4160520" cy="292608"/>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150" b="1" dirty="0">
                <a:solidFill>
                  <a:srgbClr val="1A1A1A"/>
                </a:solidFill>
                <a:latin typeface="Arial"/>
                <a:cs typeface="Arial"/>
              </a:rPr>
              <a:t>Performance  (poor → excellent)</a:t>
            </a:r>
          </a:p>
        </p:txBody>
      </p:sp>
      <p:sp>
        <p:nvSpPr>
          <p:cNvPr id="22" name="Box 22"/>
          <p:cNvSpPr/>
          <p:nvPr/>
        </p:nvSpPr>
        <p:spPr>
          <a:xfrm>
            <a:off x="6400800" y="1600200"/>
            <a:ext cx="1051560" cy="3337560"/>
          </a:xfrm>
          <a:prstGeom prst="rect">
            <a:avLst/>
          </a:prstGeom>
          <a:noFill/>
          <a:ln>
            <a:noFill/>
          </a:ln>
        </p:spPr>
        <p:txBody>
          <a:bodyPr wrap="square" lIns="0" tIns="0" rIns="45720" bIns="0" rtlCol="0" anchor="ctr">
            <a:normAutofit/>
          </a:bodyPr>
          <a:lstStyle/>
          <a:p>
            <a:pPr marL="0" indent="0" algn="r">
              <a:spcBef>
                <a:spcPts val="0"/>
              </a:spcBef>
              <a:spcAft>
                <a:spcPts val="0"/>
              </a:spcAft>
              <a:buNone/>
            </a:pPr>
            <a:r>
              <a:rPr lang="en-GB" sz="1100" b="1" dirty="0">
                <a:solidFill>
                  <a:srgbClr val="1A1A1A"/>
                </a:solidFill>
                <a:latin typeface="Arial"/>
                <a:cs typeface="Arial"/>
              </a:rPr>
              <a:t>Importance</a:t>
            </a:r>
          </a:p>
          <a:p>
            <a:pPr marL="0" indent="0" algn="r">
              <a:spcBef>
                <a:spcPts val="0"/>
              </a:spcBef>
              <a:spcAft>
                <a:spcPts val="0"/>
              </a:spcAft>
              <a:buNone/>
            </a:pPr>
            <a:r>
              <a:rPr lang="en-GB" sz="1050" dirty="0">
                <a:solidFill>
                  <a:srgbClr val="666666"/>
                </a:solidFill>
                <a:latin typeface="Arial"/>
                <a:cs typeface="Arial"/>
              </a:rPr>
              <a:t>(low ↑ high)</a:t>
            </a:r>
          </a:p>
        </p:txBody>
      </p:sp>
      <p:sp>
        <p:nvSpPr>
          <p:cNvPr id="23" name="Box 23"/>
          <p:cNvSpPr/>
          <p:nvPr/>
        </p:nvSpPr>
        <p:spPr>
          <a:xfrm>
            <a:off x="8211312" y="2475281"/>
            <a:ext cx="237744" cy="237744"/>
          </a:xfrm>
          <a:prstGeom prst="ellipse">
            <a:avLst/>
          </a:prstGeom>
          <a:solidFill>
            <a:srgbClr val="B4285A"/>
          </a:solidFill>
          <a:ln>
            <a:noFill/>
          </a:ln>
        </p:spPr>
        <p:txBody>
          <a:bodyPr wrap="square" lIns="73152" tIns="45720" rIns="73152" bIns="45720" rtlCol="0" anchor="t">
            <a:normAutofit fontScale="62500" lnSpcReduction="20000"/>
          </a:bodyPr>
          <a:lstStyle/>
          <a:p>
            <a:endParaRPr lang="en-GB" sz="1000"/>
          </a:p>
        </p:txBody>
      </p:sp>
      <p:sp>
        <p:nvSpPr>
          <p:cNvPr id="24" name="Box 24"/>
          <p:cNvSpPr/>
          <p:nvPr/>
        </p:nvSpPr>
        <p:spPr>
          <a:xfrm>
            <a:off x="7461504" y="2731313"/>
            <a:ext cx="17373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150" b="1" dirty="0">
                <a:solidFill>
                  <a:srgbClr val="B4285A"/>
                </a:solidFill>
                <a:latin typeface="Arial"/>
                <a:cs typeface="Arial"/>
              </a:rPr>
              <a:t>Speed</a:t>
            </a:r>
          </a:p>
        </p:txBody>
      </p:sp>
      <p:sp>
        <p:nvSpPr>
          <p:cNvPr id="25" name="Box 25"/>
          <p:cNvSpPr/>
          <p:nvPr/>
        </p:nvSpPr>
        <p:spPr>
          <a:xfrm>
            <a:off x="10374782" y="2608783"/>
            <a:ext cx="237744" cy="237744"/>
          </a:xfrm>
          <a:prstGeom prst="ellipse">
            <a:avLst/>
          </a:prstGeom>
          <a:solidFill>
            <a:srgbClr val="5B2C91"/>
          </a:solidFill>
          <a:ln>
            <a:noFill/>
          </a:ln>
        </p:spPr>
        <p:txBody>
          <a:bodyPr wrap="square" lIns="73152" tIns="45720" rIns="73152" bIns="45720" rtlCol="0" anchor="t">
            <a:normAutofit fontScale="62500" lnSpcReduction="20000"/>
          </a:bodyPr>
          <a:lstStyle/>
          <a:p>
            <a:endParaRPr lang="en-GB" sz="1000"/>
          </a:p>
        </p:txBody>
      </p:sp>
      <p:sp>
        <p:nvSpPr>
          <p:cNvPr id="26" name="Box 26"/>
          <p:cNvSpPr/>
          <p:nvPr/>
        </p:nvSpPr>
        <p:spPr>
          <a:xfrm>
            <a:off x="9624974" y="2864815"/>
            <a:ext cx="17373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150" b="1" dirty="0">
                <a:solidFill>
                  <a:srgbClr val="5B2C91"/>
                </a:solidFill>
                <a:latin typeface="Arial"/>
                <a:cs typeface="Arial"/>
              </a:rPr>
              <a:t>Accuracy</a:t>
            </a:r>
          </a:p>
        </p:txBody>
      </p:sp>
      <p:sp>
        <p:nvSpPr>
          <p:cNvPr id="27" name="Box 27"/>
          <p:cNvSpPr/>
          <p:nvPr/>
        </p:nvSpPr>
        <p:spPr>
          <a:xfrm>
            <a:off x="10790834" y="4077310"/>
            <a:ext cx="237744" cy="237744"/>
          </a:xfrm>
          <a:prstGeom prst="ellipse">
            <a:avLst/>
          </a:prstGeom>
          <a:solidFill>
            <a:srgbClr val="666666"/>
          </a:solidFill>
          <a:ln>
            <a:noFill/>
          </a:ln>
        </p:spPr>
        <p:txBody>
          <a:bodyPr wrap="square" lIns="73152" tIns="45720" rIns="73152" bIns="45720" rtlCol="0" anchor="t">
            <a:normAutofit fontScale="62500" lnSpcReduction="20000"/>
          </a:bodyPr>
          <a:lstStyle/>
          <a:p>
            <a:endParaRPr lang="en-GB" sz="1000"/>
          </a:p>
        </p:txBody>
      </p:sp>
      <p:sp>
        <p:nvSpPr>
          <p:cNvPr id="28" name="Box 28"/>
          <p:cNvSpPr/>
          <p:nvPr/>
        </p:nvSpPr>
        <p:spPr>
          <a:xfrm>
            <a:off x="10041026" y="4333342"/>
            <a:ext cx="17373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150" b="1" dirty="0">
                <a:solidFill>
                  <a:srgbClr val="666666"/>
                </a:solidFill>
                <a:latin typeface="Arial"/>
                <a:cs typeface="Arial"/>
              </a:rPr>
              <a:t>Latte art</a:t>
            </a:r>
          </a:p>
        </p:txBody>
      </p:sp>
      <p:sp>
        <p:nvSpPr>
          <p:cNvPr id="29" name="Box 29"/>
          <p:cNvSpPr/>
          <p:nvPr/>
        </p:nvSpPr>
        <p:spPr>
          <a:xfrm>
            <a:off x="457200" y="5532120"/>
            <a:ext cx="11274552" cy="77724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00" b="1" dirty="0">
                <a:solidFill>
                  <a:srgbClr val="FFFFFF"/>
                </a:solidFill>
                <a:latin typeface="Arial"/>
                <a:cs typeface="Arial"/>
              </a:rPr>
              <a:t>Both gaps agree:  </a:t>
            </a:r>
            <a:r>
              <a:rPr lang="en-GB" sz="1500" dirty="0">
                <a:solidFill>
                  <a:srgbClr val="FFFFFF"/>
                </a:solidFill>
                <a:latin typeface="Arial"/>
                <a:cs typeface="Arial"/>
              </a:rPr>
              <a:t>speed is in the urgent-action zone and output per labour-hour is 25% short. Next question: why is the service slow?</a:t>
            </a:r>
          </a:p>
        </p:txBody>
      </p:sp>
      <p:sp>
        <p:nvSpPr>
          <p:cNvPr id="30" name="Source 30"/>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figures</a:t>
            </a:r>
          </a:p>
        </p:txBody>
      </p:sp>
      <p:sp>
        <p:nvSpPr>
          <p:cNvPr id="31" name="Box 31"/>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1B</a:t>
            </a:r>
          </a:p>
        </p:txBody>
      </p:sp>
      <p:sp>
        <p:nvSpPr>
          <p:cNvPr id="32" name="Page 3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12</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ullseye" descr="Bullseye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13</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3200" dirty="0">
                <a:solidFill>
                  <a:srgbClr val="5B2C91"/>
                </a:solidFill>
                <a:latin typeface="Arial" pitchFamily="34" charset="0"/>
                <a:ea typeface="Arial" pitchFamily="34" charset="-122"/>
                <a:cs typeface="Arial" pitchFamily="34" charset="-120"/>
              </a:rPr>
              <a:t>The Theory of Constraints</a:t>
            </a:r>
            <a:endParaRPr lang="en-US" sz="3200" dirty="0"/>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Text 3"/>
          <p:cNvSpPr/>
          <p:nvPr/>
        </p:nvSpPr>
        <p:spPr>
          <a:xfrm>
            <a:off x="330927" y="1097282"/>
            <a:ext cx="11974284" cy="6170022"/>
          </a:xfrm>
          <a:prstGeom prst="rect">
            <a:avLst/>
          </a:prstGeom>
          <a:noFill/>
          <a:ln/>
        </p:spPr>
        <p:txBody>
          <a:bodyPr wrap="square" rtlCol="0" anchor="t"/>
          <a:lstStyle/>
          <a:p>
            <a:pPr marL="304800" indent="-304800">
              <a:spcAft>
                <a:spcPts val="1000"/>
              </a:spcAft>
              <a:buSzPct val="100000"/>
              <a:buChar char="o"/>
            </a:pPr>
            <a:r>
              <a:rPr lang="en-US" sz="1700" dirty="0">
                <a:solidFill>
                  <a:srgbClr val="1A1A1A"/>
                </a:solidFill>
                <a:latin typeface="Arial" pitchFamily="34" charset="0"/>
                <a:ea typeface="Arial" pitchFamily="34" charset="-122"/>
                <a:cs typeface="Arial" pitchFamily="34" charset="-120"/>
              </a:rPr>
              <a:t>Developed by Dr Eliyahu M. Goldratt in the early 1980s to explain throughput problems (i.e. bottlenecks) in manufacturing operations.</a:t>
            </a:r>
            <a:endParaRPr lang="en-US" sz="1700" dirty="0"/>
          </a:p>
          <a:p>
            <a:pPr marL="304800" indent="-304800">
              <a:spcAft>
                <a:spcPts val="1000"/>
              </a:spcAft>
              <a:buSzPct val="100000"/>
              <a:buChar char="o"/>
            </a:pPr>
            <a:r>
              <a:rPr lang="en-US" sz="1700" dirty="0">
                <a:solidFill>
                  <a:srgbClr val="1A1A1A"/>
                </a:solidFill>
                <a:latin typeface="Arial" pitchFamily="34" charset="0"/>
                <a:ea typeface="Arial" pitchFamily="34" charset="-122"/>
                <a:cs typeface="Arial" pitchFamily="34" charset="-120"/>
              </a:rPr>
              <a:t>Goldratt introduced the concepts in a bestselling novel called “The Goal”, published in 1984.</a:t>
            </a:r>
            <a:endParaRPr lang="en-US" sz="1700" dirty="0"/>
          </a:p>
          <a:p>
            <a:pPr marL="304800" indent="-304800">
              <a:spcAft>
                <a:spcPts val="1000"/>
              </a:spcAft>
              <a:buSzPct val="100000"/>
              <a:buChar char="o"/>
            </a:pPr>
            <a:r>
              <a:rPr lang="en-US" sz="1700" dirty="0">
                <a:solidFill>
                  <a:srgbClr val="1A1A1A"/>
                </a:solidFill>
                <a:latin typeface="Arial" pitchFamily="34" charset="0"/>
                <a:ea typeface="Arial" pitchFamily="34" charset="-122"/>
                <a:cs typeface="Arial" pitchFamily="34" charset="-120"/>
              </a:rPr>
              <a:t>Developed as an alternative to capacity management — concerned with capacity constraints, bottlenecks, and how to make the flow of product through the factory smooth and continuous.</a:t>
            </a:r>
            <a:endParaRPr lang="en-US" sz="1700" dirty="0"/>
          </a:p>
          <a:p>
            <a:pPr marL="304800" indent="-304800">
              <a:spcAft>
                <a:spcPts val="1000"/>
              </a:spcAft>
              <a:buSzPct val="100000"/>
              <a:buChar char="o"/>
            </a:pPr>
            <a:r>
              <a:rPr lang="en-US" sz="1700" dirty="0">
                <a:solidFill>
                  <a:srgbClr val="1A1A1A"/>
                </a:solidFill>
                <a:latin typeface="Arial" pitchFamily="34" charset="0"/>
                <a:ea typeface="Arial" pitchFamily="34" charset="-122"/>
                <a:cs typeface="Arial" pitchFamily="34" charset="-120"/>
              </a:rPr>
              <a:t>A key aim is to reduce work in progress (WIP).</a:t>
            </a:r>
            <a:endParaRPr lang="en-US" sz="1700" dirty="0"/>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Filter" descr="Filter icon"/>
          <p:cNvPicPr>
            <a:picLocks noChangeAspect="1"/>
          </p:cNvPicPr>
          <p:nvPr/>
        </p:nvPicPr>
        <p:blipFill>
          <a:blip r:embed="rId3"/>
          <a:stretch>
            <a:fillRect/>
          </a:stretch>
        </p:blipFill>
        <p:spPr>
          <a:xfrm>
            <a:off x="577901" y="449885"/>
            <a:ext cx="307238" cy="307238"/>
          </a:xfrm>
          <a:prstGeom prst="rect">
            <a:avLst/>
          </a:prstGeom>
        </p:spPr>
      </p:pic>
      <p:sp>
        <p:nvSpPr>
          <p:cNvPr id="7" name="Text 5"/>
          <p:cNvSpPr/>
          <p:nvPr/>
        </p:nvSpPr>
        <p:spPr>
          <a:xfrm>
            <a:off x="330927" y="3429000"/>
            <a:ext cx="11791404" cy="3975465"/>
          </a:xfrm>
          <a:prstGeom prst="rect">
            <a:avLst/>
          </a:prstGeom>
          <a:noFill/>
          <a:ln/>
        </p:spPr>
        <p:txBody>
          <a:bodyPr wrap="square" rtlCol="0" anchor="t"/>
          <a:lstStyle/>
          <a:p>
            <a:pPr marL="304800" indent="-304800">
              <a:spcAft>
                <a:spcPts val="1000"/>
              </a:spcAft>
              <a:buSzPct val="100000"/>
              <a:buChar char="o"/>
            </a:pPr>
            <a:r>
              <a:rPr lang="en-US" sz="1550" dirty="0">
                <a:solidFill>
                  <a:srgbClr val="1A1A1A"/>
                </a:solidFill>
                <a:latin typeface="Arial" pitchFamily="34" charset="0"/>
                <a:ea typeface="Arial" pitchFamily="34" charset="-122"/>
                <a:cs typeface="Arial" pitchFamily="34" charset="-120"/>
              </a:rPr>
              <a:t>A corollary: spending time optimising non-constraints will not provide significant benefits. Only improve constraint to achieve organisations goal (more profit through increased throughput).</a:t>
            </a:r>
            <a:endParaRPr lang="en-US" sz="1550" dirty="0"/>
          </a:p>
          <a:p>
            <a:pPr marL="304800" indent="-304800">
              <a:spcAft>
                <a:spcPts val="1000"/>
              </a:spcAft>
              <a:buSzPct val="100000"/>
              <a:buChar char="o"/>
            </a:pPr>
            <a:r>
              <a:rPr lang="en-US" sz="1550" dirty="0">
                <a:solidFill>
                  <a:srgbClr val="1A1A1A"/>
                </a:solidFill>
                <a:latin typeface="Arial" pitchFamily="34" charset="0"/>
                <a:ea typeface="Arial" pitchFamily="34" charset="-122"/>
                <a:cs typeface="Arial" pitchFamily="34" charset="-120"/>
              </a:rPr>
              <a:t>Every process has a constraint (a bottleneck); focusing improvement efforts there is the quickest and most effective way to improve throughput, WIP, turnover and profitability.</a:t>
            </a:r>
            <a:endParaRPr lang="en-US" sz="1550" dirty="0"/>
          </a:p>
          <a:p>
            <a:pPr marL="304800" indent="-304800">
              <a:spcAft>
                <a:spcPts val="1000"/>
              </a:spcAft>
              <a:buSzPct val="100000"/>
              <a:buChar char="o"/>
            </a:pPr>
            <a:r>
              <a:rPr lang="en-US" sz="1550" dirty="0">
                <a:solidFill>
                  <a:srgbClr val="1A1A1A"/>
                </a:solidFill>
                <a:latin typeface="Arial" pitchFamily="34" charset="0"/>
                <a:ea typeface="Arial" pitchFamily="34" charset="-122"/>
                <a:cs typeface="Arial" pitchFamily="34" charset="-120"/>
              </a:rPr>
              <a:t>Goldratt suggests concentrating on one goal.</a:t>
            </a:r>
            <a:endParaRPr lang="en-US" sz="1550" dirty="0"/>
          </a:p>
        </p:txBody>
      </p:sp>
      <p:sp>
        <p:nvSpPr>
          <p:cNvPr id="6" name="Shape 3"/>
          <p:cNvSpPr/>
          <p:nvPr/>
        </p:nvSpPr>
        <p:spPr>
          <a:xfrm>
            <a:off x="1320873" y="5372100"/>
            <a:ext cx="9994392" cy="1051560"/>
          </a:xfrm>
          <a:prstGeom prst="roundRect">
            <a:avLst>
              <a:gd name="adj" fmla="val 8696"/>
            </a:avLst>
          </a:prstGeom>
          <a:solidFill>
            <a:srgbClr val="EBE1F5"/>
          </a:solidFill>
          <a:ln w="15875">
            <a:solidFill>
              <a:srgbClr val="5B2C91"/>
            </a:solidFill>
            <a:prstDash val="solid"/>
          </a:ln>
        </p:spPr>
        <p:txBody>
          <a:bodyPr/>
          <a:lstStyle/>
          <a:p>
            <a:endParaRPr lang="en-GB"/>
          </a:p>
        </p:txBody>
      </p:sp>
      <p:sp>
        <p:nvSpPr>
          <p:cNvPr id="8" name="Text 4"/>
          <p:cNvSpPr/>
          <p:nvPr/>
        </p:nvSpPr>
        <p:spPr>
          <a:xfrm>
            <a:off x="1458033" y="5463540"/>
            <a:ext cx="9537192" cy="868680"/>
          </a:xfrm>
          <a:prstGeom prst="rect">
            <a:avLst/>
          </a:prstGeom>
          <a:noFill/>
          <a:ln/>
        </p:spPr>
        <p:txBody>
          <a:bodyPr wrap="square" rtlCol="0" anchor="ctr"/>
          <a:lstStyle/>
          <a:p>
            <a:pPr marL="0" indent="0" algn="ctr">
              <a:buNone/>
            </a:pPr>
            <a:r>
              <a:rPr lang="en-US" sz="1600" b="1" i="1" dirty="0">
                <a:solidFill>
                  <a:srgbClr val="5B2C91"/>
                </a:solidFill>
                <a:latin typeface="Arial" pitchFamily="34" charset="0"/>
                <a:ea typeface="Arial" pitchFamily="34" charset="-122"/>
                <a:cs typeface="Arial" pitchFamily="34" charset="-120"/>
              </a:rPr>
              <a:t>“Every process has a single constraint, and total process throughput can only be improved when the constraint is improved.”</a:t>
            </a:r>
            <a:endParaRPr lang="en-US" sz="1600" dirty="0"/>
          </a:p>
        </p:txBody>
      </p:sp>
      <p:sp>
        <p:nvSpPr>
          <p:cNvPr id="9" name="AutoShape 2" descr="Theory of Constraints (TOC) Explained in Depth - SM Insight">
            <a:extLst>
              <a:ext uri="{FF2B5EF4-FFF2-40B4-BE49-F238E27FC236}">
                <a16:creationId xmlns:a16="http://schemas.microsoft.com/office/drawing/2014/main" id="{F21BE96E-7CD7-374B-CEA8-3738B9A0ACA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1D852-3056-5283-33AA-A632323C513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74874D-D82A-BE87-DEAF-0F80BE5A5AA0}"/>
              </a:ext>
            </a:extLst>
          </p:cNvPr>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13</a:t>
            </a:r>
            <a:endParaRPr lang="en-US" sz="1100" dirty="0"/>
          </a:p>
        </p:txBody>
      </p:sp>
      <p:sp>
        <p:nvSpPr>
          <p:cNvPr id="3" name="Text 1">
            <a:extLst>
              <a:ext uri="{FF2B5EF4-FFF2-40B4-BE49-F238E27FC236}">
                <a16:creationId xmlns:a16="http://schemas.microsoft.com/office/drawing/2014/main" id="{B45D3CB2-D2EE-AE07-BD46-58F3DE8CFED9}"/>
              </a:ext>
            </a:extLst>
          </p:cNvPr>
          <p:cNvSpPr/>
          <p:nvPr/>
        </p:nvSpPr>
        <p:spPr>
          <a:xfrm>
            <a:off x="457200" y="274320"/>
            <a:ext cx="11274552" cy="640080"/>
          </a:xfrm>
          <a:prstGeom prst="rect">
            <a:avLst/>
          </a:prstGeom>
          <a:noFill/>
          <a:ln/>
        </p:spPr>
        <p:txBody>
          <a:bodyPr wrap="square" rtlCol="0" anchor="ctr"/>
          <a:lstStyle/>
          <a:p>
            <a:pPr marL="0" indent="0" algn="ctr">
              <a:buNone/>
            </a:pPr>
            <a:r>
              <a:rPr lang="en-US" sz="3200" dirty="0">
                <a:solidFill>
                  <a:srgbClr val="5B2C91"/>
                </a:solidFill>
                <a:latin typeface="Arial" pitchFamily="34" charset="0"/>
                <a:ea typeface="Arial" pitchFamily="34" charset="-122"/>
                <a:cs typeface="Arial" pitchFamily="34" charset="-120"/>
              </a:rPr>
              <a:t>The Theory of Constraints</a:t>
            </a:r>
            <a:endParaRPr lang="en-US" sz="3200" dirty="0"/>
          </a:p>
        </p:txBody>
      </p:sp>
      <p:sp>
        <p:nvSpPr>
          <p:cNvPr id="4" name="Shape 2">
            <a:extLst>
              <a:ext uri="{FF2B5EF4-FFF2-40B4-BE49-F238E27FC236}">
                <a16:creationId xmlns:a16="http://schemas.microsoft.com/office/drawing/2014/main" id="{D93A95A2-92A9-8187-6BF0-B30EDE84ED2C}"/>
              </a:ext>
            </a:extLst>
          </p:cNvPr>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950" name="Icon circle 950">
            <a:extLst>
              <a:ext uri="{FF2B5EF4-FFF2-40B4-BE49-F238E27FC236}">
                <a16:creationId xmlns:a16="http://schemas.microsoft.com/office/drawing/2014/main" id="{7640C4C7-86B8-7D38-AE50-054C7D5FF2B9}"/>
              </a:ext>
            </a:extLst>
          </p:cNvPr>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Filter" descr="Filter icon">
            <a:extLst>
              <a:ext uri="{FF2B5EF4-FFF2-40B4-BE49-F238E27FC236}">
                <a16:creationId xmlns:a16="http://schemas.microsoft.com/office/drawing/2014/main" id="{780E7E43-46B1-186B-C60E-69C1699350E1}"/>
              </a:ext>
            </a:extLst>
          </p:cNvPr>
          <p:cNvPicPr>
            <a:picLocks noChangeAspect="1"/>
          </p:cNvPicPr>
          <p:nvPr/>
        </p:nvPicPr>
        <p:blipFill>
          <a:blip r:embed="rId3"/>
          <a:stretch>
            <a:fillRect/>
          </a:stretch>
        </p:blipFill>
        <p:spPr>
          <a:xfrm>
            <a:off x="577901" y="449885"/>
            <a:ext cx="307238" cy="307238"/>
          </a:xfrm>
          <a:prstGeom prst="rect">
            <a:avLst/>
          </a:prstGeom>
        </p:spPr>
      </p:pic>
      <p:sp>
        <p:nvSpPr>
          <p:cNvPr id="9" name="AutoShape 2" descr="Theory of Constraints (TOC) Explained in Depth - SM Insight">
            <a:extLst>
              <a:ext uri="{FF2B5EF4-FFF2-40B4-BE49-F238E27FC236}">
                <a16:creationId xmlns:a16="http://schemas.microsoft.com/office/drawing/2014/main" id="{32D99737-D638-9669-5906-4C712C13E5A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6" name="Picture 15" descr="A blue-and-white process infographic explains how Theory of Constraints (TOC) improves system performance by focusing on its limiting factor. Five numbered steps—identify, exploit, subordinate, elevate, then return to step one—connect with green arrows, alongside constraint types, TOC methods, and metrics such as throughput, inventory, and buffer status.">
            <a:extLst>
              <a:ext uri="{FF2B5EF4-FFF2-40B4-BE49-F238E27FC236}">
                <a16:creationId xmlns:a16="http://schemas.microsoft.com/office/drawing/2014/main" id="{00F07940-9AD4-3A29-10C5-24619EE19F9B}"/>
              </a:ext>
            </a:extLst>
          </p:cNvPr>
          <p:cNvPicPr>
            <a:picLocks noChangeAspect="1"/>
          </p:cNvPicPr>
          <p:nvPr/>
        </p:nvPicPr>
        <p:blipFill>
          <a:blip r:embed="rId4"/>
          <a:stretch>
            <a:fillRect/>
          </a:stretch>
        </p:blipFill>
        <p:spPr>
          <a:xfrm>
            <a:off x="1463039" y="1088241"/>
            <a:ext cx="9839869" cy="5613003"/>
          </a:xfrm>
          <a:prstGeom prst="rect">
            <a:avLst/>
          </a:prstGeom>
        </p:spPr>
      </p:pic>
    </p:spTree>
    <p:extLst>
      <p:ext uri="{BB962C8B-B14F-4D97-AF65-F5344CB8AC3E}">
        <p14:creationId xmlns:p14="http://schemas.microsoft.com/office/powerpoint/2010/main" val="1836971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14</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2100" dirty="0">
                <a:solidFill>
                  <a:srgbClr val="5B2C91"/>
                </a:solidFill>
                <a:latin typeface="Arial" pitchFamily="34" charset="0"/>
                <a:ea typeface="Arial" pitchFamily="34" charset="-122"/>
                <a:cs typeface="Arial" pitchFamily="34" charset="-120"/>
              </a:rPr>
              <a:t>Principles of Management Using the Theory of Constraints</a:t>
            </a:r>
            <a:endParaRPr lang="en-US" sz="2100" dirty="0"/>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Text 3"/>
          <p:cNvSpPr/>
          <p:nvPr/>
        </p:nvSpPr>
        <p:spPr>
          <a:xfrm>
            <a:off x="457200" y="1097280"/>
            <a:ext cx="5486400" cy="365760"/>
          </a:xfrm>
          <a:prstGeom prst="rect">
            <a:avLst/>
          </a:prstGeom>
          <a:solidFill>
            <a:srgbClr val="5B2C91"/>
          </a:solid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Non-Bottleneck Management Principles</a:t>
            </a:r>
            <a:endParaRPr lang="en-US" sz="1400" dirty="0"/>
          </a:p>
        </p:txBody>
      </p:sp>
      <p:sp>
        <p:nvSpPr>
          <p:cNvPr id="6" name="Text 4"/>
          <p:cNvSpPr/>
          <p:nvPr/>
        </p:nvSpPr>
        <p:spPr>
          <a:xfrm>
            <a:off x="6172200" y="1097280"/>
            <a:ext cx="5577840" cy="365760"/>
          </a:xfrm>
          <a:prstGeom prst="rect">
            <a:avLst/>
          </a:prstGeom>
          <a:solidFill>
            <a:srgbClr val="5B2C91"/>
          </a:solidFill>
          <a:ln/>
        </p:spPr>
        <p:txBody>
          <a:bodyPr wrap="square"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Bottleneck Management Principles</a:t>
            </a:r>
            <a:endParaRPr lang="en-US" sz="1400" dirty="0"/>
          </a:p>
        </p:txBody>
      </p:sp>
      <p:sp>
        <p:nvSpPr>
          <p:cNvPr id="7" name="Text 5"/>
          <p:cNvSpPr/>
          <p:nvPr/>
        </p:nvSpPr>
        <p:spPr>
          <a:xfrm>
            <a:off x="457200" y="1600200"/>
            <a:ext cx="5486400" cy="4754880"/>
          </a:xfrm>
          <a:prstGeom prst="rect">
            <a:avLst/>
          </a:prstGeom>
          <a:noFill/>
          <a:ln/>
        </p:spPr>
        <p:txBody>
          <a:bodyPr wrap="square" rtlCol="0" anchor="t"/>
          <a:lstStyle/>
          <a:p>
            <a:pPr marL="304800" indent="-304800">
              <a:spcAft>
                <a:spcPts val="800"/>
              </a:spcAft>
              <a:buSzPct val="100000"/>
              <a:buChar char="o"/>
            </a:pPr>
            <a:r>
              <a:rPr lang="en-US" dirty="0">
                <a:solidFill>
                  <a:srgbClr val="1A1A1A"/>
                </a:solidFill>
                <a:latin typeface="Arial" panose="020B0604020202020204" pitchFamily="34" charset="0"/>
                <a:ea typeface="Arial" pitchFamily="34" charset="-122"/>
                <a:cs typeface="Arial" panose="020B0604020202020204" pitchFamily="34" charset="0"/>
              </a:rPr>
              <a:t>Move jobs through non-bottleneck workstations as fast as possible until the job reaches the bottleneck.</a:t>
            </a:r>
            <a:endParaRPr lang="en-US" dirty="0">
              <a:latin typeface="Arial" panose="020B0604020202020204" pitchFamily="34" charset="0"/>
              <a:cs typeface="Arial" panose="020B0604020202020204" pitchFamily="34" charset="0"/>
            </a:endParaRPr>
          </a:p>
          <a:p>
            <a:pPr marL="304800" indent="-304800">
              <a:spcAft>
                <a:spcPts val="800"/>
              </a:spcAft>
              <a:buSzPct val="100000"/>
              <a:buChar char="o"/>
            </a:pPr>
            <a:r>
              <a:rPr lang="en-US" dirty="0">
                <a:solidFill>
                  <a:srgbClr val="1A1A1A"/>
                </a:solidFill>
                <a:latin typeface="Arial" panose="020B0604020202020204" pitchFamily="34" charset="0"/>
                <a:ea typeface="Arial" pitchFamily="34" charset="-122"/>
                <a:cs typeface="Arial" panose="020B0604020202020204" pitchFamily="34" charset="0"/>
              </a:rPr>
              <a:t>Idle time is acceptable at non-bottleneck workstations if there is no work to do — utilisation may be low.</a:t>
            </a:r>
            <a:endParaRPr lang="en-US" dirty="0">
              <a:latin typeface="Arial" panose="020B0604020202020204" pitchFamily="34" charset="0"/>
              <a:cs typeface="Arial" panose="020B0604020202020204" pitchFamily="34" charset="0"/>
            </a:endParaRPr>
          </a:p>
          <a:p>
            <a:pPr marL="304800" indent="-304800">
              <a:spcAft>
                <a:spcPts val="800"/>
              </a:spcAft>
              <a:buSzPct val="100000"/>
              <a:buChar char="o"/>
            </a:pPr>
            <a:r>
              <a:rPr lang="en-US" dirty="0">
                <a:solidFill>
                  <a:srgbClr val="1A1A1A"/>
                </a:solidFill>
                <a:latin typeface="Arial" panose="020B0604020202020204" pitchFamily="34" charset="0"/>
                <a:ea typeface="Arial" pitchFamily="34" charset="-122"/>
                <a:cs typeface="Arial" panose="020B0604020202020204" pitchFamily="34" charset="0"/>
              </a:rPr>
              <a:t>Use smaller order (lot/transfer batch) sizes at non-bottleneck workstations to keep work flowing to the bottleneck and eventually to the marketplace.</a:t>
            </a:r>
            <a:endParaRPr lang="en-US" dirty="0">
              <a:latin typeface="Arial" panose="020B0604020202020204" pitchFamily="34" charset="0"/>
              <a:cs typeface="Arial" panose="020B0604020202020204" pitchFamily="34" charset="0"/>
            </a:endParaRPr>
          </a:p>
          <a:p>
            <a:pPr marL="304800" indent="-304800">
              <a:spcAft>
                <a:spcPts val="800"/>
              </a:spcAft>
              <a:buSzPct val="100000"/>
              <a:buChar char="o"/>
            </a:pPr>
            <a:r>
              <a:rPr lang="en-US" dirty="0">
                <a:solidFill>
                  <a:srgbClr val="1A1A1A"/>
                </a:solidFill>
                <a:latin typeface="Arial" panose="020B0604020202020204" pitchFamily="34" charset="0"/>
                <a:ea typeface="Arial" pitchFamily="34" charset="-122"/>
                <a:cs typeface="Arial" panose="020B0604020202020204" pitchFamily="34" charset="0"/>
              </a:rPr>
              <a:t>An hour lost at a non-bottleneck resource has no effect on total output and incurs no real cost.</a:t>
            </a:r>
            <a:endParaRPr lang="en-US" dirty="0">
              <a:latin typeface="Arial" panose="020B0604020202020204" pitchFamily="34" charset="0"/>
              <a:cs typeface="Arial" panose="020B0604020202020204" pitchFamily="34" charset="0"/>
            </a:endParaRPr>
          </a:p>
        </p:txBody>
      </p:sp>
      <p:sp>
        <p:nvSpPr>
          <p:cNvPr id="8" name="Text 6"/>
          <p:cNvSpPr/>
          <p:nvPr/>
        </p:nvSpPr>
        <p:spPr>
          <a:xfrm>
            <a:off x="6172200" y="1600200"/>
            <a:ext cx="5577840" cy="4754880"/>
          </a:xfrm>
          <a:prstGeom prst="rect">
            <a:avLst/>
          </a:prstGeom>
          <a:noFill/>
          <a:ln/>
        </p:spPr>
        <p:txBody>
          <a:bodyPr wrap="square" rtlCol="0" anchor="t"/>
          <a:lstStyle/>
          <a:p>
            <a:pPr marL="304800" indent="-304800">
              <a:spcAft>
                <a:spcPts val="800"/>
              </a:spcAft>
              <a:buSzPct val="100000"/>
              <a:buChar char="o"/>
            </a:pPr>
            <a:r>
              <a:rPr lang="en-US" dirty="0">
                <a:solidFill>
                  <a:srgbClr val="1A1A1A"/>
                </a:solidFill>
                <a:latin typeface="Arial" pitchFamily="34" charset="0"/>
                <a:ea typeface="Arial" pitchFamily="34" charset="-122"/>
                <a:cs typeface="Arial" pitchFamily="34" charset="-120"/>
              </a:rPr>
              <a:t>Only bottleneck workstations are critical to process/factory objectives, and should be scheduled first.</a:t>
            </a:r>
            <a:endParaRPr lang="en-US" dirty="0"/>
          </a:p>
          <a:p>
            <a:pPr marL="304800" indent="-304800">
              <a:spcAft>
                <a:spcPts val="800"/>
              </a:spcAft>
              <a:buSzPct val="100000"/>
              <a:buChar char="o"/>
            </a:pPr>
            <a:r>
              <a:rPr lang="en-US" dirty="0">
                <a:solidFill>
                  <a:srgbClr val="1A1A1A"/>
                </a:solidFill>
                <a:latin typeface="Arial" pitchFamily="34" charset="0"/>
                <a:ea typeface="Arial" pitchFamily="34" charset="-122"/>
                <a:cs typeface="Arial" pitchFamily="34" charset="-120"/>
              </a:rPr>
              <a:t>An hour lost at a bottleneck resource is an hour lost for the entire process or factory output.</a:t>
            </a:r>
            <a:endParaRPr lang="en-US" dirty="0"/>
          </a:p>
          <a:p>
            <a:pPr marL="304800" indent="-304800">
              <a:spcAft>
                <a:spcPts val="800"/>
              </a:spcAft>
              <a:buSzPct val="100000"/>
              <a:buChar char="o"/>
            </a:pPr>
            <a:r>
              <a:rPr lang="en-US" dirty="0">
                <a:solidFill>
                  <a:srgbClr val="1A1A1A"/>
                </a:solidFill>
                <a:latin typeface="Arial" pitchFamily="34" charset="0"/>
                <a:ea typeface="Arial" pitchFamily="34" charset="-122"/>
                <a:cs typeface="Arial" pitchFamily="34" charset="-120"/>
              </a:rPr>
              <a:t>WIP buffer inventory should be placed in front of bottlenecks to maximise resource utilisation there.</a:t>
            </a:r>
            <a:endParaRPr lang="en-US" dirty="0"/>
          </a:p>
          <a:p>
            <a:pPr marL="304800" indent="-304800">
              <a:spcAft>
                <a:spcPts val="800"/>
              </a:spcAft>
              <a:buSzPct val="100000"/>
              <a:buChar char="o"/>
            </a:pPr>
            <a:r>
              <a:rPr lang="en-US" dirty="0">
                <a:solidFill>
                  <a:srgbClr val="1A1A1A"/>
                </a:solidFill>
                <a:latin typeface="Arial" pitchFamily="34" charset="0"/>
                <a:ea typeface="Arial" pitchFamily="34" charset="-122"/>
                <a:cs typeface="Arial" pitchFamily="34" charset="-120"/>
              </a:rPr>
              <a:t>Use large order sizes at bottleneck workstations to minimise setup time and maximise utilisation.</a:t>
            </a:r>
            <a:endParaRPr lang="en-US" dirty="0"/>
          </a:p>
          <a:p>
            <a:pPr marL="304800" indent="-304800">
              <a:spcAft>
                <a:spcPts val="800"/>
              </a:spcAft>
              <a:buSzPct val="100000"/>
              <a:buChar char="o"/>
            </a:pPr>
            <a:r>
              <a:rPr lang="en-US" dirty="0">
                <a:solidFill>
                  <a:srgbClr val="1A1A1A"/>
                </a:solidFill>
                <a:latin typeface="Arial" pitchFamily="34" charset="0"/>
                <a:ea typeface="Arial" pitchFamily="34" charset="-122"/>
                <a:cs typeface="Arial" pitchFamily="34" charset="-120"/>
              </a:rPr>
              <a:t>Bottleneck workstations should work at all times to maximise throughput and generate cash from sales.</a:t>
            </a:r>
            <a:endParaRPr lang="en-US" dirty="0"/>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SlidersH" descr="SlidersH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16</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2700" dirty="0">
                <a:solidFill>
                  <a:srgbClr val="5B2C91"/>
                </a:solidFill>
                <a:latin typeface="Arial" pitchFamily="34" charset="0"/>
                <a:ea typeface="Arial" pitchFamily="34" charset="-122"/>
                <a:cs typeface="Arial" pitchFamily="34" charset="-120"/>
              </a:rPr>
              <a:t>What is Balancing Loss?</a:t>
            </a:r>
            <a:endParaRPr lang="en-US" sz="2700" dirty="0"/>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Shape 3"/>
          <p:cNvSpPr/>
          <p:nvPr/>
        </p:nvSpPr>
        <p:spPr>
          <a:xfrm>
            <a:off x="914400" y="1234440"/>
            <a:ext cx="10360152" cy="1051560"/>
          </a:xfrm>
          <a:prstGeom prst="roundRect">
            <a:avLst>
              <a:gd name="adj" fmla="val 8696"/>
            </a:avLst>
          </a:prstGeom>
          <a:solidFill>
            <a:srgbClr val="EBE1F5"/>
          </a:solidFill>
          <a:ln w="15875">
            <a:solidFill>
              <a:srgbClr val="5B2C91"/>
            </a:solidFill>
            <a:prstDash val="solid"/>
          </a:ln>
        </p:spPr>
        <p:txBody>
          <a:bodyPr/>
          <a:lstStyle/>
          <a:p>
            <a:endParaRPr lang="en-GB"/>
          </a:p>
        </p:txBody>
      </p:sp>
      <p:sp>
        <p:nvSpPr>
          <p:cNvPr id="6" name="Text 4"/>
          <p:cNvSpPr/>
          <p:nvPr/>
        </p:nvSpPr>
        <p:spPr>
          <a:xfrm>
            <a:off x="1188720" y="1325880"/>
            <a:ext cx="9811512" cy="868680"/>
          </a:xfrm>
          <a:prstGeom prst="rect">
            <a:avLst/>
          </a:prstGeom>
          <a:noFill/>
          <a:ln/>
        </p:spPr>
        <p:txBody>
          <a:bodyPr wrap="square" rtlCol="0" anchor="ctr"/>
          <a:lstStyle/>
          <a:p>
            <a:pPr marL="0" indent="0" algn="ctr">
              <a:buNone/>
            </a:pPr>
            <a:r>
              <a:rPr lang="en-US" sz="1450" b="1" dirty="0">
                <a:solidFill>
                  <a:srgbClr val="5B2C91"/>
                </a:solidFill>
                <a:latin typeface="Arial" pitchFamily="34" charset="0"/>
                <a:ea typeface="Arial" pitchFamily="34" charset="-122"/>
                <a:cs typeface="Arial" pitchFamily="34" charset="-120"/>
              </a:rPr>
              <a:t>Balancing loss quantifies the lack of balance in a production line: time not used for productive purposes (total idle time) ÷ total time invested in making a product, expressed as a percentage.</a:t>
            </a:r>
            <a:endParaRPr lang="en-US" sz="1450" dirty="0"/>
          </a:p>
        </p:txBody>
      </p:sp>
      <p:sp>
        <p:nvSpPr>
          <p:cNvPr id="7" name="Text 5"/>
          <p:cNvSpPr/>
          <p:nvPr/>
        </p:nvSpPr>
        <p:spPr>
          <a:xfrm>
            <a:off x="731520" y="2560320"/>
            <a:ext cx="10725912" cy="3840480"/>
          </a:xfrm>
          <a:prstGeom prst="rect">
            <a:avLst/>
          </a:prstGeom>
          <a:noFill/>
          <a:ln/>
        </p:spPr>
        <p:txBody>
          <a:bodyPr wrap="square" rtlCol="0" anchor="t"/>
          <a:lstStyle/>
          <a:p>
            <a:pPr marL="304800" indent="-304800">
              <a:spcAft>
                <a:spcPts val="10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It helps assess the most problematic parts of the design decisions in product layout: Line Balancing.</a:t>
            </a:r>
            <a:endParaRPr lang="en-US" sz="2000" dirty="0">
              <a:latin typeface="Arial" panose="020B0604020202020204" pitchFamily="34" charset="0"/>
              <a:cs typeface="Arial" panose="020B0604020202020204" pitchFamily="34" charset="0"/>
            </a:endParaRPr>
          </a:p>
          <a:p>
            <a:pPr marL="304800" indent="-304800">
              <a:spcAft>
                <a:spcPts val="10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A perfectly balanced allocation of activities to workstations is nearly always impossible in practice — some imbalance results, leading to off-loading and on-loading of items on the line.</a:t>
            </a:r>
            <a:endParaRPr lang="en-US" sz="2000" dirty="0">
              <a:latin typeface="Arial" panose="020B0604020202020204" pitchFamily="34" charset="0"/>
              <a:cs typeface="Arial" panose="020B0604020202020204" pitchFamily="34" charset="0"/>
            </a:endParaRPr>
          </a:p>
          <a:p>
            <a:pPr marL="304800" indent="-304800">
              <a:spcAft>
                <a:spcPts val="10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The effectiveness of line-balancing can be measured by balancing loss: the time wasted through unequal allocation of work.</a:t>
            </a:r>
            <a:endParaRPr lang="en-US" sz="2000" dirty="0">
              <a:latin typeface="Arial" panose="020B0604020202020204" pitchFamily="34" charset="0"/>
              <a:cs typeface="Arial" panose="020B0604020202020204" pitchFamily="34" charset="0"/>
            </a:endParaRPr>
          </a:p>
          <a:p>
            <a:pPr marL="304800" indent="-304800">
              <a:spcAft>
                <a:spcPts val="10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The lower the balancing loss, the better the production line.</a:t>
            </a:r>
            <a:endParaRPr lang="en-US" sz="2000" dirty="0">
              <a:latin typeface="Arial" panose="020B0604020202020204" pitchFamily="34" charset="0"/>
              <a:cs typeface="Arial" panose="020B0604020202020204" pitchFamily="34" charset="0"/>
            </a:endParaRP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alanceScale" descr="BalanceScale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17</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3200" dirty="0">
                <a:solidFill>
                  <a:srgbClr val="5B2C91"/>
                </a:solidFill>
                <a:latin typeface="Arial" panose="020B0604020202020204" pitchFamily="34" charset="0"/>
                <a:ea typeface="Arial" pitchFamily="34" charset="-122"/>
                <a:cs typeface="Arial" panose="020B0604020202020204" pitchFamily="34" charset="0"/>
              </a:rPr>
              <a:t>Cycle Time, Idle Time &amp; the Balancing Loss Formula</a:t>
            </a:r>
            <a:endParaRPr lang="en-US" sz="3200" dirty="0">
              <a:latin typeface="Arial" panose="020B0604020202020204" pitchFamily="34" charset="0"/>
              <a:cs typeface="Arial" panose="020B0604020202020204" pitchFamily="34" charset="0"/>
            </a:endParaRPr>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Text 3"/>
          <p:cNvSpPr/>
          <p:nvPr/>
        </p:nvSpPr>
        <p:spPr>
          <a:xfrm>
            <a:off x="640080" y="1143000"/>
            <a:ext cx="10908792" cy="2194560"/>
          </a:xfrm>
          <a:prstGeom prst="rect">
            <a:avLst/>
          </a:prstGeom>
          <a:noFill/>
          <a:ln/>
        </p:spPr>
        <p:txBody>
          <a:bodyPr wrap="square" rtlCol="0" anchor="t"/>
          <a:lstStyle/>
          <a:p>
            <a:pPr marL="304800" indent="-304800">
              <a:spcAft>
                <a:spcPts val="8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Cycle Time – the average time between units of output emerging from a process; governed by the bottleneck.</a:t>
            </a:r>
            <a:endParaRPr lang="en-US" sz="2000" dirty="0">
              <a:latin typeface="Arial" panose="020B0604020202020204" pitchFamily="34" charset="0"/>
              <a:cs typeface="Arial" panose="020B0604020202020204" pitchFamily="34" charset="0"/>
            </a:endParaRPr>
          </a:p>
          <a:p>
            <a:pPr marL="304800" indent="-304800">
              <a:spcAft>
                <a:spcPts val="8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Idle Time – when a machine is not processing an item and is waiting for work from the previous machine.</a:t>
            </a:r>
            <a:endParaRPr lang="en-US" sz="2000" dirty="0">
              <a:latin typeface="Arial" panose="020B0604020202020204" pitchFamily="34" charset="0"/>
              <a:cs typeface="Arial" panose="020B0604020202020204" pitchFamily="34" charset="0"/>
            </a:endParaRPr>
          </a:p>
          <a:p>
            <a:pPr marL="304800" indent="-304800">
              <a:spcAft>
                <a:spcPts val="800"/>
              </a:spcAft>
              <a:buSzPct val="100000"/>
              <a:buChar char="o"/>
            </a:pPr>
            <a:r>
              <a:rPr lang="en-US" sz="2000" dirty="0">
                <a:solidFill>
                  <a:srgbClr val="1A1A1A"/>
                </a:solidFill>
                <a:latin typeface="Arial" panose="020B0604020202020204" pitchFamily="34" charset="0"/>
                <a:ea typeface="Arial" pitchFamily="34" charset="-122"/>
                <a:cs typeface="Arial" panose="020B0604020202020204" pitchFamily="34" charset="0"/>
              </a:rPr>
              <a:t>Number of Stages – the number of separate processes (e.g. machines) in the overall production process.</a:t>
            </a:r>
            <a:endParaRPr lang="en-US" sz="2000" dirty="0">
              <a:latin typeface="Arial" panose="020B0604020202020204" pitchFamily="34" charset="0"/>
              <a:cs typeface="Arial" panose="020B0604020202020204" pitchFamily="34" charset="0"/>
            </a:endParaRPr>
          </a:p>
        </p:txBody>
      </p:sp>
      <p:sp>
        <p:nvSpPr>
          <p:cNvPr id="6" name="Shape 4"/>
          <p:cNvSpPr/>
          <p:nvPr/>
        </p:nvSpPr>
        <p:spPr>
          <a:xfrm>
            <a:off x="1463040" y="3246120"/>
            <a:ext cx="9262872" cy="1234440"/>
          </a:xfrm>
          <a:prstGeom prst="roundRect">
            <a:avLst>
              <a:gd name="adj" fmla="val 7407"/>
            </a:avLst>
          </a:prstGeom>
          <a:solidFill>
            <a:srgbClr val="EBE1F5"/>
          </a:solidFill>
          <a:ln w="15875">
            <a:solidFill>
              <a:srgbClr val="5B2C91"/>
            </a:solidFill>
            <a:prstDash val="solid"/>
          </a:ln>
        </p:spPr>
        <p:txBody>
          <a:bodyPr/>
          <a:lstStyle/>
          <a:p>
            <a:endParaRPr lang="en-GB"/>
          </a:p>
        </p:txBody>
      </p:sp>
      <p:sp>
        <p:nvSpPr>
          <p:cNvPr id="7" name="Text 5"/>
          <p:cNvSpPr/>
          <p:nvPr/>
        </p:nvSpPr>
        <p:spPr>
          <a:xfrm>
            <a:off x="1691640" y="3383280"/>
            <a:ext cx="8805672" cy="960120"/>
          </a:xfrm>
          <a:prstGeom prst="rect">
            <a:avLst/>
          </a:prstGeom>
          <a:noFill/>
          <a:ln/>
        </p:spPr>
        <p:txBody>
          <a:bodyPr wrap="square" rtlCol="0" anchor="ctr"/>
          <a:lstStyle/>
          <a:p>
            <a:pPr marL="0" indent="0" algn="ctr">
              <a:spcAft>
                <a:spcPts val="600"/>
              </a:spcAft>
              <a:buNone/>
            </a:pPr>
            <a:r>
              <a:rPr lang="en-US" sz="1550" b="1" dirty="0">
                <a:solidFill>
                  <a:srgbClr val="5B2C91"/>
                </a:solidFill>
                <a:latin typeface="Arial" pitchFamily="34" charset="0"/>
                <a:ea typeface="Arial" pitchFamily="34" charset="-122"/>
                <a:cs typeface="Arial" pitchFamily="34" charset="-120"/>
              </a:rPr>
              <a:t>Idle Time on a stage  =  Bottleneck time − Processing time for that stage</a:t>
            </a:r>
            <a:endParaRPr lang="en-US" sz="1550" dirty="0"/>
          </a:p>
          <a:p>
            <a:pPr marL="0" indent="0" algn="ctr">
              <a:buNone/>
            </a:pPr>
            <a:r>
              <a:rPr lang="en-US" sz="1550" b="1" dirty="0">
                <a:solidFill>
                  <a:srgbClr val="5B2C91"/>
                </a:solidFill>
                <a:latin typeface="Arial" pitchFamily="34" charset="0"/>
                <a:ea typeface="Arial" pitchFamily="34" charset="-122"/>
                <a:cs typeface="Arial" pitchFamily="34" charset="-120"/>
              </a:rPr>
              <a:t>Balancing Loss  =  Total Idle Time ÷ (Cycle Time × Number of Stages)</a:t>
            </a:r>
            <a:endParaRPr lang="en-US" sz="1550" dirty="0"/>
          </a:p>
        </p:txBody>
      </p:sp>
      <p:sp>
        <p:nvSpPr>
          <p:cNvPr id="8" name="Text 6"/>
          <p:cNvSpPr/>
          <p:nvPr/>
        </p:nvSpPr>
        <p:spPr>
          <a:xfrm>
            <a:off x="640080" y="4709160"/>
            <a:ext cx="10908792" cy="457200"/>
          </a:xfrm>
          <a:prstGeom prst="rect">
            <a:avLst/>
          </a:prstGeom>
          <a:noFill/>
          <a:ln/>
        </p:spPr>
        <p:txBody>
          <a:bodyPr wrap="square" rtlCol="0" anchor="ctr"/>
          <a:lstStyle/>
          <a:p>
            <a:pPr marL="0" indent="0" algn="ctr">
              <a:buNone/>
            </a:pPr>
            <a:r>
              <a:rPr lang="en-US" sz="1450" i="1" dirty="0">
                <a:solidFill>
                  <a:srgbClr val="1A1A1A"/>
                </a:solidFill>
                <a:latin typeface="Arial" pitchFamily="34" charset="0"/>
                <a:ea typeface="Arial" pitchFamily="34" charset="-122"/>
                <a:cs typeface="Arial" pitchFamily="34" charset="-120"/>
              </a:rPr>
              <a:t>Total Idle Time for a process = ∑ (Idle Time on each stage)</a:t>
            </a:r>
            <a:endParaRPr lang="en-US" sz="1450" dirty="0"/>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Stopwatch" descr="Stopwatch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29</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2700" dirty="0">
                <a:solidFill>
                  <a:srgbClr val="5B2C91"/>
                </a:solidFill>
                <a:latin typeface="Arial" pitchFamily="34" charset="0"/>
                <a:ea typeface="Arial" pitchFamily="34" charset="-122"/>
                <a:cs typeface="Arial" pitchFamily="34" charset="-120"/>
              </a:rPr>
              <a:t>Dealing with Bottlenecks</a:t>
            </a:r>
            <a:endParaRPr lang="en-US" sz="2700" dirty="0"/>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Text 3"/>
          <p:cNvSpPr/>
          <p:nvPr/>
        </p:nvSpPr>
        <p:spPr>
          <a:xfrm>
            <a:off x="731520" y="1280160"/>
            <a:ext cx="10725912" cy="914400"/>
          </a:xfrm>
          <a:prstGeom prst="rect">
            <a:avLst/>
          </a:prstGeom>
          <a:noFill/>
          <a:ln/>
        </p:spPr>
        <p:txBody>
          <a:bodyPr wrap="square" rtlCol="0" anchor="t"/>
          <a:lstStyle/>
          <a:p>
            <a:pPr marL="304800" indent="-304800">
              <a:spcAft>
                <a:spcPts val="1000"/>
              </a:spcAft>
              <a:buSzPct val="100000"/>
              <a:buChar char="o"/>
            </a:pPr>
            <a:r>
              <a:rPr lang="en-US" sz="1600" dirty="0">
                <a:solidFill>
                  <a:srgbClr val="1A1A1A"/>
                </a:solidFill>
                <a:latin typeface="Arial" pitchFamily="34" charset="0"/>
                <a:ea typeface="Arial" pitchFamily="34" charset="-122"/>
                <a:cs typeface="Arial" pitchFamily="34" charset="-120"/>
              </a:rPr>
              <a:t>Any improvement at the current bottleneck is likely to cause a new, different bottleneck to appear elsewhere in the process.</a:t>
            </a:r>
            <a:endParaRPr lang="en-US" sz="1600" dirty="0"/>
          </a:p>
        </p:txBody>
      </p:sp>
      <p:sp>
        <p:nvSpPr>
          <p:cNvPr id="6" name="Text 4"/>
          <p:cNvSpPr/>
          <p:nvPr/>
        </p:nvSpPr>
        <p:spPr>
          <a:xfrm>
            <a:off x="731520" y="2194560"/>
            <a:ext cx="10725912" cy="411480"/>
          </a:xfrm>
          <a:prstGeom prst="rect">
            <a:avLst/>
          </a:prstGeom>
          <a:noFill/>
          <a:ln/>
        </p:spPr>
        <p:txBody>
          <a:bodyPr wrap="square" rtlCol="0" anchor="ctr"/>
          <a:lstStyle/>
          <a:p>
            <a:pPr marL="0" indent="0">
              <a:buNone/>
            </a:pPr>
            <a:r>
              <a:rPr lang="en-US" sz="1600" b="1" dirty="0">
                <a:solidFill>
                  <a:srgbClr val="5B2C91"/>
                </a:solidFill>
                <a:latin typeface="Arial" pitchFamily="34" charset="0"/>
                <a:ea typeface="Arial" pitchFamily="34" charset="-122"/>
                <a:cs typeface="Arial" pitchFamily="34" charset="-120"/>
              </a:rPr>
              <a:t>General rules for dealing with bottlenecks:</a:t>
            </a:r>
            <a:endParaRPr lang="en-US" sz="1600" dirty="0"/>
          </a:p>
        </p:txBody>
      </p:sp>
      <p:sp>
        <p:nvSpPr>
          <p:cNvPr id="7" name="Text 5"/>
          <p:cNvSpPr/>
          <p:nvPr/>
        </p:nvSpPr>
        <p:spPr>
          <a:xfrm>
            <a:off x="1188720" y="2697480"/>
            <a:ext cx="9811512" cy="2377440"/>
          </a:xfrm>
          <a:prstGeom prst="rect">
            <a:avLst/>
          </a:prstGeom>
          <a:noFill/>
          <a:ln/>
        </p:spPr>
        <p:txBody>
          <a:bodyPr wrap="square" rtlCol="0" anchor="t"/>
          <a:lstStyle/>
          <a:p>
            <a:pPr marL="0" indent="0">
              <a:spcAft>
                <a:spcPts val="1200"/>
              </a:spcAft>
              <a:buNone/>
            </a:pPr>
            <a:r>
              <a:rPr lang="en-US" sz="1600" dirty="0">
                <a:solidFill>
                  <a:srgbClr val="1A1A1A"/>
                </a:solidFill>
                <a:latin typeface="Arial" pitchFamily="34" charset="0"/>
                <a:ea typeface="Arial" pitchFamily="34" charset="-122"/>
                <a:cs typeface="Arial" pitchFamily="34" charset="-120"/>
              </a:rPr>
              <a:t>(i)  Invest in additional capacity at bottlenecks.</a:t>
            </a:r>
            <a:endParaRPr lang="en-US" sz="1600" dirty="0"/>
          </a:p>
          <a:p>
            <a:pPr marL="0" indent="0">
              <a:spcAft>
                <a:spcPts val="1200"/>
              </a:spcAft>
              <a:buNone/>
            </a:pPr>
            <a:r>
              <a:rPr lang="en-US" sz="1600" dirty="0">
                <a:solidFill>
                  <a:srgbClr val="1A1A1A"/>
                </a:solidFill>
                <a:latin typeface="Arial" pitchFamily="34" charset="0"/>
                <a:ea typeface="Arial" pitchFamily="34" charset="-122"/>
                <a:cs typeface="Arial" pitchFamily="34" charset="-120"/>
              </a:rPr>
              <a:t>(ii)  Slow the whole process down to the speed of the bottleneck.</a:t>
            </a:r>
            <a:endParaRPr lang="en-US" sz="1600" dirty="0"/>
          </a:p>
          <a:p>
            <a:pPr marL="0" indent="0">
              <a:spcAft>
                <a:spcPts val="1200"/>
              </a:spcAft>
              <a:buNone/>
            </a:pPr>
            <a:r>
              <a:rPr lang="en-US" sz="1600" dirty="0">
                <a:solidFill>
                  <a:srgbClr val="1A1A1A"/>
                </a:solidFill>
                <a:latin typeface="Arial" pitchFamily="34" charset="0"/>
                <a:ea typeface="Arial" pitchFamily="34" charset="-122"/>
                <a:cs typeface="Arial" pitchFamily="34" charset="-120"/>
              </a:rPr>
              <a:t>(iii)  Do a bit of both of these two methods: invest in the bottleneck and slow the whole process to its speed.</a:t>
            </a:r>
            <a:endParaRPr lang="en-US" sz="1600" dirty="0"/>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Filter" descr="Filter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Morning Coffee Shop: Why Is Service Slow?</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97280"/>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00" b="1" dirty="0">
                <a:solidFill>
                  <a:srgbClr val="5B2C91"/>
                </a:solidFill>
                <a:latin typeface="Arial"/>
                <a:cs typeface="Arial"/>
              </a:rPr>
              <a:t>Time each person spends per drink:</a:t>
            </a:r>
          </a:p>
        </p:txBody>
      </p:sp>
      <p:sp>
        <p:nvSpPr>
          <p:cNvPr id="6" name="Box 6"/>
          <p:cNvSpPr/>
          <p:nvPr/>
        </p:nvSpPr>
        <p:spPr>
          <a:xfrm>
            <a:off x="457200" y="1645920"/>
            <a:ext cx="2103120" cy="1188720"/>
          </a:xfrm>
          <a:prstGeom prst="roundRect">
            <a:avLst>
              <a:gd name="adj" fmla="val 12000"/>
            </a:avLst>
          </a:prstGeom>
          <a:solidFill>
            <a:srgbClr val="FFFFFF"/>
          </a:solidFill>
          <a:ln w="15875">
            <a:solidFill>
              <a:srgbClr val="5B2C91"/>
            </a:solidFill>
          </a:ln>
        </p:spPr>
        <p:txBody>
          <a:bodyPr wrap="square" lIns="73152" tIns="45720" rIns="73152" bIns="45720" rtlCol="0" anchor="ctr">
            <a:normAutofit/>
          </a:bodyPr>
          <a:lstStyle/>
          <a:p>
            <a:pPr marL="0" indent="0" algn="ctr">
              <a:spcBef>
                <a:spcPts val="0"/>
              </a:spcBef>
              <a:spcAft>
                <a:spcPts val="100"/>
              </a:spcAft>
              <a:buNone/>
            </a:pPr>
            <a:r>
              <a:rPr lang="en-GB" sz="1650" b="1" dirty="0">
                <a:solidFill>
                  <a:srgbClr val="5B2C91"/>
                </a:solidFill>
                <a:latin typeface="Arial"/>
                <a:cs typeface="Arial"/>
              </a:rPr>
              <a:t>Cashier</a:t>
            </a:r>
          </a:p>
          <a:p>
            <a:pPr marL="0" indent="0" algn="ctr">
              <a:spcBef>
                <a:spcPts val="0"/>
              </a:spcBef>
              <a:spcAft>
                <a:spcPts val="50"/>
              </a:spcAft>
              <a:buNone/>
            </a:pPr>
            <a:r>
              <a:rPr lang="en-GB" sz="1400" dirty="0">
                <a:solidFill>
                  <a:srgbClr val="1A1A1A"/>
                </a:solidFill>
                <a:latin typeface="Arial"/>
                <a:cs typeface="Arial"/>
              </a:rPr>
              <a:t>Takes order: 20 s</a:t>
            </a:r>
          </a:p>
          <a:p>
            <a:pPr marL="0" indent="0" algn="ctr">
              <a:spcBef>
                <a:spcPts val="0"/>
              </a:spcBef>
              <a:spcAft>
                <a:spcPts val="0"/>
              </a:spcAft>
              <a:buNone/>
            </a:pPr>
            <a:r>
              <a:rPr lang="en-GB" sz="1150" dirty="0">
                <a:solidFill>
                  <a:srgbClr val="666666"/>
                </a:solidFill>
                <a:latin typeface="Arial"/>
                <a:cs typeface="Arial"/>
              </a:rPr>
              <a:t>Capacity 180 drinks/h</a:t>
            </a:r>
          </a:p>
        </p:txBody>
      </p:sp>
      <p:cxnSp>
        <p:nvCxnSpPr>
          <p:cNvPr id="7" name="Arrow 7"/>
          <p:cNvCxnSpPr/>
          <p:nvPr/>
        </p:nvCxnSpPr>
        <p:spPr>
          <a:xfrm>
            <a:off x="2606040" y="2240280"/>
            <a:ext cx="365760" cy="0"/>
          </a:xfrm>
          <a:prstGeom prst="straightConnector1">
            <a:avLst/>
          </a:prstGeom>
          <a:ln w="19050">
            <a:solidFill>
              <a:srgbClr val="5B2C91"/>
            </a:solidFill>
            <a:tailEnd type="triangle"/>
          </a:ln>
        </p:spPr>
      </p:cxnSp>
      <p:sp>
        <p:nvSpPr>
          <p:cNvPr id="8" name="Box 8"/>
          <p:cNvSpPr/>
          <p:nvPr/>
        </p:nvSpPr>
        <p:spPr>
          <a:xfrm>
            <a:off x="3017520" y="2011680"/>
            <a:ext cx="219456" cy="457200"/>
          </a:xfrm>
          <a:prstGeom prst="can">
            <a:avLst/>
          </a:prstGeom>
          <a:solidFill>
            <a:srgbClr val="EBE1F5"/>
          </a:solidFill>
          <a:ln w="9525">
            <a:solidFill>
              <a:srgbClr val="5B2C91"/>
            </a:solidFill>
          </a:ln>
        </p:spPr>
        <p:txBody>
          <a:bodyPr wrap="square" lIns="73152" tIns="45720" rIns="73152" bIns="45720" rtlCol="0" anchor="t">
            <a:normAutofit/>
          </a:bodyPr>
          <a:lstStyle/>
          <a:p>
            <a:endParaRPr lang="en-GB" sz="1000"/>
          </a:p>
        </p:txBody>
      </p:sp>
      <p:sp>
        <p:nvSpPr>
          <p:cNvPr id="9" name="Box 9"/>
          <p:cNvSpPr/>
          <p:nvPr/>
        </p:nvSpPr>
        <p:spPr>
          <a:xfrm>
            <a:off x="3291840" y="2011680"/>
            <a:ext cx="219456" cy="457200"/>
          </a:xfrm>
          <a:prstGeom prst="can">
            <a:avLst/>
          </a:prstGeom>
          <a:solidFill>
            <a:srgbClr val="EBE1F5"/>
          </a:solidFill>
          <a:ln w="9525">
            <a:solidFill>
              <a:srgbClr val="5B2C91"/>
            </a:solidFill>
          </a:ln>
        </p:spPr>
        <p:txBody>
          <a:bodyPr wrap="square" lIns="73152" tIns="45720" rIns="73152" bIns="45720" rtlCol="0" anchor="t">
            <a:normAutofit/>
          </a:bodyPr>
          <a:lstStyle/>
          <a:p>
            <a:endParaRPr lang="en-GB" sz="1000"/>
          </a:p>
        </p:txBody>
      </p:sp>
      <p:sp>
        <p:nvSpPr>
          <p:cNvPr id="10" name="Box 10"/>
          <p:cNvSpPr/>
          <p:nvPr/>
        </p:nvSpPr>
        <p:spPr>
          <a:xfrm>
            <a:off x="3566160" y="2011680"/>
            <a:ext cx="219456" cy="457200"/>
          </a:xfrm>
          <a:prstGeom prst="can">
            <a:avLst/>
          </a:prstGeom>
          <a:solidFill>
            <a:srgbClr val="EBE1F5"/>
          </a:solidFill>
          <a:ln w="9525">
            <a:solidFill>
              <a:srgbClr val="5B2C91"/>
            </a:solidFill>
          </a:ln>
        </p:spPr>
        <p:txBody>
          <a:bodyPr wrap="square" lIns="73152" tIns="45720" rIns="73152" bIns="45720" rtlCol="0" anchor="t">
            <a:normAutofit/>
          </a:bodyPr>
          <a:lstStyle/>
          <a:p>
            <a:endParaRPr lang="en-GB" sz="1000"/>
          </a:p>
        </p:txBody>
      </p:sp>
      <p:sp>
        <p:nvSpPr>
          <p:cNvPr id="11" name="Box 11"/>
          <p:cNvSpPr/>
          <p:nvPr/>
        </p:nvSpPr>
        <p:spPr>
          <a:xfrm>
            <a:off x="3840480" y="2011680"/>
            <a:ext cx="219456" cy="457200"/>
          </a:xfrm>
          <a:prstGeom prst="can">
            <a:avLst/>
          </a:prstGeom>
          <a:solidFill>
            <a:srgbClr val="EBE1F5"/>
          </a:solidFill>
          <a:ln w="9525">
            <a:solidFill>
              <a:srgbClr val="5B2C91"/>
            </a:solidFill>
          </a:ln>
        </p:spPr>
        <p:txBody>
          <a:bodyPr wrap="square" lIns="73152" tIns="45720" rIns="73152" bIns="45720" rtlCol="0" anchor="t">
            <a:normAutofit/>
          </a:bodyPr>
          <a:lstStyle/>
          <a:p>
            <a:endParaRPr lang="en-GB" sz="1000"/>
          </a:p>
        </p:txBody>
      </p:sp>
      <p:sp>
        <p:nvSpPr>
          <p:cNvPr id="12" name="Box 12"/>
          <p:cNvSpPr/>
          <p:nvPr/>
        </p:nvSpPr>
        <p:spPr>
          <a:xfrm>
            <a:off x="2834640" y="2514600"/>
            <a:ext cx="1463040" cy="32004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050" i="1" dirty="0">
                <a:solidFill>
                  <a:srgbClr val="666666"/>
                </a:solidFill>
                <a:latin typeface="Arial"/>
                <a:cs typeface="Arial"/>
              </a:rPr>
              <a:t>orders queue</a:t>
            </a:r>
          </a:p>
        </p:txBody>
      </p:sp>
      <p:cxnSp>
        <p:nvCxnSpPr>
          <p:cNvPr id="13" name="Arrow 13"/>
          <p:cNvCxnSpPr/>
          <p:nvPr/>
        </p:nvCxnSpPr>
        <p:spPr>
          <a:xfrm>
            <a:off x="4114800" y="2240280"/>
            <a:ext cx="365760" cy="0"/>
          </a:xfrm>
          <a:prstGeom prst="straightConnector1">
            <a:avLst/>
          </a:prstGeom>
          <a:ln w="19050">
            <a:solidFill>
              <a:srgbClr val="5B2C91"/>
            </a:solidFill>
            <a:tailEnd type="triangle"/>
          </a:ln>
        </p:spPr>
      </p:cxnSp>
      <p:sp>
        <p:nvSpPr>
          <p:cNvPr id="14" name="Box 14"/>
          <p:cNvSpPr/>
          <p:nvPr/>
        </p:nvSpPr>
        <p:spPr>
          <a:xfrm>
            <a:off x="4526280" y="1645920"/>
            <a:ext cx="2103120" cy="1188720"/>
          </a:xfrm>
          <a:prstGeom prst="roundRect">
            <a:avLst>
              <a:gd name="adj" fmla="val 12000"/>
            </a:avLst>
          </a:prstGeom>
          <a:solidFill>
            <a:srgbClr val="5B2C91"/>
          </a:solidFill>
          <a:ln>
            <a:noFill/>
          </a:ln>
        </p:spPr>
        <p:txBody>
          <a:bodyPr wrap="square" lIns="73152" tIns="45720" rIns="73152" bIns="45720" rtlCol="0" anchor="ctr">
            <a:normAutofit/>
          </a:bodyPr>
          <a:lstStyle/>
          <a:p>
            <a:pPr marL="0" indent="0" algn="ctr">
              <a:spcBef>
                <a:spcPts val="0"/>
              </a:spcBef>
              <a:spcAft>
                <a:spcPts val="100"/>
              </a:spcAft>
              <a:buNone/>
            </a:pPr>
            <a:r>
              <a:rPr lang="en-GB" sz="1650" b="1" dirty="0">
                <a:solidFill>
                  <a:srgbClr val="FFFFFF"/>
                </a:solidFill>
                <a:latin typeface="Arial"/>
                <a:cs typeface="Arial"/>
              </a:rPr>
              <a:t>Barista</a:t>
            </a:r>
          </a:p>
          <a:p>
            <a:pPr marL="0" indent="0" algn="ctr">
              <a:spcBef>
                <a:spcPts val="0"/>
              </a:spcBef>
              <a:spcAft>
                <a:spcPts val="50"/>
              </a:spcAft>
              <a:buNone/>
            </a:pPr>
            <a:r>
              <a:rPr lang="en-GB" sz="1400" dirty="0">
                <a:solidFill>
                  <a:srgbClr val="FFFFFF"/>
                </a:solidFill>
                <a:latin typeface="Arial"/>
                <a:cs typeface="Arial"/>
              </a:rPr>
              <a:t>60 s per drink</a:t>
            </a:r>
          </a:p>
          <a:p>
            <a:pPr marL="0" indent="0" algn="ctr">
              <a:spcBef>
                <a:spcPts val="0"/>
              </a:spcBef>
              <a:spcAft>
                <a:spcPts val="0"/>
              </a:spcAft>
              <a:buNone/>
            </a:pPr>
            <a:r>
              <a:rPr lang="en-GB" sz="1150" dirty="0">
                <a:solidFill>
                  <a:srgbClr val="EBE1F5"/>
                </a:solidFill>
                <a:latin typeface="Arial"/>
                <a:cs typeface="Arial"/>
              </a:rPr>
              <a:t>Capacity 60 drinks/h</a:t>
            </a:r>
          </a:p>
        </p:txBody>
      </p:sp>
      <p:sp>
        <p:nvSpPr>
          <p:cNvPr id="15" name="Box 15"/>
          <p:cNvSpPr/>
          <p:nvPr/>
        </p:nvSpPr>
        <p:spPr>
          <a:xfrm>
            <a:off x="4526280" y="2852928"/>
            <a:ext cx="2103120" cy="32004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150" b="1" dirty="0">
                <a:solidFill>
                  <a:srgbClr val="B4285A"/>
                </a:solidFill>
                <a:latin typeface="Arial"/>
                <a:cs typeface="Arial"/>
              </a:rPr>
              <a:t>BOTTLENECK</a:t>
            </a:r>
          </a:p>
        </p:txBody>
      </p:sp>
      <p:sp>
        <p:nvSpPr>
          <p:cNvPr id="16" name="Box 16"/>
          <p:cNvSpPr/>
          <p:nvPr/>
        </p:nvSpPr>
        <p:spPr>
          <a:xfrm>
            <a:off x="6949440" y="1645920"/>
            <a:ext cx="4782312" cy="3657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b="1" dirty="0">
                <a:solidFill>
                  <a:srgbClr val="5B2C91"/>
                </a:solidFill>
                <a:latin typeface="Arial"/>
                <a:cs typeface="Arial"/>
              </a:rPr>
              <a:t>The barista’s 60 seconds per drink:</a:t>
            </a:r>
          </a:p>
        </p:txBody>
      </p:sp>
      <p:sp>
        <p:nvSpPr>
          <p:cNvPr id="17" name="Box 17"/>
          <p:cNvSpPr/>
          <p:nvPr/>
        </p:nvSpPr>
        <p:spPr>
          <a:xfrm>
            <a:off x="6949440" y="2103120"/>
            <a:ext cx="2789682" cy="640080"/>
          </a:xfrm>
          <a:prstGeom prst="rect">
            <a:avLst/>
          </a:prstGeom>
          <a:solidFill>
            <a:srgbClr val="5B2C91"/>
          </a:solidFill>
          <a:ln w="9525">
            <a:solidFill>
              <a:srgbClr val="FFFFFF"/>
            </a:solidFill>
          </a:ln>
        </p:spPr>
        <p:txBody>
          <a:bodyPr wrap="square" lIns="0" tIns="0" rIns="0" bIns="0" rtlCol="0" anchor="ctr">
            <a:normAutofit/>
          </a:bodyPr>
          <a:lstStyle/>
          <a:p>
            <a:pPr marL="0" indent="0" algn="ctr">
              <a:spcBef>
                <a:spcPts val="0"/>
              </a:spcBef>
              <a:spcAft>
                <a:spcPts val="0"/>
              </a:spcAft>
              <a:buNone/>
            </a:pPr>
            <a:r>
              <a:rPr lang="en-GB" sz="1150" b="1" dirty="0">
                <a:solidFill>
                  <a:srgbClr val="FFFFFF"/>
                </a:solidFill>
                <a:latin typeface="Arial"/>
                <a:cs typeface="Arial"/>
              </a:rPr>
              <a:t>35s</a:t>
            </a:r>
          </a:p>
        </p:txBody>
      </p:sp>
      <p:sp>
        <p:nvSpPr>
          <p:cNvPr id="18" name="Box 18"/>
          <p:cNvSpPr/>
          <p:nvPr/>
        </p:nvSpPr>
        <p:spPr>
          <a:xfrm>
            <a:off x="9739122" y="2103120"/>
            <a:ext cx="797052" cy="640080"/>
          </a:xfrm>
          <a:prstGeom prst="rect">
            <a:avLst/>
          </a:prstGeom>
          <a:solidFill>
            <a:srgbClr val="8C6BB1"/>
          </a:solidFill>
          <a:ln w="9525">
            <a:solidFill>
              <a:srgbClr val="FFFFFF"/>
            </a:solidFill>
          </a:ln>
        </p:spPr>
        <p:txBody>
          <a:bodyPr wrap="square" lIns="0" tIns="0" rIns="0" bIns="0" rtlCol="0" anchor="ctr">
            <a:normAutofit/>
          </a:bodyPr>
          <a:lstStyle/>
          <a:p>
            <a:pPr marL="0" indent="0" algn="ctr">
              <a:spcBef>
                <a:spcPts val="0"/>
              </a:spcBef>
              <a:spcAft>
                <a:spcPts val="0"/>
              </a:spcAft>
              <a:buNone/>
            </a:pPr>
            <a:r>
              <a:rPr lang="en-GB" sz="1150" b="1" dirty="0">
                <a:solidFill>
                  <a:srgbClr val="FFFFFF"/>
                </a:solidFill>
                <a:latin typeface="Arial"/>
                <a:cs typeface="Arial"/>
              </a:rPr>
              <a:t>10s</a:t>
            </a:r>
          </a:p>
        </p:txBody>
      </p:sp>
      <p:sp>
        <p:nvSpPr>
          <p:cNvPr id="19" name="Box 19"/>
          <p:cNvSpPr/>
          <p:nvPr/>
        </p:nvSpPr>
        <p:spPr>
          <a:xfrm>
            <a:off x="10536174" y="2103120"/>
            <a:ext cx="637642" cy="640080"/>
          </a:xfrm>
          <a:prstGeom prst="rect">
            <a:avLst/>
          </a:prstGeom>
          <a:solidFill>
            <a:srgbClr val="B4285A"/>
          </a:solidFill>
          <a:ln w="9525">
            <a:solidFill>
              <a:srgbClr val="FFFFFF"/>
            </a:solidFill>
          </a:ln>
        </p:spPr>
        <p:txBody>
          <a:bodyPr wrap="square" lIns="0" tIns="0" rIns="0" bIns="0" rtlCol="0" anchor="ctr">
            <a:normAutofit/>
          </a:bodyPr>
          <a:lstStyle/>
          <a:p>
            <a:pPr marL="0" indent="0" algn="ctr">
              <a:spcBef>
                <a:spcPts val="0"/>
              </a:spcBef>
              <a:spcAft>
                <a:spcPts val="0"/>
              </a:spcAft>
              <a:buNone/>
            </a:pPr>
            <a:r>
              <a:rPr lang="en-GB" sz="1150" b="1" dirty="0">
                <a:solidFill>
                  <a:srgbClr val="FFFFFF"/>
                </a:solidFill>
                <a:latin typeface="Arial"/>
                <a:cs typeface="Arial"/>
              </a:rPr>
              <a:t>8s</a:t>
            </a:r>
          </a:p>
        </p:txBody>
      </p:sp>
      <p:sp>
        <p:nvSpPr>
          <p:cNvPr id="20" name="Box 20"/>
          <p:cNvSpPr/>
          <p:nvPr/>
        </p:nvSpPr>
        <p:spPr>
          <a:xfrm>
            <a:off x="11173816" y="2103120"/>
            <a:ext cx="318821" cy="640080"/>
          </a:xfrm>
          <a:prstGeom prst="rect">
            <a:avLst/>
          </a:prstGeom>
          <a:solidFill>
            <a:srgbClr val="C2547F"/>
          </a:solidFill>
          <a:ln w="9525">
            <a:solidFill>
              <a:srgbClr val="FFFFFF"/>
            </a:solidFill>
          </a:ln>
        </p:spPr>
        <p:txBody>
          <a:bodyPr wrap="square" lIns="0" tIns="0" rIns="0" bIns="0" rtlCol="0" anchor="ctr">
            <a:normAutofit/>
          </a:bodyPr>
          <a:lstStyle/>
          <a:p>
            <a:pPr marL="0" indent="0" algn="ctr">
              <a:spcBef>
                <a:spcPts val="0"/>
              </a:spcBef>
              <a:spcAft>
                <a:spcPts val="0"/>
              </a:spcAft>
              <a:buNone/>
            </a:pPr>
            <a:r>
              <a:rPr lang="en-GB" sz="1150" b="1" dirty="0">
                <a:solidFill>
                  <a:srgbClr val="FFFFFF"/>
                </a:solidFill>
                <a:latin typeface="Arial"/>
                <a:cs typeface="Arial"/>
              </a:rPr>
              <a:t>4s</a:t>
            </a:r>
          </a:p>
        </p:txBody>
      </p:sp>
      <p:sp>
        <p:nvSpPr>
          <p:cNvPr id="21" name="Box 21"/>
          <p:cNvSpPr/>
          <p:nvPr/>
        </p:nvSpPr>
        <p:spPr>
          <a:xfrm>
            <a:off x="11492636" y="2103120"/>
            <a:ext cx="239116" cy="640080"/>
          </a:xfrm>
          <a:prstGeom prst="rect">
            <a:avLst/>
          </a:prstGeom>
          <a:solidFill>
            <a:srgbClr val="D98AA8"/>
          </a:solidFill>
          <a:ln w="9525">
            <a:solidFill>
              <a:srgbClr val="FFFFFF"/>
            </a:solidFill>
          </a:ln>
        </p:spPr>
        <p:txBody>
          <a:bodyPr wrap="square" lIns="0" tIns="0" rIns="0" bIns="0" rtlCol="0" anchor="ctr">
            <a:normAutofit/>
          </a:bodyPr>
          <a:lstStyle/>
          <a:p>
            <a:pPr marL="0" indent="0" algn="ctr">
              <a:spcBef>
                <a:spcPts val="0"/>
              </a:spcBef>
              <a:spcAft>
                <a:spcPts val="0"/>
              </a:spcAft>
              <a:buNone/>
            </a:pPr>
            <a:r>
              <a:rPr lang="en-GB" sz="1150" b="1" dirty="0">
                <a:solidFill>
                  <a:srgbClr val="FFFFFF"/>
                </a:solidFill>
                <a:latin typeface="Arial"/>
                <a:cs typeface="Arial"/>
              </a:rPr>
              <a:t>3s</a:t>
            </a:r>
          </a:p>
        </p:txBody>
      </p:sp>
      <p:sp>
        <p:nvSpPr>
          <p:cNvPr id="22" name="Box 22"/>
          <p:cNvSpPr/>
          <p:nvPr/>
        </p:nvSpPr>
        <p:spPr>
          <a:xfrm>
            <a:off x="6949440" y="2788920"/>
            <a:ext cx="4782312" cy="548640"/>
          </a:xfrm>
          <a:prstGeom prst="rect">
            <a:avLst/>
          </a:prstGeom>
          <a:noFill/>
          <a:ln>
            <a:noFill/>
          </a:ln>
        </p:spPr>
        <p:txBody>
          <a:bodyPr wrap="square" lIns="73152" tIns="45720" rIns="73152" bIns="45720" rtlCol="0" anchor="t">
            <a:normAutofit/>
          </a:bodyPr>
          <a:lstStyle/>
          <a:p>
            <a:pPr marL="0" indent="0" algn="l">
              <a:spcBef>
                <a:spcPts val="0"/>
              </a:spcBef>
              <a:spcAft>
                <a:spcPts val="0"/>
              </a:spcAft>
              <a:buNone/>
            </a:pPr>
            <a:r>
              <a:rPr lang="en-GB" sz="1150" dirty="0">
                <a:solidFill>
                  <a:srgbClr val="1A1A1A"/>
                </a:solidFill>
                <a:latin typeface="Arial"/>
                <a:cs typeface="Arial"/>
              </a:rPr>
              <a:t>Make drink 35s · Latte art 10s · </a:t>
            </a:r>
            <a:r>
              <a:rPr lang="en-GB" sz="1150" b="1" dirty="0">
                <a:solidFill>
                  <a:srgbClr val="B4285A"/>
                </a:solidFill>
                <a:latin typeface="Arial"/>
                <a:cs typeface="Arial"/>
              </a:rPr>
              <a:t>Payment 8s · Food 4s · Label 3s</a:t>
            </a:r>
          </a:p>
        </p:txBody>
      </p:sp>
      <p:sp>
        <p:nvSpPr>
          <p:cNvPr id="23" name="Box 23"/>
          <p:cNvSpPr/>
          <p:nvPr/>
        </p:nvSpPr>
        <p:spPr>
          <a:xfrm>
            <a:off x="457200" y="3429000"/>
            <a:ext cx="8641080" cy="1783080"/>
          </a:xfrm>
          <a:prstGeom prst="rect">
            <a:avLst/>
          </a:prstGeom>
          <a:solidFill>
            <a:srgbClr val="F6F1FB"/>
          </a:solidFill>
          <a:ln w="12700">
            <a:solidFill>
              <a:srgbClr val="C9B8E0"/>
            </a:solidFill>
          </a:ln>
        </p:spPr>
        <p:txBody>
          <a:bodyPr wrap="square" lIns="228600" tIns="91440" rIns="182880" bIns="91440" rtlCol="0" anchor="ctr">
            <a:normAutofit/>
          </a:bodyPr>
          <a:lstStyle/>
          <a:p>
            <a:pPr marL="228600" indent="-228600" algn="l">
              <a:spcBef>
                <a:spcPts val="0"/>
              </a:spcBef>
              <a:spcAft>
                <a:spcPts val="500"/>
              </a:spcAft>
              <a:buClr>
                <a:srgbClr val="5B2C91"/>
              </a:buClr>
              <a:buSzPct val="100000"/>
              <a:buFont typeface="Arial"/>
              <a:buChar char="•"/>
            </a:pPr>
            <a:r>
              <a:rPr lang="en-GB" sz="1550" dirty="0">
                <a:solidFill>
                  <a:srgbClr val="1A1A1A"/>
                </a:solidFill>
                <a:latin typeface="Arial"/>
                <a:cs typeface="Arial"/>
              </a:rPr>
              <a:t>The cashier could take 180 orders an hour, but the barista can only make 60 drinks: orders pile up at the coffee machine.</a:t>
            </a:r>
          </a:p>
          <a:p>
            <a:pPr marL="228600" indent="-228600" algn="l">
              <a:spcBef>
                <a:spcPts val="0"/>
              </a:spcBef>
              <a:spcAft>
                <a:spcPts val="500"/>
              </a:spcAft>
              <a:buClr>
                <a:srgbClr val="5B2C91"/>
              </a:buClr>
              <a:buSzPct val="100000"/>
              <a:buFont typeface="Arial"/>
              <a:buChar char="•"/>
            </a:pPr>
            <a:r>
              <a:rPr lang="en-GB" sz="1550" dirty="0">
                <a:solidFill>
                  <a:srgbClr val="1A1A1A"/>
                </a:solidFill>
                <a:latin typeface="Arial"/>
                <a:cs typeface="Arial"/>
              </a:rPr>
              <a:t>One-quarter of the barista’s time (payment, food, labelling: 15 s) is work that does not need a barista.</a:t>
            </a:r>
          </a:p>
          <a:p>
            <a:pPr marL="228600" indent="-228600" algn="l">
              <a:spcBef>
                <a:spcPts val="0"/>
              </a:spcBef>
              <a:spcAft>
                <a:spcPts val="0"/>
              </a:spcAft>
              <a:buClr>
                <a:srgbClr val="5B2C91"/>
              </a:buClr>
              <a:buSzPct val="100000"/>
              <a:buFont typeface="Arial"/>
              <a:buChar char="•"/>
            </a:pPr>
            <a:r>
              <a:rPr lang="en-GB" sz="1550" dirty="0">
                <a:solidFill>
                  <a:srgbClr val="1A1A1A"/>
                </a:solidFill>
                <a:latin typeface="Arial"/>
                <a:cs typeface="Arial"/>
              </a:rPr>
              <a:t>A further 10 s goes on latte art, which customers rated low in importance.</a:t>
            </a:r>
          </a:p>
        </p:txBody>
      </p:sp>
      <p:sp>
        <p:nvSpPr>
          <p:cNvPr id="24" name="Box 24"/>
          <p:cNvSpPr/>
          <p:nvPr/>
        </p:nvSpPr>
        <p:spPr>
          <a:xfrm>
            <a:off x="457200" y="5394960"/>
            <a:ext cx="11274552" cy="77724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00" b="1" dirty="0">
                <a:solidFill>
                  <a:srgbClr val="FFFFFF"/>
                </a:solidFill>
                <a:latin typeface="Arial"/>
                <a:cs typeface="Arial"/>
              </a:rPr>
              <a:t>TOC diagnosis:  </a:t>
            </a:r>
            <a:r>
              <a:rPr lang="en-GB" sz="1500" dirty="0">
                <a:solidFill>
                  <a:srgbClr val="FFFFFF"/>
                </a:solidFill>
                <a:latin typeface="Arial"/>
                <a:cs typeface="Arial"/>
              </a:rPr>
              <a:t>the barista is the constraint. Output (60 drinks/h) and waiting time are set by the barista, not by the cashier.</a:t>
            </a:r>
          </a:p>
        </p:txBody>
      </p:sp>
      <p:sp>
        <p:nvSpPr>
          <p:cNvPr id="25" name="Source 25"/>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Illustrative figures</a:t>
            </a:r>
          </a:p>
        </p:txBody>
      </p:sp>
      <p:sp>
        <p:nvSpPr>
          <p:cNvPr id="26" name="Box 26"/>
          <p:cNvSpPr/>
          <p:nvPr/>
        </p:nvSpPr>
        <p:spPr>
          <a:xfrm>
            <a:off x="9372600" y="347472"/>
            <a:ext cx="2359152" cy="475488"/>
          </a:xfrm>
          <a:prstGeom prst="roundRect">
            <a:avLst>
              <a:gd name="adj" fmla="val 40000"/>
            </a:avLst>
          </a:prstGeom>
          <a:solidFill>
            <a:srgbClr val="8C6BB1"/>
          </a:solidFill>
          <a:ln>
            <a:no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FFFFFF"/>
                </a:solidFill>
                <a:latin typeface="Arial"/>
                <a:cs typeface="Arial"/>
              </a:rPr>
              <a:t>WORKED EXAMPLE 1B</a:t>
            </a:r>
          </a:p>
        </p:txBody>
      </p:sp>
      <p:sp>
        <p:nvSpPr>
          <p:cNvPr id="28" name="Box 28">
            <a:hlinkClick r:id="rId2"/>
          </p:cNvPr>
          <p:cNvSpPr/>
          <p:nvPr/>
        </p:nvSpPr>
        <p:spPr>
          <a:xfrm>
            <a:off x="9235440" y="3429000"/>
            <a:ext cx="2496312" cy="1783080"/>
          </a:xfrm>
          <a:prstGeom prst="roundRect">
            <a:avLst>
              <a:gd name="adj" fmla="val 8000"/>
            </a:avLst>
          </a:prstGeom>
          <a:solidFill>
            <a:srgbClr val="5B2C91"/>
          </a:solidFill>
          <a:ln>
            <a:noFill/>
          </a:ln>
        </p:spPr>
        <p:txBody>
          <a:bodyPr wrap="square" lIns="73152" tIns="45720" rIns="73152" bIns="45720" rtlCol="0" anchor="t">
            <a:normAutofit/>
          </a:bodyPr>
          <a:lstStyle/>
          <a:p>
            <a:endParaRPr lang="en-GB" sz="1000"/>
          </a:p>
        </p:txBody>
      </p:sp>
      <p:pic>
        <p:nvPicPr>
          <p:cNvPr id="87" name="Simulator QR code" descr="QR code linking to the Station Coffee Rush simulator">
            <a:hlinkClick r:id="rId2"/>
          </p:cNvPr>
          <p:cNvPicPr>
            <a:picLocks noChangeAspect="1"/>
          </p:cNvPicPr>
          <p:nvPr/>
        </p:nvPicPr>
        <p:blipFill>
          <a:blip r:embed="rId3"/>
          <a:stretch>
            <a:fillRect/>
          </a:stretch>
        </p:blipFill>
        <p:spPr>
          <a:xfrm>
            <a:off x="9326880" y="3520440"/>
            <a:ext cx="1188720" cy="1188720"/>
          </a:xfrm>
          <a:prstGeom prst="rect">
            <a:avLst/>
          </a:prstGeom>
        </p:spPr>
      </p:pic>
      <p:sp>
        <p:nvSpPr>
          <p:cNvPr id="29" name="Box 29"/>
          <p:cNvSpPr/>
          <p:nvPr/>
        </p:nvSpPr>
        <p:spPr>
          <a:xfrm>
            <a:off x="10561320" y="3520440"/>
            <a:ext cx="1143000" cy="1188720"/>
          </a:xfrm>
          <a:prstGeom prst="rect">
            <a:avLst/>
          </a:prstGeom>
          <a:noFill/>
          <a:ln>
            <a:noFill/>
          </a:ln>
        </p:spPr>
        <p:txBody>
          <a:bodyPr wrap="square" lIns="36576" tIns="0" rIns="36576" bIns="0" rtlCol="0" anchor="ctr">
            <a:normAutofit/>
          </a:bodyPr>
          <a:lstStyle/>
          <a:p>
            <a:pPr marL="0" indent="0" algn="l">
              <a:spcBef>
                <a:spcPts val="0"/>
              </a:spcBef>
              <a:spcAft>
                <a:spcPts val="150"/>
              </a:spcAft>
              <a:buNone/>
            </a:pPr>
            <a:r>
              <a:rPr lang="en-GB" sz="1450" b="1" dirty="0">
                <a:solidFill>
                  <a:srgbClr val="FFFFFF"/>
                </a:solidFill>
                <a:latin typeface="Arial"/>
                <a:cs typeface="Arial"/>
              </a:rPr>
              <a:t>Try it live</a:t>
            </a:r>
          </a:p>
          <a:p>
            <a:pPr marL="0" indent="0" algn="l">
              <a:spcBef>
                <a:spcPts val="0"/>
              </a:spcBef>
              <a:spcAft>
                <a:spcPts val="0"/>
              </a:spcAft>
              <a:buNone/>
            </a:pPr>
            <a:r>
              <a:rPr lang="en-GB" sz="1000" dirty="0">
                <a:solidFill>
                  <a:srgbClr val="EBE1F5"/>
                </a:solidFill>
                <a:latin typeface="Arial"/>
                <a:cs typeface="Arial"/>
              </a:rPr>
              <a:t>Scan, or click this card in slideshow</a:t>
            </a:r>
          </a:p>
        </p:txBody>
      </p:sp>
      <p:sp>
        <p:nvSpPr>
          <p:cNvPr id="31" name="Page 31"/>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19</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offee" descr="Coffee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algn="ctr"/>
            <a:r>
              <a:rPr lang="en-GB" sz="2400" dirty="0">
                <a:solidFill>
                  <a:srgbClr val="5B2C91"/>
                </a:solidFill>
                <a:latin typeface="Arial"/>
                <a:cs typeface="Arial"/>
              </a:rPr>
              <a:t>Coffee Shop: Rebalance, Then Measure</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51560"/>
            <a:ext cx="5559552" cy="4114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B4285A"/>
                </a:solidFill>
                <a:latin typeface="Arial"/>
                <a:cs typeface="Arial"/>
              </a:rPr>
              <a:t>Before: barista 60 s per drink → 60 drinks/h</a:t>
            </a:r>
          </a:p>
        </p:txBody>
      </p:sp>
      <p:sp>
        <p:nvSpPr>
          <p:cNvPr id="6" name="Box 6"/>
          <p:cNvSpPr/>
          <p:nvPr/>
        </p:nvSpPr>
        <p:spPr>
          <a:xfrm>
            <a:off x="6172200" y="1051560"/>
            <a:ext cx="5559552" cy="4114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5B2C91"/>
                </a:solidFill>
                <a:latin typeface="Arial"/>
                <a:cs typeface="Arial"/>
              </a:rPr>
              <a:t>After: barista 45 s per drink → 80 drinks/h</a:t>
            </a:r>
          </a:p>
        </p:txBody>
      </p:sp>
      <p:sp>
        <p:nvSpPr>
          <p:cNvPr id="7" name="Box 7"/>
          <p:cNvSpPr/>
          <p:nvPr/>
        </p:nvSpPr>
        <p:spPr>
          <a:xfrm>
            <a:off x="457200" y="1508760"/>
            <a:ext cx="2697480" cy="411480"/>
          </a:xfrm>
          <a:prstGeom prst="rect">
            <a:avLst/>
          </a:prstGeom>
          <a:solidFill>
            <a:srgbClr val="8C6BB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Cashier</a:t>
            </a:r>
          </a:p>
        </p:txBody>
      </p:sp>
      <p:sp>
        <p:nvSpPr>
          <p:cNvPr id="8" name="Box 8"/>
          <p:cNvSpPr/>
          <p:nvPr/>
        </p:nvSpPr>
        <p:spPr>
          <a:xfrm>
            <a:off x="457200" y="1920240"/>
            <a:ext cx="2697480" cy="1280160"/>
          </a:xfrm>
          <a:prstGeom prst="rect">
            <a:avLst/>
          </a:prstGeom>
          <a:solidFill>
            <a:srgbClr val="F6F1FB"/>
          </a:solidFill>
          <a:ln w="12700">
            <a:solidFill>
              <a:srgbClr val="C9B8E0"/>
            </a:solidFill>
          </a:ln>
        </p:spPr>
        <p:txBody>
          <a:bodyPr wrap="square" lIns="109728" tIns="91440" rIns="91440" bIns="45720" rtlCol="0" anchor="t">
            <a:normAutofit/>
          </a:bodyPr>
          <a:lstStyle/>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Take orders</a:t>
            </a:r>
          </a:p>
        </p:txBody>
      </p:sp>
      <p:sp>
        <p:nvSpPr>
          <p:cNvPr id="9" name="Box 9"/>
          <p:cNvSpPr/>
          <p:nvPr/>
        </p:nvSpPr>
        <p:spPr>
          <a:xfrm>
            <a:off x="3273552" y="1508760"/>
            <a:ext cx="2697480" cy="41148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Barista</a:t>
            </a:r>
          </a:p>
        </p:txBody>
      </p:sp>
      <p:sp>
        <p:nvSpPr>
          <p:cNvPr id="10" name="Box 10"/>
          <p:cNvSpPr/>
          <p:nvPr/>
        </p:nvSpPr>
        <p:spPr>
          <a:xfrm>
            <a:off x="3273552" y="1920240"/>
            <a:ext cx="2697480" cy="1280160"/>
          </a:xfrm>
          <a:prstGeom prst="rect">
            <a:avLst/>
          </a:prstGeom>
          <a:solidFill>
            <a:srgbClr val="F6E8EE"/>
          </a:solidFill>
          <a:ln w="12700">
            <a:solidFill>
              <a:srgbClr val="C9B8E0"/>
            </a:solidFill>
          </a:ln>
        </p:spPr>
        <p:txBody>
          <a:bodyPr wrap="square" lIns="109728" tIns="91440" rIns="91440" bIns="45720" rtlCol="0" anchor="t">
            <a:normAutofit/>
          </a:bodyPr>
          <a:lstStyle/>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Make drinks</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Take payment</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Prepare food</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Label cups</a:t>
            </a:r>
          </a:p>
        </p:txBody>
      </p:sp>
      <p:sp>
        <p:nvSpPr>
          <p:cNvPr id="11" name="Box 11"/>
          <p:cNvSpPr/>
          <p:nvPr/>
        </p:nvSpPr>
        <p:spPr>
          <a:xfrm>
            <a:off x="6172200" y="1508760"/>
            <a:ext cx="2697480" cy="411480"/>
          </a:xfrm>
          <a:prstGeom prst="rect">
            <a:avLst/>
          </a:prstGeom>
          <a:solidFill>
            <a:srgbClr val="8C6BB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Second employee (35 s)</a:t>
            </a:r>
          </a:p>
        </p:txBody>
      </p:sp>
      <p:sp>
        <p:nvSpPr>
          <p:cNvPr id="12" name="Box 12"/>
          <p:cNvSpPr/>
          <p:nvPr/>
        </p:nvSpPr>
        <p:spPr>
          <a:xfrm>
            <a:off x="6172200" y="1920240"/>
            <a:ext cx="2697480" cy="1280160"/>
          </a:xfrm>
          <a:prstGeom prst="rect">
            <a:avLst/>
          </a:prstGeom>
          <a:solidFill>
            <a:srgbClr val="F6F1FB"/>
          </a:solidFill>
          <a:ln w="12700">
            <a:solidFill>
              <a:srgbClr val="C9B8E0"/>
            </a:solidFill>
          </a:ln>
        </p:spPr>
        <p:txBody>
          <a:bodyPr wrap="square" lIns="109728" tIns="91440" rIns="91440" bIns="45720" rtlCol="0" anchor="t">
            <a:normAutofit/>
          </a:bodyPr>
          <a:lstStyle/>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Take orders</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Take payment</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Prepare food</a:t>
            </a:r>
          </a:p>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Label cups</a:t>
            </a:r>
          </a:p>
        </p:txBody>
      </p:sp>
      <p:sp>
        <p:nvSpPr>
          <p:cNvPr id="13" name="Box 13"/>
          <p:cNvSpPr/>
          <p:nvPr/>
        </p:nvSpPr>
        <p:spPr>
          <a:xfrm>
            <a:off x="8988552" y="1508760"/>
            <a:ext cx="2697480" cy="41148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Barista</a:t>
            </a:r>
          </a:p>
        </p:txBody>
      </p:sp>
      <p:sp>
        <p:nvSpPr>
          <p:cNvPr id="14" name="Box 14"/>
          <p:cNvSpPr/>
          <p:nvPr/>
        </p:nvSpPr>
        <p:spPr>
          <a:xfrm>
            <a:off x="8988552" y="1920240"/>
            <a:ext cx="2697480" cy="1280160"/>
          </a:xfrm>
          <a:prstGeom prst="rect">
            <a:avLst/>
          </a:prstGeom>
          <a:solidFill>
            <a:srgbClr val="F6F1FB"/>
          </a:solidFill>
          <a:ln w="12700">
            <a:solidFill>
              <a:srgbClr val="C9B8E0"/>
            </a:solidFill>
          </a:ln>
        </p:spPr>
        <p:txBody>
          <a:bodyPr wrap="square" lIns="109728" tIns="91440" rIns="91440" bIns="45720" rtlCol="0" anchor="t">
            <a:normAutofit/>
          </a:bodyPr>
          <a:lstStyle/>
          <a:p>
            <a:pPr marL="228600" indent="-228600" algn="l">
              <a:spcBef>
                <a:spcPts val="0"/>
              </a:spcBef>
              <a:spcAft>
                <a:spcPts val="200"/>
              </a:spcAft>
              <a:buClr>
                <a:srgbClr val="5B2C91"/>
              </a:buClr>
              <a:buSzPct val="100000"/>
              <a:buFont typeface="Arial"/>
              <a:buChar char="•"/>
            </a:pPr>
            <a:r>
              <a:rPr lang="en-GB" sz="1500" dirty="0">
                <a:solidFill>
                  <a:srgbClr val="1A1A1A"/>
                </a:solidFill>
                <a:latin typeface="Arial"/>
                <a:cs typeface="Arial"/>
              </a:rPr>
              <a:t>Make drinks</a:t>
            </a:r>
          </a:p>
        </p:txBody>
      </p:sp>
      <p:sp>
        <p:nvSpPr>
          <p:cNvPr id="15" name="Box 15"/>
          <p:cNvSpPr/>
          <p:nvPr/>
        </p:nvSpPr>
        <p:spPr>
          <a:xfrm>
            <a:off x="5989320" y="2331720"/>
            <a:ext cx="201168" cy="457200"/>
          </a:xfrm>
          <a:prstGeom prst="rightArrow">
            <a:avLst>
              <a:gd name="adj" fmla="val 50000"/>
            </a:avLst>
          </a:prstGeom>
          <a:solidFill>
            <a:srgbClr val="5B2C91"/>
          </a:solidFill>
          <a:ln>
            <a:noFill/>
          </a:ln>
        </p:spPr>
        <p:txBody>
          <a:bodyPr wrap="square" lIns="73152" tIns="45720" rIns="73152" bIns="45720" rtlCol="0" anchor="t">
            <a:normAutofit/>
          </a:bodyPr>
          <a:lstStyle/>
          <a:p>
            <a:endParaRPr lang="en-GB" sz="1000"/>
          </a:p>
        </p:txBody>
      </p:sp>
      <p:sp>
        <p:nvSpPr>
          <p:cNvPr id="16" name="TextBox 15">
            <a:extLst>
              <a:ext uri="{FF2B5EF4-FFF2-40B4-BE49-F238E27FC236}">
                <a16:creationId xmlns:a16="http://schemas.microsoft.com/office/drawing/2014/main" id="{FBF6C283-B809-2BC0-6229-6D70F0E451E8}"/>
              </a:ext>
            </a:extLst>
          </p:cNvPr>
          <p:cNvSpPr txBox="1"/>
          <p:nvPr/>
        </p:nvSpPr>
        <p:spPr>
          <a:xfrm>
            <a:off x="2603863" y="4937761"/>
            <a:ext cx="6096000" cy="369332"/>
          </a:xfrm>
          <a:prstGeom prst="rect">
            <a:avLst/>
          </a:prstGeom>
          <a:noFill/>
        </p:spPr>
        <p:txBody>
          <a:bodyPr wrap="square">
            <a:spAutoFit/>
          </a:bodyPr>
          <a:lstStyle/>
          <a:p>
            <a:r>
              <a:rPr lang="en-GB" sz="1800" dirty="0">
                <a:solidFill>
                  <a:srgbClr val="5B2C91"/>
                </a:solidFill>
                <a:latin typeface="Arial"/>
                <a:cs typeface="Arial"/>
              </a:rPr>
              <a:t>https://claude.ai/artifact/9ALFxyzdSsjCEpqgcCqFfi</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548872" y="6492240"/>
            <a:ext cx="457200" cy="274320"/>
          </a:xfrm>
          <a:prstGeom prst="rect">
            <a:avLst/>
          </a:prstGeom>
          <a:noFill/>
          <a:ln/>
        </p:spPr>
        <p:txBody>
          <a:bodyPr wrap="square" rtlCol="0" anchor="ctr"/>
          <a:lstStyle/>
          <a:p>
            <a:pPr marL="0" indent="0" algn="r">
              <a:buNone/>
            </a:pPr>
            <a:r>
              <a:rPr lang="en-US" sz="1100" dirty="0">
                <a:solidFill>
                  <a:srgbClr val="1A1A1A"/>
                </a:solidFill>
                <a:latin typeface="Arial" pitchFamily="34" charset="0"/>
                <a:ea typeface="Arial" pitchFamily="34" charset="-122"/>
                <a:cs typeface="Arial" pitchFamily="34" charset="-120"/>
              </a:rPr>
              <a:t>23</a:t>
            </a:r>
            <a:endParaRPr lang="en-US" sz="1100" dirty="0"/>
          </a:p>
        </p:txBody>
      </p:sp>
      <p:sp>
        <p:nvSpPr>
          <p:cNvPr id="3" name="Text 1"/>
          <p:cNvSpPr/>
          <p:nvPr/>
        </p:nvSpPr>
        <p:spPr>
          <a:xfrm>
            <a:off x="457200" y="274320"/>
            <a:ext cx="11274552" cy="640080"/>
          </a:xfrm>
          <a:prstGeom prst="rect">
            <a:avLst/>
          </a:prstGeom>
          <a:noFill/>
          <a:ln/>
        </p:spPr>
        <p:txBody>
          <a:bodyPr wrap="square" rtlCol="0" anchor="ctr"/>
          <a:lstStyle/>
          <a:p>
            <a:pPr marL="0" indent="0" algn="ctr">
              <a:buNone/>
            </a:pPr>
            <a:r>
              <a:rPr lang="en-US" sz="2300" dirty="0">
                <a:solidFill>
                  <a:srgbClr val="5B2C91"/>
                </a:solidFill>
                <a:latin typeface="Arial" pitchFamily="34" charset="0"/>
                <a:ea typeface="Arial" pitchFamily="34" charset="-122"/>
                <a:cs typeface="Arial" pitchFamily="34" charset="-120"/>
              </a:rPr>
              <a:t>Worked Example 2: Balancing Loss Calculation</a:t>
            </a:r>
            <a:endParaRPr lang="en-US" sz="2300" dirty="0"/>
          </a:p>
        </p:txBody>
      </p:sp>
      <p:sp>
        <p:nvSpPr>
          <p:cNvPr id="4" name="Shape 2"/>
          <p:cNvSpPr/>
          <p:nvPr/>
        </p:nvSpPr>
        <p:spPr>
          <a:xfrm>
            <a:off x="457200" y="960120"/>
            <a:ext cx="11274552" cy="0"/>
          </a:xfrm>
          <a:prstGeom prst="line">
            <a:avLst/>
          </a:prstGeom>
          <a:noFill/>
          <a:ln w="15875">
            <a:solidFill>
              <a:srgbClr val="5B2C91"/>
            </a:solidFill>
            <a:prstDash val="solid"/>
          </a:ln>
        </p:spPr>
        <p:txBody>
          <a:bodyPr/>
          <a:lstStyle/>
          <a:p>
            <a:endParaRPr lang="en-GB"/>
          </a:p>
        </p:txBody>
      </p:sp>
      <p:sp>
        <p:nvSpPr>
          <p:cNvPr id="5" name="Shape 3"/>
          <p:cNvSpPr/>
          <p:nvPr/>
        </p:nvSpPr>
        <p:spPr>
          <a:xfrm>
            <a:off x="3305556" y="1325880"/>
            <a:ext cx="1554480" cy="914400"/>
          </a:xfrm>
          <a:prstGeom prst="roundRect">
            <a:avLst>
              <a:gd name="adj" fmla="val 8000"/>
            </a:avLst>
          </a:prstGeom>
          <a:solidFill>
            <a:srgbClr val="FFFFFF"/>
          </a:solidFill>
          <a:ln w="19050">
            <a:solidFill>
              <a:srgbClr val="5B2C91"/>
            </a:solidFill>
            <a:prstDash val="solid"/>
          </a:ln>
        </p:spPr>
        <p:txBody>
          <a:bodyPr/>
          <a:lstStyle/>
          <a:p>
            <a:endParaRPr lang="en-GB"/>
          </a:p>
        </p:txBody>
      </p:sp>
      <p:sp>
        <p:nvSpPr>
          <p:cNvPr id="6" name="Text 4"/>
          <p:cNvSpPr/>
          <p:nvPr/>
        </p:nvSpPr>
        <p:spPr>
          <a:xfrm>
            <a:off x="3305556" y="1380744"/>
            <a:ext cx="1554480" cy="320040"/>
          </a:xfrm>
          <a:prstGeom prst="rect">
            <a:avLst/>
          </a:prstGeom>
          <a:noFill/>
          <a:ln/>
        </p:spPr>
        <p:txBody>
          <a:bodyPr wrap="square" rtlCol="0" anchor="ctr"/>
          <a:lstStyle/>
          <a:p>
            <a:pPr marL="0" indent="0" algn="ctr">
              <a:buNone/>
            </a:pPr>
            <a:r>
              <a:rPr lang="en-US" sz="1250" b="1" dirty="0">
                <a:solidFill>
                  <a:srgbClr val="5B2C91"/>
                </a:solidFill>
                <a:latin typeface="Arial" pitchFamily="34" charset="0"/>
                <a:ea typeface="Arial" pitchFamily="34" charset="-122"/>
                <a:cs typeface="Arial" pitchFamily="34" charset="-120"/>
              </a:rPr>
              <a:t>Stage 1</a:t>
            </a:r>
            <a:endParaRPr lang="en-US" sz="1250" dirty="0"/>
          </a:p>
        </p:txBody>
      </p:sp>
      <p:sp>
        <p:nvSpPr>
          <p:cNvPr id="7" name="Text 5"/>
          <p:cNvSpPr/>
          <p:nvPr/>
        </p:nvSpPr>
        <p:spPr>
          <a:xfrm>
            <a:off x="3305556" y="1709928"/>
            <a:ext cx="1554480" cy="457200"/>
          </a:xfrm>
          <a:prstGeom prst="rect">
            <a:avLst/>
          </a:prstGeom>
          <a:noFill/>
          <a:ln/>
        </p:spPr>
        <p:txBody>
          <a:bodyPr wrap="square" rtlCol="0" anchor="ctr"/>
          <a:lstStyle/>
          <a:p>
            <a:pPr marL="0" indent="0" algn="ctr">
              <a:buNone/>
            </a:pPr>
            <a:r>
              <a:rPr lang="en-US" sz="1500" b="1" dirty="0">
                <a:solidFill>
                  <a:srgbClr val="1A1A1A"/>
                </a:solidFill>
                <a:latin typeface="Arial" pitchFamily="34" charset="0"/>
                <a:ea typeface="Arial" pitchFamily="34" charset="-122"/>
                <a:cs typeface="Arial" pitchFamily="34" charset="-120"/>
              </a:rPr>
              <a:t>2 min</a:t>
            </a:r>
            <a:endParaRPr lang="en-US" sz="1500" dirty="0"/>
          </a:p>
        </p:txBody>
      </p:sp>
      <p:sp>
        <p:nvSpPr>
          <p:cNvPr id="8" name="Shape 6"/>
          <p:cNvSpPr/>
          <p:nvPr/>
        </p:nvSpPr>
        <p:spPr>
          <a:xfrm>
            <a:off x="4860036" y="1783080"/>
            <a:ext cx="457200" cy="0"/>
          </a:xfrm>
          <a:prstGeom prst="line">
            <a:avLst/>
          </a:prstGeom>
          <a:noFill/>
          <a:ln w="25400">
            <a:solidFill>
              <a:srgbClr val="5B2C91"/>
            </a:solidFill>
            <a:prstDash val="solid"/>
            <a:tailEnd type="triangle"/>
          </a:ln>
        </p:spPr>
        <p:txBody>
          <a:bodyPr/>
          <a:lstStyle/>
          <a:p>
            <a:endParaRPr lang="en-GB"/>
          </a:p>
        </p:txBody>
      </p:sp>
      <p:sp>
        <p:nvSpPr>
          <p:cNvPr id="9" name="Text 7"/>
          <p:cNvSpPr/>
          <p:nvPr/>
        </p:nvSpPr>
        <p:spPr>
          <a:xfrm>
            <a:off x="3122676" y="2350008"/>
            <a:ext cx="1920240" cy="320040"/>
          </a:xfrm>
          <a:prstGeom prst="rect">
            <a:avLst/>
          </a:prstGeom>
          <a:noFill/>
          <a:ln/>
        </p:spPr>
        <p:txBody>
          <a:bodyPr wrap="square" rtlCol="0" anchor="ctr"/>
          <a:lstStyle/>
          <a:p>
            <a:pPr marL="0" indent="0" algn="ctr">
              <a:buNone/>
            </a:pPr>
            <a:r>
              <a:rPr lang="en-US" sz="1100" i="1" dirty="0">
                <a:solidFill>
                  <a:srgbClr val="B8860B"/>
                </a:solidFill>
                <a:latin typeface="Arial" pitchFamily="34" charset="0"/>
                <a:ea typeface="Arial" pitchFamily="34" charset="-122"/>
                <a:cs typeface="Arial" pitchFamily="34" charset="-120"/>
              </a:rPr>
              <a:t>idle 1.0 min</a:t>
            </a:r>
            <a:endParaRPr lang="en-US" sz="1100" dirty="0"/>
          </a:p>
        </p:txBody>
      </p:sp>
      <p:sp>
        <p:nvSpPr>
          <p:cNvPr id="10" name="Shape 8"/>
          <p:cNvSpPr/>
          <p:nvPr/>
        </p:nvSpPr>
        <p:spPr>
          <a:xfrm>
            <a:off x="5317236" y="1325880"/>
            <a:ext cx="1554480" cy="914400"/>
          </a:xfrm>
          <a:prstGeom prst="roundRect">
            <a:avLst>
              <a:gd name="adj" fmla="val 8000"/>
            </a:avLst>
          </a:prstGeom>
          <a:solidFill>
            <a:srgbClr val="5B2C91"/>
          </a:solidFill>
          <a:ln w="28575">
            <a:solidFill>
              <a:srgbClr val="5B2C91"/>
            </a:solidFill>
            <a:prstDash val="solid"/>
          </a:ln>
        </p:spPr>
        <p:txBody>
          <a:bodyPr/>
          <a:lstStyle/>
          <a:p>
            <a:endParaRPr lang="en-GB"/>
          </a:p>
        </p:txBody>
      </p:sp>
      <p:sp>
        <p:nvSpPr>
          <p:cNvPr id="11" name="Text 9"/>
          <p:cNvSpPr/>
          <p:nvPr/>
        </p:nvSpPr>
        <p:spPr>
          <a:xfrm>
            <a:off x="5317236" y="1380744"/>
            <a:ext cx="1554480" cy="320040"/>
          </a:xfrm>
          <a:prstGeom prst="rect">
            <a:avLst/>
          </a:prstGeom>
          <a:noFill/>
          <a:ln/>
        </p:spPr>
        <p:txBody>
          <a:bodyPr wrap="square"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Stage 2</a:t>
            </a:r>
            <a:endParaRPr lang="en-US" sz="1250" dirty="0"/>
          </a:p>
        </p:txBody>
      </p:sp>
      <p:sp>
        <p:nvSpPr>
          <p:cNvPr id="12" name="Text 10"/>
          <p:cNvSpPr/>
          <p:nvPr/>
        </p:nvSpPr>
        <p:spPr>
          <a:xfrm>
            <a:off x="5317236" y="1709928"/>
            <a:ext cx="1554480" cy="45720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 min</a:t>
            </a:r>
            <a:endParaRPr lang="en-US" sz="1500" dirty="0"/>
          </a:p>
        </p:txBody>
      </p:sp>
      <p:sp>
        <p:nvSpPr>
          <p:cNvPr id="13" name="Shape 11"/>
          <p:cNvSpPr/>
          <p:nvPr/>
        </p:nvSpPr>
        <p:spPr>
          <a:xfrm>
            <a:off x="6871716" y="1783080"/>
            <a:ext cx="457200" cy="0"/>
          </a:xfrm>
          <a:prstGeom prst="line">
            <a:avLst/>
          </a:prstGeom>
          <a:noFill/>
          <a:ln w="25400">
            <a:solidFill>
              <a:srgbClr val="5B2C91"/>
            </a:solidFill>
            <a:prstDash val="solid"/>
            <a:tailEnd type="triangle"/>
          </a:ln>
        </p:spPr>
        <p:txBody>
          <a:bodyPr/>
          <a:lstStyle/>
          <a:p>
            <a:endParaRPr lang="en-GB"/>
          </a:p>
        </p:txBody>
      </p:sp>
      <p:sp>
        <p:nvSpPr>
          <p:cNvPr id="14" name="Text 12"/>
          <p:cNvSpPr/>
          <p:nvPr/>
        </p:nvSpPr>
        <p:spPr>
          <a:xfrm>
            <a:off x="5042916" y="941832"/>
            <a:ext cx="2103120" cy="320040"/>
          </a:xfrm>
          <a:prstGeom prst="rect">
            <a:avLst/>
          </a:prstGeom>
          <a:noFill/>
          <a:ln/>
        </p:spPr>
        <p:txBody>
          <a:bodyPr wrap="square" rtlCol="0" anchor="ctr"/>
          <a:lstStyle/>
          <a:p>
            <a:pPr marL="0" indent="0" algn="ctr">
              <a:buNone/>
            </a:pPr>
            <a:r>
              <a:rPr lang="en-US" sz="1100" b="1" dirty="0">
                <a:solidFill>
                  <a:srgbClr val="5B2C91"/>
                </a:solidFill>
                <a:latin typeface="Arial" pitchFamily="34" charset="0"/>
                <a:ea typeface="Arial" pitchFamily="34" charset="-122"/>
                <a:cs typeface="Arial" pitchFamily="34" charset="-120"/>
              </a:rPr>
              <a:t>BOTTLENECK</a:t>
            </a:r>
            <a:endParaRPr lang="en-US" sz="1100" dirty="0"/>
          </a:p>
        </p:txBody>
      </p:sp>
      <p:sp>
        <p:nvSpPr>
          <p:cNvPr id="15" name="Shape 13"/>
          <p:cNvSpPr/>
          <p:nvPr/>
        </p:nvSpPr>
        <p:spPr>
          <a:xfrm>
            <a:off x="7328916" y="1325880"/>
            <a:ext cx="1554480" cy="914400"/>
          </a:xfrm>
          <a:prstGeom prst="roundRect">
            <a:avLst>
              <a:gd name="adj" fmla="val 8000"/>
            </a:avLst>
          </a:prstGeom>
          <a:solidFill>
            <a:srgbClr val="FFFFFF"/>
          </a:solidFill>
          <a:ln w="19050">
            <a:solidFill>
              <a:srgbClr val="5B2C91"/>
            </a:solidFill>
            <a:prstDash val="solid"/>
          </a:ln>
        </p:spPr>
        <p:txBody>
          <a:bodyPr/>
          <a:lstStyle/>
          <a:p>
            <a:endParaRPr lang="en-GB"/>
          </a:p>
        </p:txBody>
      </p:sp>
      <p:sp>
        <p:nvSpPr>
          <p:cNvPr id="16" name="Text 14"/>
          <p:cNvSpPr/>
          <p:nvPr/>
        </p:nvSpPr>
        <p:spPr>
          <a:xfrm>
            <a:off x="7328916" y="1380744"/>
            <a:ext cx="1554480" cy="320040"/>
          </a:xfrm>
          <a:prstGeom prst="rect">
            <a:avLst/>
          </a:prstGeom>
          <a:noFill/>
          <a:ln/>
        </p:spPr>
        <p:txBody>
          <a:bodyPr wrap="square" rtlCol="0" anchor="ctr"/>
          <a:lstStyle/>
          <a:p>
            <a:pPr marL="0" indent="0" algn="ctr">
              <a:buNone/>
            </a:pPr>
            <a:r>
              <a:rPr lang="en-US" sz="1250" b="1" dirty="0">
                <a:solidFill>
                  <a:srgbClr val="5B2C91"/>
                </a:solidFill>
                <a:latin typeface="Arial" pitchFamily="34" charset="0"/>
                <a:ea typeface="Arial" pitchFamily="34" charset="-122"/>
                <a:cs typeface="Arial" pitchFamily="34" charset="-120"/>
              </a:rPr>
              <a:t>Stage 3</a:t>
            </a:r>
            <a:endParaRPr lang="en-US" sz="1250" dirty="0"/>
          </a:p>
        </p:txBody>
      </p:sp>
      <p:sp>
        <p:nvSpPr>
          <p:cNvPr id="17" name="Text 15"/>
          <p:cNvSpPr/>
          <p:nvPr/>
        </p:nvSpPr>
        <p:spPr>
          <a:xfrm>
            <a:off x="7328916" y="1709928"/>
            <a:ext cx="1554480" cy="457200"/>
          </a:xfrm>
          <a:prstGeom prst="rect">
            <a:avLst/>
          </a:prstGeom>
          <a:noFill/>
          <a:ln/>
        </p:spPr>
        <p:txBody>
          <a:bodyPr wrap="square" rtlCol="0" anchor="ctr"/>
          <a:lstStyle/>
          <a:p>
            <a:pPr marL="0" indent="0" algn="ctr">
              <a:buNone/>
            </a:pPr>
            <a:r>
              <a:rPr lang="en-US" sz="1500" b="1" dirty="0">
                <a:solidFill>
                  <a:srgbClr val="1A1A1A"/>
                </a:solidFill>
                <a:latin typeface="Arial" pitchFamily="34" charset="0"/>
                <a:ea typeface="Arial" pitchFamily="34" charset="-122"/>
                <a:cs typeface="Arial" pitchFamily="34" charset="-120"/>
              </a:rPr>
              <a:t>2.2 min</a:t>
            </a:r>
            <a:endParaRPr lang="en-US" sz="1500" dirty="0"/>
          </a:p>
        </p:txBody>
      </p:sp>
      <p:sp>
        <p:nvSpPr>
          <p:cNvPr id="18" name="Text 16"/>
          <p:cNvSpPr/>
          <p:nvPr/>
        </p:nvSpPr>
        <p:spPr>
          <a:xfrm>
            <a:off x="7146036" y="2350008"/>
            <a:ext cx="1920240" cy="320040"/>
          </a:xfrm>
          <a:prstGeom prst="rect">
            <a:avLst/>
          </a:prstGeom>
          <a:noFill/>
          <a:ln/>
        </p:spPr>
        <p:txBody>
          <a:bodyPr wrap="square" rtlCol="0" anchor="ctr"/>
          <a:lstStyle/>
          <a:p>
            <a:pPr marL="0" indent="0" algn="ctr">
              <a:buNone/>
            </a:pPr>
            <a:r>
              <a:rPr lang="en-US" sz="1100" i="1" dirty="0">
                <a:solidFill>
                  <a:srgbClr val="B8860B"/>
                </a:solidFill>
                <a:latin typeface="Arial" pitchFamily="34" charset="0"/>
                <a:ea typeface="Arial" pitchFamily="34" charset="-122"/>
                <a:cs typeface="Arial" pitchFamily="34" charset="-120"/>
              </a:rPr>
              <a:t>idle 0.8 min</a:t>
            </a:r>
            <a:endParaRPr lang="en-US" sz="1100" dirty="0"/>
          </a:p>
        </p:txBody>
      </p:sp>
      <p:graphicFrame>
        <p:nvGraphicFramePr>
          <p:cNvPr id="19" name="Table 0"/>
          <p:cNvGraphicFramePr>
            <a:graphicFrameLocks noGrp="1"/>
          </p:cNvGraphicFramePr>
          <p:nvPr/>
        </p:nvGraphicFramePr>
        <p:xfrm>
          <a:off x="2011680" y="3246120"/>
          <a:ext cx="8229600" cy="1463040"/>
        </p:xfrm>
        <a:graphic>
          <a:graphicData uri="http://schemas.openxmlformats.org/drawingml/2006/table">
            <a:tbl>
              <a:tblPr/>
              <a:tblGrid>
                <a:gridCol w="2926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65760">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Stage</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5B2C91"/>
                    </a:solidFill>
                  </a:tcPr>
                </a:tc>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Processing Time</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5B2C91"/>
                    </a:solidFill>
                  </a:tcPr>
                </a:tc>
                <a:tc>
                  <a:txBody>
                    <a:bodyPr/>
                    <a:lstStyle/>
                    <a:p>
                      <a:pPr marL="0" indent="0" algn="ctr">
                        <a:buNone/>
                      </a:pPr>
                      <a:r>
                        <a:rPr lang="en-US" sz="1350" b="1" dirty="0">
                          <a:solidFill>
                            <a:srgbClr val="FFFFFF"/>
                          </a:solidFill>
                          <a:latin typeface="Arial" pitchFamily="34" charset="0"/>
                          <a:ea typeface="Arial" pitchFamily="34" charset="-122"/>
                          <a:cs typeface="Arial" pitchFamily="34" charset="-120"/>
                        </a:rPr>
                        <a:t>Idle Time (3.0 − time)</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5B2C91"/>
                    </a:solidFill>
                  </a:tcPr>
                </a:tc>
                <a:extLst>
                  <a:ext uri="{0D108BD9-81ED-4DB2-BD59-A6C34878D82A}">
                    <a16:rowId xmlns:a16="http://schemas.microsoft.com/office/drawing/2014/main" val="10000"/>
                  </a:ext>
                </a:extLst>
              </a:tr>
              <a:tr h="365760">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1</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2.0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1.0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extLst>
                  <a:ext uri="{0D108BD9-81ED-4DB2-BD59-A6C34878D82A}">
                    <a16:rowId xmlns:a16="http://schemas.microsoft.com/office/drawing/2014/main" val="10001"/>
                  </a:ext>
                </a:extLst>
              </a:tr>
              <a:tr h="365760">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2 (bottleneck)</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3.0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0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3</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2.2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tc>
                  <a:txBody>
                    <a:bodyPr/>
                    <a:lstStyle/>
                    <a:p>
                      <a:pPr marL="0" indent="0" algn="ctr">
                        <a:buNone/>
                      </a:pPr>
                      <a:r>
                        <a:rPr lang="en-US" sz="1350" dirty="0">
                          <a:solidFill>
                            <a:srgbClr val="1A1A1A"/>
                          </a:solidFill>
                          <a:latin typeface="Arial" pitchFamily="34" charset="0"/>
                          <a:ea typeface="Arial" pitchFamily="34" charset="-122"/>
                          <a:cs typeface="Arial" pitchFamily="34" charset="-120"/>
                        </a:rPr>
                        <a:t>0.8 min</a:t>
                      </a:r>
                      <a:endParaRPr lang="en-US" sz="1350" dirty="0">
                        <a:latin typeface="Arial" charset="0"/>
                        <a:ea typeface="Arial" charset="0"/>
                        <a:cs typeface="Arial" charset="0"/>
                      </a:endParaRPr>
                    </a:p>
                  </a:txBody>
                  <a:tcPr marL="50800" marR="50800" marT="50800" marB="50800" anchor="ctr">
                    <a:lnL w="9525" cap="flat" cmpd="sng" algn="ctr">
                      <a:solidFill>
                        <a:srgbClr val="C9B8E0"/>
                      </a:solidFill>
                      <a:prstDash val="solid"/>
                      <a:round/>
                      <a:headEnd type="none" w="med" len="med"/>
                      <a:tailEnd type="none" w="med" len="med"/>
                    </a:lnL>
                    <a:lnR w="9525" cap="flat" cmpd="sng" algn="ctr">
                      <a:solidFill>
                        <a:srgbClr val="C9B8E0"/>
                      </a:solidFill>
                      <a:prstDash val="solid"/>
                      <a:round/>
                      <a:headEnd type="none" w="med" len="med"/>
                      <a:tailEnd type="none" w="med" len="med"/>
                    </a:lnR>
                    <a:lnT w="9525" cap="flat" cmpd="sng" algn="ctr">
                      <a:solidFill>
                        <a:srgbClr val="C9B8E0"/>
                      </a:solidFill>
                      <a:prstDash val="solid"/>
                      <a:round/>
                      <a:headEnd type="none" w="med" len="med"/>
                      <a:tailEnd type="none" w="med" len="med"/>
                    </a:lnT>
                    <a:lnB w="9525" cap="flat" cmpd="sng" algn="ctr">
                      <a:solidFill>
                        <a:srgbClr val="C9B8E0"/>
                      </a:solidFill>
                      <a:prstDash val="solid"/>
                      <a:round/>
                      <a:headEnd type="none" w="med" len="med"/>
                      <a:tailEnd type="none" w="med" len="med"/>
                    </a:lnB>
                    <a:solidFill>
                      <a:srgbClr val="EBE1F5"/>
                    </a:solidFill>
                  </a:tcPr>
                </a:tc>
                <a:extLst>
                  <a:ext uri="{0D108BD9-81ED-4DB2-BD59-A6C34878D82A}">
                    <a16:rowId xmlns:a16="http://schemas.microsoft.com/office/drawing/2014/main" val="10003"/>
                  </a:ext>
                </a:extLst>
              </a:tr>
            </a:tbl>
          </a:graphicData>
        </a:graphic>
      </p:graphicFrame>
      <p:sp>
        <p:nvSpPr>
          <p:cNvPr id="20" name="Shape 17"/>
          <p:cNvSpPr/>
          <p:nvPr/>
        </p:nvSpPr>
        <p:spPr>
          <a:xfrm>
            <a:off x="1463040" y="4937760"/>
            <a:ext cx="9262872" cy="1417320"/>
          </a:xfrm>
          <a:prstGeom prst="roundRect">
            <a:avLst>
              <a:gd name="adj" fmla="val 6452"/>
            </a:avLst>
          </a:prstGeom>
          <a:solidFill>
            <a:srgbClr val="5B2C91"/>
          </a:solidFill>
          <a:ln w="12700">
            <a:solidFill>
              <a:srgbClr val="5B2C91"/>
            </a:solidFill>
            <a:prstDash val="solid"/>
          </a:ln>
        </p:spPr>
        <p:txBody>
          <a:bodyPr/>
          <a:lstStyle/>
          <a:p>
            <a:endParaRPr lang="en-GB"/>
          </a:p>
        </p:txBody>
      </p:sp>
      <p:sp>
        <p:nvSpPr>
          <p:cNvPr id="21" name="Text 18"/>
          <p:cNvSpPr/>
          <p:nvPr/>
        </p:nvSpPr>
        <p:spPr>
          <a:xfrm>
            <a:off x="1737360" y="5074920"/>
            <a:ext cx="8714232" cy="1143000"/>
          </a:xfrm>
          <a:prstGeom prst="rect">
            <a:avLst/>
          </a:prstGeom>
          <a:noFill/>
          <a:ln/>
        </p:spPr>
        <p:txBody>
          <a:bodyPr wrap="square" rtlCol="0" anchor="ctr"/>
          <a:lstStyle/>
          <a:p>
            <a:pPr marL="0" indent="0" algn="ctr">
              <a:spcAft>
                <a:spcPts val="600"/>
              </a:spcAft>
              <a:buNone/>
            </a:pPr>
            <a:r>
              <a:rPr lang="en-US" sz="1650" b="1" dirty="0">
                <a:solidFill>
                  <a:srgbClr val="FFFFFF"/>
                </a:solidFill>
                <a:latin typeface="Arial" pitchFamily="34" charset="0"/>
                <a:ea typeface="Arial" pitchFamily="34" charset="-122"/>
                <a:cs typeface="Arial" pitchFamily="34" charset="-120"/>
              </a:rPr>
              <a:t>Total Idle Time = 1.0 + 0 + 0.8 = 1.8 minutes per cycle</a:t>
            </a:r>
            <a:endParaRPr lang="en-US" sz="1650" dirty="0"/>
          </a:p>
          <a:p>
            <a:pPr marL="0" indent="0" algn="ctr">
              <a:buNone/>
            </a:pPr>
            <a:r>
              <a:rPr lang="en-US" sz="1650" b="1" dirty="0">
                <a:solidFill>
                  <a:srgbClr val="FFFFFF"/>
                </a:solidFill>
                <a:latin typeface="Arial" pitchFamily="34" charset="0"/>
                <a:ea typeface="Arial" pitchFamily="34" charset="-122"/>
                <a:cs typeface="Arial" pitchFamily="34" charset="-120"/>
              </a:rPr>
              <a:t>Balancing Loss = 1.8 ÷ (3.0 × 3) = 1.8 ÷ 9.0 = 0.20 = 20%</a:t>
            </a:r>
            <a:endParaRPr lang="en-US" sz="1650" dirty="0"/>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Hamburger" descr="Hamburger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ckground 3"/>
          <p:cNvSpPr/>
          <p:nvPr/>
        </p:nvSpPr>
        <p:spPr>
          <a:xfrm>
            <a:off x="0" y="0"/>
            <a:ext cx="12191695" cy="6858000"/>
          </a:xfrm>
          <a:prstGeom prst="rect">
            <a:avLst/>
          </a:prstGeom>
          <a:solidFill>
            <a:srgbClr val="F8F4FC"/>
          </a:solidFill>
          <a:ln>
            <a:noFill/>
          </a:ln>
        </p:spPr>
        <p:txBody>
          <a:bodyPr wrap="square" lIns="73152" tIns="45720" rIns="73152" bIns="45720" rtlCol="0" anchor="t">
            <a:normAutofit/>
          </a:bodyPr>
          <a:lstStyle/>
          <a:p>
            <a:endParaRPr lang="en-GB" sz="1000"/>
          </a:p>
        </p:txBody>
      </p:sp>
      <p:sp>
        <p:nvSpPr>
          <p:cNvPr id="4" name="Title 4"/>
          <p:cNvSpPr/>
          <p:nvPr/>
        </p:nvSpPr>
        <p:spPr>
          <a:xfrm>
            <a:off x="1143000" y="274320"/>
            <a:ext cx="8092440" cy="6400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2600" b="1" dirty="0">
                <a:solidFill>
                  <a:srgbClr val="5B2C91"/>
                </a:solidFill>
                <a:latin typeface="Arial"/>
                <a:cs typeface="Arial"/>
              </a:rPr>
              <a:t>Activity 1: Balance the Sandwich Line</a:t>
            </a:r>
          </a:p>
        </p:txBody>
      </p:sp>
      <p:cxnSp>
        <p:nvCxnSpPr>
          <p:cNvPr id="5" name="Line 5"/>
          <p:cNvCxnSpPr/>
          <p:nvPr/>
        </p:nvCxnSpPr>
        <p:spPr>
          <a:xfrm>
            <a:off x="457200" y="960120"/>
            <a:ext cx="11274552" cy="0"/>
          </a:xfrm>
          <a:prstGeom prst="line">
            <a:avLst/>
          </a:prstGeom>
          <a:ln w="15875">
            <a:solidFill>
              <a:srgbClr val="5B2C91"/>
            </a:solidFill>
          </a:ln>
        </p:spPr>
      </p:cxnSp>
      <p:sp>
        <p:nvSpPr>
          <p:cNvPr id="6" name="Box 6"/>
          <p:cNvSpPr/>
          <p:nvPr/>
        </p:nvSpPr>
        <p:spPr>
          <a:xfrm>
            <a:off x="9372600" y="329184"/>
            <a:ext cx="2359152" cy="512064"/>
          </a:xfrm>
          <a:prstGeom prst="roundRect">
            <a:avLst>
              <a:gd name="adj" fmla="val 40000"/>
            </a:avLst>
          </a:prstGeom>
          <a:solidFill>
            <a:srgbClr val="5B2C91"/>
          </a:solidFill>
          <a:ln>
            <a:noFill/>
          </a:ln>
        </p:spPr>
        <p:txBody>
          <a:bodyPr wrap="square" lIns="45720" tIns="0" rIns="45720" bIns="0" rtlCol="0" anchor="ctr">
            <a:normAutofit fontScale="92500" lnSpcReduction="10000"/>
          </a:bodyPr>
          <a:lstStyle/>
          <a:p>
            <a:pPr marL="0" indent="0" algn="ctr">
              <a:spcBef>
                <a:spcPts val="0"/>
              </a:spcBef>
              <a:spcAft>
                <a:spcPts val="0"/>
              </a:spcAft>
              <a:buNone/>
            </a:pPr>
            <a:r>
              <a:rPr lang="en-GB" sz="1450" b="1" dirty="0">
                <a:solidFill>
                  <a:srgbClr val="FFFFFF"/>
                </a:solidFill>
                <a:latin typeface="Arial"/>
                <a:cs typeface="Arial"/>
              </a:rPr>
              <a:t>8 MIN · INDIVIDUAL, THEN PAIRS</a:t>
            </a:r>
          </a:p>
        </p:txBody>
      </p:sp>
      <p:sp>
        <p:nvSpPr>
          <p:cNvPr id="7" name="Box 7"/>
          <p:cNvSpPr/>
          <p:nvPr/>
        </p:nvSpPr>
        <p:spPr>
          <a:xfrm>
            <a:off x="457200" y="1097280"/>
            <a:ext cx="7315200" cy="45720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50" b="1" dirty="0">
                <a:solidFill>
                  <a:srgbClr val="5B2C91"/>
                </a:solidFill>
                <a:latin typeface="Arial"/>
                <a:cs typeface="Arial"/>
              </a:rPr>
              <a:t>A sandwich bar has four stages (minutes per sandwich):</a:t>
            </a:r>
          </a:p>
        </p:txBody>
      </p:sp>
      <p:sp>
        <p:nvSpPr>
          <p:cNvPr id="8" name="Box 8"/>
          <p:cNvSpPr/>
          <p:nvPr/>
        </p:nvSpPr>
        <p:spPr>
          <a:xfrm>
            <a:off x="548640" y="1691640"/>
            <a:ext cx="1463040" cy="914400"/>
          </a:xfrm>
          <a:prstGeom prst="roundRect">
            <a:avLst>
              <a:gd name="adj" fmla="val 12000"/>
            </a:avLst>
          </a:prstGeom>
          <a:solidFill>
            <a:srgbClr val="FFFFFF"/>
          </a:solidFill>
          <a:ln w="15875">
            <a:solidFill>
              <a:srgbClr val="5B2C91"/>
            </a:solidFill>
          </a:ln>
        </p:spPr>
        <p:txBody>
          <a:bodyPr wrap="square" lIns="36576" tIns="18288" rIns="36576" bIns="18288" rtlCol="0" anchor="ctr">
            <a:normAutofit/>
          </a:bodyPr>
          <a:lstStyle/>
          <a:p>
            <a:pPr marL="0" indent="0" algn="ctr">
              <a:spcBef>
                <a:spcPts val="0"/>
              </a:spcBef>
              <a:spcAft>
                <a:spcPts val="200"/>
              </a:spcAft>
              <a:buNone/>
            </a:pPr>
            <a:r>
              <a:rPr lang="en-GB" sz="1300" b="1" dirty="0">
                <a:solidFill>
                  <a:srgbClr val="5B2C91"/>
                </a:solidFill>
                <a:latin typeface="Arial"/>
                <a:cs typeface="Arial"/>
              </a:rPr>
              <a:t>Bread &amp; spread</a:t>
            </a:r>
          </a:p>
          <a:p>
            <a:pPr marL="0" indent="0" algn="ctr">
              <a:spcBef>
                <a:spcPts val="0"/>
              </a:spcBef>
              <a:spcAft>
                <a:spcPts val="0"/>
              </a:spcAft>
              <a:buNone/>
            </a:pPr>
            <a:r>
              <a:rPr lang="en-GB" sz="1600" b="1" dirty="0">
                <a:solidFill>
                  <a:srgbClr val="1A1A1A"/>
                </a:solidFill>
                <a:latin typeface="Arial"/>
                <a:cs typeface="Arial"/>
              </a:rPr>
              <a:t>1.5 min</a:t>
            </a:r>
          </a:p>
        </p:txBody>
      </p:sp>
      <p:cxnSp>
        <p:nvCxnSpPr>
          <p:cNvPr id="9" name="Arrow 9"/>
          <p:cNvCxnSpPr/>
          <p:nvPr/>
        </p:nvCxnSpPr>
        <p:spPr>
          <a:xfrm>
            <a:off x="2048256" y="2148840"/>
            <a:ext cx="310896" cy="0"/>
          </a:xfrm>
          <a:prstGeom prst="straightConnector1">
            <a:avLst/>
          </a:prstGeom>
          <a:ln w="19050">
            <a:solidFill>
              <a:srgbClr val="5B2C91"/>
            </a:solidFill>
            <a:tailEnd type="triangle"/>
          </a:ln>
        </p:spPr>
      </p:cxnSp>
      <p:sp>
        <p:nvSpPr>
          <p:cNvPr id="10" name="Box 10"/>
          <p:cNvSpPr/>
          <p:nvPr/>
        </p:nvSpPr>
        <p:spPr>
          <a:xfrm>
            <a:off x="2395728" y="1691640"/>
            <a:ext cx="1463040" cy="914400"/>
          </a:xfrm>
          <a:prstGeom prst="roundRect">
            <a:avLst>
              <a:gd name="adj" fmla="val 12000"/>
            </a:avLst>
          </a:prstGeom>
          <a:solidFill>
            <a:srgbClr val="FFFFFF"/>
          </a:solidFill>
          <a:ln w="15875">
            <a:solidFill>
              <a:srgbClr val="5B2C91"/>
            </a:solidFill>
          </a:ln>
        </p:spPr>
        <p:txBody>
          <a:bodyPr wrap="square" lIns="36576" tIns="18288" rIns="36576" bIns="18288" rtlCol="0" anchor="ctr">
            <a:normAutofit/>
          </a:bodyPr>
          <a:lstStyle/>
          <a:p>
            <a:pPr marL="0" indent="0" algn="ctr">
              <a:spcBef>
                <a:spcPts val="0"/>
              </a:spcBef>
              <a:spcAft>
                <a:spcPts val="200"/>
              </a:spcAft>
              <a:buNone/>
            </a:pPr>
            <a:r>
              <a:rPr lang="en-GB" sz="1300" b="1" dirty="0">
                <a:solidFill>
                  <a:srgbClr val="5B2C91"/>
                </a:solidFill>
                <a:latin typeface="Arial"/>
                <a:cs typeface="Arial"/>
              </a:rPr>
              <a:t>Fill</a:t>
            </a:r>
          </a:p>
          <a:p>
            <a:pPr marL="0" indent="0" algn="ctr">
              <a:spcBef>
                <a:spcPts val="0"/>
              </a:spcBef>
              <a:spcAft>
                <a:spcPts val="0"/>
              </a:spcAft>
              <a:buNone/>
            </a:pPr>
            <a:r>
              <a:rPr lang="en-GB" sz="1600" b="1" dirty="0">
                <a:solidFill>
                  <a:srgbClr val="1A1A1A"/>
                </a:solidFill>
                <a:latin typeface="Arial"/>
                <a:cs typeface="Arial"/>
              </a:rPr>
              <a:t>2.5 min</a:t>
            </a:r>
          </a:p>
        </p:txBody>
      </p:sp>
      <p:cxnSp>
        <p:nvCxnSpPr>
          <p:cNvPr id="11" name="Arrow 11"/>
          <p:cNvCxnSpPr/>
          <p:nvPr/>
        </p:nvCxnSpPr>
        <p:spPr>
          <a:xfrm>
            <a:off x="3895344" y="2148840"/>
            <a:ext cx="310896" cy="0"/>
          </a:xfrm>
          <a:prstGeom prst="straightConnector1">
            <a:avLst/>
          </a:prstGeom>
          <a:ln w="19050">
            <a:solidFill>
              <a:srgbClr val="5B2C91"/>
            </a:solidFill>
            <a:tailEnd type="triangle"/>
          </a:ln>
        </p:spPr>
      </p:cxnSp>
      <p:sp>
        <p:nvSpPr>
          <p:cNvPr id="12" name="Box 12"/>
          <p:cNvSpPr/>
          <p:nvPr/>
        </p:nvSpPr>
        <p:spPr>
          <a:xfrm>
            <a:off x="4242816" y="1691640"/>
            <a:ext cx="1463040" cy="914400"/>
          </a:xfrm>
          <a:prstGeom prst="roundRect">
            <a:avLst>
              <a:gd name="adj" fmla="val 12000"/>
            </a:avLst>
          </a:prstGeom>
          <a:solidFill>
            <a:srgbClr val="FFFFFF"/>
          </a:solidFill>
          <a:ln w="15875">
            <a:solidFill>
              <a:srgbClr val="5B2C91"/>
            </a:solidFill>
          </a:ln>
        </p:spPr>
        <p:txBody>
          <a:bodyPr wrap="square" lIns="36576" tIns="18288" rIns="36576" bIns="18288" rtlCol="0" anchor="ctr">
            <a:normAutofit/>
          </a:bodyPr>
          <a:lstStyle/>
          <a:p>
            <a:pPr marL="0" indent="0" algn="ctr">
              <a:spcBef>
                <a:spcPts val="0"/>
              </a:spcBef>
              <a:spcAft>
                <a:spcPts val="200"/>
              </a:spcAft>
              <a:buNone/>
            </a:pPr>
            <a:r>
              <a:rPr lang="en-GB" sz="1300" b="1" dirty="0">
                <a:solidFill>
                  <a:srgbClr val="5B2C91"/>
                </a:solidFill>
                <a:latin typeface="Arial"/>
                <a:cs typeface="Arial"/>
              </a:rPr>
              <a:t>Wrap</a:t>
            </a:r>
          </a:p>
          <a:p>
            <a:pPr marL="0" indent="0" algn="ctr">
              <a:spcBef>
                <a:spcPts val="0"/>
              </a:spcBef>
              <a:spcAft>
                <a:spcPts val="0"/>
              </a:spcAft>
              <a:buNone/>
            </a:pPr>
            <a:r>
              <a:rPr lang="en-GB" sz="1600" b="1" dirty="0">
                <a:solidFill>
                  <a:srgbClr val="1A1A1A"/>
                </a:solidFill>
                <a:latin typeface="Arial"/>
                <a:cs typeface="Arial"/>
              </a:rPr>
              <a:t>2.0 min</a:t>
            </a:r>
          </a:p>
        </p:txBody>
      </p:sp>
      <p:cxnSp>
        <p:nvCxnSpPr>
          <p:cNvPr id="13" name="Arrow 13"/>
          <p:cNvCxnSpPr/>
          <p:nvPr/>
        </p:nvCxnSpPr>
        <p:spPr>
          <a:xfrm>
            <a:off x="5742432" y="2148840"/>
            <a:ext cx="310896" cy="0"/>
          </a:xfrm>
          <a:prstGeom prst="straightConnector1">
            <a:avLst/>
          </a:prstGeom>
          <a:ln w="19050">
            <a:solidFill>
              <a:srgbClr val="5B2C91"/>
            </a:solidFill>
            <a:tailEnd type="triangle"/>
          </a:ln>
        </p:spPr>
      </p:cxnSp>
      <p:sp>
        <p:nvSpPr>
          <p:cNvPr id="14" name="Box 14"/>
          <p:cNvSpPr/>
          <p:nvPr/>
        </p:nvSpPr>
        <p:spPr>
          <a:xfrm>
            <a:off x="6089904" y="1691640"/>
            <a:ext cx="1463040" cy="914400"/>
          </a:xfrm>
          <a:prstGeom prst="roundRect">
            <a:avLst>
              <a:gd name="adj" fmla="val 12000"/>
            </a:avLst>
          </a:prstGeom>
          <a:solidFill>
            <a:srgbClr val="FFFFFF"/>
          </a:solidFill>
          <a:ln w="15875">
            <a:solidFill>
              <a:srgbClr val="5B2C91"/>
            </a:solidFill>
          </a:ln>
        </p:spPr>
        <p:txBody>
          <a:bodyPr wrap="square" lIns="36576" tIns="18288" rIns="36576" bIns="18288" rtlCol="0" anchor="ctr">
            <a:normAutofit/>
          </a:bodyPr>
          <a:lstStyle/>
          <a:p>
            <a:pPr marL="0" indent="0" algn="ctr">
              <a:spcBef>
                <a:spcPts val="0"/>
              </a:spcBef>
              <a:spcAft>
                <a:spcPts val="200"/>
              </a:spcAft>
              <a:buNone/>
            </a:pPr>
            <a:r>
              <a:rPr lang="en-GB" sz="1300" b="1" dirty="0">
                <a:solidFill>
                  <a:srgbClr val="5B2C91"/>
                </a:solidFill>
                <a:latin typeface="Arial"/>
                <a:cs typeface="Arial"/>
              </a:rPr>
              <a:t>Pay</a:t>
            </a:r>
          </a:p>
          <a:p>
            <a:pPr marL="0" indent="0" algn="ctr">
              <a:spcBef>
                <a:spcPts val="0"/>
              </a:spcBef>
              <a:spcAft>
                <a:spcPts val="0"/>
              </a:spcAft>
              <a:buNone/>
            </a:pPr>
            <a:r>
              <a:rPr lang="en-GB" sz="1600" b="1" dirty="0">
                <a:solidFill>
                  <a:srgbClr val="1A1A1A"/>
                </a:solidFill>
                <a:latin typeface="Arial"/>
                <a:cs typeface="Arial"/>
              </a:rPr>
              <a:t>2.2 min</a:t>
            </a:r>
          </a:p>
        </p:txBody>
      </p:sp>
      <p:sp>
        <p:nvSpPr>
          <p:cNvPr id="15" name="Box 15"/>
          <p:cNvSpPr/>
          <p:nvPr/>
        </p:nvSpPr>
        <p:spPr>
          <a:xfrm>
            <a:off x="8001000" y="1143000"/>
            <a:ext cx="3730752" cy="1508760"/>
          </a:xfrm>
          <a:prstGeom prst="roundRect">
            <a:avLst>
              <a:gd name="adj" fmla="val 8000"/>
            </a:avLst>
          </a:prstGeom>
          <a:solidFill>
            <a:srgbClr val="EBE1F5"/>
          </a:solidFill>
          <a:ln w="12700">
            <a:solidFill>
              <a:srgbClr val="5B2C91"/>
            </a:solidFill>
          </a:ln>
        </p:spPr>
        <p:txBody>
          <a:bodyPr wrap="square" lIns="182880" tIns="45720" rIns="137160" bIns="45720" rtlCol="0" anchor="ctr">
            <a:normAutofit/>
          </a:bodyPr>
          <a:lstStyle/>
          <a:p>
            <a:pPr marL="0" indent="0" algn="l">
              <a:spcBef>
                <a:spcPts val="0"/>
              </a:spcBef>
              <a:spcAft>
                <a:spcPts val="200"/>
              </a:spcAft>
              <a:buNone/>
            </a:pPr>
            <a:r>
              <a:rPr lang="en-GB" sz="1450" b="1" dirty="0">
                <a:solidFill>
                  <a:srgbClr val="5B2C91"/>
                </a:solidFill>
                <a:latin typeface="Arial"/>
                <a:cs typeface="Arial"/>
              </a:rPr>
              <a:t>Remember</a:t>
            </a:r>
          </a:p>
          <a:p>
            <a:pPr marL="0" indent="0" algn="l">
              <a:spcBef>
                <a:spcPts val="0"/>
              </a:spcBef>
              <a:spcAft>
                <a:spcPts val="100"/>
              </a:spcAft>
              <a:buNone/>
            </a:pPr>
            <a:r>
              <a:rPr lang="en-GB" sz="1400" dirty="0">
                <a:solidFill>
                  <a:srgbClr val="1A1A1A"/>
                </a:solidFill>
                <a:latin typeface="Arial"/>
                <a:cs typeface="Arial"/>
              </a:rPr>
              <a:t>Idle time = cycle time − stage time</a:t>
            </a:r>
          </a:p>
          <a:p>
            <a:pPr marL="0" indent="0" algn="l">
              <a:spcBef>
                <a:spcPts val="0"/>
              </a:spcBef>
              <a:spcAft>
                <a:spcPts val="100"/>
              </a:spcAft>
              <a:buNone/>
            </a:pPr>
            <a:r>
              <a:rPr lang="en-GB" sz="1400" dirty="0">
                <a:solidFill>
                  <a:srgbClr val="1A1A1A"/>
                </a:solidFill>
                <a:latin typeface="Arial"/>
                <a:cs typeface="Arial"/>
              </a:rPr>
              <a:t>Balancing loss = total idle ÷ (cycle time × stages)</a:t>
            </a:r>
          </a:p>
          <a:p>
            <a:pPr marL="0" indent="0" algn="l">
              <a:spcBef>
                <a:spcPts val="0"/>
              </a:spcBef>
              <a:spcAft>
                <a:spcPts val="0"/>
              </a:spcAft>
              <a:buNone/>
            </a:pPr>
            <a:r>
              <a:rPr lang="en-GB" sz="1400" dirty="0">
                <a:solidFill>
                  <a:srgbClr val="1A1A1A"/>
                </a:solidFill>
                <a:latin typeface="Arial"/>
                <a:cs typeface="Arial"/>
              </a:rPr>
              <a:t>Output per hour = 60 ÷ cycle time</a:t>
            </a:r>
          </a:p>
        </p:txBody>
      </p:sp>
      <p:sp>
        <p:nvSpPr>
          <p:cNvPr id="16" name="Box 16"/>
          <p:cNvSpPr/>
          <p:nvPr/>
        </p:nvSpPr>
        <p:spPr>
          <a:xfrm>
            <a:off x="457200" y="2953512"/>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1</a:t>
            </a:r>
          </a:p>
        </p:txBody>
      </p:sp>
      <p:sp>
        <p:nvSpPr>
          <p:cNvPr id="17" name="Box 17"/>
          <p:cNvSpPr/>
          <p:nvPr/>
        </p:nvSpPr>
        <p:spPr>
          <a:xfrm>
            <a:off x="1051560" y="2880360"/>
            <a:ext cx="10680192" cy="603504"/>
          </a:xfrm>
          <a:prstGeom prst="rect">
            <a:avLst/>
          </a:prstGeom>
          <a:solidFill>
            <a:srgbClr val="FFFFFF"/>
          </a:solidFill>
          <a:ln w="12700">
            <a:solidFill>
              <a:srgbClr val="C9B8E0"/>
            </a:solidFill>
          </a:ln>
        </p:spPr>
        <p:txBody>
          <a:bodyPr wrap="square" lIns="137160" tIns="27432" rIns="91440" bIns="27432" rtlCol="0" anchor="ctr">
            <a:normAutofit/>
          </a:bodyPr>
          <a:lstStyle/>
          <a:p>
            <a:pPr marL="0" indent="0" algn="l">
              <a:spcBef>
                <a:spcPts val="0"/>
              </a:spcBef>
              <a:spcAft>
                <a:spcPts val="0"/>
              </a:spcAft>
              <a:buNone/>
            </a:pPr>
            <a:r>
              <a:rPr lang="en-GB" sz="1600" dirty="0">
                <a:solidFill>
                  <a:srgbClr val="1A1A1A"/>
                </a:solidFill>
                <a:latin typeface="Arial"/>
                <a:cs typeface="Arial"/>
              </a:rPr>
              <a:t>What is the cycle time? Which stage is the bottleneck?</a:t>
            </a:r>
          </a:p>
        </p:txBody>
      </p:sp>
      <p:sp>
        <p:nvSpPr>
          <p:cNvPr id="18" name="Box 18"/>
          <p:cNvSpPr/>
          <p:nvPr/>
        </p:nvSpPr>
        <p:spPr>
          <a:xfrm>
            <a:off x="457200" y="3685032"/>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2</a:t>
            </a:r>
          </a:p>
        </p:txBody>
      </p:sp>
      <p:sp>
        <p:nvSpPr>
          <p:cNvPr id="19" name="Box 19"/>
          <p:cNvSpPr/>
          <p:nvPr/>
        </p:nvSpPr>
        <p:spPr>
          <a:xfrm>
            <a:off x="1051560" y="3611880"/>
            <a:ext cx="10680192" cy="603504"/>
          </a:xfrm>
          <a:prstGeom prst="rect">
            <a:avLst/>
          </a:prstGeom>
          <a:solidFill>
            <a:srgbClr val="FFFFFF"/>
          </a:solidFill>
          <a:ln w="12700">
            <a:solidFill>
              <a:srgbClr val="C9B8E0"/>
            </a:solidFill>
          </a:ln>
        </p:spPr>
        <p:txBody>
          <a:bodyPr wrap="square" lIns="137160" tIns="27432" rIns="91440" bIns="27432" rtlCol="0" anchor="ctr">
            <a:normAutofit/>
          </a:bodyPr>
          <a:lstStyle/>
          <a:p>
            <a:pPr marL="0" indent="0" algn="l">
              <a:spcBef>
                <a:spcPts val="0"/>
              </a:spcBef>
              <a:spcAft>
                <a:spcPts val="0"/>
              </a:spcAft>
              <a:buNone/>
            </a:pPr>
            <a:r>
              <a:rPr lang="en-GB" sz="1600" dirty="0">
                <a:solidFill>
                  <a:srgbClr val="1A1A1A"/>
                </a:solidFill>
                <a:latin typeface="Arial"/>
                <a:cs typeface="Arial"/>
              </a:rPr>
              <a:t>Calculate the idle time at each stage, and the total.</a:t>
            </a:r>
          </a:p>
        </p:txBody>
      </p:sp>
      <p:sp>
        <p:nvSpPr>
          <p:cNvPr id="20" name="Box 20"/>
          <p:cNvSpPr/>
          <p:nvPr/>
        </p:nvSpPr>
        <p:spPr>
          <a:xfrm>
            <a:off x="457200" y="4416552"/>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3</a:t>
            </a:r>
          </a:p>
        </p:txBody>
      </p:sp>
      <p:sp>
        <p:nvSpPr>
          <p:cNvPr id="21" name="Box 21"/>
          <p:cNvSpPr/>
          <p:nvPr/>
        </p:nvSpPr>
        <p:spPr>
          <a:xfrm>
            <a:off x="1051560" y="4343400"/>
            <a:ext cx="10680192" cy="603504"/>
          </a:xfrm>
          <a:prstGeom prst="rect">
            <a:avLst/>
          </a:prstGeom>
          <a:solidFill>
            <a:srgbClr val="FFFFFF"/>
          </a:solidFill>
          <a:ln w="12700">
            <a:solidFill>
              <a:srgbClr val="C9B8E0"/>
            </a:solidFill>
          </a:ln>
        </p:spPr>
        <p:txBody>
          <a:bodyPr wrap="square" lIns="137160" tIns="27432" rIns="91440" bIns="27432" rtlCol="0" anchor="ctr">
            <a:normAutofit/>
          </a:bodyPr>
          <a:lstStyle/>
          <a:p>
            <a:pPr marL="0" indent="0" algn="l">
              <a:spcBef>
                <a:spcPts val="0"/>
              </a:spcBef>
              <a:spcAft>
                <a:spcPts val="0"/>
              </a:spcAft>
              <a:buNone/>
            </a:pPr>
            <a:r>
              <a:rPr lang="en-GB" sz="1600" dirty="0">
                <a:solidFill>
                  <a:srgbClr val="1A1A1A"/>
                </a:solidFill>
                <a:latin typeface="Arial"/>
                <a:cs typeface="Arial"/>
              </a:rPr>
              <a:t>Calculate the balancing loss and the output per hour.</a:t>
            </a:r>
          </a:p>
        </p:txBody>
      </p:sp>
      <p:sp>
        <p:nvSpPr>
          <p:cNvPr id="22" name="Box 22"/>
          <p:cNvSpPr/>
          <p:nvPr/>
        </p:nvSpPr>
        <p:spPr>
          <a:xfrm>
            <a:off x="457200" y="5148072"/>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4</a:t>
            </a:r>
          </a:p>
        </p:txBody>
      </p:sp>
      <p:sp>
        <p:nvSpPr>
          <p:cNvPr id="23" name="Box 23"/>
          <p:cNvSpPr/>
          <p:nvPr/>
        </p:nvSpPr>
        <p:spPr>
          <a:xfrm>
            <a:off x="1051560" y="5074920"/>
            <a:ext cx="10680192" cy="603504"/>
          </a:xfrm>
          <a:prstGeom prst="rect">
            <a:avLst/>
          </a:prstGeom>
          <a:solidFill>
            <a:srgbClr val="FFFFFF"/>
          </a:solidFill>
          <a:ln w="12700">
            <a:solidFill>
              <a:srgbClr val="C9B8E0"/>
            </a:solidFill>
          </a:ln>
        </p:spPr>
        <p:txBody>
          <a:bodyPr wrap="square" lIns="137160" tIns="27432" rIns="91440" bIns="27432" rtlCol="0" anchor="ctr">
            <a:normAutofit/>
          </a:bodyPr>
          <a:lstStyle/>
          <a:p>
            <a:pPr marL="0" indent="0" algn="l">
              <a:spcBef>
                <a:spcPts val="0"/>
              </a:spcBef>
              <a:spcAft>
                <a:spcPts val="0"/>
              </a:spcAft>
              <a:buNone/>
            </a:pPr>
            <a:r>
              <a:rPr lang="en-GB" sz="1600" dirty="0">
                <a:solidFill>
                  <a:srgbClr val="1A1A1A"/>
                </a:solidFill>
                <a:latin typeface="Arial"/>
                <a:cs typeface="Arial"/>
              </a:rPr>
              <a:t>Move 0.3 min of work from “Fill” to “Bread &amp; spread”. Recalculate cycle time, balancing loss and output.</a:t>
            </a:r>
          </a:p>
        </p:txBody>
      </p:sp>
      <p:sp>
        <p:nvSpPr>
          <p:cNvPr id="24" name="Page 24"/>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24</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readSlice" descr="BreadSlice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1143000" y="274320"/>
            <a:ext cx="8092440" cy="6400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2600" dirty="0">
                <a:solidFill>
                  <a:srgbClr val="5B2C91"/>
                </a:solidFill>
                <a:latin typeface="Arial"/>
                <a:cs typeface="Arial"/>
              </a:rPr>
              <a:t>Answers: Balance the Sandwich Line</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29184"/>
            <a:ext cx="2359152" cy="512064"/>
          </a:xfrm>
          <a:prstGeom prst="roundRect">
            <a:avLst>
              <a:gd name="adj" fmla="val 40000"/>
            </a:avLst>
          </a:prstGeom>
          <a:solidFill>
            <a:srgbClr val="EBE1F5"/>
          </a:solidFill>
          <a:ln w="12700">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ACTIVITY 1 ANSWERS</a:t>
            </a:r>
          </a:p>
        </p:txBody>
      </p:sp>
      <p:sp>
        <p:nvSpPr>
          <p:cNvPr id="6" name="Box 6"/>
          <p:cNvSpPr/>
          <p:nvPr/>
        </p:nvSpPr>
        <p:spPr>
          <a:xfrm>
            <a:off x="457200" y="1097280"/>
            <a:ext cx="5486400"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00" b="1" dirty="0">
                <a:solidFill>
                  <a:srgbClr val="5B2C91"/>
                </a:solidFill>
                <a:latin typeface="Arial"/>
                <a:cs typeface="Arial"/>
              </a:rPr>
              <a:t>Before: cycle time 2.5 min (Fill is the bottleneck)</a:t>
            </a:r>
          </a:p>
        </p:txBody>
      </p:sp>
      <p:graphicFrame>
        <p:nvGraphicFramePr>
          <p:cNvPr id="7" name="Table 7"/>
          <p:cNvGraphicFramePr>
            <a:graphicFrameLocks noGrp="1"/>
          </p:cNvGraphicFramePr>
          <p:nvPr/>
        </p:nvGraphicFramePr>
        <p:xfrm>
          <a:off x="457200" y="1600200"/>
          <a:ext cx="5486400" cy="246888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spcBef>
                          <a:spcPts val="0"/>
                        </a:spcBef>
                        <a:spcAft>
                          <a:spcPts val="0"/>
                        </a:spcAft>
                        <a:buNone/>
                      </a:pPr>
                      <a:r>
                        <a:rPr lang="en-GB" sz="1450" b="1" dirty="0">
                          <a:solidFill>
                            <a:srgbClr val="FFFFFF"/>
                          </a:solidFill>
                          <a:latin typeface="Arial"/>
                          <a:cs typeface="Arial"/>
                        </a:rPr>
                        <a:t>Stage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Time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Idle</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411480">
                <a:tc>
                  <a:txBody>
                    <a:bodyPr/>
                    <a:lstStyle/>
                    <a:p>
                      <a:pPr marL="0" indent="0" algn="l">
                        <a:spcBef>
                          <a:spcPts val="0"/>
                        </a:spcBef>
                        <a:spcAft>
                          <a:spcPts val="0"/>
                        </a:spcAft>
                        <a:buNone/>
                      </a:pPr>
                      <a:r>
                        <a:rPr lang="en-GB" sz="1450" dirty="0">
                          <a:solidFill>
                            <a:srgbClr val="1A1A1A"/>
                          </a:solidFill>
                          <a:latin typeface="Arial"/>
                          <a:cs typeface="Arial"/>
                        </a:rPr>
                        <a:t>Bread &amp; spread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1.5</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1.0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411480">
                <a:tc>
                  <a:txBody>
                    <a:bodyPr/>
                    <a:lstStyle/>
                    <a:p>
                      <a:pPr marL="0" indent="0" algn="l">
                        <a:spcBef>
                          <a:spcPts val="0"/>
                        </a:spcBef>
                        <a:spcAft>
                          <a:spcPts val="0"/>
                        </a:spcAft>
                        <a:buNone/>
                      </a:pPr>
                      <a:r>
                        <a:rPr lang="en-GB" sz="1450" dirty="0">
                          <a:solidFill>
                            <a:srgbClr val="1A1A1A"/>
                          </a:solidFill>
                          <a:latin typeface="Arial"/>
                          <a:cs typeface="Arial"/>
                        </a:rPr>
                        <a:t>Fill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2.5</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411480">
                <a:tc>
                  <a:txBody>
                    <a:bodyPr/>
                    <a:lstStyle/>
                    <a:p>
                      <a:pPr marL="0" indent="0" algn="l">
                        <a:spcBef>
                          <a:spcPts val="0"/>
                        </a:spcBef>
                        <a:spcAft>
                          <a:spcPts val="0"/>
                        </a:spcAft>
                        <a:buNone/>
                      </a:pPr>
                      <a:r>
                        <a:rPr lang="en-GB" sz="1450" dirty="0">
                          <a:solidFill>
                            <a:srgbClr val="1A1A1A"/>
                          </a:solidFill>
                          <a:latin typeface="Arial"/>
                          <a:cs typeface="Arial"/>
                        </a:rPr>
                        <a:t>Wrap</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2.0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0.5</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411480">
                <a:tc>
                  <a:txBody>
                    <a:bodyPr/>
                    <a:lstStyle/>
                    <a:p>
                      <a:pPr marL="0" indent="0" algn="l">
                        <a:spcBef>
                          <a:spcPts val="0"/>
                        </a:spcBef>
                        <a:spcAft>
                          <a:spcPts val="0"/>
                        </a:spcAft>
                        <a:buNone/>
                      </a:pPr>
                      <a:r>
                        <a:rPr lang="en-GB" sz="1450" dirty="0">
                          <a:solidFill>
                            <a:srgbClr val="1A1A1A"/>
                          </a:solidFill>
                          <a:latin typeface="Arial"/>
                          <a:cs typeface="Arial"/>
                        </a:rPr>
                        <a:t>Pay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2.2</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0.3</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411480">
                <a:tc>
                  <a:txBody>
                    <a:bodyPr/>
                    <a:lstStyle/>
                    <a:p>
                      <a:pPr marL="0" indent="0" algn="l">
                        <a:spcBef>
                          <a:spcPts val="0"/>
                        </a:spcBef>
                        <a:spcAft>
                          <a:spcPts val="0"/>
                        </a:spcAft>
                        <a:buNone/>
                      </a:pPr>
                      <a:r>
                        <a:rPr lang="en-GB" sz="1450" b="1" dirty="0">
                          <a:solidFill>
                            <a:srgbClr val="5B2C91"/>
                          </a:solidFill>
                          <a:latin typeface="Arial"/>
                          <a:cs typeface="Arial"/>
                        </a:rPr>
                        <a:t>Total idle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tc>
                  <a:txBody>
                    <a:bodyPr/>
                    <a:lstStyle/>
                    <a:p>
                      <a:pPr marL="0" indent="0" algn="ctr">
                        <a:spcBef>
                          <a:spcPts val="0"/>
                        </a:spcBef>
                        <a:spcAft>
                          <a:spcPts val="0"/>
                        </a:spcAft>
                        <a:buNone/>
                      </a:pPr>
                      <a:endParaRP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tc>
                  <a:txBody>
                    <a:bodyPr/>
                    <a:lstStyle/>
                    <a:p>
                      <a:pPr marL="0" indent="0" algn="ctr">
                        <a:spcBef>
                          <a:spcPts val="0"/>
                        </a:spcBef>
                        <a:spcAft>
                          <a:spcPts val="0"/>
                        </a:spcAft>
                        <a:buNone/>
                      </a:pPr>
                      <a:r>
                        <a:rPr lang="en-GB" sz="1450" b="1" dirty="0">
                          <a:solidFill>
                            <a:srgbClr val="5B2C91"/>
                          </a:solidFill>
                          <a:latin typeface="Arial"/>
                          <a:cs typeface="Arial"/>
                        </a:rPr>
                        <a:t>1.8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extLst>
                  <a:ext uri="{0D108BD9-81ED-4DB2-BD59-A6C34878D82A}">
                    <a16:rowId xmlns:a16="http://schemas.microsoft.com/office/drawing/2014/main" val="10005"/>
                  </a:ext>
                </a:extLst>
              </a:tr>
            </a:tbl>
          </a:graphicData>
        </a:graphic>
      </p:graphicFrame>
      <p:sp>
        <p:nvSpPr>
          <p:cNvPr id="8" name="Box 8"/>
          <p:cNvSpPr/>
          <p:nvPr/>
        </p:nvSpPr>
        <p:spPr>
          <a:xfrm>
            <a:off x="6245352" y="1097280"/>
            <a:ext cx="5486400"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600" b="1" dirty="0">
                <a:solidFill>
                  <a:srgbClr val="5B2C91"/>
                </a:solidFill>
                <a:latin typeface="Arial"/>
                <a:cs typeface="Arial"/>
              </a:rPr>
              <a:t>After moving 0.3 min: cycle time 2.2 min</a:t>
            </a:r>
          </a:p>
        </p:txBody>
      </p:sp>
      <p:graphicFrame>
        <p:nvGraphicFramePr>
          <p:cNvPr id="9" name="Table 9"/>
          <p:cNvGraphicFramePr>
            <a:graphicFrameLocks noGrp="1"/>
          </p:cNvGraphicFramePr>
          <p:nvPr/>
        </p:nvGraphicFramePr>
        <p:xfrm>
          <a:off x="6245352" y="1600200"/>
          <a:ext cx="5486400" cy="2468880"/>
        </p:xfrm>
        <a:graphic>
          <a:graphicData uri="http://schemas.openxmlformats.org/drawingml/2006/table">
            <a:tbl>
              <a:tblPr firstRow="1" bandRow="1"/>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spcBef>
                          <a:spcPts val="0"/>
                        </a:spcBef>
                        <a:spcAft>
                          <a:spcPts val="0"/>
                        </a:spcAft>
                        <a:buNone/>
                      </a:pPr>
                      <a:r>
                        <a:rPr lang="en-GB" sz="1450" b="1" dirty="0">
                          <a:solidFill>
                            <a:srgbClr val="FFFFFF"/>
                          </a:solidFill>
                          <a:latin typeface="Arial"/>
                          <a:cs typeface="Arial"/>
                        </a:rPr>
                        <a:t>Stage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Time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Idle</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411480">
                <a:tc>
                  <a:txBody>
                    <a:bodyPr/>
                    <a:lstStyle/>
                    <a:p>
                      <a:pPr marL="0" indent="0" algn="l">
                        <a:spcBef>
                          <a:spcPts val="0"/>
                        </a:spcBef>
                        <a:spcAft>
                          <a:spcPts val="0"/>
                        </a:spcAft>
                        <a:buNone/>
                      </a:pPr>
                      <a:r>
                        <a:rPr lang="en-GB" sz="1450" dirty="0">
                          <a:solidFill>
                            <a:srgbClr val="1A1A1A"/>
                          </a:solidFill>
                          <a:latin typeface="Arial"/>
                          <a:cs typeface="Arial"/>
                        </a:rPr>
                        <a:t>Bread &amp; spread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1.8</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0.4</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411480">
                <a:tc>
                  <a:txBody>
                    <a:bodyPr/>
                    <a:lstStyle/>
                    <a:p>
                      <a:pPr marL="0" indent="0" algn="l">
                        <a:spcBef>
                          <a:spcPts val="0"/>
                        </a:spcBef>
                        <a:spcAft>
                          <a:spcPts val="0"/>
                        </a:spcAft>
                        <a:buNone/>
                      </a:pPr>
                      <a:r>
                        <a:rPr lang="en-GB" sz="1450" dirty="0">
                          <a:solidFill>
                            <a:srgbClr val="1A1A1A"/>
                          </a:solidFill>
                          <a:latin typeface="Arial"/>
                          <a:cs typeface="Arial"/>
                        </a:rPr>
                        <a:t>Fill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2.2</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411480">
                <a:tc>
                  <a:txBody>
                    <a:bodyPr/>
                    <a:lstStyle/>
                    <a:p>
                      <a:pPr marL="0" indent="0" algn="l">
                        <a:spcBef>
                          <a:spcPts val="0"/>
                        </a:spcBef>
                        <a:spcAft>
                          <a:spcPts val="0"/>
                        </a:spcAft>
                        <a:buNone/>
                      </a:pPr>
                      <a:r>
                        <a:rPr lang="en-GB" sz="1450" dirty="0">
                          <a:solidFill>
                            <a:srgbClr val="1A1A1A"/>
                          </a:solidFill>
                          <a:latin typeface="Arial"/>
                          <a:cs typeface="Arial"/>
                        </a:rPr>
                        <a:t>Wrap</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2.0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0.2</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411480">
                <a:tc>
                  <a:txBody>
                    <a:bodyPr/>
                    <a:lstStyle/>
                    <a:p>
                      <a:pPr marL="0" indent="0" algn="l">
                        <a:spcBef>
                          <a:spcPts val="0"/>
                        </a:spcBef>
                        <a:spcAft>
                          <a:spcPts val="0"/>
                        </a:spcAft>
                        <a:buNone/>
                      </a:pPr>
                      <a:r>
                        <a:rPr lang="en-GB" sz="1450" dirty="0">
                          <a:solidFill>
                            <a:srgbClr val="1A1A1A"/>
                          </a:solidFill>
                          <a:latin typeface="Arial"/>
                          <a:cs typeface="Arial"/>
                        </a:rPr>
                        <a:t>Pay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2.2</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0</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411480">
                <a:tc>
                  <a:txBody>
                    <a:bodyPr/>
                    <a:lstStyle/>
                    <a:p>
                      <a:pPr marL="0" indent="0" algn="l">
                        <a:spcBef>
                          <a:spcPts val="0"/>
                        </a:spcBef>
                        <a:spcAft>
                          <a:spcPts val="0"/>
                        </a:spcAft>
                        <a:buNone/>
                      </a:pPr>
                      <a:r>
                        <a:rPr lang="en-GB" sz="1450" b="1" dirty="0">
                          <a:solidFill>
                            <a:srgbClr val="5B2C91"/>
                          </a:solidFill>
                          <a:latin typeface="Arial"/>
                          <a:cs typeface="Arial"/>
                        </a:rPr>
                        <a:t>Total idle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tc>
                  <a:txBody>
                    <a:bodyPr/>
                    <a:lstStyle/>
                    <a:p>
                      <a:pPr marL="0" indent="0" algn="ctr">
                        <a:spcBef>
                          <a:spcPts val="0"/>
                        </a:spcBef>
                        <a:spcAft>
                          <a:spcPts val="0"/>
                        </a:spcAft>
                        <a:buNone/>
                      </a:pPr>
                      <a:endParaRP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tc>
                  <a:txBody>
                    <a:bodyPr/>
                    <a:lstStyle/>
                    <a:p>
                      <a:pPr marL="0" indent="0" algn="ctr">
                        <a:spcBef>
                          <a:spcPts val="0"/>
                        </a:spcBef>
                        <a:spcAft>
                          <a:spcPts val="0"/>
                        </a:spcAft>
                        <a:buNone/>
                      </a:pPr>
                      <a:r>
                        <a:rPr lang="en-GB" sz="1450" b="1" dirty="0">
                          <a:solidFill>
                            <a:srgbClr val="5B2C91"/>
                          </a:solidFill>
                          <a:latin typeface="Arial"/>
                          <a:cs typeface="Arial"/>
                        </a:rPr>
                        <a:t>0.6</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EBE1F5"/>
                    </a:solidFill>
                  </a:tcPr>
                </a:tc>
                <a:extLst>
                  <a:ext uri="{0D108BD9-81ED-4DB2-BD59-A6C34878D82A}">
                    <a16:rowId xmlns:a16="http://schemas.microsoft.com/office/drawing/2014/main" val="10005"/>
                  </a:ext>
                </a:extLst>
              </a:tr>
            </a:tbl>
          </a:graphicData>
        </a:graphic>
      </p:graphicFrame>
      <p:sp>
        <p:nvSpPr>
          <p:cNvPr id="10" name="Box 10"/>
          <p:cNvSpPr/>
          <p:nvPr/>
        </p:nvSpPr>
        <p:spPr>
          <a:xfrm>
            <a:off x="457200" y="4251960"/>
            <a:ext cx="2743200" cy="54864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600" b="1" dirty="0">
                <a:solidFill>
                  <a:srgbClr val="FFFFFF"/>
                </a:solidFill>
                <a:latin typeface="Arial"/>
                <a:cs typeface="Arial"/>
              </a:rPr>
              <a:t>Balancing loss</a:t>
            </a:r>
          </a:p>
        </p:txBody>
      </p:sp>
      <p:sp>
        <p:nvSpPr>
          <p:cNvPr id="11" name="Box 11"/>
          <p:cNvSpPr/>
          <p:nvPr/>
        </p:nvSpPr>
        <p:spPr>
          <a:xfrm>
            <a:off x="3200400" y="4251960"/>
            <a:ext cx="8531352" cy="548640"/>
          </a:xfrm>
          <a:prstGeom prst="rect">
            <a:avLst/>
          </a:prstGeom>
          <a:solidFill>
            <a:srgbClr val="EBE1F5"/>
          </a:solidFill>
          <a:ln>
            <a:noFill/>
          </a:ln>
        </p:spPr>
        <p:txBody>
          <a:bodyPr wrap="square" lIns="228600" tIns="0" rIns="91440" bIns="0" rtlCol="0" anchor="ctr">
            <a:normAutofit/>
          </a:bodyPr>
          <a:lstStyle/>
          <a:p>
            <a:pPr marL="0" indent="0" algn="l">
              <a:spcBef>
                <a:spcPts val="0"/>
              </a:spcBef>
              <a:spcAft>
                <a:spcPts val="0"/>
              </a:spcAft>
              <a:buNone/>
            </a:pPr>
            <a:r>
              <a:rPr lang="en-GB" sz="1650" b="1" dirty="0">
                <a:solidFill>
                  <a:srgbClr val="5B2C91"/>
                </a:solidFill>
                <a:latin typeface="Arial"/>
                <a:cs typeface="Arial"/>
              </a:rPr>
              <a:t>1.8 ÷ (2.5 × 4) = 18%  →  0.6 ÷ (2.2 × 4) = 6.8%</a:t>
            </a:r>
          </a:p>
        </p:txBody>
      </p:sp>
      <p:sp>
        <p:nvSpPr>
          <p:cNvPr id="12" name="Box 12"/>
          <p:cNvSpPr/>
          <p:nvPr/>
        </p:nvSpPr>
        <p:spPr>
          <a:xfrm>
            <a:off x="457200" y="4892040"/>
            <a:ext cx="2743200" cy="54864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600" b="1" dirty="0">
                <a:solidFill>
                  <a:srgbClr val="FFFFFF"/>
                </a:solidFill>
                <a:latin typeface="Arial"/>
                <a:cs typeface="Arial"/>
              </a:rPr>
              <a:t>Output per hour</a:t>
            </a:r>
          </a:p>
        </p:txBody>
      </p:sp>
      <p:sp>
        <p:nvSpPr>
          <p:cNvPr id="13" name="Box 13"/>
          <p:cNvSpPr/>
          <p:nvPr/>
        </p:nvSpPr>
        <p:spPr>
          <a:xfrm>
            <a:off x="3200400" y="4892040"/>
            <a:ext cx="8531352" cy="548640"/>
          </a:xfrm>
          <a:prstGeom prst="rect">
            <a:avLst/>
          </a:prstGeom>
          <a:solidFill>
            <a:srgbClr val="EBE1F5"/>
          </a:solidFill>
          <a:ln>
            <a:noFill/>
          </a:ln>
        </p:spPr>
        <p:txBody>
          <a:bodyPr wrap="square" lIns="228600" tIns="0" rIns="91440" bIns="0" rtlCol="0" anchor="ctr">
            <a:normAutofit/>
          </a:bodyPr>
          <a:lstStyle/>
          <a:p>
            <a:pPr marL="0" indent="0" algn="l">
              <a:spcBef>
                <a:spcPts val="0"/>
              </a:spcBef>
              <a:spcAft>
                <a:spcPts val="0"/>
              </a:spcAft>
              <a:buNone/>
            </a:pPr>
            <a:r>
              <a:rPr lang="en-GB" sz="1650" b="1" dirty="0">
                <a:solidFill>
                  <a:srgbClr val="5B2C91"/>
                </a:solidFill>
                <a:latin typeface="Arial"/>
                <a:cs typeface="Arial"/>
              </a:rPr>
              <a:t>60 ÷ 2.5 = 24  →  60 ÷ 2.2 = 27.3  (+14%)</a:t>
            </a:r>
          </a:p>
        </p:txBody>
      </p:sp>
      <p:sp>
        <p:nvSpPr>
          <p:cNvPr id="14" name="Box 14"/>
          <p:cNvSpPr/>
          <p:nvPr/>
        </p:nvSpPr>
        <p:spPr>
          <a:xfrm>
            <a:off x="457200" y="5623560"/>
            <a:ext cx="11274552" cy="68580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500" b="1" dirty="0">
                <a:solidFill>
                  <a:srgbClr val="FFFFFF"/>
                </a:solidFill>
                <a:latin typeface="Arial"/>
                <a:cs typeface="Arial"/>
              </a:rPr>
              <a:t>Takeaway:  </a:t>
            </a:r>
            <a:r>
              <a:rPr lang="en-GB" sz="1500" dirty="0">
                <a:solidFill>
                  <a:srgbClr val="FFFFFF"/>
                </a:solidFill>
                <a:latin typeface="Arial"/>
                <a:cs typeface="Arial"/>
              </a:rPr>
              <a:t>rebalancing the work raised output by 14% with no new technology. Fix the flow first, then ask what technology could add.</a:t>
            </a:r>
          </a:p>
        </p:txBody>
      </p:sp>
      <p:sp>
        <p:nvSpPr>
          <p:cNvPr id="15" name="Page 15"/>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25</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readSlice" descr="BreadSlice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Drum, Buffer, Rope: TOC as a Planning and Control Technology</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822960" y="2240280"/>
            <a:ext cx="1828800" cy="868680"/>
          </a:xfrm>
          <a:prstGeom prst="roundRect">
            <a:avLst>
              <a:gd name="adj" fmla="val 12000"/>
            </a:avLst>
          </a:prstGeom>
          <a:solidFill>
            <a:srgbClr val="FFFFFF"/>
          </a:solidFill>
          <a:ln w="15875">
            <a:solidFill>
              <a:srgbClr val="5B2C91"/>
            </a:solid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5B2C91"/>
                </a:solidFill>
                <a:latin typeface="Arial"/>
                <a:cs typeface="Arial"/>
              </a:rPr>
              <a:t>Stage 1</a:t>
            </a:r>
          </a:p>
          <a:p>
            <a:pPr marL="0" indent="0" algn="ctr">
              <a:spcBef>
                <a:spcPts val="0"/>
              </a:spcBef>
              <a:spcAft>
                <a:spcPts val="0"/>
              </a:spcAft>
              <a:buNone/>
            </a:pPr>
            <a:r>
              <a:rPr lang="en-GB" sz="1100" i="1" dirty="0">
                <a:solidFill>
                  <a:srgbClr val="666666"/>
                </a:solidFill>
                <a:latin typeface="Arial"/>
                <a:cs typeface="Arial"/>
              </a:rPr>
              <a:t>non-bottleneck</a:t>
            </a:r>
          </a:p>
        </p:txBody>
      </p:sp>
      <p:sp>
        <p:nvSpPr>
          <p:cNvPr id="6" name="Box 6"/>
          <p:cNvSpPr/>
          <p:nvPr/>
        </p:nvSpPr>
        <p:spPr>
          <a:xfrm>
            <a:off x="3246120" y="2240280"/>
            <a:ext cx="1828800" cy="868680"/>
          </a:xfrm>
          <a:prstGeom prst="roundRect">
            <a:avLst>
              <a:gd name="adj" fmla="val 12000"/>
            </a:avLst>
          </a:prstGeom>
          <a:solidFill>
            <a:srgbClr val="FFFFFF"/>
          </a:solidFill>
          <a:ln w="15875">
            <a:solidFill>
              <a:srgbClr val="5B2C91"/>
            </a:solid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5B2C91"/>
                </a:solidFill>
                <a:latin typeface="Arial"/>
                <a:cs typeface="Arial"/>
              </a:rPr>
              <a:t>Stage 2</a:t>
            </a:r>
          </a:p>
          <a:p>
            <a:pPr marL="0" indent="0" algn="ctr">
              <a:spcBef>
                <a:spcPts val="0"/>
              </a:spcBef>
              <a:spcAft>
                <a:spcPts val="0"/>
              </a:spcAft>
              <a:buNone/>
            </a:pPr>
            <a:r>
              <a:rPr lang="en-GB" sz="1100" i="1" dirty="0">
                <a:solidFill>
                  <a:srgbClr val="666666"/>
                </a:solidFill>
                <a:latin typeface="Arial"/>
                <a:cs typeface="Arial"/>
              </a:rPr>
              <a:t>non-bottleneck</a:t>
            </a:r>
          </a:p>
        </p:txBody>
      </p:sp>
      <p:sp>
        <p:nvSpPr>
          <p:cNvPr id="7" name="Box 7"/>
          <p:cNvSpPr/>
          <p:nvPr/>
        </p:nvSpPr>
        <p:spPr>
          <a:xfrm>
            <a:off x="6858000" y="2240280"/>
            <a:ext cx="1828800" cy="868680"/>
          </a:xfrm>
          <a:prstGeom prst="roundRect">
            <a:avLst>
              <a:gd name="adj" fmla="val 12000"/>
            </a:avLst>
          </a:prstGeom>
          <a:solidFill>
            <a:srgbClr val="5B2C91"/>
          </a:solidFill>
          <a:ln w="15875">
            <a:solidFill>
              <a:srgbClr val="5B2C91"/>
            </a:solidFill>
          </a:ln>
        </p:spPr>
        <p:txBody>
          <a:bodyPr wrap="square" lIns="73152" tIns="45720" rIns="73152" bIns="45720" rtlCol="0" anchor="ctr">
            <a:normAutofit/>
          </a:bodyPr>
          <a:lstStyle/>
          <a:p>
            <a:pPr marL="0" indent="0" algn="ctr">
              <a:spcBef>
                <a:spcPts val="0"/>
              </a:spcBef>
              <a:spcAft>
                <a:spcPts val="0"/>
              </a:spcAft>
              <a:buNone/>
            </a:pPr>
            <a:r>
              <a:rPr lang="en-GB" sz="1650" b="1" dirty="0">
                <a:solidFill>
                  <a:srgbClr val="FFFFFF"/>
                </a:solidFill>
                <a:latin typeface="Arial"/>
                <a:cs typeface="Arial"/>
              </a:rPr>
              <a:t>DRUM</a:t>
            </a:r>
          </a:p>
          <a:p>
            <a:pPr marL="0" indent="0" algn="ctr">
              <a:spcBef>
                <a:spcPts val="0"/>
              </a:spcBef>
              <a:spcAft>
                <a:spcPts val="0"/>
              </a:spcAft>
              <a:buNone/>
            </a:pPr>
            <a:r>
              <a:rPr lang="en-GB" sz="1100" i="1" dirty="0">
                <a:solidFill>
                  <a:srgbClr val="FFFFFF"/>
                </a:solidFill>
                <a:latin typeface="Arial"/>
                <a:cs typeface="Arial"/>
              </a:rPr>
              <a:t>bottleneck</a:t>
            </a:r>
          </a:p>
        </p:txBody>
      </p:sp>
      <p:sp>
        <p:nvSpPr>
          <p:cNvPr id="8" name="Box 8"/>
          <p:cNvSpPr/>
          <p:nvPr/>
        </p:nvSpPr>
        <p:spPr>
          <a:xfrm>
            <a:off x="9281160" y="2240280"/>
            <a:ext cx="1828800" cy="868680"/>
          </a:xfrm>
          <a:prstGeom prst="roundRect">
            <a:avLst>
              <a:gd name="adj" fmla="val 12000"/>
            </a:avLst>
          </a:prstGeom>
          <a:solidFill>
            <a:srgbClr val="FFFFFF"/>
          </a:solidFill>
          <a:ln w="15875">
            <a:solidFill>
              <a:srgbClr val="5B2C91"/>
            </a:solid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5B2C91"/>
                </a:solidFill>
                <a:latin typeface="Arial"/>
                <a:cs typeface="Arial"/>
              </a:rPr>
              <a:t>Stage 4</a:t>
            </a:r>
          </a:p>
          <a:p>
            <a:pPr marL="0" indent="0" algn="ctr">
              <a:spcBef>
                <a:spcPts val="0"/>
              </a:spcBef>
              <a:spcAft>
                <a:spcPts val="0"/>
              </a:spcAft>
              <a:buNone/>
            </a:pPr>
            <a:r>
              <a:rPr lang="en-GB" sz="1100" i="1" dirty="0">
                <a:solidFill>
                  <a:srgbClr val="666666"/>
                </a:solidFill>
                <a:latin typeface="Arial"/>
                <a:cs typeface="Arial"/>
              </a:rPr>
              <a:t>non-bottleneck</a:t>
            </a:r>
          </a:p>
        </p:txBody>
      </p:sp>
      <p:cxnSp>
        <p:nvCxnSpPr>
          <p:cNvPr id="9" name="Arrow 9"/>
          <p:cNvCxnSpPr/>
          <p:nvPr/>
        </p:nvCxnSpPr>
        <p:spPr>
          <a:xfrm>
            <a:off x="2679192" y="2670048"/>
            <a:ext cx="539496" cy="0"/>
          </a:xfrm>
          <a:prstGeom prst="straightConnector1">
            <a:avLst/>
          </a:prstGeom>
          <a:ln w="19050">
            <a:solidFill>
              <a:srgbClr val="5B2C91"/>
            </a:solidFill>
            <a:tailEnd type="triangle"/>
          </a:ln>
        </p:spPr>
      </p:cxnSp>
      <p:cxnSp>
        <p:nvCxnSpPr>
          <p:cNvPr id="10" name="Arrow 10"/>
          <p:cNvCxnSpPr/>
          <p:nvPr/>
        </p:nvCxnSpPr>
        <p:spPr>
          <a:xfrm>
            <a:off x="5102352" y="2670048"/>
            <a:ext cx="219456" cy="0"/>
          </a:xfrm>
          <a:prstGeom prst="straightConnector1">
            <a:avLst/>
          </a:prstGeom>
          <a:ln w="19050">
            <a:solidFill>
              <a:srgbClr val="5B2C91"/>
            </a:solidFill>
            <a:tailEnd type="triangle"/>
          </a:ln>
        </p:spPr>
      </p:cxnSp>
      <p:cxnSp>
        <p:nvCxnSpPr>
          <p:cNvPr id="11" name="Arrow 11"/>
          <p:cNvCxnSpPr/>
          <p:nvPr/>
        </p:nvCxnSpPr>
        <p:spPr>
          <a:xfrm>
            <a:off x="6473952" y="2670048"/>
            <a:ext cx="356616" cy="0"/>
          </a:xfrm>
          <a:prstGeom prst="straightConnector1">
            <a:avLst/>
          </a:prstGeom>
          <a:ln w="19050">
            <a:solidFill>
              <a:srgbClr val="5B2C91"/>
            </a:solidFill>
            <a:tailEnd type="triangle"/>
          </a:ln>
        </p:spPr>
      </p:cxnSp>
      <p:cxnSp>
        <p:nvCxnSpPr>
          <p:cNvPr id="12" name="Arrow 12"/>
          <p:cNvCxnSpPr/>
          <p:nvPr/>
        </p:nvCxnSpPr>
        <p:spPr>
          <a:xfrm>
            <a:off x="8714232" y="2670048"/>
            <a:ext cx="539496" cy="0"/>
          </a:xfrm>
          <a:prstGeom prst="straightConnector1">
            <a:avLst/>
          </a:prstGeom>
          <a:ln w="19050">
            <a:solidFill>
              <a:srgbClr val="5B2C91"/>
            </a:solidFill>
            <a:tailEnd type="triangle"/>
          </a:ln>
        </p:spPr>
      </p:cxnSp>
      <p:sp>
        <p:nvSpPr>
          <p:cNvPr id="13" name="Box 13"/>
          <p:cNvSpPr/>
          <p:nvPr/>
        </p:nvSpPr>
        <p:spPr>
          <a:xfrm>
            <a:off x="5532120" y="2377440"/>
            <a:ext cx="731520" cy="594360"/>
          </a:xfrm>
          <a:prstGeom prst="triangle">
            <a:avLst/>
          </a:prstGeom>
          <a:solidFill>
            <a:srgbClr val="EBE1F5"/>
          </a:solidFill>
          <a:ln w="12700">
            <a:solidFill>
              <a:srgbClr val="5B2C91"/>
            </a:solidFill>
          </a:ln>
        </p:spPr>
        <p:txBody>
          <a:bodyPr wrap="square" lIns="73152" tIns="45720" rIns="73152" bIns="45720" rtlCol="0" anchor="t">
            <a:normAutofit/>
          </a:bodyPr>
          <a:lstStyle/>
          <a:p>
            <a:endParaRPr lang="en-GB" sz="1000"/>
          </a:p>
        </p:txBody>
      </p:sp>
      <p:sp>
        <p:nvSpPr>
          <p:cNvPr id="14" name="Box 14"/>
          <p:cNvSpPr/>
          <p:nvPr/>
        </p:nvSpPr>
        <p:spPr>
          <a:xfrm>
            <a:off x="5257800" y="2990088"/>
            <a:ext cx="1280160" cy="274320"/>
          </a:xfrm>
          <a:prstGeom prst="rect">
            <a:avLst/>
          </a:prstGeom>
          <a:noFill/>
          <a:ln>
            <a:noFill/>
          </a:ln>
        </p:spPr>
        <p:txBody>
          <a:bodyPr wrap="square" lIns="0" tIns="0" rIns="0" bIns="0" rtlCol="0" anchor="ctr">
            <a:normAutofit/>
          </a:bodyPr>
          <a:lstStyle/>
          <a:p>
            <a:pPr marL="0" indent="0" algn="ctr">
              <a:spcBef>
                <a:spcPts val="0"/>
              </a:spcBef>
              <a:spcAft>
                <a:spcPts val="0"/>
              </a:spcAft>
              <a:buNone/>
            </a:pPr>
            <a:r>
              <a:rPr lang="en-GB" sz="1300" b="1" dirty="0">
                <a:solidFill>
                  <a:srgbClr val="5B2C91"/>
                </a:solidFill>
                <a:latin typeface="Arial"/>
                <a:cs typeface="Arial"/>
              </a:rPr>
              <a:t>BUFFER</a:t>
            </a:r>
          </a:p>
        </p:txBody>
      </p:sp>
      <p:cxnSp>
        <p:nvCxnSpPr>
          <p:cNvPr id="15" name="Line 15"/>
          <p:cNvCxnSpPr/>
          <p:nvPr/>
        </p:nvCxnSpPr>
        <p:spPr>
          <a:xfrm>
            <a:off x="7772400" y="2240280"/>
            <a:ext cx="0" cy="0"/>
          </a:xfrm>
          <a:prstGeom prst="line">
            <a:avLst/>
          </a:prstGeom>
          <a:ln w="22225">
            <a:solidFill>
              <a:srgbClr val="5B2C91"/>
            </a:solidFill>
            <a:prstDash val="sysDash"/>
          </a:ln>
        </p:spPr>
      </p:cxnSp>
      <p:cxnSp>
        <p:nvCxnSpPr>
          <p:cNvPr id="16" name="Line 16"/>
          <p:cNvCxnSpPr/>
          <p:nvPr/>
        </p:nvCxnSpPr>
        <p:spPr>
          <a:xfrm>
            <a:off x="1737360" y="1508760"/>
            <a:ext cx="6035040" cy="0"/>
          </a:xfrm>
          <a:prstGeom prst="line">
            <a:avLst/>
          </a:prstGeom>
          <a:ln w="22225">
            <a:solidFill>
              <a:srgbClr val="5B2C91"/>
            </a:solidFill>
            <a:prstDash val="sysDash"/>
          </a:ln>
        </p:spPr>
      </p:cxnSp>
      <p:cxnSp>
        <p:nvCxnSpPr>
          <p:cNvPr id="17" name="Arrow 17"/>
          <p:cNvCxnSpPr/>
          <p:nvPr/>
        </p:nvCxnSpPr>
        <p:spPr>
          <a:xfrm>
            <a:off x="1737360" y="1508760"/>
            <a:ext cx="0" cy="704088"/>
          </a:xfrm>
          <a:prstGeom prst="straightConnector1">
            <a:avLst/>
          </a:prstGeom>
          <a:ln w="22225">
            <a:solidFill>
              <a:srgbClr val="5B2C91"/>
            </a:solidFill>
            <a:tailEnd type="triangle"/>
          </a:ln>
        </p:spPr>
      </p:cxnSp>
      <p:sp>
        <p:nvSpPr>
          <p:cNvPr id="18" name="Box 18"/>
          <p:cNvSpPr/>
          <p:nvPr/>
        </p:nvSpPr>
        <p:spPr>
          <a:xfrm>
            <a:off x="2194560" y="1188720"/>
            <a:ext cx="5120640" cy="301752"/>
          </a:xfrm>
          <a:prstGeom prst="rect">
            <a:avLst/>
          </a:prstGeom>
          <a:noFill/>
          <a:ln>
            <a:noFill/>
          </a:ln>
        </p:spPr>
        <p:txBody>
          <a:bodyPr wrap="square" lIns="73152" tIns="45720" rIns="73152" bIns="45720" rtlCol="0" anchor="ctr">
            <a:normAutofit lnSpcReduction="10000"/>
          </a:bodyPr>
          <a:lstStyle/>
          <a:p>
            <a:pPr marL="0" indent="0" algn="ctr">
              <a:spcBef>
                <a:spcPts val="0"/>
              </a:spcBef>
              <a:spcAft>
                <a:spcPts val="0"/>
              </a:spcAft>
              <a:buNone/>
            </a:pPr>
            <a:r>
              <a:rPr lang="en-GB" sz="1400" b="1" dirty="0">
                <a:solidFill>
                  <a:srgbClr val="5B2C91"/>
                </a:solidFill>
                <a:latin typeface="Arial"/>
                <a:cs typeface="Arial"/>
              </a:rPr>
              <a:t>ROPE: release work only at the drum’s pace</a:t>
            </a:r>
          </a:p>
        </p:txBody>
      </p:sp>
      <p:sp>
        <p:nvSpPr>
          <p:cNvPr id="19" name="Box 19"/>
          <p:cNvSpPr/>
          <p:nvPr/>
        </p:nvSpPr>
        <p:spPr>
          <a:xfrm>
            <a:off x="457200" y="3474720"/>
            <a:ext cx="3657600"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Drum</a:t>
            </a:r>
          </a:p>
        </p:txBody>
      </p:sp>
      <p:sp>
        <p:nvSpPr>
          <p:cNvPr id="20" name="Box 20"/>
          <p:cNvSpPr/>
          <p:nvPr/>
        </p:nvSpPr>
        <p:spPr>
          <a:xfrm>
            <a:off x="457200" y="3858768"/>
            <a:ext cx="3657600" cy="1170432"/>
          </a:xfrm>
          <a:prstGeom prst="rect">
            <a:avLst/>
          </a:prstGeom>
          <a:solidFill>
            <a:srgbClr val="F6F1FB"/>
          </a:solidFill>
          <a:ln w="12700">
            <a:solidFill>
              <a:srgbClr val="C9B8E0"/>
            </a:solidFill>
          </a:ln>
        </p:spPr>
        <p:txBody>
          <a:bodyPr wrap="square" lIns="109728" tIns="91440" rIns="109728" bIns="45720" rtlCol="0" anchor="t">
            <a:normAutofit/>
          </a:bodyPr>
          <a:lstStyle/>
          <a:p>
            <a:pPr marL="0" indent="0" algn="l">
              <a:spcBef>
                <a:spcPts val="0"/>
              </a:spcBef>
              <a:spcAft>
                <a:spcPts val="0"/>
              </a:spcAft>
              <a:buNone/>
            </a:pPr>
            <a:r>
              <a:rPr lang="en-GB" sz="1450" dirty="0">
                <a:solidFill>
                  <a:srgbClr val="1A1A1A"/>
                </a:solidFill>
                <a:latin typeface="Arial"/>
                <a:cs typeface="Arial"/>
              </a:rPr>
              <a:t>The bottleneck sets the beat for the whole process; schedule it first.</a:t>
            </a:r>
          </a:p>
        </p:txBody>
      </p:sp>
      <p:sp>
        <p:nvSpPr>
          <p:cNvPr id="21" name="Box 21"/>
          <p:cNvSpPr/>
          <p:nvPr/>
        </p:nvSpPr>
        <p:spPr>
          <a:xfrm>
            <a:off x="4261104" y="3474720"/>
            <a:ext cx="3657600"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Buffer</a:t>
            </a:r>
          </a:p>
        </p:txBody>
      </p:sp>
      <p:sp>
        <p:nvSpPr>
          <p:cNvPr id="22" name="Box 22"/>
          <p:cNvSpPr/>
          <p:nvPr/>
        </p:nvSpPr>
        <p:spPr>
          <a:xfrm>
            <a:off x="4261104" y="3858768"/>
            <a:ext cx="3657600" cy="1170432"/>
          </a:xfrm>
          <a:prstGeom prst="rect">
            <a:avLst/>
          </a:prstGeom>
          <a:solidFill>
            <a:srgbClr val="F6F1FB"/>
          </a:solidFill>
          <a:ln w="12700">
            <a:solidFill>
              <a:srgbClr val="C9B8E0"/>
            </a:solidFill>
          </a:ln>
        </p:spPr>
        <p:txBody>
          <a:bodyPr wrap="square" lIns="109728" tIns="91440" rIns="109728" bIns="45720" rtlCol="0" anchor="t">
            <a:normAutofit/>
          </a:bodyPr>
          <a:lstStyle/>
          <a:p>
            <a:pPr marL="0" indent="0" algn="l">
              <a:spcBef>
                <a:spcPts val="0"/>
              </a:spcBef>
              <a:spcAft>
                <a:spcPts val="0"/>
              </a:spcAft>
              <a:buNone/>
            </a:pPr>
            <a:r>
              <a:rPr lang="en-GB" sz="1450" dirty="0">
                <a:solidFill>
                  <a:srgbClr val="1A1A1A"/>
                </a:solidFill>
                <a:latin typeface="Arial"/>
                <a:cs typeface="Arial"/>
              </a:rPr>
              <a:t>Inventory in front of the drum so it never starves: an hour lost here is lost for the whole system.</a:t>
            </a:r>
          </a:p>
        </p:txBody>
      </p:sp>
      <p:sp>
        <p:nvSpPr>
          <p:cNvPr id="23" name="Box 23"/>
          <p:cNvSpPr/>
          <p:nvPr/>
        </p:nvSpPr>
        <p:spPr>
          <a:xfrm>
            <a:off x="8065008" y="3474720"/>
            <a:ext cx="3657600"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Rope</a:t>
            </a:r>
          </a:p>
        </p:txBody>
      </p:sp>
      <p:sp>
        <p:nvSpPr>
          <p:cNvPr id="24" name="Box 24"/>
          <p:cNvSpPr/>
          <p:nvPr/>
        </p:nvSpPr>
        <p:spPr>
          <a:xfrm>
            <a:off x="8065008" y="3858768"/>
            <a:ext cx="3657600" cy="1170432"/>
          </a:xfrm>
          <a:prstGeom prst="rect">
            <a:avLst/>
          </a:prstGeom>
          <a:solidFill>
            <a:srgbClr val="F6F1FB"/>
          </a:solidFill>
          <a:ln w="12700">
            <a:solidFill>
              <a:srgbClr val="C9B8E0"/>
            </a:solidFill>
          </a:ln>
        </p:spPr>
        <p:txBody>
          <a:bodyPr wrap="square" lIns="109728" tIns="91440" rIns="109728" bIns="45720" rtlCol="0" anchor="t">
            <a:normAutofit/>
          </a:bodyPr>
          <a:lstStyle/>
          <a:p>
            <a:pPr marL="0" indent="0" algn="l">
              <a:spcBef>
                <a:spcPts val="0"/>
              </a:spcBef>
              <a:spcAft>
                <a:spcPts val="0"/>
              </a:spcAft>
              <a:buNone/>
            </a:pPr>
            <a:r>
              <a:rPr lang="en-GB" sz="1450" dirty="0">
                <a:solidFill>
                  <a:srgbClr val="1A1A1A"/>
                </a:solidFill>
                <a:latin typeface="Arial"/>
                <a:cs typeface="Arial"/>
              </a:rPr>
              <a:t>Links material release to the drum, so non-bottlenecks don’t build up WIP.</a:t>
            </a:r>
          </a:p>
        </p:txBody>
      </p:sp>
      <p:sp>
        <p:nvSpPr>
          <p:cNvPr id="25" name="Box 25"/>
          <p:cNvSpPr/>
          <p:nvPr/>
        </p:nvSpPr>
        <p:spPr>
          <a:xfrm>
            <a:off x="457200" y="5212080"/>
            <a:ext cx="11274552" cy="96012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OPT (Optimized Production Technology):  </a:t>
            </a:r>
            <a:r>
              <a:rPr lang="en-GB" sz="1400" dirty="0">
                <a:solidFill>
                  <a:srgbClr val="FFFFFF"/>
                </a:solidFill>
                <a:latin typeface="Arial"/>
                <a:cs typeface="Arial"/>
              </a:rPr>
              <a:t>Goldratt marketed TOC as proprietary software that scheduled production to the pace of the bottleneck, an early technology designed around the constraint. Unlike MRP/ERP, TOC itself needs little IT investment.</a:t>
            </a:r>
          </a:p>
        </p:txBody>
      </p:sp>
      <p:sp>
        <p:nvSpPr>
          <p:cNvPr id="26" name="Source 26"/>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10, pp. 312–313; ch. 15, pp. 485–487</a:t>
            </a:r>
          </a:p>
        </p:txBody>
      </p:sp>
      <p:sp>
        <p:nvSpPr>
          <p:cNvPr id="27" name="Page 27"/>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30</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Drum" descr="Drum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1143000" y="274320"/>
            <a:ext cx="8092440" cy="6400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2600" dirty="0">
                <a:solidFill>
                  <a:srgbClr val="5B2C91"/>
                </a:solidFill>
                <a:latin typeface="Arial"/>
                <a:cs typeface="Arial"/>
              </a:rPr>
              <a:t>(a) Evaluating the Theory of Constraints</a:t>
            </a:r>
          </a:p>
        </p:txBody>
      </p:sp>
      <p:cxnSp>
        <p:nvCxnSpPr>
          <p:cNvPr id="4" name="Line 4"/>
          <p:cNvCxnSpPr/>
          <p:nvPr/>
        </p:nvCxnSpPr>
        <p:spPr>
          <a:xfrm>
            <a:off x="457200" y="960120"/>
            <a:ext cx="11274552" cy="0"/>
          </a:xfrm>
          <a:prstGeom prst="line">
            <a:avLst/>
          </a:prstGeom>
          <a:ln w="15875">
            <a:solidFill>
              <a:srgbClr val="5B2C91"/>
            </a:solidFill>
          </a:ln>
        </p:spPr>
      </p:cxnSp>
      <p:sp>
        <p:nvSpPr>
          <p:cNvPr id="6" name="Box 6"/>
          <p:cNvSpPr/>
          <p:nvPr/>
        </p:nvSpPr>
        <p:spPr>
          <a:xfrm>
            <a:off x="457200" y="1097280"/>
            <a:ext cx="11274552" cy="914400"/>
          </a:xfrm>
          <a:prstGeom prst="roundRect">
            <a:avLst>
              <a:gd name="adj" fmla="val 12000"/>
            </a:avLst>
          </a:prstGeom>
          <a:solidFill>
            <a:srgbClr val="EBE1F5"/>
          </a:solidFill>
          <a:ln w="15875">
            <a:solidFill>
              <a:srgbClr val="5B2C91"/>
            </a:solidFill>
          </a:ln>
        </p:spPr>
        <p:txBody>
          <a:bodyPr wrap="square" lIns="182880" tIns="54864" rIns="182880" bIns="54864" rtlCol="0" anchor="ctr">
            <a:normAutofit/>
          </a:bodyPr>
          <a:lstStyle/>
          <a:p>
            <a:pPr marL="0" indent="0" algn="ctr">
              <a:spcBef>
                <a:spcPts val="0"/>
              </a:spcBef>
              <a:spcAft>
                <a:spcPts val="0"/>
              </a:spcAft>
              <a:buNone/>
            </a:pPr>
            <a:r>
              <a:rPr lang="en-GB" sz="1450" b="1" i="1" dirty="0">
                <a:solidFill>
                  <a:srgbClr val="5B2C91"/>
                </a:solidFill>
                <a:latin typeface="Arial"/>
                <a:cs typeface="Arial"/>
              </a:rPr>
              <a:t>TOC (Goldratt, 1984): every system’s output is limited by at least one constraint. Performance improves by identifying, exploiting, subordinating to and elevating that constraint, then repeating. Success is measured by throughput, inventory and operating expense.</a:t>
            </a:r>
          </a:p>
        </p:txBody>
      </p:sp>
      <p:sp>
        <p:nvSpPr>
          <p:cNvPr id="7" name="Box 7"/>
          <p:cNvSpPr/>
          <p:nvPr/>
        </p:nvSpPr>
        <p:spPr>
          <a:xfrm>
            <a:off x="457200" y="2194560"/>
            <a:ext cx="5559552"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Strengths</a:t>
            </a:r>
          </a:p>
        </p:txBody>
      </p:sp>
      <p:sp>
        <p:nvSpPr>
          <p:cNvPr id="8" name="Box 8"/>
          <p:cNvSpPr/>
          <p:nvPr/>
        </p:nvSpPr>
        <p:spPr>
          <a:xfrm>
            <a:off x="457200" y="2578608"/>
            <a:ext cx="5559552" cy="286207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Focus: scarce resources go where they raise throughput</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Quick, low-cost gains: exploit before investing</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Whole-system view avoids local optimisation (busy ≠ productive)</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Drum–buffer–rope cuts WIP and lead time</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Simple and intuitive; needs little IT investment, unlike MRP/ERP</a:t>
            </a:r>
          </a:p>
        </p:txBody>
      </p:sp>
      <p:sp>
        <p:nvSpPr>
          <p:cNvPr id="9" name="Box 9"/>
          <p:cNvSpPr/>
          <p:nvPr/>
        </p:nvSpPr>
        <p:spPr>
          <a:xfrm>
            <a:off x="6172200" y="2194560"/>
            <a:ext cx="5559552"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Weaknesses</a:t>
            </a:r>
          </a:p>
        </p:txBody>
      </p:sp>
      <p:sp>
        <p:nvSpPr>
          <p:cNvPr id="10" name="Box 10"/>
          <p:cNvSpPr/>
          <p:nvPr/>
        </p:nvSpPr>
        <p:spPr>
          <a:xfrm>
            <a:off x="6172200" y="2578608"/>
            <a:ext cx="5559552" cy="286207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Assumes one clear, stable constraint; real bottlenecks shift with mix and demand</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Hard to locate in services, complex networks or policy constraints</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May neglect waste, quality and cost at non-bottlenecks (lean’s critique)</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Buffers deliberately hold inventory</a:t>
            </a:r>
          </a:p>
          <a:p>
            <a:pPr marL="228600" indent="-228600" algn="l">
              <a:spcBef>
                <a:spcPts val="0"/>
              </a:spcBef>
              <a:spcAft>
                <a:spcPts val="500"/>
              </a:spcAft>
              <a:buClr>
                <a:srgbClr val="5B2C91"/>
              </a:buClr>
              <a:buSzPct val="100000"/>
              <a:buFont typeface="Arial"/>
              <a:buChar char="•"/>
            </a:pPr>
            <a:r>
              <a:rPr lang="en-GB" sz="1450" dirty="0">
                <a:solidFill>
                  <a:srgbClr val="1A1A1A"/>
                </a:solidFill>
                <a:latin typeface="Arial"/>
                <a:cs typeface="Arial"/>
              </a:rPr>
              <a:t>Focus on throughput/profit can overlook customer value and sustainability; evidence largely case-based</a:t>
            </a:r>
          </a:p>
        </p:txBody>
      </p:sp>
      <p:sp>
        <p:nvSpPr>
          <p:cNvPr id="11" name="Box 11"/>
          <p:cNvSpPr/>
          <p:nvPr/>
        </p:nvSpPr>
        <p:spPr>
          <a:xfrm>
            <a:off x="457200" y="5577840"/>
            <a:ext cx="11274552" cy="73152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50" b="1" dirty="0">
                <a:solidFill>
                  <a:srgbClr val="FFFFFF"/>
                </a:solidFill>
                <a:latin typeface="Arial"/>
                <a:cs typeface="Arial"/>
              </a:rPr>
              <a:t>Evaluation:  </a:t>
            </a:r>
            <a:r>
              <a:rPr lang="en-GB" sz="1450" dirty="0">
                <a:solidFill>
                  <a:srgbClr val="FFFFFF"/>
                </a:solidFill>
                <a:latin typeface="Arial"/>
                <a:cs typeface="Arial"/>
              </a:rPr>
              <a:t>TOC is strongest as a focusing device; it tells managers where to act. It works best combined with lean and Six Sigma, which tell them how.</a:t>
            </a:r>
          </a:p>
        </p:txBody>
      </p:sp>
      <p:sp>
        <p:nvSpPr>
          <p:cNvPr id="12" name="Source 12"/>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15, pp. 485–487</a:t>
            </a:r>
          </a:p>
        </p:txBody>
      </p:sp>
      <p:sp>
        <p:nvSpPr>
          <p:cNvPr id="13" name="Page 13"/>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60</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Filter" descr="Filter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ox 3"/>
          <p:cNvSpPr/>
          <p:nvPr/>
        </p:nvSpPr>
        <p:spPr>
          <a:xfrm>
            <a:off x="457200" y="822960"/>
            <a:ext cx="11274552" cy="82296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4000" b="1" dirty="0">
                <a:solidFill>
                  <a:srgbClr val="5B2C91"/>
                </a:solidFill>
                <a:latin typeface="Arial"/>
                <a:cs typeface="Arial"/>
              </a:rPr>
              <a:t>Process Technology</a:t>
            </a:r>
          </a:p>
        </p:txBody>
      </p:sp>
      <p:sp>
        <p:nvSpPr>
          <p:cNvPr id="4" name="Box 4"/>
          <p:cNvSpPr/>
          <p:nvPr/>
        </p:nvSpPr>
        <p:spPr>
          <a:xfrm>
            <a:off x="457200" y="1645920"/>
            <a:ext cx="11274552" cy="54864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800" i="1" dirty="0">
                <a:solidFill>
                  <a:srgbClr val="666666"/>
                </a:solidFill>
                <a:latin typeface="Arial"/>
                <a:cs typeface="Arial"/>
              </a:rPr>
              <a:t>The machines, equipment and devices that help operations create and deliver products and services</a:t>
            </a:r>
          </a:p>
        </p:txBody>
      </p:sp>
      <p:sp>
        <p:nvSpPr>
          <p:cNvPr id="5" name="Box 5"/>
          <p:cNvSpPr/>
          <p:nvPr/>
        </p:nvSpPr>
        <p:spPr>
          <a:xfrm>
            <a:off x="822960" y="2743200"/>
            <a:ext cx="3200400" cy="1097280"/>
          </a:xfrm>
          <a:prstGeom prst="roundRect">
            <a:avLst>
              <a:gd name="adj" fmla="val 12000"/>
            </a:avLst>
          </a:prstGeom>
          <a:solidFill>
            <a:srgbClr val="5B2C91"/>
          </a:solidFill>
          <a:ln>
            <a:noFill/>
          </a:ln>
        </p:spPr>
        <p:txBody>
          <a:bodyPr wrap="square" lIns="73152" tIns="45720" rIns="73152" bIns="45720" rtlCol="0" anchor="ctr">
            <a:normAutofit/>
          </a:bodyPr>
          <a:lstStyle/>
          <a:p>
            <a:pPr marL="0" indent="0" algn="ctr">
              <a:spcBef>
                <a:spcPts val="0"/>
              </a:spcBef>
              <a:spcAft>
                <a:spcPts val="200"/>
              </a:spcAft>
              <a:buNone/>
            </a:pPr>
            <a:r>
              <a:rPr lang="en-GB" sz="1450" dirty="0">
                <a:solidFill>
                  <a:srgbClr val="EBE1F5"/>
                </a:solidFill>
                <a:latin typeface="Arial"/>
                <a:cs typeface="Arial"/>
              </a:rPr>
              <a:t>Stage 1</a:t>
            </a:r>
          </a:p>
          <a:p>
            <a:pPr marL="0" indent="0" algn="ctr">
              <a:spcBef>
                <a:spcPts val="0"/>
              </a:spcBef>
              <a:spcAft>
                <a:spcPts val="0"/>
              </a:spcAft>
              <a:buNone/>
            </a:pPr>
            <a:r>
              <a:rPr lang="en-GB" sz="1700" b="1" dirty="0">
                <a:solidFill>
                  <a:srgbClr val="FFFFFF"/>
                </a:solidFill>
                <a:latin typeface="Arial"/>
                <a:cs typeface="Arial"/>
              </a:rPr>
              <a:t>Understand the process technology</a:t>
            </a:r>
          </a:p>
        </p:txBody>
      </p:sp>
      <p:sp>
        <p:nvSpPr>
          <p:cNvPr id="6" name="Box 6"/>
          <p:cNvSpPr/>
          <p:nvPr/>
        </p:nvSpPr>
        <p:spPr>
          <a:xfrm>
            <a:off x="822960" y="4023360"/>
            <a:ext cx="3200400" cy="1188720"/>
          </a:xfrm>
          <a:prstGeom prst="roundRect">
            <a:avLst>
              <a:gd name="adj" fmla="val 12000"/>
            </a:avLst>
          </a:prstGeom>
          <a:solidFill>
            <a:srgbClr val="EBE1F5"/>
          </a:solidFill>
          <a:ln w="12700">
            <a:solidFill>
              <a:srgbClr val="C9B8E0"/>
            </a:solidFill>
          </a:ln>
        </p:spPr>
        <p:txBody>
          <a:bodyPr wrap="square" lIns="73152" tIns="45720" rIns="73152" bIns="45720" rtlCol="0" anchor="ctr">
            <a:normAutofit/>
          </a:bodyPr>
          <a:lstStyle/>
          <a:p>
            <a:pPr marL="0" indent="0" algn="ctr">
              <a:spcBef>
                <a:spcPts val="0"/>
              </a:spcBef>
              <a:spcAft>
                <a:spcPts val="0"/>
              </a:spcAft>
              <a:buNone/>
            </a:pPr>
            <a:r>
              <a:rPr lang="en-GB" sz="1550" i="1" dirty="0">
                <a:solidFill>
                  <a:srgbClr val="5B2C91"/>
                </a:solidFill>
                <a:latin typeface="Arial"/>
                <a:cs typeface="Arial"/>
              </a:rPr>
              <a:t>What do operations managers need to know about process technology?</a:t>
            </a:r>
          </a:p>
        </p:txBody>
      </p:sp>
      <p:cxnSp>
        <p:nvCxnSpPr>
          <p:cNvPr id="7" name="Arrow 7"/>
          <p:cNvCxnSpPr/>
          <p:nvPr/>
        </p:nvCxnSpPr>
        <p:spPr>
          <a:xfrm>
            <a:off x="4069080" y="3291840"/>
            <a:ext cx="365760" cy="0"/>
          </a:xfrm>
          <a:prstGeom prst="straightConnector1">
            <a:avLst/>
          </a:prstGeom>
          <a:ln w="28575">
            <a:solidFill>
              <a:srgbClr val="5B2C91"/>
            </a:solidFill>
            <a:tailEnd type="triangle"/>
          </a:ln>
        </p:spPr>
      </p:cxnSp>
      <p:sp>
        <p:nvSpPr>
          <p:cNvPr id="8" name="Box 8"/>
          <p:cNvSpPr/>
          <p:nvPr/>
        </p:nvSpPr>
        <p:spPr>
          <a:xfrm>
            <a:off x="4480560" y="2743200"/>
            <a:ext cx="3200400" cy="1097280"/>
          </a:xfrm>
          <a:prstGeom prst="roundRect">
            <a:avLst>
              <a:gd name="adj" fmla="val 12000"/>
            </a:avLst>
          </a:prstGeom>
          <a:solidFill>
            <a:srgbClr val="5B2C91"/>
          </a:solidFill>
          <a:ln>
            <a:noFill/>
          </a:ln>
        </p:spPr>
        <p:txBody>
          <a:bodyPr wrap="square" lIns="73152" tIns="45720" rIns="73152" bIns="45720" rtlCol="0" anchor="ctr">
            <a:normAutofit/>
          </a:bodyPr>
          <a:lstStyle/>
          <a:p>
            <a:pPr marL="0" indent="0" algn="ctr">
              <a:spcBef>
                <a:spcPts val="0"/>
              </a:spcBef>
              <a:spcAft>
                <a:spcPts val="200"/>
              </a:spcAft>
              <a:buNone/>
            </a:pPr>
            <a:r>
              <a:rPr lang="en-GB" sz="1450" dirty="0">
                <a:solidFill>
                  <a:srgbClr val="EBE1F5"/>
                </a:solidFill>
                <a:latin typeface="Arial"/>
                <a:cs typeface="Arial"/>
              </a:rPr>
              <a:t>Stage 2</a:t>
            </a:r>
          </a:p>
          <a:p>
            <a:pPr marL="0" indent="0" algn="ctr">
              <a:spcBef>
                <a:spcPts val="0"/>
              </a:spcBef>
              <a:spcAft>
                <a:spcPts val="0"/>
              </a:spcAft>
              <a:buNone/>
            </a:pPr>
            <a:r>
              <a:rPr lang="en-GB" sz="1700" b="1" dirty="0">
                <a:solidFill>
                  <a:srgbClr val="FFFFFF"/>
                </a:solidFill>
                <a:latin typeface="Arial"/>
                <a:cs typeface="Arial"/>
              </a:rPr>
              <a:t>Evaluate the process technology</a:t>
            </a:r>
          </a:p>
        </p:txBody>
      </p:sp>
      <p:sp>
        <p:nvSpPr>
          <p:cNvPr id="9" name="Box 9"/>
          <p:cNvSpPr/>
          <p:nvPr/>
        </p:nvSpPr>
        <p:spPr>
          <a:xfrm>
            <a:off x="4480560" y="4023360"/>
            <a:ext cx="3200400" cy="1188720"/>
          </a:xfrm>
          <a:prstGeom prst="roundRect">
            <a:avLst>
              <a:gd name="adj" fmla="val 12000"/>
            </a:avLst>
          </a:prstGeom>
          <a:solidFill>
            <a:srgbClr val="EBE1F5"/>
          </a:solidFill>
          <a:ln w="12700">
            <a:solidFill>
              <a:srgbClr val="C9B8E0"/>
            </a:solidFill>
          </a:ln>
        </p:spPr>
        <p:txBody>
          <a:bodyPr wrap="square" lIns="73152" tIns="45720" rIns="73152" bIns="45720" rtlCol="0" anchor="ctr">
            <a:normAutofit/>
          </a:bodyPr>
          <a:lstStyle/>
          <a:p>
            <a:pPr marL="0" indent="0" algn="ctr">
              <a:spcBef>
                <a:spcPts val="0"/>
              </a:spcBef>
              <a:spcAft>
                <a:spcPts val="0"/>
              </a:spcAft>
              <a:buNone/>
            </a:pPr>
            <a:r>
              <a:rPr lang="en-GB" sz="1550" i="1" dirty="0">
                <a:solidFill>
                  <a:srgbClr val="5B2C91"/>
                </a:solidFill>
                <a:latin typeface="Arial"/>
                <a:cs typeface="Arial"/>
              </a:rPr>
              <a:t>How does the process technology affect the operation?</a:t>
            </a:r>
          </a:p>
        </p:txBody>
      </p:sp>
      <p:cxnSp>
        <p:nvCxnSpPr>
          <p:cNvPr id="10" name="Arrow 10"/>
          <p:cNvCxnSpPr/>
          <p:nvPr/>
        </p:nvCxnSpPr>
        <p:spPr>
          <a:xfrm>
            <a:off x="7726680" y="3291840"/>
            <a:ext cx="365760" cy="0"/>
          </a:xfrm>
          <a:prstGeom prst="straightConnector1">
            <a:avLst/>
          </a:prstGeom>
          <a:ln w="28575">
            <a:solidFill>
              <a:srgbClr val="5B2C91"/>
            </a:solidFill>
            <a:tailEnd type="triangle"/>
          </a:ln>
        </p:spPr>
      </p:cxnSp>
      <p:sp>
        <p:nvSpPr>
          <p:cNvPr id="11" name="Box 11"/>
          <p:cNvSpPr/>
          <p:nvPr/>
        </p:nvSpPr>
        <p:spPr>
          <a:xfrm>
            <a:off x="8138160" y="2743200"/>
            <a:ext cx="3200400" cy="1097280"/>
          </a:xfrm>
          <a:prstGeom prst="roundRect">
            <a:avLst>
              <a:gd name="adj" fmla="val 12000"/>
            </a:avLst>
          </a:prstGeom>
          <a:solidFill>
            <a:srgbClr val="5B2C91"/>
          </a:solidFill>
          <a:ln>
            <a:noFill/>
          </a:ln>
        </p:spPr>
        <p:txBody>
          <a:bodyPr wrap="square" lIns="73152" tIns="45720" rIns="73152" bIns="45720" rtlCol="0" anchor="ctr">
            <a:normAutofit/>
          </a:bodyPr>
          <a:lstStyle/>
          <a:p>
            <a:pPr marL="0" indent="0" algn="ctr">
              <a:spcBef>
                <a:spcPts val="0"/>
              </a:spcBef>
              <a:spcAft>
                <a:spcPts val="200"/>
              </a:spcAft>
              <a:buNone/>
            </a:pPr>
            <a:r>
              <a:rPr lang="en-GB" sz="1450" dirty="0">
                <a:solidFill>
                  <a:srgbClr val="EBE1F5"/>
                </a:solidFill>
                <a:latin typeface="Arial"/>
                <a:cs typeface="Arial"/>
              </a:rPr>
              <a:t>Stage 3</a:t>
            </a:r>
          </a:p>
          <a:p>
            <a:pPr marL="0" indent="0" algn="ctr">
              <a:spcBef>
                <a:spcPts val="0"/>
              </a:spcBef>
              <a:spcAft>
                <a:spcPts val="0"/>
              </a:spcAft>
              <a:buNone/>
            </a:pPr>
            <a:r>
              <a:rPr lang="en-GB" sz="1700" b="1" dirty="0">
                <a:solidFill>
                  <a:srgbClr val="FFFFFF"/>
                </a:solidFill>
                <a:latin typeface="Arial"/>
                <a:cs typeface="Arial"/>
              </a:rPr>
              <a:t>Implement the process technology</a:t>
            </a:r>
          </a:p>
        </p:txBody>
      </p:sp>
      <p:sp>
        <p:nvSpPr>
          <p:cNvPr id="12" name="Box 12"/>
          <p:cNvSpPr/>
          <p:nvPr/>
        </p:nvSpPr>
        <p:spPr>
          <a:xfrm>
            <a:off x="8138160" y="4023360"/>
            <a:ext cx="3200400" cy="1188720"/>
          </a:xfrm>
          <a:prstGeom prst="roundRect">
            <a:avLst>
              <a:gd name="adj" fmla="val 12000"/>
            </a:avLst>
          </a:prstGeom>
          <a:solidFill>
            <a:srgbClr val="EBE1F5"/>
          </a:solidFill>
          <a:ln w="12700">
            <a:solidFill>
              <a:srgbClr val="C9B8E0"/>
            </a:solidFill>
          </a:ln>
        </p:spPr>
        <p:txBody>
          <a:bodyPr wrap="square" lIns="73152" tIns="45720" rIns="73152" bIns="45720" rtlCol="0" anchor="ctr">
            <a:normAutofit/>
          </a:bodyPr>
          <a:lstStyle/>
          <a:p>
            <a:pPr marL="0" indent="0" algn="ctr">
              <a:spcBef>
                <a:spcPts val="0"/>
              </a:spcBef>
              <a:spcAft>
                <a:spcPts val="0"/>
              </a:spcAft>
              <a:buNone/>
            </a:pPr>
            <a:r>
              <a:rPr lang="en-GB" sz="1550" i="1" dirty="0">
                <a:solidFill>
                  <a:srgbClr val="5B2C91"/>
                </a:solidFill>
                <a:latin typeface="Arial"/>
                <a:cs typeface="Arial"/>
              </a:rPr>
              <a:t>How can operations managers introduce new process technology smoothly?</a:t>
            </a:r>
          </a:p>
        </p:txBody>
      </p:sp>
      <p:sp>
        <p:nvSpPr>
          <p:cNvPr id="13" name="Source 13"/>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Fig. 8.2</a:t>
            </a:r>
          </a:p>
        </p:txBody>
      </p:sp>
      <p:sp>
        <p:nvSpPr>
          <p:cNvPr id="14" name="Page 14"/>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What Is Process Technology?</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822960" y="1143000"/>
            <a:ext cx="10543032" cy="777240"/>
          </a:xfrm>
          <a:prstGeom prst="roundRect">
            <a:avLst>
              <a:gd name="adj" fmla="val 12000"/>
            </a:avLst>
          </a:prstGeom>
          <a:solidFill>
            <a:srgbClr val="EBE1F5"/>
          </a:solidFill>
          <a:ln w="15875">
            <a:solidFill>
              <a:srgbClr val="5B2C91"/>
            </a:solidFill>
          </a:ln>
        </p:spPr>
        <p:txBody>
          <a:bodyPr wrap="square" lIns="182880" tIns="54864" rIns="182880" bIns="54864" rtlCol="0" anchor="ctr">
            <a:normAutofit/>
          </a:bodyPr>
          <a:lstStyle/>
          <a:p>
            <a:pPr marL="0" indent="0" algn="ctr">
              <a:spcBef>
                <a:spcPts val="0"/>
              </a:spcBef>
              <a:spcAft>
                <a:spcPts val="0"/>
              </a:spcAft>
              <a:buNone/>
            </a:pPr>
            <a:r>
              <a:rPr lang="en-GB" sz="1650" b="1" i="1" dirty="0">
                <a:solidFill>
                  <a:srgbClr val="5B2C91"/>
                </a:solidFill>
                <a:latin typeface="Arial"/>
                <a:cs typeface="Arial"/>
              </a:rPr>
              <a:t>Process technology: “the machines, equipment and devices that create and/or deliver (transform) products and services” (Slack et al., 2013, p. 225)</a:t>
            </a:r>
          </a:p>
        </p:txBody>
      </p:sp>
      <p:sp>
        <p:nvSpPr>
          <p:cNvPr id="6" name="Box 6"/>
          <p:cNvSpPr/>
          <p:nvPr/>
        </p:nvSpPr>
        <p:spPr>
          <a:xfrm>
            <a:off x="457200" y="2148840"/>
            <a:ext cx="5559552"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Direct and indirect process technology</a:t>
            </a:r>
          </a:p>
        </p:txBody>
      </p:sp>
      <p:sp>
        <p:nvSpPr>
          <p:cNvPr id="7" name="Box 7"/>
          <p:cNvSpPr/>
          <p:nvPr/>
        </p:nvSpPr>
        <p:spPr>
          <a:xfrm>
            <a:off x="457200" y="2532888"/>
            <a:ext cx="5559552" cy="254203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600"/>
              </a:spcAft>
              <a:buClr>
                <a:srgbClr val="5B2C91"/>
              </a:buClr>
              <a:buSzPct val="100000"/>
              <a:buFont typeface="Arial"/>
              <a:buChar char="•"/>
            </a:pPr>
            <a:r>
              <a:rPr lang="en-GB" sz="1500" b="1" dirty="0">
                <a:solidFill>
                  <a:srgbClr val="1A1A1A"/>
                </a:solidFill>
                <a:latin typeface="Arial"/>
                <a:cs typeface="Arial"/>
              </a:rPr>
              <a:t>Direct</a:t>
            </a:r>
            <a:r>
              <a:rPr lang="en-GB" sz="1500" dirty="0">
                <a:solidFill>
                  <a:srgbClr val="1A1A1A"/>
                </a:solidFill>
                <a:latin typeface="Arial"/>
                <a:cs typeface="Arial"/>
              </a:rPr>
              <a:t> technology acts on the materials, information or customers being transformed: robots, bread ovens, body scanners, check-in kiosks.</a:t>
            </a:r>
          </a:p>
          <a:p>
            <a:pPr marL="228600" indent="-228600" algn="l">
              <a:spcBef>
                <a:spcPts val="0"/>
              </a:spcBef>
              <a:spcAft>
                <a:spcPts val="600"/>
              </a:spcAft>
              <a:buClr>
                <a:srgbClr val="5B2C91"/>
              </a:buClr>
              <a:buSzPct val="100000"/>
              <a:buFont typeface="Arial"/>
              <a:buChar char="•"/>
            </a:pPr>
            <a:r>
              <a:rPr lang="en-GB" sz="1500" b="1" dirty="0">
                <a:solidFill>
                  <a:srgbClr val="1A1A1A"/>
                </a:solidFill>
                <a:latin typeface="Arial"/>
                <a:cs typeface="Arial"/>
              </a:rPr>
              <a:t>Indirect</a:t>
            </a:r>
            <a:r>
              <a:rPr lang="en-GB" sz="1500" dirty="0">
                <a:solidFill>
                  <a:srgbClr val="1A1A1A"/>
                </a:solidFill>
                <a:latin typeface="Arial"/>
                <a:cs typeface="Arial"/>
              </a:rPr>
              <a:t> technology helps managers plan, control and improve processes: ERP, scheduling and stock-control systems.</a:t>
            </a:r>
          </a:p>
          <a:p>
            <a:pPr marL="228600" indent="-228600" algn="l">
              <a:spcBef>
                <a:spcPts val="0"/>
              </a:spcBef>
              <a:spcAft>
                <a:spcPts val="0"/>
              </a:spcAft>
              <a:buClr>
                <a:srgbClr val="5B2C91"/>
              </a:buClr>
              <a:buSzPct val="100000"/>
              <a:buFont typeface="Arial"/>
              <a:buChar char="•"/>
            </a:pPr>
            <a:r>
              <a:rPr lang="en-GB" sz="1500" dirty="0">
                <a:solidFill>
                  <a:srgbClr val="1A1A1A"/>
                </a:solidFill>
                <a:latin typeface="Arial"/>
                <a:cs typeface="Arial"/>
              </a:rPr>
              <a:t>Many businesses now spend more on the systems that control their processes than on the direct technology itself.</a:t>
            </a:r>
          </a:p>
        </p:txBody>
      </p:sp>
      <p:sp>
        <p:nvSpPr>
          <p:cNvPr id="8" name="Box 8"/>
          <p:cNvSpPr/>
          <p:nvPr/>
        </p:nvSpPr>
        <p:spPr>
          <a:xfrm>
            <a:off x="6172200" y="2148840"/>
            <a:ext cx="5559552" cy="384048"/>
          </a:xfrm>
          <a:prstGeom prst="rect">
            <a:avLst/>
          </a:prstGeom>
          <a:solidFill>
            <a:srgbClr val="5B2C91"/>
          </a:solidFill>
          <a:ln>
            <a:noFill/>
          </a:ln>
        </p:spPr>
        <p:txBody>
          <a:bodyPr wrap="square" lIns="73152" tIns="45720" rIns="73152" bIns="45720" rtlCol="0" anchor="ctr">
            <a:normAutofit fontScale="92500"/>
          </a:bodyPr>
          <a:lstStyle/>
          <a:p>
            <a:pPr marL="0" indent="0" algn="ctr">
              <a:spcBef>
                <a:spcPts val="0"/>
              </a:spcBef>
              <a:spcAft>
                <a:spcPts val="0"/>
              </a:spcAft>
              <a:buNone/>
            </a:pPr>
            <a:r>
              <a:rPr lang="en-GB" sz="1550" b="1" dirty="0">
                <a:solidFill>
                  <a:srgbClr val="FFFFFF"/>
                </a:solidFill>
                <a:latin typeface="Arial"/>
                <a:cs typeface="Arial"/>
              </a:rPr>
              <a:t>Operations managers need not be technologists, but must:</a:t>
            </a:r>
          </a:p>
        </p:txBody>
      </p:sp>
      <p:sp>
        <p:nvSpPr>
          <p:cNvPr id="9" name="Box 9"/>
          <p:cNvSpPr/>
          <p:nvPr/>
        </p:nvSpPr>
        <p:spPr>
          <a:xfrm>
            <a:off x="6172200" y="2532888"/>
            <a:ext cx="5559552" cy="2542032"/>
          </a:xfrm>
          <a:prstGeom prst="rect">
            <a:avLst/>
          </a:prstGeom>
          <a:solidFill>
            <a:srgbClr val="F6F1FB"/>
          </a:solidFill>
          <a:ln w="12700">
            <a:solidFill>
              <a:srgbClr val="C9B8E0"/>
            </a:solidFill>
          </a:ln>
        </p:spPr>
        <p:txBody>
          <a:bodyPr wrap="square" lIns="109728" tIns="91440" rIns="109728" bIns="45720" rtlCol="0" anchor="t">
            <a:normAutofit/>
          </a:bodyPr>
          <a:lstStyle/>
          <a:p>
            <a:endParaRPr lang="en-GB" sz="1000"/>
          </a:p>
        </p:txBody>
      </p:sp>
      <p:sp>
        <p:nvSpPr>
          <p:cNvPr id="10" name="Box 10"/>
          <p:cNvSpPr/>
          <p:nvPr/>
        </p:nvSpPr>
        <p:spPr>
          <a:xfrm>
            <a:off x="6400800" y="2715768"/>
            <a:ext cx="438912" cy="438912"/>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50" b="1" dirty="0">
                <a:solidFill>
                  <a:srgbClr val="FFFFFF"/>
                </a:solidFill>
                <a:latin typeface="Arial"/>
                <a:cs typeface="Arial"/>
              </a:rPr>
              <a:t>1</a:t>
            </a:r>
          </a:p>
        </p:txBody>
      </p:sp>
      <p:sp>
        <p:nvSpPr>
          <p:cNvPr id="11" name="Box 11"/>
          <p:cNvSpPr/>
          <p:nvPr/>
        </p:nvSpPr>
        <p:spPr>
          <a:xfrm>
            <a:off x="6949440" y="2670048"/>
            <a:ext cx="466344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00" dirty="0">
                <a:solidFill>
                  <a:srgbClr val="1A1A1A"/>
                </a:solidFill>
                <a:latin typeface="Arial"/>
                <a:cs typeface="Arial"/>
              </a:rPr>
              <a:t>Articulate what the technology should be able to do</a:t>
            </a:r>
          </a:p>
        </p:txBody>
      </p:sp>
      <p:sp>
        <p:nvSpPr>
          <p:cNvPr id="12" name="Box 12"/>
          <p:cNvSpPr/>
          <p:nvPr/>
        </p:nvSpPr>
        <p:spPr>
          <a:xfrm>
            <a:off x="6400800" y="3465576"/>
            <a:ext cx="438912" cy="438912"/>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50" b="1" dirty="0">
                <a:solidFill>
                  <a:srgbClr val="FFFFFF"/>
                </a:solidFill>
                <a:latin typeface="Arial"/>
                <a:cs typeface="Arial"/>
              </a:rPr>
              <a:t>2</a:t>
            </a:r>
          </a:p>
        </p:txBody>
      </p:sp>
      <p:sp>
        <p:nvSpPr>
          <p:cNvPr id="13" name="Box 13"/>
          <p:cNvSpPr/>
          <p:nvPr/>
        </p:nvSpPr>
        <p:spPr>
          <a:xfrm>
            <a:off x="6949440" y="3419856"/>
            <a:ext cx="466344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00" dirty="0">
                <a:solidFill>
                  <a:srgbClr val="1A1A1A"/>
                </a:solidFill>
                <a:latin typeface="Arial"/>
                <a:cs typeface="Arial"/>
              </a:rPr>
              <a:t>Evaluate alternatives and share in the choice of technology</a:t>
            </a:r>
          </a:p>
        </p:txBody>
      </p:sp>
      <p:sp>
        <p:nvSpPr>
          <p:cNvPr id="14" name="Box 14"/>
          <p:cNvSpPr/>
          <p:nvPr/>
        </p:nvSpPr>
        <p:spPr>
          <a:xfrm>
            <a:off x="6400800" y="4215384"/>
            <a:ext cx="438912" cy="438912"/>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50" b="1" dirty="0">
                <a:solidFill>
                  <a:srgbClr val="FFFFFF"/>
                </a:solidFill>
                <a:latin typeface="Arial"/>
                <a:cs typeface="Arial"/>
              </a:rPr>
              <a:t>3</a:t>
            </a:r>
          </a:p>
        </p:txBody>
      </p:sp>
      <p:sp>
        <p:nvSpPr>
          <p:cNvPr id="15" name="Box 15"/>
          <p:cNvSpPr/>
          <p:nvPr/>
        </p:nvSpPr>
        <p:spPr>
          <a:xfrm>
            <a:off x="6949440" y="4169664"/>
            <a:ext cx="466344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00" dirty="0">
                <a:solidFill>
                  <a:srgbClr val="1A1A1A"/>
                </a:solidFill>
                <a:latin typeface="Arial"/>
                <a:cs typeface="Arial"/>
              </a:rPr>
              <a:t>Implement it so it reaches its full potential</a:t>
            </a:r>
          </a:p>
        </p:txBody>
      </p:sp>
      <p:sp>
        <p:nvSpPr>
          <p:cNvPr id="16" name="Box 16"/>
          <p:cNvSpPr/>
          <p:nvPr/>
        </p:nvSpPr>
        <p:spPr>
          <a:xfrm>
            <a:off x="457200" y="5257800"/>
            <a:ext cx="2743200" cy="5486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b="1" dirty="0">
                <a:solidFill>
                  <a:srgbClr val="5B2C91"/>
                </a:solidFill>
                <a:latin typeface="Arial"/>
                <a:cs typeface="Arial"/>
              </a:rPr>
              <a:t>Technology affects every performance objective:</a:t>
            </a:r>
          </a:p>
        </p:txBody>
      </p:sp>
      <p:sp>
        <p:nvSpPr>
          <p:cNvPr id="17" name="Box 17"/>
          <p:cNvSpPr/>
          <p:nvPr/>
        </p:nvSpPr>
        <p:spPr>
          <a:xfrm>
            <a:off x="3291840" y="5303520"/>
            <a:ext cx="1572768" cy="457200"/>
          </a:xfrm>
          <a:prstGeom prst="roundRect">
            <a:avLst>
              <a:gd name="adj" fmla="val 3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Quality</a:t>
            </a:r>
          </a:p>
        </p:txBody>
      </p:sp>
      <p:sp>
        <p:nvSpPr>
          <p:cNvPr id="18" name="Box 18"/>
          <p:cNvSpPr/>
          <p:nvPr/>
        </p:nvSpPr>
        <p:spPr>
          <a:xfrm>
            <a:off x="4992624" y="5303520"/>
            <a:ext cx="1572768" cy="457200"/>
          </a:xfrm>
          <a:prstGeom prst="roundRect">
            <a:avLst>
              <a:gd name="adj" fmla="val 3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Speed</a:t>
            </a:r>
          </a:p>
        </p:txBody>
      </p:sp>
      <p:sp>
        <p:nvSpPr>
          <p:cNvPr id="19" name="Box 19"/>
          <p:cNvSpPr/>
          <p:nvPr/>
        </p:nvSpPr>
        <p:spPr>
          <a:xfrm>
            <a:off x="6693408" y="5303520"/>
            <a:ext cx="1572768" cy="457200"/>
          </a:xfrm>
          <a:prstGeom prst="roundRect">
            <a:avLst>
              <a:gd name="adj" fmla="val 3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Dependability</a:t>
            </a:r>
          </a:p>
        </p:txBody>
      </p:sp>
      <p:sp>
        <p:nvSpPr>
          <p:cNvPr id="20" name="Box 20"/>
          <p:cNvSpPr/>
          <p:nvPr/>
        </p:nvSpPr>
        <p:spPr>
          <a:xfrm>
            <a:off x="8394192" y="5303520"/>
            <a:ext cx="1572768" cy="457200"/>
          </a:xfrm>
          <a:prstGeom prst="roundRect">
            <a:avLst>
              <a:gd name="adj" fmla="val 3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Flexibility</a:t>
            </a:r>
          </a:p>
        </p:txBody>
      </p:sp>
      <p:sp>
        <p:nvSpPr>
          <p:cNvPr id="21" name="Box 21"/>
          <p:cNvSpPr/>
          <p:nvPr/>
        </p:nvSpPr>
        <p:spPr>
          <a:xfrm>
            <a:off x="10094976" y="5303520"/>
            <a:ext cx="1572768" cy="457200"/>
          </a:xfrm>
          <a:prstGeom prst="roundRect">
            <a:avLst>
              <a:gd name="adj" fmla="val 3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Cost</a:t>
            </a:r>
          </a:p>
        </p:txBody>
      </p:sp>
      <p:sp>
        <p:nvSpPr>
          <p:cNvPr id="22" name="Source 22"/>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pp. 225–226</a:t>
            </a:r>
          </a:p>
        </p:txBody>
      </p:sp>
      <p:sp>
        <p:nvSpPr>
          <p:cNvPr id="23" name="Page 23"/>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34</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ogs" descr="Cogs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Classifying Process Technology by What It Transforms</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97280"/>
            <a:ext cx="2697480" cy="43891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Material-processing</a:t>
            </a:r>
          </a:p>
        </p:txBody>
      </p:sp>
      <p:pic>
        <p:nvPicPr>
          <p:cNvPr id="6" name="Picture IMG_mat" descr="A robotic arm assembling products"/>
          <p:cNvPicPr>
            <a:picLocks noChangeAspect="1"/>
          </p:cNvPicPr>
          <p:nvPr/>
        </p:nvPicPr>
        <p:blipFill>
          <a:blip r:embed="rId2"/>
          <a:stretch>
            <a:fillRect/>
          </a:stretch>
        </p:blipFill>
        <p:spPr>
          <a:xfrm>
            <a:off x="457200" y="1536192"/>
            <a:ext cx="2697480" cy="1508760"/>
          </a:xfrm>
          <a:prstGeom prst="rect">
            <a:avLst/>
          </a:prstGeom>
        </p:spPr>
      </p:pic>
      <p:sp>
        <p:nvSpPr>
          <p:cNvPr id="8" name="Box 8"/>
          <p:cNvSpPr/>
          <p:nvPr/>
        </p:nvSpPr>
        <p:spPr>
          <a:xfrm>
            <a:off x="457200" y="3044952"/>
            <a:ext cx="2697480" cy="2395728"/>
          </a:xfrm>
          <a:prstGeom prst="rect">
            <a:avLst/>
          </a:prstGeom>
          <a:solidFill>
            <a:srgbClr val="F6F1FB"/>
          </a:solidFill>
          <a:ln w="12700">
            <a:solidFill>
              <a:srgbClr val="C9B8E0"/>
            </a:solidFill>
          </a:ln>
        </p:spPr>
        <p:txBody>
          <a:bodyPr wrap="square" lIns="109728" tIns="91440" rIns="91440" bIns="45720" rtlCol="0" anchor="t">
            <a:normAutofit/>
          </a:bodyPr>
          <a:lstStyle/>
          <a:p>
            <a:pPr marL="0" indent="0" algn="l">
              <a:spcBef>
                <a:spcPts val="0"/>
              </a:spcBef>
              <a:spcAft>
                <a:spcPts val="400"/>
              </a:spcAft>
              <a:buNone/>
            </a:pPr>
            <a:r>
              <a:rPr lang="en-GB" sz="1450" i="1" dirty="0">
                <a:solidFill>
                  <a:srgbClr val="5B2C91"/>
                </a:solidFill>
                <a:latin typeface="Arial"/>
                <a:cs typeface="Arial"/>
              </a:rPr>
              <a:t>Shapes, transports, stores or changes physical objects.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Robots assemble products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Conveyors and automated warehouses move materials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3D printers create parts</a:t>
            </a:r>
          </a:p>
        </p:txBody>
      </p:sp>
      <p:sp>
        <p:nvSpPr>
          <p:cNvPr id="9" name="Box 9"/>
          <p:cNvSpPr/>
          <p:nvPr/>
        </p:nvSpPr>
        <p:spPr>
          <a:xfrm>
            <a:off x="457200" y="5440680"/>
            <a:ext cx="2697480" cy="685800"/>
          </a:xfrm>
          <a:prstGeom prst="rect">
            <a:avLst/>
          </a:prstGeom>
          <a:solidFill>
            <a:srgbClr val="5B2C91"/>
          </a:solidFill>
          <a:ln>
            <a:noFill/>
          </a:ln>
        </p:spPr>
        <p:txBody>
          <a:bodyPr wrap="square" lIns="109728" tIns="36576" rIns="91440" bIns="36576" rtlCol="0" anchor="ctr">
            <a:normAutofit/>
          </a:bodyPr>
          <a:lstStyle/>
          <a:p>
            <a:pPr marL="0" indent="0" algn="l">
              <a:spcBef>
                <a:spcPts val="0"/>
              </a:spcBef>
              <a:spcAft>
                <a:spcPts val="0"/>
              </a:spcAft>
              <a:buNone/>
            </a:pPr>
            <a:r>
              <a:rPr lang="en-GB" sz="1400" b="1" dirty="0">
                <a:solidFill>
                  <a:srgbClr val="FFFFFF"/>
                </a:solidFill>
                <a:latin typeface="Arial"/>
                <a:cs typeface="Arial"/>
              </a:rPr>
              <a:t>What changes? </a:t>
            </a:r>
            <a:r>
              <a:rPr lang="en-GB" sz="1400" dirty="0">
                <a:solidFill>
                  <a:srgbClr val="FFFFFF"/>
                </a:solidFill>
                <a:latin typeface="Arial"/>
                <a:cs typeface="Arial"/>
              </a:rPr>
              <a:t>The product’s form or location.</a:t>
            </a:r>
          </a:p>
        </p:txBody>
      </p:sp>
      <p:sp>
        <p:nvSpPr>
          <p:cNvPr id="10" name="Box 10"/>
          <p:cNvSpPr/>
          <p:nvPr/>
        </p:nvSpPr>
        <p:spPr>
          <a:xfrm>
            <a:off x="3300984" y="1097280"/>
            <a:ext cx="2697480" cy="43891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Information-processing</a:t>
            </a:r>
          </a:p>
        </p:txBody>
      </p:sp>
      <p:pic>
        <p:nvPicPr>
          <p:cNvPr id="11" name="Picture IMG_info" descr="An analyst reviewing data dashboards"/>
          <p:cNvPicPr>
            <a:picLocks noChangeAspect="1"/>
          </p:cNvPicPr>
          <p:nvPr/>
        </p:nvPicPr>
        <p:blipFill>
          <a:blip r:embed="rId3"/>
          <a:stretch>
            <a:fillRect/>
          </a:stretch>
        </p:blipFill>
        <p:spPr>
          <a:xfrm>
            <a:off x="3300984" y="1536192"/>
            <a:ext cx="2697480" cy="1508760"/>
          </a:xfrm>
          <a:prstGeom prst="rect">
            <a:avLst/>
          </a:prstGeom>
        </p:spPr>
      </p:pic>
      <p:sp>
        <p:nvSpPr>
          <p:cNvPr id="13" name="Box 13"/>
          <p:cNvSpPr/>
          <p:nvPr/>
        </p:nvSpPr>
        <p:spPr>
          <a:xfrm>
            <a:off x="3300984" y="3044952"/>
            <a:ext cx="2697480" cy="2395728"/>
          </a:xfrm>
          <a:prstGeom prst="rect">
            <a:avLst/>
          </a:prstGeom>
          <a:solidFill>
            <a:srgbClr val="F6F1FB"/>
          </a:solidFill>
          <a:ln w="12700">
            <a:solidFill>
              <a:srgbClr val="C9B8E0"/>
            </a:solidFill>
          </a:ln>
        </p:spPr>
        <p:txBody>
          <a:bodyPr wrap="square" lIns="109728" tIns="91440" rIns="91440" bIns="45720" rtlCol="0" anchor="t">
            <a:normAutofit/>
          </a:bodyPr>
          <a:lstStyle/>
          <a:p>
            <a:pPr marL="0" indent="0" algn="l">
              <a:spcBef>
                <a:spcPts val="0"/>
              </a:spcBef>
              <a:spcAft>
                <a:spcPts val="400"/>
              </a:spcAft>
              <a:buNone/>
            </a:pPr>
            <a:r>
              <a:rPr lang="en-GB" sz="1450" i="1" dirty="0">
                <a:solidFill>
                  <a:srgbClr val="5B2C91"/>
                </a:solidFill>
                <a:latin typeface="Arial"/>
                <a:cs typeface="Arial"/>
              </a:rPr>
              <a:t>Collects, manipulates, stores or distributes information: the most common type.</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Analytics identifies patterns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ERP coordinates resources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AI supports decisions; also e-business, blockchain</a:t>
            </a:r>
          </a:p>
        </p:txBody>
      </p:sp>
      <p:sp>
        <p:nvSpPr>
          <p:cNvPr id="14" name="Box 14"/>
          <p:cNvSpPr/>
          <p:nvPr/>
        </p:nvSpPr>
        <p:spPr>
          <a:xfrm>
            <a:off x="3300984" y="5440680"/>
            <a:ext cx="2697480" cy="685800"/>
          </a:xfrm>
          <a:prstGeom prst="rect">
            <a:avLst/>
          </a:prstGeom>
          <a:solidFill>
            <a:srgbClr val="5B2C91"/>
          </a:solidFill>
          <a:ln>
            <a:noFill/>
          </a:ln>
        </p:spPr>
        <p:txBody>
          <a:bodyPr wrap="square" lIns="109728" tIns="36576" rIns="91440" bIns="36576" rtlCol="0" anchor="ctr">
            <a:normAutofit lnSpcReduction="10000"/>
          </a:bodyPr>
          <a:lstStyle/>
          <a:p>
            <a:pPr marL="0" indent="0" algn="l">
              <a:spcBef>
                <a:spcPts val="0"/>
              </a:spcBef>
              <a:spcAft>
                <a:spcPts val="0"/>
              </a:spcAft>
              <a:buNone/>
            </a:pPr>
            <a:r>
              <a:rPr lang="en-GB" sz="1400" b="1" dirty="0">
                <a:solidFill>
                  <a:srgbClr val="FFFFFF"/>
                </a:solidFill>
                <a:latin typeface="Arial"/>
                <a:cs typeface="Arial"/>
              </a:rPr>
              <a:t>What changes? </a:t>
            </a:r>
            <a:r>
              <a:rPr lang="en-GB" sz="1400" dirty="0">
                <a:solidFill>
                  <a:srgbClr val="FFFFFF"/>
                </a:solidFill>
                <a:latin typeface="Arial"/>
                <a:cs typeface="Arial"/>
              </a:rPr>
              <a:t>Data becomes useful information or action.</a:t>
            </a:r>
          </a:p>
        </p:txBody>
      </p:sp>
      <p:sp>
        <p:nvSpPr>
          <p:cNvPr id="15" name="Box 15"/>
          <p:cNvSpPr/>
          <p:nvPr/>
        </p:nvSpPr>
        <p:spPr>
          <a:xfrm>
            <a:off x="6144768" y="1097280"/>
            <a:ext cx="2697480" cy="43891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Customer-processing</a:t>
            </a:r>
          </a:p>
        </p:txBody>
      </p:sp>
      <p:pic>
        <p:nvPicPr>
          <p:cNvPr id="16" name="Picture IMG_act" descr="A customer using a booking kiosk"/>
          <p:cNvPicPr>
            <a:picLocks noChangeAspect="1"/>
          </p:cNvPicPr>
          <p:nvPr/>
        </p:nvPicPr>
        <p:blipFill>
          <a:blip r:embed="rId4"/>
          <a:stretch>
            <a:fillRect/>
          </a:stretch>
        </p:blipFill>
        <p:spPr>
          <a:xfrm>
            <a:off x="6144768" y="1536192"/>
            <a:ext cx="868680" cy="1508760"/>
          </a:xfrm>
          <a:prstGeom prst="rect">
            <a:avLst/>
          </a:prstGeom>
        </p:spPr>
      </p:pic>
      <p:sp>
        <p:nvSpPr>
          <p:cNvPr id="18" name="Box 18"/>
          <p:cNvSpPr/>
          <p:nvPr/>
        </p:nvSpPr>
        <p:spPr>
          <a:xfrm>
            <a:off x="6144768" y="2788920"/>
            <a:ext cx="868680" cy="256032"/>
          </a:xfrm>
          <a:prstGeom prst="rect">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900" b="1" dirty="0">
                <a:solidFill>
                  <a:srgbClr val="FFFFFF"/>
                </a:solidFill>
                <a:latin typeface="Arial"/>
                <a:cs typeface="Arial"/>
              </a:rPr>
              <a:t>ACTIVE</a:t>
            </a:r>
          </a:p>
        </p:txBody>
      </p:sp>
      <p:pic>
        <p:nvPicPr>
          <p:cNvPr id="19" name="Picture IMG_pas" descr="People in a glass lift"/>
          <p:cNvPicPr>
            <a:picLocks noChangeAspect="1"/>
          </p:cNvPicPr>
          <p:nvPr/>
        </p:nvPicPr>
        <p:blipFill>
          <a:blip r:embed="rId5"/>
          <a:stretch>
            <a:fillRect/>
          </a:stretch>
        </p:blipFill>
        <p:spPr>
          <a:xfrm>
            <a:off x="7059168" y="1536192"/>
            <a:ext cx="868680" cy="1508760"/>
          </a:xfrm>
          <a:prstGeom prst="rect">
            <a:avLst/>
          </a:prstGeom>
        </p:spPr>
      </p:pic>
      <p:sp>
        <p:nvSpPr>
          <p:cNvPr id="21" name="Box 21"/>
          <p:cNvSpPr/>
          <p:nvPr/>
        </p:nvSpPr>
        <p:spPr>
          <a:xfrm>
            <a:off x="7059168" y="2788920"/>
            <a:ext cx="868680" cy="256032"/>
          </a:xfrm>
          <a:prstGeom prst="rect">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900" b="1" dirty="0">
                <a:solidFill>
                  <a:srgbClr val="FFFFFF"/>
                </a:solidFill>
                <a:latin typeface="Arial"/>
                <a:cs typeface="Arial"/>
              </a:rPr>
              <a:t>PASSIVE</a:t>
            </a:r>
          </a:p>
        </p:txBody>
      </p:sp>
      <p:pic>
        <p:nvPicPr>
          <p:cNvPr id="22" name="Picture IMG_hid" descr="Shoppers under a footfall sensor"/>
          <p:cNvPicPr>
            <a:picLocks noChangeAspect="1"/>
          </p:cNvPicPr>
          <p:nvPr/>
        </p:nvPicPr>
        <p:blipFill>
          <a:blip r:embed="rId6"/>
          <a:stretch>
            <a:fillRect/>
          </a:stretch>
        </p:blipFill>
        <p:spPr>
          <a:xfrm>
            <a:off x="7973568" y="1536192"/>
            <a:ext cx="868680" cy="1508760"/>
          </a:xfrm>
          <a:prstGeom prst="rect">
            <a:avLst/>
          </a:prstGeom>
        </p:spPr>
      </p:pic>
      <p:sp>
        <p:nvSpPr>
          <p:cNvPr id="24" name="Box 24"/>
          <p:cNvSpPr/>
          <p:nvPr/>
        </p:nvSpPr>
        <p:spPr>
          <a:xfrm>
            <a:off x="7973568" y="2788920"/>
            <a:ext cx="868680" cy="256032"/>
          </a:xfrm>
          <a:prstGeom prst="rect">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900" b="1" dirty="0">
                <a:solidFill>
                  <a:srgbClr val="FFFFFF"/>
                </a:solidFill>
                <a:latin typeface="Arial"/>
                <a:cs typeface="Arial"/>
              </a:rPr>
              <a:t>HIDDEN</a:t>
            </a:r>
          </a:p>
        </p:txBody>
      </p:sp>
      <p:sp>
        <p:nvSpPr>
          <p:cNvPr id="25" name="Box 25"/>
          <p:cNvSpPr/>
          <p:nvPr/>
        </p:nvSpPr>
        <p:spPr>
          <a:xfrm>
            <a:off x="6144768" y="3044952"/>
            <a:ext cx="2697480" cy="2395728"/>
          </a:xfrm>
          <a:prstGeom prst="rect">
            <a:avLst/>
          </a:prstGeom>
          <a:solidFill>
            <a:srgbClr val="F6F1FB"/>
          </a:solidFill>
          <a:ln w="12700">
            <a:solidFill>
              <a:srgbClr val="C9B8E0"/>
            </a:solidFill>
          </a:ln>
        </p:spPr>
        <p:txBody>
          <a:bodyPr wrap="square" lIns="109728" tIns="91440" rIns="91440" bIns="45720" rtlCol="0" anchor="t">
            <a:normAutofit lnSpcReduction="10000"/>
          </a:bodyPr>
          <a:lstStyle/>
          <a:p>
            <a:pPr marL="0" indent="0" algn="l">
              <a:spcBef>
                <a:spcPts val="0"/>
              </a:spcBef>
              <a:spcAft>
                <a:spcPts val="400"/>
              </a:spcAft>
              <a:buNone/>
            </a:pPr>
            <a:r>
              <a:rPr lang="en-GB" sz="1450" i="1" dirty="0">
                <a:solidFill>
                  <a:srgbClr val="5B2C91"/>
                </a:solidFill>
                <a:latin typeface="Arial"/>
                <a:cs typeface="Arial"/>
              </a:rPr>
              <a:t>Technology that customers use, are moved by, or are monitored by.</a:t>
            </a:r>
          </a:p>
          <a:p>
            <a:pPr marL="228600" indent="-228600" algn="l">
              <a:spcBef>
                <a:spcPts val="0"/>
              </a:spcBef>
              <a:spcAft>
                <a:spcPts val="400"/>
              </a:spcAft>
              <a:buClr>
                <a:srgbClr val="5B2C91"/>
              </a:buClr>
              <a:buSzPct val="100000"/>
              <a:buFont typeface="Arial"/>
              <a:buChar char="•"/>
            </a:pPr>
            <a:r>
              <a:rPr lang="en-GB" sz="1450" b="1" dirty="0">
                <a:solidFill>
                  <a:srgbClr val="1A1A1A"/>
                </a:solidFill>
                <a:latin typeface="Arial"/>
                <a:cs typeface="Arial"/>
              </a:rPr>
              <a:t>Active: </a:t>
            </a:r>
            <a:r>
              <a:rPr lang="en-GB" sz="1450" dirty="0">
                <a:solidFill>
                  <a:srgbClr val="1A1A1A"/>
                </a:solidFill>
                <a:latin typeface="Arial"/>
                <a:cs typeface="Arial"/>
              </a:rPr>
              <a:t>customer operates it (kiosk, ATM, self service machines)</a:t>
            </a:r>
          </a:p>
          <a:p>
            <a:pPr marL="228600" indent="-228600" algn="l">
              <a:spcBef>
                <a:spcPts val="0"/>
              </a:spcBef>
              <a:spcAft>
                <a:spcPts val="400"/>
              </a:spcAft>
              <a:buClr>
                <a:srgbClr val="5B2C91"/>
              </a:buClr>
              <a:buSzPct val="100000"/>
              <a:buFont typeface="Arial"/>
              <a:buChar char="•"/>
            </a:pPr>
            <a:r>
              <a:rPr lang="en-GB" sz="1450" b="1" dirty="0">
                <a:solidFill>
                  <a:srgbClr val="1A1A1A"/>
                </a:solidFill>
                <a:latin typeface="Arial"/>
                <a:cs typeface="Arial"/>
              </a:rPr>
              <a:t>Passive: </a:t>
            </a:r>
            <a:r>
              <a:rPr lang="en-GB" sz="1450" dirty="0">
                <a:solidFill>
                  <a:srgbClr val="1A1A1A"/>
                </a:solidFill>
                <a:latin typeface="Arial"/>
                <a:cs typeface="Arial"/>
              </a:rPr>
              <a:t>it moves them (lift, ride)</a:t>
            </a:r>
          </a:p>
          <a:p>
            <a:pPr marL="228600" indent="-228600" algn="l">
              <a:spcBef>
                <a:spcPts val="0"/>
              </a:spcBef>
              <a:spcAft>
                <a:spcPts val="0"/>
              </a:spcAft>
              <a:buClr>
                <a:srgbClr val="5B2C91"/>
              </a:buClr>
              <a:buSzPct val="100000"/>
              <a:buFont typeface="Arial"/>
              <a:buChar char="•"/>
            </a:pPr>
            <a:r>
              <a:rPr lang="en-GB" sz="1450" b="1" dirty="0">
                <a:solidFill>
                  <a:srgbClr val="1A1A1A"/>
                </a:solidFill>
                <a:latin typeface="Arial"/>
                <a:cs typeface="Arial"/>
              </a:rPr>
              <a:t>Hidden: </a:t>
            </a:r>
            <a:r>
              <a:rPr lang="en-GB" sz="1450" dirty="0">
                <a:solidFill>
                  <a:srgbClr val="1A1A1A"/>
                </a:solidFill>
                <a:latin typeface="Arial"/>
                <a:cs typeface="Arial"/>
              </a:rPr>
              <a:t>it monitors them (footfall sensor, CCTV)</a:t>
            </a:r>
          </a:p>
        </p:txBody>
      </p:sp>
      <p:sp>
        <p:nvSpPr>
          <p:cNvPr id="26" name="Box 26"/>
          <p:cNvSpPr/>
          <p:nvPr/>
        </p:nvSpPr>
        <p:spPr>
          <a:xfrm>
            <a:off x="6144768" y="5440680"/>
            <a:ext cx="2697480" cy="685800"/>
          </a:xfrm>
          <a:prstGeom prst="rect">
            <a:avLst/>
          </a:prstGeom>
          <a:solidFill>
            <a:srgbClr val="5B2C91"/>
          </a:solidFill>
          <a:ln>
            <a:noFill/>
          </a:ln>
        </p:spPr>
        <p:txBody>
          <a:bodyPr wrap="square" lIns="109728" tIns="36576" rIns="91440" bIns="36576" rtlCol="0" anchor="ctr">
            <a:normAutofit lnSpcReduction="10000"/>
          </a:bodyPr>
          <a:lstStyle/>
          <a:p>
            <a:pPr marL="0" indent="0" algn="l">
              <a:spcBef>
                <a:spcPts val="0"/>
              </a:spcBef>
              <a:spcAft>
                <a:spcPts val="0"/>
              </a:spcAft>
              <a:buNone/>
            </a:pPr>
            <a:r>
              <a:rPr lang="en-GB" sz="1400" b="1" dirty="0">
                <a:solidFill>
                  <a:srgbClr val="FFFFFF"/>
                </a:solidFill>
                <a:latin typeface="Arial"/>
                <a:cs typeface="Arial"/>
              </a:rPr>
              <a:t>What changes? </a:t>
            </a:r>
            <a:r>
              <a:rPr lang="en-GB" sz="1400" dirty="0">
                <a:solidFill>
                  <a:srgbClr val="FFFFFF"/>
                </a:solidFill>
                <a:latin typeface="Arial"/>
                <a:cs typeface="Arial"/>
              </a:rPr>
              <a:t>The customer’s location, state or experience.</a:t>
            </a:r>
          </a:p>
        </p:txBody>
      </p:sp>
      <p:sp>
        <p:nvSpPr>
          <p:cNvPr id="27" name="Box 27"/>
          <p:cNvSpPr/>
          <p:nvPr/>
        </p:nvSpPr>
        <p:spPr>
          <a:xfrm>
            <a:off x="8988552" y="1097280"/>
            <a:ext cx="2697480" cy="43891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Integrating</a:t>
            </a:r>
          </a:p>
        </p:txBody>
      </p:sp>
      <p:pic>
        <p:nvPicPr>
          <p:cNvPr id="28" name="Picture IMG_integ" descr="A supermarket checkout scanning groceries"/>
          <p:cNvPicPr>
            <a:picLocks noChangeAspect="1"/>
          </p:cNvPicPr>
          <p:nvPr/>
        </p:nvPicPr>
        <p:blipFill>
          <a:blip r:embed="rId7"/>
          <a:stretch>
            <a:fillRect/>
          </a:stretch>
        </p:blipFill>
        <p:spPr>
          <a:xfrm>
            <a:off x="8988552" y="1536192"/>
            <a:ext cx="2697480" cy="1508760"/>
          </a:xfrm>
          <a:prstGeom prst="rect">
            <a:avLst/>
          </a:prstGeom>
        </p:spPr>
      </p:pic>
      <p:sp>
        <p:nvSpPr>
          <p:cNvPr id="30" name="Box 30"/>
          <p:cNvSpPr/>
          <p:nvPr/>
        </p:nvSpPr>
        <p:spPr>
          <a:xfrm>
            <a:off x="8988552" y="3044952"/>
            <a:ext cx="2697480" cy="2395728"/>
          </a:xfrm>
          <a:prstGeom prst="rect">
            <a:avLst/>
          </a:prstGeom>
          <a:solidFill>
            <a:srgbClr val="F6F1FB"/>
          </a:solidFill>
          <a:ln w="12700">
            <a:solidFill>
              <a:srgbClr val="C9B8E0"/>
            </a:solidFill>
          </a:ln>
        </p:spPr>
        <p:txBody>
          <a:bodyPr wrap="square" lIns="109728" tIns="91440" rIns="91440" bIns="45720" rtlCol="0" anchor="t">
            <a:normAutofit/>
          </a:bodyPr>
          <a:lstStyle/>
          <a:p>
            <a:pPr marL="0" indent="0" algn="l">
              <a:spcBef>
                <a:spcPts val="0"/>
              </a:spcBef>
              <a:spcAft>
                <a:spcPts val="400"/>
              </a:spcAft>
              <a:buNone/>
            </a:pPr>
            <a:r>
              <a:rPr lang="en-GB" sz="1450" i="1" dirty="0">
                <a:solidFill>
                  <a:srgbClr val="5B2C91"/>
                </a:solidFill>
                <a:latin typeface="Arial"/>
                <a:cs typeface="Arial"/>
              </a:rPr>
              <a:t>Processes a combination of materials, information and customers.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EPOS checkout: scan products, customer pays, stock updates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Internet of Things</a:t>
            </a:r>
          </a:p>
          <a:p>
            <a:pPr marL="228600" indent="-228600" algn="l">
              <a:spcBef>
                <a:spcPts val="0"/>
              </a:spcBef>
              <a:spcAft>
                <a:spcPts val="400"/>
              </a:spcAft>
              <a:buClr>
                <a:srgbClr val="5B2C91"/>
              </a:buClr>
              <a:buSzPct val="100000"/>
              <a:buFont typeface="Arial"/>
              <a:buChar char="•"/>
            </a:pPr>
            <a:r>
              <a:rPr lang="en-GB" sz="1450" dirty="0">
                <a:solidFill>
                  <a:srgbClr val="1A1A1A"/>
                </a:solidFill>
                <a:latin typeface="Arial"/>
                <a:cs typeface="Arial"/>
              </a:rPr>
              <a:t>Digital twins</a:t>
            </a:r>
          </a:p>
        </p:txBody>
      </p:sp>
      <p:sp>
        <p:nvSpPr>
          <p:cNvPr id="31" name="Box 31"/>
          <p:cNvSpPr/>
          <p:nvPr/>
        </p:nvSpPr>
        <p:spPr>
          <a:xfrm>
            <a:off x="8988552" y="5440680"/>
            <a:ext cx="2697480" cy="685800"/>
          </a:xfrm>
          <a:prstGeom prst="rect">
            <a:avLst/>
          </a:prstGeom>
          <a:solidFill>
            <a:srgbClr val="5B2C91"/>
          </a:solidFill>
          <a:ln>
            <a:noFill/>
          </a:ln>
        </p:spPr>
        <p:txBody>
          <a:bodyPr wrap="square" lIns="109728" tIns="36576" rIns="91440" bIns="36576" rtlCol="0" anchor="ctr">
            <a:normAutofit/>
          </a:bodyPr>
          <a:lstStyle/>
          <a:p>
            <a:pPr marL="0" indent="0" algn="l">
              <a:spcBef>
                <a:spcPts val="0"/>
              </a:spcBef>
              <a:spcAft>
                <a:spcPts val="0"/>
              </a:spcAft>
              <a:buNone/>
            </a:pPr>
            <a:r>
              <a:rPr lang="en-GB" sz="1400" b="1" dirty="0">
                <a:solidFill>
                  <a:srgbClr val="FFFFFF"/>
                </a:solidFill>
                <a:latin typeface="Arial"/>
                <a:cs typeface="Arial"/>
              </a:rPr>
              <a:t>What changes? </a:t>
            </a:r>
            <a:r>
              <a:rPr lang="en-GB" sz="1400" dirty="0">
                <a:solidFill>
                  <a:srgbClr val="FFFFFF"/>
                </a:solidFill>
                <a:latin typeface="Arial"/>
                <a:cs typeface="Arial"/>
              </a:rPr>
              <a:t>Product, customer and data together.</a:t>
            </a:r>
          </a:p>
        </p:txBody>
      </p:sp>
      <p:sp>
        <p:nvSpPr>
          <p:cNvPr id="32" name="Source 32"/>
          <p:cNvSpPr/>
          <p:nvPr/>
        </p:nvSpPr>
        <p:spPr>
          <a:xfrm>
            <a:off x="457200" y="6446520"/>
            <a:ext cx="10607040" cy="320040"/>
          </a:xfrm>
          <a:prstGeom prst="rect">
            <a:avLst/>
          </a:prstGeom>
          <a:noFill/>
          <a:ln>
            <a:noFill/>
          </a:ln>
        </p:spPr>
        <p:txBody>
          <a:bodyPr wrap="square" lIns="73152" tIns="45720" rIns="73152" bIns="45720" rtlCol="0" anchor="ctr">
            <a:normAutofit fontScale="92500" lnSpcReduction="20000"/>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pp. 226–227. Illustrations: AI-generated teaching images, not photographs of real operations</a:t>
            </a:r>
          </a:p>
        </p:txBody>
      </p:sp>
      <p:sp>
        <p:nvSpPr>
          <p:cNvPr id="33" name="Page 33"/>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35</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LayerGroup" descr="LayerGroup icon"/>
          <p:cNvPicPr>
            <a:picLocks noChangeAspect="1"/>
          </p:cNvPicPr>
          <p:nvPr/>
        </p:nvPicPr>
        <p:blipFill>
          <a:blip r:embed="rId8"/>
          <a:stretch>
            <a:fillRect/>
          </a:stretch>
        </p:blipFill>
        <p:spPr>
          <a:xfrm>
            <a:off x="577901" y="449885"/>
            <a:ext cx="307238" cy="30723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Another Lens: What Does the Technology Do?</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00" i="1" dirty="0">
                <a:solidFill>
                  <a:srgbClr val="5B2C91"/>
                </a:solidFill>
                <a:latin typeface="Arial"/>
                <a:cs typeface="Arial"/>
              </a:rPr>
              <a:t>Slack classifies technology by the resource it transforms. A second lens asks what job it performs in the operation.</a:t>
            </a:r>
          </a:p>
        </p:txBody>
      </p:sp>
      <p:sp>
        <p:nvSpPr>
          <p:cNvPr id="6" name="Box 6"/>
          <p:cNvSpPr/>
          <p:nvPr/>
        </p:nvSpPr>
        <p:spPr>
          <a:xfrm>
            <a:off x="457200" y="1600200"/>
            <a:ext cx="2103120" cy="566928"/>
          </a:xfrm>
          <a:prstGeom prst="homePlate">
            <a:avLst>
              <a:gd name="adj" fmla="val 22000"/>
            </a:avLst>
          </a:prstGeom>
          <a:solidFill>
            <a:srgbClr val="5B2C91"/>
          </a:solidFill>
          <a:ln>
            <a:noFill/>
          </a:ln>
        </p:spPr>
        <p:txBody>
          <a:bodyPr wrap="square" lIns="45720" tIns="0" rIns="182880" bIns="0" rtlCol="0" anchor="ctr">
            <a:normAutofit/>
          </a:bodyPr>
          <a:lstStyle/>
          <a:p>
            <a:pPr marL="0" indent="0" algn="ctr">
              <a:spcBef>
                <a:spcPts val="0"/>
              </a:spcBef>
              <a:spcAft>
                <a:spcPts val="0"/>
              </a:spcAft>
              <a:buNone/>
            </a:pPr>
            <a:r>
              <a:rPr lang="en-GB" sz="1650" b="1" dirty="0">
                <a:solidFill>
                  <a:srgbClr val="FFFFFF"/>
                </a:solidFill>
                <a:latin typeface="Arial"/>
                <a:cs typeface="Arial"/>
              </a:rPr>
              <a:t>SENSE</a:t>
            </a:r>
          </a:p>
        </p:txBody>
      </p:sp>
      <p:sp>
        <p:nvSpPr>
          <p:cNvPr id="7" name="Icon circle 7"/>
          <p:cNvSpPr/>
          <p:nvPr/>
        </p:nvSpPr>
        <p:spPr>
          <a:xfrm>
            <a:off x="1143000" y="2286000"/>
            <a:ext cx="731520" cy="731520"/>
          </a:xfrm>
          <a:prstGeom prst="ellipse">
            <a:avLst/>
          </a:prstGeom>
          <a:solidFill>
            <a:srgbClr val="5B2C91"/>
          </a:solidFill>
          <a:ln>
            <a:noFill/>
          </a:ln>
        </p:spPr>
        <p:txBody>
          <a:bodyPr/>
          <a:lstStyle/>
          <a:p>
            <a:endParaRPr lang="en-GB"/>
          </a:p>
        </p:txBody>
      </p:sp>
      <p:pic>
        <p:nvPicPr>
          <p:cNvPr id="8" name="Icon FaEye" descr="Eye icon"/>
          <p:cNvPicPr>
            <a:picLocks noChangeAspect="1"/>
          </p:cNvPicPr>
          <p:nvPr/>
        </p:nvPicPr>
        <p:blipFill>
          <a:blip r:embed="rId3"/>
          <a:stretch>
            <a:fillRect/>
          </a:stretch>
        </p:blipFill>
        <p:spPr>
          <a:xfrm>
            <a:off x="1303934" y="2446934"/>
            <a:ext cx="409651" cy="409651"/>
          </a:xfrm>
          <a:prstGeom prst="rect">
            <a:avLst/>
          </a:prstGeom>
        </p:spPr>
      </p:pic>
      <p:sp>
        <p:nvSpPr>
          <p:cNvPr id="9" name="Box 9"/>
          <p:cNvSpPr/>
          <p:nvPr/>
        </p:nvSpPr>
        <p:spPr>
          <a:xfrm>
            <a:off x="457200" y="3108960"/>
            <a:ext cx="2103120" cy="411480"/>
          </a:xfrm>
          <a:prstGeom prst="rect">
            <a:avLst/>
          </a:prstGeom>
          <a:noFill/>
          <a:ln>
            <a:noFill/>
          </a:ln>
        </p:spPr>
        <p:txBody>
          <a:bodyPr wrap="square" lIns="27432" tIns="0" rIns="27432" bIns="0" rtlCol="0" anchor="ctr">
            <a:normAutofit/>
          </a:bodyPr>
          <a:lstStyle/>
          <a:p>
            <a:pPr marL="0" indent="0" algn="ctr">
              <a:spcBef>
                <a:spcPts val="0"/>
              </a:spcBef>
              <a:spcAft>
                <a:spcPts val="0"/>
              </a:spcAft>
              <a:buNone/>
            </a:pPr>
            <a:r>
              <a:rPr lang="en-GB" sz="1300" b="1" dirty="0">
                <a:solidFill>
                  <a:srgbClr val="5B2C91"/>
                </a:solidFill>
                <a:latin typeface="Arial"/>
                <a:cs typeface="Arial"/>
              </a:rPr>
              <a:t>Perceive the physical world</a:t>
            </a:r>
          </a:p>
        </p:txBody>
      </p:sp>
      <p:sp>
        <p:nvSpPr>
          <p:cNvPr id="10" name="Box 10"/>
          <p:cNvSpPr/>
          <p:nvPr/>
        </p:nvSpPr>
        <p:spPr>
          <a:xfrm>
            <a:off x="457200" y="3547872"/>
            <a:ext cx="2103120" cy="1783080"/>
          </a:xfrm>
          <a:prstGeom prst="rect">
            <a:avLst/>
          </a:prstGeom>
          <a:solidFill>
            <a:srgbClr val="F6F1FB"/>
          </a:solidFill>
          <a:ln w="12700">
            <a:solidFill>
              <a:srgbClr val="C9B8E0"/>
            </a:solidFill>
          </a:ln>
        </p:spPr>
        <p:txBody>
          <a:bodyPr wrap="square" lIns="91440" tIns="73152" rIns="54864" bIns="36576" rtlCol="0" anchor="t">
            <a:normAutofit/>
          </a:bodyPr>
          <a:lstStyle/>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See: machine vision, cameras, LiDAR</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Hear: acoustic and vibration sensors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Feel: tactile and force sensors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Smell: electronic noses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Locate: RFID, GPS, IoT sensors</a:t>
            </a:r>
          </a:p>
        </p:txBody>
      </p:sp>
      <p:sp>
        <p:nvSpPr>
          <p:cNvPr id="11" name="Box 11"/>
          <p:cNvSpPr/>
          <p:nvPr/>
        </p:nvSpPr>
        <p:spPr>
          <a:xfrm>
            <a:off x="457200" y="5330952"/>
            <a:ext cx="2103120" cy="384048"/>
          </a:xfrm>
          <a:prstGeom prst="rect">
            <a:avLst/>
          </a:prstGeom>
          <a:solidFill>
            <a:srgbClr val="EBE1F5"/>
          </a:solidFill>
          <a:ln w="12700">
            <a:solidFill>
              <a:srgbClr val="C9B8E0"/>
            </a:solidFill>
          </a:ln>
        </p:spPr>
        <p:txBody>
          <a:bodyPr wrap="square" lIns="27432" tIns="0" rIns="27432" bIns="0" rtlCol="0" anchor="ctr">
            <a:normAutofit/>
          </a:bodyPr>
          <a:lstStyle/>
          <a:p>
            <a:pPr marL="0" indent="0" algn="ctr">
              <a:spcBef>
                <a:spcPts val="0"/>
              </a:spcBef>
              <a:spcAft>
                <a:spcPts val="0"/>
              </a:spcAft>
              <a:buNone/>
            </a:pPr>
            <a:r>
              <a:rPr lang="en-GB" sz="1000" b="1" dirty="0">
                <a:solidFill>
                  <a:srgbClr val="5B2C91"/>
                </a:solidFill>
                <a:latin typeface="Arial"/>
                <a:cs typeface="Arial"/>
              </a:rPr>
              <a:t>Quality · Dependability</a:t>
            </a:r>
          </a:p>
        </p:txBody>
      </p:sp>
      <p:sp>
        <p:nvSpPr>
          <p:cNvPr id="12" name="Box 12"/>
          <p:cNvSpPr/>
          <p:nvPr/>
        </p:nvSpPr>
        <p:spPr>
          <a:xfrm>
            <a:off x="2752344" y="1600200"/>
            <a:ext cx="2103120" cy="566928"/>
          </a:xfrm>
          <a:prstGeom prst="homePlate">
            <a:avLst>
              <a:gd name="adj" fmla="val 22000"/>
            </a:avLst>
          </a:prstGeom>
          <a:solidFill>
            <a:srgbClr val="5B2C91"/>
          </a:solidFill>
          <a:ln>
            <a:noFill/>
          </a:ln>
        </p:spPr>
        <p:txBody>
          <a:bodyPr wrap="square" lIns="45720" tIns="0" rIns="182880" bIns="0" rtlCol="0" anchor="ctr">
            <a:normAutofit/>
          </a:bodyPr>
          <a:lstStyle/>
          <a:p>
            <a:pPr marL="0" indent="0" algn="ctr">
              <a:spcBef>
                <a:spcPts val="0"/>
              </a:spcBef>
              <a:spcAft>
                <a:spcPts val="0"/>
              </a:spcAft>
              <a:buNone/>
            </a:pPr>
            <a:r>
              <a:rPr lang="en-GB" sz="1650" b="1" dirty="0">
                <a:solidFill>
                  <a:srgbClr val="FFFFFF"/>
                </a:solidFill>
                <a:latin typeface="Arial"/>
                <a:cs typeface="Arial"/>
              </a:rPr>
              <a:t>THINK</a:t>
            </a:r>
          </a:p>
        </p:txBody>
      </p:sp>
      <p:sp>
        <p:nvSpPr>
          <p:cNvPr id="13" name="Icon circle 13"/>
          <p:cNvSpPr/>
          <p:nvPr/>
        </p:nvSpPr>
        <p:spPr>
          <a:xfrm>
            <a:off x="3438144" y="2286000"/>
            <a:ext cx="731520" cy="731520"/>
          </a:xfrm>
          <a:prstGeom prst="ellipse">
            <a:avLst/>
          </a:prstGeom>
          <a:solidFill>
            <a:srgbClr val="5B2C91"/>
          </a:solidFill>
          <a:ln>
            <a:noFill/>
          </a:ln>
        </p:spPr>
        <p:txBody>
          <a:bodyPr/>
          <a:lstStyle/>
          <a:p>
            <a:endParaRPr lang="en-GB"/>
          </a:p>
        </p:txBody>
      </p:sp>
      <p:pic>
        <p:nvPicPr>
          <p:cNvPr id="14" name="Icon FaBrain" descr="Brain icon"/>
          <p:cNvPicPr>
            <a:picLocks noChangeAspect="1"/>
          </p:cNvPicPr>
          <p:nvPr/>
        </p:nvPicPr>
        <p:blipFill>
          <a:blip r:embed="rId4"/>
          <a:stretch>
            <a:fillRect/>
          </a:stretch>
        </p:blipFill>
        <p:spPr>
          <a:xfrm>
            <a:off x="3599078" y="2446934"/>
            <a:ext cx="409651" cy="409651"/>
          </a:xfrm>
          <a:prstGeom prst="rect">
            <a:avLst/>
          </a:prstGeom>
        </p:spPr>
      </p:pic>
      <p:sp>
        <p:nvSpPr>
          <p:cNvPr id="15" name="Box 15"/>
          <p:cNvSpPr/>
          <p:nvPr/>
        </p:nvSpPr>
        <p:spPr>
          <a:xfrm>
            <a:off x="2752344" y="3108960"/>
            <a:ext cx="2103120" cy="411480"/>
          </a:xfrm>
          <a:prstGeom prst="rect">
            <a:avLst/>
          </a:prstGeom>
          <a:noFill/>
          <a:ln>
            <a:noFill/>
          </a:ln>
        </p:spPr>
        <p:txBody>
          <a:bodyPr wrap="square" lIns="27432" tIns="0" rIns="27432" bIns="0" rtlCol="0" anchor="ctr">
            <a:normAutofit/>
          </a:bodyPr>
          <a:lstStyle/>
          <a:p>
            <a:pPr marL="0" indent="0" algn="ctr">
              <a:spcBef>
                <a:spcPts val="0"/>
              </a:spcBef>
              <a:spcAft>
                <a:spcPts val="0"/>
              </a:spcAft>
              <a:buNone/>
            </a:pPr>
            <a:r>
              <a:rPr lang="en-GB" sz="1300" b="1" dirty="0">
                <a:solidFill>
                  <a:srgbClr val="5B2C91"/>
                </a:solidFill>
                <a:latin typeface="Arial"/>
                <a:cs typeface="Arial"/>
              </a:rPr>
              <a:t>Analyse data and decide</a:t>
            </a:r>
          </a:p>
        </p:txBody>
      </p:sp>
      <p:sp>
        <p:nvSpPr>
          <p:cNvPr id="16" name="Box 16"/>
          <p:cNvSpPr/>
          <p:nvPr/>
        </p:nvSpPr>
        <p:spPr>
          <a:xfrm>
            <a:off x="2752344" y="3547872"/>
            <a:ext cx="2103120" cy="1783080"/>
          </a:xfrm>
          <a:prstGeom prst="rect">
            <a:avLst/>
          </a:prstGeom>
          <a:solidFill>
            <a:srgbClr val="F6F1FB"/>
          </a:solidFill>
          <a:ln w="12700">
            <a:solidFill>
              <a:srgbClr val="C9B8E0"/>
            </a:solidFill>
          </a:ln>
        </p:spPr>
        <p:txBody>
          <a:bodyPr wrap="square" lIns="91440" tIns="73152" rIns="54864" bIns="36576" rtlCol="0" anchor="t">
            <a:normAutofit/>
          </a:bodyPr>
          <a:lstStyle/>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AI and agentic AI</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Big data analytics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Digital twins (simulate “what if?”)</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Quantum computing (optimise)</a:t>
            </a:r>
          </a:p>
        </p:txBody>
      </p:sp>
      <p:sp>
        <p:nvSpPr>
          <p:cNvPr id="17" name="Box 17"/>
          <p:cNvSpPr/>
          <p:nvPr/>
        </p:nvSpPr>
        <p:spPr>
          <a:xfrm>
            <a:off x="2752344" y="5330952"/>
            <a:ext cx="2103120" cy="384048"/>
          </a:xfrm>
          <a:prstGeom prst="rect">
            <a:avLst/>
          </a:prstGeom>
          <a:solidFill>
            <a:srgbClr val="EBE1F5"/>
          </a:solidFill>
          <a:ln w="12700">
            <a:solidFill>
              <a:srgbClr val="C9B8E0"/>
            </a:solidFill>
          </a:ln>
        </p:spPr>
        <p:txBody>
          <a:bodyPr wrap="square" lIns="27432" tIns="0" rIns="27432" bIns="0" rtlCol="0" anchor="ctr">
            <a:normAutofit/>
          </a:bodyPr>
          <a:lstStyle/>
          <a:p>
            <a:pPr marL="0" indent="0" algn="ctr">
              <a:spcBef>
                <a:spcPts val="0"/>
              </a:spcBef>
              <a:spcAft>
                <a:spcPts val="0"/>
              </a:spcAft>
              <a:buNone/>
            </a:pPr>
            <a:r>
              <a:rPr lang="en-GB" sz="1000" b="1" dirty="0">
                <a:solidFill>
                  <a:srgbClr val="5B2C91"/>
                </a:solidFill>
                <a:latin typeface="Arial"/>
                <a:cs typeface="Arial"/>
              </a:rPr>
              <a:t>Speed · Dependability</a:t>
            </a:r>
          </a:p>
        </p:txBody>
      </p:sp>
      <p:sp>
        <p:nvSpPr>
          <p:cNvPr id="18" name="Box 18"/>
          <p:cNvSpPr/>
          <p:nvPr/>
        </p:nvSpPr>
        <p:spPr>
          <a:xfrm>
            <a:off x="5047488" y="1600200"/>
            <a:ext cx="2103120" cy="566928"/>
          </a:xfrm>
          <a:prstGeom prst="homePlate">
            <a:avLst>
              <a:gd name="adj" fmla="val 22000"/>
            </a:avLst>
          </a:prstGeom>
          <a:solidFill>
            <a:srgbClr val="5B2C91"/>
          </a:solidFill>
          <a:ln>
            <a:noFill/>
          </a:ln>
        </p:spPr>
        <p:txBody>
          <a:bodyPr wrap="square" lIns="45720" tIns="0" rIns="182880" bIns="0" rtlCol="0" anchor="ctr">
            <a:normAutofit/>
          </a:bodyPr>
          <a:lstStyle/>
          <a:p>
            <a:pPr marL="0" indent="0" algn="ctr">
              <a:spcBef>
                <a:spcPts val="0"/>
              </a:spcBef>
              <a:spcAft>
                <a:spcPts val="0"/>
              </a:spcAft>
              <a:buNone/>
            </a:pPr>
            <a:r>
              <a:rPr lang="en-GB" sz="1650" b="1" dirty="0">
                <a:solidFill>
                  <a:srgbClr val="FFFFFF"/>
                </a:solidFill>
                <a:latin typeface="Arial"/>
                <a:cs typeface="Arial"/>
              </a:rPr>
              <a:t>ACT</a:t>
            </a:r>
          </a:p>
        </p:txBody>
      </p:sp>
      <p:sp>
        <p:nvSpPr>
          <p:cNvPr id="19" name="Icon circle 19"/>
          <p:cNvSpPr/>
          <p:nvPr/>
        </p:nvSpPr>
        <p:spPr>
          <a:xfrm>
            <a:off x="5733288" y="2286000"/>
            <a:ext cx="731520" cy="731520"/>
          </a:xfrm>
          <a:prstGeom prst="ellipse">
            <a:avLst/>
          </a:prstGeom>
          <a:solidFill>
            <a:srgbClr val="5B2C91"/>
          </a:solidFill>
          <a:ln>
            <a:noFill/>
          </a:ln>
        </p:spPr>
        <p:txBody>
          <a:bodyPr/>
          <a:lstStyle/>
          <a:p>
            <a:endParaRPr lang="en-GB"/>
          </a:p>
        </p:txBody>
      </p:sp>
      <p:pic>
        <p:nvPicPr>
          <p:cNvPr id="20" name="Icon FaRobot" descr="Robot icon"/>
          <p:cNvPicPr>
            <a:picLocks noChangeAspect="1"/>
          </p:cNvPicPr>
          <p:nvPr/>
        </p:nvPicPr>
        <p:blipFill>
          <a:blip r:embed="rId5"/>
          <a:stretch>
            <a:fillRect/>
          </a:stretch>
        </p:blipFill>
        <p:spPr>
          <a:xfrm>
            <a:off x="5894222" y="2446934"/>
            <a:ext cx="409651" cy="409651"/>
          </a:xfrm>
          <a:prstGeom prst="rect">
            <a:avLst/>
          </a:prstGeom>
        </p:spPr>
      </p:pic>
      <p:sp>
        <p:nvSpPr>
          <p:cNvPr id="21" name="Box 21"/>
          <p:cNvSpPr/>
          <p:nvPr/>
        </p:nvSpPr>
        <p:spPr>
          <a:xfrm>
            <a:off x="5047488" y="3108960"/>
            <a:ext cx="2103120" cy="411480"/>
          </a:xfrm>
          <a:prstGeom prst="rect">
            <a:avLst/>
          </a:prstGeom>
          <a:noFill/>
          <a:ln>
            <a:noFill/>
          </a:ln>
        </p:spPr>
        <p:txBody>
          <a:bodyPr wrap="square" lIns="27432" tIns="0" rIns="27432" bIns="0" rtlCol="0" anchor="ctr">
            <a:normAutofit/>
          </a:bodyPr>
          <a:lstStyle/>
          <a:p>
            <a:pPr marL="0" indent="0" algn="ctr">
              <a:spcBef>
                <a:spcPts val="0"/>
              </a:spcBef>
              <a:spcAft>
                <a:spcPts val="0"/>
              </a:spcAft>
              <a:buNone/>
            </a:pPr>
            <a:r>
              <a:rPr lang="en-GB" sz="1300" b="1" dirty="0">
                <a:solidFill>
                  <a:srgbClr val="5B2C91"/>
                </a:solidFill>
                <a:latin typeface="Arial"/>
                <a:cs typeface="Arial"/>
              </a:rPr>
              <a:t>Do the physical work</a:t>
            </a:r>
          </a:p>
        </p:txBody>
      </p:sp>
      <p:sp>
        <p:nvSpPr>
          <p:cNvPr id="22" name="Box 22"/>
          <p:cNvSpPr/>
          <p:nvPr/>
        </p:nvSpPr>
        <p:spPr>
          <a:xfrm>
            <a:off x="5047488" y="3547872"/>
            <a:ext cx="2103120" cy="1783080"/>
          </a:xfrm>
          <a:prstGeom prst="rect">
            <a:avLst/>
          </a:prstGeom>
          <a:solidFill>
            <a:srgbClr val="F6F1FB"/>
          </a:solidFill>
          <a:ln w="12700">
            <a:solidFill>
              <a:srgbClr val="C9B8E0"/>
            </a:solidFill>
          </a:ln>
        </p:spPr>
        <p:txBody>
          <a:bodyPr wrap="square" lIns="91440" tIns="73152" rIns="54864" bIns="36576" rtlCol="0" anchor="t">
            <a:normAutofit/>
          </a:bodyPr>
          <a:lstStyle/>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Robots and cobots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Automated guided vehicles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Drones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3D printers</a:t>
            </a:r>
          </a:p>
        </p:txBody>
      </p:sp>
      <p:sp>
        <p:nvSpPr>
          <p:cNvPr id="23" name="Box 23"/>
          <p:cNvSpPr/>
          <p:nvPr/>
        </p:nvSpPr>
        <p:spPr>
          <a:xfrm>
            <a:off x="5047488" y="5330952"/>
            <a:ext cx="2103120" cy="384048"/>
          </a:xfrm>
          <a:prstGeom prst="rect">
            <a:avLst/>
          </a:prstGeom>
          <a:solidFill>
            <a:srgbClr val="EBE1F5"/>
          </a:solidFill>
          <a:ln w="12700">
            <a:solidFill>
              <a:srgbClr val="C9B8E0"/>
            </a:solidFill>
          </a:ln>
        </p:spPr>
        <p:txBody>
          <a:bodyPr wrap="square" lIns="27432" tIns="0" rIns="27432" bIns="0" rtlCol="0" anchor="ctr">
            <a:normAutofit/>
          </a:bodyPr>
          <a:lstStyle/>
          <a:p>
            <a:pPr marL="0" indent="0" algn="ctr">
              <a:spcBef>
                <a:spcPts val="0"/>
              </a:spcBef>
              <a:spcAft>
                <a:spcPts val="0"/>
              </a:spcAft>
              <a:buNone/>
            </a:pPr>
            <a:r>
              <a:rPr lang="en-GB" sz="1000" b="1" dirty="0">
                <a:solidFill>
                  <a:srgbClr val="5B2C91"/>
                </a:solidFill>
                <a:latin typeface="Arial"/>
                <a:cs typeface="Arial"/>
              </a:rPr>
              <a:t>Cost · Quality · Speed</a:t>
            </a:r>
          </a:p>
        </p:txBody>
      </p:sp>
      <p:sp>
        <p:nvSpPr>
          <p:cNvPr id="24" name="Box 24"/>
          <p:cNvSpPr/>
          <p:nvPr/>
        </p:nvSpPr>
        <p:spPr>
          <a:xfrm>
            <a:off x="7342632" y="1600200"/>
            <a:ext cx="2103120" cy="566928"/>
          </a:xfrm>
          <a:prstGeom prst="homePlate">
            <a:avLst>
              <a:gd name="adj" fmla="val 22000"/>
            </a:avLst>
          </a:prstGeom>
          <a:solidFill>
            <a:srgbClr val="5B2C91"/>
          </a:solidFill>
          <a:ln>
            <a:noFill/>
          </a:ln>
        </p:spPr>
        <p:txBody>
          <a:bodyPr wrap="square" lIns="45720" tIns="0" rIns="182880" bIns="0" rtlCol="0" anchor="ctr">
            <a:normAutofit/>
          </a:bodyPr>
          <a:lstStyle/>
          <a:p>
            <a:pPr marL="0" indent="0" algn="ctr">
              <a:spcBef>
                <a:spcPts val="0"/>
              </a:spcBef>
              <a:spcAft>
                <a:spcPts val="0"/>
              </a:spcAft>
              <a:buNone/>
            </a:pPr>
            <a:r>
              <a:rPr lang="en-GB" sz="1650" b="1" dirty="0">
                <a:solidFill>
                  <a:srgbClr val="FFFFFF"/>
                </a:solidFill>
                <a:latin typeface="Arial"/>
                <a:cs typeface="Arial"/>
              </a:rPr>
              <a:t>CONNECT</a:t>
            </a:r>
          </a:p>
        </p:txBody>
      </p:sp>
      <p:sp>
        <p:nvSpPr>
          <p:cNvPr id="25" name="Icon circle 25"/>
          <p:cNvSpPr/>
          <p:nvPr/>
        </p:nvSpPr>
        <p:spPr>
          <a:xfrm>
            <a:off x="8028432" y="2286000"/>
            <a:ext cx="731520" cy="731520"/>
          </a:xfrm>
          <a:prstGeom prst="ellipse">
            <a:avLst/>
          </a:prstGeom>
          <a:solidFill>
            <a:srgbClr val="5B2C91"/>
          </a:solidFill>
          <a:ln>
            <a:noFill/>
          </a:ln>
        </p:spPr>
        <p:txBody>
          <a:bodyPr/>
          <a:lstStyle/>
          <a:p>
            <a:endParaRPr lang="en-GB"/>
          </a:p>
        </p:txBody>
      </p:sp>
      <p:pic>
        <p:nvPicPr>
          <p:cNvPr id="26" name="Icon FaNetworkWired" descr="NetworkWired icon"/>
          <p:cNvPicPr>
            <a:picLocks noChangeAspect="1"/>
          </p:cNvPicPr>
          <p:nvPr/>
        </p:nvPicPr>
        <p:blipFill>
          <a:blip r:embed="rId6"/>
          <a:stretch>
            <a:fillRect/>
          </a:stretch>
        </p:blipFill>
        <p:spPr>
          <a:xfrm>
            <a:off x="8189366" y="2446934"/>
            <a:ext cx="409651" cy="409651"/>
          </a:xfrm>
          <a:prstGeom prst="rect">
            <a:avLst/>
          </a:prstGeom>
        </p:spPr>
      </p:pic>
      <p:sp>
        <p:nvSpPr>
          <p:cNvPr id="27" name="Box 27"/>
          <p:cNvSpPr/>
          <p:nvPr/>
        </p:nvSpPr>
        <p:spPr>
          <a:xfrm>
            <a:off x="7342632" y="3108960"/>
            <a:ext cx="2103120" cy="411480"/>
          </a:xfrm>
          <a:prstGeom prst="rect">
            <a:avLst/>
          </a:prstGeom>
          <a:noFill/>
          <a:ln>
            <a:noFill/>
          </a:ln>
        </p:spPr>
        <p:txBody>
          <a:bodyPr wrap="square" lIns="27432" tIns="0" rIns="27432" bIns="0" rtlCol="0" anchor="ctr">
            <a:normAutofit/>
          </a:bodyPr>
          <a:lstStyle/>
          <a:p>
            <a:pPr marL="0" indent="0" algn="ctr">
              <a:spcBef>
                <a:spcPts val="0"/>
              </a:spcBef>
              <a:spcAft>
                <a:spcPts val="0"/>
              </a:spcAft>
              <a:buNone/>
            </a:pPr>
            <a:r>
              <a:rPr lang="en-GB" sz="1300" b="1" dirty="0">
                <a:solidFill>
                  <a:srgbClr val="5B2C91"/>
                </a:solidFill>
                <a:latin typeface="Arial"/>
                <a:cs typeface="Arial"/>
              </a:rPr>
              <a:t>Link systems and partners</a:t>
            </a:r>
          </a:p>
        </p:txBody>
      </p:sp>
      <p:sp>
        <p:nvSpPr>
          <p:cNvPr id="28" name="Box 28"/>
          <p:cNvSpPr/>
          <p:nvPr/>
        </p:nvSpPr>
        <p:spPr>
          <a:xfrm>
            <a:off x="7342632" y="3547872"/>
            <a:ext cx="2103120" cy="1783080"/>
          </a:xfrm>
          <a:prstGeom prst="rect">
            <a:avLst/>
          </a:prstGeom>
          <a:solidFill>
            <a:srgbClr val="F6F1FB"/>
          </a:solidFill>
          <a:ln w="12700">
            <a:solidFill>
              <a:srgbClr val="C9B8E0"/>
            </a:solidFill>
          </a:ln>
        </p:spPr>
        <p:txBody>
          <a:bodyPr wrap="square" lIns="91440" tIns="73152" rIns="54864" bIns="36576" rtlCol="0" anchor="t">
            <a:normAutofit/>
          </a:bodyPr>
          <a:lstStyle/>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ERP and cloud platforms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Blockchain</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5G and the internet</a:t>
            </a:r>
          </a:p>
        </p:txBody>
      </p:sp>
      <p:sp>
        <p:nvSpPr>
          <p:cNvPr id="29" name="Box 29"/>
          <p:cNvSpPr/>
          <p:nvPr/>
        </p:nvSpPr>
        <p:spPr>
          <a:xfrm>
            <a:off x="7342632" y="5330952"/>
            <a:ext cx="2103120" cy="384048"/>
          </a:xfrm>
          <a:prstGeom prst="rect">
            <a:avLst/>
          </a:prstGeom>
          <a:solidFill>
            <a:srgbClr val="EBE1F5"/>
          </a:solidFill>
          <a:ln w="12700">
            <a:solidFill>
              <a:srgbClr val="C9B8E0"/>
            </a:solidFill>
          </a:ln>
        </p:spPr>
        <p:txBody>
          <a:bodyPr wrap="square" lIns="27432" tIns="0" rIns="27432" bIns="0" rtlCol="0" anchor="ctr">
            <a:normAutofit/>
          </a:bodyPr>
          <a:lstStyle/>
          <a:p>
            <a:pPr marL="0" indent="0" algn="ctr">
              <a:spcBef>
                <a:spcPts val="0"/>
              </a:spcBef>
              <a:spcAft>
                <a:spcPts val="0"/>
              </a:spcAft>
              <a:buNone/>
            </a:pPr>
            <a:r>
              <a:rPr lang="en-GB" sz="1000" b="1" dirty="0">
                <a:solidFill>
                  <a:srgbClr val="5B2C91"/>
                </a:solidFill>
                <a:latin typeface="Arial"/>
                <a:cs typeface="Arial"/>
              </a:rPr>
              <a:t>Dependability · Flexibility</a:t>
            </a:r>
          </a:p>
        </p:txBody>
      </p:sp>
      <p:sp>
        <p:nvSpPr>
          <p:cNvPr id="30" name="Box 30"/>
          <p:cNvSpPr/>
          <p:nvPr/>
        </p:nvSpPr>
        <p:spPr>
          <a:xfrm>
            <a:off x="9637776" y="1600200"/>
            <a:ext cx="2103120" cy="566928"/>
          </a:xfrm>
          <a:prstGeom prst="rect">
            <a:avLst/>
          </a:prstGeom>
          <a:solidFill>
            <a:srgbClr val="5B2C91"/>
          </a:solidFill>
          <a:ln>
            <a:noFill/>
          </a:ln>
        </p:spPr>
        <p:txBody>
          <a:bodyPr wrap="square" lIns="45720" tIns="0" rIns="45720" bIns="0" rtlCol="0" anchor="ctr">
            <a:normAutofit/>
          </a:bodyPr>
          <a:lstStyle/>
          <a:p>
            <a:pPr marL="0" indent="0" algn="ctr">
              <a:spcBef>
                <a:spcPts val="0"/>
              </a:spcBef>
              <a:spcAft>
                <a:spcPts val="0"/>
              </a:spcAft>
              <a:buNone/>
            </a:pPr>
            <a:r>
              <a:rPr lang="en-GB" sz="1650" b="1" dirty="0">
                <a:solidFill>
                  <a:srgbClr val="FFFFFF"/>
                </a:solidFill>
                <a:latin typeface="Arial"/>
                <a:cs typeface="Arial"/>
              </a:rPr>
              <a:t>INTERACT</a:t>
            </a:r>
          </a:p>
        </p:txBody>
      </p:sp>
      <p:sp>
        <p:nvSpPr>
          <p:cNvPr id="31" name="Icon circle 31"/>
          <p:cNvSpPr/>
          <p:nvPr/>
        </p:nvSpPr>
        <p:spPr>
          <a:xfrm>
            <a:off x="10323576" y="2286000"/>
            <a:ext cx="731520" cy="731520"/>
          </a:xfrm>
          <a:prstGeom prst="ellipse">
            <a:avLst/>
          </a:prstGeom>
          <a:solidFill>
            <a:srgbClr val="5B2C91"/>
          </a:solidFill>
          <a:ln>
            <a:noFill/>
          </a:ln>
        </p:spPr>
        <p:txBody>
          <a:bodyPr/>
          <a:lstStyle/>
          <a:p>
            <a:endParaRPr lang="en-GB"/>
          </a:p>
        </p:txBody>
      </p:sp>
      <p:pic>
        <p:nvPicPr>
          <p:cNvPr id="32" name="Icon FaHandPointer" descr="HandPointer icon"/>
          <p:cNvPicPr>
            <a:picLocks noChangeAspect="1"/>
          </p:cNvPicPr>
          <p:nvPr/>
        </p:nvPicPr>
        <p:blipFill>
          <a:blip r:embed="rId7"/>
          <a:stretch>
            <a:fillRect/>
          </a:stretch>
        </p:blipFill>
        <p:spPr>
          <a:xfrm>
            <a:off x="10484510" y="2446934"/>
            <a:ext cx="409651" cy="409651"/>
          </a:xfrm>
          <a:prstGeom prst="rect">
            <a:avLst/>
          </a:prstGeom>
        </p:spPr>
      </p:pic>
      <p:sp>
        <p:nvSpPr>
          <p:cNvPr id="33" name="Box 33"/>
          <p:cNvSpPr/>
          <p:nvPr/>
        </p:nvSpPr>
        <p:spPr>
          <a:xfrm>
            <a:off x="9637776" y="3108960"/>
            <a:ext cx="2103120" cy="411480"/>
          </a:xfrm>
          <a:prstGeom prst="rect">
            <a:avLst/>
          </a:prstGeom>
          <a:noFill/>
          <a:ln>
            <a:noFill/>
          </a:ln>
        </p:spPr>
        <p:txBody>
          <a:bodyPr wrap="square" lIns="27432" tIns="0" rIns="27432" bIns="0" rtlCol="0" anchor="ctr">
            <a:normAutofit/>
          </a:bodyPr>
          <a:lstStyle/>
          <a:p>
            <a:pPr marL="0" indent="0" algn="ctr">
              <a:spcBef>
                <a:spcPts val="0"/>
              </a:spcBef>
              <a:spcAft>
                <a:spcPts val="0"/>
              </a:spcAft>
              <a:buNone/>
            </a:pPr>
            <a:r>
              <a:rPr lang="en-GB" sz="1300" b="1" dirty="0">
                <a:solidFill>
                  <a:srgbClr val="5B2C91"/>
                </a:solidFill>
                <a:latin typeface="Arial"/>
                <a:cs typeface="Arial"/>
              </a:rPr>
              <a:t>Let people use it</a:t>
            </a:r>
          </a:p>
        </p:txBody>
      </p:sp>
      <p:sp>
        <p:nvSpPr>
          <p:cNvPr id="34" name="Box 34"/>
          <p:cNvSpPr/>
          <p:nvPr/>
        </p:nvSpPr>
        <p:spPr>
          <a:xfrm>
            <a:off x="9637776" y="3547872"/>
            <a:ext cx="2103120" cy="1783080"/>
          </a:xfrm>
          <a:prstGeom prst="rect">
            <a:avLst/>
          </a:prstGeom>
          <a:solidFill>
            <a:srgbClr val="F6F1FB"/>
          </a:solidFill>
          <a:ln w="12700">
            <a:solidFill>
              <a:srgbClr val="C9B8E0"/>
            </a:solidFill>
          </a:ln>
        </p:spPr>
        <p:txBody>
          <a:bodyPr wrap="square" lIns="91440" tIns="73152" rIns="54864" bIns="36576" rtlCol="0" anchor="t">
            <a:normAutofit/>
          </a:bodyPr>
          <a:lstStyle/>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Self-service kiosks and apps</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AR / VR and the metaverse</a:t>
            </a:r>
          </a:p>
          <a:p>
            <a:pPr marL="228600" indent="-228600" algn="l">
              <a:spcBef>
                <a:spcPts val="0"/>
              </a:spcBef>
              <a:spcAft>
                <a:spcPts val="200"/>
              </a:spcAft>
              <a:buClr>
                <a:srgbClr val="5B2C91"/>
              </a:buClr>
              <a:buSzPct val="100000"/>
              <a:buFont typeface="Arial"/>
              <a:buChar char="•"/>
            </a:pPr>
            <a:r>
              <a:rPr lang="en-GB" sz="1100" dirty="0">
                <a:solidFill>
                  <a:srgbClr val="1A1A1A"/>
                </a:solidFill>
                <a:latin typeface="Arial"/>
                <a:cs typeface="Arial"/>
              </a:rPr>
              <a:t>Haptic gloves, voice assistants</a:t>
            </a:r>
          </a:p>
        </p:txBody>
      </p:sp>
      <p:sp>
        <p:nvSpPr>
          <p:cNvPr id="35" name="Box 35"/>
          <p:cNvSpPr/>
          <p:nvPr/>
        </p:nvSpPr>
        <p:spPr>
          <a:xfrm>
            <a:off x="9637776" y="5330952"/>
            <a:ext cx="2103120" cy="384048"/>
          </a:xfrm>
          <a:prstGeom prst="rect">
            <a:avLst/>
          </a:prstGeom>
          <a:solidFill>
            <a:srgbClr val="EBE1F5"/>
          </a:solidFill>
          <a:ln w="12700">
            <a:solidFill>
              <a:srgbClr val="C9B8E0"/>
            </a:solidFill>
          </a:ln>
        </p:spPr>
        <p:txBody>
          <a:bodyPr wrap="square" lIns="27432" tIns="0" rIns="27432" bIns="0" rtlCol="0" anchor="ctr">
            <a:normAutofit/>
          </a:bodyPr>
          <a:lstStyle/>
          <a:p>
            <a:pPr marL="0" indent="0" algn="ctr">
              <a:spcBef>
                <a:spcPts val="0"/>
              </a:spcBef>
              <a:spcAft>
                <a:spcPts val="0"/>
              </a:spcAft>
              <a:buNone/>
            </a:pPr>
            <a:r>
              <a:rPr lang="en-GB" sz="1000" b="1" dirty="0">
                <a:solidFill>
                  <a:srgbClr val="5B2C91"/>
                </a:solidFill>
                <a:latin typeface="Arial"/>
                <a:cs typeface="Arial"/>
              </a:rPr>
              <a:t>Speed · Flexibility</a:t>
            </a:r>
          </a:p>
        </p:txBody>
      </p:sp>
      <p:sp>
        <p:nvSpPr>
          <p:cNvPr id="36" name="Box 36"/>
          <p:cNvSpPr/>
          <p:nvPr/>
        </p:nvSpPr>
        <p:spPr>
          <a:xfrm>
            <a:off x="457200" y="5833872"/>
            <a:ext cx="11274552" cy="566928"/>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They work together:  </a:t>
            </a:r>
            <a:r>
              <a:rPr lang="en-GB" sz="1150" dirty="0">
                <a:solidFill>
                  <a:srgbClr val="FFFFFF"/>
                </a:solidFill>
                <a:latin typeface="Arial"/>
                <a:cs typeface="Arial"/>
              </a:rPr>
              <a:t>in a digital twin, sensors feed live data, the model thinks, robots act on the line and ERP connects the result. Sensing is also how TOC identifies the constraint in real time.</a:t>
            </a:r>
          </a:p>
        </p:txBody>
      </p:sp>
      <p:sp>
        <p:nvSpPr>
          <p:cNvPr id="37" name="Source 37"/>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Lecturer synthesis; robotics and sensory feedback: Slack et al. (2013), ch. 8, pp. 228–229</a:t>
            </a:r>
          </a:p>
        </p:txBody>
      </p:sp>
      <p:sp>
        <p:nvSpPr>
          <p:cNvPr id="38" name="Page 38"/>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36</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Shapes" descr="Shapes icon"/>
          <p:cNvPicPr>
            <a:picLocks noChangeAspect="1"/>
          </p:cNvPicPr>
          <p:nvPr/>
        </p:nvPicPr>
        <p:blipFill>
          <a:blip r:embed="rId8"/>
          <a:stretch>
            <a:fillRect/>
          </a:stretch>
        </p:blipFill>
        <p:spPr>
          <a:xfrm>
            <a:off x="577901" y="449885"/>
            <a:ext cx="307238" cy="30723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FA95-77B7-E575-91B0-550220AA1F40}"/>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E9AF9E92-A6AC-8CB9-4072-A47097E13462}"/>
              </a:ext>
            </a:extLst>
          </p:cNvPr>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Join the Session on Wooclap</a:t>
            </a:r>
          </a:p>
        </p:txBody>
      </p:sp>
      <p:cxnSp>
        <p:nvCxnSpPr>
          <p:cNvPr id="4" name="Line 4">
            <a:extLst>
              <a:ext uri="{FF2B5EF4-FFF2-40B4-BE49-F238E27FC236}">
                <a16:creationId xmlns:a16="http://schemas.microsoft.com/office/drawing/2014/main" id="{BBAAACFC-0568-5811-9A14-181FCD296538}"/>
              </a:ext>
            </a:extLst>
          </p:cNvPr>
          <p:cNvCxnSpPr/>
          <p:nvPr/>
        </p:nvCxnSpPr>
        <p:spPr>
          <a:xfrm>
            <a:off x="457200" y="960120"/>
            <a:ext cx="11274552" cy="0"/>
          </a:xfrm>
          <a:prstGeom prst="line">
            <a:avLst/>
          </a:prstGeom>
          <a:ln w="15875">
            <a:solidFill>
              <a:srgbClr val="5B2C91"/>
            </a:solidFill>
          </a:ln>
        </p:spPr>
      </p:cxnSp>
      <p:sp>
        <p:nvSpPr>
          <p:cNvPr id="6" name="Box 6">
            <a:extLst>
              <a:ext uri="{FF2B5EF4-FFF2-40B4-BE49-F238E27FC236}">
                <a16:creationId xmlns:a16="http://schemas.microsoft.com/office/drawing/2014/main" id="{C49D8414-D094-991D-3F06-0D200C0C0DE3}"/>
              </a:ext>
            </a:extLst>
          </p:cNvPr>
          <p:cNvSpPr/>
          <p:nvPr/>
        </p:nvSpPr>
        <p:spPr>
          <a:xfrm>
            <a:off x="685800" y="1234440"/>
            <a:ext cx="4572000" cy="4572000"/>
          </a:xfrm>
          <a:prstGeom prst="roundRect">
            <a:avLst>
              <a:gd name="adj" fmla="val 4000"/>
            </a:avLst>
          </a:prstGeom>
          <a:solidFill>
            <a:srgbClr val="FFFFFF"/>
          </a:solidFill>
          <a:ln w="28575">
            <a:solidFill>
              <a:srgbClr val="5B2C91"/>
            </a:solidFill>
          </a:ln>
        </p:spPr>
        <p:txBody>
          <a:bodyPr wrap="square" lIns="73152" tIns="45720" rIns="73152" bIns="45720" rtlCol="0" anchor="t">
            <a:normAutofit/>
          </a:bodyPr>
          <a:lstStyle/>
          <a:p>
            <a:endParaRPr lang="en-GB" sz="1000"/>
          </a:p>
        </p:txBody>
      </p:sp>
      <p:pic>
        <p:nvPicPr>
          <p:cNvPr id="55" name="Wooclap QR code" descr="QR code linking to the Wooclap live session CITLFMY">
            <a:extLst>
              <a:ext uri="{FF2B5EF4-FFF2-40B4-BE49-F238E27FC236}">
                <a16:creationId xmlns:a16="http://schemas.microsoft.com/office/drawing/2014/main" id="{D255FDA5-C00F-BA5C-343D-36121C6BAF38}"/>
              </a:ext>
            </a:extLst>
          </p:cNvPr>
          <p:cNvPicPr>
            <a:picLocks noChangeAspect="1"/>
          </p:cNvPicPr>
          <p:nvPr/>
        </p:nvPicPr>
        <p:blipFill>
          <a:blip r:embed="rId2"/>
          <a:stretch>
            <a:fillRect/>
          </a:stretch>
        </p:blipFill>
        <p:spPr>
          <a:xfrm>
            <a:off x="868680" y="1417320"/>
            <a:ext cx="4206240" cy="4206240"/>
          </a:xfrm>
          <a:prstGeom prst="rect">
            <a:avLst/>
          </a:prstGeom>
        </p:spPr>
      </p:pic>
      <p:sp>
        <p:nvSpPr>
          <p:cNvPr id="7" name="Box 7">
            <a:extLst>
              <a:ext uri="{FF2B5EF4-FFF2-40B4-BE49-F238E27FC236}">
                <a16:creationId xmlns:a16="http://schemas.microsoft.com/office/drawing/2014/main" id="{1B57FA9C-86BE-5A9B-31BF-F4DC5B69CF89}"/>
              </a:ext>
            </a:extLst>
          </p:cNvPr>
          <p:cNvSpPr/>
          <p:nvPr/>
        </p:nvSpPr>
        <p:spPr>
          <a:xfrm>
            <a:off x="685800" y="5897880"/>
            <a:ext cx="4572000" cy="4114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5B2C91"/>
                </a:solidFill>
                <a:latin typeface="Arial"/>
                <a:cs typeface="Arial"/>
              </a:rPr>
              <a:t>Scan with your phone camera</a:t>
            </a:r>
          </a:p>
        </p:txBody>
      </p:sp>
      <p:sp>
        <p:nvSpPr>
          <p:cNvPr id="8" name="Box 8">
            <a:extLst>
              <a:ext uri="{FF2B5EF4-FFF2-40B4-BE49-F238E27FC236}">
                <a16:creationId xmlns:a16="http://schemas.microsoft.com/office/drawing/2014/main" id="{5D138A19-1D56-5F20-4960-AE2D753AD944}"/>
              </a:ext>
            </a:extLst>
          </p:cNvPr>
          <p:cNvSpPr/>
          <p:nvPr/>
        </p:nvSpPr>
        <p:spPr>
          <a:xfrm>
            <a:off x="6035040" y="13716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1</a:t>
            </a:r>
          </a:p>
        </p:txBody>
      </p:sp>
      <p:sp>
        <p:nvSpPr>
          <p:cNvPr id="9" name="Box 9">
            <a:extLst>
              <a:ext uri="{FF2B5EF4-FFF2-40B4-BE49-F238E27FC236}">
                <a16:creationId xmlns:a16="http://schemas.microsoft.com/office/drawing/2014/main" id="{E8421B4B-2353-35ED-7185-E04CB1BE0160}"/>
              </a:ext>
            </a:extLst>
          </p:cNvPr>
          <p:cNvSpPr/>
          <p:nvPr/>
        </p:nvSpPr>
        <p:spPr>
          <a:xfrm>
            <a:off x="6766560" y="13258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Scan the QR code</a:t>
            </a:r>
          </a:p>
          <a:p>
            <a:pPr marL="0" indent="0" algn="l">
              <a:spcBef>
                <a:spcPts val="0"/>
              </a:spcBef>
              <a:spcAft>
                <a:spcPts val="0"/>
              </a:spcAft>
              <a:buNone/>
            </a:pPr>
            <a:r>
              <a:rPr lang="en-GB" sz="1600" dirty="0">
                <a:solidFill>
                  <a:srgbClr val="1A1A1A"/>
                </a:solidFill>
                <a:latin typeface="Arial"/>
                <a:cs typeface="Arial"/>
              </a:rPr>
              <a:t>Point your phone camera at the code on the left.</a:t>
            </a:r>
          </a:p>
        </p:txBody>
      </p:sp>
      <p:sp>
        <p:nvSpPr>
          <p:cNvPr id="10" name="Box 10">
            <a:extLst>
              <a:ext uri="{FF2B5EF4-FFF2-40B4-BE49-F238E27FC236}">
                <a16:creationId xmlns:a16="http://schemas.microsoft.com/office/drawing/2014/main" id="{CD58A6E5-46C1-EE9A-9C66-C25A47C15FDE}"/>
              </a:ext>
            </a:extLst>
          </p:cNvPr>
          <p:cNvSpPr/>
          <p:nvPr/>
        </p:nvSpPr>
        <p:spPr>
          <a:xfrm>
            <a:off x="6035040" y="29718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2</a:t>
            </a:r>
          </a:p>
        </p:txBody>
      </p:sp>
      <p:sp>
        <p:nvSpPr>
          <p:cNvPr id="11" name="Box 11">
            <a:extLst>
              <a:ext uri="{FF2B5EF4-FFF2-40B4-BE49-F238E27FC236}">
                <a16:creationId xmlns:a16="http://schemas.microsoft.com/office/drawing/2014/main" id="{939AF870-10E1-25FD-EAEA-AAEDA92530ED}"/>
              </a:ext>
            </a:extLst>
          </p:cNvPr>
          <p:cNvSpPr/>
          <p:nvPr/>
        </p:nvSpPr>
        <p:spPr>
          <a:xfrm>
            <a:off x="6766560" y="29260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Or go to app.wooclap.com</a:t>
            </a:r>
          </a:p>
          <a:p>
            <a:pPr marL="0" indent="0" algn="l">
              <a:spcBef>
                <a:spcPts val="0"/>
              </a:spcBef>
              <a:spcAft>
                <a:spcPts val="0"/>
              </a:spcAft>
              <a:buNone/>
            </a:pPr>
            <a:r>
              <a:rPr lang="en-GB" sz="1600" dirty="0">
                <a:solidFill>
                  <a:srgbClr val="1A1A1A"/>
                </a:solidFill>
                <a:latin typeface="Arial"/>
                <a:cs typeface="Arial"/>
              </a:rPr>
              <a:t>and enter the event code:</a:t>
            </a:r>
          </a:p>
        </p:txBody>
      </p:sp>
      <p:sp>
        <p:nvSpPr>
          <p:cNvPr id="12" name="Box 12">
            <a:extLst>
              <a:ext uri="{FF2B5EF4-FFF2-40B4-BE49-F238E27FC236}">
                <a16:creationId xmlns:a16="http://schemas.microsoft.com/office/drawing/2014/main" id="{0A3E0853-07EB-070D-5653-39CAE198AADD}"/>
              </a:ext>
            </a:extLst>
          </p:cNvPr>
          <p:cNvSpPr/>
          <p:nvPr/>
        </p:nvSpPr>
        <p:spPr>
          <a:xfrm>
            <a:off x="6035040" y="45720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3</a:t>
            </a:r>
          </a:p>
        </p:txBody>
      </p:sp>
      <p:sp>
        <p:nvSpPr>
          <p:cNvPr id="13" name="Box 13">
            <a:extLst>
              <a:ext uri="{FF2B5EF4-FFF2-40B4-BE49-F238E27FC236}">
                <a16:creationId xmlns:a16="http://schemas.microsoft.com/office/drawing/2014/main" id="{70F09793-5D05-E708-99F6-2C731C210B73}"/>
              </a:ext>
            </a:extLst>
          </p:cNvPr>
          <p:cNvSpPr/>
          <p:nvPr/>
        </p:nvSpPr>
        <p:spPr>
          <a:xfrm>
            <a:off x="6766560" y="4526280"/>
            <a:ext cx="4937760" cy="868680"/>
          </a:xfrm>
          <a:prstGeom prst="rect">
            <a:avLst/>
          </a:prstGeom>
          <a:noFill/>
          <a:ln>
            <a:noFill/>
          </a:ln>
        </p:spPr>
        <p:txBody>
          <a:bodyPr wrap="square" lIns="73152" tIns="45720" rIns="73152" bIns="45720" rtlCol="0" anchor="t">
            <a:normAutofit lnSpcReduction="10000"/>
          </a:bodyPr>
          <a:lstStyle/>
          <a:p>
            <a:pPr marL="0" indent="0" algn="l">
              <a:spcBef>
                <a:spcPts val="0"/>
              </a:spcBef>
              <a:spcAft>
                <a:spcPts val="150"/>
              </a:spcAft>
              <a:buNone/>
            </a:pPr>
            <a:r>
              <a:rPr lang="en-GB" sz="1800" b="1" dirty="0">
                <a:solidFill>
                  <a:srgbClr val="5B2C91"/>
                </a:solidFill>
                <a:latin typeface="Arial"/>
                <a:cs typeface="Arial"/>
              </a:rPr>
              <a:t>Keep it open</a:t>
            </a:r>
          </a:p>
          <a:p>
            <a:pPr marL="0" indent="0" algn="l">
              <a:spcBef>
                <a:spcPts val="0"/>
              </a:spcBef>
              <a:spcAft>
                <a:spcPts val="0"/>
              </a:spcAft>
              <a:buNone/>
            </a:pPr>
            <a:r>
              <a:rPr lang="en-GB" sz="1600" dirty="0">
                <a:solidFill>
                  <a:srgbClr val="1A1A1A"/>
                </a:solidFill>
                <a:latin typeface="Arial"/>
                <a:cs typeface="Arial"/>
              </a:rPr>
              <a:t>We will use Wooclap for questions and activities throughout the session.</a:t>
            </a:r>
          </a:p>
        </p:txBody>
      </p:sp>
      <p:sp>
        <p:nvSpPr>
          <p:cNvPr id="14" name="Box 14">
            <a:extLst>
              <a:ext uri="{FF2B5EF4-FFF2-40B4-BE49-F238E27FC236}">
                <a16:creationId xmlns:a16="http://schemas.microsoft.com/office/drawing/2014/main" id="{4C3E19F1-4982-7EB6-FFA7-DC882FAB3442}"/>
              </a:ext>
            </a:extLst>
          </p:cNvPr>
          <p:cNvSpPr/>
          <p:nvPr/>
        </p:nvSpPr>
        <p:spPr>
          <a:xfrm>
            <a:off x="6766560" y="3520440"/>
            <a:ext cx="3840480" cy="7772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3600" b="1" dirty="0">
                <a:solidFill>
                  <a:srgbClr val="FFFFFF"/>
                </a:solidFill>
                <a:latin typeface="Arial"/>
                <a:cs typeface="Arial"/>
              </a:rPr>
              <a:t>CITLFMY</a:t>
            </a:r>
          </a:p>
        </p:txBody>
      </p:sp>
      <p:sp>
        <p:nvSpPr>
          <p:cNvPr id="15" name="Page 15">
            <a:extLst>
              <a:ext uri="{FF2B5EF4-FFF2-40B4-BE49-F238E27FC236}">
                <a16:creationId xmlns:a16="http://schemas.microsoft.com/office/drawing/2014/main" id="{57D8F098-9430-34D4-2DBD-38D7BD4A9EED}"/>
              </a:ext>
            </a:extLst>
          </p:cNvPr>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a:t>
            </a:r>
          </a:p>
        </p:txBody>
      </p:sp>
      <p:sp>
        <p:nvSpPr>
          <p:cNvPr id="950" name="Icon circle 950">
            <a:extLst>
              <a:ext uri="{FF2B5EF4-FFF2-40B4-BE49-F238E27FC236}">
                <a16:creationId xmlns:a16="http://schemas.microsoft.com/office/drawing/2014/main" id="{6311461C-4E9B-5298-97EC-F20809111E28}"/>
              </a:ext>
            </a:extLst>
          </p:cNvPr>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Users" descr="Users icon">
            <a:extLst>
              <a:ext uri="{FF2B5EF4-FFF2-40B4-BE49-F238E27FC236}">
                <a16:creationId xmlns:a16="http://schemas.microsoft.com/office/drawing/2014/main" id="{5FBB92B0-042D-CFF2-7980-5087B757B32D}"/>
              </a:ext>
            </a:extLst>
          </p:cNvPr>
          <p:cNvPicPr>
            <a:picLocks noChangeAspect="1"/>
          </p:cNvPicPr>
          <p:nvPr/>
        </p:nvPicPr>
        <p:blipFill>
          <a:blip r:embed="rId3"/>
          <a:stretch>
            <a:fillRect/>
          </a:stretch>
        </p:blipFill>
        <p:spPr>
          <a:xfrm>
            <a:off x="577901" y="449885"/>
            <a:ext cx="307238" cy="307238"/>
          </a:xfrm>
          <a:prstGeom prst="rect">
            <a:avLst/>
          </a:prstGeom>
        </p:spPr>
      </p:pic>
      <p:sp>
        <p:nvSpPr>
          <p:cNvPr id="16" name="TextBox 15">
            <a:extLst>
              <a:ext uri="{FF2B5EF4-FFF2-40B4-BE49-F238E27FC236}">
                <a16:creationId xmlns:a16="http://schemas.microsoft.com/office/drawing/2014/main" id="{A7FAB326-2402-1CDF-77AD-FAB102839056}"/>
              </a:ext>
            </a:extLst>
          </p:cNvPr>
          <p:cNvSpPr txBox="1"/>
          <p:nvPr/>
        </p:nvSpPr>
        <p:spPr>
          <a:xfrm>
            <a:off x="5638800" y="5713214"/>
            <a:ext cx="6096000" cy="369332"/>
          </a:xfrm>
          <a:prstGeom prst="rect">
            <a:avLst/>
          </a:prstGeom>
          <a:noFill/>
        </p:spPr>
        <p:txBody>
          <a:bodyPr wrap="square">
            <a:spAutoFit/>
          </a:bodyPr>
          <a:lstStyle/>
          <a:p>
            <a:r>
              <a:rPr lang="en-GB" dirty="0"/>
              <a:t>https://youtu.be/MNUQukRUJLI?si=HWqZVq88D8YexoT9</a:t>
            </a:r>
          </a:p>
        </p:txBody>
      </p:sp>
    </p:spTree>
    <p:extLst>
      <p:ext uri="{BB962C8B-B14F-4D97-AF65-F5344CB8AC3E}">
        <p14:creationId xmlns:p14="http://schemas.microsoft.com/office/powerpoint/2010/main" val="3644318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The Four Key Questions</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51560"/>
            <a:ext cx="11274552" cy="502920"/>
          </a:xfrm>
          <a:prstGeom prst="rect">
            <a:avLst/>
          </a:prstGeom>
          <a:noFill/>
          <a:ln>
            <a:noFill/>
          </a:ln>
        </p:spPr>
        <p:txBody>
          <a:bodyPr wrap="square" lIns="73152" tIns="45720" rIns="73152" bIns="45720" rtlCol="0" anchor="ctr">
            <a:normAutofit fontScale="92500"/>
          </a:bodyPr>
          <a:lstStyle/>
          <a:p>
            <a:pPr marL="0" indent="0" algn="l">
              <a:spcBef>
                <a:spcPts val="0"/>
              </a:spcBef>
              <a:spcAft>
                <a:spcPts val="0"/>
              </a:spcAft>
              <a:buNone/>
            </a:pPr>
            <a:r>
              <a:rPr lang="en-GB" sz="1550" b="1" dirty="0">
                <a:solidFill>
                  <a:srgbClr val="5B2C91"/>
                </a:solidFill>
                <a:latin typeface="Arial"/>
                <a:cs typeface="Arial"/>
              </a:rPr>
              <a:t>Applied to robotics. </a:t>
            </a:r>
            <a:r>
              <a:rPr lang="en-GB" sz="1550" dirty="0">
                <a:solidFill>
                  <a:srgbClr val="1A1A1A"/>
                </a:solidFill>
                <a:latin typeface="Arial"/>
                <a:cs typeface="Arial"/>
              </a:rPr>
              <a:t>Operations managers need enough understanding to evaluate technical information and ask experts the right questions.</a:t>
            </a:r>
          </a:p>
        </p:txBody>
      </p:sp>
      <p:sp>
        <p:nvSpPr>
          <p:cNvPr id="6" name="Box 6"/>
          <p:cNvSpPr/>
          <p:nvPr/>
        </p:nvSpPr>
        <p:spPr>
          <a:xfrm>
            <a:off x="457200" y="1691640"/>
            <a:ext cx="5559552" cy="1554480"/>
          </a:xfrm>
          <a:prstGeom prst="roundRect">
            <a:avLst>
              <a:gd name="adj" fmla="val 8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7" name="Box 7"/>
          <p:cNvSpPr/>
          <p:nvPr/>
        </p:nvSpPr>
        <p:spPr>
          <a:xfrm>
            <a:off x="640080" y="1874520"/>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1</a:t>
            </a:r>
          </a:p>
        </p:txBody>
      </p:sp>
      <p:sp>
        <p:nvSpPr>
          <p:cNvPr id="8" name="Box 8"/>
          <p:cNvSpPr/>
          <p:nvPr/>
        </p:nvSpPr>
        <p:spPr>
          <a:xfrm>
            <a:off x="1234440" y="1801368"/>
            <a:ext cx="4663440" cy="1371600"/>
          </a:xfrm>
          <a:prstGeom prst="rect">
            <a:avLst/>
          </a:prstGeom>
          <a:noFill/>
          <a:ln>
            <a:noFill/>
          </a:ln>
        </p:spPr>
        <p:txBody>
          <a:bodyPr wrap="square" lIns="73152" tIns="45720" rIns="73152" bIns="45720" rtlCol="0" anchor="t">
            <a:normAutofit/>
          </a:bodyPr>
          <a:lstStyle/>
          <a:p>
            <a:pPr marL="0" indent="0" algn="l">
              <a:spcBef>
                <a:spcPts val="0"/>
              </a:spcBef>
              <a:spcAft>
                <a:spcPts val="400"/>
              </a:spcAft>
              <a:buNone/>
            </a:pPr>
            <a:r>
              <a:rPr lang="en-GB" sz="1600" b="1" dirty="0">
                <a:solidFill>
                  <a:srgbClr val="5B2C91"/>
                </a:solidFill>
                <a:latin typeface="Arial"/>
                <a:cs typeface="Arial"/>
              </a:rPr>
              <a:t>What does the technology do?</a:t>
            </a:r>
          </a:p>
          <a:p>
            <a:pPr marL="0" indent="0" algn="l">
              <a:spcBef>
                <a:spcPts val="0"/>
              </a:spcBef>
              <a:spcAft>
                <a:spcPts val="0"/>
              </a:spcAft>
              <a:buNone/>
            </a:pPr>
            <a:r>
              <a:rPr lang="en-GB" sz="1450" dirty="0">
                <a:solidFill>
                  <a:srgbClr val="1A1A1A"/>
                </a:solidFill>
                <a:latin typeface="Arial"/>
                <a:cs typeface="Arial"/>
              </a:rPr>
              <a:t>Handles materials (loading/unloading machines), processes using a gripped tool, and assembles parts.</a:t>
            </a:r>
          </a:p>
        </p:txBody>
      </p:sp>
      <p:sp>
        <p:nvSpPr>
          <p:cNvPr id="9" name="Box 9"/>
          <p:cNvSpPr/>
          <p:nvPr/>
        </p:nvSpPr>
        <p:spPr>
          <a:xfrm>
            <a:off x="6172200" y="1691640"/>
            <a:ext cx="5559552" cy="1554480"/>
          </a:xfrm>
          <a:prstGeom prst="roundRect">
            <a:avLst>
              <a:gd name="adj" fmla="val 8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0" name="Box 10"/>
          <p:cNvSpPr/>
          <p:nvPr/>
        </p:nvSpPr>
        <p:spPr>
          <a:xfrm>
            <a:off x="6355080" y="1874520"/>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2</a:t>
            </a:r>
          </a:p>
        </p:txBody>
      </p:sp>
      <p:sp>
        <p:nvSpPr>
          <p:cNvPr id="11" name="Box 11"/>
          <p:cNvSpPr/>
          <p:nvPr/>
        </p:nvSpPr>
        <p:spPr>
          <a:xfrm>
            <a:off x="6949440" y="1801368"/>
            <a:ext cx="4663440" cy="1371600"/>
          </a:xfrm>
          <a:prstGeom prst="rect">
            <a:avLst/>
          </a:prstGeom>
          <a:noFill/>
          <a:ln>
            <a:noFill/>
          </a:ln>
        </p:spPr>
        <p:txBody>
          <a:bodyPr wrap="square" lIns="73152" tIns="45720" rIns="73152" bIns="45720" rtlCol="0" anchor="t">
            <a:normAutofit/>
          </a:bodyPr>
          <a:lstStyle/>
          <a:p>
            <a:pPr marL="0" indent="0" algn="l">
              <a:spcBef>
                <a:spcPts val="0"/>
              </a:spcBef>
              <a:spcAft>
                <a:spcPts val="400"/>
              </a:spcAft>
              <a:buNone/>
            </a:pPr>
            <a:r>
              <a:rPr lang="en-GB" sz="1600" b="1" dirty="0">
                <a:solidFill>
                  <a:srgbClr val="5B2C91"/>
                </a:solidFill>
                <a:latin typeface="Arial"/>
                <a:cs typeface="Arial"/>
              </a:rPr>
              <a:t>How does it do it?</a:t>
            </a:r>
          </a:p>
          <a:p>
            <a:pPr marL="0" indent="0" algn="l">
              <a:spcBef>
                <a:spcPts val="0"/>
              </a:spcBef>
              <a:spcAft>
                <a:spcPts val="0"/>
              </a:spcAft>
              <a:buNone/>
            </a:pPr>
            <a:r>
              <a:rPr lang="en-GB" sz="1450" dirty="0">
                <a:solidFill>
                  <a:srgbClr val="1A1A1A"/>
                </a:solidFill>
                <a:latin typeface="Arial"/>
                <a:cs typeface="Arial"/>
              </a:rPr>
              <a:t>A programmable, computer-controlled, often multi-jointed arm with an end effector; some have vision and touch feedback.</a:t>
            </a:r>
          </a:p>
        </p:txBody>
      </p:sp>
      <p:sp>
        <p:nvSpPr>
          <p:cNvPr id="12" name="Box 12"/>
          <p:cNvSpPr/>
          <p:nvPr/>
        </p:nvSpPr>
        <p:spPr>
          <a:xfrm>
            <a:off x="457200" y="3383280"/>
            <a:ext cx="5559552" cy="1554480"/>
          </a:xfrm>
          <a:prstGeom prst="roundRect">
            <a:avLst>
              <a:gd name="adj" fmla="val 8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3" name="Box 13"/>
          <p:cNvSpPr/>
          <p:nvPr/>
        </p:nvSpPr>
        <p:spPr>
          <a:xfrm>
            <a:off x="640080" y="3566160"/>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3</a:t>
            </a:r>
          </a:p>
        </p:txBody>
      </p:sp>
      <p:sp>
        <p:nvSpPr>
          <p:cNvPr id="14" name="Box 14"/>
          <p:cNvSpPr/>
          <p:nvPr/>
        </p:nvSpPr>
        <p:spPr>
          <a:xfrm>
            <a:off x="1234440" y="3493008"/>
            <a:ext cx="4663440" cy="1371600"/>
          </a:xfrm>
          <a:prstGeom prst="rect">
            <a:avLst/>
          </a:prstGeom>
          <a:noFill/>
          <a:ln>
            <a:noFill/>
          </a:ln>
        </p:spPr>
        <p:txBody>
          <a:bodyPr wrap="square" lIns="73152" tIns="45720" rIns="73152" bIns="45720" rtlCol="0" anchor="t">
            <a:normAutofit/>
          </a:bodyPr>
          <a:lstStyle/>
          <a:p>
            <a:pPr marL="0" indent="0" algn="l">
              <a:spcBef>
                <a:spcPts val="0"/>
              </a:spcBef>
              <a:spcAft>
                <a:spcPts val="400"/>
              </a:spcAft>
              <a:buNone/>
            </a:pPr>
            <a:r>
              <a:rPr lang="en-GB" sz="1600" b="1" dirty="0">
                <a:solidFill>
                  <a:srgbClr val="5B2C91"/>
                </a:solidFill>
                <a:latin typeface="Arial"/>
                <a:cs typeface="Arial"/>
              </a:rPr>
              <a:t>What benefits does it give?</a:t>
            </a:r>
          </a:p>
          <a:p>
            <a:pPr marL="0" indent="0" algn="l">
              <a:spcBef>
                <a:spcPts val="0"/>
              </a:spcBef>
              <a:spcAft>
                <a:spcPts val="0"/>
              </a:spcAft>
              <a:buNone/>
            </a:pPr>
            <a:r>
              <a:rPr lang="en-GB" sz="1450" dirty="0">
                <a:solidFill>
                  <a:srgbClr val="1A1A1A"/>
                </a:solidFill>
                <a:latin typeface="Arial"/>
                <a:cs typeface="Arial"/>
              </a:rPr>
              <a:t>Works where conditions are hazardous or tasks repetitive; lower cost, greater accuracy and repeatability than people.</a:t>
            </a:r>
          </a:p>
        </p:txBody>
      </p:sp>
      <p:sp>
        <p:nvSpPr>
          <p:cNvPr id="15" name="Box 15"/>
          <p:cNvSpPr/>
          <p:nvPr/>
        </p:nvSpPr>
        <p:spPr>
          <a:xfrm>
            <a:off x="6172200" y="3383280"/>
            <a:ext cx="5559552" cy="1554480"/>
          </a:xfrm>
          <a:prstGeom prst="roundRect">
            <a:avLst>
              <a:gd name="adj" fmla="val 8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6" name="Box 16"/>
          <p:cNvSpPr/>
          <p:nvPr/>
        </p:nvSpPr>
        <p:spPr>
          <a:xfrm>
            <a:off x="6355080" y="3566160"/>
            <a:ext cx="457200" cy="45720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600" b="1" dirty="0">
                <a:solidFill>
                  <a:srgbClr val="FFFFFF"/>
                </a:solidFill>
                <a:latin typeface="Arial"/>
                <a:cs typeface="Arial"/>
              </a:rPr>
              <a:t>4</a:t>
            </a:r>
          </a:p>
        </p:txBody>
      </p:sp>
      <p:sp>
        <p:nvSpPr>
          <p:cNvPr id="17" name="Box 17"/>
          <p:cNvSpPr/>
          <p:nvPr/>
        </p:nvSpPr>
        <p:spPr>
          <a:xfrm>
            <a:off x="6949440" y="3493008"/>
            <a:ext cx="4663440" cy="1371600"/>
          </a:xfrm>
          <a:prstGeom prst="rect">
            <a:avLst/>
          </a:prstGeom>
          <a:noFill/>
          <a:ln>
            <a:noFill/>
          </a:ln>
        </p:spPr>
        <p:txBody>
          <a:bodyPr wrap="square" lIns="73152" tIns="45720" rIns="73152" bIns="45720" rtlCol="0" anchor="t">
            <a:normAutofit/>
          </a:bodyPr>
          <a:lstStyle/>
          <a:p>
            <a:pPr marL="0" indent="0" algn="l">
              <a:spcBef>
                <a:spcPts val="0"/>
              </a:spcBef>
              <a:spcAft>
                <a:spcPts val="400"/>
              </a:spcAft>
              <a:buNone/>
            </a:pPr>
            <a:r>
              <a:rPr lang="en-GB" sz="1600" b="1" dirty="0">
                <a:solidFill>
                  <a:srgbClr val="5B2C91"/>
                </a:solidFill>
                <a:latin typeface="Arial"/>
                <a:cs typeface="Arial"/>
              </a:rPr>
              <a:t>What constraints or risks does it impose?</a:t>
            </a:r>
          </a:p>
          <a:p>
            <a:pPr marL="0" indent="0" algn="l">
              <a:spcBef>
                <a:spcPts val="0"/>
              </a:spcBef>
              <a:spcAft>
                <a:spcPts val="0"/>
              </a:spcAft>
              <a:buNone/>
            </a:pPr>
            <a:r>
              <a:rPr lang="en-GB" sz="1450" dirty="0">
                <a:solidFill>
                  <a:srgbClr val="1A1A1A"/>
                </a:solidFill>
                <a:latin typeface="Arial"/>
                <a:cs typeface="Arial"/>
              </a:rPr>
              <a:t>Weak at delicate sensing and judgement; the human–robot interface must be managed, especially where jobs are replaced.</a:t>
            </a:r>
          </a:p>
        </p:txBody>
      </p:sp>
      <p:sp>
        <p:nvSpPr>
          <p:cNvPr id="18" name="Box 18"/>
          <p:cNvSpPr/>
          <p:nvPr/>
        </p:nvSpPr>
        <p:spPr>
          <a:xfrm>
            <a:off x="457200" y="5166360"/>
            <a:ext cx="11274552" cy="100584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Managing the human side:  </a:t>
            </a:r>
            <a:r>
              <a:rPr lang="en-GB" sz="1400" dirty="0">
                <a:solidFill>
                  <a:srgbClr val="FFFFFF"/>
                </a:solidFill>
                <a:latin typeface="Arial"/>
                <a:cs typeface="Arial"/>
              </a:rPr>
              <a:t>Audi asked workers where robots could improve performance, then gave them jobs supervising, maintaining and programming the robots. Germany has about five times as many robots per 10,000 workers as Britain and has lost fewer manufacturing jobs.</a:t>
            </a:r>
          </a:p>
        </p:txBody>
      </p:sp>
      <p:sp>
        <p:nvSpPr>
          <p:cNvPr id="19" name="Source 19"/>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‘I, Robot’, pp. 224–229</a:t>
            </a:r>
          </a:p>
        </p:txBody>
      </p:sp>
      <p:sp>
        <p:nvSpPr>
          <p:cNvPr id="21" name="Page 21"/>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36</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Robot" descr="Robo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From MRP to ERP and Beyond</a:t>
            </a:r>
          </a:p>
        </p:txBody>
      </p:sp>
      <p:cxnSp>
        <p:nvCxnSpPr>
          <p:cNvPr id="4" name="Line 4"/>
          <p:cNvCxnSpPr/>
          <p:nvPr/>
        </p:nvCxnSpPr>
        <p:spPr>
          <a:xfrm>
            <a:off x="457200" y="960120"/>
            <a:ext cx="11274552" cy="0"/>
          </a:xfrm>
          <a:prstGeom prst="line">
            <a:avLst/>
          </a:prstGeom>
          <a:ln w="15875">
            <a:solidFill>
              <a:srgbClr val="5B2C91"/>
            </a:solidFill>
          </a:ln>
        </p:spPr>
      </p:cxnSp>
      <p:cxnSp>
        <p:nvCxnSpPr>
          <p:cNvPr id="5" name="Line 5"/>
          <p:cNvCxnSpPr/>
          <p:nvPr/>
        </p:nvCxnSpPr>
        <p:spPr>
          <a:xfrm>
            <a:off x="457200" y="1600200"/>
            <a:ext cx="11274552" cy="0"/>
          </a:xfrm>
          <a:prstGeom prst="line">
            <a:avLst/>
          </a:prstGeom>
          <a:ln w="28575">
            <a:solidFill>
              <a:srgbClr val="5B2C91"/>
            </a:solidFill>
          </a:ln>
        </p:spPr>
      </p:cxnSp>
      <p:sp>
        <p:nvSpPr>
          <p:cNvPr id="6" name="Box 6"/>
          <p:cNvSpPr/>
          <p:nvPr/>
        </p:nvSpPr>
        <p:spPr>
          <a:xfrm>
            <a:off x="777240"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1970s</a:t>
            </a:r>
          </a:p>
        </p:txBody>
      </p:sp>
      <p:sp>
        <p:nvSpPr>
          <p:cNvPr id="7" name="Box 7"/>
          <p:cNvSpPr/>
          <p:nvPr/>
        </p:nvSpPr>
        <p:spPr>
          <a:xfrm>
            <a:off x="457200" y="2011680"/>
            <a:ext cx="1783080" cy="3246120"/>
          </a:xfrm>
          <a:prstGeom prst="rect">
            <a:avLst/>
          </a:prstGeom>
          <a:solidFill>
            <a:srgbClr val="F6F1FB"/>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MRP</a:t>
            </a:r>
          </a:p>
          <a:p>
            <a:pPr marL="0" indent="0" algn="l">
              <a:spcBef>
                <a:spcPts val="0"/>
              </a:spcBef>
              <a:spcAft>
                <a:spcPts val="500"/>
              </a:spcAft>
              <a:buNone/>
            </a:pPr>
            <a:r>
              <a:rPr lang="en-GB" sz="1150" dirty="0">
                <a:solidFill>
                  <a:srgbClr val="1A1A1A"/>
                </a:solidFill>
                <a:latin typeface="Arial"/>
                <a:cs typeface="Arial"/>
              </a:rPr>
              <a:t>Materials requirements planning: uses the bill of materials and master production schedule to calculate what materials are needed, and when.</a:t>
            </a:r>
          </a:p>
          <a:p>
            <a:pPr marL="0" indent="0" algn="l">
              <a:spcBef>
                <a:spcPts val="0"/>
              </a:spcBef>
              <a:spcAft>
                <a:spcPts val="0"/>
              </a:spcAft>
              <a:buNone/>
            </a:pPr>
            <a:r>
              <a:rPr lang="en-GB" sz="1100" i="1" dirty="0">
                <a:solidFill>
                  <a:srgbClr val="666666"/>
                </a:solidFill>
                <a:latin typeface="Arial"/>
                <a:cs typeface="Arial"/>
              </a:rPr>
              <a:t>Enabler: affordable computing power</a:t>
            </a:r>
          </a:p>
        </p:txBody>
      </p:sp>
      <p:sp>
        <p:nvSpPr>
          <p:cNvPr id="8" name="Box 8"/>
          <p:cNvSpPr/>
          <p:nvPr/>
        </p:nvSpPr>
        <p:spPr>
          <a:xfrm>
            <a:off x="2679192"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1980s</a:t>
            </a:r>
          </a:p>
        </p:txBody>
      </p:sp>
      <p:sp>
        <p:nvSpPr>
          <p:cNvPr id="9" name="Box 9"/>
          <p:cNvSpPr/>
          <p:nvPr/>
        </p:nvSpPr>
        <p:spPr>
          <a:xfrm>
            <a:off x="2359152" y="2011680"/>
            <a:ext cx="1783080" cy="3246120"/>
          </a:xfrm>
          <a:prstGeom prst="rect">
            <a:avLst/>
          </a:prstGeom>
          <a:solidFill>
            <a:srgbClr val="F6F1FB"/>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MRP II</a:t>
            </a:r>
          </a:p>
          <a:p>
            <a:pPr marL="0" indent="0" algn="l">
              <a:spcBef>
                <a:spcPts val="0"/>
              </a:spcBef>
              <a:spcAft>
                <a:spcPts val="500"/>
              </a:spcAft>
              <a:buNone/>
            </a:pPr>
            <a:r>
              <a:rPr lang="en-GB" sz="1150" dirty="0">
                <a:solidFill>
                  <a:srgbClr val="1A1A1A"/>
                </a:solidFill>
                <a:latin typeface="Arial"/>
                <a:cs typeface="Arial"/>
              </a:rPr>
              <a:t>Manufacturing resource planning: adds capacity, finance and “what-if” modelling of the knock-on effects of change.</a:t>
            </a:r>
          </a:p>
          <a:p>
            <a:pPr marL="0" indent="0" algn="l">
              <a:spcBef>
                <a:spcPts val="0"/>
              </a:spcBef>
              <a:spcAft>
                <a:spcPts val="0"/>
              </a:spcAft>
              <a:buNone/>
            </a:pPr>
            <a:r>
              <a:rPr lang="en-GB" sz="1100" i="1" dirty="0">
                <a:solidFill>
                  <a:srgbClr val="666666"/>
                </a:solidFill>
                <a:latin typeface="Arial"/>
                <a:cs typeface="Arial"/>
              </a:rPr>
              <a:t>Enabler: local networks and desktop PCs</a:t>
            </a:r>
          </a:p>
        </p:txBody>
      </p:sp>
      <p:sp>
        <p:nvSpPr>
          <p:cNvPr id="10" name="Box 10"/>
          <p:cNvSpPr/>
          <p:nvPr/>
        </p:nvSpPr>
        <p:spPr>
          <a:xfrm>
            <a:off x="4581144"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1990s</a:t>
            </a:r>
          </a:p>
        </p:txBody>
      </p:sp>
      <p:sp>
        <p:nvSpPr>
          <p:cNvPr id="11" name="Box 11"/>
          <p:cNvSpPr/>
          <p:nvPr/>
        </p:nvSpPr>
        <p:spPr>
          <a:xfrm>
            <a:off x="4261104" y="2011680"/>
            <a:ext cx="1783080" cy="3246120"/>
          </a:xfrm>
          <a:prstGeom prst="rect">
            <a:avLst/>
          </a:prstGeom>
          <a:solidFill>
            <a:srgbClr val="F6F1FB"/>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ERP</a:t>
            </a:r>
          </a:p>
          <a:p>
            <a:pPr marL="0" indent="0" algn="l">
              <a:spcBef>
                <a:spcPts val="0"/>
              </a:spcBef>
              <a:spcAft>
                <a:spcPts val="500"/>
              </a:spcAft>
              <a:buNone/>
            </a:pPr>
            <a:r>
              <a:rPr lang="en-GB" sz="1150" dirty="0">
                <a:solidFill>
                  <a:srgbClr val="1A1A1A"/>
                </a:solidFill>
                <a:latin typeface="Arial"/>
                <a:cs typeface="Arial"/>
              </a:rPr>
              <a:t>Enterprise resource planning: all functions share one integrated database (e.g. SAP R/3, 1992).</a:t>
            </a:r>
          </a:p>
          <a:p>
            <a:pPr marL="0" indent="0" algn="l">
              <a:spcBef>
                <a:spcPts val="0"/>
              </a:spcBef>
              <a:spcAft>
                <a:spcPts val="0"/>
              </a:spcAft>
              <a:buNone/>
            </a:pPr>
            <a:r>
              <a:rPr lang="en-GB" sz="1100" i="1" dirty="0">
                <a:solidFill>
                  <a:srgbClr val="666666"/>
                </a:solidFill>
                <a:latin typeface="Arial"/>
                <a:cs typeface="Arial"/>
              </a:rPr>
              <a:t>Enabler: client–server software</a:t>
            </a:r>
          </a:p>
        </p:txBody>
      </p:sp>
      <p:sp>
        <p:nvSpPr>
          <p:cNvPr id="12" name="Box 12"/>
          <p:cNvSpPr/>
          <p:nvPr/>
        </p:nvSpPr>
        <p:spPr>
          <a:xfrm>
            <a:off x="6483096"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2000s</a:t>
            </a:r>
          </a:p>
        </p:txBody>
      </p:sp>
      <p:sp>
        <p:nvSpPr>
          <p:cNvPr id="13" name="Box 13"/>
          <p:cNvSpPr/>
          <p:nvPr/>
        </p:nvSpPr>
        <p:spPr>
          <a:xfrm>
            <a:off x="6163056" y="2011680"/>
            <a:ext cx="1783080" cy="3246120"/>
          </a:xfrm>
          <a:prstGeom prst="rect">
            <a:avLst/>
          </a:prstGeom>
          <a:solidFill>
            <a:srgbClr val="F6F1FB"/>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Web-integrated ERP</a:t>
            </a:r>
          </a:p>
          <a:p>
            <a:pPr marL="0" indent="0" algn="l">
              <a:spcBef>
                <a:spcPts val="0"/>
              </a:spcBef>
              <a:spcAft>
                <a:spcPts val="500"/>
              </a:spcAft>
              <a:buNone/>
            </a:pPr>
            <a:r>
              <a:rPr lang="en-GB" sz="1150" dirty="0">
                <a:solidFill>
                  <a:srgbClr val="1A1A1A"/>
                </a:solidFill>
                <a:latin typeface="Arial"/>
                <a:cs typeface="Arial"/>
              </a:rPr>
              <a:t>“Collaborative commerce”: customers and suppliers see order status, stock and invoices online.</a:t>
            </a:r>
          </a:p>
          <a:p>
            <a:pPr marL="0" indent="0" algn="l">
              <a:spcBef>
                <a:spcPts val="0"/>
              </a:spcBef>
              <a:spcAft>
                <a:spcPts val="0"/>
              </a:spcAft>
              <a:buNone/>
            </a:pPr>
            <a:r>
              <a:rPr lang="en-GB" sz="1100" i="1" dirty="0">
                <a:solidFill>
                  <a:srgbClr val="666666"/>
                </a:solidFill>
                <a:latin typeface="Arial"/>
                <a:cs typeface="Arial"/>
              </a:rPr>
              <a:t>Enabler: the internet</a:t>
            </a:r>
          </a:p>
        </p:txBody>
      </p:sp>
      <p:sp>
        <p:nvSpPr>
          <p:cNvPr id="14" name="Box 14"/>
          <p:cNvSpPr/>
          <p:nvPr/>
        </p:nvSpPr>
        <p:spPr>
          <a:xfrm>
            <a:off x="8385048"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2010s</a:t>
            </a:r>
          </a:p>
        </p:txBody>
      </p:sp>
      <p:sp>
        <p:nvSpPr>
          <p:cNvPr id="15" name="Box 15"/>
          <p:cNvSpPr/>
          <p:nvPr/>
        </p:nvSpPr>
        <p:spPr>
          <a:xfrm>
            <a:off x="8065008" y="2011680"/>
            <a:ext cx="1783080" cy="3246120"/>
          </a:xfrm>
          <a:prstGeom prst="rect">
            <a:avLst/>
          </a:prstGeom>
          <a:solidFill>
            <a:srgbClr val="EBE1F5"/>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Cloud ERP + Industry 4.0</a:t>
            </a:r>
          </a:p>
          <a:p>
            <a:pPr marL="0" indent="0" algn="l">
              <a:spcBef>
                <a:spcPts val="0"/>
              </a:spcBef>
              <a:spcAft>
                <a:spcPts val="500"/>
              </a:spcAft>
              <a:buNone/>
            </a:pPr>
            <a:r>
              <a:rPr lang="en-GB" sz="1150" dirty="0">
                <a:solidFill>
                  <a:srgbClr val="1A1A1A"/>
                </a:solidFill>
                <a:latin typeface="Arial"/>
                <a:cs typeface="Arial"/>
              </a:rPr>
              <a:t>Subscription cloud platforms; IoT sensors and big data feed planning in real time.</a:t>
            </a:r>
          </a:p>
          <a:p>
            <a:pPr marL="0" indent="0" algn="l">
              <a:spcBef>
                <a:spcPts val="0"/>
              </a:spcBef>
              <a:spcAft>
                <a:spcPts val="0"/>
              </a:spcAft>
              <a:buNone/>
            </a:pPr>
            <a:r>
              <a:rPr lang="en-GB" sz="1100" i="1" dirty="0">
                <a:solidFill>
                  <a:srgbClr val="666666"/>
                </a:solidFill>
                <a:latin typeface="Arial"/>
                <a:cs typeface="Arial"/>
              </a:rPr>
              <a:t>Enabler: cloud, IoT, analytics</a:t>
            </a:r>
          </a:p>
        </p:txBody>
      </p:sp>
      <p:sp>
        <p:nvSpPr>
          <p:cNvPr id="16" name="Box 16"/>
          <p:cNvSpPr/>
          <p:nvPr/>
        </p:nvSpPr>
        <p:spPr>
          <a:xfrm>
            <a:off x="10287000" y="1371600"/>
            <a:ext cx="1143000" cy="457200"/>
          </a:xfrm>
          <a:prstGeom prst="roundRect">
            <a:avLst>
              <a:gd name="adj" fmla="val 4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2020s</a:t>
            </a:r>
          </a:p>
        </p:txBody>
      </p:sp>
      <p:sp>
        <p:nvSpPr>
          <p:cNvPr id="17" name="Box 17"/>
          <p:cNvSpPr/>
          <p:nvPr/>
        </p:nvSpPr>
        <p:spPr>
          <a:xfrm>
            <a:off x="9966960" y="2011680"/>
            <a:ext cx="1783080" cy="3246120"/>
          </a:xfrm>
          <a:prstGeom prst="rect">
            <a:avLst/>
          </a:prstGeom>
          <a:solidFill>
            <a:srgbClr val="EBE1F5"/>
          </a:solidFill>
          <a:ln w="12700">
            <a:solidFill>
              <a:srgbClr val="C9B8E0"/>
            </a:solidFill>
          </a:ln>
        </p:spPr>
        <p:txBody>
          <a:bodyPr wrap="square" lIns="91440" tIns="91440" rIns="91440" bIns="45720" rtlCol="0" anchor="t">
            <a:normAutofit/>
          </a:bodyPr>
          <a:lstStyle/>
          <a:p>
            <a:pPr marL="0" indent="0" algn="ctr">
              <a:spcBef>
                <a:spcPts val="0"/>
              </a:spcBef>
              <a:spcAft>
                <a:spcPts val="500"/>
              </a:spcAft>
              <a:buNone/>
            </a:pPr>
            <a:r>
              <a:rPr lang="en-GB" sz="1550" b="1" dirty="0">
                <a:solidFill>
                  <a:srgbClr val="5B2C91"/>
                </a:solidFill>
                <a:latin typeface="Arial"/>
                <a:cs typeface="Arial"/>
              </a:rPr>
              <a:t>Intelligent operations</a:t>
            </a:r>
          </a:p>
          <a:p>
            <a:pPr marL="0" indent="0" algn="l">
              <a:spcBef>
                <a:spcPts val="0"/>
              </a:spcBef>
              <a:spcAft>
                <a:spcPts val="500"/>
              </a:spcAft>
              <a:buNone/>
            </a:pPr>
            <a:r>
              <a:rPr lang="en-GB" sz="1150" dirty="0">
                <a:solidFill>
                  <a:srgbClr val="1A1A1A"/>
                </a:solidFill>
                <a:latin typeface="Arial"/>
                <a:cs typeface="Arial"/>
              </a:rPr>
              <a:t>AI forecasting, digital twins and agentic AI embedded in planning: from recording to predicting and acting.</a:t>
            </a:r>
          </a:p>
          <a:p>
            <a:pPr marL="0" indent="0" algn="l">
              <a:spcBef>
                <a:spcPts val="0"/>
              </a:spcBef>
              <a:spcAft>
                <a:spcPts val="0"/>
              </a:spcAft>
              <a:buNone/>
            </a:pPr>
            <a:r>
              <a:rPr lang="en-GB" sz="1100" i="1" dirty="0">
                <a:solidFill>
                  <a:srgbClr val="666666"/>
                </a:solidFill>
                <a:latin typeface="Arial"/>
                <a:cs typeface="Arial"/>
              </a:rPr>
              <a:t>Enabler: AI and simulation</a:t>
            </a:r>
          </a:p>
        </p:txBody>
      </p:sp>
      <p:sp>
        <p:nvSpPr>
          <p:cNvPr id="18" name="Box 18"/>
          <p:cNvSpPr/>
          <p:nvPr/>
        </p:nvSpPr>
        <p:spPr>
          <a:xfrm>
            <a:off x="457200" y="5285232"/>
            <a:ext cx="7543800" cy="27432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050" i="1" dirty="0">
                <a:solidFill>
                  <a:srgbClr val="666666"/>
                </a:solidFill>
                <a:latin typeface="Arial"/>
                <a:cs typeface="Arial"/>
              </a:rPr>
              <a:t>Covered in Slack et al. (2013)</a:t>
            </a:r>
          </a:p>
        </p:txBody>
      </p:sp>
      <p:sp>
        <p:nvSpPr>
          <p:cNvPr id="19" name="Box 19"/>
          <p:cNvSpPr/>
          <p:nvPr/>
        </p:nvSpPr>
        <p:spPr>
          <a:xfrm>
            <a:off x="8065008" y="5285232"/>
            <a:ext cx="3657600" cy="27432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050" i="1" dirty="0">
                <a:solidFill>
                  <a:srgbClr val="666666"/>
                </a:solidFill>
                <a:latin typeface="Arial"/>
                <a:cs typeface="Arial"/>
              </a:rPr>
              <a:t>Developments since</a:t>
            </a:r>
          </a:p>
        </p:txBody>
      </p:sp>
      <p:sp>
        <p:nvSpPr>
          <p:cNvPr id="20" name="Box 20"/>
          <p:cNvSpPr/>
          <p:nvPr/>
        </p:nvSpPr>
        <p:spPr>
          <a:xfrm>
            <a:off x="457200" y="5596128"/>
            <a:ext cx="11274552" cy="68580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Pattern:  </a:t>
            </a:r>
            <a:r>
              <a:rPr lang="en-GB" sz="1400" dirty="0">
                <a:solidFill>
                  <a:srgbClr val="FFFFFF"/>
                </a:solidFill>
                <a:latin typeface="Arial"/>
                <a:cs typeface="Arial"/>
              </a:rPr>
              <a:t>each stage was unlocked by a new technology, and each widened the scope, from materials, to the firm, to the whole supply network.</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14, pp. 440–443, Fig. 14.2; 2010s–2020s: lecturer synthesis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38</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History" descr="History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Beyond ERP: How Operations Technology Has Moved On</a:t>
            </a:r>
          </a:p>
        </p:txBody>
      </p:sp>
      <p:cxnSp>
        <p:nvCxnSpPr>
          <p:cNvPr id="4" name="Line 4"/>
          <p:cNvCxnSpPr/>
          <p:nvPr/>
        </p:nvCxnSpPr>
        <p:spPr>
          <a:xfrm>
            <a:off x="457200" y="960120"/>
            <a:ext cx="11274552" cy="0"/>
          </a:xfrm>
          <a:prstGeom prst="line">
            <a:avLst/>
          </a:prstGeom>
          <a:ln w="15875">
            <a:solidFill>
              <a:srgbClr val="5B2C91"/>
            </a:solidFill>
          </a:ln>
        </p:spPr>
      </p:cxnSp>
      <p:graphicFrame>
        <p:nvGraphicFramePr>
          <p:cNvPr id="5" name="Table 5"/>
          <p:cNvGraphicFramePr>
            <a:graphicFrameLocks noGrp="1"/>
          </p:cNvGraphicFramePr>
          <p:nvPr/>
        </p:nvGraphicFramePr>
        <p:xfrm>
          <a:off x="457200" y="1188720"/>
          <a:ext cx="11274552" cy="3840480"/>
        </p:xfrm>
        <a:graphic>
          <a:graphicData uri="http://schemas.openxmlformats.org/drawingml/2006/table">
            <a:tbl>
              <a:tblPr firstRow="1" bandRow="1"/>
              <a:tblGrid>
                <a:gridCol w="16459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gridCol w="2542032">
                  <a:extLst>
                    <a:ext uri="{9D8B030D-6E8A-4147-A177-3AD203B41FA5}">
                      <a16:colId xmlns:a16="http://schemas.microsoft.com/office/drawing/2014/main" val="20003"/>
                    </a:ext>
                  </a:extLst>
                </a:gridCol>
              </a:tblGrid>
              <a:tr h="548640">
                <a:tc>
                  <a:txBody>
                    <a:bodyPr/>
                    <a:lstStyle/>
                    <a:p>
                      <a:pPr marL="0" indent="0" algn="l">
                        <a:spcBef>
                          <a:spcPts val="0"/>
                        </a:spcBef>
                        <a:spcAft>
                          <a:spcPts val="0"/>
                        </a:spcAft>
                        <a:buNone/>
                      </a:pPr>
                      <a:endParaRP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400" b="1" dirty="0">
                          <a:solidFill>
                            <a:srgbClr val="FFFFFF"/>
                          </a:solidFill>
                          <a:latin typeface="Arial"/>
                          <a:cs typeface="Arial"/>
                        </a:rPr>
                        <a:t>Traditional ERP</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400" b="1" dirty="0">
                          <a:solidFill>
                            <a:srgbClr val="FFFFFF"/>
                          </a:solidFill>
                          <a:latin typeface="Arial"/>
                          <a:cs typeface="Arial"/>
                        </a:rPr>
                        <a:t>Digital operations today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400" b="1" dirty="0">
                          <a:solidFill>
                            <a:srgbClr val="FFFFFF"/>
                          </a:solidFill>
                          <a:latin typeface="Arial"/>
                          <a:cs typeface="Arial"/>
                        </a:rPr>
                        <a:t>Technologies</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548640">
                <a:tc>
                  <a:txBody>
                    <a:bodyPr/>
                    <a:lstStyle/>
                    <a:p>
                      <a:pPr marL="0" indent="0" algn="l">
                        <a:spcBef>
                          <a:spcPts val="0"/>
                        </a:spcBef>
                        <a:spcAft>
                          <a:spcPts val="0"/>
                        </a:spcAft>
                        <a:buNone/>
                      </a:pPr>
                      <a:r>
                        <a:rPr lang="en-GB" sz="1400" dirty="0">
                          <a:solidFill>
                            <a:srgbClr val="1A1A1A"/>
                          </a:solidFill>
                          <a:latin typeface="Arial"/>
                          <a:cs typeface="Arial"/>
                        </a:rPr>
                        <a:t>Data</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Transactions keyed in by people, often after the event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Sensors stream data on machines, stock and shipments in real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IoT, RFID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548640">
                <a:tc>
                  <a:txBody>
                    <a:bodyPr/>
                    <a:lstStyle/>
                    <a:p>
                      <a:pPr marL="0" indent="0" algn="l">
                        <a:spcBef>
                          <a:spcPts val="0"/>
                        </a:spcBef>
                        <a:spcAft>
                          <a:spcPts val="0"/>
                        </a:spcAft>
                        <a:buNone/>
                      </a:pPr>
                      <a:r>
                        <a:rPr lang="en-GB" sz="1400" dirty="0">
                          <a:solidFill>
                            <a:srgbClr val="1A1A1A"/>
                          </a:solidFill>
                          <a:latin typeface="Arial"/>
                          <a:cs typeface="Arial"/>
                        </a:rPr>
                        <a:t>Planning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Periodic MRP runs that assume capacity is available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Constraint-based, finite-capacity scheduling; AI demand forecasts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Big data, AI, quantum (emerging)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548640">
                <a:tc>
                  <a:txBody>
                    <a:bodyPr/>
                    <a:lstStyle/>
                    <a:p>
                      <a:pPr marL="0" indent="0" algn="l">
                        <a:spcBef>
                          <a:spcPts val="0"/>
                        </a:spcBef>
                        <a:spcAft>
                          <a:spcPts val="0"/>
                        </a:spcAft>
                        <a:buNone/>
                      </a:pPr>
                      <a:r>
                        <a:rPr lang="en-GB" sz="1400" dirty="0">
                          <a:solidFill>
                            <a:srgbClr val="1A1A1A"/>
                          </a:solidFill>
                          <a:latin typeface="Arial"/>
                          <a:cs typeface="Arial"/>
                        </a:rPr>
                        <a:t>Scope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One enterprise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Whole supply network shares one version of the truth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Web portals, blockchain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548640">
                <a:tc>
                  <a:txBody>
                    <a:bodyPr/>
                    <a:lstStyle/>
                    <a:p>
                      <a:pPr marL="0" indent="0" algn="l">
                        <a:spcBef>
                          <a:spcPts val="0"/>
                        </a:spcBef>
                        <a:spcAft>
                          <a:spcPts val="0"/>
                        </a:spcAft>
                        <a:buNone/>
                      </a:pPr>
                      <a:r>
                        <a:rPr lang="en-GB" sz="1400" dirty="0">
                          <a:solidFill>
                            <a:srgbClr val="1A1A1A"/>
                          </a:solidFill>
                          <a:latin typeface="Arial"/>
                          <a:cs typeface="Arial"/>
                        </a:rPr>
                        <a:t>Analysis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Reports what happened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Predicts and simulates “what if?” before acting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Analytics, digital twins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548640">
                <a:tc>
                  <a:txBody>
                    <a:bodyPr/>
                    <a:lstStyle/>
                    <a:p>
                      <a:pPr marL="0" indent="0" algn="l">
                        <a:spcBef>
                          <a:spcPts val="0"/>
                        </a:spcBef>
                        <a:spcAft>
                          <a:spcPts val="0"/>
                        </a:spcAft>
                        <a:buNone/>
                      </a:pPr>
                      <a:r>
                        <a:rPr lang="en-GB" sz="1400" dirty="0">
                          <a:solidFill>
                            <a:srgbClr val="1A1A1A"/>
                          </a:solidFill>
                          <a:latin typeface="Arial"/>
                          <a:cs typeface="Arial"/>
                        </a:rPr>
                        <a:t>Action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People act on reports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Software agents and automation act; people supervise exceptions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400" dirty="0">
                          <a:solidFill>
                            <a:srgbClr val="1A1A1A"/>
                          </a:solidFill>
                          <a:latin typeface="Arial"/>
                          <a:cs typeface="Arial"/>
                        </a:rPr>
                        <a:t>Agentic AI, robotics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r h="548640">
                <a:tc>
                  <a:txBody>
                    <a:bodyPr/>
                    <a:lstStyle/>
                    <a:p>
                      <a:pPr marL="0" indent="0" algn="l">
                        <a:spcBef>
                          <a:spcPts val="0"/>
                        </a:spcBef>
                        <a:spcAft>
                          <a:spcPts val="0"/>
                        </a:spcAft>
                        <a:buNone/>
                      </a:pPr>
                      <a:r>
                        <a:rPr lang="en-GB" sz="1400" dirty="0">
                          <a:solidFill>
                            <a:srgbClr val="1A1A1A"/>
                          </a:solidFill>
                          <a:latin typeface="Arial"/>
                          <a:cs typeface="Arial"/>
                        </a:rPr>
                        <a:t>Delivery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On-premise, heavily customised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Cloud, modular, continuously updated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400" dirty="0">
                          <a:solidFill>
                            <a:srgbClr val="1A1A1A"/>
                          </a:solidFill>
                          <a:latin typeface="Arial"/>
                          <a:cs typeface="Arial"/>
                        </a:rPr>
                        <a:t>Cloud ERP</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6"/>
                  </a:ext>
                </a:extLst>
              </a:tr>
            </a:tbl>
          </a:graphicData>
        </a:graphic>
      </p:graphicFrame>
      <p:sp>
        <p:nvSpPr>
          <p:cNvPr id="6" name="Box 6"/>
          <p:cNvSpPr/>
          <p:nvPr/>
        </p:nvSpPr>
        <p:spPr>
          <a:xfrm>
            <a:off x="457200" y="5349240"/>
            <a:ext cx="11274552" cy="82296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50" b="1" dirty="0">
                <a:solidFill>
                  <a:srgbClr val="FFFFFF"/>
                </a:solidFill>
                <a:latin typeface="Arial"/>
                <a:cs typeface="Arial"/>
              </a:rPr>
              <a:t>ERP has not disappeared:  </a:t>
            </a:r>
            <a:r>
              <a:rPr lang="en-GB" sz="1450" dirty="0">
                <a:solidFill>
                  <a:srgbClr val="FFFFFF"/>
                </a:solidFill>
                <a:latin typeface="Arial"/>
                <a:cs typeface="Arial"/>
              </a:rPr>
              <a:t>it remains the transactional backbone, the “system of record”. The newer technologies sit around it, sensing, predicting and acting on its data.</a:t>
            </a:r>
          </a:p>
        </p:txBody>
      </p:sp>
      <p:sp>
        <p:nvSpPr>
          <p:cNvPr id="7" name="Source 7"/>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Lecturer synthesis building on Slack, N., Brandon-Jones, A. and Johnston, R. (2013) Operations Management, 7th edn. Harlow: Pearson, ch. 14</a:t>
            </a:r>
          </a:p>
        </p:txBody>
      </p:sp>
      <p:sp>
        <p:nvSpPr>
          <p:cNvPr id="8" name="Page 8"/>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42</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Rocket" descr="Rocke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Emerging Process Technologies: An Overview</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51560"/>
            <a:ext cx="11274552" cy="36576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5B2C91"/>
                </a:solidFill>
                <a:latin typeface="Arial"/>
                <a:cs typeface="Arial"/>
              </a:rPr>
              <a:t>Row 1: </a:t>
            </a:r>
            <a:r>
              <a:rPr lang="en-GB" sz="1450" dirty="0">
                <a:solidFill>
                  <a:srgbClr val="1A1A1A"/>
                </a:solidFill>
                <a:latin typeface="Arial"/>
                <a:cs typeface="Arial"/>
              </a:rPr>
              <a:t>covered in Slack et al. (2013).   </a:t>
            </a:r>
            <a:r>
              <a:rPr lang="en-GB" sz="1450" b="1" dirty="0">
                <a:solidFill>
                  <a:srgbClr val="5B2C91"/>
                </a:solidFill>
                <a:latin typeface="Arial"/>
                <a:cs typeface="Arial"/>
              </a:rPr>
              <a:t>Row 2: </a:t>
            </a:r>
            <a:r>
              <a:rPr lang="en-GB" sz="1450" dirty="0">
                <a:solidFill>
                  <a:srgbClr val="1A1A1A"/>
                </a:solidFill>
                <a:latin typeface="Arial"/>
                <a:cs typeface="Arial"/>
              </a:rPr>
              <a:t>newer technologies, assessed with the same four questions.</a:t>
            </a:r>
          </a:p>
        </p:txBody>
      </p:sp>
      <p:sp>
        <p:nvSpPr>
          <p:cNvPr id="6" name="Box 6"/>
          <p:cNvSpPr/>
          <p:nvPr/>
        </p:nvSpPr>
        <p:spPr>
          <a:xfrm>
            <a:off x="457200" y="1508760"/>
            <a:ext cx="2112264" cy="2011680"/>
          </a:xfrm>
          <a:prstGeom prst="rect">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7" name="Icon circle 7"/>
          <p:cNvSpPr/>
          <p:nvPr/>
        </p:nvSpPr>
        <p:spPr>
          <a:xfrm>
            <a:off x="1188720" y="1618488"/>
            <a:ext cx="658368" cy="658368"/>
          </a:xfrm>
          <a:prstGeom prst="ellipse">
            <a:avLst/>
          </a:prstGeom>
          <a:solidFill>
            <a:srgbClr val="5B2C91"/>
          </a:solidFill>
          <a:ln>
            <a:noFill/>
          </a:ln>
        </p:spPr>
        <p:txBody>
          <a:bodyPr/>
          <a:lstStyle/>
          <a:p>
            <a:endParaRPr lang="en-GB"/>
          </a:p>
        </p:txBody>
      </p:sp>
      <p:pic>
        <p:nvPicPr>
          <p:cNvPr id="8" name="Icon FaRobot" descr="Robot icon"/>
          <p:cNvPicPr>
            <a:picLocks noChangeAspect="1"/>
          </p:cNvPicPr>
          <p:nvPr/>
        </p:nvPicPr>
        <p:blipFill>
          <a:blip r:embed="rId2"/>
          <a:stretch>
            <a:fillRect/>
          </a:stretch>
        </p:blipFill>
        <p:spPr>
          <a:xfrm>
            <a:off x="1333561" y="1763329"/>
            <a:ext cx="368686" cy="368686"/>
          </a:xfrm>
          <a:prstGeom prst="rect">
            <a:avLst/>
          </a:prstGeom>
        </p:spPr>
      </p:pic>
      <p:sp>
        <p:nvSpPr>
          <p:cNvPr id="9" name="Box 9"/>
          <p:cNvSpPr/>
          <p:nvPr/>
        </p:nvSpPr>
        <p:spPr>
          <a:xfrm>
            <a:off x="457200" y="231343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Robotics</a:t>
            </a:r>
          </a:p>
        </p:txBody>
      </p:sp>
      <p:sp>
        <p:nvSpPr>
          <p:cNvPr id="10" name="Box 10"/>
          <p:cNvSpPr/>
          <p:nvPr/>
        </p:nvSpPr>
        <p:spPr>
          <a:xfrm>
            <a:off x="457200" y="269748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Arms that handle, process and assemble</a:t>
            </a:r>
          </a:p>
          <a:p>
            <a:pPr marL="0" indent="0" algn="ctr">
              <a:spcBef>
                <a:spcPts val="0"/>
              </a:spcBef>
              <a:spcAft>
                <a:spcPts val="0"/>
              </a:spcAft>
              <a:buNone/>
            </a:pPr>
            <a:r>
              <a:rPr lang="en-GB" sz="1050" b="1" dirty="0">
                <a:solidFill>
                  <a:srgbClr val="5B2C91"/>
                </a:solidFill>
                <a:latin typeface="Arial"/>
                <a:cs typeface="Arial"/>
              </a:rPr>
              <a:t>TOC: Elevate</a:t>
            </a:r>
          </a:p>
        </p:txBody>
      </p:sp>
      <p:sp>
        <p:nvSpPr>
          <p:cNvPr id="11" name="Box 11"/>
          <p:cNvSpPr/>
          <p:nvPr/>
        </p:nvSpPr>
        <p:spPr>
          <a:xfrm>
            <a:off x="2734056" y="1508760"/>
            <a:ext cx="2112264" cy="2011680"/>
          </a:xfrm>
          <a:prstGeom prst="rect">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2" name="Icon circle 12"/>
          <p:cNvSpPr/>
          <p:nvPr/>
        </p:nvSpPr>
        <p:spPr>
          <a:xfrm>
            <a:off x="3465576" y="1618488"/>
            <a:ext cx="658368" cy="658368"/>
          </a:xfrm>
          <a:prstGeom prst="ellipse">
            <a:avLst/>
          </a:prstGeom>
          <a:solidFill>
            <a:srgbClr val="5B2C91"/>
          </a:solidFill>
          <a:ln>
            <a:noFill/>
          </a:ln>
        </p:spPr>
        <p:txBody>
          <a:bodyPr/>
          <a:lstStyle/>
          <a:p>
            <a:endParaRPr lang="en-GB"/>
          </a:p>
        </p:txBody>
      </p:sp>
      <p:pic>
        <p:nvPicPr>
          <p:cNvPr id="13" name="Icon FaPrint" descr="Print icon"/>
          <p:cNvPicPr>
            <a:picLocks noChangeAspect="1"/>
          </p:cNvPicPr>
          <p:nvPr/>
        </p:nvPicPr>
        <p:blipFill>
          <a:blip r:embed="rId3"/>
          <a:stretch>
            <a:fillRect/>
          </a:stretch>
        </p:blipFill>
        <p:spPr>
          <a:xfrm>
            <a:off x="3610417" y="1763329"/>
            <a:ext cx="368686" cy="368686"/>
          </a:xfrm>
          <a:prstGeom prst="rect">
            <a:avLst/>
          </a:prstGeom>
        </p:spPr>
      </p:pic>
      <p:sp>
        <p:nvSpPr>
          <p:cNvPr id="14" name="Box 14"/>
          <p:cNvSpPr/>
          <p:nvPr/>
        </p:nvSpPr>
        <p:spPr>
          <a:xfrm>
            <a:off x="2734056" y="231343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3D printing</a:t>
            </a:r>
          </a:p>
        </p:txBody>
      </p:sp>
      <p:sp>
        <p:nvSpPr>
          <p:cNvPr id="15" name="Box 15"/>
          <p:cNvSpPr/>
          <p:nvPr/>
        </p:nvSpPr>
        <p:spPr>
          <a:xfrm>
            <a:off x="2734056" y="269748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Builds products layer by layer</a:t>
            </a:r>
          </a:p>
          <a:p>
            <a:pPr marL="0" indent="0" algn="ctr">
              <a:spcBef>
                <a:spcPts val="0"/>
              </a:spcBef>
              <a:spcAft>
                <a:spcPts val="0"/>
              </a:spcAft>
              <a:buNone/>
            </a:pPr>
            <a:r>
              <a:rPr lang="en-GB" sz="1050" b="1" dirty="0">
                <a:solidFill>
                  <a:srgbClr val="5B2C91"/>
                </a:solidFill>
                <a:latin typeface="Arial"/>
                <a:cs typeface="Arial"/>
              </a:rPr>
              <a:t>TOC: Exploit · Elevate</a:t>
            </a:r>
          </a:p>
        </p:txBody>
      </p:sp>
      <p:sp>
        <p:nvSpPr>
          <p:cNvPr id="16" name="Box 16"/>
          <p:cNvSpPr/>
          <p:nvPr/>
        </p:nvSpPr>
        <p:spPr>
          <a:xfrm>
            <a:off x="5010912" y="1508760"/>
            <a:ext cx="2112264" cy="2011680"/>
          </a:xfrm>
          <a:prstGeom prst="rect">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7" name="Icon circle 17"/>
          <p:cNvSpPr/>
          <p:nvPr/>
        </p:nvSpPr>
        <p:spPr>
          <a:xfrm>
            <a:off x="5742432" y="1618488"/>
            <a:ext cx="658368" cy="658368"/>
          </a:xfrm>
          <a:prstGeom prst="ellipse">
            <a:avLst/>
          </a:prstGeom>
          <a:solidFill>
            <a:srgbClr val="5B2C91"/>
          </a:solidFill>
          <a:ln>
            <a:noFill/>
          </a:ln>
        </p:spPr>
        <p:txBody>
          <a:bodyPr/>
          <a:lstStyle/>
          <a:p>
            <a:endParaRPr lang="en-GB"/>
          </a:p>
        </p:txBody>
      </p:sp>
      <p:pic>
        <p:nvPicPr>
          <p:cNvPr id="18" name="Icon FaWifi" descr="Wifi icon"/>
          <p:cNvPicPr>
            <a:picLocks noChangeAspect="1"/>
          </p:cNvPicPr>
          <p:nvPr/>
        </p:nvPicPr>
        <p:blipFill>
          <a:blip r:embed="rId4"/>
          <a:stretch>
            <a:fillRect/>
          </a:stretch>
        </p:blipFill>
        <p:spPr>
          <a:xfrm>
            <a:off x="5887273" y="1763329"/>
            <a:ext cx="368686" cy="368686"/>
          </a:xfrm>
          <a:prstGeom prst="rect">
            <a:avLst/>
          </a:prstGeom>
        </p:spPr>
      </p:pic>
      <p:sp>
        <p:nvSpPr>
          <p:cNvPr id="19" name="Box 19"/>
          <p:cNvSpPr/>
          <p:nvPr/>
        </p:nvSpPr>
        <p:spPr>
          <a:xfrm>
            <a:off x="5010912" y="231343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Internet of Things</a:t>
            </a:r>
          </a:p>
        </p:txBody>
      </p:sp>
      <p:sp>
        <p:nvSpPr>
          <p:cNvPr id="20" name="Box 20"/>
          <p:cNvSpPr/>
          <p:nvPr/>
        </p:nvSpPr>
        <p:spPr>
          <a:xfrm>
            <a:off x="5010912" y="269748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Sensors connect objects to networks</a:t>
            </a:r>
          </a:p>
          <a:p>
            <a:pPr marL="0" indent="0" algn="ctr">
              <a:spcBef>
                <a:spcPts val="0"/>
              </a:spcBef>
              <a:spcAft>
                <a:spcPts val="0"/>
              </a:spcAft>
              <a:buNone/>
            </a:pPr>
            <a:r>
              <a:rPr lang="en-GB" sz="1050" b="1" dirty="0">
                <a:solidFill>
                  <a:srgbClr val="5B2C91"/>
                </a:solidFill>
                <a:latin typeface="Arial"/>
                <a:cs typeface="Arial"/>
              </a:rPr>
              <a:t>TOC: Identify · Exploit</a:t>
            </a:r>
          </a:p>
        </p:txBody>
      </p:sp>
      <p:sp>
        <p:nvSpPr>
          <p:cNvPr id="21" name="Box 21"/>
          <p:cNvSpPr/>
          <p:nvPr/>
        </p:nvSpPr>
        <p:spPr>
          <a:xfrm>
            <a:off x="7287768" y="1508760"/>
            <a:ext cx="2112264" cy="2011680"/>
          </a:xfrm>
          <a:prstGeom prst="rect">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22" name="Icon circle 22"/>
          <p:cNvSpPr/>
          <p:nvPr/>
        </p:nvSpPr>
        <p:spPr>
          <a:xfrm>
            <a:off x="8019288" y="1618488"/>
            <a:ext cx="658368" cy="658368"/>
          </a:xfrm>
          <a:prstGeom prst="ellipse">
            <a:avLst/>
          </a:prstGeom>
          <a:solidFill>
            <a:srgbClr val="5B2C91"/>
          </a:solidFill>
          <a:ln>
            <a:noFill/>
          </a:ln>
        </p:spPr>
        <p:txBody>
          <a:bodyPr/>
          <a:lstStyle/>
          <a:p>
            <a:endParaRPr lang="en-GB"/>
          </a:p>
        </p:txBody>
      </p:sp>
      <p:pic>
        <p:nvPicPr>
          <p:cNvPr id="23" name="Icon FaStethoscope" descr="Stethoscope icon"/>
          <p:cNvPicPr>
            <a:picLocks noChangeAspect="1"/>
          </p:cNvPicPr>
          <p:nvPr/>
        </p:nvPicPr>
        <p:blipFill>
          <a:blip r:embed="rId5"/>
          <a:stretch>
            <a:fillRect/>
          </a:stretch>
        </p:blipFill>
        <p:spPr>
          <a:xfrm>
            <a:off x="8164129" y="1763329"/>
            <a:ext cx="368686" cy="368686"/>
          </a:xfrm>
          <a:prstGeom prst="rect">
            <a:avLst/>
          </a:prstGeom>
        </p:spPr>
      </p:pic>
      <p:sp>
        <p:nvSpPr>
          <p:cNvPr id="24" name="Box 24"/>
          <p:cNvSpPr/>
          <p:nvPr/>
        </p:nvSpPr>
        <p:spPr>
          <a:xfrm>
            <a:off x="7287768" y="231343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Telemedicine</a:t>
            </a:r>
          </a:p>
        </p:txBody>
      </p:sp>
      <p:sp>
        <p:nvSpPr>
          <p:cNvPr id="25" name="Box 25"/>
          <p:cNvSpPr/>
          <p:nvPr/>
        </p:nvSpPr>
        <p:spPr>
          <a:xfrm>
            <a:off x="7287768" y="269748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Clinical care at a distance</a:t>
            </a:r>
          </a:p>
          <a:p>
            <a:pPr marL="0" indent="0" algn="ctr">
              <a:spcBef>
                <a:spcPts val="0"/>
              </a:spcBef>
              <a:spcAft>
                <a:spcPts val="0"/>
              </a:spcAft>
              <a:buNone/>
            </a:pPr>
            <a:r>
              <a:rPr lang="en-GB" sz="1050" b="1" dirty="0">
                <a:solidFill>
                  <a:srgbClr val="5B2C91"/>
                </a:solidFill>
                <a:latin typeface="Arial"/>
                <a:cs typeface="Arial"/>
              </a:rPr>
              <a:t>TOC: Elevate</a:t>
            </a:r>
          </a:p>
        </p:txBody>
      </p:sp>
      <p:sp>
        <p:nvSpPr>
          <p:cNvPr id="26" name="Box 26"/>
          <p:cNvSpPr/>
          <p:nvPr/>
        </p:nvSpPr>
        <p:spPr>
          <a:xfrm>
            <a:off x="9564624" y="1508760"/>
            <a:ext cx="2112264" cy="2011680"/>
          </a:xfrm>
          <a:prstGeom prst="rect">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27" name="Icon circle 27"/>
          <p:cNvSpPr/>
          <p:nvPr/>
        </p:nvSpPr>
        <p:spPr>
          <a:xfrm>
            <a:off x="10296144" y="1618488"/>
            <a:ext cx="658368" cy="658368"/>
          </a:xfrm>
          <a:prstGeom prst="ellipse">
            <a:avLst/>
          </a:prstGeom>
          <a:solidFill>
            <a:srgbClr val="5B2C91"/>
          </a:solidFill>
          <a:ln>
            <a:noFill/>
          </a:ln>
        </p:spPr>
        <p:txBody>
          <a:bodyPr/>
          <a:lstStyle/>
          <a:p>
            <a:endParaRPr lang="en-GB"/>
          </a:p>
        </p:txBody>
      </p:sp>
      <p:pic>
        <p:nvPicPr>
          <p:cNvPr id="28" name="Icon FaDatabase" descr="Database icon"/>
          <p:cNvPicPr>
            <a:picLocks noChangeAspect="1"/>
          </p:cNvPicPr>
          <p:nvPr/>
        </p:nvPicPr>
        <p:blipFill>
          <a:blip r:embed="rId6"/>
          <a:stretch>
            <a:fillRect/>
          </a:stretch>
        </p:blipFill>
        <p:spPr>
          <a:xfrm>
            <a:off x="10440985" y="1763329"/>
            <a:ext cx="368686" cy="368686"/>
          </a:xfrm>
          <a:prstGeom prst="rect">
            <a:avLst/>
          </a:prstGeom>
        </p:spPr>
      </p:pic>
      <p:sp>
        <p:nvSpPr>
          <p:cNvPr id="29" name="Box 29"/>
          <p:cNvSpPr/>
          <p:nvPr/>
        </p:nvSpPr>
        <p:spPr>
          <a:xfrm>
            <a:off x="9564624" y="231343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Big data &amp; analytics</a:t>
            </a:r>
          </a:p>
        </p:txBody>
      </p:sp>
      <p:sp>
        <p:nvSpPr>
          <p:cNvPr id="30" name="Box 30"/>
          <p:cNvSpPr/>
          <p:nvPr/>
        </p:nvSpPr>
        <p:spPr>
          <a:xfrm>
            <a:off x="9564624" y="269748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Turns vast data into decisions</a:t>
            </a:r>
          </a:p>
          <a:p>
            <a:pPr marL="0" indent="0" algn="ctr">
              <a:spcBef>
                <a:spcPts val="0"/>
              </a:spcBef>
              <a:spcAft>
                <a:spcPts val="0"/>
              </a:spcAft>
              <a:buNone/>
            </a:pPr>
            <a:r>
              <a:rPr lang="en-GB" sz="1050" b="1" dirty="0">
                <a:solidFill>
                  <a:srgbClr val="5B2C91"/>
                </a:solidFill>
                <a:latin typeface="Arial"/>
                <a:cs typeface="Arial"/>
              </a:rPr>
              <a:t>TOC: Identify · Subordinate</a:t>
            </a:r>
          </a:p>
        </p:txBody>
      </p:sp>
      <p:sp>
        <p:nvSpPr>
          <p:cNvPr id="31" name="Box 31"/>
          <p:cNvSpPr/>
          <p:nvPr/>
        </p:nvSpPr>
        <p:spPr>
          <a:xfrm>
            <a:off x="457200" y="3657600"/>
            <a:ext cx="2112264" cy="2011680"/>
          </a:xfrm>
          <a:prstGeom prst="rect">
            <a:avLst/>
          </a:prstGeom>
          <a:solidFill>
            <a:srgbClr val="EBE1F5"/>
          </a:solidFill>
          <a:ln w="12700">
            <a:solidFill>
              <a:srgbClr val="C9B8E0"/>
            </a:solidFill>
          </a:ln>
        </p:spPr>
        <p:txBody>
          <a:bodyPr wrap="square" lIns="73152" tIns="45720" rIns="73152" bIns="45720" rtlCol="0" anchor="t">
            <a:normAutofit/>
          </a:bodyPr>
          <a:lstStyle/>
          <a:p>
            <a:endParaRPr lang="en-GB" sz="1000"/>
          </a:p>
        </p:txBody>
      </p:sp>
      <p:sp>
        <p:nvSpPr>
          <p:cNvPr id="32" name="Icon circle 32"/>
          <p:cNvSpPr/>
          <p:nvPr/>
        </p:nvSpPr>
        <p:spPr>
          <a:xfrm>
            <a:off x="1188720" y="3767328"/>
            <a:ext cx="658368" cy="658368"/>
          </a:xfrm>
          <a:prstGeom prst="ellipse">
            <a:avLst/>
          </a:prstGeom>
          <a:solidFill>
            <a:srgbClr val="5B2C91"/>
          </a:solidFill>
          <a:ln>
            <a:noFill/>
          </a:ln>
        </p:spPr>
        <p:txBody>
          <a:bodyPr/>
          <a:lstStyle/>
          <a:p>
            <a:endParaRPr lang="en-GB"/>
          </a:p>
        </p:txBody>
      </p:sp>
      <p:pic>
        <p:nvPicPr>
          <p:cNvPr id="33" name="Icon FaClone" descr="Clone icon"/>
          <p:cNvPicPr>
            <a:picLocks noChangeAspect="1"/>
          </p:cNvPicPr>
          <p:nvPr/>
        </p:nvPicPr>
        <p:blipFill>
          <a:blip r:embed="rId7"/>
          <a:stretch>
            <a:fillRect/>
          </a:stretch>
        </p:blipFill>
        <p:spPr>
          <a:xfrm>
            <a:off x="1333561" y="3912169"/>
            <a:ext cx="368686" cy="368686"/>
          </a:xfrm>
          <a:prstGeom prst="rect">
            <a:avLst/>
          </a:prstGeom>
        </p:spPr>
      </p:pic>
      <p:sp>
        <p:nvSpPr>
          <p:cNvPr id="34" name="Box 34"/>
          <p:cNvSpPr/>
          <p:nvPr/>
        </p:nvSpPr>
        <p:spPr>
          <a:xfrm>
            <a:off x="457200" y="446227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Digital twins</a:t>
            </a:r>
          </a:p>
        </p:txBody>
      </p:sp>
      <p:sp>
        <p:nvSpPr>
          <p:cNvPr id="35" name="Box 35"/>
          <p:cNvSpPr/>
          <p:nvPr/>
        </p:nvSpPr>
        <p:spPr>
          <a:xfrm>
            <a:off x="457200" y="484632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Live virtual replica of a process</a:t>
            </a:r>
          </a:p>
          <a:p>
            <a:pPr marL="0" indent="0" algn="ctr">
              <a:spcBef>
                <a:spcPts val="0"/>
              </a:spcBef>
              <a:spcAft>
                <a:spcPts val="0"/>
              </a:spcAft>
              <a:buNone/>
            </a:pPr>
            <a:r>
              <a:rPr lang="en-GB" sz="1050" b="1" dirty="0">
                <a:solidFill>
                  <a:srgbClr val="5B2C91"/>
                </a:solidFill>
                <a:latin typeface="Arial"/>
                <a:cs typeface="Arial"/>
              </a:rPr>
              <a:t>TOC: Identify · Repeat</a:t>
            </a:r>
          </a:p>
        </p:txBody>
      </p:sp>
      <p:sp>
        <p:nvSpPr>
          <p:cNvPr id="36" name="Box 36"/>
          <p:cNvSpPr/>
          <p:nvPr/>
        </p:nvSpPr>
        <p:spPr>
          <a:xfrm>
            <a:off x="2734056" y="3657600"/>
            <a:ext cx="2112264" cy="2011680"/>
          </a:xfrm>
          <a:prstGeom prst="rect">
            <a:avLst/>
          </a:prstGeom>
          <a:solidFill>
            <a:srgbClr val="EBE1F5"/>
          </a:solidFill>
          <a:ln w="12700">
            <a:solidFill>
              <a:srgbClr val="C9B8E0"/>
            </a:solidFill>
          </a:ln>
        </p:spPr>
        <p:txBody>
          <a:bodyPr wrap="square" lIns="73152" tIns="45720" rIns="73152" bIns="45720" rtlCol="0" anchor="t">
            <a:normAutofit/>
          </a:bodyPr>
          <a:lstStyle/>
          <a:p>
            <a:endParaRPr lang="en-GB" sz="1000"/>
          </a:p>
        </p:txBody>
      </p:sp>
      <p:sp>
        <p:nvSpPr>
          <p:cNvPr id="37" name="Icon circle 37"/>
          <p:cNvSpPr/>
          <p:nvPr/>
        </p:nvSpPr>
        <p:spPr>
          <a:xfrm>
            <a:off x="3465576" y="3767328"/>
            <a:ext cx="658368" cy="658368"/>
          </a:xfrm>
          <a:prstGeom prst="ellipse">
            <a:avLst/>
          </a:prstGeom>
          <a:solidFill>
            <a:srgbClr val="5B2C91"/>
          </a:solidFill>
          <a:ln>
            <a:noFill/>
          </a:ln>
        </p:spPr>
        <p:txBody>
          <a:bodyPr/>
          <a:lstStyle/>
          <a:p>
            <a:endParaRPr lang="en-GB"/>
          </a:p>
        </p:txBody>
      </p:sp>
      <p:pic>
        <p:nvPicPr>
          <p:cNvPr id="38" name="Icon FaBrain" descr="Brain icon"/>
          <p:cNvPicPr>
            <a:picLocks noChangeAspect="1"/>
          </p:cNvPicPr>
          <p:nvPr/>
        </p:nvPicPr>
        <p:blipFill>
          <a:blip r:embed="rId8"/>
          <a:stretch>
            <a:fillRect/>
          </a:stretch>
        </p:blipFill>
        <p:spPr>
          <a:xfrm>
            <a:off x="3610417" y="3912169"/>
            <a:ext cx="368686" cy="368686"/>
          </a:xfrm>
          <a:prstGeom prst="rect">
            <a:avLst/>
          </a:prstGeom>
        </p:spPr>
      </p:pic>
      <p:sp>
        <p:nvSpPr>
          <p:cNvPr id="39" name="Box 39"/>
          <p:cNvSpPr/>
          <p:nvPr/>
        </p:nvSpPr>
        <p:spPr>
          <a:xfrm>
            <a:off x="2734056" y="446227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Agentic AI</a:t>
            </a:r>
          </a:p>
        </p:txBody>
      </p:sp>
      <p:sp>
        <p:nvSpPr>
          <p:cNvPr id="40" name="Box 40"/>
          <p:cNvSpPr/>
          <p:nvPr/>
        </p:nvSpPr>
        <p:spPr>
          <a:xfrm>
            <a:off x="2734056" y="484632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AI agents that plan and act</a:t>
            </a:r>
          </a:p>
          <a:p>
            <a:pPr marL="0" indent="0" algn="ctr">
              <a:spcBef>
                <a:spcPts val="0"/>
              </a:spcBef>
              <a:spcAft>
                <a:spcPts val="0"/>
              </a:spcAft>
              <a:buNone/>
            </a:pPr>
            <a:r>
              <a:rPr lang="en-GB" sz="1050" b="1" dirty="0">
                <a:solidFill>
                  <a:srgbClr val="5B2C91"/>
                </a:solidFill>
                <a:latin typeface="Arial"/>
                <a:cs typeface="Arial"/>
              </a:rPr>
              <a:t>TOC: Exploit · Subordinate</a:t>
            </a:r>
          </a:p>
        </p:txBody>
      </p:sp>
      <p:sp>
        <p:nvSpPr>
          <p:cNvPr id="41" name="Box 41"/>
          <p:cNvSpPr/>
          <p:nvPr/>
        </p:nvSpPr>
        <p:spPr>
          <a:xfrm>
            <a:off x="5010912" y="3657600"/>
            <a:ext cx="2112264" cy="2011680"/>
          </a:xfrm>
          <a:prstGeom prst="rect">
            <a:avLst/>
          </a:prstGeom>
          <a:solidFill>
            <a:srgbClr val="EBE1F5"/>
          </a:solidFill>
          <a:ln w="12700">
            <a:solidFill>
              <a:srgbClr val="C9B8E0"/>
            </a:solidFill>
          </a:ln>
        </p:spPr>
        <p:txBody>
          <a:bodyPr wrap="square" lIns="73152" tIns="45720" rIns="73152" bIns="45720" rtlCol="0" anchor="t">
            <a:normAutofit/>
          </a:bodyPr>
          <a:lstStyle/>
          <a:p>
            <a:endParaRPr lang="en-GB" sz="1000"/>
          </a:p>
        </p:txBody>
      </p:sp>
      <p:sp>
        <p:nvSpPr>
          <p:cNvPr id="42" name="Icon circle 42"/>
          <p:cNvSpPr/>
          <p:nvPr/>
        </p:nvSpPr>
        <p:spPr>
          <a:xfrm>
            <a:off x="5742432" y="3767328"/>
            <a:ext cx="658368" cy="658368"/>
          </a:xfrm>
          <a:prstGeom prst="ellipse">
            <a:avLst/>
          </a:prstGeom>
          <a:solidFill>
            <a:srgbClr val="5B2C91"/>
          </a:solidFill>
          <a:ln>
            <a:noFill/>
          </a:ln>
        </p:spPr>
        <p:txBody>
          <a:bodyPr/>
          <a:lstStyle/>
          <a:p>
            <a:endParaRPr lang="en-GB"/>
          </a:p>
        </p:txBody>
      </p:sp>
      <p:pic>
        <p:nvPicPr>
          <p:cNvPr id="43" name="Icon FaLink" descr="Link icon"/>
          <p:cNvPicPr>
            <a:picLocks noChangeAspect="1"/>
          </p:cNvPicPr>
          <p:nvPr/>
        </p:nvPicPr>
        <p:blipFill>
          <a:blip r:embed="rId9"/>
          <a:stretch>
            <a:fillRect/>
          </a:stretch>
        </p:blipFill>
        <p:spPr>
          <a:xfrm>
            <a:off x="5887273" y="3912169"/>
            <a:ext cx="368686" cy="368686"/>
          </a:xfrm>
          <a:prstGeom prst="rect">
            <a:avLst/>
          </a:prstGeom>
        </p:spPr>
      </p:pic>
      <p:sp>
        <p:nvSpPr>
          <p:cNvPr id="44" name="Box 44"/>
          <p:cNvSpPr/>
          <p:nvPr/>
        </p:nvSpPr>
        <p:spPr>
          <a:xfrm>
            <a:off x="5010912" y="446227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Blockchain</a:t>
            </a:r>
          </a:p>
        </p:txBody>
      </p:sp>
      <p:sp>
        <p:nvSpPr>
          <p:cNvPr id="45" name="Box 45"/>
          <p:cNvSpPr/>
          <p:nvPr/>
        </p:nvSpPr>
        <p:spPr>
          <a:xfrm>
            <a:off x="5010912" y="484632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Shared, tamper-resistant ledger</a:t>
            </a:r>
          </a:p>
          <a:p>
            <a:pPr marL="0" indent="0" algn="ctr">
              <a:spcBef>
                <a:spcPts val="0"/>
              </a:spcBef>
              <a:spcAft>
                <a:spcPts val="0"/>
              </a:spcAft>
              <a:buNone/>
            </a:pPr>
            <a:r>
              <a:rPr lang="en-GB" sz="1050" b="1" dirty="0">
                <a:solidFill>
                  <a:srgbClr val="5B2C91"/>
                </a:solidFill>
                <a:latin typeface="Arial"/>
                <a:cs typeface="Arial"/>
              </a:rPr>
              <a:t>TOC: Identify · Subordinate</a:t>
            </a:r>
          </a:p>
        </p:txBody>
      </p:sp>
      <p:sp>
        <p:nvSpPr>
          <p:cNvPr id="46" name="Box 46"/>
          <p:cNvSpPr/>
          <p:nvPr/>
        </p:nvSpPr>
        <p:spPr>
          <a:xfrm>
            <a:off x="7287768" y="3657600"/>
            <a:ext cx="2112264" cy="2011680"/>
          </a:xfrm>
          <a:prstGeom prst="rect">
            <a:avLst/>
          </a:prstGeom>
          <a:solidFill>
            <a:srgbClr val="EBE1F5"/>
          </a:solidFill>
          <a:ln w="12700">
            <a:solidFill>
              <a:srgbClr val="C9B8E0"/>
            </a:solidFill>
          </a:ln>
        </p:spPr>
        <p:txBody>
          <a:bodyPr wrap="square" lIns="73152" tIns="45720" rIns="73152" bIns="45720" rtlCol="0" anchor="t">
            <a:normAutofit/>
          </a:bodyPr>
          <a:lstStyle/>
          <a:p>
            <a:endParaRPr lang="en-GB" sz="1000"/>
          </a:p>
        </p:txBody>
      </p:sp>
      <p:sp>
        <p:nvSpPr>
          <p:cNvPr id="47" name="Icon circle 47"/>
          <p:cNvSpPr/>
          <p:nvPr/>
        </p:nvSpPr>
        <p:spPr>
          <a:xfrm>
            <a:off x="8019288" y="3767328"/>
            <a:ext cx="658368" cy="658368"/>
          </a:xfrm>
          <a:prstGeom prst="ellipse">
            <a:avLst/>
          </a:prstGeom>
          <a:solidFill>
            <a:srgbClr val="5B2C91"/>
          </a:solidFill>
          <a:ln>
            <a:noFill/>
          </a:ln>
        </p:spPr>
        <p:txBody>
          <a:bodyPr/>
          <a:lstStyle/>
          <a:p>
            <a:endParaRPr lang="en-GB"/>
          </a:p>
        </p:txBody>
      </p:sp>
      <p:pic>
        <p:nvPicPr>
          <p:cNvPr id="48" name="Icon FaAtom" descr="Atom icon"/>
          <p:cNvPicPr>
            <a:picLocks noChangeAspect="1"/>
          </p:cNvPicPr>
          <p:nvPr/>
        </p:nvPicPr>
        <p:blipFill>
          <a:blip r:embed="rId10"/>
          <a:stretch>
            <a:fillRect/>
          </a:stretch>
        </p:blipFill>
        <p:spPr>
          <a:xfrm>
            <a:off x="8164129" y="3912169"/>
            <a:ext cx="368686" cy="368686"/>
          </a:xfrm>
          <a:prstGeom prst="rect">
            <a:avLst/>
          </a:prstGeom>
        </p:spPr>
      </p:pic>
      <p:sp>
        <p:nvSpPr>
          <p:cNvPr id="49" name="Box 49"/>
          <p:cNvSpPr/>
          <p:nvPr/>
        </p:nvSpPr>
        <p:spPr>
          <a:xfrm>
            <a:off x="7287768" y="446227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Quantum computing</a:t>
            </a:r>
          </a:p>
        </p:txBody>
      </p:sp>
      <p:sp>
        <p:nvSpPr>
          <p:cNvPr id="50" name="Box 50"/>
          <p:cNvSpPr/>
          <p:nvPr/>
        </p:nvSpPr>
        <p:spPr>
          <a:xfrm>
            <a:off x="7287768" y="484632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Qubits tackle hard optimisation</a:t>
            </a:r>
          </a:p>
          <a:p>
            <a:pPr marL="0" indent="0" algn="ctr">
              <a:spcBef>
                <a:spcPts val="0"/>
              </a:spcBef>
              <a:spcAft>
                <a:spcPts val="0"/>
              </a:spcAft>
              <a:buNone/>
            </a:pPr>
            <a:r>
              <a:rPr lang="en-GB" sz="1050" b="1" dirty="0">
                <a:solidFill>
                  <a:srgbClr val="5B2C91"/>
                </a:solidFill>
                <a:latin typeface="Arial"/>
                <a:cs typeface="Arial"/>
              </a:rPr>
              <a:t>TOC: Exploit · Subordinate</a:t>
            </a:r>
          </a:p>
        </p:txBody>
      </p:sp>
      <p:sp>
        <p:nvSpPr>
          <p:cNvPr id="51" name="Box 51"/>
          <p:cNvSpPr/>
          <p:nvPr/>
        </p:nvSpPr>
        <p:spPr>
          <a:xfrm>
            <a:off x="9564624" y="3657600"/>
            <a:ext cx="2112264" cy="2011680"/>
          </a:xfrm>
          <a:prstGeom prst="rect">
            <a:avLst/>
          </a:prstGeom>
          <a:solidFill>
            <a:srgbClr val="EBE1F5"/>
          </a:solidFill>
          <a:ln w="12700">
            <a:solidFill>
              <a:srgbClr val="C9B8E0"/>
            </a:solidFill>
          </a:ln>
        </p:spPr>
        <p:txBody>
          <a:bodyPr wrap="square" lIns="73152" tIns="45720" rIns="73152" bIns="45720" rtlCol="0" anchor="t">
            <a:normAutofit/>
          </a:bodyPr>
          <a:lstStyle/>
          <a:p>
            <a:endParaRPr lang="en-GB" sz="1000"/>
          </a:p>
        </p:txBody>
      </p:sp>
      <p:sp>
        <p:nvSpPr>
          <p:cNvPr id="52" name="Icon circle 52"/>
          <p:cNvSpPr/>
          <p:nvPr/>
        </p:nvSpPr>
        <p:spPr>
          <a:xfrm>
            <a:off x="10296144" y="3767328"/>
            <a:ext cx="658368" cy="658368"/>
          </a:xfrm>
          <a:prstGeom prst="ellipse">
            <a:avLst/>
          </a:prstGeom>
          <a:solidFill>
            <a:srgbClr val="5B2C91"/>
          </a:solidFill>
          <a:ln>
            <a:noFill/>
          </a:ln>
        </p:spPr>
        <p:txBody>
          <a:bodyPr/>
          <a:lstStyle/>
          <a:p>
            <a:endParaRPr lang="en-GB"/>
          </a:p>
        </p:txBody>
      </p:sp>
      <p:pic>
        <p:nvPicPr>
          <p:cNvPr id="53" name="Icon FaVrCardboard" descr="VrCardboard icon"/>
          <p:cNvPicPr>
            <a:picLocks noChangeAspect="1"/>
          </p:cNvPicPr>
          <p:nvPr/>
        </p:nvPicPr>
        <p:blipFill>
          <a:blip r:embed="rId11"/>
          <a:stretch>
            <a:fillRect/>
          </a:stretch>
        </p:blipFill>
        <p:spPr>
          <a:xfrm>
            <a:off x="10440985" y="3912169"/>
            <a:ext cx="368686" cy="368686"/>
          </a:xfrm>
          <a:prstGeom prst="rect">
            <a:avLst/>
          </a:prstGeom>
        </p:spPr>
      </p:pic>
      <p:sp>
        <p:nvSpPr>
          <p:cNvPr id="54" name="Box 54"/>
          <p:cNvSpPr/>
          <p:nvPr/>
        </p:nvSpPr>
        <p:spPr>
          <a:xfrm>
            <a:off x="9564624" y="4462272"/>
            <a:ext cx="2112264" cy="384048"/>
          </a:xfrm>
          <a:prstGeom prst="rect">
            <a:avLst/>
          </a:prstGeom>
          <a:noFill/>
          <a:ln>
            <a:noFill/>
          </a:ln>
        </p:spPr>
        <p:txBody>
          <a:bodyPr wrap="square" lIns="36576" tIns="0" rIns="36576" bIns="0" rtlCol="0" anchor="ctr">
            <a:normAutofit/>
          </a:bodyPr>
          <a:lstStyle/>
          <a:p>
            <a:pPr marL="0" indent="0" algn="ctr">
              <a:spcBef>
                <a:spcPts val="0"/>
              </a:spcBef>
              <a:spcAft>
                <a:spcPts val="0"/>
              </a:spcAft>
              <a:buNone/>
            </a:pPr>
            <a:r>
              <a:rPr lang="en-GB" sz="1500" b="1" dirty="0">
                <a:solidFill>
                  <a:srgbClr val="5B2C91"/>
                </a:solidFill>
                <a:latin typeface="Arial"/>
                <a:cs typeface="Arial"/>
              </a:rPr>
              <a:t>Metaverse &amp; XR</a:t>
            </a:r>
          </a:p>
        </p:txBody>
      </p:sp>
      <p:sp>
        <p:nvSpPr>
          <p:cNvPr id="55" name="Box 55"/>
          <p:cNvSpPr/>
          <p:nvPr/>
        </p:nvSpPr>
        <p:spPr>
          <a:xfrm>
            <a:off x="9564624" y="4846320"/>
            <a:ext cx="2112264" cy="777240"/>
          </a:xfrm>
          <a:prstGeom prst="rect">
            <a:avLst/>
          </a:prstGeom>
          <a:noFill/>
          <a:ln>
            <a:noFill/>
          </a:ln>
        </p:spPr>
        <p:txBody>
          <a:bodyPr wrap="square" lIns="73152" tIns="0" rIns="73152" bIns="0" rtlCol="0" anchor="t">
            <a:normAutofit/>
          </a:bodyPr>
          <a:lstStyle/>
          <a:p>
            <a:pPr marL="0" indent="0" algn="ctr">
              <a:spcBef>
                <a:spcPts val="0"/>
              </a:spcBef>
              <a:spcAft>
                <a:spcPts val="150"/>
              </a:spcAft>
              <a:buNone/>
            </a:pPr>
            <a:r>
              <a:rPr lang="en-GB" sz="1150" dirty="0">
                <a:solidFill>
                  <a:srgbClr val="1A1A1A"/>
                </a:solidFill>
                <a:latin typeface="Arial"/>
                <a:cs typeface="Arial"/>
              </a:rPr>
              <a:t>Immersive 3D environments</a:t>
            </a:r>
          </a:p>
          <a:p>
            <a:pPr marL="0" indent="0" algn="ctr">
              <a:spcBef>
                <a:spcPts val="0"/>
              </a:spcBef>
              <a:spcAft>
                <a:spcPts val="0"/>
              </a:spcAft>
              <a:buNone/>
            </a:pPr>
            <a:r>
              <a:rPr lang="en-GB" sz="1050" b="1" dirty="0">
                <a:solidFill>
                  <a:srgbClr val="5B2C91"/>
                </a:solidFill>
                <a:latin typeface="Arial"/>
                <a:cs typeface="Arial"/>
              </a:rPr>
              <a:t>TOC: Exploit · Elevate</a:t>
            </a:r>
          </a:p>
        </p:txBody>
      </p:sp>
      <p:sp>
        <p:nvSpPr>
          <p:cNvPr id="56" name="Box 56"/>
          <p:cNvSpPr/>
          <p:nvPr/>
        </p:nvSpPr>
        <p:spPr>
          <a:xfrm>
            <a:off x="457200" y="5852160"/>
            <a:ext cx="11274552" cy="50292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For each one, ask:  </a:t>
            </a:r>
            <a:r>
              <a:rPr lang="en-GB" sz="1400" dirty="0">
                <a:solidFill>
                  <a:srgbClr val="FFFFFF"/>
                </a:solidFill>
                <a:latin typeface="Arial"/>
                <a:cs typeface="Arial"/>
              </a:rPr>
              <a:t>What does it do?  How does it do it?  What benefits does it give?  What constraints or risks does it impose?</a:t>
            </a:r>
          </a:p>
        </p:txBody>
      </p:sp>
      <p:sp>
        <p:nvSpPr>
          <p:cNvPr id="57" name="Page 57"/>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43</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Microchip" descr="Microchip icon"/>
          <p:cNvPicPr>
            <a:picLocks noChangeAspect="1"/>
          </p:cNvPicPr>
          <p:nvPr/>
        </p:nvPicPr>
        <p:blipFill>
          <a:blip r:embed="rId12"/>
          <a:stretch>
            <a:fillRect/>
          </a:stretch>
        </p:blipFill>
        <p:spPr>
          <a:xfrm>
            <a:off x="577901" y="449885"/>
            <a:ext cx="307238" cy="30723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3D Printing (Additive Manufacturing)</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051560"/>
            <a:ext cx="11274552" cy="566928"/>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550" dirty="0">
                <a:solidFill>
                  <a:srgbClr val="1A1A1A"/>
                </a:solidFill>
                <a:latin typeface="Arial"/>
                <a:cs typeface="Arial"/>
              </a:rPr>
              <a:t>Most process technology is efficient only for standard products in large batches. 3D printing could change the economics of making small quantities of varied products.</a:t>
            </a:r>
          </a:p>
        </p:txBody>
      </p:sp>
      <p:sp>
        <p:nvSpPr>
          <p:cNvPr id="6" name="Box 6"/>
          <p:cNvSpPr/>
          <p:nvPr/>
        </p:nvSpPr>
        <p:spPr>
          <a:xfrm>
            <a:off x="457200" y="1691640"/>
            <a:ext cx="5559552" cy="34747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1  What does it do?</a:t>
            </a:r>
          </a:p>
        </p:txBody>
      </p:sp>
      <p:sp>
        <p:nvSpPr>
          <p:cNvPr id="7" name="Box 7"/>
          <p:cNvSpPr/>
          <p:nvPr/>
        </p:nvSpPr>
        <p:spPr>
          <a:xfrm>
            <a:off x="457200" y="2039112"/>
            <a:ext cx="5559552" cy="1298448"/>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Builds a 3D object layer by layer from a digital design (additive), instead of cutting material away (subtractive)</a:t>
            </a:r>
          </a:p>
        </p:txBody>
      </p:sp>
      <p:sp>
        <p:nvSpPr>
          <p:cNvPr id="8" name="Box 8"/>
          <p:cNvSpPr/>
          <p:nvPr/>
        </p:nvSpPr>
        <p:spPr>
          <a:xfrm>
            <a:off x="6172200" y="1691640"/>
            <a:ext cx="5559552" cy="34747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2  How does it do it?</a:t>
            </a:r>
          </a:p>
        </p:txBody>
      </p:sp>
      <p:sp>
        <p:nvSpPr>
          <p:cNvPr id="9" name="Box 9"/>
          <p:cNvSpPr/>
          <p:nvPr/>
        </p:nvSpPr>
        <p:spPr>
          <a:xfrm>
            <a:off x="6172200" y="2039112"/>
            <a:ext cx="5559552" cy="1298448"/>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CAD design is digitally sliced; each layer is printed in plastic, metal or even food</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Methods: inkjet + UV curing, extrusion, powder + binder, electron beam</a:t>
            </a:r>
          </a:p>
        </p:txBody>
      </p:sp>
      <p:sp>
        <p:nvSpPr>
          <p:cNvPr id="10" name="Box 10"/>
          <p:cNvSpPr/>
          <p:nvPr/>
        </p:nvSpPr>
        <p:spPr>
          <a:xfrm>
            <a:off x="457200" y="3447288"/>
            <a:ext cx="5559552" cy="34747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3  What benefits does it give?</a:t>
            </a:r>
          </a:p>
        </p:txBody>
      </p:sp>
      <p:sp>
        <p:nvSpPr>
          <p:cNvPr id="11" name="Box 11"/>
          <p:cNvSpPr/>
          <p:nvPr/>
        </p:nvSpPr>
        <p:spPr>
          <a:xfrm>
            <a:off x="457200" y="3794760"/>
            <a:ext cx="5559552" cy="1298448"/>
          </a:xfrm>
          <a:prstGeom prst="rect">
            <a:avLst/>
          </a:prstGeom>
          <a:solidFill>
            <a:srgbClr val="F6F1FB"/>
          </a:solidFill>
          <a:ln w="12700">
            <a:solidFill>
              <a:srgbClr val="C9B8E0"/>
            </a:solidFill>
          </a:ln>
        </p:spPr>
        <p:txBody>
          <a:bodyPr wrap="square" lIns="109728" tIns="91440" rIns="109728" bIns="45720" rtlCol="0" anchor="t">
            <a:normAutofit lnSpcReduction="10000"/>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Near-zero changeover cost, so small batches and customisation become economic</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Much less waste: machining some aerospace parts wastes up to 90% of material</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Rapid prototyping; production closer to the market</a:t>
            </a:r>
          </a:p>
        </p:txBody>
      </p:sp>
      <p:sp>
        <p:nvSpPr>
          <p:cNvPr id="12" name="Box 12"/>
          <p:cNvSpPr/>
          <p:nvPr/>
        </p:nvSpPr>
        <p:spPr>
          <a:xfrm>
            <a:off x="6172200" y="3447288"/>
            <a:ext cx="5559552" cy="347472"/>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450" b="1" dirty="0">
                <a:solidFill>
                  <a:srgbClr val="FFFFFF"/>
                </a:solidFill>
                <a:latin typeface="Arial"/>
                <a:cs typeface="Arial"/>
              </a:rPr>
              <a:t>4  What constraints or risks?</a:t>
            </a:r>
          </a:p>
        </p:txBody>
      </p:sp>
      <p:sp>
        <p:nvSpPr>
          <p:cNvPr id="13" name="Box 13"/>
          <p:cNvSpPr/>
          <p:nvPr/>
        </p:nvSpPr>
        <p:spPr>
          <a:xfrm>
            <a:off x="6172200" y="3794760"/>
            <a:ext cx="5559552" cy="1298448"/>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Slower and less reliable than mass production; machines are costly</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Accuracy and surface finish can be inferior</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Design files can be pirated (intellectual property)</a:t>
            </a:r>
          </a:p>
        </p:txBody>
      </p:sp>
      <p:sp>
        <p:nvSpPr>
          <p:cNvPr id="14" name="Box 14"/>
          <p:cNvSpPr/>
          <p:nvPr/>
        </p:nvSpPr>
        <p:spPr>
          <a:xfrm>
            <a:off x="457200" y="5321808"/>
            <a:ext cx="11274552" cy="86868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Operations link:  </a:t>
            </a:r>
            <a:r>
              <a:rPr lang="en-GB" sz="1400" dirty="0">
                <a:solidFill>
                  <a:srgbClr val="FFFFFF"/>
                </a:solidFill>
                <a:latin typeface="Arial"/>
                <a:cs typeface="Arial"/>
              </a:rPr>
              <a:t>removes set-up time between products, the hidden constraint that forces large batches at many bottlenecks, and challenges the volume–variety trade-off.</a:t>
            </a:r>
          </a:p>
        </p:txBody>
      </p:sp>
      <p:sp>
        <p:nvSpPr>
          <p:cNvPr id="15" name="Source 15"/>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pp. 230–231</a:t>
            </a:r>
          </a:p>
        </p:txBody>
      </p:sp>
      <p:sp>
        <p:nvSpPr>
          <p:cNvPr id="16" name="Box 16"/>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Exploit · Elevate</a:t>
            </a:r>
          </a:p>
        </p:txBody>
      </p:sp>
      <p:sp>
        <p:nvSpPr>
          <p:cNvPr id="17" name="Page 17"/>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44</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Print" descr="Prin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How Are Process Technologies Evaluated?</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280160"/>
            <a:ext cx="3657600" cy="3291840"/>
          </a:xfrm>
          <a:prstGeom prst="roundRect">
            <a:avLst>
              <a:gd name="adj" fmla="val 6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6" name="Box 6"/>
          <p:cNvSpPr/>
          <p:nvPr/>
        </p:nvSpPr>
        <p:spPr>
          <a:xfrm>
            <a:off x="1965960" y="1463040"/>
            <a:ext cx="640080" cy="64008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2200" b="1" dirty="0">
                <a:solidFill>
                  <a:srgbClr val="FFFFFF"/>
                </a:solidFill>
                <a:latin typeface="Arial"/>
                <a:cs typeface="Arial"/>
              </a:rPr>
              <a:t>1</a:t>
            </a:r>
          </a:p>
        </p:txBody>
      </p:sp>
      <p:sp>
        <p:nvSpPr>
          <p:cNvPr id="7" name="Box 7"/>
          <p:cNvSpPr/>
          <p:nvPr/>
        </p:nvSpPr>
        <p:spPr>
          <a:xfrm>
            <a:off x="640080" y="2240280"/>
            <a:ext cx="3291840" cy="2240280"/>
          </a:xfrm>
          <a:prstGeom prst="rect">
            <a:avLst/>
          </a:prstGeom>
          <a:noFill/>
          <a:ln>
            <a:noFill/>
          </a:ln>
        </p:spPr>
        <p:txBody>
          <a:bodyPr wrap="square" lIns="73152" tIns="45720" rIns="73152" bIns="45720" rtlCol="0" anchor="t">
            <a:normAutofit/>
          </a:bodyPr>
          <a:lstStyle/>
          <a:p>
            <a:pPr marL="0" indent="0" algn="ctr">
              <a:spcBef>
                <a:spcPts val="0"/>
              </a:spcBef>
              <a:spcAft>
                <a:spcPts val="800"/>
              </a:spcAft>
              <a:buNone/>
            </a:pPr>
            <a:r>
              <a:rPr lang="en-GB" sz="1700" b="1" dirty="0">
                <a:solidFill>
                  <a:srgbClr val="5B2C91"/>
                </a:solidFill>
                <a:latin typeface="Arial"/>
                <a:cs typeface="Arial"/>
              </a:rPr>
              <a:t>Does it fit the task?</a:t>
            </a:r>
          </a:p>
          <a:p>
            <a:pPr marL="0" indent="0" algn="ctr">
              <a:spcBef>
                <a:spcPts val="0"/>
              </a:spcBef>
              <a:spcAft>
                <a:spcPts val="0"/>
              </a:spcAft>
              <a:buNone/>
            </a:pPr>
            <a:r>
              <a:rPr lang="en-GB" sz="1550" dirty="0">
                <a:solidFill>
                  <a:srgbClr val="1A1A1A"/>
                </a:solidFill>
                <a:latin typeface="Arial"/>
                <a:cs typeface="Arial"/>
              </a:rPr>
              <a:t>Its degree of automation, scale or scalability, and coupling should match the operation’s volume–variety position.</a:t>
            </a:r>
          </a:p>
        </p:txBody>
      </p:sp>
      <p:sp>
        <p:nvSpPr>
          <p:cNvPr id="8" name="Box 8"/>
          <p:cNvSpPr/>
          <p:nvPr/>
        </p:nvSpPr>
        <p:spPr>
          <a:xfrm>
            <a:off x="4261104" y="1280160"/>
            <a:ext cx="3657600" cy="3291840"/>
          </a:xfrm>
          <a:prstGeom prst="roundRect">
            <a:avLst>
              <a:gd name="adj" fmla="val 6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9" name="Box 9"/>
          <p:cNvSpPr/>
          <p:nvPr/>
        </p:nvSpPr>
        <p:spPr>
          <a:xfrm>
            <a:off x="5769864" y="1463040"/>
            <a:ext cx="640080" cy="64008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2200" b="1" dirty="0">
                <a:solidFill>
                  <a:srgbClr val="FFFFFF"/>
                </a:solidFill>
                <a:latin typeface="Arial"/>
                <a:cs typeface="Arial"/>
              </a:rPr>
              <a:t>2</a:t>
            </a:r>
          </a:p>
        </p:txBody>
      </p:sp>
      <p:sp>
        <p:nvSpPr>
          <p:cNvPr id="10" name="Box 10"/>
          <p:cNvSpPr/>
          <p:nvPr/>
        </p:nvSpPr>
        <p:spPr>
          <a:xfrm>
            <a:off x="4443984" y="2240280"/>
            <a:ext cx="3291840" cy="2240280"/>
          </a:xfrm>
          <a:prstGeom prst="rect">
            <a:avLst/>
          </a:prstGeom>
          <a:noFill/>
          <a:ln>
            <a:noFill/>
          </a:ln>
        </p:spPr>
        <p:txBody>
          <a:bodyPr wrap="square" lIns="73152" tIns="45720" rIns="73152" bIns="45720" rtlCol="0" anchor="t">
            <a:normAutofit/>
          </a:bodyPr>
          <a:lstStyle/>
          <a:p>
            <a:pPr marL="0" indent="0" algn="ctr">
              <a:spcBef>
                <a:spcPts val="0"/>
              </a:spcBef>
              <a:spcAft>
                <a:spcPts val="800"/>
              </a:spcAft>
              <a:buNone/>
            </a:pPr>
            <a:r>
              <a:rPr lang="en-GB" sz="1700" b="1" dirty="0">
                <a:solidFill>
                  <a:srgbClr val="5B2C91"/>
                </a:solidFill>
                <a:latin typeface="Arial"/>
                <a:cs typeface="Arial"/>
              </a:rPr>
              <a:t>Does it improve performance?</a:t>
            </a:r>
          </a:p>
          <a:p>
            <a:pPr marL="0" indent="0" algn="ctr">
              <a:spcBef>
                <a:spcPts val="0"/>
              </a:spcBef>
              <a:spcAft>
                <a:spcPts val="0"/>
              </a:spcAft>
              <a:buNone/>
            </a:pPr>
            <a:r>
              <a:rPr lang="en-GB" sz="1550" dirty="0">
                <a:solidFill>
                  <a:srgbClr val="1A1A1A"/>
                </a:solidFill>
                <a:latin typeface="Arial"/>
                <a:cs typeface="Arial"/>
              </a:rPr>
              <a:t>Assess its effect on quality, speed, dependability, flexibility and cost: the objectives that matter to customers.</a:t>
            </a:r>
          </a:p>
        </p:txBody>
      </p:sp>
      <p:sp>
        <p:nvSpPr>
          <p:cNvPr id="11" name="Box 11"/>
          <p:cNvSpPr/>
          <p:nvPr/>
        </p:nvSpPr>
        <p:spPr>
          <a:xfrm>
            <a:off x="8065008" y="1280160"/>
            <a:ext cx="3657600" cy="3291840"/>
          </a:xfrm>
          <a:prstGeom prst="roundRect">
            <a:avLst>
              <a:gd name="adj" fmla="val 6000"/>
            </a:avLst>
          </a:prstGeom>
          <a:solidFill>
            <a:srgbClr val="F6F1FB"/>
          </a:solidFill>
          <a:ln w="12700">
            <a:solidFill>
              <a:srgbClr val="C9B8E0"/>
            </a:solidFill>
          </a:ln>
        </p:spPr>
        <p:txBody>
          <a:bodyPr wrap="square" lIns="73152" tIns="45720" rIns="73152" bIns="45720" rtlCol="0" anchor="t">
            <a:normAutofit/>
          </a:bodyPr>
          <a:lstStyle/>
          <a:p>
            <a:endParaRPr lang="en-GB" sz="1000"/>
          </a:p>
        </p:txBody>
      </p:sp>
      <p:sp>
        <p:nvSpPr>
          <p:cNvPr id="12" name="Box 12"/>
          <p:cNvSpPr/>
          <p:nvPr/>
        </p:nvSpPr>
        <p:spPr>
          <a:xfrm>
            <a:off x="9573768" y="1463040"/>
            <a:ext cx="640080" cy="64008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2200" b="1" dirty="0">
                <a:solidFill>
                  <a:srgbClr val="FFFFFF"/>
                </a:solidFill>
                <a:latin typeface="Arial"/>
                <a:cs typeface="Arial"/>
              </a:rPr>
              <a:t>3</a:t>
            </a:r>
          </a:p>
        </p:txBody>
      </p:sp>
      <p:sp>
        <p:nvSpPr>
          <p:cNvPr id="13" name="Box 13"/>
          <p:cNvSpPr/>
          <p:nvPr/>
        </p:nvSpPr>
        <p:spPr>
          <a:xfrm>
            <a:off x="8247888" y="2240280"/>
            <a:ext cx="3291840" cy="2240280"/>
          </a:xfrm>
          <a:prstGeom prst="rect">
            <a:avLst/>
          </a:prstGeom>
          <a:noFill/>
          <a:ln>
            <a:noFill/>
          </a:ln>
        </p:spPr>
        <p:txBody>
          <a:bodyPr wrap="square" lIns="73152" tIns="45720" rIns="73152" bIns="45720" rtlCol="0" anchor="t">
            <a:normAutofit/>
          </a:bodyPr>
          <a:lstStyle/>
          <a:p>
            <a:pPr marL="0" indent="0" algn="ctr">
              <a:spcBef>
                <a:spcPts val="0"/>
              </a:spcBef>
              <a:spcAft>
                <a:spcPts val="800"/>
              </a:spcAft>
              <a:buNone/>
            </a:pPr>
            <a:r>
              <a:rPr lang="en-GB" sz="1700" b="1" dirty="0">
                <a:solidFill>
                  <a:srgbClr val="5B2C91"/>
                </a:solidFill>
                <a:latin typeface="Arial"/>
                <a:cs typeface="Arial"/>
              </a:rPr>
              <a:t>Is the financial return acceptable?</a:t>
            </a:r>
          </a:p>
          <a:p>
            <a:pPr marL="0" indent="0" algn="ctr">
              <a:spcBef>
                <a:spcPts val="0"/>
              </a:spcBef>
              <a:spcAft>
                <a:spcPts val="0"/>
              </a:spcAft>
              <a:buNone/>
            </a:pPr>
            <a:r>
              <a:rPr lang="en-GB" sz="1550" dirty="0">
                <a:solidFill>
                  <a:srgbClr val="1A1A1A"/>
                </a:solidFill>
                <a:latin typeface="Arial"/>
                <a:cs typeface="Arial"/>
              </a:rPr>
              <a:t>Costs come up front; benefits arrive over years. Use the time value of money: net present value (NPV).</a:t>
            </a:r>
          </a:p>
        </p:txBody>
      </p:sp>
      <p:sp>
        <p:nvSpPr>
          <p:cNvPr id="14" name="Box 14"/>
          <p:cNvSpPr/>
          <p:nvPr/>
        </p:nvSpPr>
        <p:spPr>
          <a:xfrm>
            <a:off x="822960" y="4892040"/>
            <a:ext cx="10543032" cy="868680"/>
          </a:xfrm>
          <a:prstGeom prst="roundRect">
            <a:avLst>
              <a:gd name="adj" fmla="val 12000"/>
            </a:avLst>
          </a:prstGeom>
          <a:solidFill>
            <a:srgbClr val="EBE1F5"/>
          </a:solidFill>
          <a:ln w="15875">
            <a:solidFill>
              <a:srgbClr val="5B2C91"/>
            </a:solidFill>
          </a:ln>
        </p:spPr>
        <p:txBody>
          <a:bodyPr wrap="square" lIns="182880" tIns="54864" rIns="182880" bIns="54864" rtlCol="0" anchor="ctr">
            <a:normAutofit/>
          </a:bodyPr>
          <a:lstStyle/>
          <a:p>
            <a:pPr marL="0" indent="0" algn="ctr">
              <a:spcBef>
                <a:spcPts val="0"/>
              </a:spcBef>
              <a:spcAft>
                <a:spcPts val="0"/>
              </a:spcAft>
              <a:buNone/>
            </a:pPr>
            <a:r>
              <a:rPr lang="en-GB" sz="1600" b="1" i="1" dirty="0">
                <a:solidFill>
                  <a:srgbClr val="5B2C91"/>
                </a:solidFill>
                <a:latin typeface="Arial"/>
                <a:cs typeface="Arial"/>
              </a:rPr>
              <a:t>Operations principle: process technologies can be evaluated in terms of their fit with process tasks, their effect on performance and their financial impact</a:t>
            </a:r>
          </a:p>
        </p:txBody>
      </p:sp>
      <p:sp>
        <p:nvSpPr>
          <p:cNvPr id="15" name="Source 15"/>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pp. 237–242</a:t>
            </a:r>
          </a:p>
        </p:txBody>
      </p:sp>
      <p:sp>
        <p:nvSpPr>
          <p:cNvPr id="16" name="Page 16"/>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55</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TachometerAlt" descr="TachometerAlt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AI and Agentic AI</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Exploit · Subordinate</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AI recognises patterns, predicts or generates content. Agentic AI plans and executes a sequence of actions towards a delegated goal.</a:t>
            </a:r>
          </a:p>
        </p:txBody>
      </p:sp>
      <p:pic>
        <p:nvPicPr>
          <p:cNvPr id="7" name="Picture GIF_AI" descr="A camera and AI system flag a defective part on a production line"/>
          <p:cNvPicPr>
            <a:picLocks noChangeAspect="1"/>
          </p:cNvPicPr>
          <p:nvPr/>
        </p:nvPicPr>
        <p:blipFill>
          <a:blip r:embed="rId3"/>
          <a:stretch>
            <a:fillRect/>
          </a:stretch>
        </p:blipFill>
        <p:spPr>
          <a:xfrm>
            <a:off x="457200" y="1508760"/>
            <a:ext cx="3429000" cy="2286000"/>
          </a:xfrm>
          <a:prstGeom prst="rect">
            <a:avLst/>
          </a:prstGeom>
        </p:spPr>
      </p:pic>
      <p:sp>
        <p:nvSpPr>
          <p:cNvPr id="9" name="Box 9"/>
          <p:cNvSpPr/>
          <p:nvPr/>
        </p:nvSpPr>
        <p:spPr>
          <a:xfrm>
            <a:off x="457200" y="3337560"/>
            <a:ext cx="3429000" cy="457200"/>
          </a:xfrm>
          <a:prstGeom prst="rect">
            <a:avLst/>
          </a:prstGeom>
          <a:solidFill>
            <a:srgbClr val="5B2C91"/>
          </a:solidFill>
          <a:ln>
            <a:noFill/>
          </a:ln>
        </p:spPr>
        <p:txBody>
          <a:bodyPr wrap="square" lIns="91440" tIns="18288" rIns="73152" bIns="18288" rtlCol="0" anchor="ctr">
            <a:normAutofit/>
          </a:bodyPr>
          <a:lstStyle/>
          <a:p>
            <a:pPr marL="0" indent="0" algn="l">
              <a:spcBef>
                <a:spcPts val="0"/>
              </a:spcBef>
              <a:spcAft>
                <a:spcPts val="0"/>
              </a:spcAft>
              <a:buNone/>
            </a:pPr>
            <a:r>
              <a:rPr lang="en-GB" sz="1000" b="1" dirty="0">
                <a:solidFill>
                  <a:srgbClr val="FFFFFF"/>
                </a:solidFill>
                <a:latin typeface="Arial"/>
                <a:cs typeface="Arial"/>
              </a:rPr>
              <a:t>AI: a camera flags potentially defective parts for review</a:t>
            </a:r>
          </a:p>
        </p:txBody>
      </p:sp>
      <p:pic>
        <p:nvPicPr>
          <p:cNvPr id="10" name="Picture GIF_AGENT" descr="A planner reviews an AI agent’s revised supply plan"/>
          <p:cNvPicPr>
            <a:picLocks noChangeAspect="1"/>
          </p:cNvPicPr>
          <p:nvPr/>
        </p:nvPicPr>
        <p:blipFill>
          <a:blip r:embed="rId4"/>
          <a:stretch>
            <a:fillRect/>
          </a:stretch>
        </p:blipFill>
        <p:spPr>
          <a:xfrm>
            <a:off x="457200" y="3867912"/>
            <a:ext cx="3429000" cy="2286000"/>
          </a:xfrm>
          <a:prstGeom prst="rect">
            <a:avLst/>
          </a:prstGeom>
        </p:spPr>
      </p:pic>
      <p:sp>
        <p:nvSpPr>
          <p:cNvPr id="12" name="Box 12"/>
          <p:cNvSpPr/>
          <p:nvPr/>
        </p:nvSpPr>
        <p:spPr>
          <a:xfrm>
            <a:off x="457200" y="5696712"/>
            <a:ext cx="3429000" cy="457200"/>
          </a:xfrm>
          <a:prstGeom prst="rect">
            <a:avLst/>
          </a:prstGeom>
          <a:solidFill>
            <a:srgbClr val="5B2C91"/>
          </a:solidFill>
          <a:ln>
            <a:noFill/>
          </a:ln>
        </p:spPr>
        <p:txBody>
          <a:bodyPr wrap="square" lIns="91440" tIns="18288" rIns="73152" bIns="18288" rtlCol="0" anchor="ctr">
            <a:normAutofit/>
          </a:bodyPr>
          <a:lstStyle/>
          <a:p>
            <a:pPr marL="0" indent="0" algn="l">
              <a:spcBef>
                <a:spcPts val="0"/>
              </a:spcBef>
              <a:spcAft>
                <a:spcPts val="0"/>
              </a:spcAft>
              <a:buNone/>
            </a:pPr>
            <a:r>
              <a:rPr lang="en-GB" sz="1000" b="1" dirty="0">
                <a:solidFill>
                  <a:srgbClr val="FFFFFF"/>
                </a:solidFill>
                <a:latin typeface="Arial"/>
                <a:cs typeface="Arial"/>
              </a:rPr>
              <a:t>Agentic AI: responds to a late delivery with a revised supply plan</a:t>
            </a:r>
          </a:p>
        </p:txBody>
      </p:sp>
      <p:sp>
        <p:nvSpPr>
          <p:cNvPr id="13" name="Box 13"/>
          <p:cNvSpPr/>
          <p:nvPr/>
        </p:nvSpPr>
        <p:spPr>
          <a:xfrm>
            <a:off x="4069080" y="1508760"/>
            <a:ext cx="377647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4" name="Box 14"/>
          <p:cNvSpPr/>
          <p:nvPr/>
        </p:nvSpPr>
        <p:spPr>
          <a:xfrm>
            <a:off x="4069080" y="1783080"/>
            <a:ext cx="3776472" cy="859536"/>
          </a:xfrm>
          <a:prstGeom prst="rect">
            <a:avLst/>
          </a:prstGeom>
          <a:solidFill>
            <a:srgbClr val="F6F1FB"/>
          </a:solidFill>
          <a:ln w="12700">
            <a:solidFill>
              <a:srgbClr val="C9B8E0"/>
            </a:solidFill>
          </a:ln>
        </p:spPr>
        <p:txBody>
          <a:bodyPr wrap="square" lIns="109728" tIns="91440" rIns="109728" bIns="45720" rtlCol="0" anchor="t">
            <a:normAutofit fontScale="92500"/>
          </a:bodyPr>
          <a:lstStyle/>
          <a:p>
            <a:pPr marL="228600" indent="-228600" algn="l">
              <a:spcBef>
                <a:spcPts val="0"/>
              </a:spcBef>
              <a:spcAft>
                <a:spcPts val="200"/>
              </a:spcAft>
              <a:buClr>
                <a:srgbClr val="5B2C91"/>
              </a:buClr>
              <a:buSzPct val="100000"/>
              <a:buFont typeface="Arial"/>
              <a:buChar char="•"/>
            </a:pPr>
            <a:r>
              <a:rPr lang="en-GB" sz="1300" b="1" dirty="0">
                <a:solidFill>
                  <a:srgbClr val="1A1A1A"/>
                </a:solidFill>
                <a:latin typeface="Arial"/>
                <a:cs typeface="Arial"/>
              </a:rPr>
              <a:t>AI: </a:t>
            </a:r>
            <a:r>
              <a:rPr lang="en-GB" sz="1300" dirty="0">
                <a:solidFill>
                  <a:srgbClr val="1A1A1A"/>
                </a:solidFill>
                <a:latin typeface="Arial"/>
                <a:cs typeface="Arial"/>
              </a:rPr>
              <a:t>detects possible defects in production images</a:t>
            </a:r>
          </a:p>
          <a:p>
            <a:pPr marL="228600" indent="-228600" algn="l">
              <a:spcBef>
                <a:spcPts val="0"/>
              </a:spcBef>
              <a:spcAft>
                <a:spcPts val="0"/>
              </a:spcAft>
              <a:buClr>
                <a:srgbClr val="5B2C91"/>
              </a:buClr>
              <a:buSzPct val="100000"/>
              <a:buFont typeface="Arial"/>
              <a:buChar char="•"/>
            </a:pPr>
            <a:r>
              <a:rPr lang="en-GB" sz="1300" b="1" dirty="0">
                <a:solidFill>
                  <a:srgbClr val="1A1A1A"/>
                </a:solidFill>
                <a:latin typeface="Arial"/>
                <a:cs typeface="Arial"/>
              </a:rPr>
              <a:t>Agentic: </a:t>
            </a:r>
            <a:r>
              <a:rPr lang="en-GB" sz="1300" dirty="0">
                <a:solidFill>
                  <a:srgbClr val="1A1A1A"/>
                </a:solidFill>
                <a:latin typeface="Arial"/>
                <a:cs typeface="Arial"/>
              </a:rPr>
              <a:t>coordinates a response to a delivery disruption</a:t>
            </a:r>
          </a:p>
        </p:txBody>
      </p:sp>
      <p:sp>
        <p:nvSpPr>
          <p:cNvPr id="15" name="Box 15"/>
          <p:cNvSpPr/>
          <p:nvPr/>
        </p:nvSpPr>
        <p:spPr>
          <a:xfrm>
            <a:off x="7955280" y="1508760"/>
            <a:ext cx="377647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6" name="Box 16"/>
          <p:cNvSpPr/>
          <p:nvPr/>
        </p:nvSpPr>
        <p:spPr>
          <a:xfrm>
            <a:off x="7955280" y="1783080"/>
            <a:ext cx="3776472" cy="859536"/>
          </a:xfrm>
          <a:prstGeom prst="rect">
            <a:avLst/>
          </a:prstGeom>
          <a:solidFill>
            <a:srgbClr val="F6F1FB"/>
          </a:solidFill>
          <a:ln w="12700">
            <a:solidFill>
              <a:srgbClr val="C9B8E0"/>
            </a:solidFill>
          </a:ln>
        </p:spPr>
        <p:txBody>
          <a:bodyPr wrap="square" lIns="109728" tIns="91440" rIns="109728" bIns="45720" rtlCol="0" anchor="t">
            <a:normAutofit fontScale="92500" lnSpcReduction="10000"/>
          </a:bodyPr>
          <a:lstStyle/>
          <a:p>
            <a:pPr marL="228600" indent="-228600" algn="l">
              <a:spcBef>
                <a:spcPts val="0"/>
              </a:spcBef>
              <a:spcAft>
                <a:spcPts val="200"/>
              </a:spcAft>
              <a:buClr>
                <a:srgbClr val="5B2C91"/>
              </a:buClr>
              <a:buSzPct val="100000"/>
              <a:buFont typeface="Arial"/>
              <a:buChar char="•"/>
            </a:pPr>
            <a:r>
              <a:rPr lang="en-GB" sz="1300" b="1" dirty="0">
                <a:solidFill>
                  <a:srgbClr val="1A1A1A"/>
                </a:solidFill>
                <a:latin typeface="Arial"/>
                <a:cs typeface="Arial"/>
              </a:rPr>
              <a:t>AI: </a:t>
            </a:r>
            <a:r>
              <a:rPr lang="en-GB" sz="1300" dirty="0">
                <a:solidFill>
                  <a:srgbClr val="1A1A1A"/>
                </a:solidFill>
                <a:latin typeface="Arial"/>
                <a:cs typeface="Arial"/>
              </a:rPr>
              <a:t>a trained vision model scores images against learned patterns</a:t>
            </a:r>
          </a:p>
          <a:p>
            <a:pPr marL="228600" indent="-228600" algn="l">
              <a:spcBef>
                <a:spcPts val="0"/>
              </a:spcBef>
              <a:spcAft>
                <a:spcPts val="0"/>
              </a:spcAft>
              <a:buClr>
                <a:srgbClr val="5B2C91"/>
              </a:buClr>
              <a:buSzPct val="100000"/>
              <a:buFont typeface="Arial"/>
              <a:buChar char="•"/>
            </a:pPr>
            <a:r>
              <a:rPr lang="en-GB" sz="1300" b="1" dirty="0">
                <a:solidFill>
                  <a:srgbClr val="1A1A1A"/>
                </a:solidFill>
                <a:latin typeface="Arial"/>
                <a:cs typeface="Arial"/>
              </a:rPr>
              <a:t>Agentic: </a:t>
            </a:r>
            <a:r>
              <a:rPr lang="en-GB" sz="1300" dirty="0">
                <a:solidFill>
                  <a:srgbClr val="1A1A1A"/>
                </a:solidFill>
                <a:latin typeface="Arial"/>
                <a:cs typeface="Arial"/>
              </a:rPr>
              <a:t>reads updates, plans steps, uses tools within approval limits</a:t>
            </a:r>
          </a:p>
        </p:txBody>
      </p:sp>
      <p:sp>
        <p:nvSpPr>
          <p:cNvPr id="17" name="Box 17"/>
          <p:cNvSpPr/>
          <p:nvPr/>
        </p:nvSpPr>
        <p:spPr>
          <a:xfrm>
            <a:off x="4069080" y="2715768"/>
            <a:ext cx="377647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8" name="Box 18"/>
          <p:cNvSpPr/>
          <p:nvPr/>
        </p:nvSpPr>
        <p:spPr>
          <a:xfrm>
            <a:off x="4069080" y="2990088"/>
            <a:ext cx="377647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More consistent inspection; less review time</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Faster replanning across systems</a:t>
            </a:r>
          </a:p>
        </p:txBody>
      </p:sp>
      <p:sp>
        <p:nvSpPr>
          <p:cNvPr id="19" name="Box 19"/>
          <p:cNvSpPr/>
          <p:nvPr/>
        </p:nvSpPr>
        <p:spPr>
          <a:xfrm>
            <a:off x="7955280" y="2715768"/>
            <a:ext cx="377647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20" name="Box 20"/>
          <p:cNvSpPr/>
          <p:nvPr/>
        </p:nvSpPr>
        <p:spPr>
          <a:xfrm>
            <a:off x="7955280" y="2990088"/>
            <a:ext cx="377647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Missed defects, false alarms, model drift</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Wrong actions can spread: set access limits and escalation</a:t>
            </a:r>
          </a:p>
        </p:txBody>
      </p:sp>
      <p:graphicFrame>
        <p:nvGraphicFramePr>
          <p:cNvPr id="21" name="Table 21"/>
          <p:cNvGraphicFramePr>
            <a:graphicFrameLocks noGrp="1"/>
          </p:cNvGraphicFramePr>
          <p:nvPr/>
        </p:nvGraphicFramePr>
        <p:xfrm>
          <a:off x="4069080" y="3959352"/>
          <a:ext cx="766267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145536">
                  <a:extLst>
                    <a:ext uri="{9D8B030D-6E8A-4147-A177-3AD203B41FA5}">
                      <a16:colId xmlns:a16="http://schemas.microsoft.com/office/drawing/2014/main" val="20001"/>
                    </a:ext>
                  </a:extLst>
                </a:gridCol>
                <a:gridCol w="314553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Detect defects earlier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Defect escape rate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Faster inspection and replanning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Inspection time; time to replan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Protect promised deliveries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On-time delivery rate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Adapt to new products or suppliers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Time to switch supply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Less scrap and manual coordination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Cost per good unit / exception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2" name="Box 22"/>
          <p:cNvSpPr/>
          <p:nvPr/>
        </p:nvSpPr>
        <p:spPr>
          <a:xfrm>
            <a:off x="4069080" y="5989320"/>
            <a:ext cx="766267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more autonomy cuts delay but raises the cost of a wrong action.</a:t>
            </a:r>
          </a:p>
        </p:txBody>
      </p:sp>
      <p:sp>
        <p:nvSpPr>
          <p:cNvPr id="23" name="Source 23"/>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IBM, ‘What is artificial intelligence?’ and ‘What is agentic AI?’ (accessed 20 Oct 2026) · Illustrations: AI-generated teaching images of hypothetical scenarios</a:t>
            </a:r>
          </a:p>
        </p:txBody>
      </p:sp>
      <p:sp>
        <p:nvSpPr>
          <p:cNvPr id="24" name="Page 24"/>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48</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Brain" descr="Brain icon"/>
          <p:cNvPicPr>
            <a:picLocks noChangeAspect="1"/>
          </p:cNvPicPr>
          <p:nvPr/>
        </p:nvPicPr>
        <p:blipFill>
          <a:blip r:embed="rId5"/>
          <a:stretch>
            <a:fillRect/>
          </a:stretch>
        </p:blipFill>
        <p:spPr>
          <a:xfrm>
            <a:off x="577901" y="449885"/>
            <a:ext cx="307238" cy="30723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Blockchain Technology</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Identify · Subordinate</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A shared ledger records transactions across participants using agreed validation rules.</a:t>
            </a:r>
          </a:p>
        </p:txBody>
      </p:sp>
      <p:pic>
        <p:nvPicPr>
          <p:cNvPr id="7" name="Picture GIF_BLOCK" descr="A food batch recorded from farm to lorry to supermarket"/>
          <p:cNvPicPr>
            <a:picLocks noChangeAspect="1"/>
          </p:cNvPicPr>
          <p:nvPr/>
        </p:nvPicPr>
        <p:blipFill>
          <a:blip r:embed="rId3"/>
          <a:stretch>
            <a:fillRect/>
          </a:stretch>
        </p:blipFill>
        <p:spPr>
          <a:xfrm>
            <a:off x="457200" y="1508760"/>
            <a:ext cx="4023360" cy="2679192"/>
          </a:xfrm>
          <a:prstGeom prst="rect">
            <a:avLst/>
          </a:prstGeom>
        </p:spPr>
      </p:pic>
      <p:sp>
        <p:nvSpPr>
          <p:cNvPr id="9" name="Box 9"/>
          <p:cNvSpPr/>
          <p:nvPr/>
        </p:nvSpPr>
        <p:spPr>
          <a:xfrm>
            <a:off x="457200" y="4279392"/>
            <a:ext cx="4023360" cy="1097280"/>
          </a:xfrm>
          <a:prstGeom prst="rect">
            <a:avLst/>
          </a:prstGeom>
          <a:solidFill>
            <a:srgbClr val="F6F1FB"/>
          </a:solidFill>
          <a:ln w="12700">
            <a:solidFill>
              <a:srgbClr val="C9B8E0"/>
            </a:solidFill>
          </a:ln>
        </p:spPr>
        <p:txBody>
          <a:bodyPr wrap="square" lIns="137160" tIns="45720" rIns="109728" bIns="45720" rtlCol="0" anchor="ctr">
            <a:normAutofit/>
          </a:bodyPr>
          <a:lstStyle/>
          <a:p>
            <a:pPr marL="0" indent="0" algn="l">
              <a:spcBef>
                <a:spcPts val="0"/>
              </a:spcBef>
              <a:spcAft>
                <a:spcPts val="0"/>
              </a:spcAft>
              <a:buNone/>
            </a:pPr>
            <a:r>
              <a:rPr lang="en-GB" sz="1300" b="1" dirty="0">
                <a:solidFill>
                  <a:srgbClr val="5B2C91"/>
                </a:solidFill>
                <a:latin typeface="Arial"/>
                <a:cs typeface="Arial"/>
              </a:rPr>
              <a:t>Example: </a:t>
            </a:r>
            <a:r>
              <a:rPr lang="en-GB" sz="1300" dirty="0">
                <a:solidFill>
                  <a:srgbClr val="1A1A1A"/>
                </a:solidFill>
                <a:latin typeface="Arial"/>
                <a:cs typeface="Arial"/>
              </a:rPr>
              <a:t>partners record a food batch’s journey from farm to retailer, so an affected batch can be traced quickly.</a:t>
            </a:r>
          </a:p>
        </p:txBody>
      </p:sp>
      <p:sp>
        <p:nvSpPr>
          <p:cNvPr id="10" name="Box 10"/>
          <p:cNvSpPr/>
          <p:nvPr/>
        </p:nvSpPr>
        <p:spPr>
          <a:xfrm>
            <a:off x="457200" y="5468112"/>
            <a:ext cx="4023360" cy="868680"/>
          </a:xfrm>
          <a:prstGeom prst="roundRect">
            <a:avLst>
              <a:gd name="adj" fmla="val 12000"/>
            </a:avLst>
          </a:prstGeom>
          <a:solidFill>
            <a:srgbClr val="5B2C91"/>
          </a:solidFill>
          <a:ln>
            <a:noFill/>
          </a:ln>
        </p:spPr>
        <p:txBody>
          <a:bodyPr wrap="square" lIns="137160" tIns="45720" rIns="109728"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Ask: </a:t>
            </a:r>
            <a:r>
              <a:rPr lang="en-GB" sz="1150" dirty="0">
                <a:solidFill>
                  <a:srgbClr val="FFFFFF"/>
                </a:solidFill>
                <a:latin typeface="Arial"/>
                <a:cs typeface="Arial"/>
              </a:rPr>
              <a:t>why might a supermarket choose a shared database instead of blockchain?</a:t>
            </a:r>
          </a:p>
        </p:txBody>
      </p:sp>
      <p:sp>
        <p:nvSpPr>
          <p:cNvPr id="11" name="Box 11"/>
          <p:cNvSpPr/>
          <p:nvPr/>
        </p:nvSpPr>
        <p:spPr>
          <a:xfrm>
            <a:off x="466344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2" name="Box 12"/>
          <p:cNvSpPr/>
          <p:nvPr/>
        </p:nvSpPr>
        <p:spPr>
          <a:xfrm>
            <a:off x="466344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Shares a tamper-evident history of batch transactions</a:t>
            </a:r>
          </a:p>
        </p:txBody>
      </p:sp>
      <p:sp>
        <p:nvSpPr>
          <p:cNvPr id="13" name="Box 13"/>
          <p:cNvSpPr/>
          <p:nvPr/>
        </p:nvSpPr>
        <p:spPr>
          <a:xfrm>
            <a:off x="825246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4" name="Box 14"/>
          <p:cNvSpPr/>
          <p:nvPr/>
        </p:nvSpPr>
        <p:spPr>
          <a:xfrm>
            <a:off x="825246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Participants validate records and link them cryptographically</a:t>
            </a:r>
          </a:p>
        </p:txBody>
      </p:sp>
      <p:sp>
        <p:nvSpPr>
          <p:cNvPr id="15" name="Box 15"/>
          <p:cNvSpPr/>
          <p:nvPr/>
        </p:nvSpPr>
        <p:spPr>
          <a:xfrm>
            <a:off x="466344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6" name="Box 16"/>
          <p:cNvSpPr/>
          <p:nvPr/>
        </p:nvSpPr>
        <p:spPr>
          <a:xfrm>
            <a:off x="466344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Better traceability</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Less record reconciliation between partners</a:t>
            </a:r>
          </a:p>
        </p:txBody>
      </p:sp>
      <p:sp>
        <p:nvSpPr>
          <p:cNvPr id="17" name="Box 17"/>
          <p:cNvSpPr/>
          <p:nvPr/>
        </p:nvSpPr>
        <p:spPr>
          <a:xfrm>
            <a:off x="825246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18" name="Box 18"/>
          <p:cNvSpPr/>
          <p:nvPr/>
        </p:nvSpPr>
        <p:spPr>
          <a:xfrm>
            <a:off x="825246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False inputs remain possible</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Needs participation and governance</a:t>
            </a:r>
          </a:p>
        </p:txBody>
      </p:sp>
      <p:graphicFrame>
        <p:nvGraphicFramePr>
          <p:cNvPr id="19" name="Table 19"/>
          <p:cNvGraphicFramePr>
            <a:graphicFrameLocks noGrp="1"/>
          </p:cNvGraphicFramePr>
          <p:nvPr/>
        </p:nvGraphicFramePr>
        <p:xfrm>
          <a:off x="4663440" y="3959352"/>
          <a:ext cx="706831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848356">
                  <a:extLst>
                    <a:ext uri="{9D8B030D-6E8A-4147-A177-3AD203B41FA5}">
                      <a16:colId xmlns:a16="http://schemas.microsoft.com/office/drawing/2014/main" val="20001"/>
                    </a:ext>
                  </a:extLst>
                </a:gridCol>
                <a:gridCol w="284835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Verify provenance evidence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Records verified as accurate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Trace affected batches faster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Time to trace a batch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Maintain shared record access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Record availability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Connect new supply partners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Partner onboarding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Less reconciliation work</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Cost per reconciled transaction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0" name="Box 20"/>
          <p:cNvSpPr/>
          <p:nvPr/>
        </p:nvSpPr>
        <p:spPr>
          <a:xfrm>
            <a:off x="4663440" y="5989320"/>
            <a:ext cx="706831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shared verification can add delay and cost; a conventional shared database may be enough.</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IBM, ‘What is blockchain?’ (accessed 20 Oct 2026) · Illustrations: AI-generated teaching images of hypothetical scenarios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49</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Link" descr="Link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Digital Twin</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Identify · Repeat</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A digital representation of a physical asset or process, updated with relevant operational data.</a:t>
            </a:r>
          </a:p>
        </p:txBody>
      </p:sp>
      <p:pic>
        <p:nvPicPr>
          <p:cNvPr id="7" name="Picture GIF_TWIN" descr="An engineer compares a bottling line with its digital twin"/>
          <p:cNvPicPr>
            <a:picLocks noChangeAspect="1"/>
          </p:cNvPicPr>
          <p:nvPr/>
        </p:nvPicPr>
        <p:blipFill>
          <a:blip r:embed="rId3"/>
          <a:stretch>
            <a:fillRect/>
          </a:stretch>
        </p:blipFill>
        <p:spPr>
          <a:xfrm>
            <a:off x="457200" y="1508760"/>
            <a:ext cx="4023360" cy="2679192"/>
          </a:xfrm>
          <a:prstGeom prst="rect">
            <a:avLst/>
          </a:prstGeom>
        </p:spPr>
      </p:pic>
      <p:sp>
        <p:nvSpPr>
          <p:cNvPr id="9" name="Box 9"/>
          <p:cNvSpPr/>
          <p:nvPr/>
        </p:nvSpPr>
        <p:spPr>
          <a:xfrm>
            <a:off x="457200" y="4279392"/>
            <a:ext cx="4023360" cy="1097280"/>
          </a:xfrm>
          <a:prstGeom prst="rect">
            <a:avLst/>
          </a:prstGeom>
          <a:solidFill>
            <a:srgbClr val="F6F1FB"/>
          </a:solidFill>
          <a:ln w="12700">
            <a:solidFill>
              <a:srgbClr val="C9B8E0"/>
            </a:solidFill>
          </a:ln>
        </p:spPr>
        <p:txBody>
          <a:bodyPr wrap="square" lIns="137160" tIns="45720" rIns="109728" bIns="45720" rtlCol="0" anchor="ctr">
            <a:normAutofit/>
          </a:bodyPr>
          <a:lstStyle/>
          <a:p>
            <a:pPr marL="0" indent="0" algn="l">
              <a:spcBef>
                <a:spcPts val="0"/>
              </a:spcBef>
              <a:spcAft>
                <a:spcPts val="0"/>
              </a:spcAft>
              <a:buNone/>
            </a:pPr>
            <a:r>
              <a:rPr lang="en-GB" sz="1300" b="1" dirty="0">
                <a:solidFill>
                  <a:srgbClr val="5B2C91"/>
                </a:solidFill>
                <a:latin typeface="Arial"/>
                <a:cs typeface="Arial"/>
              </a:rPr>
              <a:t>Example: </a:t>
            </a:r>
            <a:r>
              <a:rPr lang="en-GB" sz="1300" dirty="0">
                <a:solidFill>
                  <a:srgbClr val="1A1A1A"/>
                </a:solidFill>
                <a:latin typeface="Arial"/>
                <a:cs typeface="Arial"/>
              </a:rPr>
              <a:t>test a bottling-line change in the twin before altering the physical line.</a:t>
            </a:r>
          </a:p>
        </p:txBody>
      </p:sp>
      <p:sp>
        <p:nvSpPr>
          <p:cNvPr id="10" name="Box 10"/>
          <p:cNvSpPr/>
          <p:nvPr/>
        </p:nvSpPr>
        <p:spPr>
          <a:xfrm>
            <a:off x="457200" y="5468112"/>
            <a:ext cx="4023360" cy="868680"/>
          </a:xfrm>
          <a:prstGeom prst="roundRect">
            <a:avLst>
              <a:gd name="adj" fmla="val 12000"/>
            </a:avLst>
          </a:prstGeom>
          <a:solidFill>
            <a:srgbClr val="5B2C91"/>
          </a:solidFill>
          <a:ln>
            <a:noFill/>
          </a:ln>
        </p:spPr>
        <p:txBody>
          <a:bodyPr wrap="square" lIns="137160" tIns="45720" rIns="109728"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Ask: </a:t>
            </a:r>
            <a:r>
              <a:rPr lang="en-GB" sz="1150" dirty="0">
                <a:solidFill>
                  <a:srgbClr val="FFFFFF"/>
                </a:solidFill>
                <a:latin typeface="Arial"/>
                <a:cs typeface="Arial"/>
              </a:rPr>
              <a:t>if the twin shows the bottleneck moving to capping, what would you test next?</a:t>
            </a:r>
          </a:p>
        </p:txBody>
      </p:sp>
      <p:sp>
        <p:nvSpPr>
          <p:cNvPr id="11" name="Box 11"/>
          <p:cNvSpPr/>
          <p:nvPr/>
        </p:nvSpPr>
        <p:spPr>
          <a:xfrm>
            <a:off x="466344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2" name="Box 12"/>
          <p:cNvSpPr/>
          <p:nvPr/>
        </p:nvSpPr>
        <p:spPr>
          <a:xfrm>
            <a:off x="466344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Represents the line and tests operational scenarios</a:t>
            </a:r>
          </a:p>
        </p:txBody>
      </p:sp>
      <p:sp>
        <p:nvSpPr>
          <p:cNvPr id="13" name="Box 13"/>
          <p:cNvSpPr/>
          <p:nvPr/>
        </p:nvSpPr>
        <p:spPr>
          <a:xfrm>
            <a:off x="825246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4" name="Box 14"/>
          <p:cNvSpPr/>
          <p:nvPr/>
        </p:nvSpPr>
        <p:spPr>
          <a:xfrm>
            <a:off x="825246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Sensor data updates a model that supports simulation and analysis</a:t>
            </a:r>
          </a:p>
        </p:txBody>
      </p:sp>
      <p:sp>
        <p:nvSpPr>
          <p:cNvPr id="15" name="Box 15"/>
          <p:cNvSpPr/>
          <p:nvPr/>
        </p:nvSpPr>
        <p:spPr>
          <a:xfrm>
            <a:off x="466344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6" name="Box 16"/>
          <p:cNvSpPr/>
          <p:nvPr/>
        </p:nvSpPr>
        <p:spPr>
          <a:xfrm>
            <a:off x="466344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Reveals bottlenecks</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Less disruption during changes</a:t>
            </a:r>
          </a:p>
        </p:txBody>
      </p:sp>
      <p:sp>
        <p:nvSpPr>
          <p:cNvPr id="17" name="Box 17"/>
          <p:cNvSpPr/>
          <p:nvPr/>
        </p:nvSpPr>
        <p:spPr>
          <a:xfrm>
            <a:off x="825246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18" name="Box 18"/>
          <p:cNvSpPr/>
          <p:nvPr/>
        </p:nvSpPr>
        <p:spPr>
          <a:xfrm>
            <a:off x="825246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Poor data or an inaccurate model gives misleading advice</a:t>
            </a:r>
          </a:p>
        </p:txBody>
      </p:sp>
      <p:graphicFrame>
        <p:nvGraphicFramePr>
          <p:cNvPr id="19" name="Table 19"/>
          <p:cNvGraphicFramePr>
            <a:graphicFrameLocks noGrp="1"/>
          </p:cNvGraphicFramePr>
          <p:nvPr/>
        </p:nvGraphicFramePr>
        <p:xfrm>
          <a:off x="4663440" y="3959352"/>
          <a:ext cx="706831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848356">
                  <a:extLst>
                    <a:ext uri="{9D8B030D-6E8A-4147-A177-3AD203B41FA5}">
                      <a16:colId xmlns:a16="http://schemas.microsoft.com/office/drawing/2014/main" val="20001"/>
                    </a:ext>
                  </a:extLst>
                </a:gridCol>
                <a:gridCol w="284835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Test process settings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First-pass yield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Explore bottleneck changes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Output per hour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Plan maintenance better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Unplanned downtime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Test product changeovers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Changeover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Avoid physical trials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Cost per validated change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0" name="Box 20"/>
          <p:cNvSpPr/>
          <p:nvPr/>
        </p:nvSpPr>
        <p:spPr>
          <a:xfrm>
            <a:off x="4663440" y="5989320"/>
            <a:ext cx="706831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more model detail and frequent updates add cost. Validate predictions against the real process.</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IBM, ‘What is a digital twin?’ (accessed 20 Oct 2026) · Illustrations: AI-generated teaching images of hypothetical scenarios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51</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lone" descr="Clone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Big Data Analytics</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Identify · Subordinate</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Methods and platforms that analyse large, fast-moving or varied datasets to find useful patterns.</a:t>
            </a:r>
          </a:p>
        </p:txBody>
      </p:sp>
      <p:pic>
        <p:nvPicPr>
          <p:cNvPr id="7" name="Picture GIF_BIG" descr="An analyst combines store, transport, warehouse and factory data"/>
          <p:cNvPicPr>
            <a:picLocks noChangeAspect="1"/>
          </p:cNvPicPr>
          <p:nvPr/>
        </p:nvPicPr>
        <p:blipFill>
          <a:blip r:embed="rId3"/>
          <a:stretch>
            <a:fillRect/>
          </a:stretch>
        </p:blipFill>
        <p:spPr>
          <a:xfrm>
            <a:off x="457200" y="1508760"/>
            <a:ext cx="4023360" cy="2679192"/>
          </a:xfrm>
          <a:prstGeom prst="rect">
            <a:avLst/>
          </a:prstGeom>
        </p:spPr>
      </p:pic>
      <p:sp>
        <p:nvSpPr>
          <p:cNvPr id="9" name="Box 9"/>
          <p:cNvSpPr/>
          <p:nvPr/>
        </p:nvSpPr>
        <p:spPr>
          <a:xfrm>
            <a:off x="457200" y="4279392"/>
            <a:ext cx="4023360" cy="1097280"/>
          </a:xfrm>
          <a:prstGeom prst="rect">
            <a:avLst/>
          </a:prstGeom>
          <a:solidFill>
            <a:srgbClr val="F6F1FB"/>
          </a:solidFill>
          <a:ln w="12700">
            <a:solidFill>
              <a:srgbClr val="C9B8E0"/>
            </a:solidFill>
          </a:ln>
        </p:spPr>
        <p:txBody>
          <a:bodyPr wrap="square" lIns="137160" tIns="45720" rIns="109728" bIns="45720" rtlCol="0" anchor="ctr">
            <a:normAutofit/>
          </a:bodyPr>
          <a:lstStyle/>
          <a:p>
            <a:pPr marL="0" indent="0" algn="l">
              <a:spcBef>
                <a:spcPts val="0"/>
              </a:spcBef>
              <a:spcAft>
                <a:spcPts val="0"/>
              </a:spcAft>
              <a:buNone/>
            </a:pPr>
            <a:r>
              <a:rPr lang="en-GB" sz="1300" b="1" dirty="0">
                <a:solidFill>
                  <a:srgbClr val="5B2C91"/>
                </a:solidFill>
                <a:latin typeface="Arial"/>
                <a:cs typeface="Arial"/>
              </a:rPr>
              <a:t>Example: </a:t>
            </a:r>
            <a:r>
              <a:rPr lang="en-GB" sz="1300" dirty="0">
                <a:solidFill>
                  <a:srgbClr val="1A1A1A"/>
                </a:solidFill>
                <a:latin typeface="Arial"/>
                <a:cs typeface="Arial"/>
              </a:rPr>
              <a:t>a retailer combines sales, inventory and delivery data to plan replenishment.</a:t>
            </a:r>
          </a:p>
        </p:txBody>
      </p:sp>
      <p:sp>
        <p:nvSpPr>
          <p:cNvPr id="10" name="Box 10"/>
          <p:cNvSpPr/>
          <p:nvPr/>
        </p:nvSpPr>
        <p:spPr>
          <a:xfrm>
            <a:off x="457200" y="5468112"/>
            <a:ext cx="4023360" cy="868680"/>
          </a:xfrm>
          <a:prstGeom prst="roundRect">
            <a:avLst>
              <a:gd name="adj" fmla="val 12000"/>
            </a:avLst>
          </a:prstGeom>
          <a:solidFill>
            <a:srgbClr val="5B2C91"/>
          </a:solidFill>
          <a:ln>
            <a:noFill/>
          </a:ln>
        </p:spPr>
        <p:txBody>
          <a:bodyPr wrap="square" lIns="137160" tIns="45720" rIns="109728"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Ask: </a:t>
            </a:r>
            <a:r>
              <a:rPr lang="en-GB" sz="1150" dirty="0">
                <a:solidFill>
                  <a:srgbClr val="FFFFFF"/>
                </a:solidFill>
                <a:latin typeface="Arial"/>
                <a:cs typeface="Arial"/>
              </a:rPr>
              <a:t>where is the bottleneck here, and which objective matters most to customers?</a:t>
            </a:r>
          </a:p>
        </p:txBody>
      </p:sp>
      <p:sp>
        <p:nvSpPr>
          <p:cNvPr id="11" name="Box 11"/>
          <p:cNvSpPr/>
          <p:nvPr/>
        </p:nvSpPr>
        <p:spPr>
          <a:xfrm>
            <a:off x="466344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2" name="Box 12"/>
          <p:cNvSpPr/>
          <p:nvPr/>
        </p:nvSpPr>
        <p:spPr>
          <a:xfrm>
            <a:off x="466344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Identifies patterns across several operational data sources, demand forecasting, </a:t>
            </a:r>
          </a:p>
        </p:txBody>
      </p:sp>
      <p:sp>
        <p:nvSpPr>
          <p:cNvPr id="13" name="Box 13"/>
          <p:cNvSpPr/>
          <p:nvPr/>
        </p:nvSpPr>
        <p:spPr>
          <a:xfrm>
            <a:off x="825246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4" name="Box 14"/>
          <p:cNvSpPr/>
          <p:nvPr/>
        </p:nvSpPr>
        <p:spPr>
          <a:xfrm>
            <a:off x="825246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Data pipelines combine records for analysis and forecasting</a:t>
            </a:r>
          </a:p>
        </p:txBody>
      </p:sp>
      <p:sp>
        <p:nvSpPr>
          <p:cNvPr id="15" name="Box 15"/>
          <p:cNvSpPr/>
          <p:nvPr/>
        </p:nvSpPr>
        <p:spPr>
          <a:xfrm>
            <a:off x="466344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6" name="Box 16"/>
          <p:cNvSpPr/>
          <p:nvPr/>
        </p:nvSpPr>
        <p:spPr>
          <a:xfrm>
            <a:off x="466344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Better planning visibility</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Better resource allocation</a:t>
            </a:r>
          </a:p>
        </p:txBody>
      </p:sp>
      <p:sp>
        <p:nvSpPr>
          <p:cNvPr id="17" name="Box 17"/>
          <p:cNvSpPr/>
          <p:nvPr/>
        </p:nvSpPr>
        <p:spPr>
          <a:xfrm>
            <a:off x="825246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18" name="Box 18"/>
          <p:cNvSpPr/>
          <p:nvPr/>
        </p:nvSpPr>
        <p:spPr>
          <a:xfrm>
            <a:off x="825246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Inconsistent data, privacy issues and poor interpretation</a:t>
            </a:r>
          </a:p>
        </p:txBody>
      </p:sp>
      <p:graphicFrame>
        <p:nvGraphicFramePr>
          <p:cNvPr id="19" name="Table 19"/>
          <p:cNvGraphicFramePr>
            <a:graphicFrameLocks noGrp="1"/>
          </p:cNvGraphicFramePr>
          <p:nvPr/>
        </p:nvGraphicFramePr>
        <p:xfrm>
          <a:off x="4663440" y="3959352"/>
          <a:ext cx="706831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848356">
                  <a:extLst>
                    <a:ext uri="{9D8B030D-6E8A-4147-A177-3AD203B41FA5}">
                      <a16:colId xmlns:a16="http://schemas.microsoft.com/office/drawing/2014/main" val="20001"/>
                    </a:ext>
                  </a:extLst>
                </a:gridCol>
                <a:gridCol w="284835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Improve planning inputs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Forecast error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Refresh decisions sooner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Data-to-decision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Anticipate availability problems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Order fill rate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Detect demand shifts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Time to revise the plan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Reduce avoidable inventory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Holding + stockout 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0" name="Box 20"/>
          <p:cNvSpPr/>
          <p:nvPr/>
        </p:nvSpPr>
        <p:spPr>
          <a:xfrm>
            <a:off x="4663440" y="5989320"/>
            <a:ext cx="706831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more data does not guarantee better decisions. Check data quality and operational outcomes.</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IBM, ‘What is big data analytics?’ (accessed 20 Oct 2026) · Illustrations: AI-generated teaching images of hypothetical scenarios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52</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Database" descr="Database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Quantum Computing</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Exploit · Subordinate</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Quantum computers use qubits and quantum operations for specialised computations.</a:t>
            </a:r>
          </a:p>
        </p:txBody>
      </p:sp>
      <p:pic>
        <p:nvPicPr>
          <p:cNvPr id="7" name="Picture GIF_QUANT" descr="A researcher working on a quantum computer"/>
          <p:cNvPicPr>
            <a:picLocks noChangeAspect="1"/>
          </p:cNvPicPr>
          <p:nvPr/>
        </p:nvPicPr>
        <p:blipFill>
          <a:blip r:embed="rId3"/>
          <a:stretch>
            <a:fillRect/>
          </a:stretch>
        </p:blipFill>
        <p:spPr>
          <a:xfrm>
            <a:off x="457200" y="1508760"/>
            <a:ext cx="4023360" cy="2679192"/>
          </a:xfrm>
          <a:prstGeom prst="rect">
            <a:avLst/>
          </a:prstGeom>
        </p:spPr>
      </p:pic>
      <p:sp>
        <p:nvSpPr>
          <p:cNvPr id="9" name="Box 9"/>
          <p:cNvSpPr/>
          <p:nvPr/>
        </p:nvSpPr>
        <p:spPr>
          <a:xfrm>
            <a:off x="457200" y="4279392"/>
            <a:ext cx="4023360" cy="1097280"/>
          </a:xfrm>
          <a:prstGeom prst="rect">
            <a:avLst/>
          </a:prstGeom>
          <a:solidFill>
            <a:srgbClr val="F6F1FB"/>
          </a:solidFill>
          <a:ln w="12700">
            <a:solidFill>
              <a:srgbClr val="C9B8E0"/>
            </a:solidFill>
          </a:ln>
        </p:spPr>
        <p:txBody>
          <a:bodyPr wrap="square" lIns="137160" tIns="45720" rIns="109728" bIns="45720" rtlCol="0" anchor="ctr">
            <a:normAutofit/>
          </a:bodyPr>
          <a:lstStyle/>
          <a:p>
            <a:pPr marL="0" indent="0" algn="l">
              <a:spcBef>
                <a:spcPts val="0"/>
              </a:spcBef>
              <a:spcAft>
                <a:spcPts val="0"/>
              </a:spcAft>
              <a:buNone/>
            </a:pPr>
            <a:r>
              <a:rPr lang="en-GB" sz="1300" b="1" dirty="0">
                <a:solidFill>
                  <a:srgbClr val="5B2C91"/>
                </a:solidFill>
                <a:latin typeface="Arial"/>
                <a:cs typeface="Arial"/>
              </a:rPr>
              <a:t>Example: </a:t>
            </a:r>
            <a:r>
              <a:rPr lang="en-GB" sz="1300" dirty="0">
                <a:solidFill>
                  <a:srgbClr val="1A1A1A"/>
                </a:solidFill>
                <a:latin typeface="Arial"/>
                <a:cs typeface="Arial"/>
              </a:rPr>
              <a:t>a research team benchmarks a hybrid quantum approach to delivery routing against a strong classical method.</a:t>
            </a:r>
          </a:p>
        </p:txBody>
      </p:sp>
      <p:sp>
        <p:nvSpPr>
          <p:cNvPr id="10" name="Box 10"/>
          <p:cNvSpPr/>
          <p:nvPr/>
        </p:nvSpPr>
        <p:spPr>
          <a:xfrm>
            <a:off x="457200" y="5468112"/>
            <a:ext cx="4023360" cy="868680"/>
          </a:xfrm>
          <a:prstGeom prst="roundRect">
            <a:avLst>
              <a:gd name="adj" fmla="val 12000"/>
            </a:avLst>
          </a:prstGeom>
          <a:solidFill>
            <a:srgbClr val="5B2C91"/>
          </a:solidFill>
          <a:ln>
            <a:noFill/>
          </a:ln>
        </p:spPr>
        <p:txBody>
          <a:bodyPr wrap="square" lIns="137160" tIns="45720" rIns="109728"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Ask: </a:t>
            </a:r>
            <a:r>
              <a:rPr lang="en-GB" sz="1150" dirty="0">
                <a:solidFill>
                  <a:srgbClr val="FFFFFF"/>
                </a:solidFill>
                <a:latin typeface="Arial"/>
                <a:cs typeface="Arial"/>
              </a:rPr>
              <a:t>what evidence would you need before investing in quantum routing?</a:t>
            </a:r>
          </a:p>
        </p:txBody>
      </p:sp>
      <p:sp>
        <p:nvSpPr>
          <p:cNvPr id="11" name="Box 11"/>
          <p:cNvSpPr/>
          <p:nvPr/>
        </p:nvSpPr>
        <p:spPr>
          <a:xfrm>
            <a:off x="466344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2" name="Box 12"/>
          <p:cNvSpPr/>
          <p:nvPr/>
        </p:nvSpPr>
        <p:spPr>
          <a:xfrm>
            <a:off x="466344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Investigates selected, very difficult computation problems</a:t>
            </a:r>
          </a:p>
        </p:txBody>
      </p:sp>
      <p:sp>
        <p:nvSpPr>
          <p:cNvPr id="13" name="Box 13"/>
          <p:cNvSpPr/>
          <p:nvPr/>
        </p:nvSpPr>
        <p:spPr>
          <a:xfrm>
            <a:off x="825246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4" name="Box 14"/>
          <p:cNvSpPr/>
          <p:nvPr/>
        </p:nvSpPr>
        <p:spPr>
          <a:xfrm>
            <a:off x="825246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A hybrid workflow combines classical processing with quantum circuits</a:t>
            </a:r>
          </a:p>
        </p:txBody>
      </p:sp>
      <p:sp>
        <p:nvSpPr>
          <p:cNvPr id="15" name="Box 15"/>
          <p:cNvSpPr/>
          <p:nvPr/>
        </p:nvSpPr>
        <p:spPr>
          <a:xfrm>
            <a:off x="466344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6" name="Box 16"/>
          <p:cNvSpPr/>
          <p:nvPr/>
        </p:nvSpPr>
        <p:spPr>
          <a:xfrm>
            <a:off x="466344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Potential optimisation benefits, which need application-specific evidence</a:t>
            </a:r>
          </a:p>
        </p:txBody>
      </p:sp>
      <p:sp>
        <p:nvSpPr>
          <p:cNvPr id="17" name="Box 17"/>
          <p:cNvSpPr/>
          <p:nvPr/>
        </p:nvSpPr>
        <p:spPr>
          <a:xfrm>
            <a:off x="825246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18" name="Box 18"/>
          <p:cNvSpPr/>
          <p:nvPr/>
        </p:nvSpPr>
        <p:spPr>
          <a:xfrm>
            <a:off x="825246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Noise, scale and total computing cost limit practical value</a:t>
            </a:r>
          </a:p>
        </p:txBody>
      </p:sp>
      <p:graphicFrame>
        <p:nvGraphicFramePr>
          <p:cNvPr id="19" name="Table 19"/>
          <p:cNvGraphicFramePr>
            <a:graphicFrameLocks noGrp="1"/>
          </p:cNvGraphicFramePr>
          <p:nvPr/>
        </p:nvGraphicFramePr>
        <p:xfrm>
          <a:off x="4663440" y="3959352"/>
          <a:ext cx="706831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848356">
                  <a:extLst>
                    <a:ext uri="{9D8B030D-6E8A-4147-A177-3AD203B41FA5}">
                      <a16:colId xmlns:a16="http://schemas.microsoft.com/office/drawing/2014/main" val="20001"/>
                    </a:ext>
                  </a:extLst>
                </a:gridCol>
                <a:gridCol w="284835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Potentially better feasible plans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Constraint violations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Potentially faster useful solution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End-to-end solve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Repeatable plan 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Runs meeting service targets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Test replanning scenarios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Replanning time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Test net economic value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Total compute + operating 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0" name="Box 20"/>
          <p:cNvSpPr/>
          <p:nvPr/>
        </p:nvSpPr>
        <p:spPr>
          <a:xfrm>
            <a:off x="4663440" y="5989320"/>
            <a:ext cx="706831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these are evaluation targets, not promised gains. Always compare with a strong classical baseline.</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IBM, ‘What is quantum computing?’ (accessed 20 Oct 2026); arXiv:2305.07323 · Illustrations: AI-generated teaching images of hypothetical scenarios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50</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Atom" descr="Atom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8778240"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400" dirty="0">
                <a:solidFill>
                  <a:srgbClr val="5B2C91"/>
                </a:solidFill>
                <a:latin typeface="Arial"/>
                <a:cs typeface="Arial"/>
              </a:rPr>
              <a:t>The Metaverse</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9372600" y="393192"/>
            <a:ext cx="2359152" cy="384048"/>
          </a:xfrm>
          <a:prstGeom prst="roundRect">
            <a:avLst>
              <a:gd name="adj" fmla="val 40000"/>
            </a:avLst>
          </a:prstGeom>
          <a:solidFill>
            <a:srgbClr val="EBE1F5"/>
          </a:solidFill>
          <a:ln w="9525">
            <a:solidFill>
              <a:srgbClr val="5B2C91"/>
            </a:solidFill>
          </a:ln>
        </p:spPr>
        <p:txBody>
          <a:bodyPr wrap="square" lIns="45720" tIns="0" rIns="45720" bIns="0" rtlCol="0" anchor="ctr">
            <a:normAutofit/>
          </a:bodyPr>
          <a:lstStyle/>
          <a:p>
            <a:pPr marL="0" indent="0" algn="ctr">
              <a:spcBef>
                <a:spcPts val="0"/>
              </a:spcBef>
              <a:spcAft>
                <a:spcPts val="0"/>
              </a:spcAft>
              <a:buNone/>
            </a:pPr>
            <a:r>
              <a:rPr lang="en-GB" sz="1150" b="1" dirty="0">
                <a:solidFill>
                  <a:srgbClr val="5B2C91"/>
                </a:solidFill>
                <a:latin typeface="Arial"/>
                <a:cs typeface="Arial"/>
              </a:rPr>
              <a:t>TOC: Exploit · Elevate</a:t>
            </a:r>
          </a:p>
        </p:txBody>
      </p:sp>
      <p:sp>
        <p:nvSpPr>
          <p:cNvPr id="6" name="Box 6"/>
          <p:cNvSpPr/>
          <p:nvPr/>
        </p:nvSpPr>
        <p:spPr>
          <a:xfrm>
            <a:off x="457200" y="1024128"/>
            <a:ext cx="11274552" cy="41148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450" i="1" dirty="0">
                <a:solidFill>
                  <a:srgbClr val="5B2C91"/>
                </a:solidFill>
                <a:latin typeface="Arial"/>
                <a:cs typeface="Arial"/>
              </a:rPr>
              <a:t>Connected, shared virtual environments let people interact, practise or collaborate in 3D.</a:t>
            </a:r>
          </a:p>
        </p:txBody>
      </p:sp>
      <p:pic>
        <p:nvPicPr>
          <p:cNvPr id="7" name="Picture GIF_META" descr="Warehouse staff in VR headsets practising in a virtual warehouse"/>
          <p:cNvPicPr>
            <a:picLocks noChangeAspect="1"/>
          </p:cNvPicPr>
          <p:nvPr/>
        </p:nvPicPr>
        <p:blipFill>
          <a:blip r:embed="rId3"/>
          <a:stretch>
            <a:fillRect/>
          </a:stretch>
        </p:blipFill>
        <p:spPr>
          <a:xfrm>
            <a:off x="457200" y="1508760"/>
            <a:ext cx="4023360" cy="2679192"/>
          </a:xfrm>
          <a:prstGeom prst="rect">
            <a:avLst/>
          </a:prstGeom>
        </p:spPr>
      </p:pic>
      <p:sp>
        <p:nvSpPr>
          <p:cNvPr id="9" name="Box 9"/>
          <p:cNvSpPr/>
          <p:nvPr/>
        </p:nvSpPr>
        <p:spPr>
          <a:xfrm>
            <a:off x="457200" y="4279392"/>
            <a:ext cx="4023360" cy="1097280"/>
          </a:xfrm>
          <a:prstGeom prst="rect">
            <a:avLst/>
          </a:prstGeom>
          <a:solidFill>
            <a:srgbClr val="F6F1FB"/>
          </a:solidFill>
          <a:ln w="12700">
            <a:solidFill>
              <a:srgbClr val="C9B8E0"/>
            </a:solidFill>
          </a:ln>
        </p:spPr>
        <p:txBody>
          <a:bodyPr wrap="square" lIns="137160" tIns="45720" rIns="109728" bIns="45720" rtlCol="0" anchor="ctr">
            <a:normAutofit/>
          </a:bodyPr>
          <a:lstStyle/>
          <a:p>
            <a:pPr marL="0" indent="0" algn="l">
              <a:spcBef>
                <a:spcPts val="0"/>
              </a:spcBef>
              <a:spcAft>
                <a:spcPts val="0"/>
              </a:spcAft>
              <a:buNone/>
            </a:pPr>
            <a:r>
              <a:rPr lang="en-GB" sz="1300" b="1" dirty="0">
                <a:solidFill>
                  <a:srgbClr val="5B2C91"/>
                </a:solidFill>
                <a:latin typeface="Arial"/>
                <a:cs typeface="Arial"/>
              </a:rPr>
              <a:t>Example: </a:t>
            </a:r>
            <a:r>
              <a:rPr lang="en-GB" sz="1300" dirty="0">
                <a:solidFill>
                  <a:srgbClr val="1A1A1A"/>
                </a:solidFill>
                <a:latin typeface="Arial"/>
                <a:cs typeface="Arial"/>
              </a:rPr>
              <a:t>warehouse staff practise procedures together in a virtual environment before working on the live floor.</a:t>
            </a:r>
          </a:p>
        </p:txBody>
      </p:sp>
      <p:sp>
        <p:nvSpPr>
          <p:cNvPr id="10" name="Box 10"/>
          <p:cNvSpPr/>
          <p:nvPr/>
        </p:nvSpPr>
        <p:spPr>
          <a:xfrm>
            <a:off x="457200" y="5468112"/>
            <a:ext cx="4023360" cy="868680"/>
          </a:xfrm>
          <a:prstGeom prst="roundRect">
            <a:avLst>
              <a:gd name="adj" fmla="val 12000"/>
            </a:avLst>
          </a:prstGeom>
          <a:solidFill>
            <a:srgbClr val="5B2C91"/>
          </a:solidFill>
          <a:ln>
            <a:noFill/>
          </a:ln>
        </p:spPr>
        <p:txBody>
          <a:bodyPr wrap="square" lIns="137160" tIns="45720" rIns="109728" bIns="45720" rtlCol="0" anchor="ctr">
            <a:normAutofit/>
          </a:bodyPr>
          <a:lstStyle/>
          <a:p>
            <a:pPr marL="0" indent="0" algn="l">
              <a:spcBef>
                <a:spcPts val="0"/>
              </a:spcBef>
              <a:spcAft>
                <a:spcPts val="0"/>
              </a:spcAft>
              <a:buNone/>
            </a:pPr>
            <a:r>
              <a:rPr lang="en-GB" sz="1150" b="1" dirty="0">
                <a:solidFill>
                  <a:srgbClr val="FFFFFF"/>
                </a:solidFill>
                <a:latin typeface="Arial"/>
                <a:cs typeface="Arial"/>
              </a:rPr>
              <a:t>Ask: </a:t>
            </a:r>
            <a:r>
              <a:rPr lang="en-GB" sz="1150" dirty="0">
                <a:solidFill>
                  <a:srgbClr val="FFFFFF"/>
                </a:solidFill>
                <a:latin typeface="Arial"/>
                <a:cs typeface="Arial"/>
              </a:rPr>
              <a:t>how would you prove the VR training actually reduced picking errors?</a:t>
            </a:r>
          </a:p>
        </p:txBody>
      </p:sp>
      <p:sp>
        <p:nvSpPr>
          <p:cNvPr id="11" name="Box 11"/>
          <p:cNvSpPr/>
          <p:nvPr/>
        </p:nvSpPr>
        <p:spPr>
          <a:xfrm>
            <a:off x="466344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1  What does it do?</a:t>
            </a:r>
          </a:p>
        </p:txBody>
      </p:sp>
      <p:sp>
        <p:nvSpPr>
          <p:cNvPr id="12" name="Box 12"/>
          <p:cNvSpPr/>
          <p:nvPr/>
        </p:nvSpPr>
        <p:spPr>
          <a:xfrm>
            <a:off x="466344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Shared virtual spaces for training and collaboration</a:t>
            </a:r>
          </a:p>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Design layouts, facility locations,</a:t>
            </a:r>
          </a:p>
        </p:txBody>
      </p:sp>
      <p:sp>
        <p:nvSpPr>
          <p:cNvPr id="13" name="Box 13"/>
          <p:cNvSpPr/>
          <p:nvPr/>
        </p:nvSpPr>
        <p:spPr>
          <a:xfrm>
            <a:off x="8252460" y="1508760"/>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2  How does it do it?</a:t>
            </a:r>
          </a:p>
        </p:txBody>
      </p:sp>
      <p:sp>
        <p:nvSpPr>
          <p:cNvPr id="14" name="Box 14"/>
          <p:cNvSpPr/>
          <p:nvPr/>
        </p:nvSpPr>
        <p:spPr>
          <a:xfrm>
            <a:off x="8252460" y="1783080"/>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3D environments with avatars, via screens or headsets</a:t>
            </a:r>
          </a:p>
        </p:txBody>
      </p:sp>
      <p:sp>
        <p:nvSpPr>
          <p:cNvPr id="15" name="Box 15"/>
          <p:cNvSpPr/>
          <p:nvPr/>
        </p:nvSpPr>
        <p:spPr>
          <a:xfrm>
            <a:off x="466344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3  What benefits does it give?</a:t>
            </a:r>
          </a:p>
        </p:txBody>
      </p:sp>
      <p:sp>
        <p:nvSpPr>
          <p:cNvPr id="16" name="Box 16"/>
          <p:cNvSpPr/>
          <p:nvPr/>
        </p:nvSpPr>
        <p:spPr>
          <a:xfrm>
            <a:off x="466344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Repeatable practice without interrupting live operations</a:t>
            </a:r>
          </a:p>
        </p:txBody>
      </p:sp>
      <p:sp>
        <p:nvSpPr>
          <p:cNvPr id="17" name="Box 17"/>
          <p:cNvSpPr/>
          <p:nvPr/>
        </p:nvSpPr>
        <p:spPr>
          <a:xfrm>
            <a:off x="8252460" y="2715768"/>
            <a:ext cx="3479292" cy="274320"/>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100" b="1" dirty="0">
                <a:solidFill>
                  <a:srgbClr val="FFFFFF"/>
                </a:solidFill>
                <a:latin typeface="Arial"/>
                <a:cs typeface="Arial"/>
              </a:rPr>
              <a:t>4  What constraints or risks?</a:t>
            </a:r>
          </a:p>
        </p:txBody>
      </p:sp>
      <p:sp>
        <p:nvSpPr>
          <p:cNvPr id="18" name="Box 18"/>
          <p:cNvSpPr/>
          <p:nvPr/>
        </p:nvSpPr>
        <p:spPr>
          <a:xfrm>
            <a:off x="8252460" y="2990088"/>
            <a:ext cx="3479292" cy="859536"/>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300" dirty="0">
                <a:solidFill>
                  <a:srgbClr val="1A1A1A"/>
                </a:solidFill>
                <a:latin typeface="Arial"/>
                <a:cs typeface="Arial"/>
              </a:rPr>
              <a:t>Equipment cost, accessibility, transfer to real work</a:t>
            </a:r>
          </a:p>
        </p:txBody>
      </p:sp>
      <p:graphicFrame>
        <p:nvGraphicFramePr>
          <p:cNvPr id="19" name="Table 19"/>
          <p:cNvGraphicFramePr>
            <a:graphicFrameLocks noGrp="1"/>
          </p:cNvGraphicFramePr>
          <p:nvPr/>
        </p:nvGraphicFramePr>
        <p:xfrm>
          <a:off x="4663440" y="3959352"/>
          <a:ext cx="7068312" cy="1975104"/>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848356">
                  <a:extLst>
                    <a:ext uri="{9D8B030D-6E8A-4147-A177-3AD203B41FA5}">
                      <a16:colId xmlns:a16="http://schemas.microsoft.com/office/drawing/2014/main" val="20001"/>
                    </a:ext>
                  </a:extLst>
                </a:gridCol>
                <a:gridCol w="2848356">
                  <a:extLst>
                    <a:ext uri="{9D8B030D-6E8A-4147-A177-3AD203B41FA5}">
                      <a16:colId xmlns:a16="http://schemas.microsoft.com/office/drawing/2014/main" val="20002"/>
                    </a:ext>
                  </a:extLst>
                </a:gridCol>
              </a:tblGrid>
              <a:tr h="329184">
                <a:tc>
                  <a:txBody>
                    <a:bodyPr/>
                    <a:lstStyle/>
                    <a:p>
                      <a:pPr marL="0" indent="0" algn="l">
                        <a:spcBef>
                          <a:spcPts val="0"/>
                        </a:spcBef>
                        <a:spcAft>
                          <a:spcPts val="0"/>
                        </a:spcAft>
                        <a:buNone/>
                      </a:pPr>
                      <a:r>
                        <a:rPr lang="en-GB" sz="1100" b="1" dirty="0">
                          <a:solidFill>
                            <a:srgbClr val="FFFFFF"/>
                          </a:solidFill>
                          <a:latin typeface="Arial"/>
                          <a:cs typeface="Arial"/>
                        </a:rPr>
                        <a:t>Objective</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Possible effect</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l">
                        <a:spcBef>
                          <a:spcPts val="0"/>
                        </a:spcBef>
                        <a:spcAft>
                          <a:spcPts val="0"/>
                        </a:spcAft>
                        <a:buNone/>
                      </a:pPr>
                      <a:r>
                        <a:rPr lang="en-GB" sz="1100" b="1" dirty="0">
                          <a:solidFill>
                            <a:srgbClr val="FFFFFF"/>
                          </a:solidFill>
                          <a:latin typeface="Arial"/>
                          <a:cs typeface="Arial"/>
                        </a:rPr>
                        <a:t>KPI to check</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329184">
                <a:tc>
                  <a:txBody>
                    <a:bodyPr/>
                    <a:lstStyle/>
                    <a:p>
                      <a:pPr marL="0" indent="0" algn="l">
                        <a:spcBef>
                          <a:spcPts val="0"/>
                        </a:spcBef>
                        <a:spcAft>
                          <a:spcPts val="0"/>
                        </a:spcAft>
                        <a:buNone/>
                      </a:pPr>
                      <a:r>
                        <a:rPr lang="en-GB" sz="1100" dirty="0">
                          <a:solidFill>
                            <a:srgbClr val="1A1A1A"/>
                          </a:solidFill>
                          <a:latin typeface="Arial"/>
                          <a:cs typeface="Arial"/>
                        </a:rPr>
                        <a:t>Quality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Practise correct procedures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Errors in real tasks after training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329184">
                <a:tc>
                  <a:txBody>
                    <a:bodyPr/>
                    <a:lstStyle/>
                    <a:p>
                      <a:pPr marL="0" indent="0" algn="l">
                        <a:spcBef>
                          <a:spcPts val="0"/>
                        </a:spcBef>
                        <a:spcAft>
                          <a:spcPts val="0"/>
                        </a:spcAft>
                        <a:buNone/>
                      </a:pPr>
                      <a:r>
                        <a:rPr lang="en-GB" sz="1100" dirty="0">
                          <a:solidFill>
                            <a:srgbClr val="1A1A1A"/>
                          </a:solidFill>
                          <a:latin typeface="Arial"/>
                          <a:cs typeface="Arial"/>
                        </a:rPr>
                        <a:t>Speed</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Shorten supervised learning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Time to competence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329184">
                <a:tc>
                  <a:txBody>
                    <a:bodyPr/>
                    <a:lstStyle/>
                    <a:p>
                      <a:pPr marL="0" indent="0" algn="l">
                        <a:spcBef>
                          <a:spcPts val="0"/>
                        </a:spcBef>
                        <a:spcAft>
                          <a:spcPts val="0"/>
                        </a:spcAft>
                        <a:buNone/>
                      </a:pPr>
                      <a:r>
                        <a:rPr lang="en-GB" sz="1100" dirty="0">
                          <a:solidFill>
                            <a:srgbClr val="1A1A1A"/>
                          </a:solidFill>
                          <a:latin typeface="Arial"/>
                          <a:cs typeface="Arial"/>
                        </a:rPr>
                        <a:t>Dependability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Repeat standard training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Procedure compliance</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329184">
                <a:tc>
                  <a:txBody>
                    <a:bodyPr/>
                    <a:lstStyle/>
                    <a:p>
                      <a:pPr marL="0" indent="0" algn="l">
                        <a:spcBef>
                          <a:spcPts val="0"/>
                        </a:spcBef>
                        <a:spcAft>
                          <a:spcPts val="0"/>
                        </a:spcAft>
                        <a:buNone/>
                      </a:pPr>
                      <a:r>
                        <a:rPr lang="en-GB" sz="1100" dirty="0">
                          <a:solidFill>
                            <a:srgbClr val="1A1A1A"/>
                          </a:solidFill>
                          <a:latin typeface="Arial"/>
                          <a:cs typeface="Arial"/>
                        </a:rPr>
                        <a:t>Flexibility</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Rehearse different scenarios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l">
                        <a:spcBef>
                          <a:spcPts val="0"/>
                        </a:spcBef>
                        <a:spcAft>
                          <a:spcPts val="0"/>
                        </a:spcAft>
                        <a:buNone/>
                      </a:pPr>
                      <a:r>
                        <a:rPr lang="en-GB" sz="1100" dirty="0">
                          <a:solidFill>
                            <a:srgbClr val="1A1A1A"/>
                          </a:solidFill>
                          <a:latin typeface="Arial"/>
                          <a:cs typeface="Arial"/>
                        </a:rPr>
                        <a:t>Time to train a new task</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329184">
                <a:tc>
                  <a:txBody>
                    <a:bodyPr/>
                    <a:lstStyle/>
                    <a:p>
                      <a:pPr marL="0" indent="0" algn="l">
                        <a:spcBef>
                          <a:spcPts val="0"/>
                        </a:spcBef>
                        <a:spcAft>
                          <a:spcPts val="0"/>
                        </a:spcAft>
                        <a:buNone/>
                      </a:pPr>
                      <a:r>
                        <a:rPr lang="en-GB" sz="1100" dirty="0">
                          <a:solidFill>
                            <a:srgbClr val="1A1A1A"/>
                          </a:solidFill>
                          <a:latin typeface="Arial"/>
                          <a:cs typeface="Arial"/>
                        </a:rPr>
                        <a:t>Cost</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Less travel and live disruption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l">
                        <a:spcBef>
                          <a:spcPts val="0"/>
                        </a:spcBef>
                        <a:spcAft>
                          <a:spcPts val="0"/>
                        </a:spcAft>
                        <a:buNone/>
                      </a:pPr>
                      <a:r>
                        <a:rPr lang="en-GB" sz="1100" dirty="0">
                          <a:solidFill>
                            <a:srgbClr val="1A1A1A"/>
                          </a:solidFill>
                          <a:latin typeface="Arial"/>
                          <a:cs typeface="Arial"/>
                        </a:rPr>
                        <a:t>Cost per competent worker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bl>
          </a:graphicData>
        </a:graphic>
      </p:graphicFrame>
      <p:sp>
        <p:nvSpPr>
          <p:cNvPr id="20" name="Box 20"/>
          <p:cNvSpPr/>
          <p:nvPr/>
        </p:nvSpPr>
        <p:spPr>
          <a:xfrm>
            <a:off x="4663440" y="5989320"/>
            <a:ext cx="7068312" cy="384048"/>
          </a:xfrm>
          <a:prstGeom prst="rect">
            <a:avLst/>
          </a:prstGeom>
          <a:solidFill>
            <a:srgbClr val="F8E6EE"/>
          </a:solidFill>
          <a:ln>
            <a:noFill/>
          </a:ln>
        </p:spPr>
        <p:txBody>
          <a:bodyPr wrap="square" lIns="109728" tIns="18288" rIns="91440" bIns="18288" rtlCol="0" anchor="ctr">
            <a:normAutofit/>
          </a:bodyPr>
          <a:lstStyle/>
          <a:p>
            <a:pPr marL="0" indent="0" algn="l">
              <a:spcBef>
                <a:spcPts val="0"/>
              </a:spcBef>
              <a:spcAft>
                <a:spcPts val="0"/>
              </a:spcAft>
              <a:buNone/>
            </a:pPr>
            <a:r>
              <a:rPr lang="en-GB" sz="1050" b="1" dirty="0">
                <a:solidFill>
                  <a:srgbClr val="B4285A"/>
                </a:solidFill>
                <a:latin typeface="Arial"/>
                <a:cs typeface="Arial"/>
              </a:rPr>
              <a:t>Trade-off: </a:t>
            </a:r>
            <a:r>
              <a:rPr lang="en-GB" sz="1050" dirty="0">
                <a:solidFill>
                  <a:srgbClr val="1A1A1A"/>
                </a:solidFill>
                <a:latin typeface="Arial"/>
                <a:cs typeface="Arial"/>
              </a:rPr>
              <a:t>virtual success does not prove workplace competence. Assess real task performance.</a:t>
            </a:r>
          </a:p>
        </p:txBody>
      </p:sp>
      <p:sp>
        <p:nvSpPr>
          <p:cNvPr id="21" name="Source 21"/>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NVIDIA, ‘What is the metaverse?’ (accessed 20 Oct 2026) · Illustrations: AI-generated teaching images of hypothetical scenarios</a:t>
            </a:r>
          </a:p>
        </p:txBody>
      </p:sp>
      <p:sp>
        <p:nvSpPr>
          <p:cNvPr id="22" name="Page 22"/>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53</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VrCardboard" descr="VrCardboard icon"/>
          <p:cNvPicPr>
            <a:picLocks noChangeAspect="1"/>
          </p:cNvPicPr>
          <p:nvPr/>
        </p:nvPicPr>
        <p:blipFill>
          <a:blip r:embed="rId4"/>
          <a:stretch>
            <a:fillRect/>
          </a:stretch>
        </p:blipFill>
        <p:spPr>
          <a:xfrm>
            <a:off x="577901" y="449885"/>
            <a:ext cx="307238" cy="30723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Emerging Technologies and the Performance Objectives</a:t>
            </a:r>
          </a:p>
        </p:txBody>
      </p:sp>
      <p:cxnSp>
        <p:nvCxnSpPr>
          <p:cNvPr id="4" name="Line 4"/>
          <p:cNvCxnSpPr/>
          <p:nvPr/>
        </p:nvCxnSpPr>
        <p:spPr>
          <a:xfrm>
            <a:off x="457200" y="960120"/>
            <a:ext cx="11274552" cy="0"/>
          </a:xfrm>
          <a:prstGeom prst="line">
            <a:avLst/>
          </a:prstGeom>
          <a:ln w="15875">
            <a:solidFill>
              <a:srgbClr val="5B2C91"/>
            </a:solidFill>
          </a:ln>
        </p:spPr>
      </p:cxnSp>
      <p:graphicFrame>
        <p:nvGraphicFramePr>
          <p:cNvPr id="5" name="Table 5"/>
          <p:cNvGraphicFramePr>
            <a:graphicFrameLocks noGrp="1"/>
          </p:cNvGraphicFramePr>
          <p:nvPr/>
        </p:nvGraphicFramePr>
        <p:xfrm>
          <a:off x="457200" y="1097280"/>
          <a:ext cx="11274552" cy="3584448"/>
        </p:xfrm>
        <a:graphic>
          <a:graphicData uri="http://schemas.openxmlformats.org/drawingml/2006/table">
            <a:tbl>
              <a:tblPr firstRow="1" bandRow="1"/>
              <a:tblGrid>
                <a:gridCol w="2587752">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512064">
                <a:tc>
                  <a:txBody>
                    <a:bodyPr/>
                    <a:lstStyle/>
                    <a:p>
                      <a:pPr marL="0" indent="0" algn="l">
                        <a:spcBef>
                          <a:spcPts val="0"/>
                        </a:spcBef>
                        <a:spcAft>
                          <a:spcPts val="0"/>
                        </a:spcAft>
                        <a:buNone/>
                      </a:pPr>
                      <a:r>
                        <a:rPr lang="en-GB" sz="1450" b="1" dirty="0">
                          <a:solidFill>
                            <a:srgbClr val="FFFFFF"/>
                          </a:solidFill>
                          <a:latin typeface="Arial"/>
                          <a:cs typeface="Arial"/>
                        </a:rPr>
                        <a:t>Technology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Quality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Speed</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Dependability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Flexibility</a:t>
                      </a:r>
                    </a:p>
                  </a:txBody>
                  <a:tcPr marT="36576" marB="36576" anchor="ctr">
                    <a:lnL w="0">
                      <a:noFill/>
                    </a:lnL>
                    <a:lnR w="0">
                      <a:noFill/>
                    </a:lnR>
                    <a:lnT w="0">
                      <a:noFill/>
                    </a:lnT>
                    <a:lnB w="6350">
                      <a:solidFill>
                        <a:srgbClr val="C9B8E0"/>
                      </a:solidFill>
                    </a:lnB>
                    <a:solidFill>
                      <a:srgbClr val="5B2C91"/>
                    </a:solidFill>
                  </a:tcPr>
                </a:tc>
                <a:tc>
                  <a:txBody>
                    <a:bodyPr/>
                    <a:lstStyle/>
                    <a:p>
                      <a:pPr marL="0" indent="0" algn="ctr">
                        <a:spcBef>
                          <a:spcPts val="0"/>
                        </a:spcBef>
                        <a:spcAft>
                          <a:spcPts val="0"/>
                        </a:spcAft>
                        <a:buNone/>
                      </a:pPr>
                      <a:r>
                        <a:rPr lang="en-GB" sz="1450" b="1" dirty="0">
                          <a:solidFill>
                            <a:srgbClr val="FFFFFF"/>
                          </a:solidFill>
                          <a:latin typeface="Arial"/>
                          <a:cs typeface="Arial"/>
                        </a:rPr>
                        <a:t>Cost</a:t>
                      </a:r>
                    </a:p>
                  </a:txBody>
                  <a:tcPr marT="36576" marB="36576" anchor="ctr">
                    <a:lnL w="0">
                      <a:noFill/>
                    </a:lnL>
                    <a:lnR w="0">
                      <a:noFill/>
                    </a:lnR>
                    <a:lnT w="0">
                      <a:noFill/>
                    </a:lnT>
                    <a:lnB w="6350">
                      <a:solidFill>
                        <a:srgbClr val="C9B8E0"/>
                      </a:solidFill>
                    </a:lnB>
                    <a:solidFill>
                      <a:srgbClr val="5B2C91"/>
                    </a:solidFill>
                  </a:tcPr>
                </a:tc>
                <a:extLst>
                  <a:ext uri="{0D108BD9-81ED-4DB2-BD59-A6C34878D82A}">
                    <a16:rowId xmlns:a16="http://schemas.microsoft.com/office/drawing/2014/main" val="10000"/>
                  </a:ext>
                </a:extLst>
              </a:tr>
              <a:tr h="512064">
                <a:tc>
                  <a:txBody>
                    <a:bodyPr/>
                    <a:lstStyle/>
                    <a:p>
                      <a:pPr marL="0" indent="0" algn="l">
                        <a:spcBef>
                          <a:spcPts val="0"/>
                        </a:spcBef>
                        <a:spcAft>
                          <a:spcPts val="0"/>
                        </a:spcAft>
                        <a:buNone/>
                      </a:pPr>
                      <a:r>
                        <a:rPr lang="en-GB" sz="1450" dirty="0">
                          <a:solidFill>
                            <a:srgbClr val="1A1A1A"/>
                          </a:solidFill>
                          <a:latin typeface="Arial"/>
                          <a:cs typeface="Arial"/>
                        </a:rPr>
                        <a:t>AI and agentic AI</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1"/>
                  </a:ext>
                </a:extLst>
              </a:tr>
              <a:tr h="512064">
                <a:tc>
                  <a:txBody>
                    <a:bodyPr/>
                    <a:lstStyle/>
                    <a:p>
                      <a:pPr marL="0" indent="0" algn="l">
                        <a:spcBef>
                          <a:spcPts val="0"/>
                        </a:spcBef>
                        <a:spcAft>
                          <a:spcPts val="0"/>
                        </a:spcAft>
                        <a:buNone/>
                      </a:pPr>
                      <a:r>
                        <a:rPr lang="en-GB" sz="1450" dirty="0">
                          <a:solidFill>
                            <a:srgbClr val="1A1A1A"/>
                          </a:solidFill>
                          <a:latin typeface="Arial"/>
                          <a:cs typeface="Arial"/>
                        </a:rPr>
                        <a:t>Blockchain</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Low</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2"/>
                  </a:ext>
                </a:extLst>
              </a:tr>
              <a:tr h="512064">
                <a:tc>
                  <a:txBody>
                    <a:bodyPr/>
                    <a:lstStyle/>
                    <a:p>
                      <a:pPr marL="0" indent="0" algn="l">
                        <a:spcBef>
                          <a:spcPts val="0"/>
                        </a:spcBef>
                        <a:spcAft>
                          <a:spcPts val="0"/>
                        </a:spcAft>
                        <a:buNone/>
                      </a:pPr>
                      <a:r>
                        <a:rPr lang="en-GB" sz="1450" dirty="0">
                          <a:solidFill>
                            <a:srgbClr val="1A1A1A"/>
                          </a:solidFill>
                          <a:latin typeface="Arial"/>
                          <a:cs typeface="Arial"/>
                        </a:rPr>
                        <a:t>Quantum computing</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Potential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Potential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Potential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Potential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Potential</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3"/>
                  </a:ext>
                </a:extLst>
              </a:tr>
              <a:tr h="512064">
                <a:tc>
                  <a:txBody>
                    <a:bodyPr/>
                    <a:lstStyle/>
                    <a:p>
                      <a:pPr marL="0" indent="0" algn="l">
                        <a:spcBef>
                          <a:spcPts val="0"/>
                        </a:spcBef>
                        <a:spcAft>
                          <a:spcPts val="0"/>
                        </a:spcAft>
                        <a:buNone/>
                      </a:pPr>
                      <a:r>
                        <a:rPr lang="en-GB" sz="1450" dirty="0">
                          <a:solidFill>
                            <a:srgbClr val="1A1A1A"/>
                          </a:solidFill>
                          <a:latin typeface="Arial"/>
                          <a:cs typeface="Arial"/>
                        </a:rPr>
                        <a:t>Digital twins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4"/>
                  </a:ext>
                </a:extLst>
              </a:tr>
              <a:tr h="512064">
                <a:tc>
                  <a:txBody>
                    <a:bodyPr/>
                    <a:lstStyle/>
                    <a:p>
                      <a:pPr marL="0" indent="0" algn="l">
                        <a:spcBef>
                          <a:spcPts val="0"/>
                        </a:spcBef>
                        <a:spcAft>
                          <a:spcPts val="0"/>
                        </a:spcAft>
                        <a:buNone/>
                      </a:pPr>
                      <a:r>
                        <a:rPr lang="en-GB" sz="1450" dirty="0">
                          <a:solidFill>
                            <a:srgbClr val="1A1A1A"/>
                          </a:solidFill>
                          <a:latin typeface="Arial"/>
                          <a:cs typeface="Arial"/>
                        </a:rPr>
                        <a:t>Big data analytics</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FFFFF"/>
                    </a:solidFill>
                  </a:tcPr>
                </a:tc>
                <a:extLst>
                  <a:ext uri="{0D108BD9-81ED-4DB2-BD59-A6C34878D82A}">
                    <a16:rowId xmlns:a16="http://schemas.microsoft.com/office/drawing/2014/main" val="10005"/>
                  </a:ext>
                </a:extLst>
              </a:tr>
              <a:tr h="512064">
                <a:tc>
                  <a:txBody>
                    <a:bodyPr/>
                    <a:lstStyle/>
                    <a:p>
                      <a:pPr marL="0" indent="0" algn="l">
                        <a:spcBef>
                          <a:spcPts val="0"/>
                        </a:spcBef>
                        <a:spcAft>
                          <a:spcPts val="0"/>
                        </a:spcAft>
                        <a:buNone/>
                      </a:pPr>
                      <a:r>
                        <a:rPr lang="en-GB" sz="1450" dirty="0">
                          <a:solidFill>
                            <a:srgbClr val="1A1A1A"/>
                          </a:solidFill>
                          <a:latin typeface="Arial"/>
                          <a:cs typeface="Arial"/>
                        </a:rPr>
                        <a:t>Metaverse / XR</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High</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tc>
                  <a:txBody>
                    <a:bodyPr/>
                    <a:lstStyle/>
                    <a:p>
                      <a:pPr marL="0" indent="0" algn="ctr">
                        <a:spcBef>
                          <a:spcPts val="0"/>
                        </a:spcBef>
                        <a:spcAft>
                          <a:spcPts val="0"/>
                        </a:spcAft>
                        <a:buNone/>
                      </a:pPr>
                      <a:r>
                        <a:rPr lang="en-GB" sz="1450" dirty="0">
                          <a:solidFill>
                            <a:srgbClr val="1A1A1A"/>
                          </a:solidFill>
                          <a:latin typeface="Arial"/>
                          <a:cs typeface="Arial"/>
                        </a:rPr>
                        <a:t>◆ Medium</a:t>
                      </a:r>
                    </a:p>
                  </a:txBody>
                  <a:tcPr marT="36576" marB="36576" anchor="ctr">
                    <a:lnL w="0">
                      <a:noFill/>
                    </a:lnL>
                    <a:lnR w="0">
                      <a:noFill/>
                    </a:lnR>
                    <a:lnT w="6350" cap="flat" cmpd="sng" algn="ctr">
                      <a:solidFill>
                        <a:srgbClr val="C9B8E0"/>
                      </a:solidFill>
                      <a:prstDash val="solid"/>
                      <a:round/>
                      <a:headEnd type="none" w="med" len="med"/>
                      <a:tailEnd type="none" w="med" len="med"/>
                    </a:lnT>
                    <a:lnB w="6350">
                      <a:solidFill>
                        <a:srgbClr val="C9B8E0"/>
                      </a:solidFill>
                    </a:lnB>
                    <a:solidFill>
                      <a:srgbClr val="F6F1FB"/>
                    </a:solidFill>
                  </a:tcPr>
                </a:tc>
                <a:extLst>
                  <a:ext uri="{0D108BD9-81ED-4DB2-BD59-A6C34878D82A}">
                    <a16:rowId xmlns:a16="http://schemas.microsoft.com/office/drawing/2014/main" val="10006"/>
                  </a:ext>
                </a:extLst>
              </a:tr>
            </a:tbl>
          </a:graphicData>
        </a:graphic>
      </p:graphicFrame>
      <p:sp>
        <p:nvSpPr>
          <p:cNvPr id="6" name="Box 6"/>
          <p:cNvSpPr/>
          <p:nvPr/>
        </p:nvSpPr>
        <p:spPr>
          <a:xfrm>
            <a:off x="457200" y="5257800"/>
            <a:ext cx="11274552" cy="86868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50" b="1" dirty="0">
                <a:solidFill>
                  <a:srgbClr val="FFFFFF"/>
                </a:solidFill>
                <a:latin typeface="Arial"/>
                <a:cs typeface="Arial"/>
              </a:rPr>
              <a:t>Discuss:  </a:t>
            </a:r>
            <a:r>
              <a:rPr lang="en-GB" sz="1450" dirty="0">
                <a:solidFill>
                  <a:srgbClr val="FFFFFF"/>
                </a:solidFill>
                <a:latin typeface="Arial"/>
                <a:cs typeface="Arial"/>
              </a:rPr>
              <a:t>which objective matters most to the operation you are studying? Choose the technology that improves that objective at the constraint, not the one with the most ▲s.</a:t>
            </a:r>
          </a:p>
        </p:txBody>
      </p:sp>
      <p:sp>
        <p:nvSpPr>
          <p:cNvPr id="7" name="Box 7"/>
          <p:cNvSpPr/>
          <p:nvPr/>
        </p:nvSpPr>
        <p:spPr>
          <a:xfrm>
            <a:off x="457200" y="4754880"/>
            <a:ext cx="11274552" cy="36576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150" i="1" dirty="0">
                <a:solidFill>
                  <a:srgbClr val="666666"/>
                </a:solidFill>
                <a:latin typeface="Arial"/>
                <a:cs typeface="Arial"/>
              </a:rPr>
              <a:t>▲ High   ◆ Medium   ● Low   ◇ Potential (not yet proven at scale). Ratings are for discussion, not measured data.</a:t>
            </a:r>
          </a:p>
        </p:txBody>
      </p:sp>
      <p:sp>
        <p:nvSpPr>
          <p:cNvPr id="8" name="Source 8"/>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Lecturer synthesis; performance objectives after Slack, N., Brandon-Jones, A. and Johnston, R. (2013) Operations Management, 7th edn. Harlow: Pearson, chs 2–3 and 8</a:t>
            </a:r>
          </a:p>
        </p:txBody>
      </p:sp>
      <p:sp>
        <p:nvSpPr>
          <p:cNvPr id="9" name="Page 9"/>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54</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ChartBar" descr="ChartBar icon"/>
          <p:cNvPicPr>
            <a:picLocks noChangeAspect="1"/>
          </p:cNvPicPr>
          <p:nvPr/>
        </p:nvPicPr>
        <p:blipFill>
          <a:blip r:embed="rId3"/>
          <a:stretch>
            <a:fillRect/>
          </a:stretch>
        </p:blipFill>
        <p:spPr>
          <a:xfrm>
            <a:off x="577901" y="449885"/>
            <a:ext cx="307238" cy="30723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D5F41-5E52-7542-EB50-D3A072289AC7}"/>
            </a:ext>
          </a:extLst>
        </p:cNvPr>
        <p:cNvGrpSpPr/>
        <p:nvPr/>
      </p:nvGrpSpPr>
      <p:grpSpPr>
        <a:xfrm>
          <a:off x="0" y="0"/>
          <a:ext cx="0" cy="0"/>
          <a:chOff x="0" y="0"/>
          <a:chExt cx="0" cy="0"/>
        </a:xfrm>
      </p:grpSpPr>
      <p:sp>
        <p:nvSpPr>
          <p:cNvPr id="3" name="Title 3">
            <a:extLst>
              <a:ext uri="{FF2B5EF4-FFF2-40B4-BE49-F238E27FC236}">
                <a16:creationId xmlns:a16="http://schemas.microsoft.com/office/drawing/2014/main" id="{D368780F-E362-3B46-778E-EC630E4C3B98}"/>
              </a:ext>
            </a:extLst>
          </p:cNvPr>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Join the Session on Wooclap</a:t>
            </a:r>
          </a:p>
        </p:txBody>
      </p:sp>
      <p:cxnSp>
        <p:nvCxnSpPr>
          <p:cNvPr id="4" name="Line 4">
            <a:extLst>
              <a:ext uri="{FF2B5EF4-FFF2-40B4-BE49-F238E27FC236}">
                <a16:creationId xmlns:a16="http://schemas.microsoft.com/office/drawing/2014/main" id="{F601A7B9-7E65-0556-E518-58064650E5AB}"/>
              </a:ext>
            </a:extLst>
          </p:cNvPr>
          <p:cNvCxnSpPr/>
          <p:nvPr/>
        </p:nvCxnSpPr>
        <p:spPr>
          <a:xfrm>
            <a:off x="457200" y="960120"/>
            <a:ext cx="11274552" cy="0"/>
          </a:xfrm>
          <a:prstGeom prst="line">
            <a:avLst/>
          </a:prstGeom>
          <a:ln w="15875">
            <a:solidFill>
              <a:srgbClr val="5B2C91"/>
            </a:solidFill>
          </a:ln>
        </p:spPr>
      </p:cxnSp>
      <p:sp>
        <p:nvSpPr>
          <p:cNvPr id="6" name="Box 6">
            <a:extLst>
              <a:ext uri="{FF2B5EF4-FFF2-40B4-BE49-F238E27FC236}">
                <a16:creationId xmlns:a16="http://schemas.microsoft.com/office/drawing/2014/main" id="{A6AD00CC-81EF-A175-5A7A-52D112120B7B}"/>
              </a:ext>
            </a:extLst>
          </p:cNvPr>
          <p:cNvSpPr/>
          <p:nvPr/>
        </p:nvSpPr>
        <p:spPr>
          <a:xfrm>
            <a:off x="685800" y="1234440"/>
            <a:ext cx="4572000" cy="4572000"/>
          </a:xfrm>
          <a:prstGeom prst="roundRect">
            <a:avLst>
              <a:gd name="adj" fmla="val 4000"/>
            </a:avLst>
          </a:prstGeom>
          <a:solidFill>
            <a:srgbClr val="FFFFFF"/>
          </a:solidFill>
          <a:ln w="28575">
            <a:solidFill>
              <a:srgbClr val="5B2C91"/>
            </a:solidFill>
          </a:ln>
        </p:spPr>
        <p:txBody>
          <a:bodyPr wrap="square" lIns="73152" tIns="45720" rIns="73152" bIns="45720" rtlCol="0" anchor="t">
            <a:normAutofit/>
          </a:bodyPr>
          <a:lstStyle/>
          <a:p>
            <a:endParaRPr lang="en-GB" sz="1000"/>
          </a:p>
        </p:txBody>
      </p:sp>
      <p:pic>
        <p:nvPicPr>
          <p:cNvPr id="55" name="Wooclap QR code" descr="QR code linking to the Wooclap live session CITLFMY">
            <a:extLst>
              <a:ext uri="{FF2B5EF4-FFF2-40B4-BE49-F238E27FC236}">
                <a16:creationId xmlns:a16="http://schemas.microsoft.com/office/drawing/2014/main" id="{24731E9A-4BE6-7A59-3C39-CC123A0E6A51}"/>
              </a:ext>
            </a:extLst>
          </p:cNvPr>
          <p:cNvPicPr>
            <a:picLocks noChangeAspect="1"/>
          </p:cNvPicPr>
          <p:nvPr/>
        </p:nvPicPr>
        <p:blipFill>
          <a:blip r:embed="rId2"/>
          <a:stretch>
            <a:fillRect/>
          </a:stretch>
        </p:blipFill>
        <p:spPr>
          <a:xfrm>
            <a:off x="868680" y="1417320"/>
            <a:ext cx="4206240" cy="4206240"/>
          </a:xfrm>
          <a:prstGeom prst="rect">
            <a:avLst/>
          </a:prstGeom>
        </p:spPr>
      </p:pic>
      <p:sp>
        <p:nvSpPr>
          <p:cNvPr id="7" name="Box 7">
            <a:extLst>
              <a:ext uri="{FF2B5EF4-FFF2-40B4-BE49-F238E27FC236}">
                <a16:creationId xmlns:a16="http://schemas.microsoft.com/office/drawing/2014/main" id="{84FB51E1-F84D-4126-8C80-47D8B2556C4B}"/>
              </a:ext>
            </a:extLst>
          </p:cNvPr>
          <p:cNvSpPr/>
          <p:nvPr/>
        </p:nvSpPr>
        <p:spPr>
          <a:xfrm>
            <a:off x="685800" y="5897880"/>
            <a:ext cx="4572000" cy="4114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5B2C91"/>
                </a:solidFill>
                <a:latin typeface="Arial"/>
                <a:cs typeface="Arial"/>
              </a:rPr>
              <a:t>Scan with your phone camera</a:t>
            </a:r>
          </a:p>
        </p:txBody>
      </p:sp>
      <p:sp>
        <p:nvSpPr>
          <p:cNvPr id="8" name="Box 8">
            <a:extLst>
              <a:ext uri="{FF2B5EF4-FFF2-40B4-BE49-F238E27FC236}">
                <a16:creationId xmlns:a16="http://schemas.microsoft.com/office/drawing/2014/main" id="{97922198-411B-BDBE-5AC1-FFE78BB74B08}"/>
              </a:ext>
            </a:extLst>
          </p:cNvPr>
          <p:cNvSpPr/>
          <p:nvPr/>
        </p:nvSpPr>
        <p:spPr>
          <a:xfrm>
            <a:off x="6035040" y="13716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1</a:t>
            </a:r>
          </a:p>
        </p:txBody>
      </p:sp>
      <p:sp>
        <p:nvSpPr>
          <p:cNvPr id="9" name="Box 9">
            <a:extLst>
              <a:ext uri="{FF2B5EF4-FFF2-40B4-BE49-F238E27FC236}">
                <a16:creationId xmlns:a16="http://schemas.microsoft.com/office/drawing/2014/main" id="{9F9999F1-7429-EE38-A56D-1AD1B51DB890}"/>
              </a:ext>
            </a:extLst>
          </p:cNvPr>
          <p:cNvSpPr/>
          <p:nvPr/>
        </p:nvSpPr>
        <p:spPr>
          <a:xfrm>
            <a:off x="6766560" y="13258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Scan the QR code</a:t>
            </a:r>
          </a:p>
          <a:p>
            <a:pPr marL="0" indent="0" algn="l">
              <a:spcBef>
                <a:spcPts val="0"/>
              </a:spcBef>
              <a:spcAft>
                <a:spcPts val="0"/>
              </a:spcAft>
              <a:buNone/>
            </a:pPr>
            <a:r>
              <a:rPr lang="en-GB" sz="1600" dirty="0">
                <a:solidFill>
                  <a:srgbClr val="1A1A1A"/>
                </a:solidFill>
                <a:latin typeface="Arial"/>
                <a:cs typeface="Arial"/>
              </a:rPr>
              <a:t>Point your phone camera at the code on the left.</a:t>
            </a:r>
          </a:p>
        </p:txBody>
      </p:sp>
      <p:sp>
        <p:nvSpPr>
          <p:cNvPr id="10" name="Box 10">
            <a:extLst>
              <a:ext uri="{FF2B5EF4-FFF2-40B4-BE49-F238E27FC236}">
                <a16:creationId xmlns:a16="http://schemas.microsoft.com/office/drawing/2014/main" id="{A6C6EBA3-8DD3-94C5-8062-069A8585EB38}"/>
              </a:ext>
            </a:extLst>
          </p:cNvPr>
          <p:cNvSpPr/>
          <p:nvPr/>
        </p:nvSpPr>
        <p:spPr>
          <a:xfrm>
            <a:off x="6035040" y="29718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2</a:t>
            </a:r>
          </a:p>
        </p:txBody>
      </p:sp>
      <p:sp>
        <p:nvSpPr>
          <p:cNvPr id="11" name="Box 11">
            <a:extLst>
              <a:ext uri="{FF2B5EF4-FFF2-40B4-BE49-F238E27FC236}">
                <a16:creationId xmlns:a16="http://schemas.microsoft.com/office/drawing/2014/main" id="{24142B3D-A8A1-2227-F1BE-329D8735F3E4}"/>
              </a:ext>
            </a:extLst>
          </p:cNvPr>
          <p:cNvSpPr/>
          <p:nvPr/>
        </p:nvSpPr>
        <p:spPr>
          <a:xfrm>
            <a:off x="6766560" y="2926080"/>
            <a:ext cx="4937760" cy="868680"/>
          </a:xfrm>
          <a:prstGeom prst="rect">
            <a:avLst/>
          </a:prstGeom>
          <a:noFill/>
          <a:ln>
            <a:noFill/>
          </a:ln>
        </p:spPr>
        <p:txBody>
          <a:bodyPr wrap="square" lIns="73152" tIns="45720" rIns="73152" bIns="45720" rtlCol="0" anchor="t">
            <a:normAutofit/>
          </a:bodyPr>
          <a:lstStyle/>
          <a:p>
            <a:pPr marL="0" indent="0" algn="l">
              <a:spcBef>
                <a:spcPts val="0"/>
              </a:spcBef>
              <a:spcAft>
                <a:spcPts val="150"/>
              </a:spcAft>
              <a:buNone/>
            </a:pPr>
            <a:r>
              <a:rPr lang="en-GB" sz="1800" b="1" dirty="0">
                <a:solidFill>
                  <a:srgbClr val="5B2C91"/>
                </a:solidFill>
                <a:latin typeface="Arial"/>
                <a:cs typeface="Arial"/>
              </a:rPr>
              <a:t>Or go to app.wooclap.com</a:t>
            </a:r>
          </a:p>
          <a:p>
            <a:pPr marL="0" indent="0" algn="l">
              <a:spcBef>
                <a:spcPts val="0"/>
              </a:spcBef>
              <a:spcAft>
                <a:spcPts val="0"/>
              </a:spcAft>
              <a:buNone/>
            </a:pPr>
            <a:r>
              <a:rPr lang="en-GB" sz="1600" dirty="0">
                <a:solidFill>
                  <a:srgbClr val="1A1A1A"/>
                </a:solidFill>
                <a:latin typeface="Arial"/>
                <a:cs typeface="Arial"/>
              </a:rPr>
              <a:t>and enter the event code:</a:t>
            </a:r>
          </a:p>
        </p:txBody>
      </p:sp>
      <p:sp>
        <p:nvSpPr>
          <p:cNvPr id="12" name="Box 12">
            <a:extLst>
              <a:ext uri="{FF2B5EF4-FFF2-40B4-BE49-F238E27FC236}">
                <a16:creationId xmlns:a16="http://schemas.microsoft.com/office/drawing/2014/main" id="{B774A8C1-6A55-B6E8-2754-51FAD5003631}"/>
              </a:ext>
            </a:extLst>
          </p:cNvPr>
          <p:cNvSpPr/>
          <p:nvPr/>
        </p:nvSpPr>
        <p:spPr>
          <a:xfrm>
            <a:off x="6035040" y="4572000"/>
            <a:ext cx="548640" cy="548640"/>
          </a:xfrm>
          <a:prstGeom prst="ellipse">
            <a:avLst/>
          </a:prstGeom>
          <a:solidFill>
            <a:srgbClr val="5B2C91"/>
          </a:solidFill>
          <a:ln>
            <a:noFill/>
          </a:ln>
        </p:spPr>
        <p:txBody>
          <a:bodyPr wrap="square" lIns="0" tIns="0" rIns="0" bIns="0" rtlCol="0" anchor="ctr">
            <a:normAutofit/>
          </a:bodyPr>
          <a:lstStyle/>
          <a:p>
            <a:pPr marL="0" indent="0" algn="ctr">
              <a:spcBef>
                <a:spcPts val="0"/>
              </a:spcBef>
              <a:spcAft>
                <a:spcPts val="0"/>
              </a:spcAft>
              <a:buNone/>
            </a:pPr>
            <a:r>
              <a:rPr lang="en-GB" sz="1800" b="1" dirty="0">
                <a:solidFill>
                  <a:srgbClr val="FFFFFF"/>
                </a:solidFill>
                <a:latin typeface="Arial"/>
                <a:cs typeface="Arial"/>
              </a:rPr>
              <a:t>3</a:t>
            </a:r>
          </a:p>
        </p:txBody>
      </p:sp>
      <p:sp>
        <p:nvSpPr>
          <p:cNvPr id="13" name="Box 13">
            <a:extLst>
              <a:ext uri="{FF2B5EF4-FFF2-40B4-BE49-F238E27FC236}">
                <a16:creationId xmlns:a16="http://schemas.microsoft.com/office/drawing/2014/main" id="{9F194D38-5229-ACC1-40EB-4B728B722481}"/>
              </a:ext>
            </a:extLst>
          </p:cNvPr>
          <p:cNvSpPr/>
          <p:nvPr/>
        </p:nvSpPr>
        <p:spPr>
          <a:xfrm>
            <a:off x="6766560" y="4526280"/>
            <a:ext cx="4937760" cy="868680"/>
          </a:xfrm>
          <a:prstGeom prst="rect">
            <a:avLst/>
          </a:prstGeom>
          <a:noFill/>
          <a:ln>
            <a:noFill/>
          </a:ln>
        </p:spPr>
        <p:txBody>
          <a:bodyPr wrap="square" lIns="73152" tIns="45720" rIns="73152" bIns="45720" rtlCol="0" anchor="t">
            <a:normAutofit lnSpcReduction="10000"/>
          </a:bodyPr>
          <a:lstStyle/>
          <a:p>
            <a:pPr marL="0" indent="0" algn="l">
              <a:spcBef>
                <a:spcPts val="0"/>
              </a:spcBef>
              <a:spcAft>
                <a:spcPts val="150"/>
              </a:spcAft>
              <a:buNone/>
            </a:pPr>
            <a:r>
              <a:rPr lang="en-GB" sz="1800" b="1" dirty="0">
                <a:solidFill>
                  <a:srgbClr val="5B2C91"/>
                </a:solidFill>
                <a:latin typeface="Arial"/>
                <a:cs typeface="Arial"/>
              </a:rPr>
              <a:t>Keep it open</a:t>
            </a:r>
          </a:p>
          <a:p>
            <a:pPr marL="0" indent="0" algn="l">
              <a:spcBef>
                <a:spcPts val="0"/>
              </a:spcBef>
              <a:spcAft>
                <a:spcPts val="0"/>
              </a:spcAft>
              <a:buNone/>
            </a:pPr>
            <a:r>
              <a:rPr lang="en-GB" sz="1600" dirty="0">
                <a:solidFill>
                  <a:srgbClr val="1A1A1A"/>
                </a:solidFill>
                <a:latin typeface="Arial"/>
                <a:cs typeface="Arial"/>
              </a:rPr>
              <a:t>We will use Wooclap for questions and activities throughout the session.</a:t>
            </a:r>
          </a:p>
        </p:txBody>
      </p:sp>
      <p:sp>
        <p:nvSpPr>
          <p:cNvPr id="14" name="Box 14">
            <a:extLst>
              <a:ext uri="{FF2B5EF4-FFF2-40B4-BE49-F238E27FC236}">
                <a16:creationId xmlns:a16="http://schemas.microsoft.com/office/drawing/2014/main" id="{7A8EE32C-D66B-93AD-F46E-DDF4FAA429F1}"/>
              </a:ext>
            </a:extLst>
          </p:cNvPr>
          <p:cNvSpPr/>
          <p:nvPr/>
        </p:nvSpPr>
        <p:spPr>
          <a:xfrm>
            <a:off x="6766560" y="3520440"/>
            <a:ext cx="3840480" cy="777240"/>
          </a:xfrm>
          <a:prstGeom prst="roundRect">
            <a:avLst>
              <a:gd name="adj" fmla="val 20000"/>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3600" b="1" dirty="0">
                <a:solidFill>
                  <a:srgbClr val="FFFFFF"/>
                </a:solidFill>
                <a:latin typeface="Arial"/>
                <a:cs typeface="Arial"/>
              </a:rPr>
              <a:t>CITLFMY</a:t>
            </a:r>
          </a:p>
        </p:txBody>
      </p:sp>
      <p:sp>
        <p:nvSpPr>
          <p:cNvPr id="15" name="Page 15">
            <a:extLst>
              <a:ext uri="{FF2B5EF4-FFF2-40B4-BE49-F238E27FC236}">
                <a16:creationId xmlns:a16="http://schemas.microsoft.com/office/drawing/2014/main" id="{1F168EF1-2DA7-9A6D-6C02-9DCD9CFA6346}"/>
              </a:ext>
            </a:extLst>
          </p:cNvPr>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4</a:t>
            </a:r>
          </a:p>
        </p:txBody>
      </p:sp>
      <p:sp>
        <p:nvSpPr>
          <p:cNvPr id="950" name="Icon circle 950">
            <a:extLst>
              <a:ext uri="{FF2B5EF4-FFF2-40B4-BE49-F238E27FC236}">
                <a16:creationId xmlns:a16="http://schemas.microsoft.com/office/drawing/2014/main" id="{549D299D-9E48-4433-78D0-B073151DB899}"/>
              </a:ext>
            </a:extLst>
          </p:cNvPr>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Users" descr="Users icon">
            <a:extLst>
              <a:ext uri="{FF2B5EF4-FFF2-40B4-BE49-F238E27FC236}">
                <a16:creationId xmlns:a16="http://schemas.microsoft.com/office/drawing/2014/main" id="{A223F165-F3BB-AB3E-F1D5-9868C4862252}"/>
              </a:ext>
            </a:extLst>
          </p:cNvPr>
          <p:cNvPicPr>
            <a:picLocks noChangeAspect="1"/>
          </p:cNvPicPr>
          <p:nvPr/>
        </p:nvPicPr>
        <p:blipFill>
          <a:blip r:embed="rId3"/>
          <a:stretch>
            <a:fillRect/>
          </a:stretch>
        </p:blipFill>
        <p:spPr>
          <a:xfrm>
            <a:off x="577901" y="449885"/>
            <a:ext cx="307238" cy="307238"/>
          </a:xfrm>
          <a:prstGeom prst="rect">
            <a:avLst/>
          </a:prstGeom>
        </p:spPr>
      </p:pic>
    </p:spTree>
    <p:extLst>
      <p:ext uri="{BB962C8B-B14F-4D97-AF65-F5344CB8AC3E}">
        <p14:creationId xmlns:p14="http://schemas.microsoft.com/office/powerpoint/2010/main" val="28038960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p:nvPr/>
        </p:nvSpPr>
        <p:spPr>
          <a:xfrm>
            <a:off x="457200" y="274320"/>
            <a:ext cx="11274552" cy="640080"/>
          </a:xfrm>
          <a:prstGeom prst="rect">
            <a:avLst/>
          </a:prstGeom>
          <a:noFill/>
          <a:ln>
            <a:noFill/>
          </a:ln>
        </p:spPr>
        <p:txBody>
          <a:bodyPr wrap="square" lIns="73152" tIns="45720" rIns="73152" bIns="45720" rtlCol="0" anchor="ctr">
            <a:normAutofit/>
          </a:bodyPr>
          <a:lstStyle/>
          <a:p>
            <a:pPr marL="0" indent="0" algn="ctr">
              <a:spcBef>
                <a:spcPts val="0"/>
              </a:spcBef>
              <a:spcAft>
                <a:spcPts val="0"/>
              </a:spcAft>
              <a:buNone/>
            </a:pPr>
            <a:r>
              <a:rPr lang="en-GB" sz="2600" dirty="0">
                <a:solidFill>
                  <a:srgbClr val="5B2C91"/>
                </a:solidFill>
                <a:latin typeface="Arial"/>
                <a:cs typeface="Arial"/>
              </a:rPr>
              <a:t>How Are Process Technologies Implemented?</a:t>
            </a:r>
          </a:p>
        </p:txBody>
      </p:sp>
      <p:cxnSp>
        <p:nvCxnSpPr>
          <p:cNvPr id="4" name="Line 4"/>
          <p:cNvCxnSpPr/>
          <p:nvPr/>
        </p:nvCxnSpPr>
        <p:spPr>
          <a:xfrm>
            <a:off x="457200" y="960120"/>
            <a:ext cx="11274552" cy="0"/>
          </a:xfrm>
          <a:prstGeom prst="line">
            <a:avLst/>
          </a:prstGeom>
          <a:ln w="15875">
            <a:solidFill>
              <a:srgbClr val="5B2C91"/>
            </a:solidFill>
          </a:ln>
        </p:spPr>
      </p:cxnSp>
      <p:sp>
        <p:nvSpPr>
          <p:cNvPr id="5" name="Box 5"/>
          <p:cNvSpPr/>
          <p:nvPr/>
        </p:nvSpPr>
        <p:spPr>
          <a:xfrm>
            <a:off x="457200" y="1188720"/>
            <a:ext cx="3657600"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Resource and process “distance”</a:t>
            </a:r>
          </a:p>
        </p:txBody>
      </p:sp>
      <p:sp>
        <p:nvSpPr>
          <p:cNvPr id="6" name="Box 6"/>
          <p:cNvSpPr/>
          <p:nvPr/>
        </p:nvSpPr>
        <p:spPr>
          <a:xfrm>
            <a:off x="457200" y="1572768"/>
            <a:ext cx="3657600" cy="359359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Resource distance: how novel the technology is to the operation</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Process distance: how much existing processes must change</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The greater the distance, the harder the implementation, and the harder it is to learn what worked and why</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Where possible, change one thing at a time</a:t>
            </a:r>
          </a:p>
        </p:txBody>
      </p:sp>
      <p:sp>
        <p:nvSpPr>
          <p:cNvPr id="7" name="Box 7"/>
          <p:cNvSpPr/>
          <p:nvPr/>
        </p:nvSpPr>
        <p:spPr>
          <a:xfrm>
            <a:off x="4261104" y="1188720"/>
            <a:ext cx="3657600"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Customer acceptability</a:t>
            </a:r>
          </a:p>
        </p:txBody>
      </p:sp>
      <p:sp>
        <p:nvSpPr>
          <p:cNvPr id="8" name="Box 8"/>
          <p:cNvSpPr/>
          <p:nvPr/>
        </p:nvSpPr>
        <p:spPr>
          <a:xfrm>
            <a:off x="4261104" y="1572768"/>
            <a:ext cx="3657600" cy="359359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Customers must know how to use customer-facing technology</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Ease of “training” customers depends on complexity, repetition and variety of tasks</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Trust: people may prefer a person even when technology performs better (robot surgery, pilotless aircraft)</a:t>
            </a:r>
          </a:p>
        </p:txBody>
      </p:sp>
      <p:sp>
        <p:nvSpPr>
          <p:cNvPr id="9" name="Box 9"/>
          <p:cNvSpPr/>
          <p:nvPr/>
        </p:nvSpPr>
        <p:spPr>
          <a:xfrm>
            <a:off x="8065008" y="1188720"/>
            <a:ext cx="3666744" cy="384048"/>
          </a:xfrm>
          <a:prstGeom prst="rect">
            <a:avLst/>
          </a:prstGeom>
          <a:solidFill>
            <a:srgbClr val="5B2C91"/>
          </a:solidFill>
          <a:ln>
            <a:noFill/>
          </a:ln>
        </p:spPr>
        <p:txBody>
          <a:bodyPr wrap="square" lIns="73152" tIns="45720" rIns="73152" bIns="45720" rtlCol="0" anchor="ctr">
            <a:normAutofit/>
          </a:bodyPr>
          <a:lstStyle/>
          <a:p>
            <a:pPr marL="0" indent="0" algn="ctr">
              <a:spcBef>
                <a:spcPts val="0"/>
              </a:spcBef>
              <a:spcAft>
                <a:spcPts val="0"/>
              </a:spcAft>
              <a:buNone/>
            </a:pPr>
            <a:r>
              <a:rPr lang="en-GB" sz="1550" b="1" dirty="0">
                <a:solidFill>
                  <a:srgbClr val="FFFFFF"/>
                </a:solidFill>
                <a:latin typeface="Arial"/>
                <a:cs typeface="Arial"/>
              </a:rPr>
              <a:t>Anticipating problems</a:t>
            </a:r>
          </a:p>
        </p:txBody>
      </p:sp>
      <p:sp>
        <p:nvSpPr>
          <p:cNvPr id="10" name="Box 10"/>
          <p:cNvSpPr/>
          <p:nvPr/>
        </p:nvSpPr>
        <p:spPr>
          <a:xfrm>
            <a:off x="8065008" y="1572768"/>
            <a:ext cx="3666744" cy="3593592"/>
          </a:xfrm>
          <a:prstGeom prst="rect">
            <a:avLst/>
          </a:prstGeom>
          <a:solidFill>
            <a:srgbClr val="F6F1FB"/>
          </a:solidFill>
          <a:ln w="12700">
            <a:solidFill>
              <a:srgbClr val="C9B8E0"/>
            </a:solidFill>
          </a:ln>
        </p:spPr>
        <p:txBody>
          <a:bodyPr wrap="square" lIns="109728" tIns="91440" rIns="109728" bIns="45720" rtlCol="0" anchor="t">
            <a:normAutofit/>
          </a:bodyPr>
          <a:lstStyle/>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Murphy’s Law: “if anything can go wrong, it will”</a:t>
            </a:r>
          </a:p>
          <a:p>
            <a:pPr marL="228600" indent="-228600" algn="l">
              <a:spcBef>
                <a:spcPts val="0"/>
              </a:spcBef>
              <a:spcAft>
                <a:spcPts val="500"/>
              </a:spcAft>
              <a:buClr>
                <a:srgbClr val="5B2C91"/>
              </a:buClr>
              <a:buSzPct val="100000"/>
              <a:buFont typeface="Arial"/>
              <a:buChar char="•"/>
            </a:pPr>
            <a:r>
              <a:rPr lang="en-GB" sz="1400" dirty="0">
                <a:solidFill>
                  <a:srgbClr val="1A1A1A"/>
                </a:solidFill>
                <a:latin typeface="Arial"/>
                <a:cs typeface="Arial"/>
              </a:rPr>
              <a:t>Adjustment costs come from mismatches between technology and operation</a:t>
            </a:r>
          </a:p>
        </p:txBody>
      </p:sp>
      <p:cxnSp>
        <p:nvCxnSpPr>
          <p:cNvPr id="11" name="Line 11"/>
          <p:cNvCxnSpPr/>
          <p:nvPr/>
        </p:nvCxnSpPr>
        <p:spPr>
          <a:xfrm>
            <a:off x="8321040" y="4937760"/>
            <a:ext cx="3154680" cy="0"/>
          </a:xfrm>
          <a:prstGeom prst="line">
            <a:avLst/>
          </a:prstGeom>
          <a:ln w="9525">
            <a:solidFill>
              <a:srgbClr val="666666"/>
            </a:solidFill>
          </a:ln>
        </p:spPr>
      </p:cxnSp>
      <p:cxnSp>
        <p:nvCxnSpPr>
          <p:cNvPr id="12" name="Line 12"/>
          <p:cNvCxnSpPr/>
          <p:nvPr/>
        </p:nvCxnSpPr>
        <p:spPr>
          <a:xfrm>
            <a:off x="8321040" y="3520440"/>
            <a:ext cx="0" cy="1417320"/>
          </a:xfrm>
          <a:prstGeom prst="line">
            <a:avLst/>
          </a:prstGeom>
          <a:ln w="9525">
            <a:solidFill>
              <a:srgbClr val="666666"/>
            </a:solidFill>
          </a:ln>
        </p:spPr>
      </p:cxnSp>
      <p:cxnSp>
        <p:nvCxnSpPr>
          <p:cNvPr id="13" name="Line 13"/>
          <p:cNvCxnSpPr/>
          <p:nvPr/>
        </p:nvCxnSpPr>
        <p:spPr>
          <a:xfrm>
            <a:off x="8321040" y="3931920"/>
            <a:ext cx="3154680" cy="0"/>
          </a:xfrm>
          <a:prstGeom prst="line">
            <a:avLst/>
          </a:prstGeom>
          <a:ln w="9525">
            <a:solidFill>
              <a:srgbClr val="666666"/>
            </a:solidFill>
            <a:prstDash val="dash"/>
          </a:ln>
        </p:spPr>
      </p:cxnSp>
      <p:sp>
        <p:nvSpPr>
          <p:cNvPr id="14" name="Curve 14"/>
          <p:cNvSpPr/>
          <p:nvPr/>
        </p:nvSpPr>
        <p:spPr>
          <a:xfrm>
            <a:off x="8321040" y="3520440"/>
            <a:ext cx="3154680" cy="1417320"/>
          </a:xfrm>
          <a:custGeom>
            <a:avLst/>
            <a:gdLst/>
            <a:ahLst/>
            <a:cxnLst/>
            <a:rect l="0" t="0" r="r" b="b"/>
            <a:pathLst>
              <a:path w="3154680" h="1417320" fill="none">
                <a:moveTo>
                  <a:pt x="0" y="411022"/>
                </a:moveTo>
                <a:lnTo>
                  <a:pt x="473202" y="411022"/>
                </a:lnTo>
                <a:lnTo>
                  <a:pt x="788670" y="566928"/>
                </a:lnTo>
                <a:lnTo>
                  <a:pt x="1104138" y="878738"/>
                </a:lnTo>
                <a:lnTo>
                  <a:pt x="1419606" y="1133856"/>
                </a:lnTo>
                <a:lnTo>
                  <a:pt x="1735074" y="1105509"/>
                </a:lnTo>
                <a:lnTo>
                  <a:pt x="2050542" y="822045"/>
                </a:lnTo>
                <a:lnTo>
                  <a:pt x="2366010" y="496061"/>
                </a:lnTo>
                <a:lnTo>
                  <a:pt x="2681478" y="255117"/>
                </a:lnTo>
                <a:lnTo>
                  <a:pt x="3154680" y="113385"/>
                </a:lnTo>
              </a:path>
            </a:pathLst>
          </a:custGeom>
          <a:noFill/>
          <a:ln w="28575" cap="rnd">
            <a:solidFill>
              <a:srgbClr val="5B2C91"/>
            </a:solidFill>
            <a:round/>
          </a:ln>
        </p:spPr>
        <p:txBody>
          <a:bodyPr/>
          <a:lstStyle/>
          <a:p>
            <a:endParaRPr lang="en-GB"/>
          </a:p>
        </p:txBody>
      </p:sp>
      <p:sp>
        <p:nvSpPr>
          <p:cNvPr id="15" name="Box 15"/>
          <p:cNvSpPr/>
          <p:nvPr/>
        </p:nvSpPr>
        <p:spPr>
          <a:xfrm>
            <a:off x="8366760" y="4645152"/>
            <a:ext cx="1463040" cy="274320"/>
          </a:xfrm>
          <a:prstGeom prst="rect">
            <a:avLst/>
          </a:prstGeom>
          <a:noFill/>
          <a:ln>
            <a:noFill/>
          </a:ln>
        </p:spPr>
        <p:txBody>
          <a:bodyPr wrap="square" lIns="18288" tIns="0" rIns="18288" bIns="0" rtlCol="0" anchor="ctr">
            <a:normAutofit lnSpcReduction="10000"/>
          </a:bodyPr>
          <a:lstStyle/>
          <a:p>
            <a:pPr marL="0" indent="0" algn="l">
              <a:spcBef>
                <a:spcPts val="0"/>
              </a:spcBef>
              <a:spcAft>
                <a:spcPts val="0"/>
              </a:spcAft>
              <a:buNone/>
            </a:pPr>
            <a:r>
              <a:rPr lang="en-GB" sz="1000" i="1" dirty="0">
                <a:solidFill>
                  <a:srgbClr val="666666"/>
                </a:solidFill>
                <a:latin typeface="Arial"/>
                <a:cs typeface="Arial"/>
              </a:rPr>
              <a:t>Performance dips at go-live</a:t>
            </a:r>
          </a:p>
        </p:txBody>
      </p:sp>
      <p:sp>
        <p:nvSpPr>
          <p:cNvPr id="16" name="Box 16"/>
          <p:cNvSpPr/>
          <p:nvPr/>
        </p:nvSpPr>
        <p:spPr>
          <a:xfrm>
            <a:off x="8394192" y="3630168"/>
            <a:ext cx="1463040" cy="274320"/>
          </a:xfrm>
          <a:prstGeom prst="rect">
            <a:avLst/>
          </a:prstGeom>
          <a:noFill/>
          <a:ln>
            <a:noFill/>
          </a:ln>
        </p:spPr>
        <p:txBody>
          <a:bodyPr wrap="square" lIns="0" tIns="0" rIns="18288" bIns="0" rtlCol="0" anchor="ctr">
            <a:normAutofit/>
          </a:bodyPr>
          <a:lstStyle/>
          <a:p>
            <a:pPr marL="0" indent="0" algn="l">
              <a:spcBef>
                <a:spcPts val="0"/>
              </a:spcBef>
              <a:spcAft>
                <a:spcPts val="0"/>
              </a:spcAft>
              <a:buNone/>
            </a:pPr>
            <a:r>
              <a:rPr lang="en-GB" sz="1000" i="1" dirty="0">
                <a:solidFill>
                  <a:srgbClr val="666666"/>
                </a:solidFill>
                <a:latin typeface="Arial"/>
                <a:cs typeface="Arial"/>
              </a:rPr>
              <a:t>Old performance level</a:t>
            </a:r>
          </a:p>
        </p:txBody>
      </p:sp>
      <p:sp>
        <p:nvSpPr>
          <p:cNvPr id="17" name="Box 17"/>
          <p:cNvSpPr/>
          <p:nvPr/>
        </p:nvSpPr>
        <p:spPr>
          <a:xfrm>
            <a:off x="457200" y="5349240"/>
            <a:ext cx="11274552" cy="822960"/>
          </a:xfrm>
          <a:prstGeom prst="roundRect">
            <a:avLst>
              <a:gd name="adj" fmla="val 10000"/>
            </a:avLst>
          </a:prstGeom>
          <a:solidFill>
            <a:srgbClr val="5B2C91"/>
          </a:solidFill>
          <a:ln>
            <a:noFill/>
          </a:ln>
        </p:spPr>
        <p:txBody>
          <a:bodyPr wrap="square" lIns="182880" tIns="45720" rIns="182880" bIns="45720" rtlCol="0" anchor="ctr">
            <a:normAutofit/>
          </a:bodyPr>
          <a:lstStyle/>
          <a:p>
            <a:pPr marL="0" indent="0" algn="l">
              <a:spcBef>
                <a:spcPts val="0"/>
              </a:spcBef>
              <a:spcAft>
                <a:spcPts val="0"/>
              </a:spcAft>
              <a:buNone/>
            </a:pPr>
            <a:r>
              <a:rPr lang="en-GB" sz="1400" b="1" dirty="0">
                <a:solidFill>
                  <a:srgbClr val="FFFFFF"/>
                </a:solidFill>
                <a:latin typeface="Arial"/>
                <a:cs typeface="Arial"/>
              </a:rPr>
              <a:t>Operations principle:  </a:t>
            </a:r>
            <a:r>
              <a:rPr lang="en-GB" sz="1400" dirty="0">
                <a:solidFill>
                  <a:srgbClr val="FFFFFF"/>
                </a:solidFill>
                <a:latin typeface="Arial"/>
                <a:cs typeface="Arial"/>
              </a:rPr>
              <a:t>the difficulty of implementing process technology depends on its novelty and the changes it requires. Budget for the “Murphy curve” ramp-up period.</a:t>
            </a:r>
          </a:p>
        </p:txBody>
      </p:sp>
      <p:sp>
        <p:nvSpPr>
          <p:cNvPr id="18" name="Source 18"/>
          <p:cNvSpPr/>
          <p:nvPr/>
        </p:nvSpPr>
        <p:spPr>
          <a:xfrm>
            <a:off x="457200" y="6446520"/>
            <a:ext cx="10607040" cy="320040"/>
          </a:xfrm>
          <a:prstGeom prst="rect">
            <a:avLst/>
          </a:prstGeom>
          <a:noFill/>
          <a:ln>
            <a:noFill/>
          </a:ln>
        </p:spPr>
        <p:txBody>
          <a:bodyPr wrap="square" lIns="73152" tIns="45720" rIns="73152" bIns="45720" rtlCol="0" anchor="ctr">
            <a:normAutofit/>
          </a:bodyPr>
          <a:lstStyle/>
          <a:p>
            <a:pPr marL="0" indent="0" algn="l">
              <a:spcBef>
                <a:spcPts val="0"/>
              </a:spcBef>
              <a:spcAft>
                <a:spcPts val="0"/>
              </a:spcAft>
              <a:buNone/>
            </a:pPr>
            <a:r>
              <a:rPr lang="en-GB" sz="1000" i="1" dirty="0">
                <a:solidFill>
                  <a:srgbClr val="666666"/>
                </a:solidFill>
                <a:latin typeface="Arial"/>
                <a:cs typeface="Arial"/>
              </a:rPr>
              <a:t>Source: Slack, N., Brandon-Jones, A. and Johnston, R. (2013) Operations Management, 7th edn. Harlow: Pearson, ch. 8, Figs 8.6–8.7, pp. 242–245</a:t>
            </a:r>
          </a:p>
        </p:txBody>
      </p:sp>
      <p:sp>
        <p:nvSpPr>
          <p:cNvPr id="19" name="Page 19"/>
          <p:cNvSpPr/>
          <p:nvPr/>
        </p:nvSpPr>
        <p:spPr>
          <a:xfrm>
            <a:off x="11274552" y="6492240"/>
            <a:ext cx="731520" cy="274320"/>
          </a:xfrm>
          <a:prstGeom prst="rect">
            <a:avLst/>
          </a:prstGeom>
          <a:noFill/>
          <a:ln>
            <a:noFill/>
          </a:ln>
        </p:spPr>
        <p:txBody>
          <a:bodyPr wrap="square" lIns="73152" tIns="45720" rIns="73152" bIns="45720" rtlCol="0" anchor="ctr">
            <a:normAutofit/>
          </a:bodyPr>
          <a:lstStyle/>
          <a:p>
            <a:pPr marL="0" indent="0" algn="r">
              <a:spcBef>
                <a:spcPts val="0"/>
              </a:spcBef>
              <a:spcAft>
                <a:spcPts val="0"/>
              </a:spcAft>
              <a:buNone/>
            </a:pPr>
            <a:r>
              <a:rPr lang="en-GB" sz="1100" dirty="0">
                <a:solidFill>
                  <a:srgbClr val="1A1A1A"/>
                </a:solidFill>
                <a:latin typeface="Arial"/>
                <a:cs typeface="Arial"/>
              </a:rPr>
              <a:t>63</a:t>
            </a:r>
          </a:p>
        </p:txBody>
      </p:sp>
      <p:sp>
        <p:nvSpPr>
          <p:cNvPr id="950" name="Icon circle 950"/>
          <p:cNvSpPr/>
          <p:nvPr/>
        </p:nvSpPr>
        <p:spPr>
          <a:xfrm>
            <a:off x="457200" y="329184"/>
            <a:ext cx="548640" cy="548640"/>
          </a:xfrm>
          <a:prstGeom prst="ellipse">
            <a:avLst/>
          </a:prstGeom>
          <a:solidFill>
            <a:srgbClr val="5B2C91"/>
          </a:solidFill>
          <a:ln>
            <a:noFill/>
          </a:ln>
        </p:spPr>
        <p:txBody>
          <a:bodyPr/>
          <a:lstStyle/>
          <a:p>
            <a:endParaRPr lang="en-GB"/>
          </a:p>
        </p:txBody>
      </p:sp>
      <p:pic>
        <p:nvPicPr>
          <p:cNvPr id="951" name="Icon FaTools" descr="Tools icon"/>
          <p:cNvPicPr>
            <a:picLocks noChangeAspect="1"/>
          </p:cNvPicPr>
          <p:nvPr/>
        </p:nvPicPr>
        <p:blipFill>
          <a:blip r:embed="rId2"/>
          <a:stretch>
            <a:fillRect/>
          </a:stretch>
        </p:blipFill>
        <p:spPr>
          <a:xfrm>
            <a:off x="577901" y="449885"/>
            <a:ext cx="307238" cy="3072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19277</TotalTime>
  <Words>8255</Words>
  <Application>Microsoft Office PowerPoint</Application>
  <PresentationFormat>Widescreen</PresentationFormat>
  <Paragraphs>1111</Paragraphs>
  <Slides>45</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Calibri Light</vt:lpstr>
      <vt:lpstr>Courier New</vt:lpstr>
      <vt:lpstr>Source Sans Pro</vt:lpstr>
      <vt:lpstr>Source Serif Pro</vt:lpstr>
      <vt:lpstr>Office Theme</vt:lpstr>
      <vt:lpstr>PowerPoint Presentation</vt:lpstr>
      <vt:lpstr>PowerPoint Presentation</vt:lpstr>
      <vt:lpstr>PowerPoint Presentation</vt:lpstr>
      <vt:lpstr>Learning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Emilia Vann Yaroson</cp:lastModifiedBy>
  <cp:revision>11</cp:revision>
  <dcterms:created xsi:type="dcterms:W3CDTF">2026-08-26T00:06:27Z</dcterms:created>
  <dcterms:modified xsi:type="dcterms:W3CDTF">2026-10-20T17:24:27Z</dcterms:modified>
</cp:coreProperties>
</file>