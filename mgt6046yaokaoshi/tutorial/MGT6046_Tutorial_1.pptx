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5" r:id="rId3"/>
    <p:sldId id="276" r:id="rId4"/>
    <p:sldId id="296" r:id="rId5"/>
    <p:sldId id="297" r:id="rId6"/>
    <p:sldId id="294" r:id="rId7"/>
    <p:sldId id="278" r:id="rId8"/>
    <p:sldId id="299" r:id="rId9"/>
    <p:sldId id="300" r:id="rId10"/>
    <p:sldId id="301" r:id="rId11"/>
    <p:sldId id="292" r:id="rId12"/>
    <p:sldId id="293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747775"/>
          </p15:clr>
        </p15:guide>
        <p15:guide id="4" orient="horz" pos="30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  <p:guide orient="horz" pos="432"/>
        <p:guide orient="horz" pos="30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>
  <p:cSld name="CUSTOM_2_1">
    <p:bg>
      <p:bgPr>
        <a:solidFill>
          <a:srgbClr val="F3F3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98500" y="251150"/>
            <a:ext cx="83922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urce Serif Pro"/>
              <a:buNone/>
              <a:defRPr sz="54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25925" y="2117000"/>
            <a:ext cx="8364600" cy="11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12;p2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2529" y="4309700"/>
            <a:ext cx="1813500" cy="5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885" y="4349059"/>
            <a:ext cx="1495202" cy="5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Title text" type="blank">
  <p:cSld name="BLANK">
    <p:bg>
      <p:bgPr>
        <a:solidFill>
          <a:srgbClr val="F3F3F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82743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Two equal columns">
  <p:cSld name="BLANK_2">
    <p:bg>
      <p:bgPr>
        <a:solidFill>
          <a:srgbClr val="F3F3F3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2743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6611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k">
  <p:cSld name="CUSTOM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book)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145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crown)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5026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rose)">
  <p:cSld name="CUSTOM_3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847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Closing slide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85300" y="1371942"/>
            <a:ext cx="3891251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1707800" y="3134325"/>
            <a:ext cx="5454900" cy="17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E29"/>
              </a:buClr>
              <a:buSzPts val="1800"/>
              <a:buFont typeface="Source Sans Pro"/>
              <a:buChar char="●"/>
              <a:defRPr sz="1800">
                <a:solidFill>
                  <a:srgbClr val="131E2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dirty="0"/>
              <a:t>Operations and Supply Chain Management</a:t>
            </a:r>
          </a:p>
        </p:txBody>
      </p:sp>
      <p:sp>
        <p:nvSpPr>
          <p:cNvPr id="11" name="Subtitle"/>
          <p:cNvSpPr txBox="1"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800" b="1" dirty="0"/>
              <a:t>MGT6046</a:t>
            </a:r>
          </a:p>
          <a:p>
            <a:pPr marL="0" indent="0" algn="ctr">
              <a:buNone/>
            </a:pPr>
            <a:r>
              <a:rPr lang="en-GB" sz="2800" b="1" dirty="0"/>
              <a:t>Tutorial 1: Applying Weeks 2 and 3</a:t>
            </a:r>
          </a:p>
          <a:p>
            <a:pPr marL="0" indent="0" algn="ctr">
              <a:buNone/>
            </a:pPr>
            <a:r>
              <a:rPr lang="en-GB" sz="2800" b="1" i="1" dirty="0"/>
              <a:t>Dr Emilia Vann Yaroson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Tutorial Overview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/>
              <a:t>Attempt every question before the session — tutorials are for checking your approach, not seeing the material for the first time.</a:t>
            </a:r>
          </a:p>
          <a:p>
            <a:pPr lvl="1"/>
            <a:r>
              <a:rPr lang="en-GB" sz="1700" b="1" dirty="0"/>
              <a:t>Tutorial 1 (Weeks 1–2): </a:t>
            </a:r>
            <a:r>
              <a:rPr lang="en-GB" sz="1700" dirty="0"/>
              <a:t>Capacity, utilisation, efficiency, Little’s Law, WIP, throughput/flow time; productivity.</a:t>
            </a:r>
          </a:p>
          <a:p>
            <a:pPr lvl="1"/>
            <a:r>
              <a:rPr lang="en-GB" sz="1700" b="1" dirty="0"/>
              <a:t>Tutorial 2 (applying Week 4): </a:t>
            </a:r>
            <a:r>
              <a:rPr lang="en-GB" sz="1700" dirty="0"/>
              <a:t>Theory of Constraints, bottlenecks, cycle time, idle time, line balancing, balancing loss/revised balancing loss, productivity and throughput efficiency.</a:t>
            </a:r>
          </a:p>
          <a:p>
            <a:pPr lvl="1"/>
            <a:r>
              <a:rPr lang="en-GB" sz="1700" b="1" dirty="0"/>
              <a:t>Bring: </a:t>
            </a:r>
            <a:r>
              <a:rPr lang="en-GB" sz="1700" dirty="0"/>
              <a:t>a notepad and a calculator — you will also need a calculator for the examination.</a:t>
            </a:r>
          </a:p>
          <a:p>
            <a:pPr lvl="1"/>
            <a:r>
              <a:rPr lang="en-GB" sz="1700" b="1" dirty="0"/>
              <a:t>Expect: </a:t>
            </a:r>
            <a:r>
              <a:rPr lang="en-GB" sz="1700" dirty="0"/>
              <a:t>calculations, interpretation of results, and discussion of the managerial implications — not just the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Q1: Capacity, Utilisation, Efficiency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000" dirty="0"/>
              <a:t>A Starbucks store’s espresso machine has a design capacity of 400 drinks per shift. Planned maintenance accounts for 30 drinks of lost capacity per shift; a machine fault yesterday cost a further 25 drinks.</a:t>
            </a:r>
          </a:p>
          <a:p>
            <a:pPr lvl="1"/>
            <a:r>
              <a:rPr lang="en-GB" sz="2000" b="1" dirty="0"/>
              <a:t>(a)</a:t>
            </a:r>
            <a:r>
              <a:rPr lang="en-GB" sz="2000" dirty="0"/>
              <a:t> Calculate the effective capacity of the machine.</a:t>
            </a:r>
          </a:p>
          <a:p>
            <a:pPr lvl="1"/>
            <a:r>
              <a:rPr lang="en-GB" sz="2000" b="1" dirty="0"/>
              <a:t>(b)</a:t>
            </a:r>
            <a:r>
              <a:rPr lang="en-GB" sz="2000" dirty="0"/>
              <a:t> Calculate the achieved capacity of the machine.</a:t>
            </a:r>
          </a:p>
          <a:p>
            <a:pPr lvl="1"/>
            <a:r>
              <a:rPr lang="en-GB" sz="2000" b="1" dirty="0"/>
              <a:t>(c)</a:t>
            </a:r>
            <a:r>
              <a:rPr lang="en-GB" sz="2000" dirty="0"/>
              <a:t> Calculate the machine utilisation and efficiency, as percentages.</a:t>
            </a:r>
          </a:p>
          <a:p>
            <a:pPr lvl="1"/>
            <a:r>
              <a:rPr lang="en-GB" sz="2000" b="1" dirty="0"/>
              <a:t>(d)</a:t>
            </a:r>
            <a:r>
              <a:rPr lang="en-GB" sz="2000" dirty="0"/>
              <a:t> Calculate the total downtime as a percentage of design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Q2: Capacity Across Processes</a:t>
            </a:r>
          </a:p>
        </p:txBody>
      </p:sp>
      <p:sp>
        <p:nvSpPr>
          <p:cNvPr id="80" name="Scenario"/>
          <p:cNvSpPr txBox="1"/>
          <p:nvPr/>
        </p:nvSpPr>
        <p:spPr>
          <a:xfrm>
            <a:off x="150966" y="1152525"/>
            <a:ext cx="8842068" cy="450000"/>
          </a:xfrm>
        </p:spPr>
        <p:txBody>
          <a:bodyPr/>
          <a:lstStyle/>
          <a:p>
            <a:pPr>
              <a:buNone/>
            </a:pPr>
            <a:r>
              <a:rPr lang="en-GB" sz="1300" i="1" dirty="0"/>
              <a:t>The design capacity, effective capacity and efficiency of a car licensing operation, per month, are shown below: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15854"/>
              </p:ext>
            </p:extLst>
          </p:nvPr>
        </p:nvGraphicFramePr>
        <p:xfrm>
          <a:off x="150966" y="1650000"/>
          <a:ext cx="8842068" cy="1800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Process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Design capacity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Effective capacity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Efficiency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Document checking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145,000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128,000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0.95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Licence production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1,250,000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900,000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0.15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Distribution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165,000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160,000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0.75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" name="Task"/>
          <p:cNvSpPr txBox="1"/>
          <p:nvPr/>
        </p:nvSpPr>
        <p:spPr>
          <a:xfrm>
            <a:off x="150966" y="3600000"/>
            <a:ext cx="8842068" cy="600000"/>
          </a:xfrm>
        </p:spPr>
        <p:txBody>
          <a:bodyPr/>
          <a:lstStyle/>
          <a:p>
            <a:pPr algn="ctr">
              <a:buNone/>
            </a:pPr>
            <a:r>
              <a:rPr lang="en-GB" sz="1300" i="1" dirty="0"/>
              <a:t>(a) What are the expected output levels for each process? (b) What are the utilisation rates for each process?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Q3: Downtime, Utilisation, Efficiency</a:t>
            </a:r>
          </a:p>
        </p:txBody>
      </p:sp>
      <p:sp>
        <p:nvSpPr>
          <p:cNvPr id="80" name="Scenario"/>
          <p:cNvSpPr txBox="1"/>
          <p:nvPr/>
        </p:nvSpPr>
        <p:spPr>
          <a:xfrm>
            <a:off x="150966" y="1152525"/>
            <a:ext cx="8842068" cy="520000"/>
          </a:xfrm>
        </p:spPr>
        <p:txBody>
          <a:bodyPr/>
          <a:lstStyle/>
          <a:p>
            <a:pPr>
              <a:buNone/>
            </a:pPr>
            <a:r>
              <a:rPr lang="en-GB" sz="1300" i="1" dirty="0"/>
              <a:t>A smartphone assembly plant has a design capacity of 36,000 smartphones per week. The line operates 16 hours per day, 6 days per week. Records for one week show the following lost time: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15854"/>
              </p:ext>
            </p:extLst>
          </p:nvPr>
        </p:nvGraphicFramePr>
        <p:xfrm>
          <a:off x="150966" y="1720000"/>
          <a:ext cx="4200000" cy="2620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Category of lost time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Hours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1. Product changeovers (set-ups)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2. Regular maintenance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3. Quality sampling checks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4. Shift change times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5. Maintenance breakdown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12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6. Quality failure investigation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7. Material stock-outs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8. Labour shortages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Total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60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1" name="Task"/>
          <p:cNvSpPr txBox="1"/>
          <p:nvPr/>
        </p:nvSpPr>
        <p:spPr>
          <a:xfrm>
            <a:off x="4600000" y="1720000"/>
            <a:ext cx="4400000" cy="2700000"/>
          </a:xfrm>
        </p:spPr>
        <p:txBody>
          <a:bodyPr/>
          <a:lstStyle/>
          <a:p>
            <a:pPr>
              <a:spcAft>
                <a:spcPts val="900"/>
              </a:spcAft>
              <a:buNone/>
            </a:pPr>
            <a:r>
              <a:rPr lang="en-GB" sz="1300" b="1" dirty="0"/>
              <a:t>(a) </a:t>
            </a:r>
            <a:r>
              <a:rPr lang="en-GB" sz="1300" dirty="0"/>
              <a:t>What was the actual production this week (i) in hours and (ii) in smartphones?</a:t>
            </a:r>
          </a:p>
          <a:p>
            <a:pPr>
              <a:spcAft>
                <a:spcPts val="900"/>
              </a:spcAft>
              <a:buNone/>
            </a:pPr>
            <a:r>
              <a:rPr lang="en-GB" sz="1300" b="1" dirty="0"/>
              <a:t>(b) </a:t>
            </a:r>
            <a:r>
              <a:rPr lang="en-GB" sz="1300" dirty="0"/>
              <a:t>Assuming categories 1 to 4 are planned downtime, what is the effective capacity?</a:t>
            </a:r>
          </a:p>
          <a:p>
            <a:pPr>
              <a:spcAft>
                <a:spcPts val="900"/>
              </a:spcAft>
              <a:buNone/>
            </a:pPr>
            <a:r>
              <a:rPr lang="en-GB" sz="1300" b="1" dirty="0"/>
              <a:t>(c) </a:t>
            </a:r>
            <a:r>
              <a:rPr lang="en-GB" sz="1300" dirty="0"/>
              <a:t>What is the utilisation of the plant?</a:t>
            </a:r>
          </a:p>
          <a:p>
            <a:pPr>
              <a:spcAft>
                <a:spcPts val="900"/>
              </a:spcAft>
              <a:buNone/>
            </a:pPr>
            <a:r>
              <a:rPr lang="en-GB" sz="1300" b="1" dirty="0"/>
              <a:t>(d) </a:t>
            </a:r>
            <a:r>
              <a:rPr lang="en-GB" sz="1300" dirty="0"/>
              <a:t>What is the efficiency of the plant?</a:t>
            </a:r>
          </a:p>
          <a:p>
            <a:pPr>
              <a:spcAft>
                <a:spcPts val="900"/>
              </a:spcAft>
              <a:buNone/>
            </a:pPr>
            <a:r>
              <a:rPr lang="en-GB" sz="1300" b="1" dirty="0"/>
              <a:t>(e) </a:t>
            </a:r>
            <a:r>
              <a:rPr lang="en-GB" sz="1300" dirty="0"/>
              <a:t>If the plant reduces every category of lost time by three hours, recalculate (a) to (d).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Q4: Utilisation and Efficiency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1800" dirty="0"/>
              <a:t>Two quick checks:</a:t>
            </a:r>
          </a:p>
          <a:p>
            <a:pPr lvl="1">
              <a:spcBef>
                <a:spcPts val="900"/>
              </a:spcBef>
            </a:pPr>
            <a:r>
              <a:rPr lang="en-GB" sz="1800" b="1" dirty="0"/>
              <a:t>(a)</a:t>
            </a:r>
            <a:r>
              <a:rPr lang="en-GB" sz="1800" dirty="0"/>
              <a:t> An operation was designed to process 65,000 custom orders per annum. Because of labour shortages and input errors, it is limited to 52,000 orders per annum. What is the utilisation?</a:t>
            </a:r>
          </a:p>
          <a:p>
            <a:pPr lvl="1">
              <a:spcBef>
                <a:spcPts val="900"/>
              </a:spcBef>
            </a:pPr>
            <a:r>
              <a:rPr lang="en-GB" sz="1800" b="1" dirty="0"/>
              <a:t>(b)</a:t>
            </a:r>
            <a:r>
              <a:rPr lang="en-GB" sz="1800" dirty="0"/>
              <a:t> A school canteen has a design capacity of 2,750 meals per week, an effective capacity of 2,460 meals per week, and an efficiency of 82%. How many meals are delivered each week? (Hint: think about the efficiency formula.)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Q5: Little’s Law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en-GB" dirty="0"/>
              <a:t>A university library help desk serves 24 students per hour on average. Flow time (full resolution) is 15 minutes per enquiry; the actual staff work content is only 6 minutes.</a:t>
            </a:r>
          </a:p>
          <a:p>
            <a:pPr lvl="1"/>
            <a:r>
              <a:rPr lang="en-GB" sz="1800" b="1" dirty="0"/>
              <a:t>(a)</a:t>
            </a:r>
            <a:r>
              <a:rPr lang="en-GB" sz="1800" dirty="0"/>
              <a:t> Using Little’s Law, calculate the average number of students in the help-desk area at any one time.</a:t>
            </a:r>
          </a:p>
          <a:p>
            <a:pPr lvl="1"/>
            <a:r>
              <a:rPr lang="en-GB" sz="1800" b="1" dirty="0"/>
              <a:t>(b)</a:t>
            </a:r>
            <a:r>
              <a:rPr lang="en-GB" sz="1800" dirty="0"/>
              <a:t> If the desk is open 4 hours today, how many students will be served in total?</a:t>
            </a:r>
          </a:p>
          <a:p>
            <a:pPr lvl="1"/>
            <a:r>
              <a:rPr lang="en-GB" sz="1800" b="1" dirty="0"/>
              <a:t>(c)</a:t>
            </a:r>
            <a:r>
              <a:rPr lang="en-GB" sz="1800" dirty="0"/>
              <a:t> Using cycle time and work content, estimate how many staff are needed.</a:t>
            </a:r>
          </a:p>
          <a:p>
            <a:pPr lvl="1"/>
            <a:r>
              <a:rPr lang="en-GB" sz="1800" b="1" dirty="0"/>
              <a:t>(d)</a:t>
            </a:r>
            <a:r>
              <a:rPr lang="en-GB" sz="1800" dirty="0"/>
              <a:t> If flow time were reduced to 10 minutes (work content unchanged), recalculate the WIP.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Q6: Little’s Law Practice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1350" dirty="0"/>
              <a:t>Use Little’s Law (WIP = R × T) to answer each part. Watch your units.</a:t>
            </a:r>
          </a:p>
          <a:p>
            <a:pPr lvl="1">
              <a:spcBef>
                <a:spcPts val="500"/>
              </a:spcBef>
            </a:pPr>
            <a:r>
              <a:rPr lang="en-GB" sz="1350" b="1" dirty="0"/>
              <a:t>(i)</a:t>
            </a:r>
            <a:r>
              <a:rPr lang="en-GB" sz="1350" dirty="0"/>
              <a:t> A sandwich shop serves an average of 60 customers per hour, and on average it takes 7 minutes (cycle time) for each person to be served. Calculate the average number of people in the shop.</a:t>
            </a:r>
          </a:p>
          <a:p>
            <a:pPr lvl="1">
              <a:spcBef>
                <a:spcPts val="500"/>
              </a:spcBef>
            </a:pPr>
            <a:r>
              <a:rPr lang="en-GB" sz="1350" b="1" dirty="0"/>
              <a:t>(ii)</a:t>
            </a:r>
            <a:r>
              <a:rPr lang="en-GB" sz="1350" dirty="0"/>
              <a:t> A car insurance claims department takes an average of 14 days (0.5 months) (cycle time) to process a claim. 450 claims are in various stages of processing at any one time. Calculate the throughput of the department.</a:t>
            </a:r>
          </a:p>
          <a:p>
            <a:pPr lvl="1">
              <a:spcBef>
                <a:spcPts val="500"/>
              </a:spcBef>
            </a:pPr>
            <a:r>
              <a:rPr lang="en-GB" sz="1350" b="1" dirty="0"/>
              <a:t>(iii)</a:t>
            </a:r>
            <a:r>
              <a:rPr lang="en-GB" sz="1350" dirty="0"/>
              <a:t> A pizza restaurant makes 600 pizzas per week, each using 0.5 kg of dough, and typically holds 70 kg of dough in stock. Calculate the average flow time (cycle time).</a:t>
            </a:r>
          </a:p>
          <a:p>
            <a:pPr lvl="1">
              <a:spcBef>
                <a:spcPts val="500"/>
              </a:spcBef>
            </a:pPr>
            <a:r>
              <a:rPr lang="en-GB" sz="1350" b="1" dirty="0"/>
              <a:t>(iv)</a:t>
            </a:r>
            <a:r>
              <a:rPr lang="en-GB" sz="1350" dirty="0"/>
              <a:t> A theatre play has a 20-minute interval, in which 86 women need to use the toilet. On average, each spends 3 minutes (cycle time) in a cubicle, and there are 10 cubicles. Does the theatre have enough toilets? (This one is difficult!)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Q7: Labour Productivity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sz="1600" dirty="0"/>
              <a:t>Quintana employees work a total of 550 hours each week producing 8,750 scarves. In an average week, 350 scarves are flawed and sold as seconds for £5, while the remaining 8,400 retail for £25.</a:t>
            </a:r>
          </a:p>
          <a:p>
            <a:pPr lvl="1"/>
            <a:r>
              <a:rPr lang="en-GB" sz="1600" b="1" dirty="0"/>
              <a:t>Hours worked:</a:t>
            </a:r>
            <a:r>
              <a:rPr lang="en-GB" sz="1600" dirty="0"/>
              <a:t> 550 hours per week</a:t>
            </a:r>
          </a:p>
          <a:p>
            <a:pPr lvl="1"/>
            <a:r>
              <a:rPr lang="en-GB" sz="1600" b="1" dirty="0"/>
              <a:t>Scarves produced (achieved capacity):</a:t>
            </a:r>
            <a:r>
              <a:rPr lang="en-GB" sz="1600" dirty="0"/>
              <a:t> 8,750 scarves</a:t>
            </a:r>
          </a:p>
          <a:p>
            <a:pPr lvl="1"/>
            <a:r>
              <a:rPr lang="en-GB" sz="1600" b="1" dirty="0"/>
              <a:t>Perfect scarves:</a:t>
            </a:r>
            <a:r>
              <a:rPr lang="en-GB" sz="1600" dirty="0"/>
              <a:t> 8,400 sold for £25.00 each</a:t>
            </a:r>
          </a:p>
          <a:p>
            <a:pPr lvl="1"/>
            <a:r>
              <a:rPr lang="en-GB" sz="1600" b="1" dirty="0"/>
              <a:t>Flawed scarves:</a:t>
            </a:r>
            <a:r>
              <a:rPr lang="en-GB" sz="1600" dirty="0"/>
              <a:t> 350 sold for £5.00 each</a:t>
            </a:r>
          </a:p>
          <a:p>
            <a:pPr marL="596900" lvl="1" indent="0">
              <a:buNone/>
            </a:pPr>
            <a:endParaRPr lang="en-GB" sz="1600" b="1" dirty="0"/>
          </a:p>
          <a:p>
            <a:pPr marL="596900" lvl="1" indent="0">
              <a:buNone/>
            </a:pPr>
            <a:endParaRPr lang="en-GB" sz="1600" b="1" dirty="0"/>
          </a:p>
          <a:p>
            <a:pPr marL="596900" lvl="1" indent="0">
              <a:buNone/>
            </a:pPr>
            <a:endParaRPr lang="en-GB" sz="1600" b="1" dirty="0"/>
          </a:p>
          <a:p>
            <a:pPr marL="139700" indent="0">
              <a:buNone/>
            </a:pPr>
            <a:r>
              <a:rPr lang="en-GB" sz="2000" b="1" dirty="0"/>
              <a:t>Question:</a:t>
            </a:r>
            <a:r>
              <a:rPr lang="en-GB" sz="2000" dirty="0"/>
              <a:t> What is labour productivity per hour in terms of (a) scarves produced and (b) sales value?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Q8: Comparing Two Systems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1500" dirty="0"/>
              <a:t>Equinox Inc.’s accounts department has 5 employees, each working 7 hours per day, with total overheads of £300 and total wages of £350 per day. It processes 450 invoices a day. After investing in an online e-invoicing system, only 2 employees are needed (still 7 hours per day each), with total wages of £175 per day, and it still processes 450 invoices a day. Overheads have risen to £500 per day to cover the investment.</a:t>
            </a:r>
          </a:p>
          <a:p>
            <a:pPr lvl="1"/>
            <a:r>
              <a:rPr lang="en-GB" sz="1500" b="1" dirty="0"/>
              <a:t>(a)</a:t>
            </a:r>
            <a:r>
              <a:rPr lang="en-GB" sz="1500" dirty="0"/>
              <a:t> What is the labour productivity (invoices per labour hour) of the old and new systems?</a:t>
            </a:r>
          </a:p>
          <a:p>
            <a:pPr lvl="1"/>
            <a:r>
              <a:rPr lang="en-GB" sz="1500" b="1" dirty="0"/>
              <a:t>(b)</a:t>
            </a:r>
            <a:r>
              <a:rPr lang="en-GB" sz="1500" dirty="0"/>
              <a:t> What is the percentage change in labour productivity?</a:t>
            </a:r>
          </a:p>
          <a:p>
            <a:pPr lvl="1"/>
            <a:r>
              <a:rPr lang="en-GB" sz="1500" b="1" dirty="0"/>
              <a:t>(c)</a:t>
            </a:r>
            <a:r>
              <a:rPr lang="en-GB" sz="1500" dirty="0"/>
              <a:t> What is the multifactor productivity (invoices per £) of the old and new systems?</a:t>
            </a:r>
          </a:p>
          <a:p>
            <a:pPr lvl="1"/>
            <a:r>
              <a:rPr lang="en-GB" sz="1500" b="1" dirty="0"/>
              <a:t>(d)</a:t>
            </a:r>
            <a:r>
              <a:rPr lang="en-GB" sz="1500" dirty="0"/>
              <a:t> What is the percentage change in multifactor productivity?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Key Formulae Summary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/>
              <a:t>Keep these close for the exam — they cover both tutorials:</a:t>
            </a:r>
          </a:p>
          <a:p>
            <a:pPr lvl="1"/>
            <a:r>
              <a:rPr lang="en-GB" sz="1600" b="1" dirty="0"/>
              <a:t>Capacity: </a:t>
            </a:r>
            <a:r>
              <a:rPr lang="en-GB" sz="1600" dirty="0"/>
              <a:t>Effective = Design − Planned downtime; Achieved = Effective − Avoidable downtime; Utilisation = Achieved/Design; Efficiency = Achieved/Effective.</a:t>
            </a:r>
          </a:p>
          <a:p>
            <a:pPr lvl="1"/>
            <a:r>
              <a:rPr lang="en-GB" sz="1600" b="1" dirty="0"/>
              <a:t>Little’s Law: </a:t>
            </a:r>
            <a:r>
              <a:rPr lang="en-GB" sz="1600" dirty="0"/>
              <a:t>WIP = Throughput (R) × Flow time (T); Servers required = Work content / Cycle time.</a:t>
            </a:r>
          </a:p>
          <a:p>
            <a:pPr lvl="1"/>
            <a:r>
              <a:rPr lang="en-GB" sz="1600" b="1" dirty="0"/>
              <a:t>Productivity: </a:t>
            </a:r>
            <a:r>
              <a:rPr lang="en-GB" sz="1600" dirty="0"/>
              <a:t>Single-factor = Output / One input; Multifactor = Output / All inputs.</a:t>
            </a:r>
          </a:p>
          <a:p>
            <a:pPr lvl="1"/>
            <a:r>
              <a:rPr lang="en-GB" sz="1600" b="1" dirty="0"/>
              <a:t>Line balancing: </a:t>
            </a:r>
            <a:r>
              <a:rPr lang="en-GB" sz="1600" dirty="0"/>
              <a:t>Cycle time = bottleneck stage time; Idle time = Cycle time − stage time; Balancing Loss = Total idle time / (stages × Cycle time).</a:t>
            </a:r>
          </a:p>
          <a:p>
            <a:pPr lvl="1"/>
            <a:r>
              <a:rPr lang="en-GB" sz="1600" b="1" dirty="0"/>
              <a:t>Throughput: </a:t>
            </a:r>
            <a:r>
              <a:rPr lang="en-GB" sz="1600" dirty="0"/>
              <a:t>Throughput per hour = 60 / Cycle time (minutes).</a:t>
            </a:r>
          </a:p>
          <a:p>
            <a:pPr lvl="1"/>
            <a:r>
              <a:rPr lang="en-GB" sz="1600" b="1" dirty="0"/>
              <a:t>Payback period: </a:t>
            </a:r>
            <a:r>
              <a:rPr lang="en-GB" sz="1600" dirty="0"/>
              <a:t>Investment cost / Additional weekly (or annual) profit.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>
                <a:solidFill>
                  <a:schemeClr val="dk2"/>
                </a:solidFill>
              </a:rPr>
              <a:t>Thank You</a:t>
            </a:r>
          </a:p>
          <a:p>
            <a:pPr marL="0" indent="0" algn="ctr">
              <a:buNone/>
            </a:pPr>
            <a:r>
              <a:rPr lang="en-GB" sz="16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31E29"/>
      </a:dk1>
      <a:lt1>
        <a:srgbClr val="FFFFFF"/>
      </a:lt1>
      <a:dk2>
        <a:srgbClr val="440099"/>
      </a:dk2>
      <a:lt2>
        <a:srgbClr val="F3F3F3"/>
      </a:lt2>
      <a:accent1>
        <a:srgbClr val="005A8F"/>
      </a:accent1>
      <a:accent2>
        <a:srgbClr val="FF6371"/>
      </a:accent2>
      <a:accent3>
        <a:srgbClr val="C2E9F1"/>
      </a:accent3>
      <a:accent4>
        <a:srgbClr val="9ADBE8"/>
      </a:accent4>
      <a:accent5>
        <a:srgbClr val="981F92"/>
      </a:accent5>
      <a:accent6>
        <a:srgbClr val="663DB3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3586</TotalTime>
  <Words>1312</Words>
  <Application>Microsoft Office PowerPoint</Application>
  <PresentationFormat>On-screen Show (16:9)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Source Sans Pro</vt:lpstr>
      <vt:lpstr>Source Sans Pro SemiBold</vt:lpstr>
      <vt:lpstr>Source Serif Pro</vt:lpstr>
      <vt:lpstr>Simple Light</vt:lpstr>
      <vt:lpstr>Operations and Supply Chain Management</vt:lpstr>
      <vt:lpstr>Tutorial Overview</vt:lpstr>
      <vt:lpstr>Q1: Capacity, Utilisation, Efficiency</vt:lpstr>
      <vt:lpstr>Q2: Capacity Across Processes</vt:lpstr>
      <vt:lpstr>Q3: Downtime, Utilisation, Efficiency</vt:lpstr>
      <vt:lpstr>Q4: Utilisation and Efficiency</vt:lpstr>
      <vt:lpstr>Q5: Little’s Law</vt:lpstr>
      <vt:lpstr>Q6: Little’s Law Practice</vt:lpstr>
      <vt:lpstr>Q7: Labour Productivity</vt:lpstr>
      <vt:lpstr>Q8: Comparing Two Systems</vt:lpstr>
      <vt:lpstr>Key Formulae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Emilia Vann Yaroson</dc:creator>
  <cp:lastModifiedBy>Emilia Vann Yaroson</cp:lastModifiedBy>
  <cp:revision>13</cp:revision>
  <dcterms:modified xsi:type="dcterms:W3CDTF">2026-10-07T16:26:14Z</dcterms:modified>
</cp:coreProperties>
</file>