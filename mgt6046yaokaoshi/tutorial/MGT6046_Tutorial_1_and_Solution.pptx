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75" r:id="rId3"/>
    <p:sldId id="324" r:id="rId4"/>
    <p:sldId id="312" r:id="rId5"/>
    <p:sldId id="311" r:id="rId6"/>
    <p:sldId id="303" r:id="rId7"/>
    <p:sldId id="323" r:id="rId8"/>
    <p:sldId id="304" r:id="rId9"/>
    <p:sldId id="322" r:id="rId10"/>
    <p:sldId id="313" r:id="rId11"/>
    <p:sldId id="305" r:id="rId12"/>
    <p:sldId id="314" r:id="rId13"/>
    <p:sldId id="315" r:id="rId14"/>
    <p:sldId id="321" r:id="rId15"/>
    <p:sldId id="306" r:id="rId16"/>
    <p:sldId id="320" r:id="rId17"/>
    <p:sldId id="316" r:id="rId18"/>
    <p:sldId id="307" r:id="rId19"/>
    <p:sldId id="319" r:id="rId20"/>
    <p:sldId id="308" r:id="rId21"/>
    <p:sldId id="317" r:id="rId22"/>
    <p:sldId id="309" r:id="rId23"/>
    <p:sldId id="318" r:id="rId24"/>
    <p:sldId id="325" r:id="rId25"/>
    <p:sldId id="326" r:id="rId26"/>
    <p:sldId id="292" r:id="rId27"/>
    <p:sldId id="293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32">
          <p15:clr>
            <a:srgbClr val="747775"/>
          </p15:clr>
        </p15:guide>
        <p15:guide id="4" orient="horz" pos="30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  <p:guide orient="horz" pos="432"/>
        <p:guide orient="horz" pos="30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Title slide">
  <p:cSld name="CUSTOM_2_1">
    <p:bg>
      <p:bgPr>
        <a:solidFill>
          <a:srgbClr val="F3F3F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298500" y="251150"/>
            <a:ext cx="83922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Source Serif Pro"/>
              <a:buNone/>
              <a:defRPr sz="54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25925" y="2117000"/>
            <a:ext cx="8364600" cy="11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Google Shape;12;p2" descr="University of Sheffield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2529" y="4309700"/>
            <a:ext cx="1813500" cy="5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885" y="4349059"/>
            <a:ext cx="1495202" cy="55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Title text" type="blank">
  <p:cSld name="BLANK">
    <p:bg>
      <p:bgPr>
        <a:solidFill>
          <a:srgbClr val="F3F3F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16" name="Google Shape;16;p3"/>
          <p:cNvCxnSpPr/>
          <p:nvPr/>
        </p:nvCxnSpPr>
        <p:spPr>
          <a:xfrm>
            <a:off x="379526" y="801485"/>
            <a:ext cx="820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7700" y="1073200"/>
            <a:ext cx="82743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Two equal columns">
  <p:cSld name="BLANK_2">
    <p:bg>
      <p:bgPr>
        <a:solidFill>
          <a:srgbClr val="F3F3F3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2743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379526" y="801485"/>
            <a:ext cx="820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7700" y="1073200"/>
            <a:ext cx="39015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661100" y="1073200"/>
            <a:ext cx="39015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Blank">
  <p:cSld name="CUSTOM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book)">
  <p:cSld name="CUSTOM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9145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crown)">
  <p:cSld name="CUSTOM_3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9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5026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rose)">
  <p:cSld name="CUSTOM_3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0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9847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Closing slide">
  <p:cSld name="CUSTOM_4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1" descr="University of Sheffield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85300" y="1371942"/>
            <a:ext cx="3891251" cy="11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1707800" y="3134325"/>
            <a:ext cx="5454900" cy="17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E29"/>
              </a:buClr>
              <a:buSzPts val="1800"/>
              <a:buFont typeface="Source Sans Pro"/>
              <a:buChar char="●"/>
              <a:defRPr sz="1800">
                <a:solidFill>
                  <a:srgbClr val="131E2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800" dirty="0"/>
              <a:t>Operations and Supply Chain Management</a:t>
            </a:r>
          </a:p>
        </p:txBody>
      </p:sp>
      <p:sp>
        <p:nvSpPr>
          <p:cNvPr id="11" name="Subtitle"/>
          <p:cNvSpPr txBox="1"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2800" b="1" dirty="0"/>
              <a:t>MGT6046</a:t>
            </a:r>
          </a:p>
          <a:p>
            <a:pPr marL="0" indent="0" algn="ctr">
              <a:buNone/>
            </a:pPr>
            <a:r>
              <a:rPr lang="en-GB" sz="2800" b="1" dirty="0"/>
              <a:t>Tutorial 1: Applying Weeks 1 and 2</a:t>
            </a:r>
          </a:p>
          <a:p>
            <a:pPr marL="0" indent="0" algn="ctr">
              <a:buNone/>
            </a:pPr>
            <a:r>
              <a:rPr lang="en-GB" sz="2800" b="1" i="1" dirty="0"/>
              <a:t>Dr Sina Rastani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Tutorial Overview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en-GB" dirty="0"/>
              <a:t>Attempt every question before the session — tutorials are for checking your approach, not seeing the material for the first time.</a:t>
            </a:r>
          </a:p>
          <a:p>
            <a:pPr lvl="1" algn="just"/>
            <a:r>
              <a:rPr lang="en-GB" sz="1700" b="1" dirty="0"/>
              <a:t>Tutorial 1 (Weeks 1–2): </a:t>
            </a:r>
            <a:r>
              <a:rPr lang="en-GB" sz="1700" dirty="0"/>
              <a:t>Capacity, utilisation, efficiency, Little’s Law, WIP, throughput/flow time; productivity.</a:t>
            </a:r>
          </a:p>
          <a:p>
            <a:pPr lvl="1" algn="just"/>
            <a:r>
              <a:rPr lang="en-GB" sz="1700" b="1" dirty="0"/>
              <a:t>Tutorial 2 (applying Week 4): </a:t>
            </a:r>
            <a:r>
              <a:rPr lang="en-GB" sz="1700" dirty="0"/>
              <a:t>Theory of Constraints, bottlenecks, cycle time, idle time, line balancing, balancing loss/revised balancing loss, productivity and throughput efficiency.</a:t>
            </a:r>
          </a:p>
          <a:p>
            <a:pPr lvl="1" algn="just"/>
            <a:r>
              <a:rPr lang="en-GB" sz="1700" b="1" dirty="0"/>
              <a:t>Bring: </a:t>
            </a:r>
            <a:r>
              <a:rPr lang="en-GB" sz="1700" dirty="0"/>
              <a:t>a notepad and a calculator — you will also need a calculator for the examination.</a:t>
            </a:r>
          </a:p>
          <a:p>
            <a:pPr lvl="1" algn="just"/>
            <a:r>
              <a:rPr lang="en-GB" sz="1700" b="1" dirty="0"/>
              <a:t>Expect: </a:t>
            </a:r>
            <a:r>
              <a:rPr lang="en-GB" sz="1700" dirty="0"/>
              <a:t>calculations, interpretation of results, and discussion of the managerial implications — not just the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Q1: Capacity, Utilisation, Efficiency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2000" dirty="0"/>
              <a:t>A Starbucks store’s espresso machine has a design capacity of 400 drinks per shift. Planned maintenance accounts for 30 drinks of lost capacity per shift; a machine fault yesterday cost a further 25 drinks.</a:t>
            </a:r>
          </a:p>
          <a:p>
            <a:pPr lvl="1" algn="just"/>
            <a:r>
              <a:rPr lang="en-GB" sz="2000" b="1" dirty="0"/>
              <a:t>(a)</a:t>
            </a:r>
            <a:r>
              <a:rPr lang="en-GB" sz="2000" dirty="0"/>
              <a:t> Calculate the effective capacity of the machine.</a:t>
            </a:r>
          </a:p>
          <a:p>
            <a:pPr lvl="1" algn="just"/>
            <a:r>
              <a:rPr lang="en-GB" sz="2000" b="1" dirty="0"/>
              <a:t>(b)</a:t>
            </a:r>
            <a:r>
              <a:rPr lang="en-GB" sz="2000" dirty="0"/>
              <a:t> Calculate the achieved capacity of the machine.</a:t>
            </a:r>
          </a:p>
          <a:p>
            <a:pPr lvl="1" algn="just"/>
            <a:r>
              <a:rPr lang="en-GB" sz="2000" b="1" dirty="0"/>
              <a:t>(c)</a:t>
            </a:r>
            <a:r>
              <a:rPr lang="en-GB" sz="2000" dirty="0"/>
              <a:t> Calculate the machine utilisation and efficiency, as percentages.</a:t>
            </a:r>
          </a:p>
          <a:p>
            <a:pPr lvl="1" algn="just"/>
            <a:r>
              <a:rPr lang="en-GB" sz="2000" b="1" dirty="0"/>
              <a:t>(d)</a:t>
            </a:r>
            <a:r>
              <a:rPr lang="en-GB" sz="2000" dirty="0"/>
              <a:t> Calculate the total downtime as a percentage of design capacity.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0C19D-93F9-893E-28E5-421CAC4DB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76B8D27C-D817-6D42-A4F7-59BC8CEAF29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Q1: Capacity, Utilisation, Efficiency</a:t>
            </a:r>
          </a:p>
        </p:txBody>
      </p:sp>
      <p:sp>
        <p:nvSpPr>
          <p:cNvPr id="504" name="Scenario">
            <a:extLst>
              <a:ext uri="{FF2B5EF4-FFF2-40B4-BE49-F238E27FC236}">
                <a16:creationId xmlns:a16="http://schemas.microsoft.com/office/drawing/2014/main" id="{9DE13B80-9E3E-3CA8-3BB5-8BA8DFDC3101}"/>
              </a:ext>
            </a:extLst>
          </p:cNvPr>
          <p:cNvSpPr/>
          <p:nvPr/>
        </p:nvSpPr>
        <p:spPr>
          <a:xfrm>
            <a:off x="144000" y="806400"/>
            <a:ext cx="8841600" cy="4337100"/>
          </a:xfrm>
          <a:prstGeom prst="roundRect">
            <a:avLst>
              <a:gd name="adj" fmla="val 12000"/>
            </a:avLst>
          </a:prstGeom>
          <a:solidFill>
            <a:srgbClr val="EDE6F7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en-GB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Planned Downtime or Unavoidable Lost time could be:</a:t>
            </a:r>
            <a:endParaRPr lang="en-GB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57150" indent="115888" algn="just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GB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Regular maintenance, other planned stoppages, and loading.</a:t>
            </a:r>
          </a:p>
          <a:p>
            <a:pPr marL="57150" indent="115888" algn="just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GB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Product changeovers (set-ups)</a:t>
            </a:r>
          </a:p>
          <a:p>
            <a:pPr marL="57150" indent="115888" algn="just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GB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No work scheduled</a:t>
            </a:r>
          </a:p>
          <a:p>
            <a:pPr marL="57150" indent="115888" algn="just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GB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Quality sampling checks</a:t>
            </a:r>
          </a:p>
          <a:p>
            <a:pPr marL="57150" indent="115888" algn="just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GB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Shift change times</a:t>
            </a:r>
          </a:p>
          <a:p>
            <a:pPr marL="0" indent="0" algn="just">
              <a:spcBef>
                <a:spcPts val="1800"/>
              </a:spcBef>
              <a:buNone/>
            </a:pPr>
            <a:r>
              <a:rPr lang="en-GB" b="1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Unplanned Downtime or Avoidable Lost time could be:</a:t>
            </a:r>
            <a:endParaRPr lang="en-GB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indent="115888" algn="just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GB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Breakdown repair and maintenance</a:t>
            </a:r>
          </a:p>
          <a:p>
            <a:pPr indent="115888" algn="just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GB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Quality failure investigation</a:t>
            </a:r>
          </a:p>
          <a:p>
            <a:pPr indent="115888" algn="just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GB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Raw material stock-out</a:t>
            </a:r>
          </a:p>
          <a:p>
            <a:pPr indent="115888" algn="just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GB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Waiting for partially processed products from another machine</a:t>
            </a:r>
          </a:p>
          <a:p>
            <a:pPr indent="115888" algn="just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GB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Labour shortages (e.g., absenteeism, sickness, other health-related issues such as doctor visits; dental appointments etc.)</a:t>
            </a:r>
          </a:p>
        </p:txBody>
      </p:sp>
    </p:spTree>
    <p:extLst>
      <p:ext uri="{BB962C8B-B14F-4D97-AF65-F5344CB8AC3E}">
        <p14:creationId xmlns:p14="http://schemas.microsoft.com/office/powerpoint/2010/main" val="338702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334D-6257-F3BA-6CCA-29702FB7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233DF407-9D11-775E-C366-CDA81569C0E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Q1: Capacity, Utilisation, Efficiency</a:t>
            </a:r>
          </a:p>
        </p:txBody>
      </p:sp>
      <p:sp>
        <p:nvSpPr>
          <p:cNvPr id="504" name="Scenario">
            <a:extLst>
              <a:ext uri="{FF2B5EF4-FFF2-40B4-BE49-F238E27FC236}">
                <a16:creationId xmlns:a16="http://schemas.microsoft.com/office/drawing/2014/main" id="{1A8D63BF-C30D-6589-3E05-31F8C6D8FC4B}"/>
              </a:ext>
            </a:extLst>
          </p:cNvPr>
          <p:cNvSpPr/>
          <p:nvPr/>
        </p:nvSpPr>
        <p:spPr>
          <a:xfrm>
            <a:off x="165600" y="806400"/>
            <a:ext cx="8906400" cy="4337100"/>
          </a:xfrm>
          <a:prstGeom prst="roundRect">
            <a:avLst>
              <a:gd name="adj" fmla="val 12000"/>
            </a:avLst>
          </a:prstGeom>
          <a:solidFill>
            <a:srgbClr val="EDE6F7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Design Capacity is the theoretical maximum capacity of an operation.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Effective capacity = Design capacity - Planned downtime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Achieved capacity = Effective capacity - Avoidable downtime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Total Downtime (Lost Time) = Planned downtime + Avoidable downtime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Achieved capacity = Design Capacity - Total Downtime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Achieved capacity = Design capacity - (Planned downtime + Avoidable downtime)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Machine utilisation = </a:t>
            </a:r>
            <a:r>
              <a:rPr lang="en-GB" sz="1800" u="sng" dirty="0">
                <a:latin typeface="Arial" panose="020B0604020202020204" pitchFamily="34" charset="0"/>
                <a:cs typeface="Arial" panose="020B0604020202020204" pitchFamily="34" charset="0"/>
              </a:rPr>
              <a:t>Achieved capacity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	                    Design capacity</a:t>
            </a:r>
            <a:endParaRPr lang="en-GB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Efficiency = </a:t>
            </a:r>
            <a:r>
              <a:rPr lang="en-GB" sz="1800" u="sng" dirty="0">
                <a:latin typeface="Arial" panose="020B0604020202020204" pitchFamily="34" charset="0"/>
                <a:cs typeface="Arial" panose="020B0604020202020204" pitchFamily="34" charset="0"/>
              </a:rPr>
              <a:t>Achieved capacity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Effective capacity</a:t>
            </a:r>
          </a:p>
        </p:txBody>
      </p:sp>
    </p:spTree>
    <p:extLst>
      <p:ext uri="{BB962C8B-B14F-4D97-AF65-F5344CB8AC3E}">
        <p14:creationId xmlns:p14="http://schemas.microsoft.com/office/powerpoint/2010/main" val="4000828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Q1 Solution: Capacity Measures</a:t>
            </a:r>
          </a:p>
        </p:txBody>
      </p:sp>
      <p:sp>
        <p:nvSpPr>
          <p:cNvPr id="514" name="Chip topic"/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440099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CAPACITY</a:t>
            </a:r>
          </a:p>
        </p:txBody>
      </p:sp>
      <p:sp>
        <p:nvSpPr>
          <p:cNvPr id="515" name="Chip Solution"/>
          <p:cNvSpPr/>
          <p:nvPr/>
        </p:nvSpPr>
        <p:spPr>
          <a:xfrm>
            <a:off x="1691640" y="914400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40099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440099"/>
                </a:solidFill>
              </a:rPr>
              <a:t>Solution</a:t>
            </a:r>
          </a:p>
        </p:txBody>
      </p:sp>
      <p:sp>
        <p:nvSpPr>
          <p:cNvPr id="516" name="Chip Check your answers"/>
          <p:cNvSpPr/>
          <p:nvPr/>
        </p:nvSpPr>
        <p:spPr>
          <a:xfrm>
            <a:off x="2441448" y="914400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40099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440099"/>
                </a:solidFill>
              </a:rPr>
              <a:t>Check your answers</a:t>
            </a:r>
          </a:p>
        </p:txBody>
      </p:sp>
      <p:sp>
        <p:nvSpPr>
          <p:cNvPr id="517" name="Scenario"/>
          <p:cNvSpPr/>
          <p:nvPr/>
        </p:nvSpPr>
        <p:spPr>
          <a:xfrm>
            <a:off x="274320" y="1298448"/>
            <a:ext cx="8595360" cy="411480"/>
          </a:xfrm>
          <a:prstGeom prst="roundRect">
            <a:avLst>
              <a:gd name="adj" fmla="val 12000"/>
            </a:avLst>
          </a:prstGeom>
          <a:solidFill>
            <a:srgbClr val="EDE6F7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dirty="0">
                <a:solidFill>
                  <a:srgbClr val="440099"/>
                </a:solidFill>
              </a:rPr>
              <a:t>Given: </a:t>
            </a:r>
            <a:r>
              <a:rPr lang="en-GB" sz="1300" b="0" i="0" dirty="0">
                <a:solidFill>
                  <a:srgbClr val="1A1A1A"/>
                </a:solidFill>
              </a:rPr>
              <a:t>design 400 drinks  •  planned loss 30  •  avoidable loss 25</a:t>
            </a:r>
          </a:p>
        </p:txBody>
      </p:sp>
      <p:sp>
        <p:nvSpPr>
          <p:cNvPr id="518" name="Lab a"/>
          <p:cNvSpPr/>
          <p:nvPr/>
        </p:nvSpPr>
        <p:spPr>
          <a:xfrm>
            <a:off x="274320" y="1883664"/>
            <a:ext cx="347472" cy="347472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19" name="Work a"/>
          <p:cNvSpPr/>
          <p:nvPr/>
        </p:nvSpPr>
        <p:spPr>
          <a:xfrm>
            <a:off x="713232" y="182880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Effective capacity = 400 − 30</a:t>
            </a:r>
          </a:p>
        </p:txBody>
      </p:sp>
      <p:sp>
        <p:nvSpPr>
          <p:cNvPr id="520" name="Ans a"/>
          <p:cNvSpPr/>
          <p:nvPr/>
        </p:nvSpPr>
        <p:spPr>
          <a:xfrm>
            <a:off x="6858000" y="18288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440099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370 drinks</a:t>
            </a:r>
          </a:p>
        </p:txBody>
      </p:sp>
      <p:sp>
        <p:nvSpPr>
          <p:cNvPr id="521" name="Lab b"/>
          <p:cNvSpPr/>
          <p:nvPr/>
        </p:nvSpPr>
        <p:spPr>
          <a:xfrm>
            <a:off x="274320" y="2432304"/>
            <a:ext cx="347472" cy="347472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522" name="Work b"/>
          <p:cNvSpPr/>
          <p:nvPr/>
        </p:nvSpPr>
        <p:spPr>
          <a:xfrm>
            <a:off x="713232" y="237744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Achieved capacity = 370 − 25</a:t>
            </a:r>
          </a:p>
        </p:txBody>
      </p:sp>
      <p:sp>
        <p:nvSpPr>
          <p:cNvPr id="523" name="Ans b"/>
          <p:cNvSpPr/>
          <p:nvPr/>
        </p:nvSpPr>
        <p:spPr>
          <a:xfrm>
            <a:off x="6858000" y="23774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440099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345 drinks</a:t>
            </a:r>
          </a:p>
        </p:txBody>
      </p:sp>
      <p:sp>
        <p:nvSpPr>
          <p:cNvPr id="524" name="Lab c"/>
          <p:cNvSpPr/>
          <p:nvPr/>
        </p:nvSpPr>
        <p:spPr>
          <a:xfrm>
            <a:off x="274320" y="2980944"/>
            <a:ext cx="347472" cy="347472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25" name="Work c"/>
          <p:cNvSpPr/>
          <p:nvPr/>
        </p:nvSpPr>
        <p:spPr>
          <a:xfrm>
            <a:off x="713232" y="292608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r>
              <a:rPr lang="en-GB" sz="1400" b="0" i="0" dirty="0">
                <a:solidFill>
                  <a:srgbClr val="1A1A1A"/>
                </a:solidFill>
              </a:rPr>
              <a:t>Utilisation = </a:t>
            </a:r>
            <a:r>
              <a:rPr lang="en-GB" dirty="0">
                <a:solidFill>
                  <a:srgbClr val="1A1A1A"/>
                </a:solidFill>
              </a:rPr>
              <a:t>Achieved capacity ÷ Design capacity =  </a:t>
            </a:r>
            <a:r>
              <a:rPr lang="en-GB" sz="1400" b="0" i="0" dirty="0">
                <a:solidFill>
                  <a:srgbClr val="1A1A1A"/>
                </a:solidFill>
              </a:rPr>
              <a:t>345 ÷ 400</a:t>
            </a:r>
          </a:p>
        </p:txBody>
      </p:sp>
      <p:sp>
        <p:nvSpPr>
          <p:cNvPr id="526" name="Ans c"/>
          <p:cNvSpPr/>
          <p:nvPr/>
        </p:nvSpPr>
        <p:spPr>
          <a:xfrm>
            <a:off x="6858000" y="29260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440099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86.3%</a:t>
            </a:r>
          </a:p>
        </p:txBody>
      </p:sp>
      <p:sp>
        <p:nvSpPr>
          <p:cNvPr id="527" name="Lab c"/>
          <p:cNvSpPr/>
          <p:nvPr/>
        </p:nvSpPr>
        <p:spPr>
          <a:xfrm>
            <a:off x="274320" y="3529584"/>
            <a:ext cx="347472" cy="347472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28" name="Work c"/>
          <p:cNvSpPr/>
          <p:nvPr/>
        </p:nvSpPr>
        <p:spPr>
          <a:xfrm>
            <a:off x="713232" y="347472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r>
              <a:rPr lang="en-GB" sz="1400" b="0" i="0" dirty="0">
                <a:solidFill>
                  <a:srgbClr val="1A1A1A"/>
                </a:solidFill>
              </a:rPr>
              <a:t>Efficiency = </a:t>
            </a:r>
            <a:r>
              <a:rPr lang="en-GB" dirty="0">
                <a:solidFill>
                  <a:srgbClr val="1A1A1A"/>
                </a:solidFill>
              </a:rPr>
              <a:t>Achieved capacity ÷ Effective capacity = </a:t>
            </a:r>
            <a:r>
              <a:rPr lang="en-GB" sz="1400" b="0" i="0" dirty="0">
                <a:solidFill>
                  <a:srgbClr val="1A1A1A"/>
                </a:solidFill>
              </a:rPr>
              <a:t>345 ÷ 370</a:t>
            </a:r>
          </a:p>
        </p:txBody>
      </p:sp>
      <p:sp>
        <p:nvSpPr>
          <p:cNvPr id="529" name="Ans c"/>
          <p:cNvSpPr/>
          <p:nvPr/>
        </p:nvSpPr>
        <p:spPr>
          <a:xfrm>
            <a:off x="6858000" y="34747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440099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93.2%</a:t>
            </a:r>
          </a:p>
        </p:txBody>
      </p:sp>
      <p:sp>
        <p:nvSpPr>
          <p:cNvPr id="530" name="Lab d"/>
          <p:cNvSpPr/>
          <p:nvPr/>
        </p:nvSpPr>
        <p:spPr>
          <a:xfrm>
            <a:off x="274320" y="4078224"/>
            <a:ext cx="347472" cy="347472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531" name="Work d"/>
          <p:cNvSpPr/>
          <p:nvPr/>
        </p:nvSpPr>
        <p:spPr>
          <a:xfrm>
            <a:off x="713232" y="402336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Total downtime = (30 + 25) ÷ 400</a:t>
            </a:r>
          </a:p>
        </p:txBody>
      </p:sp>
      <p:sp>
        <p:nvSpPr>
          <p:cNvPr id="532" name="Ans d"/>
          <p:cNvSpPr/>
          <p:nvPr/>
        </p:nvSpPr>
        <p:spPr>
          <a:xfrm>
            <a:off x="6858000" y="40233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440099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13.75%</a:t>
            </a:r>
          </a:p>
        </p:txBody>
      </p:sp>
      <p:sp>
        <p:nvSpPr>
          <p:cNvPr id="533" name="Insight"/>
          <p:cNvSpPr/>
          <p:nvPr/>
        </p:nvSpPr>
        <p:spPr>
          <a:xfrm>
            <a:off x="274320" y="457200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C2410C"/>
                </a:solidFill>
              </a:rPr>
              <a:t>So what?  </a:t>
            </a:r>
            <a:r>
              <a:rPr lang="en-GB" sz="1200" b="0" i="0" dirty="0">
                <a:solidFill>
                  <a:srgbClr val="1A1A1A"/>
                </a:solidFill>
              </a:rPr>
              <a:t>efficiency is higher than utilisation because it only counts the losses you could have avoided.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50000" y="300000"/>
            <a:ext cx="6582300" cy="850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GB" sz="2000" dirty="0"/>
              <a:t>Q2: Capacity Across Processes</a:t>
            </a:r>
          </a:p>
        </p:txBody>
      </p:sp>
      <p:sp>
        <p:nvSpPr>
          <p:cNvPr id="80" name="Scenario"/>
          <p:cNvSpPr txBox="1"/>
          <p:nvPr/>
        </p:nvSpPr>
        <p:spPr>
          <a:xfrm>
            <a:off x="150966" y="1152525"/>
            <a:ext cx="8842068" cy="450000"/>
          </a:xfrm>
        </p:spPr>
        <p:txBody>
          <a:bodyPr/>
          <a:lstStyle/>
          <a:p>
            <a:pPr>
              <a:buNone/>
            </a:pPr>
            <a:r>
              <a:rPr lang="en-GB" sz="1300" i="1" dirty="0"/>
              <a:t>The design capacity, effective capacity and efficiency of a car licensing operation, per month, are shown below: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150966" y="1650000"/>
          <a:ext cx="8842068" cy="1800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Process</a:t>
                      </a:r>
                      <a:endParaRPr lang="en-GB" sz="16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Design capacity</a:t>
                      </a:r>
                      <a:endParaRPr lang="en-GB" sz="16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Effective capacity</a:t>
                      </a:r>
                      <a:endParaRPr lang="en-GB" sz="16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Efficiency</a:t>
                      </a:r>
                      <a:endParaRPr lang="en-GB" sz="16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Document checking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145,000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128,000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0.95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Licence production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1,250,000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900,000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0.15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Distribution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165,000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160,000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0.75</a:t>
                      </a:r>
                      <a:endParaRPr lang="en-GB" sz="16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" name="Task"/>
          <p:cNvSpPr txBox="1"/>
          <p:nvPr/>
        </p:nvSpPr>
        <p:spPr>
          <a:xfrm>
            <a:off x="150966" y="3600000"/>
            <a:ext cx="8842068" cy="600000"/>
          </a:xfrm>
        </p:spPr>
        <p:txBody>
          <a:bodyPr/>
          <a:lstStyle/>
          <a:p>
            <a:pPr algn="ctr">
              <a:buNone/>
            </a:pPr>
            <a:r>
              <a:rPr lang="en-GB" sz="1300" i="1" dirty="0"/>
              <a:t>(a) What are the expected output levels for each process? (b) What are the utilisation rates for each process?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50000" y="300000"/>
            <a:ext cx="6582300" cy="850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GB" sz="2000" dirty="0"/>
              <a:t>Q2 Solution: Across Processes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615854"/>
              </p:ext>
            </p:extLst>
          </p:nvPr>
        </p:nvGraphicFramePr>
        <p:xfrm>
          <a:off x="274320" y="1965960"/>
          <a:ext cx="8842068" cy="1520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1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1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Process</a:t>
                      </a:r>
                      <a:endParaRPr lang="en-GB" sz="14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4400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(a) Expected output</a:t>
                      </a:r>
                      <a:endParaRPr lang="en-GB" sz="14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4400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(b) Utilisation</a:t>
                      </a:r>
                      <a:endParaRPr lang="en-GB" sz="14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44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Document checking</a:t>
                      </a:r>
                      <a:endParaRPr lang="en-GB" sz="14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0.95 × 128,000 = 121,600</a:t>
                      </a:r>
                      <a:endParaRPr lang="en-GB" sz="14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121,600 ÷ 145,000 = 83.9%</a:t>
                      </a:r>
                      <a:endParaRPr lang="en-GB" sz="14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Licence production</a:t>
                      </a:r>
                      <a:endParaRPr lang="en-GB" sz="14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ED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0.15 × 900,000 = 135,000</a:t>
                      </a:r>
                      <a:endParaRPr lang="en-GB" sz="14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ED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135,000 ÷ 1,250,000 = 10.8%</a:t>
                      </a:r>
                      <a:endParaRPr lang="en-GB" sz="14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ED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Distribution</a:t>
                      </a:r>
                      <a:endParaRPr lang="en-GB" sz="14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0.75 × 160,000 = 120,000</a:t>
                      </a:r>
                      <a:endParaRPr lang="en-GB" sz="14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/>
                        <a:t>120,000 ÷ 165,000 = 72.7%</a:t>
                      </a:r>
                      <a:endParaRPr lang="en-GB" sz="14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3" name="Chip topic"/>
          <p:cNvSpPr/>
          <p:nvPr/>
        </p:nvSpPr>
        <p:spPr>
          <a:xfrm>
            <a:off x="274320" y="1133856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440099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CAPACITY</a:t>
            </a:r>
          </a:p>
        </p:txBody>
      </p:sp>
      <p:sp>
        <p:nvSpPr>
          <p:cNvPr id="544" name="Chip Solution"/>
          <p:cNvSpPr/>
          <p:nvPr/>
        </p:nvSpPr>
        <p:spPr>
          <a:xfrm>
            <a:off x="1691640" y="1133856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40099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440099"/>
                </a:solidFill>
              </a:rPr>
              <a:t>Solution</a:t>
            </a:r>
          </a:p>
        </p:txBody>
      </p:sp>
      <p:sp>
        <p:nvSpPr>
          <p:cNvPr id="545" name="Chip Check your answers"/>
          <p:cNvSpPr/>
          <p:nvPr/>
        </p:nvSpPr>
        <p:spPr>
          <a:xfrm>
            <a:off x="2441448" y="1133856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40099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440099"/>
                </a:solidFill>
              </a:rPr>
              <a:t>Check your answers</a:t>
            </a:r>
          </a:p>
        </p:txBody>
      </p:sp>
      <p:sp>
        <p:nvSpPr>
          <p:cNvPr id="546" name="Scenario"/>
          <p:cNvSpPr/>
          <p:nvPr/>
        </p:nvSpPr>
        <p:spPr>
          <a:xfrm>
            <a:off x="274320" y="1499616"/>
            <a:ext cx="8595360" cy="384048"/>
          </a:xfrm>
          <a:prstGeom prst="roundRect">
            <a:avLst>
              <a:gd name="adj" fmla="val 12000"/>
            </a:avLst>
          </a:prstGeom>
          <a:solidFill>
            <a:srgbClr val="EDE6F7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dirty="0">
                <a:solidFill>
                  <a:srgbClr val="440099"/>
                </a:solidFill>
              </a:rPr>
              <a:t>Expected output</a:t>
            </a:r>
            <a:r>
              <a:rPr lang="en-GB" sz="1300" b="0" i="0" dirty="0">
                <a:solidFill>
                  <a:srgbClr val="1A1A1A"/>
                </a:solidFill>
              </a:rPr>
              <a:t> = efficiency × effective capacity.   </a:t>
            </a:r>
            <a:r>
              <a:rPr lang="en-GB" sz="1300" b="1" i="0" dirty="0">
                <a:solidFill>
                  <a:srgbClr val="440099"/>
                </a:solidFill>
              </a:rPr>
              <a:t>Utilisation</a:t>
            </a:r>
            <a:r>
              <a:rPr lang="en-GB" sz="1300" b="0" i="0" dirty="0">
                <a:solidFill>
                  <a:srgbClr val="1A1A1A"/>
                </a:solidFill>
              </a:rPr>
              <a:t> = expected output ÷ design capacity.</a:t>
            </a:r>
          </a:p>
        </p:txBody>
      </p:sp>
      <p:sp>
        <p:nvSpPr>
          <p:cNvPr id="547" name="Insight"/>
          <p:cNvSpPr/>
          <p:nvPr/>
        </p:nvSpPr>
        <p:spPr>
          <a:xfrm>
            <a:off x="274320" y="3611880"/>
            <a:ext cx="8595360" cy="68580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C2410C"/>
                </a:solidFill>
              </a:rPr>
              <a:t>So what?  </a:t>
            </a:r>
            <a:r>
              <a:rPr lang="en-GB" sz="1200" b="0" i="0" dirty="0">
                <a:solidFill>
                  <a:srgbClr val="1A1A1A"/>
                </a:solidFill>
              </a:rPr>
              <a:t>the operation can only deliver as many licences as its slowest process: distribution, at 120,000 per month. Licence production is only 10.8% utilised, so its huge capacity is largely wasted.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50000" y="300000"/>
            <a:ext cx="6582300" cy="850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GB" sz="2000" dirty="0"/>
              <a:t>Q3: Downtime, Utilisation, Efficiency</a:t>
            </a:r>
          </a:p>
        </p:txBody>
      </p:sp>
      <p:sp>
        <p:nvSpPr>
          <p:cNvPr id="80" name="Scenario"/>
          <p:cNvSpPr txBox="1"/>
          <p:nvPr/>
        </p:nvSpPr>
        <p:spPr>
          <a:xfrm>
            <a:off x="150966" y="1152525"/>
            <a:ext cx="8842068" cy="520000"/>
          </a:xfrm>
        </p:spPr>
        <p:txBody>
          <a:bodyPr/>
          <a:lstStyle/>
          <a:p>
            <a:pPr algn="just">
              <a:buNone/>
            </a:pPr>
            <a:r>
              <a:rPr lang="en-GB" sz="1300" i="1" dirty="0"/>
              <a:t>A smartphone assembly plant has a design capacity of 36,000 smartphones per week. The line operates 16 hours per day, 6 days per week. Records for one week show the following lost time: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150966" y="1720000"/>
          <a:ext cx="4200000" cy="2620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1" dirty="0"/>
                        <a:t>Category of lost time</a:t>
                      </a:r>
                      <a:endParaRPr lang="en-GB" sz="115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1" dirty="0"/>
                        <a:t>Hours</a:t>
                      </a:r>
                      <a:endParaRPr lang="en-GB" sz="115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1. Product changeovers (set-ups)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14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2. Regular maintenance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6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3. Quality sampling checks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7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4. Shift change times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6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5. Maintenance breakdown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12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6. Quality failure investigation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7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7. Material stock-outs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4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8. Labour shortages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0" dirty="0"/>
                        <a:t>4</a:t>
                      </a:r>
                      <a:endParaRPr lang="en-GB" sz="115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1" dirty="0"/>
                        <a:t>Total</a:t>
                      </a:r>
                      <a:endParaRPr lang="en-GB" sz="115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50" b="1" dirty="0"/>
                        <a:t>60</a:t>
                      </a:r>
                      <a:endParaRPr lang="en-GB" sz="115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1" name="Task"/>
          <p:cNvSpPr txBox="1"/>
          <p:nvPr/>
        </p:nvSpPr>
        <p:spPr>
          <a:xfrm>
            <a:off x="4600000" y="1720000"/>
            <a:ext cx="4400000" cy="2700000"/>
          </a:xfrm>
        </p:spPr>
        <p:txBody>
          <a:bodyPr/>
          <a:lstStyle/>
          <a:p>
            <a:pPr algn="just">
              <a:spcAft>
                <a:spcPts val="900"/>
              </a:spcAft>
              <a:buNone/>
            </a:pPr>
            <a:r>
              <a:rPr lang="en-GB" sz="1300" b="1" dirty="0"/>
              <a:t>(a) </a:t>
            </a:r>
            <a:r>
              <a:rPr lang="en-GB" sz="1300" dirty="0"/>
              <a:t>What was the actual production this week (i) in hours and (ii) in smartphones?</a:t>
            </a:r>
          </a:p>
          <a:p>
            <a:pPr algn="just">
              <a:spcAft>
                <a:spcPts val="900"/>
              </a:spcAft>
              <a:buNone/>
            </a:pPr>
            <a:r>
              <a:rPr lang="en-GB" sz="1300" b="1" dirty="0"/>
              <a:t>(b) </a:t>
            </a:r>
            <a:r>
              <a:rPr lang="en-GB" sz="1300" dirty="0"/>
              <a:t>Assuming categories 1 to 4 are planned downtime, what is the effective capacity?</a:t>
            </a:r>
          </a:p>
          <a:p>
            <a:pPr algn="just">
              <a:spcAft>
                <a:spcPts val="900"/>
              </a:spcAft>
              <a:buNone/>
            </a:pPr>
            <a:r>
              <a:rPr lang="en-GB" sz="1300" b="1" dirty="0"/>
              <a:t>(c) </a:t>
            </a:r>
            <a:r>
              <a:rPr lang="en-GB" sz="1300" dirty="0"/>
              <a:t>What is the utilisation of the plant?</a:t>
            </a:r>
          </a:p>
          <a:p>
            <a:pPr algn="just">
              <a:spcAft>
                <a:spcPts val="900"/>
              </a:spcAft>
              <a:buNone/>
            </a:pPr>
            <a:r>
              <a:rPr lang="en-GB" sz="1300" b="1" dirty="0"/>
              <a:t>(d) </a:t>
            </a:r>
            <a:r>
              <a:rPr lang="en-GB" sz="1300" dirty="0"/>
              <a:t>What is the efficiency of the plant?</a:t>
            </a:r>
          </a:p>
          <a:p>
            <a:pPr algn="just">
              <a:spcAft>
                <a:spcPts val="900"/>
              </a:spcAft>
              <a:buNone/>
            </a:pPr>
            <a:r>
              <a:rPr lang="en-GB" sz="1300" b="1" dirty="0"/>
              <a:t>(e) </a:t>
            </a:r>
            <a:r>
              <a:rPr lang="en-GB" sz="1300" dirty="0"/>
              <a:t>If the plant reduces every category of lost time by three hours, recalculate (a) to (d).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AE922-A308-CD84-6C74-B8BA1A48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D29940-EDC8-A1CA-44B5-E82833D1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000" y="300000"/>
            <a:ext cx="6582300" cy="850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GB" sz="2000" dirty="0"/>
              <a:t>Q3: Downtime, Utilisation, Efficiency</a:t>
            </a:r>
          </a:p>
        </p:txBody>
      </p:sp>
      <p:graphicFrame>
        <p:nvGraphicFramePr>
          <p:cNvPr id="9" name="Table">
            <a:extLst>
              <a:ext uri="{FF2B5EF4-FFF2-40B4-BE49-F238E27FC236}">
                <a16:creationId xmlns:a16="http://schemas.microsoft.com/office/drawing/2014/main" id="{2E15E22B-CC42-AEEE-45B9-E5E65E7434B0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2103120"/>
          <a:ext cx="4200000" cy="24388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Category of lost time</a:t>
                      </a:r>
                      <a:endParaRPr lang="en-GB" sz="12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Hours</a:t>
                      </a:r>
                      <a:endParaRPr lang="en-GB" sz="12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1. Product changeovers (set-ups)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14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2. Regular maintenance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6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3. Quality sampling checks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7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4. Shift change times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6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5. Maintenance breakdown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12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6. Quality failure investigation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7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7. Material stock-outs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4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8. Labour shortages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4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Total</a:t>
                      </a:r>
                      <a:endParaRPr lang="en-GB" sz="12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60</a:t>
                      </a:r>
                      <a:endParaRPr lang="en-GB" sz="12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48" name="Chip topic">
            <a:extLst>
              <a:ext uri="{FF2B5EF4-FFF2-40B4-BE49-F238E27FC236}">
                <a16:creationId xmlns:a16="http://schemas.microsoft.com/office/drawing/2014/main" id="{C612E5F2-BE0D-B858-0567-8323DBFBA940}"/>
              </a:ext>
            </a:extLst>
          </p:cNvPr>
          <p:cNvSpPr/>
          <p:nvPr/>
        </p:nvSpPr>
        <p:spPr>
          <a:xfrm>
            <a:off x="274320" y="1133856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DOWNTIME</a:t>
            </a:r>
          </a:p>
        </p:txBody>
      </p:sp>
      <p:sp>
        <p:nvSpPr>
          <p:cNvPr id="549" name="Chip 12 minutes">
            <a:extLst>
              <a:ext uri="{FF2B5EF4-FFF2-40B4-BE49-F238E27FC236}">
                <a16:creationId xmlns:a16="http://schemas.microsoft.com/office/drawing/2014/main" id="{0D58D415-81F6-D370-CFB1-E7B0BED7827A}"/>
              </a:ext>
            </a:extLst>
          </p:cNvPr>
          <p:cNvSpPr/>
          <p:nvPr/>
        </p:nvSpPr>
        <p:spPr>
          <a:xfrm>
            <a:off x="1691640" y="1133856"/>
            <a:ext cx="79552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C2410C"/>
                </a:solidFill>
              </a:rPr>
              <a:t>12 minutes</a:t>
            </a:r>
          </a:p>
        </p:txBody>
      </p:sp>
      <p:sp>
        <p:nvSpPr>
          <p:cNvPr id="550" name="Chip Work in pairs">
            <a:extLst>
              <a:ext uri="{FF2B5EF4-FFF2-40B4-BE49-F238E27FC236}">
                <a16:creationId xmlns:a16="http://schemas.microsoft.com/office/drawing/2014/main" id="{CE86D452-94BB-6493-6C80-7A8D9CA3C0F2}"/>
              </a:ext>
            </a:extLst>
          </p:cNvPr>
          <p:cNvSpPr/>
          <p:nvPr/>
        </p:nvSpPr>
        <p:spPr>
          <a:xfrm>
            <a:off x="2578608" y="1133856"/>
            <a:ext cx="10012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C2410C"/>
                </a:solidFill>
              </a:rPr>
              <a:t>Work in pairs</a:t>
            </a:r>
          </a:p>
        </p:txBody>
      </p:sp>
      <p:sp>
        <p:nvSpPr>
          <p:cNvPr id="551" name="Scenario">
            <a:extLst>
              <a:ext uri="{FF2B5EF4-FFF2-40B4-BE49-F238E27FC236}">
                <a16:creationId xmlns:a16="http://schemas.microsoft.com/office/drawing/2014/main" id="{221C519C-9F4B-D22A-BADC-4E4EF9550E17}"/>
              </a:ext>
            </a:extLst>
          </p:cNvPr>
          <p:cNvSpPr/>
          <p:nvPr/>
        </p:nvSpPr>
        <p:spPr>
          <a:xfrm>
            <a:off x="274320" y="1499616"/>
            <a:ext cx="8595360" cy="502920"/>
          </a:xfrm>
          <a:prstGeom prst="roundRect">
            <a:avLst>
              <a:gd name="adj" fmla="val 12000"/>
            </a:avLst>
          </a:prstGeom>
          <a:solidFill>
            <a:srgbClr val="FCE3D6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dirty="0">
                <a:solidFill>
                  <a:srgbClr val="1A1A1A"/>
                </a:solidFill>
              </a:rPr>
              <a:t>A smartphone assembly plant</a:t>
            </a:r>
            <a:r>
              <a:rPr lang="en-GB" sz="1200" b="0" i="0" dirty="0">
                <a:solidFill>
                  <a:srgbClr val="1A1A1A"/>
                </a:solidFill>
              </a:rPr>
              <a:t> has a design capacity of 36,000 smartphones per week and runs 16 hours a day, 6 days a week. Lost time in one week:</a:t>
            </a:r>
          </a:p>
        </p:txBody>
      </p:sp>
      <p:sp>
        <p:nvSpPr>
          <p:cNvPr id="562" name="Prompt">
            <a:extLst>
              <a:ext uri="{FF2B5EF4-FFF2-40B4-BE49-F238E27FC236}">
                <a16:creationId xmlns:a16="http://schemas.microsoft.com/office/drawing/2014/main" id="{578D28DB-67F1-9AA2-968F-CCFD8DED43CB}"/>
              </a:ext>
            </a:extLst>
          </p:cNvPr>
          <p:cNvSpPr/>
          <p:nvPr/>
        </p:nvSpPr>
        <p:spPr>
          <a:xfrm>
            <a:off x="274320" y="4628884"/>
            <a:ext cx="859536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i="0" dirty="0">
                <a:solidFill>
                  <a:srgbClr val="C2410C"/>
                </a:solidFill>
              </a:rPr>
              <a:t>Discuss:  </a:t>
            </a:r>
            <a:r>
              <a:rPr lang="en-GB" sz="1250" b="0" i="0" dirty="0">
                <a:solidFill>
                  <a:srgbClr val="1A1A1A"/>
                </a:solidFill>
              </a:rPr>
              <a:t>Which single category of lost time would you tackle first, and why?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96372-8A5B-C46A-119B-5E767F14695D}"/>
              </a:ext>
            </a:extLst>
          </p:cNvPr>
          <p:cNvSpPr txBox="1"/>
          <p:nvPr/>
        </p:nvSpPr>
        <p:spPr>
          <a:xfrm>
            <a:off x="4992712" y="2636325"/>
            <a:ext cx="1795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Planned downtime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7F4D1-D99A-4DCA-9215-BAA278C43C28}"/>
              </a:ext>
            </a:extLst>
          </p:cNvPr>
          <p:cNvSpPr txBox="1"/>
          <p:nvPr/>
        </p:nvSpPr>
        <p:spPr>
          <a:xfrm>
            <a:off x="5001968" y="3742378"/>
            <a:ext cx="2041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Unplanned downtime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0D37E0F-4379-552D-2C98-073D423622AE}"/>
              </a:ext>
            </a:extLst>
          </p:cNvPr>
          <p:cNvSpPr/>
          <p:nvPr/>
        </p:nvSpPr>
        <p:spPr>
          <a:xfrm>
            <a:off x="4569920" y="2396867"/>
            <a:ext cx="432048" cy="86561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B38B471D-9B2E-B626-FAD4-B6534707DE67}"/>
              </a:ext>
            </a:extLst>
          </p:cNvPr>
          <p:cNvSpPr/>
          <p:nvPr/>
        </p:nvSpPr>
        <p:spPr>
          <a:xfrm>
            <a:off x="4560664" y="3461484"/>
            <a:ext cx="432048" cy="95217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90847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Q3 Solution: Downtime</a:t>
            </a:r>
          </a:p>
        </p:txBody>
      </p:sp>
      <p:sp>
        <p:nvSpPr>
          <p:cNvPr id="563" name="Chip topic"/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DOWNTIME</a:t>
            </a:r>
          </a:p>
        </p:txBody>
      </p:sp>
      <p:sp>
        <p:nvSpPr>
          <p:cNvPr id="564" name="Chip Solution"/>
          <p:cNvSpPr/>
          <p:nvPr/>
        </p:nvSpPr>
        <p:spPr>
          <a:xfrm>
            <a:off x="1691640" y="914400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C2410C"/>
                </a:solidFill>
              </a:rPr>
              <a:t>Solution</a:t>
            </a:r>
          </a:p>
        </p:txBody>
      </p:sp>
      <p:sp>
        <p:nvSpPr>
          <p:cNvPr id="565" name="Chip Check your answers"/>
          <p:cNvSpPr/>
          <p:nvPr/>
        </p:nvSpPr>
        <p:spPr>
          <a:xfrm>
            <a:off x="2441448" y="914400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C2410C"/>
                </a:solidFill>
              </a:rPr>
              <a:t>Check your answers</a:t>
            </a:r>
          </a:p>
        </p:txBody>
      </p:sp>
      <p:sp>
        <p:nvSpPr>
          <p:cNvPr id="566" name="Scenario"/>
          <p:cNvSpPr/>
          <p:nvPr/>
        </p:nvSpPr>
        <p:spPr>
          <a:xfrm>
            <a:off x="274320" y="1298448"/>
            <a:ext cx="8595360" cy="411480"/>
          </a:xfrm>
          <a:prstGeom prst="roundRect">
            <a:avLst>
              <a:gd name="adj" fmla="val 12000"/>
            </a:avLst>
          </a:prstGeom>
          <a:solidFill>
            <a:srgbClr val="FCE3D6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r>
              <a:rPr lang="en-GB" sz="1300" b="1" i="0" dirty="0">
                <a:solidFill>
                  <a:srgbClr val="C2410C"/>
                </a:solidFill>
              </a:rPr>
              <a:t>Given: </a:t>
            </a:r>
            <a:r>
              <a:rPr lang="en-GB" sz="1300" b="0" i="0" dirty="0">
                <a:solidFill>
                  <a:srgbClr val="1A1A1A"/>
                </a:solidFill>
              </a:rPr>
              <a:t>available time = 16 × 6 = 96 hours (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Design capacity </a:t>
            </a:r>
            <a:r>
              <a:rPr lang="en-GB" sz="1300" b="0" i="0" dirty="0">
                <a:solidFill>
                  <a:srgbClr val="1A1A1A"/>
                </a:solidFill>
              </a:rPr>
              <a:t>)  •  output rate = 36,000 ÷ 96 = 375 per hour</a:t>
            </a:r>
          </a:p>
        </p:txBody>
      </p:sp>
      <p:sp>
        <p:nvSpPr>
          <p:cNvPr id="567" name="Lab a"/>
          <p:cNvSpPr/>
          <p:nvPr/>
        </p:nvSpPr>
        <p:spPr>
          <a:xfrm>
            <a:off x="274320" y="1819656"/>
            <a:ext cx="347472" cy="3474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68" name="Work a"/>
          <p:cNvSpPr/>
          <p:nvPr/>
        </p:nvSpPr>
        <p:spPr>
          <a:xfrm>
            <a:off x="713232" y="1892196"/>
            <a:ext cx="5961888" cy="5294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r>
              <a:rPr lang="en-GB" sz="1200" b="0" i="0" dirty="0">
                <a:solidFill>
                  <a:srgbClr val="1A1A1A"/>
                </a:solidFill>
              </a:rPr>
              <a:t>Actual output =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Design Capacity – All Downtime = </a:t>
            </a:r>
            <a:r>
              <a:rPr lang="en-GB" sz="1200" b="0" i="0" dirty="0">
                <a:solidFill>
                  <a:srgbClr val="1A1A1A"/>
                </a:solidFill>
              </a:rPr>
              <a:t>96 − 60 = 36 hours;  36 h × 375</a:t>
            </a:r>
          </a:p>
        </p:txBody>
      </p:sp>
      <p:sp>
        <p:nvSpPr>
          <p:cNvPr id="569" name="Ans a"/>
          <p:cNvSpPr/>
          <p:nvPr/>
        </p:nvSpPr>
        <p:spPr>
          <a:xfrm>
            <a:off x="6766560" y="2037600"/>
            <a:ext cx="2103120" cy="384048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36 h × 375 = </a:t>
            </a:r>
            <a:r>
              <a:rPr lang="en-GB" sz="1200" b="1" i="0" dirty="0">
                <a:solidFill>
                  <a:srgbClr val="FFFFFF"/>
                </a:solidFill>
              </a:rPr>
              <a:t>13,500 phones</a:t>
            </a:r>
          </a:p>
        </p:txBody>
      </p:sp>
      <p:sp>
        <p:nvSpPr>
          <p:cNvPr id="570" name="Lab b"/>
          <p:cNvSpPr/>
          <p:nvPr/>
        </p:nvSpPr>
        <p:spPr>
          <a:xfrm>
            <a:off x="274320" y="2452068"/>
            <a:ext cx="347472" cy="3474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571" name="Work b"/>
          <p:cNvSpPr/>
          <p:nvPr/>
        </p:nvSpPr>
        <p:spPr>
          <a:xfrm>
            <a:off x="713232" y="2571750"/>
            <a:ext cx="5961888" cy="53386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Planned downtime</a:t>
            </a:r>
            <a:r>
              <a:rPr lang="en-GB" sz="1200" i="0" dirty="0">
                <a:solidFill>
                  <a:srgbClr val="1A1A1A"/>
                </a:solidFill>
              </a:rPr>
              <a:t> = </a:t>
            </a:r>
            <a:r>
              <a:rPr lang="en-GB" sz="1200" b="0" i="0" dirty="0">
                <a:solidFill>
                  <a:srgbClr val="1A1A1A"/>
                </a:solidFill>
              </a:rPr>
              <a:t>14+6+7+6 = 33 h;  </a:t>
            </a:r>
            <a:br>
              <a:rPr lang="en-GB" sz="1200" b="0" i="0" dirty="0">
                <a:solidFill>
                  <a:srgbClr val="1A1A1A"/>
                </a:solidFill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Effective capacity = Design capacity - Planned downtime = </a:t>
            </a:r>
            <a:r>
              <a:rPr lang="en-GB" sz="1200" b="0" i="0" dirty="0">
                <a:solidFill>
                  <a:srgbClr val="1A1A1A"/>
                </a:solidFill>
              </a:rPr>
              <a:t>96 − 33 = 63 h × 375</a:t>
            </a:r>
          </a:p>
        </p:txBody>
      </p:sp>
      <p:sp>
        <p:nvSpPr>
          <p:cNvPr id="572" name="Ans b"/>
          <p:cNvSpPr/>
          <p:nvPr/>
        </p:nvSpPr>
        <p:spPr>
          <a:xfrm>
            <a:off x="6766560" y="2750112"/>
            <a:ext cx="2103120" cy="384048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63 h × 375 = </a:t>
            </a:r>
            <a:r>
              <a:rPr lang="en-GB" sz="1200" b="1" i="0" dirty="0">
                <a:solidFill>
                  <a:srgbClr val="FFFFFF"/>
                </a:solidFill>
              </a:rPr>
              <a:t>23,625 phones</a:t>
            </a:r>
          </a:p>
        </p:txBody>
      </p:sp>
      <p:sp>
        <p:nvSpPr>
          <p:cNvPr id="573" name="Lab c"/>
          <p:cNvSpPr/>
          <p:nvPr/>
        </p:nvSpPr>
        <p:spPr>
          <a:xfrm>
            <a:off x="274320" y="3256740"/>
            <a:ext cx="347472" cy="3474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74" name="Work c"/>
          <p:cNvSpPr/>
          <p:nvPr/>
        </p:nvSpPr>
        <p:spPr>
          <a:xfrm>
            <a:off x="713232" y="3292920"/>
            <a:ext cx="5961888" cy="622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r>
              <a:rPr lang="en-GB" sz="1200" b="0" i="0" dirty="0">
                <a:solidFill>
                  <a:srgbClr val="1A1A1A"/>
                </a:solidFill>
              </a:rPr>
              <a:t>Utilisation =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Actual output</a:t>
            </a:r>
            <a:r>
              <a:rPr lang="en-GB" sz="1200" b="0" i="0" dirty="0">
                <a:solidFill>
                  <a:srgbClr val="1A1A1A"/>
                </a:solidFill>
              </a:rPr>
              <a:t> </a:t>
            </a:r>
            <a:r>
              <a:rPr lang="en-GB" sz="1200" dirty="0">
                <a:solidFill>
                  <a:srgbClr val="1A1A1A"/>
                </a:solidFill>
              </a:rPr>
              <a:t>÷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Design capacity = </a:t>
            </a:r>
            <a:r>
              <a:rPr lang="en-GB" sz="1200" b="0" i="0" dirty="0">
                <a:solidFill>
                  <a:srgbClr val="1A1A1A"/>
                </a:solidFill>
              </a:rPr>
              <a:t>36 ÷ 96 = 37.5%  or </a:t>
            </a:r>
          </a:p>
          <a:p>
            <a:r>
              <a:rPr lang="en-GB" sz="1200" dirty="0">
                <a:solidFill>
                  <a:srgbClr val="1A1A1A"/>
                </a:solidFill>
              </a:rPr>
              <a:t>			        </a:t>
            </a:r>
            <a:r>
              <a:rPr lang="en-GB" sz="1200" dirty="0">
                <a:solidFill>
                  <a:schemeClr val="tx1"/>
                </a:solidFill>
              </a:rPr>
              <a:t>13,500 </a:t>
            </a:r>
            <a:r>
              <a:rPr lang="en-GB" sz="1200" dirty="0">
                <a:solidFill>
                  <a:srgbClr val="1A1A1A"/>
                </a:solidFill>
              </a:rPr>
              <a:t>÷ 36,000 = 37.5%</a:t>
            </a:r>
            <a:endParaRPr lang="en-GB" sz="1200" i="0" dirty="0">
              <a:solidFill>
                <a:schemeClr val="tx1"/>
              </a:solidFill>
            </a:endParaRPr>
          </a:p>
        </p:txBody>
      </p:sp>
      <p:sp>
        <p:nvSpPr>
          <p:cNvPr id="575" name="Ans c"/>
          <p:cNvSpPr/>
          <p:nvPr/>
        </p:nvSpPr>
        <p:spPr>
          <a:xfrm>
            <a:off x="6766560" y="3575448"/>
            <a:ext cx="2103120" cy="384048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</a:rPr>
              <a:t>37.5%</a:t>
            </a:r>
          </a:p>
        </p:txBody>
      </p:sp>
      <p:sp>
        <p:nvSpPr>
          <p:cNvPr id="576" name="Lab d"/>
          <p:cNvSpPr/>
          <p:nvPr/>
        </p:nvSpPr>
        <p:spPr>
          <a:xfrm>
            <a:off x="274320" y="4044600"/>
            <a:ext cx="347472" cy="3474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577" name="Work d"/>
          <p:cNvSpPr/>
          <p:nvPr/>
        </p:nvSpPr>
        <p:spPr>
          <a:xfrm>
            <a:off x="713232" y="4044600"/>
            <a:ext cx="5961888" cy="622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r>
              <a:rPr lang="en-GB" sz="1200" b="0" i="0" dirty="0">
                <a:solidFill>
                  <a:srgbClr val="1A1A1A"/>
                </a:solidFill>
              </a:rPr>
              <a:t>Efficiency =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Actual output</a:t>
            </a:r>
            <a:r>
              <a:rPr lang="en-GB" sz="1200" dirty="0">
                <a:solidFill>
                  <a:srgbClr val="1A1A1A"/>
                </a:solidFill>
              </a:rPr>
              <a:t> </a:t>
            </a:r>
            <a:r>
              <a:rPr lang="en-GB" dirty="0"/>
              <a:t>÷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Effective capacity = </a:t>
            </a:r>
            <a:r>
              <a:rPr lang="en-GB" sz="1200" b="0" i="0" dirty="0">
                <a:solidFill>
                  <a:srgbClr val="1A1A1A"/>
                </a:solidFill>
              </a:rPr>
              <a:t>36 ÷ 63 = 57.1%  </a:t>
            </a:r>
            <a:r>
              <a:rPr lang="en-GB" sz="1200" dirty="0">
                <a:solidFill>
                  <a:srgbClr val="1A1A1A"/>
                </a:solidFill>
              </a:rPr>
              <a:t>or  </a:t>
            </a:r>
          </a:p>
          <a:p>
            <a:r>
              <a:rPr lang="en-GB" sz="1200" dirty="0">
                <a:solidFill>
                  <a:srgbClr val="1A1A1A"/>
                </a:solidFill>
              </a:rPr>
              <a:t>			        </a:t>
            </a:r>
            <a:r>
              <a:rPr lang="en-GB" sz="1200" dirty="0">
                <a:solidFill>
                  <a:schemeClr val="tx1"/>
                </a:solidFill>
              </a:rPr>
              <a:t>13,500 </a:t>
            </a:r>
            <a:r>
              <a:rPr lang="en-GB" sz="1200" dirty="0">
                <a:solidFill>
                  <a:srgbClr val="1A1A1A"/>
                </a:solidFill>
              </a:rPr>
              <a:t>÷ 23,625 = 57.1% </a:t>
            </a:r>
            <a:endParaRPr lang="en-GB" sz="1200" b="0" i="0" dirty="0">
              <a:solidFill>
                <a:srgbClr val="1A1A1A"/>
              </a:solidFill>
            </a:endParaRPr>
          </a:p>
        </p:txBody>
      </p:sp>
      <p:sp>
        <p:nvSpPr>
          <p:cNvPr id="578" name="Ans d"/>
          <p:cNvSpPr/>
          <p:nvPr/>
        </p:nvSpPr>
        <p:spPr>
          <a:xfrm>
            <a:off x="6766560" y="4283136"/>
            <a:ext cx="2103120" cy="384048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</a:rPr>
              <a:t>57.1%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354A-94AC-7A87-80E3-FC0908FA0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77FBF926-1E05-73D8-79A2-5234597C6EF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Q3 Solution: Downtime</a:t>
            </a:r>
          </a:p>
        </p:txBody>
      </p:sp>
      <p:sp>
        <p:nvSpPr>
          <p:cNvPr id="563" name="Chip topic">
            <a:extLst>
              <a:ext uri="{FF2B5EF4-FFF2-40B4-BE49-F238E27FC236}">
                <a16:creationId xmlns:a16="http://schemas.microsoft.com/office/drawing/2014/main" id="{E96D2D62-CFBE-44AD-932C-F5A8F36894AA}"/>
              </a:ext>
            </a:extLst>
          </p:cNvPr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DOWNTIME</a:t>
            </a:r>
          </a:p>
        </p:txBody>
      </p:sp>
      <p:sp>
        <p:nvSpPr>
          <p:cNvPr id="564" name="Chip Solution">
            <a:extLst>
              <a:ext uri="{FF2B5EF4-FFF2-40B4-BE49-F238E27FC236}">
                <a16:creationId xmlns:a16="http://schemas.microsoft.com/office/drawing/2014/main" id="{50CA6AEE-0C70-221C-7B4B-D75078D98EE7}"/>
              </a:ext>
            </a:extLst>
          </p:cNvPr>
          <p:cNvSpPr/>
          <p:nvPr/>
        </p:nvSpPr>
        <p:spPr>
          <a:xfrm>
            <a:off x="1691640" y="914400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C2410C"/>
                </a:solidFill>
              </a:rPr>
              <a:t>Solution</a:t>
            </a:r>
          </a:p>
        </p:txBody>
      </p:sp>
      <p:sp>
        <p:nvSpPr>
          <p:cNvPr id="565" name="Chip Check your answers">
            <a:extLst>
              <a:ext uri="{FF2B5EF4-FFF2-40B4-BE49-F238E27FC236}">
                <a16:creationId xmlns:a16="http://schemas.microsoft.com/office/drawing/2014/main" id="{08B85F67-B67C-440B-34AD-5417C2F37D65}"/>
              </a:ext>
            </a:extLst>
          </p:cNvPr>
          <p:cNvSpPr/>
          <p:nvPr/>
        </p:nvSpPr>
        <p:spPr>
          <a:xfrm>
            <a:off x="2441448" y="914400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C2410C"/>
                </a:solidFill>
              </a:rPr>
              <a:t>Check your answers</a:t>
            </a:r>
          </a:p>
        </p:txBody>
      </p:sp>
      <p:sp>
        <p:nvSpPr>
          <p:cNvPr id="579" name="Lab e">
            <a:extLst>
              <a:ext uri="{FF2B5EF4-FFF2-40B4-BE49-F238E27FC236}">
                <a16:creationId xmlns:a16="http://schemas.microsoft.com/office/drawing/2014/main" id="{912D5422-9D16-AEF9-9736-69E1A8B3F158}"/>
              </a:ext>
            </a:extLst>
          </p:cNvPr>
          <p:cNvSpPr/>
          <p:nvPr/>
        </p:nvSpPr>
        <p:spPr>
          <a:xfrm>
            <a:off x="321606" y="1552858"/>
            <a:ext cx="347472" cy="3474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93D97-C4F3-C220-19FA-7209416ACC09}"/>
              </a:ext>
            </a:extLst>
          </p:cNvPr>
          <p:cNvSpPr txBox="1"/>
          <p:nvPr/>
        </p:nvSpPr>
        <p:spPr>
          <a:xfrm>
            <a:off x="827532" y="152503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dirty="0">
                <a:solidFill>
                  <a:srgbClr val="1A1A1A"/>
                </a:solidFill>
              </a:rPr>
              <a:t>If every category of lost time falls by three hours, recalculate (a) to (d).</a:t>
            </a:r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D20B06A0-74A3-27B6-C5AC-96B846F05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217518"/>
              </p:ext>
            </p:extLst>
          </p:nvPr>
        </p:nvGraphicFramePr>
        <p:xfrm>
          <a:off x="1013532" y="1899960"/>
          <a:ext cx="4200000" cy="24388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Category of lost time</a:t>
                      </a:r>
                      <a:endParaRPr lang="en-GB" sz="12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</a:rPr>
                        <a:t>Hours</a:t>
                      </a:r>
                      <a:endParaRPr lang="en-GB" sz="12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1. Product changeovers (set-ups)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11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2. Regular maintenance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3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3. Quality sampling checks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latin typeface="Source Sans Pro SemiBold" panose="020B0603030403020204" pitchFamily="34" charset="0"/>
                        </a:rPr>
                        <a:t>4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4. Shift change times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3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5. Maintenance breakdown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9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6. Quality failure investigation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4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7. Material stock-outs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1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8. Labour shortages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1</a:t>
                      </a:r>
                      <a:endParaRPr lang="en-GB" sz="1200" b="0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C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Total</a:t>
                      </a:r>
                      <a:endParaRPr lang="en-GB" sz="12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36</a:t>
                      </a:r>
                      <a:endParaRPr lang="en-GB" sz="1200" b="1" dirty="0">
                        <a:latin typeface="Source Sans Pro SemiBold" panose="020B0603030403020204" pitchFamily="34" charset="0"/>
                      </a:endParaRPr>
                    </a:p>
                  </a:txBody>
                  <a:tcPr marL="61005" marR="61005" marT="30503" marB="3050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431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A9456-CF37-D072-A7A6-696B0CFC3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0FAEEA3A-08CA-245C-C54F-2D4C58D645E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Q3 Solution: Downtime</a:t>
            </a:r>
          </a:p>
        </p:txBody>
      </p:sp>
      <p:sp>
        <p:nvSpPr>
          <p:cNvPr id="563" name="Chip topic">
            <a:extLst>
              <a:ext uri="{FF2B5EF4-FFF2-40B4-BE49-F238E27FC236}">
                <a16:creationId xmlns:a16="http://schemas.microsoft.com/office/drawing/2014/main" id="{9DE7B7BC-C206-F983-0005-D8D5DE5ABFC9}"/>
              </a:ext>
            </a:extLst>
          </p:cNvPr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DOWNTIME</a:t>
            </a:r>
          </a:p>
        </p:txBody>
      </p:sp>
      <p:sp>
        <p:nvSpPr>
          <p:cNvPr id="564" name="Chip Solution">
            <a:extLst>
              <a:ext uri="{FF2B5EF4-FFF2-40B4-BE49-F238E27FC236}">
                <a16:creationId xmlns:a16="http://schemas.microsoft.com/office/drawing/2014/main" id="{410DA237-A24D-4216-E577-3284BBE19134}"/>
              </a:ext>
            </a:extLst>
          </p:cNvPr>
          <p:cNvSpPr/>
          <p:nvPr/>
        </p:nvSpPr>
        <p:spPr>
          <a:xfrm>
            <a:off x="1691640" y="914400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C2410C"/>
                </a:solidFill>
              </a:rPr>
              <a:t>Solution</a:t>
            </a:r>
          </a:p>
        </p:txBody>
      </p:sp>
      <p:sp>
        <p:nvSpPr>
          <p:cNvPr id="565" name="Chip Check your answers">
            <a:extLst>
              <a:ext uri="{FF2B5EF4-FFF2-40B4-BE49-F238E27FC236}">
                <a16:creationId xmlns:a16="http://schemas.microsoft.com/office/drawing/2014/main" id="{C3B06C43-EA41-3208-E7D5-097B5078EB68}"/>
              </a:ext>
            </a:extLst>
          </p:cNvPr>
          <p:cNvSpPr/>
          <p:nvPr/>
        </p:nvSpPr>
        <p:spPr>
          <a:xfrm>
            <a:off x="2441448" y="914400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C2410C"/>
                </a:solidFill>
              </a:rPr>
              <a:t>Check your answers</a:t>
            </a:r>
          </a:p>
        </p:txBody>
      </p:sp>
      <p:sp>
        <p:nvSpPr>
          <p:cNvPr id="566" name="Scenario">
            <a:extLst>
              <a:ext uri="{FF2B5EF4-FFF2-40B4-BE49-F238E27FC236}">
                <a16:creationId xmlns:a16="http://schemas.microsoft.com/office/drawing/2014/main" id="{9EC8B9FB-AD86-4571-878E-AA503811B780}"/>
              </a:ext>
            </a:extLst>
          </p:cNvPr>
          <p:cNvSpPr/>
          <p:nvPr/>
        </p:nvSpPr>
        <p:spPr>
          <a:xfrm>
            <a:off x="274320" y="1298448"/>
            <a:ext cx="8595360" cy="411480"/>
          </a:xfrm>
          <a:prstGeom prst="roundRect">
            <a:avLst>
              <a:gd name="adj" fmla="val 12000"/>
            </a:avLst>
          </a:prstGeom>
          <a:solidFill>
            <a:srgbClr val="FCE3D6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r>
              <a:rPr lang="en-GB" sz="1300" b="1" i="0" dirty="0">
                <a:solidFill>
                  <a:srgbClr val="C2410C"/>
                </a:solidFill>
              </a:rPr>
              <a:t>Given: </a:t>
            </a:r>
            <a:r>
              <a:rPr lang="en-GB" sz="1300" b="0" i="0" dirty="0">
                <a:solidFill>
                  <a:srgbClr val="1A1A1A"/>
                </a:solidFill>
              </a:rPr>
              <a:t>available time = 16 × 6 = 96 hours (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Design capacity </a:t>
            </a:r>
            <a:r>
              <a:rPr lang="en-GB" sz="1300" b="0" i="0" dirty="0">
                <a:solidFill>
                  <a:srgbClr val="1A1A1A"/>
                </a:solidFill>
              </a:rPr>
              <a:t>) •  output rate = 36,000 ÷ 96 = 375 per hour</a:t>
            </a:r>
          </a:p>
        </p:txBody>
      </p:sp>
      <p:sp>
        <p:nvSpPr>
          <p:cNvPr id="579" name="Lab e">
            <a:extLst>
              <a:ext uri="{FF2B5EF4-FFF2-40B4-BE49-F238E27FC236}">
                <a16:creationId xmlns:a16="http://schemas.microsoft.com/office/drawing/2014/main" id="{4E18D6DB-1D5E-1BE0-01C8-202D098B16D3}"/>
              </a:ext>
            </a:extLst>
          </p:cNvPr>
          <p:cNvSpPr/>
          <p:nvPr/>
        </p:nvSpPr>
        <p:spPr>
          <a:xfrm>
            <a:off x="305550" y="1804930"/>
            <a:ext cx="347472" cy="3474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580" name="Work e">
            <a:extLst>
              <a:ext uri="{FF2B5EF4-FFF2-40B4-BE49-F238E27FC236}">
                <a16:creationId xmlns:a16="http://schemas.microsoft.com/office/drawing/2014/main" id="{806ED51E-8E52-4490-BB0E-4D27F98F12A1}"/>
              </a:ext>
            </a:extLst>
          </p:cNvPr>
          <p:cNvSpPr/>
          <p:nvPr/>
        </p:nvSpPr>
        <p:spPr>
          <a:xfrm>
            <a:off x="576000" y="2066540"/>
            <a:ext cx="8157600" cy="235544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r>
              <a:rPr lang="en-GB" sz="1200" b="0" i="0" dirty="0">
                <a:solidFill>
                  <a:srgbClr val="1A1A1A"/>
                </a:solidFill>
              </a:rPr>
              <a:t>Losses fall by 24 h (8 * 3 h) from 60 h to 36 </a:t>
            </a:r>
            <a:r>
              <a:rPr lang="en-GB" sz="1200" dirty="0">
                <a:solidFill>
                  <a:srgbClr val="1A1A1A"/>
                </a:solidFill>
              </a:rPr>
              <a:t>h.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All Downtime  = </a:t>
            </a:r>
            <a:r>
              <a:rPr lang="en-GB" sz="1200" dirty="0">
                <a:solidFill>
                  <a:srgbClr val="1A1A1A"/>
                </a:solidFill>
              </a:rPr>
              <a:t>60 h – 24 h = 36 h</a:t>
            </a:r>
            <a:endParaRPr lang="en-GB" sz="1200" b="0" i="0" dirty="0">
              <a:solidFill>
                <a:srgbClr val="1A1A1A"/>
              </a:solidFill>
            </a:endParaRPr>
          </a:p>
          <a:p>
            <a:endParaRPr lang="en-GB" sz="1200" dirty="0">
              <a:solidFill>
                <a:srgbClr val="1A1A1A"/>
              </a:solidFill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New Planned downtime =</a:t>
            </a:r>
            <a:r>
              <a:rPr lang="en-GB" sz="1200" b="0" i="0" dirty="0">
                <a:solidFill>
                  <a:srgbClr val="1A1A1A"/>
                </a:solidFill>
              </a:rPr>
              <a:t> 21 h</a:t>
            </a:r>
          </a:p>
          <a:p>
            <a:endParaRPr lang="en-GB" sz="1200" dirty="0">
              <a:solidFill>
                <a:srgbClr val="1A1A1A"/>
              </a:solidFill>
            </a:endParaRPr>
          </a:p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New Actual Output (in hours) = Design Capacity – All Downtime  = 96 – 36 = 60 h</a:t>
            </a:r>
          </a:p>
          <a:p>
            <a:br>
              <a:rPr lang="en-GB" sz="1200" b="0" i="0" dirty="0">
                <a:solidFill>
                  <a:srgbClr val="1A1A1A"/>
                </a:solidFill>
              </a:rPr>
            </a:b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New Effective Capacity = Design capacity – New Planned downtime = 96 – 21 = 75 h</a:t>
            </a:r>
          </a:p>
          <a:p>
            <a:br>
              <a:rPr lang="en-GB" sz="1200" dirty="0">
                <a:solidFill>
                  <a:srgbClr val="1A1A1A"/>
                </a:solidFill>
              </a:rPr>
            </a:br>
            <a:r>
              <a:rPr lang="en-GB" sz="1200" dirty="0">
                <a:solidFill>
                  <a:srgbClr val="1A1A1A"/>
                </a:solidFill>
              </a:rPr>
              <a:t>Utilisation = New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Actual output</a:t>
            </a:r>
            <a:r>
              <a:rPr lang="en-GB" sz="1200" dirty="0">
                <a:solidFill>
                  <a:srgbClr val="1A1A1A"/>
                </a:solidFill>
              </a:rPr>
              <a:t> ÷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Design capacity = </a:t>
            </a:r>
            <a:r>
              <a:rPr lang="en-GB" sz="1200" dirty="0">
                <a:solidFill>
                  <a:srgbClr val="1A1A1A"/>
                </a:solidFill>
              </a:rPr>
              <a:t>60 ÷ 96 = 62.5%</a:t>
            </a:r>
          </a:p>
          <a:p>
            <a:endParaRPr lang="en-GB" sz="1200" dirty="0">
              <a:solidFill>
                <a:srgbClr val="1A1A1A"/>
              </a:solidFill>
            </a:endParaRPr>
          </a:p>
          <a:p>
            <a:r>
              <a:rPr lang="en-GB" sz="1200" dirty="0">
                <a:solidFill>
                  <a:srgbClr val="1A1A1A"/>
                </a:solidFill>
              </a:rPr>
              <a:t>Efficiency = New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Actual output</a:t>
            </a:r>
            <a:r>
              <a:rPr lang="en-GB" sz="1200" dirty="0">
                <a:solidFill>
                  <a:srgbClr val="1A1A1A"/>
                </a:solidFill>
              </a:rPr>
              <a:t> </a:t>
            </a:r>
            <a:r>
              <a:rPr lang="en-GB" sz="1200" dirty="0"/>
              <a:t>÷ New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Effective capacity = </a:t>
            </a:r>
            <a:r>
              <a:rPr lang="en-GB" sz="1200" dirty="0">
                <a:solidFill>
                  <a:srgbClr val="1A1A1A"/>
                </a:solidFill>
              </a:rPr>
              <a:t>60 ÷ 75 = 80%</a:t>
            </a:r>
            <a:endParaRPr lang="en-GB" sz="1200" b="0" i="0" dirty="0">
              <a:solidFill>
                <a:srgbClr val="1A1A1A"/>
              </a:solidFill>
            </a:endParaRPr>
          </a:p>
        </p:txBody>
      </p:sp>
      <p:sp>
        <p:nvSpPr>
          <p:cNvPr id="582" name="Insight">
            <a:extLst>
              <a:ext uri="{FF2B5EF4-FFF2-40B4-BE49-F238E27FC236}">
                <a16:creationId xmlns:a16="http://schemas.microsoft.com/office/drawing/2014/main" id="{3AE40FD2-F457-DDBC-E2EC-1B8D0870051A}"/>
              </a:ext>
            </a:extLst>
          </p:cNvPr>
          <p:cNvSpPr/>
          <p:nvPr/>
        </p:nvSpPr>
        <p:spPr>
          <a:xfrm>
            <a:off x="305550" y="4535674"/>
            <a:ext cx="8595360" cy="438912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C2410C"/>
                </a:solidFill>
              </a:rPr>
              <a:t>So what?  </a:t>
            </a:r>
            <a:r>
              <a:rPr lang="en-GB" sz="1200" b="0" i="0" dirty="0">
                <a:solidFill>
                  <a:srgbClr val="1A1A1A"/>
                </a:solidFill>
              </a:rPr>
              <a:t>Cutting avoidable losses lifts efficiency from 57% to 80%, with no new equipment.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9A145-CCE3-1167-EFB5-BDF16B3EBF4C}"/>
              </a:ext>
            </a:extLst>
          </p:cNvPr>
          <p:cNvSpPr txBox="1"/>
          <p:nvPr/>
        </p:nvSpPr>
        <p:spPr>
          <a:xfrm>
            <a:off x="827532" y="1804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dirty="0">
                <a:solidFill>
                  <a:srgbClr val="1A1A1A"/>
                </a:solidFill>
              </a:rPr>
              <a:t>If every category of lost time falls by three hours, recalculate (a) to (d).</a:t>
            </a:r>
          </a:p>
        </p:txBody>
      </p:sp>
    </p:spTree>
    <p:extLst>
      <p:ext uri="{BB962C8B-B14F-4D97-AF65-F5344CB8AC3E}">
        <p14:creationId xmlns:p14="http://schemas.microsoft.com/office/powerpoint/2010/main" val="2380402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Q4: Utilisation and Efficiency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1800" dirty="0"/>
              <a:t>Two quick checks:</a:t>
            </a:r>
          </a:p>
          <a:p>
            <a:pPr lvl="1" algn="just">
              <a:spcBef>
                <a:spcPts val="900"/>
              </a:spcBef>
            </a:pPr>
            <a:r>
              <a:rPr lang="en-GB" sz="1800" b="1" dirty="0"/>
              <a:t>(a)</a:t>
            </a:r>
            <a:r>
              <a:rPr lang="en-GB" sz="1800" dirty="0"/>
              <a:t> An operation was designed to process 65,000 custom orders per annum. Because of labour shortages and input errors, it is limited to 52,000 orders per annum. What is the utilisation?</a:t>
            </a:r>
          </a:p>
          <a:p>
            <a:pPr lvl="1" algn="just">
              <a:spcBef>
                <a:spcPts val="900"/>
              </a:spcBef>
            </a:pPr>
            <a:r>
              <a:rPr lang="en-GB" sz="1800" b="1" dirty="0"/>
              <a:t>(b)</a:t>
            </a:r>
            <a:r>
              <a:rPr lang="en-GB" sz="1800" dirty="0"/>
              <a:t> A school canteen has a design capacity of 2,750 meals per week, an effective capacity of 2,460 meals per week, and an efficiency of 82%. How many meals are delivered each week? (Hint: think about the efficiency formula.)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Q4 Solution: Utilisation and Efficiency</a:t>
            </a:r>
          </a:p>
        </p:txBody>
      </p:sp>
      <p:sp>
        <p:nvSpPr>
          <p:cNvPr id="591" name="Chip topic"/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440099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CAPACITY</a:t>
            </a:r>
          </a:p>
        </p:txBody>
      </p:sp>
      <p:sp>
        <p:nvSpPr>
          <p:cNvPr id="592" name="Chip Solution"/>
          <p:cNvSpPr/>
          <p:nvPr/>
        </p:nvSpPr>
        <p:spPr>
          <a:xfrm>
            <a:off x="1691640" y="914400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40099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440099"/>
                </a:solidFill>
              </a:rPr>
              <a:t>Solution</a:t>
            </a:r>
          </a:p>
        </p:txBody>
      </p:sp>
      <p:sp>
        <p:nvSpPr>
          <p:cNvPr id="593" name="Chip Check your answers"/>
          <p:cNvSpPr/>
          <p:nvPr/>
        </p:nvSpPr>
        <p:spPr>
          <a:xfrm>
            <a:off x="2441448" y="914400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40099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440099"/>
                </a:solidFill>
              </a:rPr>
              <a:t>Check your answers</a:t>
            </a:r>
          </a:p>
        </p:txBody>
      </p:sp>
      <p:sp>
        <p:nvSpPr>
          <p:cNvPr id="594" name="Lab a"/>
          <p:cNvSpPr/>
          <p:nvPr/>
        </p:nvSpPr>
        <p:spPr>
          <a:xfrm>
            <a:off x="274320" y="1495044"/>
            <a:ext cx="347472" cy="347472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95" name="Work a"/>
          <p:cNvSpPr/>
          <p:nvPr/>
        </p:nvSpPr>
        <p:spPr>
          <a:xfrm>
            <a:off x="713232" y="1417320"/>
            <a:ext cx="6053328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Utilisation = achieved capacity ÷ design capacity = 52,000 ÷ 65,000 = </a:t>
            </a:r>
          </a:p>
        </p:txBody>
      </p:sp>
      <p:sp>
        <p:nvSpPr>
          <p:cNvPr id="596" name="Ans a"/>
          <p:cNvSpPr/>
          <p:nvPr/>
        </p:nvSpPr>
        <p:spPr>
          <a:xfrm>
            <a:off x="6858000" y="141732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440099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597" name="Lab b"/>
          <p:cNvSpPr/>
          <p:nvPr/>
        </p:nvSpPr>
        <p:spPr>
          <a:xfrm>
            <a:off x="274320" y="2226564"/>
            <a:ext cx="347472" cy="347472"/>
          </a:xfrm>
          <a:prstGeom prst="ellipse">
            <a:avLst/>
          </a:prstGeom>
          <a:solidFill>
            <a:srgbClr val="44009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598" name="Work b"/>
          <p:cNvSpPr/>
          <p:nvPr/>
        </p:nvSpPr>
        <p:spPr>
          <a:xfrm>
            <a:off x="713232" y="2057400"/>
            <a:ext cx="605332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Efficiency = achieved capacity ÷ effective capacity</a:t>
            </a:r>
          </a:p>
          <a:p>
            <a:r>
              <a:rPr lang="en-GB" dirty="0">
                <a:solidFill>
                  <a:srgbClr val="1A1A1A"/>
                </a:solidFill>
              </a:rPr>
              <a:t>Achieved capacity = efficiency × effective capacity </a:t>
            </a:r>
            <a:r>
              <a:rPr lang="en-GB" sz="1400" b="0" i="0" dirty="0">
                <a:solidFill>
                  <a:srgbClr val="1A1A1A"/>
                </a:solidFill>
              </a:rPr>
              <a:t>= 0.82 × 2,460 =</a:t>
            </a:r>
          </a:p>
        </p:txBody>
      </p:sp>
      <p:sp>
        <p:nvSpPr>
          <p:cNvPr id="599" name="Ans b"/>
          <p:cNvSpPr/>
          <p:nvPr/>
        </p:nvSpPr>
        <p:spPr>
          <a:xfrm>
            <a:off x="6858000" y="205740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440099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2,017 meals</a:t>
            </a:r>
          </a:p>
        </p:txBody>
      </p:sp>
      <p:sp>
        <p:nvSpPr>
          <p:cNvPr id="600" name="Insight"/>
          <p:cNvSpPr/>
          <p:nvPr/>
        </p:nvSpPr>
        <p:spPr>
          <a:xfrm>
            <a:off x="274320" y="292608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C2410C"/>
                </a:solidFill>
              </a:rPr>
              <a:t>Exam tip:  </a:t>
            </a:r>
            <a:r>
              <a:rPr lang="en-GB" sz="1200" b="0" i="0" dirty="0">
                <a:solidFill>
                  <a:srgbClr val="1A1A1A"/>
                </a:solidFill>
              </a:rPr>
              <a:t>rearranging is a common exam step: achieved capacity = efficiency × effective capacity.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Q5: Little’s Law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en-GB" dirty="0"/>
              <a:t>A university library help desk serves 24 students per hour on average. Flow time (full resolution) is 15 minutes per enquiry; the actual staff work content is only 6 minutes.</a:t>
            </a:r>
          </a:p>
          <a:p>
            <a:pPr lvl="1" algn="just"/>
            <a:r>
              <a:rPr lang="en-GB" sz="1800" b="1" dirty="0"/>
              <a:t>(a)</a:t>
            </a:r>
            <a:r>
              <a:rPr lang="en-GB" sz="1800" dirty="0"/>
              <a:t> Using Little’s Law, calculate the average number of students in the help-desk area at any one time.</a:t>
            </a:r>
          </a:p>
          <a:p>
            <a:pPr lvl="1" algn="just"/>
            <a:r>
              <a:rPr lang="en-GB" sz="1800" b="1" dirty="0"/>
              <a:t>(b)</a:t>
            </a:r>
            <a:r>
              <a:rPr lang="en-GB" sz="1800" dirty="0"/>
              <a:t> If the desk is open 4 hours today, how many students will be served in total?</a:t>
            </a:r>
          </a:p>
          <a:p>
            <a:pPr lvl="1" algn="just"/>
            <a:r>
              <a:rPr lang="en-GB" sz="1800" b="1" dirty="0"/>
              <a:t>(c)</a:t>
            </a:r>
            <a:r>
              <a:rPr lang="en-GB" sz="1800" dirty="0"/>
              <a:t> Using cycle time and work content, estimate how many staff are needed.</a:t>
            </a:r>
          </a:p>
          <a:p>
            <a:pPr lvl="1" algn="just"/>
            <a:r>
              <a:rPr lang="en-GB" sz="1800" b="1" dirty="0"/>
              <a:t>(d)</a:t>
            </a:r>
            <a:r>
              <a:rPr lang="en-GB" sz="1800" dirty="0"/>
              <a:t> If flow time were reduced to 10 minutes (work content unchanged), recalculate the WIP.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444DD-B7F7-BC0E-27EA-CCB76F79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716E3DDE-1B15-1CED-4F39-FCAAC2917EB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Q5: Little’s Law</a:t>
            </a:r>
          </a:p>
        </p:txBody>
      </p:sp>
      <p:sp>
        <p:nvSpPr>
          <p:cNvPr id="601" name="Chip topic">
            <a:extLst>
              <a:ext uri="{FF2B5EF4-FFF2-40B4-BE49-F238E27FC236}">
                <a16:creationId xmlns:a16="http://schemas.microsoft.com/office/drawing/2014/main" id="{35C49327-C604-C8A7-70E7-DB2084622574}"/>
              </a:ext>
            </a:extLst>
          </p:cNvPr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LITTLE’S LAW</a:t>
            </a:r>
          </a:p>
        </p:txBody>
      </p:sp>
      <p:sp>
        <p:nvSpPr>
          <p:cNvPr id="602" name="Chip 8 minutes">
            <a:extLst>
              <a:ext uri="{FF2B5EF4-FFF2-40B4-BE49-F238E27FC236}">
                <a16:creationId xmlns:a16="http://schemas.microsoft.com/office/drawing/2014/main" id="{F143DDCF-3B0F-C696-C862-684744F0C406}"/>
              </a:ext>
            </a:extLst>
          </p:cNvPr>
          <p:cNvSpPr/>
          <p:nvPr/>
        </p:nvSpPr>
        <p:spPr>
          <a:xfrm>
            <a:off x="1691640" y="914400"/>
            <a:ext cx="72694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7A75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0B7A75"/>
                </a:solidFill>
              </a:rPr>
              <a:t>8 minutes</a:t>
            </a:r>
          </a:p>
        </p:txBody>
      </p:sp>
      <p:sp>
        <p:nvSpPr>
          <p:cNvPr id="603" name="Chip Work in pairs">
            <a:extLst>
              <a:ext uri="{FF2B5EF4-FFF2-40B4-BE49-F238E27FC236}">
                <a16:creationId xmlns:a16="http://schemas.microsoft.com/office/drawing/2014/main" id="{677C23C9-F80A-3BB8-18D7-7A91977FA2AA}"/>
              </a:ext>
            </a:extLst>
          </p:cNvPr>
          <p:cNvSpPr/>
          <p:nvPr/>
        </p:nvSpPr>
        <p:spPr>
          <a:xfrm>
            <a:off x="2510028" y="914400"/>
            <a:ext cx="10012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7A75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0B7A75"/>
                </a:solidFill>
              </a:rPr>
              <a:t>Work in pairs</a:t>
            </a:r>
          </a:p>
        </p:txBody>
      </p:sp>
      <p:sp>
        <p:nvSpPr>
          <p:cNvPr id="604" name="Scenario">
            <a:extLst>
              <a:ext uri="{FF2B5EF4-FFF2-40B4-BE49-F238E27FC236}">
                <a16:creationId xmlns:a16="http://schemas.microsoft.com/office/drawing/2014/main" id="{1E87F6B1-3FFD-4FB5-BF15-251AA74F40B9}"/>
              </a:ext>
            </a:extLst>
          </p:cNvPr>
          <p:cNvSpPr/>
          <p:nvPr/>
        </p:nvSpPr>
        <p:spPr>
          <a:xfrm>
            <a:off x="274320" y="1298448"/>
            <a:ext cx="8595360" cy="3784752"/>
          </a:xfrm>
          <a:prstGeom prst="roundRect">
            <a:avLst>
              <a:gd name="adj" fmla="val 12000"/>
            </a:avLst>
          </a:prstGeom>
          <a:solidFill>
            <a:srgbClr val="D5EFEC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just">
              <a:buNone/>
            </a:pP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Little’s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Law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explains the relationship between flow time (T), throughput (R), and work in progress (WIP):</a:t>
            </a:r>
          </a:p>
          <a:p>
            <a:pPr marL="0" indent="0" algn="just">
              <a:buNone/>
            </a:pPr>
            <a:endParaRPr lang="en-GB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Throughput (R)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 the average number of entities or items completed per unit time, the output rate from a process.</a:t>
            </a:r>
          </a:p>
          <a:p>
            <a:pPr marL="0" indent="0" algn="just">
              <a:lnSpc>
                <a:spcPct val="120000"/>
              </a:lnSpc>
              <a:spcBef>
                <a:spcPts val="1200"/>
              </a:spcBef>
              <a:buNone/>
            </a:pPr>
            <a:endParaRPr lang="en-GB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Flow time (T)</a:t>
            </a:r>
            <a:endParaRPr lang="en-GB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1800"/>
              </a:spcBef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Work in Progress = Throughput x Flow Time or cycle time </a:t>
            </a:r>
          </a:p>
          <a:p>
            <a:pPr marL="0" indent="0" algn="just">
              <a:lnSpc>
                <a:spcPct val="110000"/>
              </a:lnSpc>
              <a:spcBef>
                <a:spcPts val="1800"/>
              </a:spcBef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Little’s Law:		WIP = R x 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62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Q5 Solution: Little’s Law</a:t>
            </a:r>
          </a:p>
        </p:txBody>
      </p:sp>
      <p:sp>
        <p:nvSpPr>
          <p:cNvPr id="614" name="Chip topic"/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LITTLE’S LAW</a:t>
            </a:r>
          </a:p>
        </p:txBody>
      </p:sp>
      <p:sp>
        <p:nvSpPr>
          <p:cNvPr id="615" name="Chip Solution"/>
          <p:cNvSpPr/>
          <p:nvPr/>
        </p:nvSpPr>
        <p:spPr>
          <a:xfrm>
            <a:off x="1691640" y="914400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7A75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0B7A75"/>
                </a:solidFill>
              </a:rPr>
              <a:t>Solution</a:t>
            </a:r>
          </a:p>
        </p:txBody>
      </p:sp>
      <p:sp>
        <p:nvSpPr>
          <p:cNvPr id="616" name="Chip Check your answers"/>
          <p:cNvSpPr/>
          <p:nvPr/>
        </p:nvSpPr>
        <p:spPr>
          <a:xfrm>
            <a:off x="2441448" y="914400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7A75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0B7A75"/>
                </a:solidFill>
              </a:rPr>
              <a:t>Check your answers</a:t>
            </a:r>
          </a:p>
        </p:txBody>
      </p:sp>
      <p:sp>
        <p:nvSpPr>
          <p:cNvPr id="617" name="Scenario"/>
          <p:cNvSpPr/>
          <p:nvPr/>
        </p:nvSpPr>
        <p:spPr>
          <a:xfrm>
            <a:off x="274320" y="1298448"/>
            <a:ext cx="8595360" cy="411480"/>
          </a:xfrm>
          <a:prstGeom prst="roundRect">
            <a:avLst>
              <a:gd name="adj" fmla="val 12000"/>
            </a:avLst>
          </a:prstGeom>
          <a:solidFill>
            <a:srgbClr val="D5EFEC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r>
              <a:rPr lang="en-GB" sz="1300" b="1" i="0" dirty="0">
                <a:solidFill>
                  <a:srgbClr val="0B7A75"/>
                </a:solidFill>
              </a:rPr>
              <a:t>Given: </a:t>
            </a:r>
            <a:r>
              <a:rPr lang="en-GB" sz="1300" b="0" i="0" dirty="0">
                <a:solidFill>
                  <a:srgbClr val="1A1A1A"/>
                </a:solidFill>
              </a:rPr>
              <a:t>R = 24 per hour  •  T = 15 min = </a:t>
            </a:r>
            <a:r>
              <a:rPr lang="en-GB" sz="1200" dirty="0">
                <a:solidFill>
                  <a:srgbClr val="1A1A1A"/>
                </a:solidFill>
              </a:rPr>
              <a:t>15 ÷ 60 </a:t>
            </a:r>
            <a:r>
              <a:rPr lang="en-GB" sz="1300" b="0" i="0" dirty="0">
                <a:solidFill>
                  <a:srgbClr val="1A1A1A"/>
                </a:solidFill>
              </a:rPr>
              <a:t>= 0.25 hours  •  work content = 6 min</a:t>
            </a:r>
          </a:p>
        </p:txBody>
      </p:sp>
      <p:sp>
        <p:nvSpPr>
          <p:cNvPr id="618" name="Lab a"/>
          <p:cNvSpPr/>
          <p:nvPr/>
        </p:nvSpPr>
        <p:spPr>
          <a:xfrm>
            <a:off x="274320" y="1883664"/>
            <a:ext cx="347472" cy="347472"/>
          </a:xfrm>
          <a:prstGeom prst="ellipse">
            <a:avLst/>
          </a:prstGeom>
          <a:solidFill>
            <a:srgbClr val="0B7A7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19" name="Work a"/>
          <p:cNvSpPr/>
          <p:nvPr/>
        </p:nvSpPr>
        <p:spPr>
          <a:xfrm>
            <a:off x="713232" y="182880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WIP = R × T = 24 × 0.25</a:t>
            </a:r>
          </a:p>
        </p:txBody>
      </p:sp>
      <p:sp>
        <p:nvSpPr>
          <p:cNvPr id="620" name="Ans a"/>
          <p:cNvSpPr/>
          <p:nvPr/>
        </p:nvSpPr>
        <p:spPr>
          <a:xfrm>
            <a:off x="6858000" y="18288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6 students</a:t>
            </a:r>
          </a:p>
        </p:txBody>
      </p:sp>
      <p:sp>
        <p:nvSpPr>
          <p:cNvPr id="621" name="Lab b"/>
          <p:cNvSpPr/>
          <p:nvPr/>
        </p:nvSpPr>
        <p:spPr>
          <a:xfrm>
            <a:off x="274320" y="2432304"/>
            <a:ext cx="347472" cy="347472"/>
          </a:xfrm>
          <a:prstGeom prst="ellipse">
            <a:avLst/>
          </a:prstGeom>
          <a:solidFill>
            <a:srgbClr val="0B7A7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22" name="Work b"/>
          <p:cNvSpPr/>
          <p:nvPr/>
        </p:nvSpPr>
        <p:spPr>
          <a:xfrm>
            <a:off x="713232" y="237744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Served = 24 × 4</a:t>
            </a:r>
          </a:p>
        </p:txBody>
      </p:sp>
      <p:sp>
        <p:nvSpPr>
          <p:cNvPr id="623" name="Ans b"/>
          <p:cNvSpPr/>
          <p:nvPr/>
        </p:nvSpPr>
        <p:spPr>
          <a:xfrm>
            <a:off x="6858000" y="23774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96 students</a:t>
            </a:r>
          </a:p>
        </p:txBody>
      </p:sp>
      <p:sp>
        <p:nvSpPr>
          <p:cNvPr id="624" name="Lab c"/>
          <p:cNvSpPr/>
          <p:nvPr/>
        </p:nvSpPr>
        <p:spPr>
          <a:xfrm>
            <a:off x="274320" y="3016944"/>
            <a:ext cx="347472" cy="347472"/>
          </a:xfrm>
          <a:prstGeom prst="ellipse">
            <a:avLst/>
          </a:prstGeom>
          <a:solidFill>
            <a:srgbClr val="0B7A7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25" name="Work c"/>
          <p:cNvSpPr/>
          <p:nvPr/>
        </p:nvSpPr>
        <p:spPr>
          <a:xfrm>
            <a:off x="713232" y="2890080"/>
            <a:ext cx="6053328" cy="58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Cycle time = 60 ÷ 24 = 2.5 min;  </a:t>
            </a:r>
          </a:p>
          <a:p>
            <a:r>
              <a:rPr lang="en-GB" dirty="0"/>
              <a:t>Servers required = Work content </a:t>
            </a:r>
            <a:r>
              <a:rPr lang="en-GB" dirty="0">
                <a:solidFill>
                  <a:srgbClr val="1A1A1A"/>
                </a:solidFill>
              </a:rPr>
              <a:t>÷ </a:t>
            </a:r>
            <a:r>
              <a:rPr lang="en-GB" dirty="0"/>
              <a:t>Cycle time = </a:t>
            </a:r>
            <a:r>
              <a:rPr lang="en-GB" sz="1400" b="0" i="0" dirty="0">
                <a:solidFill>
                  <a:srgbClr val="1A1A1A"/>
                </a:solidFill>
              </a:rPr>
              <a:t> 6 ÷ 2.5 = 2.4, round up</a:t>
            </a:r>
          </a:p>
        </p:txBody>
      </p:sp>
      <p:sp>
        <p:nvSpPr>
          <p:cNvPr id="626" name="Ans c"/>
          <p:cNvSpPr/>
          <p:nvPr/>
        </p:nvSpPr>
        <p:spPr>
          <a:xfrm>
            <a:off x="6858000" y="29620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3 staff</a:t>
            </a:r>
          </a:p>
        </p:txBody>
      </p:sp>
      <p:sp>
        <p:nvSpPr>
          <p:cNvPr id="627" name="Lab d"/>
          <p:cNvSpPr/>
          <p:nvPr/>
        </p:nvSpPr>
        <p:spPr>
          <a:xfrm>
            <a:off x="274320" y="3637584"/>
            <a:ext cx="347472" cy="347472"/>
          </a:xfrm>
          <a:prstGeom prst="ellipse">
            <a:avLst/>
          </a:prstGeom>
          <a:solidFill>
            <a:srgbClr val="0B7A7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628" name="Work d"/>
          <p:cNvSpPr/>
          <p:nvPr/>
        </p:nvSpPr>
        <p:spPr>
          <a:xfrm>
            <a:off x="713232" y="358272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WIP = 24 × (10 ÷ 60)</a:t>
            </a:r>
          </a:p>
        </p:txBody>
      </p:sp>
      <p:sp>
        <p:nvSpPr>
          <p:cNvPr id="629" name="Ans d"/>
          <p:cNvSpPr/>
          <p:nvPr/>
        </p:nvSpPr>
        <p:spPr>
          <a:xfrm>
            <a:off x="6858000" y="35827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4 students</a:t>
            </a:r>
          </a:p>
        </p:txBody>
      </p:sp>
      <p:sp>
        <p:nvSpPr>
          <p:cNvPr id="630" name="Insight"/>
          <p:cNvSpPr/>
          <p:nvPr/>
        </p:nvSpPr>
        <p:spPr>
          <a:xfrm>
            <a:off x="274320" y="411480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C2410C"/>
                </a:solidFill>
              </a:rPr>
              <a:t>So what? </a:t>
            </a:r>
            <a:r>
              <a:rPr lang="en-GB" sz="1200" b="0" i="0" dirty="0">
                <a:solidFill>
                  <a:srgbClr val="1A1A1A"/>
                </a:solidFill>
              </a:rPr>
              <a:t>A third less time in the system means a third fewer people waiting: same demand, less crowding.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Q6: Little’s Law Practice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1350" dirty="0"/>
              <a:t>Use Little’s Law (WIP = R × T) to answer each part. Watch your units.</a:t>
            </a:r>
          </a:p>
          <a:p>
            <a:pPr lvl="1" algn="just">
              <a:spcBef>
                <a:spcPts val="500"/>
              </a:spcBef>
            </a:pPr>
            <a:r>
              <a:rPr lang="en-GB" sz="1350" b="1" dirty="0"/>
              <a:t>(i)</a:t>
            </a:r>
            <a:r>
              <a:rPr lang="en-GB" sz="1350" dirty="0"/>
              <a:t> A sandwich shop serves an average of 60 customers per hour, and on average it takes 7 minutes (flow time) for each person to be served. Calculate the average number of people in the shop.</a:t>
            </a:r>
          </a:p>
          <a:p>
            <a:pPr lvl="1" algn="just">
              <a:spcBef>
                <a:spcPts val="500"/>
              </a:spcBef>
            </a:pPr>
            <a:r>
              <a:rPr lang="en-GB" sz="1350" b="1" dirty="0"/>
              <a:t>(ii)</a:t>
            </a:r>
            <a:r>
              <a:rPr lang="en-GB" sz="1350" dirty="0"/>
              <a:t> A car insurance claims department takes an average of 14 days (0.5 months) (flow time) to process a claim. 450 claims are in various stages of processing at any one time. Calculate the throughput of the department.</a:t>
            </a:r>
          </a:p>
          <a:p>
            <a:pPr lvl="1" algn="just">
              <a:spcBef>
                <a:spcPts val="500"/>
              </a:spcBef>
            </a:pPr>
            <a:r>
              <a:rPr lang="en-GB" sz="1350" b="1" dirty="0"/>
              <a:t>(iii)</a:t>
            </a:r>
            <a:r>
              <a:rPr lang="en-GB" sz="1350" dirty="0"/>
              <a:t> A pizza restaurant makes 600 pizzas per week, each using 0.5 kg of dough, and typically holds 70 kg of dough in stock. Calculate the average flow time.</a:t>
            </a:r>
          </a:p>
          <a:p>
            <a:pPr lvl="1" algn="just">
              <a:spcBef>
                <a:spcPts val="500"/>
              </a:spcBef>
            </a:pPr>
            <a:r>
              <a:rPr lang="en-GB" sz="1350" b="1" dirty="0"/>
              <a:t>(iv)</a:t>
            </a:r>
            <a:r>
              <a:rPr lang="en-GB" sz="1350" dirty="0"/>
              <a:t> A theatre play has a 20-minute interval, in which 86 women need to use the toilet. On average, each spends 3 minutes in a cubicle, and there are 10 cubicles. Does the theatre have enough toilets? (This one is difficult!)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Q6 Solution: Little’s Law Practice</a:t>
            </a:r>
          </a:p>
        </p:txBody>
      </p:sp>
      <p:sp>
        <p:nvSpPr>
          <p:cNvPr id="644" name="Chip topic"/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LITTLE’S LAW</a:t>
            </a:r>
          </a:p>
        </p:txBody>
      </p:sp>
      <p:sp>
        <p:nvSpPr>
          <p:cNvPr id="645" name="Chip Solution"/>
          <p:cNvSpPr/>
          <p:nvPr/>
        </p:nvSpPr>
        <p:spPr>
          <a:xfrm>
            <a:off x="1691640" y="914400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7A75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0B7A75"/>
                </a:solidFill>
              </a:rPr>
              <a:t>Solution</a:t>
            </a:r>
          </a:p>
        </p:txBody>
      </p:sp>
      <p:sp>
        <p:nvSpPr>
          <p:cNvPr id="646" name="Chip Check your answers"/>
          <p:cNvSpPr/>
          <p:nvPr/>
        </p:nvSpPr>
        <p:spPr>
          <a:xfrm>
            <a:off x="2441448" y="914400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7A75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0B7A75"/>
                </a:solidFill>
              </a:rPr>
              <a:t>Check your answers</a:t>
            </a:r>
          </a:p>
        </p:txBody>
      </p:sp>
      <p:sp>
        <p:nvSpPr>
          <p:cNvPr id="647" name="Lab i"/>
          <p:cNvSpPr/>
          <p:nvPr/>
        </p:nvSpPr>
        <p:spPr>
          <a:xfrm>
            <a:off x="274320" y="1389888"/>
            <a:ext cx="347472" cy="347472"/>
          </a:xfrm>
          <a:prstGeom prst="ellipse">
            <a:avLst/>
          </a:prstGeom>
          <a:solidFill>
            <a:srgbClr val="0B7A7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48" name="Work i"/>
          <p:cNvSpPr/>
          <p:nvPr/>
        </p:nvSpPr>
        <p:spPr>
          <a:xfrm>
            <a:off x="713232" y="1371600"/>
            <a:ext cx="605332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</a:rPr>
              <a:t>R = 60 per hour = 1 per minute;  WIP = 1 × 7</a:t>
            </a:r>
          </a:p>
        </p:txBody>
      </p:sp>
      <p:sp>
        <p:nvSpPr>
          <p:cNvPr id="649" name="Ans i"/>
          <p:cNvSpPr/>
          <p:nvPr/>
        </p:nvSpPr>
        <p:spPr>
          <a:xfrm>
            <a:off x="6858000" y="1371600"/>
            <a:ext cx="2011680" cy="384048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</a:rPr>
              <a:t>7 people</a:t>
            </a:r>
          </a:p>
        </p:txBody>
      </p:sp>
      <p:sp>
        <p:nvSpPr>
          <p:cNvPr id="650" name="Lab ii"/>
          <p:cNvSpPr/>
          <p:nvPr/>
        </p:nvSpPr>
        <p:spPr>
          <a:xfrm>
            <a:off x="274320" y="1847088"/>
            <a:ext cx="347472" cy="347472"/>
          </a:xfrm>
          <a:prstGeom prst="ellipse">
            <a:avLst/>
          </a:prstGeom>
          <a:solidFill>
            <a:srgbClr val="0B7A7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651" name="Work ii"/>
          <p:cNvSpPr/>
          <p:nvPr/>
        </p:nvSpPr>
        <p:spPr>
          <a:xfrm>
            <a:off x="713232" y="1828800"/>
            <a:ext cx="605332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</a:rPr>
              <a:t>R = WIP ÷ T = 450 ÷ 0.5</a:t>
            </a:r>
          </a:p>
        </p:txBody>
      </p:sp>
      <p:sp>
        <p:nvSpPr>
          <p:cNvPr id="652" name="Ans ii"/>
          <p:cNvSpPr/>
          <p:nvPr/>
        </p:nvSpPr>
        <p:spPr>
          <a:xfrm>
            <a:off x="6858000" y="1828800"/>
            <a:ext cx="2011680" cy="384048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</a:rPr>
              <a:t>900 per month</a:t>
            </a:r>
          </a:p>
        </p:txBody>
      </p:sp>
      <p:sp>
        <p:nvSpPr>
          <p:cNvPr id="653" name="Lab iii"/>
          <p:cNvSpPr/>
          <p:nvPr/>
        </p:nvSpPr>
        <p:spPr>
          <a:xfrm>
            <a:off x="274320" y="2304288"/>
            <a:ext cx="347472" cy="347472"/>
          </a:xfrm>
          <a:prstGeom prst="ellipse">
            <a:avLst/>
          </a:prstGeom>
          <a:solidFill>
            <a:srgbClr val="0B7A7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dirty="0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654" name="Work iii"/>
          <p:cNvSpPr/>
          <p:nvPr/>
        </p:nvSpPr>
        <p:spPr>
          <a:xfrm>
            <a:off x="713232" y="2286000"/>
            <a:ext cx="605332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</a:rPr>
              <a:t>R = 600 × 0.5 = 300 kg/week;  T = 70 ÷ 300 = 0.23 weeks</a:t>
            </a:r>
          </a:p>
        </p:txBody>
      </p:sp>
      <p:sp>
        <p:nvSpPr>
          <p:cNvPr id="655" name="Ans iii"/>
          <p:cNvSpPr/>
          <p:nvPr/>
        </p:nvSpPr>
        <p:spPr>
          <a:xfrm>
            <a:off x="6858000" y="2286000"/>
            <a:ext cx="2011680" cy="384048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</a:rPr>
              <a:t>≈ 1.6 days</a:t>
            </a:r>
          </a:p>
        </p:txBody>
      </p:sp>
      <p:sp>
        <p:nvSpPr>
          <p:cNvPr id="656" name="Lab iv"/>
          <p:cNvSpPr/>
          <p:nvPr/>
        </p:nvSpPr>
        <p:spPr>
          <a:xfrm>
            <a:off x="274320" y="2852928"/>
            <a:ext cx="347472" cy="347472"/>
          </a:xfrm>
          <a:prstGeom prst="ellipse">
            <a:avLst/>
          </a:prstGeom>
          <a:solidFill>
            <a:srgbClr val="0B7A7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iv</a:t>
            </a:r>
          </a:p>
        </p:txBody>
      </p:sp>
      <p:sp>
        <p:nvSpPr>
          <p:cNvPr id="657" name="Work iv"/>
          <p:cNvSpPr/>
          <p:nvPr/>
        </p:nvSpPr>
        <p:spPr>
          <a:xfrm>
            <a:off x="713232" y="2743200"/>
            <a:ext cx="605332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</a:rPr>
              <a:t>R = 86 ÷ 20 = 4.3 per min;  WIP = 4.3 × 3 = 12.9 &gt; 10 cubicles. Max served = 10 × 20 ÷ 3 ≈ 67, so about 19 miss out</a:t>
            </a:r>
          </a:p>
        </p:txBody>
      </p:sp>
      <p:sp>
        <p:nvSpPr>
          <p:cNvPr id="658" name="Ans iv"/>
          <p:cNvSpPr/>
          <p:nvPr/>
        </p:nvSpPr>
        <p:spPr>
          <a:xfrm>
            <a:off x="6858000" y="2743200"/>
            <a:ext cx="2011680" cy="566928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FFFFFF"/>
                </a:solidFill>
              </a:rPr>
              <a:t>Not enough</a:t>
            </a:r>
          </a:p>
        </p:txBody>
      </p:sp>
      <p:sp>
        <p:nvSpPr>
          <p:cNvPr id="659" name="Insight"/>
          <p:cNvSpPr/>
          <p:nvPr/>
        </p:nvSpPr>
        <p:spPr>
          <a:xfrm>
            <a:off x="274320" y="3474720"/>
            <a:ext cx="8595360" cy="54864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C2410C"/>
                </a:solidFill>
              </a:rPr>
              <a:t>So what?  </a:t>
            </a:r>
            <a:r>
              <a:rPr lang="en-GB" sz="1200" b="0" i="0" dirty="0">
                <a:solidFill>
                  <a:srgbClr val="1A1A1A"/>
                </a:solidFill>
              </a:rPr>
              <a:t>in (iv) demand is bunched at the start of the interval, so real queues are worse than the average suggests: a Kingman effect.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Q7: Labour Productivity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en-GB" sz="1600" dirty="0"/>
              <a:t>Quintana employees work a total of 550 hours each week producing 8,750 scarves. In an average week, 350 scarves are flawed and sold as seconds for £5, while the remaining 8,400 retail for £25.</a:t>
            </a:r>
          </a:p>
          <a:p>
            <a:pPr lvl="1" algn="just"/>
            <a:r>
              <a:rPr lang="en-GB" sz="1600" b="1" dirty="0"/>
              <a:t>Hours worked:</a:t>
            </a:r>
            <a:r>
              <a:rPr lang="en-GB" sz="1600" dirty="0"/>
              <a:t> 550 hours per week</a:t>
            </a:r>
          </a:p>
          <a:p>
            <a:pPr lvl="1" algn="just"/>
            <a:r>
              <a:rPr lang="en-GB" sz="1600" b="1" dirty="0"/>
              <a:t>Scarves produced (achieved capacity):</a:t>
            </a:r>
            <a:r>
              <a:rPr lang="en-GB" sz="1600" dirty="0"/>
              <a:t> 8,750 scarves</a:t>
            </a:r>
          </a:p>
          <a:p>
            <a:pPr lvl="1" algn="just"/>
            <a:r>
              <a:rPr lang="en-GB" sz="1600" b="1" dirty="0"/>
              <a:t>Perfect scarves:</a:t>
            </a:r>
            <a:r>
              <a:rPr lang="en-GB" sz="1600" dirty="0"/>
              <a:t> 8,400 sold for £25.00 each</a:t>
            </a:r>
          </a:p>
          <a:p>
            <a:pPr lvl="1" algn="just"/>
            <a:r>
              <a:rPr lang="en-GB" sz="1600" b="1" dirty="0"/>
              <a:t>Flawed scarves:</a:t>
            </a:r>
            <a:r>
              <a:rPr lang="en-GB" sz="1600" dirty="0"/>
              <a:t> 350 sold for £5.00 each</a:t>
            </a:r>
          </a:p>
          <a:p>
            <a:pPr marL="596900" lvl="1" indent="0" algn="just">
              <a:buNone/>
            </a:pPr>
            <a:endParaRPr lang="en-GB" sz="1600" b="1" dirty="0"/>
          </a:p>
          <a:p>
            <a:pPr marL="596900" lvl="1" indent="0" algn="just">
              <a:buNone/>
            </a:pPr>
            <a:endParaRPr lang="en-GB" sz="1600" b="1" dirty="0"/>
          </a:p>
          <a:p>
            <a:pPr marL="596900" lvl="1" indent="0" algn="just">
              <a:buNone/>
            </a:pPr>
            <a:endParaRPr lang="en-GB" sz="1600" b="1" dirty="0"/>
          </a:p>
          <a:p>
            <a:pPr marL="139700" indent="0" algn="just">
              <a:buNone/>
            </a:pPr>
            <a:r>
              <a:rPr lang="en-GB" sz="2000" b="1" dirty="0"/>
              <a:t>Question:</a:t>
            </a:r>
            <a:r>
              <a:rPr lang="en-GB" sz="2000" dirty="0"/>
              <a:t> What is labour productivity per hour in terms of (a) scarves produced and (b) sales value?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Q7 Solution: Labour Productivity</a:t>
            </a:r>
          </a:p>
        </p:txBody>
      </p:sp>
      <p:sp>
        <p:nvSpPr>
          <p:cNvPr id="671" name="Chip topic"/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PRODUCTIVITY</a:t>
            </a:r>
          </a:p>
        </p:txBody>
      </p:sp>
      <p:sp>
        <p:nvSpPr>
          <p:cNvPr id="672" name="Chip Solution"/>
          <p:cNvSpPr/>
          <p:nvPr/>
        </p:nvSpPr>
        <p:spPr>
          <a:xfrm>
            <a:off x="1691640" y="914400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2E7D32"/>
                </a:solidFill>
              </a:rPr>
              <a:t>Solution</a:t>
            </a:r>
          </a:p>
        </p:txBody>
      </p:sp>
      <p:sp>
        <p:nvSpPr>
          <p:cNvPr id="673" name="Chip Check your answers"/>
          <p:cNvSpPr/>
          <p:nvPr/>
        </p:nvSpPr>
        <p:spPr>
          <a:xfrm>
            <a:off x="2441448" y="914400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2E7D32"/>
                </a:solidFill>
              </a:rPr>
              <a:t>Check your answers</a:t>
            </a:r>
          </a:p>
        </p:txBody>
      </p:sp>
      <p:sp>
        <p:nvSpPr>
          <p:cNvPr id="674" name="Scenario"/>
          <p:cNvSpPr/>
          <p:nvPr/>
        </p:nvSpPr>
        <p:spPr>
          <a:xfrm>
            <a:off x="274320" y="1298448"/>
            <a:ext cx="8595360" cy="411480"/>
          </a:xfrm>
          <a:prstGeom prst="roundRect">
            <a:avLst>
              <a:gd name="adj" fmla="val 12000"/>
            </a:avLst>
          </a:prstGeom>
          <a:solidFill>
            <a:srgbClr val="E2F0E3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dirty="0">
                <a:solidFill>
                  <a:srgbClr val="2E7D32"/>
                </a:solidFill>
              </a:rPr>
              <a:t>Given: </a:t>
            </a:r>
            <a:r>
              <a:rPr lang="en-GB" sz="1300" b="0" i="0" dirty="0">
                <a:solidFill>
                  <a:srgbClr val="1A1A1A"/>
                </a:solidFill>
              </a:rPr>
              <a:t>labour input = 550 hours per week</a:t>
            </a:r>
          </a:p>
        </p:txBody>
      </p:sp>
      <p:sp>
        <p:nvSpPr>
          <p:cNvPr id="675" name="Lab a"/>
          <p:cNvSpPr/>
          <p:nvPr/>
        </p:nvSpPr>
        <p:spPr>
          <a:xfrm>
            <a:off x="274320" y="1860804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76" name="Work a"/>
          <p:cNvSpPr/>
          <p:nvPr/>
        </p:nvSpPr>
        <p:spPr>
          <a:xfrm>
            <a:off x="713232" y="1828800"/>
            <a:ext cx="587044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Output: 8,750 ÷ 550</a:t>
            </a:r>
          </a:p>
        </p:txBody>
      </p:sp>
      <p:sp>
        <p:nvSpPr>
          <p:cNvPr id="677" name="Ans a"/>
          <p:cNvSpPr/>
          <p:nvPr/>
        </p:nvSpPr>
        <p:spPr>
          <a:xfrm>
            <a:off x="6675120" y="1828800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15.9 scarves/hr</a:t>
            </a:r>
          </a:p>
        </p:txBody>
      </p:sp>
      <p:sp>
        <p:nvSpPr>
          <p:cNvPr id="678" name="Lab b"/>
          <p:cNvSpPr/>
          <p:nvPr/>
        </p:nvSpPr>
        <p:spPr>
          <a:xfrm>
            <a:off x="274320" y="2363724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79" name="Work b"/>
          <p:cNvSpPr/>
          <p:nvPr/>
        </p:nvSpPr>
        <p:spPr>
          <a:xfrm>
            <a:off x="713232" y="2331720"/>
            <a:ext cx="587044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Sales: (8,400 × £25) + (350 × £5) = £211,750;  ÷ 550</a:t>
            </a:r>
          </a:p>
        </p:txBody>
      </p:sp>
      <p:sp>
        <p:nvSpPr>
          <p:cNvPr id="680" name="Ans b"/>
          <p:cNvSpPr/>
          <p:nvPr/>
        </p:nvSpPr>
        <p:spPr>
          <a:xfrm>
            <a:off x="6675120" y="2331720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£385 per hour</a:t>
            </a:r>
          </a:p>
        </p:txBody>
      </p:sp>
      <p:sp>
        <p:nvSpPr>
          <p:cNvPr id="681" name="Lab +"/>
          <p:cNvSpPr/>
          <p:nvPr/>
        </p:nvSpPr>
        <p:spPr>
          <a:xfrm>
            <a:off x="274320" y="2866644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682" name="Work +"/>
          <p:cNvSpPr/>
          <p:nvPr/>
        </p:nvSpPr>
        <p:spPr>
          <a:xfrm>
            <a:off x="713232" y="2834640"/>
            <a:ext cx="5870448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Perfect scarves only: 8,400 ÷ 550</a:t>
            </a:r>
          </a:p>
        </p:txBody>
      </p:sp>
      <p:sp>
        <p:nvSpPr>
          <p:cNvPr id="683" name="Ans +"/>
          <p:cNvSpPr/>
          <p:nvPr/>
        </p:nvSpPr>
        <p:spPr>
          <a:xfrm>
            <a:off x="6675120" y="2834640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15.3 scarves/hr</a:t>
            </a:r>
          </a:p>
        </p:txBody>
      </p:sp>
      <p:sp>
        <p:nvSpPr>
          <p:cNvPr id="684" name="Insight"/>
          <p:cNvSpPr/>
          <p:nvPr/>
        </p:nvSpPr>
        <p:spPr>
          <a:xfrm>
            <a:off x="274320" y="342900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C2410C"/>
                </a:solidFill>
              </a:rPr>
              <a:t>So what?  </a:t>
            </a:r>
            <a:r>
              <a:rPr lang="en-GB" sz="1200" b="0" i="0" dirty="0">
                <a:solidFill>
                  <a:srgbClr val="1A1A1A"/>
                </a:solidFill>
              </a:rPr>
              <a:t>quality matters: flawed scarves cut real productivity and earn only a fifth of the price.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Q8: Comparing Two Systems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1500" dirty="0"/>
              <a:t>Equinox Inc.’s accounts department has 5 employees, each working 7 hours per day, with total overheads of £300 and total wages of £350 per day. It processes 450 invoices a day. After investing in an online e-invoicing system, only 2 employees are needed (still 7 hours per day each), with total wages of £175 per day, and it still processes 450 invoices a day. Overheads have risen to £500 per day to cover the investment.</a:t>
            </a:r>
          </a:p>
          <a:p>
            <a:pPr lvl="1" algn="just"/>
            <a:r>
              <a:rPr lang="en-GB" sz="1500" b="1" dirty="0"/>
              <a:t>(a)</a:t>
            </a:r>
            <a:r>
              <a:rPr lang="en-GB" sz="1500" dirty="0"/>
              <a:t> What is the labour productivity (invoices per labour hour) of the old and new systems?</a:t>
            </a:r>
          </a:p>
          <a:p>
            <a:pPr lvl="1" algn="just"/>
            <a:r>
              <a:rPr lang="en-GB" sz="1500" b="1" dirty="0"/>
              <a:t>(b)</a:t>
            </a:r>
            <a:r>
              <a:rPr lang="en-GB" sz="1500" dirty="0"/>
              <a:t> What is the percentage change in labour productivity?</a:t>
            </a:r>
          </a:p>
          <a:p>
            <a:pPr lvl="1" algn="just"/>
            <a:r>
              <a:rPr lang="en-GB" sz="1500" b="1" dirty="0"/>
              <a:t>(c)</a:t>
            </a:r>
            <a:r>
              <a:rPr lang="en-GB" sz="1500" dirty="0"/>
              <a:t> What is the multifactor productivity (invoices per £) of the old and new systems?</a:t>
            </a:r>
          </a:p>
          <a:p>
            <a:pPr lvl="1" algn="just"/>
            <a:r>
              <a:rPr lang="en-GB" sz="1500" b="1" dirty="0"/>
              <a:t>(d)</a:t>
            </a:r>
            <a:r>
              <a:rPr lang="en-GB" sz="1500" dirty="0"/>
              <a:t> What is the percentage change in multifactor productivity?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648FD-1FF7-A652-20CC-13B7E345F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41590BE2-015F-BD76-6457-59AAED6289D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Q8 Solution: Comparing Two Systems</a:t>
            </a:r>
          </a:p>
        </p:txBody>
      </p:sp>
      <p:sp>
        <p:nvSpPr>
          <p:cNvPr id="698" name="Chip topic">
            <a:extLst>
              <a:ext uri="{FF2B5EF4-FFF2-40B4-BE49-F238E27FC236}">
                <a16:creationId xmlns:a16="http://schemas.microsoft.com/office/drawing/2014/main" id="{4367059C-FF82-56CB-750C-4EF8F6E637F5}"/>
              </a:ext>
            </a:extLst>
          </p:cNvPr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PRODUCTIVITY</a:t>
            </a:r>
          </a:p>
        </p:txBody>
      </p:sp>
      <p:sp>
        <p:nvSpPr>
          <p:cNvPr id="699" name="Chip Solution">
            <a:extLst>
              <a:ext uri="{FF2B5EF4-FFF2-40B4-BE49-F238E27FC236}">
                <a16:creationId xmlns:a16="http://schemas.microsoft.com/office/drawing/2014/main" id="{3F49B805-F49D-0592-20D7-3E9282C8B496}"/>
              </a:ext>
            </a:extLst>
          </p:cNvPr>
          <p:cNvSpPr/>
          <p:nvPr/>
        </p:nvSpPr>
        <p:spPr>
          <a:xfrm>
            <a:off x="1691640" y="914400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2E7D32"/>
                </a:solidFill>
              </a:rPr>
              <a:t>Solution</a:t>
            </a:r>
          </a:p>
        </p:txBody>
      </p:sp>
      <p:sp>
        <p:nvSpPr>
          <p:cNvPr id="700" name="Chip Check your answers">
            <a:extLst>
              <a:ext uri="{FF2B5EF4-FFF2-40B4-BE49-F238E27FC236}">
                <a16:creationId xmlns:a16="http://schemas.microsoft.com/office/drawing/2014/main" id="{BADDFA7C-744D-12E9-8B13-43C546F7B6B0}"/>
              </a:ext>
            </a:extLst>
          </p:cNvPr>
          <p:cNvSpPr/>
          <p:nvPr/>
        </p:nvSpPr>
        <p:spPr>
          <a:xfrm>
            <a:off x="2441448" y="914400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2E7D32"/>
                </a:solidFill>
              </a:rPr>
              <a:t>Check your answers</a:t>
            </a:r>
          </a:p>
        </p:txBody>
      </p:sp>
      <p:sp>
        <p:nvSpPr>
          <p:cNvPr id="701" name="Scenario">
            <a:extLst>
              <a:ext uri="{FF2B5EF4-FFF2-40B4-BE49-F238E27FC236}">
                <a16:creationId xmlns:a16="http://schemas.microsoft.com/office/drawing/2014/main" id="{9623E13B-8ABA-BCAB-BB85-3BD4AF07D57F}"/>
              </a:ext>
            </a:extLst>
          </p:cNvPr>
          <p:cNvSpPr/>
          <p:nvPr/>
        </p:nvSpPr>
        <p:spPr>
          <a:xfrm>
            <a:off x="274320" y="1298448"/>
            <a:ext cx="8595360" cy="411480"/>
          </a:xfrm>
          <a:prstGeom prst="roundRect">
            <a:avLst>
              <a:gd name="adj" fmla="val 12000"/>
            </a:avLst>
          </a:prstGeom>
          <a:solidFill>
            <a:srgbClr val="E2F0E3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dirty="0">
                <a:solidFill>
                  <a:srgbClr val="2E7D32"/>
                </a:solidFill>
              </a:rPr>
              <a:t>Given: </a:t>
            </a:r>
            <a:r>
              <a:rPr lang="en-GB" sz="1300" b="0" i="0" dirty="0">
                <a:solidFill>
                  <a:srgbClr val="1A1A1A"/>
                </a:solidFill>
              </a:rPr>
              <a:t>labour hours: old 5 × 7 = 35  •  new 2 × 7 = 14 per day</a:t>
            </a:r>
          </a:p>
        </p:txBody>
      </p:sp>
      <p:sp>
        <p:nvSpPr>
          <p:cNvPr id="702" name="Lab a">
            <a:extLst>
              <a:ext uri="{FF2B5EF4-FFF2-40B4-BE49-F238E27FC236}">
                <a16:creationId xmlns:a16="http://schemas.microsoft.com/office/drawing/2014/main" id="{5DD21777-9F7D-B92D-DCC1-53673327CEF9}"/>
              </a:ext>
            </a:extLst>
          </p:cNvPr>
          <p:cNvSpPr/>
          <p:nvPr/>
        </p:nvSpPr>
        <p:spPr>
          <a:xfrm>
            <a:off x="274320" y="1883664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03" name="Work a">
            <a:extLst>
              <a:ext uri="{FF2B5EF4-FFF2-40B4-BE49-F238E27FC236}">
                <a16:creationId xmlns:a16="http://schemas.microsoft.com/office/drawing/2014/main" id="{D7140E0F-5AFA-5A1D-DD4C-42670111C72B}"/>
              </a:ext>
            </a:extLst>
          </p:cNvPr>
          <p:cNvSpPr/>
          <p:nvPr/>
        </p:nvSpPr>
        <p:spPr>
          <a:xfrm>
            <a:off x="713232" y="255600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Old 450 ÷ 35;  new 450 ÷ 14 (invoices per labour hour)</a:t>
            </a:r>
          </a:p>
        </p:txBody>
      </p:sp>
      <p:sp>
        <p:nvSpPr>
          <p:cNvPr id="704" name="Ans a">
            <a:extLst>
              <a:ext uri="{FF2B5EF4-FFF2-40B4-BE49-F238E27FC236}">
                <a16:creationId xmlns:a16="http://schemas.microsoft.com/office/drawing/2014/main" id="{7D9FC68B-FD94-509B-9608-526303BF78B2}"/>
              </a:ext>
            </a:extLst>
          </p:cNvPr>
          <p:cNvSpPr/>
          <p:nvPr/>
        </p:nvSpPr>
        <p:spPr>
          <a:xfrm>
            <a:off x="6858000" y="25560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12.86 → 32.14</a:t>
            </a:r>
          </a:p>
        </p:txBody>
      </p:sp>
      <p:sp>
        <p:nvSpPr>
          <p:cNvPr id="705" name="Lab b">
            <a:extLst>
              <a:ext uri="{FF2B5EF4-FFF2-40B4-BE49-F238E27FC236}">
                <a16:creationId xmlns:a16="http://schemas.microsoft.com/office/drawing/2014/main" id="{3A8C066E-C34A-F053-739F-4BBE8BB2C851}"/>
              </a:ext>
            </a:extLst>
          </p:cNvPr>
          <p:cNvSpPr/>
          <p:nvPr/>
        </p:nvSpPr>
        <p:spPr>
          <a:xfrm>
            <a:off x="305550" y="3346704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06" name="Work b">
            <a:extLst>
              <a:ext uri="{FF2B5EF4-FFF2-40B4-BE49-F238E27FC236}">
                <a16:creationId xmlns:a16="http://schemas.microsoft.com/office/drawing/2014/main" id="{03D9F3CD-5968-B6D4-8D0D-6033E9BBF691}"/>
              </a:ext>
            </a:extLst>
          </p:cNvPr>
          <p:cNvSpPr/>
          <p:nvPr/>
        </p:nvSpPr>
        <p:spPr>
          <a:xfrm>
            <a:off x="713232" y="392544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(32.14 − 12.86) ÷ 12.86</a:t>
            </a:r>
          </a:p>
        </p:txBody>
      </p:sp>
      <p:sp>
        <p:nvSpPr>
          <p:cNvPr id="707" name="Ans b">
            <a:extLst>
              <a:ext uri="{FF2B5EF4-FFF2-40B4-BE49-F238E27FC236}">
                <a16:creationId xmlns:a16="http://schemas.microsoft.com/office/drawing/2014/main" id="{174570B4-8DEE-D79A-494A-E2A083E3D304}"/>
              </a:ext>
            </a:extLst>
          </p:cNvPr>
          <p:cNvSpPr/>
          <p:nvPr/>
        </p:nvSpPr>
        <p:spPr>
          <a:xfrm>
            <a:off x="6858000" y="39254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+150%</a:t>
            </a:r>
          </a:p>
        </p:txBody>
      </p:sp>
      <p:sp>
        <p:nvSpPr>
          <p:cNvPr id="3" name="Part a">
            <a:extLst>
              <a:ext uri="{FF2B5EF4-FFF2-40B4-BE49-F238E27FC236}">
                <a16:creationId xmlns:a16="http://schemas.microsoft.com/office/drawing/2014/main" id="{AFC24733-3F7A-7491-3D6D-559080C526EC}"/>
              </a:ext>
            </a:extLst>
          </p:cNvPr>
          <p:cNvSpPr/>
          <p:nvPr/>
        </p:nvSpPr>
        <p:spPr>
          <a:xfrm>
            <a:off x="713232" y="1819656"/>
            <a:ext cx="506584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</a:rPr>
              <a:t>Labour productivity (invoices per labour hour), old and new?</a:t>
            </a:r>
          </a:p>
        </p:txBody>
      </p:sp>
      <p:sp>
        <p:nvSpPr>
          <p:cNvPr id="5" name="Part b">
            <a:extLst>
              <a:ext uri="{FF2B5EF4-FFF2-40B4-BE49-F238E27FC236}">
                <a16:creationId xmlns:a16="http://schemas.microsoft.com/office/drawing/2014/main" id="{0F94A650-1CCE-36E2-2CA9-4835D496E8B5}"/>
              </a:ext>
            </a:extLst>
          </p:cNvPr>
          <p:cNvSpPr/>
          <p:nvPr/>
        </p:nvSpPr>
        <p:spPr>
          <a:xfrm>
            <a:off x="713232" y="3291840"/>
            <a:ext cx="381304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</a:rPr>
              <a:t>Percentage change in labour productivity?</a:t>
            </a:r>
          </a:p>
        </p:txBody>
      </p:sp>
    </p:spTree>
    <p:extLst>
      <p:ext uri="{BB962C8B-B14F-4D97-AF65-F5344CB8AC3E}">
        <p14:creationId xmlns:p14="http://schemas.microsoft.com/office/powerpoint/2010/main" val="3275623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DB0E-31FD-DAE4-643D-773A36AFF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3F32C1F4-DEDE-F8FF-B33B-9C54B633DC3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Q8 Solution: Comparing Two Systems</a:t>
            </a:r>
          </a:p>
        </p:txBody>
      </p:sp>
      <p:sp>
        <p:nvSpPr>
          <p:cNvPr id="698" name="Chip topic">
            <a:extLst>
              <a:ext uri="{FF2B5EF4-FFF2-40B4-BE49-F238E27FC236}">
                <a16:creationId xmlns:a16="http://schemas.microsoft.com/office/drawing/2014/main" id="{209420C3-E51F-5A81-C119-3AB6F978F1D4}"/>
              </a:ext>
            </a:extLst>
          </p:cNvPr>
          <p:cNvSpPr/>
          <p:nvPr/>
        </p:nvSpPr>
        <p:spPr>
          <a:xfrm>
            <a:off x="274320" y="914400"/>
            <a:ext cx="1325880" cy="2743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PRODUCTIVITY</a:t>
            </a:r>
          </a:p>
        </p:txBody>
      </p:sp>
      <p:sp>
        <p:nvSpPr>
          <p:cNvPr id="699" name="Chip Solution">
            <a:extLst>
              <a:ext uri="{FF2B5EF4-FFF2-40B4-BE49-F238E27FC236}">
                <a16:creationId xmlns:a16="http://schemas.microsoft.com/office/drawing/2014/main" id="{126D0DE5-F36F-FDDD-0193-BE79568EE51C}"/>
              </a:ext>
            </a:extLst>
          </p:cNvPr>
          <p:cNvSpPr/>
          <p:nvPr/>
        </p:nvSpPr>
        <p:spPr>
          <a:xfrm>
            <a:off x="1691640" y="914400"/>
            <a:ext cx="6583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2E7D32"/>
                </a:solidFill>
              </a:rPr>
              <a:t>Solution</a:t>
            </a:r>
          </a:p>
        </p:txBody>
      </p:sp>
      <p:sp>
        <p:nvSpPr>
          <p:cNvPr id="700" name="Chip Check your answers">
            <a:extLst>
              <a:ext uri="{FF2B5EF4-FFF2-40B4-BE49-F238E27FC236}">
                <a16:creationId xmlns:a16="http://schemas.microsoft.com/office/drawing/2014/main" id="{844885E7-20F7-F3D4-0D32-7A138990D8BB}"/>
              </a:ext>
            </a:extLst>
          </p:cNvPr>
          <p:cNvSpPr/>
          <p:nvPr/>
        </p:nvSpPr>
        <p:spPr>
          <a:xfrm>
            <a:off x="2441448" y="914400"/>
            <a:ext cx="1344168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2E7D32"/>
                </a:solidFill>
              </a:rPr>
              <a:t>Check your answers</a:t>
            </a:r>
          </a:p>
        </p:txBody>
      </p:sp>
      <p:sp>
        <p:nvSpPr>
          <p:cNvPr id="701" name="Scenario">
            <a:extLst>
              <a:ext uri="{FF2B5EF4-FFF2-40B4-BE49-F238E27FC236}">
                <a16:creationId xmlns:a16="http://schemas.microsoft.com/office/drawing/2014/main" id="{18E2A118-6517-FDF6-E522-341A3BB81396}"/>
              </a:ext>
            </a:extLst>
          </p:cNvPr>
          <p:cNvSpPr/>
          <p:nvPr/>
        </p:nvSpPr>
        <p:spPr>
          <a:xfrm>
            <a:off x="274320" y="1298448"/>
            <a:ext cx="8595360" cy="411480"/>
          </a:xfrm>
          <a:prstGeom prst="roundRect">
            <a:avLst>
              <a:gd name="adj" fmla="val 12000"/>
            </a:avLst>
          </a:prstGeom>
          <a:solidFill>
            <a:srgbClr val="E2F0E3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dirty="0">
                <a:solidFill>
                  <a:srgbClr val="2E7D32"/>
                </a:solidFill>
              </a:rPr>
              <a:t>Given: </a:t>
            </a:r>
            <a:r>
              <a:rPr lang="en-GB" sz="1300" b="0" i="0" dirty="0">
                <a:solidFill>
                  <a:srgbClr val="1A1A1A"/>
                </a:solidFill>
              </a:rPr>
              <a:t>labour hours: old 5 × 7 = 35  •  new 2 × 7 = 14 per day</a:t>
            </a:r>
          </a:p>
        </p:txBody>
      </p:sp>
      <p:sp>
        <p:nvSpPr>
          <p:cNvPr id="702" name="Lab a">
            <a:extLst>
              <a:ext uri="{FF2B5EF4-FFF2-40B4-BE49-F238E27FC236}">
                <a16:creationId xmlns:a16="http://schemas.microsoft.com/office/drawing/2014/main" id="{3186564A-2684-D670-9756-6E29C80AE668}"/>
              </a:ext>
            </a:extLst>
          </p:cNvPr>
          <p:cNvSpPr/>
          <p:nvPr/>
        </p:nvSpPr>
        <p:spPr>
          <a:xfrm>
            <a:off x="274320" y="1883664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05" name="Lab b">
            <a:extLst>
              <a:ext uri="{FF2B5EF4-FFF2-40B4-BE49-F238E27FC236}">
                <a16:creationId xmlns:a16="http://schemas.microsoft.com/office/drawing/2014/main" id="{799395DA-02ED-9DFB-46BD-6E95231CC8C5}"/>
              </a:ext>
            </a:extLst>
          </p:cNvPr>
          <p:cNvSpPr/>
          <p:nvPr/>
        </p:nvSpPr>
        <p:spPr>
          <a:xfrm>
            <a:off x="305550" y="3346704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4" name="Part c">
            <a:extLst>
              <a:ext uri="{FF2B5EF4-FFF2-40B4-BE49-F238E27FC236}">
                <a16:creationId xmlns:a16="http://schemas.microsoft.com/office/drawing/2014/main" id="{6888F426-2B55-2762-81DB-CAAB61F331AC}"/>
              </a:ext>
            </a:extLst>
          </p:cNvPr>
          <p:cNvSpPr/>
          <p:nvPr/>
        </p:nvSpPr>
        <p:spPr>
          <a:xfrm>
            <a:off x="713232" y="1833084"/>
            <a:ext cx="42043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</a:rPr>
              <a:t>Multifactor productivity (invoices per £), old and new?</a:t>
            </a:r>
          </a:p>
        </p:txBody>
      </p:sp>
      <p:sp>
        <p:nvSpPr>
          <p:cNvPr id="7" name="Part d">
            <a:extLst>
              <a:ext uri="{FF2B5EF4-FFF2-40B4-BE49-F238E27FC236}">
                <a16:creationId xmlns:a16="http://schemas.microsoft.com/office/drawing/2014/main" id="{A062FD79-5AD1-E11C-54F4-C417EF13CD32}"/>
              </a:ext>
            </a:extLst>
          </p:cNvPr>
          <p:cNvSpPr/>
          <p:nvPr/>
        </p:nvSpPr>
        <p:spPr>
          <a:xfrm>
            <a:off x="713232" y="3292020"/>
            <a:ext cx="381304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</a:rPr>
              <a:t>Percentage change in multifactor productivity?</a:t>
            </a:r>
          </a:p>
        </p:txBody>
      </p:sp>
      <p:sp>
        <p:nvSpPr>
          <p:cNvPr id="9" name="Work c">
            <a:extLst>
              <a:ext uri="{FF2B5EF4-FFF2-40B4-BE49-F238E27FC236}">
                <a16:creationId xmlns:a16="http://schemas.microsoft.com/office/drawing/2014/main" id="{4831DC4F-A531-A557-23F3-5B2D01A553EF}"/>
              </a:ext>
            </a:extLst>
          </p:cNvPr>
          <p:cNvSpPr/>
          <p:nvPr/>
        </p:nvSpPr>
        <p:spPr>
          <a:xfrm>
            <a:off x="713232" y="255600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Old 450 ÷ (£350 + £300);  new 450 ÷ (£175 + £500)</a:t>
            </a:r>
          </a:p>
        </p:txBody>
      </p:sp>
      <p:sp>
        <p:nvSpPr>
          <p:cNvPr id="12" name="Ans c">
            <a:extLst>
              <a:ext uri="{FF2B5EF4-FFF2-40B4-BE49-F238E27FC236}">
                <a16:creationId xmlns:a16="http://schemas.microsoft.com/office/drawing/2014/main" id="{5943FA6F-5A10-68CF-9303-237F048E4D1B}"/>
              </a:ext>
            </a:extLst>
          </p:cNvPr>
          <p:cNvSpPr/>
          <p:nvPr/>
        </p:nvSpPr>
        <p:spPr>
          <a:xfrm>
            <a:off x="6858000" y="256455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0.692 → 0.667</a:t>
            </a:r>
          </a:p>
        </p:txBody>
      </p:sp>
      <p:sp>
        <p:nvSpPr>
          <p:cNvPr id="14" name="Work d">
            <a:extLst>
              <a:ext uri="{FF2B5EF4-FFF2-40B4-BE49-F238E27FC236}">
                <a16:creationId xmlns:a16="http://schemas.microsoft.com/office/drawing/2014/main" id="{3650EA67-4519-54CC-E106-638EA39A2BA3}"/>
              </a:ext>
            </a:extLst>
          </p:cNvPr>
          <p:cNvSpPr/>
          <p:nvPr/>
        </p:nvSpPr>
        <p:spPr>
          <a:xfrm>
            <a:off x="713232" y="3925440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0DE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dirty="0">
                <a:solidFill>
                  <a:srgbClr val="1A1A1A"/>
                </a:solidFill>
              </a:rPr>
              <a:t>(0.667 − 0.692) ÷ 0.692</a:t>
            </a:r>
          </a:p>
        </p:txBody>
      </p:sp>
      <p:sp>
        <p:nvSpPr>
          <p:cNvPr id="16" name="Ans d">
            <a:extLst>
              <a:ext uri="{FF2B5EF4-FFF2-40B4-BE49-F238E27FC236}">
                <a16:creationId xmlns:a16="http://schemas.microsoft.com/office/drawing/2014/main" id="{9965C2AB-2283-77C3-8722-4CBBBD685F75}"/>
              </a:ext>
            </a:extLst>
          </p:cNvPr>
          <p:cNvSpPr/>
          <p:nvPr/>
        </p:nvSpPr>
        <p:spPr>
          <a:xfrm>
            <a:off x="6858000" y="39254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dirty="0">
                <a:solidFill>
                  <a:srgbClr val="FFFFFF"/>
                </a:solidFill>
              </a:rPr>
              <a:t>−3.7%</a:t>
            </a:r>
          </a:p>
        </p:txBody>
      </p:sp>
      <p:sp>
        <p:nvSpPr>
          <p:cNvPr id="18" name="Insight">
            <a:extLst>
              <a:ext uri="{FF2B5EF4-FFF2-40B4-BE49-F238E27FC236}">
                <a16:creationId xmlns:a16="http://schemas.microsoft.com/office/drawing/2014/main" id="{F2698C8E-CCBF-7EED-D16C-78FA5FDA29FC}"/>
              </a:ext>
            </a:extLst>
          </p:cNvPr>
          <p:cNvSpPr/>
          <p:nvPr/>
        </p:nvSpPr>
        <p:spPr>
          <a:xfrm>
            <a:off x="375120" y="4465630"/>
            <a:ext cx="8595360" cy="50292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C2410C"/>
                </a:solidFill>
              </a:rPr>
              <a:t>So what?  </a:t>
            </a:r>
            <a:r>
              <a:rPr lang="en-GB" sz="1200" b="0" i="0" dirty="0">
                <a:solidFill>
                  <a:srgbClr val="1A1A1A"/>
                </a:solidFill>
              </a:rPr>
              <a:t>Staff are far more productive, but cost per invoice rises. The investment only pays off if volumes grow or overheads fall.</a:t>
            </a:r>
          </a:p>
        </p:txBody>
      </p:sp>
    </p:spTree>
    <p:extLst>
      <p:ext uri="{BB962C8B-B14F-4D97-AF65-F5344CB8AC3E}">
        <p14:creationId xmlns:p14="http://schemas.microsoft.com/office/powerpoint/2010/main" val="240268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Key Formulae Summary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dirty="0"/>
              <a:t>Keep these close for the exam — they cover both tutorials:</a:t>
            </a:r>
          </a:p>
          <a:p>
            <a:pPr lvl="1"/>
            <a:r>
              <a:rPr lang="en-GB" sz="1600" b="1" dirty="0"/>
              <a:t>Capacity: </a:t>
            </a:r>
            <a:r>
              <a:rPr lang="en-GB" sz="1600" dirty="0"/>
              <a:t>Effective = Design − Planned downtime; Achieved = Effective − Avoidable downtime; Utilisation = Achieved/Design; Efficiency = Achieved/Effective.</a:t>
            </a:r>
          </a:p>
          <a:p>
            <a:pPr lvl="1"/>
            <a:r>
              <a:rPr lang="en-GB" sz="1600" b="1" dirty="0"/>
              <a:t>Little’s Law: </a:t>
            </a:r>
            <a:r>
              <a:rPr lang="en-GB" sz="1600" dirty="0"/>
              <a:t>WIP = Throughput (R) × Flow time (T); Servers required = Work content / Cycle time.</a:t>
            </a:r>
          </a:p>
          <a:p>
            <a:pPr lvl="1"/>
            <a:r>
              <a:rPr lang="en-GB" sz="1600" b="1" dirty="0"/>
              <a:t>Productivity: </a:t>
            </a:r>
            <a:r>
              <a:rPr lang="en-GB" sz="1600" dirty="0"/>
              <a:t>Single-factor = Output / One input; Multifactor = Output / All inputs.</a:t>
            </a:r>
          </a:p>
          <a:p>
            <a:pPr lvl="1"/>
            <a:r>
              <a:rPr lang="en-GB" sz="1600" b="1" dirty="0"/>
              <a:t>Line balancing: </a:t>
            </a:r>
            <a:r>
              <a:rPr lang="en-GB" sz="1600" dirty="0"/>
              <a:t>Cycle time = bottleneck stage time; Idle time = Cycle time − stage time; Balancing Loss = Total idle time / (stages × Cycle time).</a:t>
            </a:r>
          </a:p>
          <a:p>
            <a:pPr lvl="1"/>
            <a:r>
              <a:rPr lang="en-GB" sz="1600" b="1" dirty="0"/>
              <a:t>Throughput: </a:t>
            </a:r>
            <a:r>
              <a:rPr lang="en-GB" sz="1600" dirty="0"/>
              <a:t>Throughput per hour = 60 / Cycle time (minutes).</a:t>
            </a:r>
          </a:p>
          <a:p>
            <a:pPr lvl="1"/>
            <a:r>
              <a:rPr lang="en-GB" sz="1600" b="1" dirty="0"/>
              <a:t>Payback period: </a:t>
            </a:r>
            <a:r>
              <a:rPr lang="en-GB" sz="1600" dirty="0"/>
              <a:t>Investment cost / Additional weekly (or annual) profit.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2400" b="1" dirty="0">
                <a:solidFill>
                  <a:schemeClr val="dk2"/>
                </a:solidFill>
              </a:rPr>
              <a:t>Thank You</a:t>
            </a:r>
          </a:p>
          <a:p>
            <a:pPr marL="0" indent="0" algn="ctr">
              <a:buNone/>
            </a:pPr>
            <a:r>
              <a:rPr lang="en-GB" sz="1600"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31E29"/>
      </a:dk1>
      <a:lt1>
        <a:srgbClr val="FFFFFF"/>
      </a:lt1>
      <a:dk2>
        <a:srgbClr val="440099"/>
      </a:dk2>
      <a:lt2>
        <a:srgbClr val="F3F3F3"/>
      </a:lt2>
      <a:accent1>
        <a:srgbClr val="005A8F"/>
      </a:accent1>
      <a:accent2>
        <a:srgbClr val="FF6371"/>
      </a:accent2>
      <a:accent3>
        <a:srgbClr val="C2E9F1"/>
      </a:accent3>
      <a:accent4>
        <a:srgbClr val="9ADBE8"/>
      </a:accent4>
      <a:accent5>
        <a:srgbClr val="981F92"/>
      </a:accent5>
      <a:accent6>
        <a:srgbClr val="663DB3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5767</TotalTime>
  <Words>2903</Words>
  <Application>Microsoft Office PowerPoint</Application>
  <PresentationFormat>On-screen Show (16:9)</PresentationFormat>
  <Paragraphs>358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Source Sans Pro</vt:lpstr>
      <vt:lpstr>Source Sans Pro SemiBold</vt:lpstr>
      <vt:lpstr>Source Serif Pro</vt:lpstr>
      <vt:lpstr>Symbol</vt:lpstr>
      <vt:lpstr>Simple Light</vt:lpstr>
      <vt:lpstr>Operations and Supply Chain Management</vt:lpstr>
      <vt:lpstr>Tutorial Overview</vt:lpstr>
      <vt:lpstr>Q1: Capacity, Utilisation, Efficiency</vt:lpstr>
      <vt:lpstr>Q1: Capacity, Utilisation, Efficiency</vt:lpstr>
      <vt:lpstr>Q1: Capacity, Utilisation, Efficiency</vt:lpstr>
      <vt:lpstr>Q1 Solution: Capacity Measures</vt:lpstr>
      <vt:lpstr>Q2: Capacity Across Processes</vt:lpstr>
      <vt:lpstr>Q2 Solution: Across Processes</vt:lpstr>
      <vt:lpstr>Q3: Downtime, Utilisation, Efficiency</vt:lpstr>
      <vt:lpstr>Q3: Downtime, Utilisation, Efficiency</vt:lpstr>
      <vt:lpstr>Q3 Solution: Downtime</vt:lpstr>
      <vt:lpstr>Q3 Solution: Downtime</vt:lpstr>
      <vt:lpstr>Q3 Solution: Downtime</vt:lpstr>
      <vt:lpstr>Q4: Utilisation and Efficiency</vt:lpstr>
      <vt:lpstr>Q4 Solution: Utilisation and Efficiency</vt:lpstr>
      <vt:lpstr>Q5: Little’s Law</vt:lpstr>
      <vt:lpstr>Q5: Little’s Law</vt:lpstr>
      <vt:lpstr>Q5 Solution: Little’s Law</vt:lpstr>
      <vt:lpstr>Q6: Little’s Law Practice</vt:lpstr>
      <vt:lpstr>Q6 Solution: Little’s Law Practice</vt:lpstr>
      <vt:lpstr>Q7: Labour Productivity</vt:lpstr>
      <vt:lpstr>Q7 Solution: Labour Productivity</vt:lpstr>
      <vt:lpstr>Q8: Comparing Two Systems</vt:lpstr>
      <vt:lpstr>Q8 Solution: Comparing Two Systems</vt:lpstr>
      <vt:lpstr>Q8 Solution: Comparing Two Systems</vt:lpstr>
      <vt:lpstr>Key Formulae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Emilia Vann Yaroson</dc:creator>
  <cp:lastModifiedBy>Sina Rastani</cp:lastModifiedBy>
  <cp:revision>35</cp:revision>
  <dcterms:modified xsi:type="dcterms:W3CDTF">2026-10-12T23:33:00Z</dcterms:modified>
</cp:coreProperties>
</file>