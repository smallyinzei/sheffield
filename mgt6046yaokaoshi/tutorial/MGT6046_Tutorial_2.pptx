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75" r:id="rId3"/>
    <p:sldId id="292" r:id="rId4"/>
    <p:sldId id="294" r:id="rId5"/>
    <p:sldId id="295" r:id="rId6"/>
    <p:sldId id="296" r:id="rId7"/>
    <p:sldId id="297" r:id="rId8"/>
    <p:sldId id="298" r:id="rId9"/>
    <p:sldId id="299" r:id="rId10"/>
    <p:sldId id="366" r:id="rId11"/>
    <p:sldId id="300" r:id="rId12"/>
    <p:sldId id="293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432">
          <p15:clr>
            <a:srgbClr val="747775"/>
          </p15:clr>
        </p15:guide>
        <p15:guide id="4" orient="horz" pos="305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  <p:guide orient="horz" pos="432"/>
        <p:guide orient="horz" pos="30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Work through live as Worked Example 3, after the NPV slide: the second oven is a technology investment decision.</a:t>
            </a:r>
          </a:p>
          <a:p>
            <a:r>
              <a:rPr lang="en-GB" dirty="0"/>
              <a:t>Ask students to attempt (b) and (c) for 3 minutes before revealing the calculation slide.</a:t>
            </a:r>
          </a:p>
          <a:p>
            <a:r>
              <a:rPr lang="en-GB" dirty="0"/>
              <a:t>Key insight for (d): baking remains the bottleneck at 7.5 min, so output doubles (4 → 8 per hour). Whether that is worthwhile depends on demand, NPV and whether the oven was exploited first. Balancing loss is still 32%.</a:t>
            </a:r>
          </a:p>
          <a:p>
            <a:r>
              <a:rPr lang="en-GB" dirty="0"/>
              <a:t>Also suitable as an exam-practice question for Tutorial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000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Title slide">
  <p:cSld name="CUSTOM_2_1">
    <p:bg>
      <p:bgPr>
        <a:solidFill>
          <a:srgbClr val="F3F3F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298500" y="251150"/>
            <a:ext cx="8392200" cy="17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Source Serif Pro"/>
              <a:buNone/>
              <a:defRPr sz="54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25925" y="2117000"/>
            <a:ext cx="8364600" cy="11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2" name="Google Shape;12;p2" descr="University of Sheffield logo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2529" y="4309700"/>
            <a:ext cx="1813500" cy="55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2885" y="4349059"/>
            <a:ext cx="1495202" cy="55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Title text" type="blank">
  <p:cSld name="BLANK">
    <p:bg>
      <p:bgPr>
        <a:solidFill>
          <a:srgbClr val="F3F3F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05550" y="174950"/>
            <a:ext cx="80049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Pro"/>
              <a:buNone/>
              <a:defRPr sz="30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cxnSp>
        <p:nvCxnSpPr>
          <p:cNvPr id="16" name="Google Shape;16;p3"/>
          <p:cNvCxnSpPr/>
          <p:nvPr/>
        </p:nvCxnSpPr>
        <p:spPr>
          <a:xfrm>
            <a:off x="379526" y="801485"/>
            <a:ext cx="8200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317700" y="1073200"/>
            <a:ext cx="8274300" cy="3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Two equal columns">
  <p:cSld name="BLANK_2">
    <p:bg>
      <p:bgPr>
        <a:solidFill>
          <a:srgbClr val="F3F3F3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05550" y="174950"/>
            <a:ext cx="82743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Pro"/>
              <a:buNone/>
              <a:defRPr sz="30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379526" y="801485"/>
            <a:ext cx="8200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7700" y="1073200"/>
            <a:ext cx="3901500" cy="3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2"/>
          </p:nvPr>
        </p:nvSpPr>
        <p:spPr>
          <a:xfrm>
            <a:off x="4661100" y="1073200"/>
            <a:ext cx="3901500" cy="3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Blank">
  <p:cSld name="CUSTOM_1_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 Section header (book)">
  <p:cSld name="CUSTOM_3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8" descr="University of Sheffield log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633" y="449439"/>
            <a:ext cx="1558350" cy="4727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64650" y="1223900"/>
            <a:ext cx="5914500" cy="27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Source Serif Pro"/>
              <a:buNone/>
              <a:defRPr sz="52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 Section header (crown)">
  <p:cSld name="CUSTOM_3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9" descr="University of Sheffield log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633" y="449439"/>
            <a:ext cx="1558350" cy="472725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464650" y="1223900"/>
            <a:ext cx="5502600" cy="27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Source Serif Pro"/>
              <a:buNone/>
              <a:defRPr sz="52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 Section header (rose)">
  <p:cSld name="CUSTOM_3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0" descr="University of Sheffield log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633" y="449439"/>
            <a:ext cx="1558350" cy="47272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0"/>
          <p:cNvSpPr txBox="1">
            <a:spLocks noGrp="1"/>
          </p:cNvSpPr>
          <p:nvPr>
            <p:ph type="title"/>
          </p:nvPr>
        </p:nvSpPr>
        <p:spPr>
          <a:xfrm>
            <a:off x="464650" y="1223900"/>
            <a:ext cx="5984700" cy="27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Source Serif Pro"/>
              <a:buNone/>
              <a:defRPr sz="52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 Closing slide">
  <p:cSld name="CUSTOM_4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1" descr="University of Sheffield logo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85300" y="1371942"/>
            <a:ext cx="3891251" cy="11804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1707800" y="3134325"/>
            <a:ext cx="5454900" cy="17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44334" y="4745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1127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3F3F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Pro"/>
              <a:buNone/>
              <a:defRPr sz="30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E29"/>
              </a:buClr>
              <a:buSzPts val="1800"/>
              <a:buFont typeface="Source Sans Pro"/>
              <a:buChar char="●"/>
              <a:defRPr sz="1800">
                <a:solidFill>
                  <a:srgbClr val="131E2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Operations and Supply Chain Management</a:t>
            </a:r>
          </a:p>
        </p:txBody>
      </p:sp>
      <p:sp>
        <p:nvSpPr>
          <p:cNvPr id="11" name="Subtitle"/>
          <p:cNvSpPr txBox="1"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n-GB" sz="2800" b="1" dirty="0"/>
              <a:t>MGT6046</a:t>
            </a:r>
          </a:p>
          <a:p>
            <a:pPr marL="0" indent="0" algn="ctr">
              <a:buNone/>
            </a:pPr>
            <a:r>
              <a:rPr lang="en-GB" sz="2800" b="1" dirty="0"/>
              <a:t>Tutorial 2: Applying Weeks 3 and 4</a:t>
            </a:r>
          </a:p>
          <a:p>
            <a:pPr marL="0" indent="0" algn="ctr">
              <a:buNone/>
            </a:pPr>
            <a:r>
              <a:rPr lang="en-GB" sz="2800" b="1" i="1" dirty="0"/>
              <a:t>Dr Emilia Vann Yaroson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band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5B2C9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Accent rule"/>
          <p:cNvSpPr/>
          <p:nvPr/>
        </p:nvSpPr>
        <p:spPr>
          <a:xfrm>
            <a:off x="0" y="896112"/>
            <a:ext cx="9144000" cy="54864"/>
          </a:xfrm>
          <a:prstGeom prst="rect">
            <a:avLst/>
          </a:prstGeom>
          <a:solidFill>
            <a:srgbClr val="DCCDF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400" b="1" dirty="0">
                <a:solidFill>
                  <a:srgbClr val="FFFFFF"/>
                </a:solidFill>
              </a:rPr>
              <a:t>Tutorial Overview</a:t>
            </a:r>
          </a:p>
        </p:txBody>
      </p:sp>
      <p:sp>
        <p:nvSpPr>
          <p:cNvPr id="11" name="Body"/>
          <p:cNvSpPr txBox="1">
            <a:spLocks noGrp="1"/>
          </p:cNvSpPr>
          <p:nvPr>
            <p:ph type="body" idx="1"/>
          </p:nvPr>
        </p:nvSpPr>
        <p:spPr>
          <a:xfrm>
            <a:off x="320040" y="960120"/>
            <a:ext cx="8275320" cy="3657600"/>
          </a:xfrm>
        </p:spPr>
        <p:txBody>
          <a:bodyPr>
            <a:norm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GB" dirty="0"/>
              <a:t>Attempt every question before the session: tutorials are for checking your approach, not seeing the material for the first time.</a:t>
            </a:r>
          </a:p>
          <a:p>
            <a:pPr marL="342900" lvl="1" indent="-171450">
              <a:spcAft>
                <a:spcPts val="200"/>
              </a:spcAft>
              <a:buClr>
                <a:srgbClr val="5B2C91"/>
              </a:buClr>
              <a:buChar char="•"/>
            </a:pPr>
            <a:r>
              <a:rPr lang="en-GB" sz="1800" dirty="0"/>
              <a:t>Q1: single-factor and multifactor productivity.</a:t>
            </a:r>
          </a:p>
          <a:p>
            <a:pPr marL="342900" lvl="1" indent="-171450">
              <a:spcAft>
                <a:spcPts val="200"/>
              </a:spcAft>
              <a:buClr>
                <a:srgbClr val="5B2C91"/>
              </a:buClr>
              <a:buChar char="•"/>
            </a:pPr>
            <a:r>
              <a:rPr lang="en-GB" sz="1800" dirty="0"/>
              <a:t>Q2–Q3: importance–performance gap analysis.</a:t>
            </a:r>
          </a:p>
          <a:p>
            <a:pPr marL="342900" lvl="1" indent="-171450">
              <a:spcAft>
                <a:spcPts val="200"/>
              </a:spcAft>
              <a:buClr>
                <a:srgbClr val="5B2C91"/>
              </a:buClr>
              <a:buChar char="•"/>
            </a:pPr>
            <a:r>
              <a:rPr lang="en-GB" sz="1800" dirty="0"/>
              <a:t>Q4–Q6: line balancing, bottlenecks, idle time and the Theory of Constraints.</a:t>
            </a:r>
          </a:p>
          <a:p>
            <a:pPr marL="342900" lvl="1" indent="-171450">
              <a:spcAft>
                <a:spcPts val="200"/>
              </a:spcAft>
              <a:buClr>
                <a:srgbClr val="5B2C91"/>
              </a:buClr>
              <a:buChar char="•"/>
            </a:pPr>
            <a:r>
              <a:rPr lang="en-GB" sz="1800" dirty="0"/>
              <a:t>Q7: theory – the Theory of Constraints and the importance of process technology.</a:t>
            </a:r>
          </a:p>
          <a:p>
            <a:pPr marL="342900" lvl="1" indent="-171450">
              <a:spcAft>
                <a:spcPts val="200"/>
              </a:spcAft>
              <a:buClr>
                <a:srgbClr val="5B2C91"/>
              </a:buClr>
              <a:buChar char="•"/>
            </a:pPr>
            <a:r>
              <a:rPr lang="en-GB" sz="1800" dirty="0"/>
              <a:t>Examples: a coffee shop, Amazon and The Wave. Scores and figures are illustrative.</a:t>
            </a:r>
          </a:p>
          <a:p>
            <a:pPr marL="342900" lvl="1" indent="-171450">
              <a:spcAft>
                <a:spcPts val="200"/>
              </a:spcAft>
              <a:buClr>
                <a:srgbClr val="5B2C91"/>
              </a:buClr>
              <a:buChar char="•"/>
            </a:pPr>
            <a:r>
              <a:rPr lang="en-GB" sz="1800" dirty="0"/>
              <a:t>Bring a calculator, and expect to interpret results and discuss managerial implications, not just the numbers.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band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5B2C9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Accent rule"/>
          <p:cNvSpPr/>
          <p:nvPr/>
        </p:nvSpPr>
        <p:spPr>
          <a:xfrm>
            <a:off x="0" y="896112"/>
            <a:ext cx="9144000" cy="54864"/>
          </a:xfrm>
          <a:prstGeom prst="rect">
            <a:avLst/>
          </a:prstGeom>
          <a:solidFill>
            <a:srgbClr val="DCCDF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400" b="1" dirty="0">
                <a:solidFill>
                  <a:srgbClr val="FFFFFF"/>
                </a:solidFill>
              </a:rPr>
              <a:t>Key Formulae Summary</a:t>
            </a:r>
          </a:p>
        </p:txBody>
      </p:sp>
      <p:sp>
        <p:nvSpPr>
          <p:cNvPr id="11" name="Body"/>
          <p:cNvSpPr txBox="1">
            <a:spLocks noGrp="1"/>
          </p:cNvSpPr>
          <p:nvPr>
            <p:ph type="body" idx="1"/>
          </p:nvPr>
        </p:nvSpPr>
        <p:spPr>
          <a:xfrm>
            <a:off x="320040" y="960120"/>
            <a:ext cx="8275320" cy="3657600"/>
          </a:xfrm>
        </p:spPr>
        <p:txBody>
          <a:bodyPr>
            <a:norm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GB" dirty="0"/>
              <a:t>Keep these close for the exam:</a:t>
            </a:r>
          </a:p>
          <a:p>
            <a:pPr marL="342900" lvl="1" indent="-171450">
              <a:spcAft>
                <a:spcPts val="200"/>
              </a:spcAft>
              <a:buClr>
                <a:srgbClr val="5B2C91"/>
              </a:buClr>
              <a:buChar char="•"/>
            </a:pPr>
            <a:r>
              <a:rPr lang="en-GB" sz="1800" dirty="0"/>
              <a:t>Productivity = Output ÷ Input. Single-factor: one input (e.g. labour hours). Multifactor: all inputs in £.</a:t>
            </a:r>
          </a:p>
          <a:p>
            <a:pPr marL="342900" lvl="1" indent="-171450">
              <a:spcAft>
                <a:spcPts val="200"/>
              </a:spcAft>
              <a:buClr>
                <a:srgbClr val="5B2C91"/>
              </a:buClr>
              <a:buChar char="•"/>
            </a:pPr>
            <a:r>
              <a:rPr lang="en-GB" sz="1800" dirty="0"/>
              <a:t>Percentage change = (New − Old) ÷ Old × 100.</a:t>
            </a:r>
          </a:p>
          <a:p>
            <a:pPr marL="342900" lvl="1" indent="-171450">
              <a:spcAft>
                <a:spcPts val="200"/>
              </a:spcAft>
              <a:buClr>
                <a:srgbClr val="5B2C91"/>
              </a:buClr>
              <a:buChar char="•"/>
            </a:pPr>
            <a:r>
              <a:rPr lang="en-GB" sz="1800" dirty="0"/>
              <a:t>Importance–performance gap = Importance − Performance (positive = underperforming).</a:t>
            </a:r>
          </a:p>
          <a:p>
            <a:pPr marL="342900" lvl="1" indent="-171450">
              <a:spcAft>
                <a:spcPts val="200"/>
              </a:spcAft>
              <a:buClr>
                <a:srgbClr val="5B2C91"/>
              </a:buClr>
              <a:buChar char="•"/>
            </a:pPr>
            <a:r>
              <a:rPr lang="en-GB" sz="1800" dirty="0"/>
              <a:t>Cycle time = bottleneck stage time; Idle time = Cycle time − stage time.</a:t>
            </a:r>
          </a:p>
          <a:p>
            <a:pPr marL="342900" lvl="1" indent="-171450">
              <a:spcAft>
                <a:spcPts val="200"/>
              </a:spcAft>
              <a:buClr>
                <a:srgbClr val="5B2C91"/>
              </a:buClr>
              <a:buChar char="•"/>
            </a:pPr>
            <a:r>
              <a:rPr lang="en-GB" sz="1800" dirty="0"/>
              <a:t>Balancing loss = Total idle time ÷ (Cycle time × No. of stages).</a:t>
            </a:r>
          </a:p>
          <a:p>
            <a:pPr marL="342900" lvl="1" indent="-171450">
              <a:spcAft>
                <a:spcPts val="200"/>
              </a:spcAft>
              <a:buClr>
                <a:srgbClr val="5B2C91"/>
              </a:buClr>
              <a:buChar char="•"/>
            </a:pPr>
            <a:r>
              <a:rPr lang="en-GB" sz="1800" dirty="0"/>
              <a:t>Output per hour = 60 ÷ Cycle time (minutes), or 3,600 ÷ Cycle time (seconds).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band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Accent rule"/>
          <p:cNvSpPr/>
          <p:nvPr/>
        </p:nvSpPr>
        <p:spPr>
          <a:xfrm>
            <a:off x="0" y="896112"/>
            <a:ext cx="9144000" cy="54864"/>
          </a:xfrm>
          <a:prstGeom prst="rect">
            <a:avLst/>
          </a:prstGeom>
          <a:solidFill>
            <a:srgbClr val="BFE6E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400" b="1" dirty="0">
                <a:solidFill>
                  <a:srgbClr val="FFFFFF"/>
                </a:solidFill>
              </a:rPr>
              <a:t>Q1: Single-factor and Multifactor Productivity</a:t>
            </a:r>
          </a:p>
        </p:txBody>
      </p:sp>
      <p:sp>
        <p:nvSpPr>
          <p:cNvPr id="11" name="Body"/>
          <p:cNvSpPr txBox="1">
            <a:spLocks noGrp="1"/>
          </p:cNvSpPr>
          <p:nvPr>
            <p:ph type="body" idx="1"/>
          </p:nvPr>
        </p:nvSpPr>
        <p:spPr>
          <a:xfrm>
            <a:off x="320040" y="960120"/>
            <a:ext cx="4572000" cy="3657600"/>
          </a:xfrm>
        </p:spPr>
        <p:txBody>
          <a:bodyPr>
            <a:no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GB" dirty="0"/>
              <a:t>A Sheffield coffee shop compares two months of trading. All staff work 160 hours a month.</a:t>
            </a:r>
          </a:p>
          <a:p>
            <a:pPr marL="342900" lvl="1" indent="-342900">
              <a:spcAft>
                <a:spcPts val="300"/>
              </a:spcAft>
              <a:buNone/>
            </a:pPr>
            <a:r>
              <a:rPr lang="en-GB" sz="1800" b="1" dirty="0">
                <a:solidFill>
                  <a:srgbClr val="0E7C7B"/>
                </a:solidFill>
              </a:rPr>
              <a:t>(a)  </a:t>
            </a:r>
            <a:r>
              <a:rPr lang="en-GB" sz="1800" dirty="0"/>
              <a:t>Calculate labour productivity (drinks per labour hour) for each month.</a:t>
            </a:r>
          </a:p>
          <a:p>
            <a:pPr marL="342900" lvl="1" indent="-342900">
              <a:spcAft>
                <a:spcPts val="300"/>
              </a:spcAft>
              <a:buNone/>
            </a:pPr>
            <a:r>
              <a:rPr lang="en-GB" sz="1800" b="1" dirty="0">
                <a:solidFill>
                  <a:srgbClr val="0E7C7B"/>
                </a:solidFill>
              </a:rPr>
              <a:t>(b)  </a:t>
            </a:r>
            <a:r>
              <a:rPr lang="en-GB" sz="1800" dirty="0"/>
              <a:t>Calculate multifactor productivity (drinks per £ of total input) for each month.</a:t>
            </a:r>
          </a:p>
          <a:p>
            <a:pPr marL="342900" lvl="1" indent="-342900">
              <a:spcAft>
                <a:spcPts val="300"/>
              </a:spcAft>
              <a:buNone/>
            </a:pPr>
            <a:r>
              <a:rPr lang="en-GB" sz="1800" b="1" dirty="0">
                <a:solidFill>
                  <a:srgbClr val="0E7C7B"/>
                </a:solidFill>
              </a:rPr>
              <a:t>(c)  </a:t>
            </a:r>
            <a:r>
              <a:rPr lang="en-GB" sz="1800" dirty="0"/>
              <a:t>Calculate the percentage change in each measure.</a:t>
            </a:r>
          </a:p>
          <a:p>
            <a:pPr marL="342900" lvl="1" indent="-342900">
              <a:spcAft>
                <a:spcPts val="300"/>
              </a:spcAft>
              <a:buNone/>
            </a:pPr>
            <a:r>
              <a:rPr lang="en-GB" sz="1800" b="1" dirty="0">
                <a:solidFill>
                  <a:srgbClr val="0E7C7B"/>
                </a:solidFill>
              </a:rPr>
              <a:t>(d)  </a:t>
            </a:r>
            <a:r>
              <a:rPr lang="en-GB" sz="1800" dirty="0"/>
              <a:t>Sales rose. Has the shop become more productive? Explain why the two measures tell different stories.</a:t>
            </a:r>
          </a:p>
        </p:txBody>
      </p:sp>
      <p:graphicFrame>
        <p:nvGraphicFramePr>
          <p:cNvPr id="40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410605"/>
              </p:ext>
            </p:extLst>
          </p:nvPr>
        </p:nvGraphicFramePr>
        <p:xfrm>
          <a:off x="5074920" y="1051560"/>
          <a:ext cx="4069080" cy="2249424"/>
        </p:xfrm>
        <a:graphic>
          <a:graphicData uri="http://schemas.openxmlformats.org/drawingml/2006/table">
            <a:tbl>
              <a:tblPr firstRow="1"/>
              <a:tblGrid>
                <a:gridCol w="1898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5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/>
                      <a:endParaRPr sz="1800" dirty="0"/>
                    </a:p>
                  </a:txBody>
                  <a:tcPr marL="54864" marR="54864" marT="27432" marB="27432" anchor="ctr">
                    <a:lnB w="6350">
                      <a:solidFill>
                        <a:srgbClr val="BFE6E3"/>
                      </a:solidFill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rgbClr val="FFFFFF"/>
                          </a:solidFill>
                        </a:rPr>
                        <a:t>Month 1</a:t>
                      </a:r>
                    </a:p>
                  </a:txBody>
                  <a:tcPr marL="54864" marR="54864" marT="27432" marB="27432" anchor="ctr">
                    <a:lnB w="6350">
                      <a:solidFill>
                        <a:srgbClr val="BFE6E3"/>
                      </a:solidFill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rgbClr val="FFFFFF"/>
                          </a:solidFill>
                        </a:rPr>
                        <a:t>Month 2</a:t>
                      </a:r>
                    </a:p>
                  </a:txBody>
                  <a:tcPr marL="54864" marR="54864" marT="27432" marB="27432" anchor="ctr">
                    <a:lnB w="6350">
                      <a:solidFill>
                        <a:srgbClr val="BFE6E3"/>
                      </a:solidFill>
                    </a:lnB>
                    <a:solidFill>
                      <a:srgbClr val="0E7C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Staff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B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FE6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B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FE6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B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FE6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Wages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B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FE6E3"/>
                      </a:solidFill>
                    </a:lnB>
                    <a:solidFill>
                      <a:srgbClr val="E3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£11,520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B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FE6E3"/>
                      </a:solidFill>
                    </a:lnB>
                    <a:solidFill>
                      <a:srgbClr val="E3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£13,440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B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FE6E3"/>
                      </a:solidFill>
                    </a:lnB>
                    <a:solidFill>
                      <a:srgbClr val="E3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Coffee, milk, cups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B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FE6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£9,600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B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FE6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£12,000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B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FE6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Energy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B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FE6E3"/>
                      </a:solidFill>
                    </a:lnB>
                    <a:solidFill>
                      <a:srgbClr val="E3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£1,200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B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FE6E3"/>
                      </a:solidFill>
                    </a:lnB>
                    <a:solidFill>
                      <a:srgbClr val="E3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£1,500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B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FE6E3"/>
                      </a:solidFill>
                    </a:lnB>
                    <a:solidFill>
                      <a:srgbClr val="E3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Drinks sold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B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FE6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24,000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B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FE6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28,000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B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FE6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band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C2570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Accent rule"/>
          <p:cNvSpPr/>
          <p:nvPr/>
        </p:nvSpPr>
        <p:spPr>
          <a:xfrm>
            <a:off x="0" y="896112"/>
            <a:ext cx="9144000" cy="54864"/>
          </a:xfrm>
          <a:prstGeom prst="rect">
            <a:avLst/>
          </a:prstGeom>
          <a:solidFill>
            <a:srgbClr val="F8CDA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400" b="1" dirty="0">
                <a:solidFill>
                  <a:srgbClr val="FFFFFF"/>
                </a:solidFill>
              </a:rPr>
              <a:t>Q2: Importance–Performance Gap Analysis (1)</a:t>
            </a:r>
          </a:p>
        </p:txBody>
      </p:sp>
      <p:sp>
        <p:nvSpPr>
          <p:cNvPr id="11" name="Body"/>
          <p:cNvSpPr txBox="1">
            <a:spLocks noGrp="1"/>
          </p:cNvSpPr>
          <p:nvPr>
            <p:ph type="body" idx="1"/>
          </p:nvPr>
        </p:nvSpPr>
        <p:spPr>
          <a:xfrm>
            <a:off x="320040" y="960120"/>
            <a:ext cx="4572000" cy="3657600"/>
          </a:xfrm>
        </p:spPr>
        <p:txBody>
          <a:bodyPr>
            <a:no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GB" dirty="0"/>
              <a:t>Amazon surveys customers of its next-day delivery service. Each performance objective is scored 1–9 for importance and for performance (9 = most important / best).</a:t>
            </a:r>
          </a:p>
          <a:p>
            <a:pPr marL="342900" lvl="1" indent="-342900">
              <a:spcAft>
                <a:spcPts val="300"/>
              </a:spcAft>
              <a:buNone/>
            </a:pPr>
            <a:r>
              <a:rPr lang="en-GB" sz="1800" b="1" dirty="0">
                <a:solidFill>
                  <a:srgbClr val="C2570C"/>
                </a:solidFill>
              </a:rPr>
              <a:t>(a)  </a:t>
            </a:r>
            <a:r>
              <a:rPr lang="en-GB" sz="1800" dirty="0"/>
              <a:t>Calculate the importance–performance gap for each objective. What do positive and negative gaps mean?</a:t>
            </a:r>
          </a:p>
          <a:p>
            <a:pPr marL="342900" lvl="1" indent="-342900">
              <a:spcAft>
                <a:spcPts val="300"/>
              </a:spcAft>
              <a:buNone/>
            </a:pPr>
            <a:r>
              <a:rPr lang="en-GB" sz="1800" b="1" dirty="0">
                <a:solidFill>
                  <a:srgbClr val="C2570C"/>
                </a:solidFill>
              </a:rPr>
              <a:t>(b)  </a:t>
            </a:r>
            <a:r>
              <a:rPr lang="en-GB" sz="1800" dirty="0"/>
              <a:t>Which objective has the largest positive gap, and why should Amazon prioritise it?</a:t>
            </a:r>
          </a:p>
          <a:p>
            <a:pPr marL="342900" lvl="1" indent="-342900">
              <a:spcAft>
                <a:spcPts val="300"/>
              </a:spcAft>
              <a:buNone/>
            </a:pPr>
            <a:r>
              <a:rPr lang="en-GB" sz="1800" b="1" dirty="0">
                <a:solidFill>
                  <a:srgbClr val="C2570C"/>
                </a:solidFill>
              </a:rPr>
              <a:t>(c)  </a:t>
            </a:r>
            <a:r>
              <a:rPr lang="en-GB" sz="1800" dirty="0"/>
              <a:t>If Speed performance improves to 8, what is the new Speed gap?</a:t>
            </a:r>
          </a:p>
          <a:p>
            <a:pPr marL="342900" lvl="1" indent="-342900">
              <a:spcAft>
                <a:spcPts val="300"/>
              </a:spcAft>
              <a:buNone/>
            </a:pPr>
            <a:r>
              <a:rPr lang="en-GB" sz="1800" b="1" dirty="0">
                <a:solidFill>
                  <a:srgbClr val="C2570C"/>
                </a:solidFill>
              </a:rPr>
              <a:t>(d)  </a:t>
            </a:r>
            <a:r>
              <a:rPr lang="en-GB" sz="1800" dirty="0"/>
              <a:t>What do the negative gaps suggest about where Amazon uses its resources?</a:t>
            </a:r>
          </a:p>
        </p:txBody>
      </p:sp>
      <p:graphicFrame>
        <p:nvGraphicFramePr>
          <p:cNvPr id="40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594448"/>
              </p:ext>
            </p:extLst>
          </p:nvPr>
        </p:nvGraphicFramePr>
        <p:xfrm>
          <a:off x="4784271" y="1051560"/>
          <a:ext cx="4359729" cy="2249424"/>
        </p:xfrm>
        <a:graphic>
          <a:graphicData uri="http://schemas.openxmlformats.org/drawingml/2006/table">
            <a:tbl>
              <a:tblPr firstRow="1"/>
              <a:tblGrid>
                <a:gridCol w="1306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5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7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800" b="1" dirty="0">
                          <a:solidFill>
                            <a:srgbClr val="FFFFFF"/>
                          </a:solidFill>
                        </a:rPr>
                        <a:t>Objective</a:t>
                      </a:r>
                    </a:p>
                  </a:txBody>
                  <a:tcPr marL="54864" marR="54864" marT="27432" marB="27432" anchor="ctr">
                    <a:lnB w="6350">
                      <a:solidFill>
                        <a:srgbClr val="F8CDA8"/>
                      </a:solidFill>
                    </a:lnB>
                    <a:solidFill>
                      <a:srgbClr val="C257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rgbClr val="FFFFFF"/>
                          </a:solidFill>
                        </a:rPr>
                        <a:t>Importance</a:t>
                      </a:r>
                    </a:p>
                  </a:txBody>
                  <a:tcPr marL="54864" marR="54864" marT="27432" marB="27432" anchor="ctr">
                    <a:lnB w="6350">
                      <a:solidFill>
                        <a:srgbClr val="F8CDA8"/>
                      </a:solidFill>
                    </a:lnB>
                    <a:solidFill>
                      <a:srgbClr val="C257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rgbClr val="FFFFFF"/>
                          </a:solidFill>
                        </a:rPr>
                        <a:t>Performance</a:t>
                      </a:r>
                    </a:p>
                  </a:txBody>
                  <a:tcPr marL="54864" marR="54864" marT="27432" marB="27432" anchor="ctr">
                    <a:lnB w="6350">
                      <a:solidFill>
                        <a:srgbClr val="F8CDA8"/>
                      </a:solidFill>
                    </a:lnB>
                    <a:solidFill>
                      <a:srgbClr val="C257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Quality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8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Speed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9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Dependability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8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Flexibility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Cost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band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C2570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Accent rule"/>
          <p:cNvSpPr/>
          <p:nvPr/>
        </p:nvSpPr>
        <p:spPr>
          <a:xfrm>
            <a:off x="0" y="896112"/>
            <a:ext cx="9144000" cy="54864"/>
          </a:xfrm>
          <a:prstGeom prst="rect">
            <a:avLst/>
          </a:prstGeom>
          <a:solidFill>
            <a:srgbClr val="F8CDA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400" b="1" dirty="0">
                <a:solidFill>
                  <a:srgbClr val="FFFFFF"/>
                </a:solidFill>
              </a:rPr>
              <a:t>Q3: Importance–Performance Gap Analysis (2)</a:t>
            </a:r>
          </a:p>
        </p:txBody>
      </p:sp>
      <p:sp>
        <p:nvSpPr>
          <p:cNvPr id="11" name="Body"/>
          <p:cNvSpPr txBox="1">
            <a:spLocks noGrp="1"/>
          </p:cNvSpPr>
          <p:nvPr>
            <p:ph type="body" idx="1"/>
          </p:nvPr>
        </p:nvSpPr>
        <p:spPr>
          <a:xfrm>
            <a:off x="320040" y="960120"/>
            <a:ext cx="4572000" cy="3657600"/>
          </a:xfrm>
        </p:spPr>
        <p:txBody>
          <a:bodyPr>
            <a:norm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GB" sz="1300" dirty="0"/>
              <a:t>The Wave, an inland surfing lagoon, asks visitors to score five factors (1–9, 9 = most important / best). Illustrative scores.</a:t>
            </a:r>
          </a:p>
          <a:p>
            <a:pPr marL="342900" lvl="1" indent="-342900">
              <a:spcAft>
                <a:spcPts val="300"/>
              </a:spcAft>
              <a:buNone/>
            </a:pPr>
            <a:r>
              <a:rPr lang="en-GB" sz="1300" b="1" dirty="0">
                <a:solidFill>
                  <a:srgbClr val="C2570C"/>
                </a:solidFill>
              </a:rPr>
              <a:t>(a)  </a:t>
            </a:r>
            <a:r>
              <a:rPr lang="en-GB" sz="1300" dirty="0"/>
              <a:t>Calculate the gap for each factor and rank the factors by priority. How would you break a tie?</a:t>
            </a:r>
          </a:p>
          <a:p>
            <a:pPr marL="342900" lvl="1" indent="-342900">
              <a:spcAft>
                <a:spcPts val="300"/>
              </a:spcAft>
              <a:buNone/>
            </a:pPr>
            <a:r>
              <a:rPr lang="en-GB" sz="1300" b="1" dirty="0">
                <a:solidFill>
                  <a:srgbClr val="C2570C"/>
                </a:solidFill>
              </a:rPr>
              <a:t>(b)  </a:t>
            </a:r>
            <a:r>
              <a:rPr lang="en-GB" sz="1300" dirty="0"/>
              <a:t>Which factors may be receiving more resource than visitors value? What could managers do?</a:t>
            </a:r>
          </a:p>
          <a:p>
            <a:pPr marL="342900" lvl="1" indent="-342900">
              <a:spcAft>
                <a:spcPts val="300"/>
              </a:spcAft>
              <a:buNone/>
            </a:pPr>
            <a:r>
              <a:rPr lang="en-GB" sz="1300" b="1" dirty="0">
                <a:solidFill>
                  <a:srgbClr val="C2570C"/>
                </a:solidFill>
              </a:rPr>
              <a:t>(c)  </a:t>
            </a:r>
            <a:r>
              <a:rPr lang="en-GB" sz="1300" dirty="0"/>
              <a:t>Changing rooms congest because the same staff also run wetsuit hire and check-in. Suggest how the work could be redesigned.</a:t>
            </a:r>
          </a:p>
          <a:p>
            <a:pPr marL="342900" lvl="1" indent="-342900">
              <a:spcAft>
                <a:spcPts val="300"/>
              </a:spcAft>
              <a:buNone/>
            </a:pPr>
            <a:r>
              <a:rPr lang="en-GB" sz="1300" b="1" dirty="0">
                <a:solidFill>
                  <a:srgbClr val="C2570C"/>
                </a:solidFill>
              </a:rPr>
              <a:t>(d)  </a:t>
            </a:r>
            <a:r>
              <a:rPr lang="en-GB" sz="1300" dirty="0"/>
              <a:t>Give two limitations of importance–performance analysis.</a:t>
            </a:r>
          </a:p>
        </p:txBody>
      </p:sp>
      <p:graphicFrame>
        <p:nvGraphicFramePr>
          <p:cNvPr id="40" name="Data table"/>
          <p:cNvGraphicFramePr>
            <a:graphicFrameLocks noGrp="1"/>
          </p:cNvGraphicFramePr>
          <p:nvPr/>
        </p:nvGraphicFramePr>
        <p:xfrm>
          <a:off x="5074920" y="1051560"/>
          <a:ext cx="3657600" cy="1810512"/>
        </p:xfrm>
        <a:graphic>
          <a:graphicData uri="http://schemas.openxmlformats.org/drawingml/2006/table">
            <a:tbl>
              <a:tblPr firstRow="1"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150" b="1" dirty="0">
                          <a:solidFill>
                            <a:srgbClr val="FFFFFF"/>
                          </a:solidFill>
                        </a:rPr>
                        <a:t>Factor</a:t>
                      </a:r>
                    </a:p>
                  </a:txBody>
                  <a:tcPr marL="54864" marR="54864" marT="27432" marB="27432" anchor="ctr">
                    <a:lnB w="6350">
                      <a:solidFill>
                        <a:srgbClr val="F8CDA8"/>
                      </a:solidFill>
                    </a:lnB>
                    <a:solidFill>
                      <a:srgbClr val="C257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50" b="1" dirty="0">
                          <a:solidFill>
                            <a:srgbClr val="FFFFFF"/>
                          </a:solidFill>
                        </a:rPr>
                        <a:t>Importance</a:t>
                      </a:r>
                    </a:p>
                  </a:txBody>
                  <a:tcPr marL="54864" marR="54864" marT="27432" marB="27432" anchor="ctr">
                    <a:lnB w="6350">
                      <a:solidFill>
                        <a:srgbClr val="F8CDA8"/>
                      </a:solidFill>
                    </a:lnB>
                    <a:solidFill>
                      <a:srgbClr val="C257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50" b="1" dirty="0">
                          <a:solidFill>
                            <a:srgbClr val="FFFFFF"/>
                          </a:solidFill>
                        </a:rPr>
                        <a:t>Performance</a:t>
                      </a:r>
                    </a:p>
                  </a:txBody>
                  <a:tcPr marL="54864" marR="54864" marT="27432" marB="27432" anchor="ctr">
                    <a:lnB w="6350">
                      <a:solidFill>
                        <a:srgbClr val="F8CDA8"/>
                      </a:solidFill>
                    </a:lnB>
                    <a:solidFill>
                      <a:srgbClr val="C257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Session availability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9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Wave quality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9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8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Changing facilities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8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Café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8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D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Merchandise shop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9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F8CD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CDA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band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Accent rule"/>
          <p:cNvSpPr/>
          <p:nvPr/>
        </p:nvSpPr>
        <p:spPr>
          <a:xfrm>
            <a:off x="0" y="896112"/>
            <a:ext cx="9144000" cy="54864"/>
          </a:xfrm>
          <a:prstGeom prst="rect">
            <a:avLst/>
          </a:prstGeom>
          <a:solidFill>
            <a:srgbClr val="C3D4FB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400" b="1" dirty="0">
                <a:solidFill>
                  <a:srgbClr val="FFFFFF"/>
                </a:solidFill>
              </a:rPr>
              <a:t>Q4: Line Balancing and Bottlenecks (1)</a:t>
            </a:r>
          </a:p>
        </p:txBody>
      </p:sp>
      <p:sp>
        <p:nvSpPr>
          <p:cNvPr id="11" name="Body"/>
          <p:cNvSpPr txBox="1">
            <a:spLocks noGrp="1"/>
          </p:cNvSpPr>
          <p:nvPr>
            <p:ph type="body" idx="1"/>
          </p:nvPr>
        </p:nvSpPr>
        <p:spPr>
          <a:xfrm>
            <a:off x="320040" y="960120"/>
            <a:ext cx="4480560" cy="3657600"/>
          </a:xfrm>
        </p:spPr>
        <p:txBody>
          <a:bodyPr>
            <a:norm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GB" sz="1400" dirty="0"/>
              <a:t>At the morning rush, a coffee shop serves each customer through five sequential stages, one member of staff per stage.</a:t>
            </a:r>
          </a:p>
          <a:p>
            <a:pPr marL="342900" lvl="1" indent="-342900"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1D4ED8"/>
                </a:solidFill>
              </a:rPr>
              <a:t>(a)  </a:t>
            </a:r>
            <a:r>
              <a:rPr lang="en-GB" sz="1400" dirty="0"/>
              <a:t>Identify the bottleneck stage and the cycle time.</a:t>
            </a:r>
          </a:p>
          <a:p>
            <a:pPr marL="342900" lvl="1" indent="-342900"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1D4ED8"/>
                </a:solidFill>
              </a:rPr>
              <a:t>(b)  </a:t>
            </a:r>
            <a:r>
              <a:rPr lang="en-GB" sz="1400" dirty="0"/>
              <a:t>Calculate the idle time at each stage and in total.</a:t>
            </a:r>
          </a:p>
          <a:p>
            <a:pPr marL="342900" lvl="1" indent="-342900"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1D4ED8"/>
                </a:solidFill>
              </a:rPr>
              <a:t>(c)  </a:t>
            </a:r>
            <a:r>
              <a:rPr lang="en-GB" sz="1400" dirty="0"/>
              <a:t>Briefly explain the Theory of Constraints and what it implies for managing this bottleneck.</a:t>
            </a:r>
          </a:p>
          <a:p>
            <a:pPr marL="342900" lvl="1" indent="-342900">
              <a:spcAft>
                <a:spcPts val="300"/>
              </a:spcAft>
              <a:buNone/>
            </a:pPr>
            <a:r>
              <a:rPr lang="en-GB" sz="1400" b="1" dirty="0">
                <a:solidFill>
                  <a:srgbClr val="1D4ED8"/>
                </a:solidFill>
              </a:rPr>
              <a:t>(d)  </a:t>
            </a:r>
            <a:r>
              <a:rPr lang="en-GB" sz="1400" dirty="0"/>
              <a:t>Calculate the balancing loss and the maximum number of drinks served per hour.</a:t>
            </a:r>
          </a:p>
        </p:txBody>
      </p:sp>
      <p:graphicFrame>
        <p:nvGraphicFramePr>
          <p:cNvPr id="40" name="Data table"/>
          <p:cNvGraphicFramePr>
            <a:graphicFrameLocks noGrp="1"/>
          </p:cNvGraphicFramePr>
          <p:nvPr/>
        </p:nvGraphicFramePr>
        <p:xfrm>
          <a:off x="4937760" y="1051560"/>
          <a:ext cx="3794760" cy="1810512"/>
        </p:xfrm>
        <a:graphic>
          <a:graphicData uri="http://schemas.openxmlformats.org/drawingml/2006/table">
            <a:tbl>
              <a:tblPr firstRow="1"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150" b="1" dirty="0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54864" marR="54864" marT="27432" marB="27432" anchor="ctr">
                    <a:lnB w="6350">
                      <a:solidFill>
                        <a:srgbClr val="C3D4FB"/>
                      </a:solidFill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50" b="1" dirty="0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54864" marR="54864" marT="27432" marB="27432" anchor="ctr">
                    <a:lnB w="6350">
                      <a:solidFill>
                        <a:srgbClr val="C3D4FB"/>
                      </a:solidFill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50" b="1" dirty="0">
                          <a:solidFill>
                            <a:srgbClr val="FFFFFF"/>
                          </a:solidFill>
                        </a:rPr>
                        <a:t>Time (sec)</a:t>
                      </a:r>
                    </a:p>
                  </a:txBody>
                  <a:tcPr marL="54864" marR="54864" marT="27432" marB="27432" anchor="ctr">
                    <a:lnB w="6350">
                      <a:solidFill>
                        <a:srgbClr val="C3D4FB"/>
                      </a:solidFill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Take order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30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E5E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Take payment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E5E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20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E5E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Make espresso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45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E5E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Steam milk and latte art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E5E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40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E5E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Hand over drink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50" dirty="0">
                          <a:solidFill>
                            <a:srgbClr val="1A1A1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band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Accent rule"/>
          <p:cNvSpPr/>
          <p:nvPr/>
        </p:nvSpPr>
        <p:spPr>
          <a:xfrm>
            <a:off x="0" y="896112"/>
            <a:ext cx="9144000" cy="54864"/>
          </a:xfrm>
          <a:prstGeom prst="rect">
            <a:avLst/>
          </a:prstGeom>
          <a:solidFill>
            <a:srgbClr val="C3D4FB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400" b="1" dirty="0">
                <a:solidFill>
                  <a:srgbClr val="FFFFFF"/>
                </a:solidFill>
              </a:rPr>
              <a:t>Q5: Line Balancing and Bottlenecks (2)</a:t>
            </a:r>
          </a:p>
        </p:txBody>
      </p:sp>
      <p:sp>
        <p:nvSpPr>
          <p:cNvPr id="11" name="Body"/>
          <p:cNvSpPr txBox="1">
            <a:spLocks noGrp="1"/>
          </p:cNvSpPr>
          <p:nvPr>
            <p:ph type="body" idx="1"/>
          </p:nvPr>
        </p:nvSpPr>
        <p:spPr>
          <a:xfrm>
            <a:off x="57150" y="960120"/>
            <a:ext cx="4743450" cy="3657600"/>
          </a:xfrm>
        </p:spPr>
        <p:txBody>
          <a:bodyPr>
            <a:no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GB" dirty="0"/>
              <a:t>An Amazon returns centre processes returned items through five sequential stages, one worker per stage.</a:t>
            </a:r>
          </a:p>
          <a:p>
            <a:pPr marL="342900" lvl="1" indent="-342900">
              <a:spcAft>
                <a:spcPts val="300"/>
              </a:spcAft>
              <a:buNone/>
            </a:pPr>
            <a:r>
              <a:rPr lang="en-GB" sz="1800" b="1" dirty="0">
                <a:solidFill>
                  <a:srgbClr val="1D4ED8"/>
                </a:solidFill>
              </a:rPr>
              <a:t>(a)  </a:t>
            </a:r>
            <a:r>
              <a:rPr lang="en-GB" sz="1800" dirty="0"/>
              <a:t>Identify the bottleneck stage and the cycle time.</a:t>
            </a:r>
          </a:p>
          <a:p>
            <a:pPr marL="342900" lvl="1" indent="-342900">
              <a:spcAft>
                <a:spcPts val="300"/>
              </a:spcAft>
              <a:buNone/>
            </a:pPr>
            <a:r>
              <a:rPr lang="en-GB" sz="1800" b="1" dirty="0">
                <a:solidFill>
                  <a:srgbClr val="1D4ED8"/>
                </a:solidFill>
              </a:rPr>
              <a:t>(b)  </a:t>
            </a:r>
            <a:r>
              <a:rPr lang="en-GB" sz="1800" dirty="0"/>
              <a:t>Calculate the idle time at each stage and in total.</a:t>
            </a:r>
          </a:p>
          <a:p>
            <a:pPr marL="342900" lvl="1" indent="-342900">
              <a:spcAft>
                <a:spcPts val="300"/>
              </a:spcAft>
              <a:buNone/>
            </a:pPr>
            <a:r>
              <a:rPr lang="en-GB" sz="1800" b="1" dirty="0">
                <a:solidFill>
                  <a:srgbClr val="1D4ED8"/>
                </a:solidFill>
              </a:rPr>
              <a:t>(c)  </a:t>
            </a:r>
            <a:r>
              <a:rPr lang="en-GB" sz="1800" dirty="0"/>
              <a:t>An AI vision system halves inspection time to 3.5 minutes. Find the new bottleneck, cycle time, total idle time and items processed per hour.</a:t>
            </a:r>
          </a:p>
          <a:p>
            <a:pPr marL="342900" lvl="1" indent="-342900">
              <a:spcAft>
                <a:spcPts val="300"/>
              </a:spcAft>
              <a:buNone/>
            </a:pPr>
            <a:r>
              <a:rPr lang="en-GB" sz="1800" b="1" dirty="0">
                <a:solidFill>
                  <a:srgbClr val="1D4ED8"/>
                </a:solidFill>
              </a:rPr>
              <a:t>(d)  </a:t>
            </a:r>
            <a:r>
              <a:rPr lang="en-GB" sz="1800" dirty="0"/>
              <a:t>Calculate the balancing loss before and after the change, and comment on the result.</a:t>
            </a:r>
          </a:p>
        </p:txBody>
      </p:sp>
      <p:graphicFrame>
        <p:nvGraphicFramePr>
          <p:cNvPr id="40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45110"/>
              </p:ext>
            </p:extLst>
          </p:nvPr>
        </p:nvGraphicFramePr>
        <p:xfrm>
          <a:off x="4718957" y="1051560"/>
          <a:ext cx="4013563" cy="2051304"/>
        </p:xfrm>
        <a:graphic>
          <a:graphicData uri="http://schemas.openxmlformats.org/drawingml/2006/table">
            <a:tbl>
              <a:tblPr firstRow="1"/>
              <a:tblGrid>
                <a:gridCol w="693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74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2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54864" marR="54864" marT="27432" marB="27432" anchor="ctr">
                    <a:lnB w="6350">
                      <a:solidFill>
                        <a:srgbClr val="C3D4FB"/>
                      </a:solidFill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 marL="54864" marR="54864" marT="27432" marB="27432" anchor="ctr">
                    <a:lnB w="6350">
                      <a:solidFill>
                        <a:srgbClr val="C3D4FB"/>
                      </a:solidFill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FFFFFF"/>
                          </a:solidFill>
                        </a:rPr>
                        <a:t>Time (min)</a:t>
                      </a:r>
                    </a:p>
                  </a:txBody>
                  <a:tcPr marL="54864" marR="54864" marT="27432" marB="27432" anchor="ctr">
                    <a:lnB w="6350">
                      <a:solidFill>
                        <a:srgbClr val="C3D4FB"/>
                      </a:solidFill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Receive and scan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E5E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Inspect condition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E5E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E5E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Clean and repackage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E5E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Re-label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E5E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E5E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Restock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band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Accent rule"/>
          <p:cNvSpPr/>
          <p:nvPr/>
        </p:nvSpPr>
        <p:spPr>
          <a:xfrm>
            <a:off x="0" y="896112"/>
            <a:ext cx="9144000" cy="54864"/>
          </a:xfrm>
          <a:prstGeom prst="rect">
            <a:avLst/>
          </a:prstGeom>
          <a:solidFill>
            <a:srgbClr val="C3D4FB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400" b="1" dirty="0">
                <a:solidFill>
                  <a:srgbClr val="FFFFFF"/>
                </a:solidFill>
              </a:rPr>
              <a:t>Q6: Line Balancing and Bottlenecks (3)</a:t>
            </a:r>
          </a:p>
        </p:txBody>
      </p:sp>
      <p:sp>
        <p:nvSpPr>
          <p:cNvPr id="11" name="Body"/>
          <p:cNvSpPr txBox="1">
            <a:spLocks noGrp="1"/>
          </p:cNvSpPr>
          <p:nvPr>
            <p:ph type="body" idx="1"/>
          </p:nvPr>
        </p:nvSpPr>
        <p:spPr>
          <a:xfrm>
            <a:off x="0" y="1240970"/>
            <a:ext cx="4800600" cy="3376749"/>
          </a:xfrm>
        </p:spPr>
        <p:txBody>
          <a:bodyPr>
            <a:no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GB" sz="1600" dirty="0"/>
              <a:t>Before each surf session at The Wave, every visitor passes through five sequential stages, one member of staff per stage. Illustrative times.</a:t>
            </a:r>
          </a:p>
          <a:p>
            <a:pPr marL="342900" lvl="1" indent="-342900">
              <a:spcAft>
                <a:spcPts val="300"/>
              </a:spcAft>
              <a:buNone/>
            </a:pPr>
            <a:r>
              <a:rPr lang="en-GB" sz="1600" b="1" dirty="0">
                <a:solidFill>
                  <a:srgbClr val="1D4ED8"/>
                </a:solidFill>
              </a:rPr>
              <a:t>(a)  </a:t>
            </a:r>
            <a:r>
              <a:rPr lang="en-GB" sz="1600" dirty="0"/>
              <a:t>Identify the bottleneck stage and the cycle time.</a:t>
            </a:r>
          </a:p>
          <a:p>
            <a:pPr marL="342900" lvl="1" indent="-342900">
              <a:spcAft>
                <a:spcPts val="300"/>
              </a:spcAft>
              <a:buNone/>
            </a:pPr>
            <a:r>
              <a:rPr lang="en-GB" sz="1600" b="1" dirty="0">
                <a:solidFill>
                  <a:srgbClr val="1D4ED8"/>
                </a:solidFill>
              </a:rPr>
              <a:t>(b)  </a:t>
            </a:r>
            <a:r>
              <a:rPr lang="en-GB" sz="1600" dirty="0"/>
              <a:t>Calculate the idle time at each stage, the total idle time and the balancing loss.</a:t>
            </a:r>
          </a:p>
          <a:p>
            <a:pPr marL="342900" lvl="1" indent="-342900">
              <a:spcAft>
                <a:spcPts val="300"/>
              </a:spcAft>
              <a:buNone/>
            </a:pPr>
            <a:r>
              <a:rPr lang="en-GB" sz="1600" b="1" dirty="0">
                <a:solidFill>
                  <a:srgbClr val="1D4ED8"/>
                </a:solidFill>
              </a:rPr>
              <a:t>(c)  </a:t>
            </a:r>
            <a:r>
              <a:rPr lang="en-GB" sz="1600" dirty="0"/>
              <a:t>Visitors now choose their wetsuit size when booking online, cutting Stage 2 to 3.5 minutes. Find the new bottleneck, cycle time, balancing loss and visitors processed per hour.</a:t>
            </a:r>
          </a:p>
          <a:p>
            <a:pPr marL="342900" lvl="1" indent="-342900">
              <a:spcAft>
                <a:spcPts val="300"/>
              </a:spcAft>
              <a:buNone/>
            </a:pPr>
            <a:r>
              <a:rPr lang="en-GB" sz="1600" b="1" dirty="0">
                <a:solidFill>
                  <a:srgbClr val="1D4ED8"/>
                </a:solidFill>
              </a:rPr>
              <a:t>(d)  </a:t>
            </a:r>
            <a:r>
              <a:rPr lang="en-GB" sz="1600" dirty="0"/>
              <a:t>Which of the five focusing steps does this change represent? What should managers do next?</a:t>
            </a:r>
          </a:p>
        </p:txBody>
      </p:sp>
      <p:graphicFrame>
        <p:nvGraphicFramePr>
          <p:cNvPr id="40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784405"/>
              </p:ext>
            </p:extLst>
          </p:nvPr>
        </p:nvGraphicFramePr>
        <p:xfrm>
          <a:off x="4937760" y="1051560"/>
          <a:ext cx="3794760" cy="2051304"/>
        </p:xfrm>
        <a:graphic>
          <a:graphicData uri="http://schemas.openxmlformats.org/drawingml/2006/table">
            <a:tbl>
              <a:tblPr firstRow="1"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54864" marR="54864" marT="27432" marB="27432" anchor="ctr">
                    <a:lnB w="6350">
                      <a:solidFill>
                        <a:srgbClr val="C3D4FB"/>
                      </a:solidFill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 marL="54864" marR="54864" marT="27432" marB="27432" anchor="ctr">
                    <a:lnB w="6350">
                      <a:solidFill>
                        <a:srgbClr val="C3D4FB"/>
                      </a:solidFill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FFFFFF"/>
                          </a:solidFill>
                        </a:rPr>
                        <a:t>Time (min)</a:t>
                      </a:r>
                    </a:p>
                  </a:txBody>
                  <a:tcPr marL="54864" marR="54864" marT="27432" marB="27432" anchor="ctr">
                    <a:lnB w="6350">
                      <a:solidFill>
                        <a:srgbClr val="C3D4FB"/>
                      </a:solidFill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Check-in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E5E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Wetsuit hire and fitting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E5E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E5E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Safety briefing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E5E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Board collection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E5E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E5E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Locker allocation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lnT w="6350" cap="flat" cmpd="sng" algn="ctr">
                      <a:solidFill>
                        <a:srgbClr val="C3D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3D4F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/>
          <p:cNvSpPr/>
          <p:nvPr/>
        </p:nvSpPr>
        <p:spPr>
          <a:xfrm>
            <a:off x="857250" y="205740"/>
            <a:ext cx="6069330" cy="480060"/>
          </a:xfrm>
          <a:prstGeom prst="rect">
            <a:avLst/>
          </a:prstGeom>
          <a:noFill/>
          <a:ln>
            <a:noFill/>
          </a:ln>
        </p:spPr>
        <p:txBody>
          <a:bodyPr wrap="square" lIns="54864" tIns="34290" rIns="54864" bIns="34290" rtlCol="0" anchor="ctr">
            <a:normAutofit/>
          </a:bodyPr>
          <a:lstStyle/>
          <a:p>
            <a:r>
              <a:rPr lang="en-GB" sz="1950" b="1" dirty="0">
                <a:solidFill>
                  <a:srgbClr val="5B2C91"/>
                </a:solidFill>
              </a:rPr>
              <a:t> The Bakery</a:t>
            </a:r>
          </a:p>
        </p:txBody>
      </p:sp>
      <p:cxnSp>
        <p:nvCxnSpPr>
          <p:cNvPr id="5" name="Line 5"/>
          <p:cNvCxnSpPr/>
          <p:nvPr/>
        </p:nvCxnSpPr>
        <p:spPr>
          <a:xfrm>
            <a:off x="342900" y="720090"/>
            <a:ext cx="8455914" cy="0"/>
          </a:xfrm>
          <a:prstGeom prst="line">
            <a:avLst/>
          </a:prstGeom>
          <a:ln w="15875">
            <a:solidFill>
              <a:srgbClr val="5B2C91"/>
            </a:solidFill>
          </a:ln>
        </p:spPr>
      </p:cxnSp>
      <p:sp>
        <p:nvSpPr>
          <p:cNvPr id="6" name="Box 6"/>
          <p:cNvSpPr/>
          <p:nvPr/>
        </p:nvSpPr>
        <p:spPr>
          <a:xfrm>
            <a:off x="7029450" y="246888"/>
            <a:ext cx="1769364" cy="384048"/>
          </a:xfrm>
          <a:prstGeom prst="roundRect">
            <a:avLst>
              <a:gd name="adj" fmla="val 40000"/>
            </a:avLst>
          </a:prstGeom>
          <a:solidFill>
            <a:srgbClr val="5B2C91"/>
          </a:solidFill>
          <a:ln>
            <a:noFill/>
          </a:ln>
        </p:spPr>
        <p:txBody>
          <a:bodyPr wrap="square" lIns="34290" tIns="0" rIns="34290" bIns="0" rtlCol="0" anchor="ctr">
            <a:normAutofit/>
          </a:bodyPr>
          <a:lstStyle/>
          <a:p>
            <a:pPr algn="ctr"/>
            <a:r>
              <a:rPr lang="en-GB" sz="1088" b="1" dirty="0">
                <a:solidFill>
                  <a:srgbClr val="FFFFFF"/>
                </a:solidFill>
              </a:rPr>
              <a:t>TOC + INVESTMENT</a:t>
            </a:r>
          </a:p>
        </p:txBody>
      </p:sp>
      <p:sp>
        <p:nvSpPr>
          <p:cNvPr id="7" name="Box 7"/>
          <p:cNvSpPr/>
          <p:nvPr/>
        </p:nvSpPr>
        <p:spPr>
          <a:xfrm>
            <a:off x="342900" y="822960"/>
            <a:ext cx="8455914" cy="377190"/>
          </a:xfrm>
          <a:prstGeom prst="rect">
            <a:avLst/>
          </a:prstGeom>
          <a:noFill/>
          <a:ln>
            <a:noFill/>
          </a:ln>
        </p:spPr>
        <p:txBody>
          <a:bodyPr wrap="square" lIns="54864" tIns="34290" rIns="54864" bIns="34290" rtlCol="0" anchor="ctr">
            <a:normAutofit/>
          </a:bodyPr>
          <a:lstStyle/>
          <a:p>
            <a:r>
              <a:rPr lang="en-GB" sz="1200" b="1" dirty="0">
                <a:solidFill>
                  <a:srgbClr val="5B2C91"/>
                </a:solidFill>
              </a:rPr>
              <a:t>An artisan bakery’s bread production line has five sequential stages (processing time in minutes):</a:t>
            </a:r>
          </a:p>
        </p:txBody>
      </p:sp>
      <p:sp>
        <p:nvSpPr>
          <p:cNvPr id="8" name="Box 8"/>
          <p:cNvSpPr/>
          <p:nvPr/>
        </p:nvSpPr>
        <p:spPr>
          <a:xfrm>
            <a:off x="377190" y="1268730"/>
            <a:ext cx="1405890" cy="65151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2C91"/>
            </a:solidFill>
          </a:ln>
        </p:spPr>
        <p:txBody>
          <a:bodyPr wrap="square" lIns="27432" tIns="13716" rIns="27432" bIns="13716" rtlCol="0" anchor="ctr">
            <a:normAutofit/>
          </a:bodyPr>
          <a:lstStyle/>
          <a:p>
            <a:pPr algn="ctr">
              <a:spcAft>
                <a:spcPts val="150"/>
              </a:spcAft>
            </a:pPr>
            <a:r>
              <a:rPr lang="en-GB" sz="975" b="1" dirty="0">
                <a:solidFill>
                  <a:srgbClr val="5B2C91"/>
                </a:solidFill>
              </a:rPr>
              <a:t>1 Mix dough</a:t>
            </a:r>
          </a:p>
          <a:p>
            <a:pPr algn="ctr"/>
            <a:r>
              <a:rPr lang="en-GB" sz="1200" b="1" dirty="0">
                <a:solidFill>
                  <a:srgbClr val="1A1A1A"/>
                </a:solidFill>
              </a:rPr>
              <a:t>4 min</a:t>
            </a:r>
          </a:p>
        </p:txBody>
      </p:sp>
      <p:cxnSp>
        <p:nvCxnSpPr>
          <p:cNvPr id="9" name="Arrow 9"/>
          <p:cNvCxnSpPr/>
          <p:nvPr/>
        </p:nvCxnSpPr>
        <p:spPr>
          <a:xfrm>
            <a:off x="1810512" y="1594485"/>
            <a:ext cx="288036" cy="0"/>
          </a:xfrm>
          <a:prstGeom prst="straightConnector1">
            <a:avLst/>
          </a:prstGeom>
          <a:ln w="19050">
            <a:solidFill>
              <a:srgbClr val="5B2C91"/>
            </a:solidFill>
            <a:tailEnd type="triangle"/>
          </a:ln>
        </p:spPr>
      </p:cxnSp>
      <p:sp>
        <p:nvSpPr>
          <p:cNvPr id="10" name="Box 10"/>
          <p:cNvSpPr/>
          <p:nvPr/>
        </p:nvSpPr>
        <p:spPr>
          <a:xfrm>
            <a:off x="2125980" y="1268730"/>
            <a:ext cx="1405890" cy="65151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2C91"/>
            </a:solidFill>
          </a:ln>
        </p:spPr>
        <p:txBody>
          <a:bodyPr wrap="square" lIns="27432" tIns="13716" rIns="27432" bIns="13716" rtlCol="0" anchor="ctr">
            <a:normAutofit/>
          </a:bodyPr>
          <a:lstStyle/>
          <a:p>
            <a:pPr algn="ctr">
              <a:spcAft>
                <a:spcPts val="150"/>
              </a:spcAft>
            </a:pPr>
            <a:r>
              <a:rPr lang="en-GB" sz="975" b="1" dirty="0">
                <a:solidFill>
                  <a:srgbClr val="5B2C91"/>
                </a:solidFill>
              </a:rPr>
              <a:t>2 Prove</a:t>
            </a:r>
          </a:p>
          <a:p>
            <a:pPr algn="ctr"/>
            <a:r>
              <a:rPr lang="en-GB" sz="1200" b="1" dirty="0">
                <a:solidFill>
                  <a:srgbClr val="1A1A1A"/>
                </a:solidFill>
              </a:rPr>
              <a:t>6 min</a:t>
            </a:r>
          </a:p>
        </p:txBody>
      </p:sp>
      <p:cxnSp>
        <p:nvCxnSpPr>
          <p:cNvPr id="11" name="Arrow 11"/>
          <p:cNvCxnSpPr/>
          <p:nvPr/>
        </p:nvCxnSpPr>
        <p:spPr>
          <a:xfrm>
            <a:off x="3559302" y="1594485"/>
            <a:ext cx="288036" cy="0"/>
          </a:xfrm>
          <a:prstGeom prst="straightConnector1">
            <a:avLst/>
          </a:prstGeom>
          <a:ln w="19050">
            <a:solidFill>
              <a:srgbClr val="5B2C91"/>
            </a:solidFill>
            <a:tailEnd type="triangle"/>
          </a:ln>
        </p:spPr>
      </p:cxnSp>
      <p:sp>
        <p:nvSpPr>
          <p:cNvPr id="12" name="Box 12"/>
          <p:cNvSpPr/>
          <p:nvPr/>
        </p:nvSpPr>
        <p:spPr>
          <a:xfrm>
            <a:off x="3874770" y="1268730"/>
            <a:ext cx="1405890" cy="65151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2C91"/>
            </a:solidFill>
          </a:ln>
        </p:spPr>
        <p:txBody>
          <a:bodyPr wrap="square" lIns="27432" tIns="13716" rIns="27432" bIns="13716" rtlCol="0" anchor="ctr">
            <a:normAutofit/>
          </a:bodyPr>
          <a:lstStyle/>
          <a:p>
            <a:pPr algn="ctr">
              <a:spcAft>
                <a:spcPts val="150"/>
              </a:spcAft>
            </a:pPr>
            <a:r>
              <a:rPr lang="en-GB" sz="975" b="1" dirty="0">
                <a:solidFill>
                  <a:srgbClr val="5B2C91"/>
                </a:solidFill>
              </a:rPr>
              <a:t>3 Shape</a:t>
            </a:r>
          </a:p>
          <a:p>
            <a:pPr algn="ctr"/>
            <a:r>
              <a:rPr lang="en-GB" sz="1200" b="1" dirty="0">
                <a:solidFill>
                  <a:srgbClr val="1A1A1A"/>
                </a:solidFill>
              </a:rPr>
              <a:t>5 min</a:t>
            </a:r>
          </a:p>
        </p:txBody>
      </p:sp>
      <p:cxnSp>
        <p:nvCxnSpPr>
          <p:cNvPr id="13" name="Arrow 13"/>
          <p:cNvCxnSpPr/>
          <p:nvPr/>
        </p:nvCxnSpPr>
        <p:spPr>
          <a:xfrm>
            <a:off x="5308092" y="1594485"/>
            <a:ext cx="288036" cy="0"/>
          </a:xfrm>
          <a:prstGeom prst="straightConnector1">
            <a:avLst/>
          </a:prstGeom>
          <a:ln w="19050">
            <a:solidFill>
              <a:srgbClr val="5B2C91"/>
            </a:solidFill>
            <a:tailEnd type="triangle"/>
          </a:ln>
        </p:spPr>
      </p:cxnSp>
      <p:sp>
        <p:nvSpPr>
          <p:cNvPr id="14" name="Box 14"/>
          <p:cNvSpPr/>
          <p:nvPr/>
        </p:nvSpPr>
        <p:spPr>
          <a:xfrm>
            <a:off x="5623560" y="1268730"/>
            <a:ext cx="1405890" cy="65151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2C91"/>
            </a:solidFill>
          </a:ln>
        </p:spPr>
        <p:txBody>
          <a:bodyPr wrap="square" lIns="27432" tIns="13716" rIns="27432" bIns="13716" rtlCol="0" anchor="ctr">
            <a:normAutofit/>
          </a:bodyPr>
          <a:lstStyle/>
          <a:p>
            <a:pPr algn="ctr">
              <a:spcAft>
                <a:spcPts val="150"/>
              </a:spcAft>
            </a:pPr>
            <a:r>
              <a:rPr lang="en-GB" sz="975" b="1" dirty="0">
                <a:solidFill>
                  <a:srgbClr val="5B2C91"/>
                </a:solidFill>
              </a:rPr>
              <a:t>4 Bake</a:t>
            </a:r>
          </a:p>
          <a:p>
            <a:pPr algn="ctr"/>
            <a:r>
              <a:rPr lang="en-GB" sz="1200" b="1" dirty="0">
                <a:solidFill>
                  <a:srgbClr val="1A1A1A"/>
                </a:solidFill>
              </a:rPr>
              <a:t>15 min</a:t>
            </a:r>
          </a:p>
        </p:txBody>
      </p:sp>
      <p:cxnSp>
        <p:nvCxnSpPr>
          <p:cNvPr id="15" name="Arrow 15"/>
          <p:cNvCxnSpPr/>
          <p:nvPr/>
        </p:nvCxnSpPr>
        <p:spPr>
          <a:xfrm>
            <a:off x="7056882" y="1594485"/>
            <a:ext cx="288036" cy="0"/>
          </a:xfrm>
          <a:prstGeom prst="straightConnector1">
            <a:avLst/>
          </a:prstGeom>
          <a:ln w="19050">
            <a:solidFill>
              <a:srgbClr val="5B2C91"/>
            </a:solidFill>
            <a:tailEnd type="triangle"/>
          </a:ln>
        </p:spPr>
      </p:cxnSp>
      <p:sp>
        <p:nvSpPr>
          <p:cNvPr id="16" name="Box 16"/>
          <p:cNvSpPr/>
          <p:nvPr/>
        </p:nvSpPr>
        <p:spPr>
          <a:xfrm>
            <a:off x="7372350" y="1268730"/>
            <a:ext cx="1405890" cy="65151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2C91"/>
            </a:solidFill>
          </a:ln>
        </p:spPr>
        <p:txBody>
          <a:bodyPr wrap="square" lIns="27432" tIns="13716" rIns="27432" bIns="13716" rtlCol="0" anchor="ctr">
            <a:normAutofit/>
          </a:bodyPr>
          <a:lstStyle/>
          <a:p>
            <a:pPr algn="ctr">
              <a:spcAft>
                <a:spcPts val="150"/>
              </a:spcAft>
            </a:pPr>
            <a:r>
              <a:rPr lang="en-GB" sz="975" b="1" dirty="0">
                <a:solidFill>
                  <a:srgbClr val="5B2C91"/>
                </a:solidFill>
              </a:rPr>
              <a:t>5 Pack</a:t>
            </a:r>
          </a:p>
          <a:p>
            <a:pPr algn="ctr"/>
            <a:r>
              <a:rPr lang="en-GB" sz="1200" b="1" dirty="0">
                <a:solidFill>
                  <a:srgbClr val="1A1A1A"/>
                </a:solidFill>
              </a:rPr>
              <a:t>3 min</a:t>
            </a:r>
          </a:p>
        </p:txBody>
      </p:sp>
      <p:sp>
        <p:nvSpPr>
          <p:cNvPr id="17" name="Box 17"/>
          <p:cNvSpPr/>
          <p:nvPr/>
        </p:nvSpPr>
        <p:spPr>
          <a:xfrm>
            <a:off x="342900" y="2146554"/>
            <a:ext cx="342900" cy="342900"/>
          </a:xfrm>
          <a:prstGeom prst="ellipse">
            <a:avLst/>
          </a:prstGeom>
          <a:solidFill>
            <a:srgbClr val="5B2C91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GB" sz="12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Box 18"/>
          <p:cNvSpPr/>
          <p:nvPr/>
        </p:nvSpPr>
        <p:spPr>
          <a:xfrm>
            <a:off x="788670" y="2057400"/>
            <a:ext cx="8010144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E0"/>
            </a:solidFill>
          </a:ln>
        </p:spPr>
        <p:txBody>
          <a:bodyPr wrap="square" lIns="102870" tIns="20574" rIns="68580" bIns="20574" rtlCol="0" anchor="ctr">
            <a:normAutofit/>
          </a:bodyPr>
          <a:lstStyle/>
          <a:p>
            <a:r>
              <a:rPr lang="en-GB" sz="1163" b="1" dirty="0">
                <a:solidFill>
                  <a:srgbClr val="5B2C91"/>
                </a:solidFill>
              </a:rPr>
              <a:t>(a)  </a:t>
            </a:r>
            <a:r>
              <a:rPr lang="en-GB" sz="1163" dirty="0">
                <a:solidFill>
                  <a:srgbClr val="1A1A1A"/>
                </a:solidFill>
              </a:rPr>
              <a:t>Define and critically evaluate the strengths and weaknesses of the Theory of Constraints (TOC) as an approach to improving process performance.</a:t>
            </a:r>
          </a:p>
        </p:txBody>
      </p:sp>
      <p:sp>
        <p:nvSpPr>
          <p:cNvPr id="19" name="Box 19"/>
          <p:cNvSpPr/>
          <p:nvPr/>
        </p:nvSpPr>
        <p:spPr>
          <a:xfrm>
            <a:off x="342900" y="2736342"/>
            <a:ext cx="342900" cy="342900"/>
          </a:xfrm>
          <a:prstGeom prst="ellipse">
            <a:avLst/>
          </a:prstGeom>
          <a:solidFill>
            <a:srgbClr val="5B2C91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GB" sz="12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Box 20"/>
          <p:cNvSpPr/>
          <p:nvPr/>
        </p:nvSpPr>
        <p:spPr>
          <a:xfrm>
            <a:off x="788670" y="2647188"/>
            <a:ext cx="8010144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E0"/>
            </a:solidFill>
          </a:ln>
        </p:spPr>
        <p:txBody>
          <a:bodyPr wrap="square" lIns="102870" tIns="20574" rIns="68580" bIns="20574" rtlCol="0" anchor="ctr">
            <a:normAutofit/>
          </a:bodyPr>
          <a:lstStyle/>
          <a:p>
            <a:r>
              <a:rPr lang="en-GB" sz="1163" b="1" dirty="0">
                <a:solidFill>
                  <a:srgbClr val="5B2C91"/>
                </a:solidFill>
              </a:rPr>
              <a:t>(b)  </a:t>
            </a:r>
            <a:r>
              <a:rPr lang="en-GB" sz="1163" dirty="0">
                <a:solidFill>
                  <a:srgbClr val="1A1A1A"/>
                </a:solidFill>
              </a:rPr>
              <a:t>Identify the bottleneck stage and the cycle time, and calculate the balancing loss for this process.</a:t>
            </a:r>
          </a:p>
        </p:txBody>
      </p:sp>
      <p:sp>
        <p:nvSpPr>
          <p:cNvPr id="21" name="Box 21"/>
          <p:cNvSpPr/>
          <p:nvPr/>
        </p:nvSpPr>
        <p:spPr>
          <a:xfrm>
            <a:off x="342900" y="3326130"/>
            <a:ext cx="342900" cy="342900"/>
          </a:xfrm>
          <a:prstGeom prst="ellipse">
            <a:avLst/>
          </a:prstGeom>
          <a:solidFill>
            <a:srgbClr val="5B2C91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GB" sz="12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Box 22"/>
          <p:cNvSpPr/>
          <p:nvPr/>
        </p:nvSpPr>
        <p:spPr>
          <a:xfrm>
            <a:off x="788670" y="3236976"/>
            <a:ext cx="8010144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E0"/>
            </a:solidFill>
          </a:ln>
        </p:spPr>
        <p:txBody>
          <a:bodyPr wrap="square" lIns="102870" tIns="20574" rIns="68580" bIns="20574" rtlCol="0" anchor="ctr">
            <a:normAutofit/>
          </a:bodyPr>
          <a:lstStyle/>
          <a:p>
            <a:r>
              <a:rPr lang="en-GB" sz="1163" b="1" dirty="0">
                <a:solidFill>
                  <a:srgbClr val="5B2C91"/>
                </a:solidFill>
              </a:rPr>
              <a:t>(c)  </a:t>
            </a:r>
            <a:r>
              <a:rPr lang="en-GB" sz="1163" dirty="0">
                <a:solidFill>
                  <a:srgbClr val="1A1A1A"/>
                </a:solidFill>
              </a:rPr>
              <a:t>The bakery installs a second oven working in parallel at Stage 4, reducing the baking time to 7.5 minutes. Recalculate the cycle time and the balancing loss.</a:t>
            </a:r>
          </a:p>
        </p:txBody>
      </p:sp>
      <p:sp>
        <p:nvSpPr>
          <p:cNvPr id="23" name="Box 23"/>
          <p:cNvSpPr/>
          <p:nvPr/>
        </p:nvSpPr>
        <p:spPr>
          <a:xfrm>
            <a:off x="342900" y="3915918"/>
            <a:ext cx="342900" cy="342900"/>
          </a:xfrm>
          <a:prstGeom prst="ellipse">
            <a:avLst/>
          </a:prstGeom>
          <a:solidFill>
            <a:srgbClr val="5B2C91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GB" sz="12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Box 24"/>
          <p:cNvSpPr/>
          <p:nvPr/>
        </p:nvSpPr>
        <p:spPr>
          <a:xfrm>
            <a:off x="788670" y="3826764"/>
            <a:ext cx="8010144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E0"/>
            </a:solidFill>
          </a:ln>
        </p:spPr>
        <p:txBody>
          <a:bodyPr wrap="square" lIns="102870" tIns="20574" rIns="68580" bIns="20574" rtlCol="0" anchor="ctr">
            <a:normAutofit/>
          </a:bodyPr>
          <a:lstStyle/>
          <a:p>
            <a:r>
              <a:rPr lang="en-GB" sz="1163" b="1" dirty="0">
                <a:solidFill>
                  <a:srgbClr val="5B2C91"/>
                </a:solidFill>
              </a:rPr>
              <a:t>(d)  </a:t>
            </a:r>
            <a:r>
              <a:rPr lang="en-GB" sz="1163" dirty="0">
                <a:solidFill>
                  <a:srgbClr val="1A1A1A"/>
                </a:solidFill>
              </a:rPr>
              <a:t>Critically comment on whether the investment is worthwhile.</a:t>
            </a:r>
          </a:p>
        </p:txBody>
      </p:sp>
      <p:sp>
        <p:nvSpPr>
          <p:cNvPr id="25" name="Page 25"/>
          <p:cNvSpPr/>
          <p:nvPr/>
        </p:nvSpPr>
        <p:spPr>
          <a:xfrm>
            <a:off x="8455914" y="4869180"/>
            <a:ext cx="548640" cy="2057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4290" rIns="54864" bIns="34290" rtlCol="0" anchor="ctr">
            <a:normAutofit/>
          </a:bodyPr>
          <a:lstStyle/>
          <a:p>
            <a:pPr algn="r"/>
            <a:r>
              <a:rPr lang="en-GB" sz="825" dirty="0">
                <a:solidFill>
                  <a:srgbClr val="1A1A1A"/>
                </a:solidFill>
              </a:rPr>
              <a:t>59</a:t>
            </a:r>
          </a:p>
        </p:txBody>
      </p:sp>
      <p:sp>
        <p:nvSpPr>
          <p:cNvPr id="950" name="Icon circle 950"/>
          <p:cNvSpPr/>
          <p:nvPr/>
        </p:nvSpPr>
        <p:spPr>
          <a:xfrm>
            <a:off x="342900" y="246888"/>
            <a:ext cx="411480" cy="411480"/>
          </a:xfrm>
          <a:prstGeom prst="ellipse">
            <a:avLst/>
          </a:prstGeom>
          <a:solidFill>
            <a:srgbClr val="5B2C91"/>
          </a:solidFill>
          <a:ln>
            <a:noFill/>
          </a:ln>
        </p:spPr>
        <p:txBody>
          <a:bodyPr/>
          <a:lstStyle/>
          <a:p>
            <a:endParaRPr lang="en-GB" sz="1050"/>
          </a:p>
        </p:txBody>
      </p:sp>
      <p:pic>
        <p:nvPicPr>
          <p:cNvPr id="951" name="Icon FaBreadSlice" descr="BreadSlic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6" y="337414"/>
            <a:ext cx="230429" cy="2304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band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Accent rule"/>
          <p:cNvSpPr/>
          <p:nvPr/>
        </p:nvSpPr>
        <p:spPr>
          <a:xfrm>
            <a:off x="0" y="896112"/>
            <a:ext cx="9144000" cy="54864"/>
          </a:xfrm>
          <a:prstGeom prst="rect">
            <a:avLst/>
          </a:prstGeom>
          <a:solidFill>
            <a:srgbClr val="F6C2D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Title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400" b="1" dirty="0">
                <a:solidFill>
                  <a:srgbClr val="FFFFFF"/>
                </a:solidFill>
              </a:rPr>
              <a:t>Q7: Theory of Constraints and Process Technology</a:t>
            </a:r>
          </a:p>
        </p:txBody>
      </p:sp>
      <p:sp>
        <p:nvSpPr>
          <p:cNvPr id="11" name="Body"/>
          <p:cNvSpPr txBox="1">
            <a:spLocks noGrp="1"/>
          </p:cNvSpPr>
          <p:nvPr>
            <p:ph type="body" idx="1"/>
          </p:nvPr>
        </p:nvSpPr>
        <p:spPr>
          <a:xfrm>
            <a:off x="320040" y="960120"/>
            <a:ext cx="8275320" cy="3657600"/>
          </a:xfrm>
        </p:spPr>
        <p:txBody>
          <a:bodyPr>
            <a:norm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GB" sz="1600" dirty="0"/>
              <a:t>Answer in short paragraphs, using the coffee shop, Amazon and The Wave as examples.</a:t>
            </a:r>
          </a:p>
          <a:p>
            <a:pPr marL="342900" lvl="1" indent="-342900">
              <a:spcAft>
                <a:spcPts val="300"/>
              </a:spcAft>
              <a:buNone/>
            </a:pPr>
            <a:r>
              <a:rPr lang="en-GB" sz="1600" b="1" dirty="0">
                <a:solidFill>
                  <a:srgbClr val="BE185D"/>
                </a:solidFill>
              </a:rPr>
              <a:t>(a)  </a:t>
            </a:r>
            <a:r>
              <a:rPr lang="en-GB" sz="1600" dirty="0"/>
              <a:t>Explain the Theory of Constraints and its five focusing steps.</a:t>
            </a:r>
          </a:p>
          <a:p>
            <a:pPr marL="342900" lvl="1" indent="-342900">
              <a:spcAft>
                <a:spcPts val="300"/>
              </a:spcAft>
              <a:buNone/>
            </a:pPr>
            <a:r>
              <a:rPr lang="en-GB" sz="1600" b="1" dirty="0">
                <a:solidFill>
                  <a:srgbClr val="BE185D"/>
                </a:solidFill>
              </a:rPr>
              <a:t>(b)  </a:t>
            </a:r>
            <a:r>
              <a:rPr lang="en-GB" sz="1600" dirty="0"/>
              <a:t>Explain why process technology is important in operations management, referring to the five performance objectives.</a:t>
            </a:r>
          </a:p>
          <a:p>
            <a:pPr marL="342900" lvl="1" indent="-342900">
              <a:spcAft>
                <a:spcPts val="300"/>
              </a:spcAft>
              <a:buNone/>
            </a:pPr>
            <a:r>
              <a:rPr lang="en-GB" sz="1600" b="1" dirty="0">
                <a:solidFill>
                  <a:srgbClr val="BE185D"/>
                </a:solidFill>
              </a:rPr>
              <a:t>(c)  </a:t>
            </a:r>
            <a:r>
              <a:rPr lang="en-GB" sz="1600" dirty="0"/>
              <a:t>Critically evaluate why investing in technology at a non-bottleneck may not improve throughput.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dy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sz="2400" b="1" dirty="0">
                <a:solidFill>
                  <a:schemeClr val="dk2"/>
                </a:solidFill>
              </a:rPr>
              <a:t>Thank You</a:t>
            </a:r>
          </a:p>
          <a:p>
            <a:pPr marL="0" indent="0" algn="ctr">
              <a:buNone/>
            </a:pPr>
            <a:r>
              <a:rPr lang="en-GB" sz="1600" dirty="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131E29"/>
      </a:dk1>
      <a:lt1>
        <a:srgbClr val="FFFFFF"/>
      </a:lt1>
      <a:dk2>
        <a:srgbClr val="440099"/>
      </a:dk2>
      <a:lt2>
        <a:srgbClr val="F3F3F3"/>
      </a:lt2>
      <a:accent1>
        <a:srgbClr val="005A8F"/>
      </a:accent1>
      <a:accent2>
        <a:srgbClr val="FF6371"/>
      </a:accent2>
      <a:accent3>
        <a:srgbClr val="C2E9F1"/>
      </a:accent3>
      <a:accent4>
        <a:srgbClr val="9ADBE8"/>
      </a:accent4>
      <a:accent5>
        <a:srgbClr val="981F92"/>
      </a:accent5>
      <a:accent6>
        <a:srgbClr val="663DB3"/>
      </a:accent6>
      <a:hlink>
        <a:srgbClr val="00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3589</TotalTime>
  <Words>1348</Words>
  <Application>Microsoft Office PowerPoint</Application>
  <PresentationFormat>On-screen Show (16:9)</PresentationFormat>
  <Paragraphs>197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Source Sans Pro</vt:lpstr>
      <vt:lpstr>Source Serif Pro</vt:lpstr>
      <vt:lpstr>Simple Light</vt:lpstr>
      <vt:lpstr>Operations and Supply Chain Management</vt:lpstr>
      <vt:lpstr>Tutorial Overview</vt:lpstr>
      <vt:lpstr>Key Formulae Summary</vt:lpstr>
      <vt:lpstr>Q1: Single-factor and Multifactor Productivity</vt:lpstr>
      <vt:lpstr>Q2: Importance–Performance Gap Analysis (1)</vt:lpstr>
      <vt:lpstr>Q3: Importance–Performance Gap Analysis (2)</vt:lpstr>
      <vt:lpstr>Q4: Line Balancing and Bottlenecks (1)</vt:lpstr>
      <vt:lpstr>Q5: Line Balancing and Bottlenecks (2)</vt:lpstr>
      <vt:lpstr>Q6: Line Balancing and Bottlenecks (3)</vt:lpstr>
      <vt:lpstr>PowerPoint Presentation</vt:lpstr>
      <vt:lpstr>Q7: Theory of Constraints and Process Technology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Emilia Vann Yaroson</dc:creator>
  <cp:lastModifiedBy>Emilia Vann Yaroson</cp:lastModifiedBy>
  <cp:revision>12</cp:revision>
  <dcterms:modified xsi:type="dcterms:W3CDTF">2026-10-22T11:48:58Z</dcterms:modified>
</cp:coreProperties>
</file>