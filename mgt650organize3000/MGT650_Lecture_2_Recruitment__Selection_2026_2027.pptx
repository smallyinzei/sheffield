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4196" r:id="rId1"/>
  </p:sldMasterIdLst>
  <p:notesMasterIdLst>
    <p:notesMasterId r:id="rId37"/>
  </p:notesMasterIdLst>
  <p:sldIdLst>
    <p:sldId id="338" r:id="rId2"/>
    <p:sldId id="314" r:id="rId3"/>
    <p:sldId id="316" r:id="rId4"/>
    <p:sldId id="313" r:id="rId5"/>
    <p:sldId id="327" r:id="rId6"/>
    <p:sldId id="315" r:id="rId7"/>
    <p:sldId id="317" r:id="rId8"/>
    <p:sldId id="318" r:id="rId9"/>
    <p:sldId id="319" r:id="rId10"/>
    <p:sldId id="320" r:id="rId11"/>
    <p:sldId id="339" r:id="rId12"/>
    <p:sldId id="340" r:id="rId13"/>
    <p:sldId id="294" r:id="rId14"/>
    <p:sldId id="295" r:id="rId15"/>
    <p:sldId id="342" r:id="rId16"/>
    <p:sldId id="343" r:id="rId17"/>
    <p:sldId id="301" r:id="rId18"/>
    <p:sldId id="341" r:id="rId19"/>
    <p:sldId id="323" r:id="rId20"/>
    <p:sldId id="344" r:id="rId21"/>
    <p:sldId id="349" r:id="rId22"/>
    <p:sldId id="350" r:id="rId23"/>
    <p:sldId id="325" r:id="rId24"/>
    <p:sldId id="326" r:id="rId25"/>
    <p:sldId id="330" r:id="rId26"/>
    <p:sldId id="306" r:id="rId27"/>
    <p:sldId id="333" r:id="rId28"/>
    <p:sldId id="334" r:id="rId29"/>
    <p:sldId id="345" r:id="rId30"/>
    <p:sldId id="346" r:id="rId31"/>
    <p:sldId id="347" r:id="rId32"/>
    <p:sldId id="348" r:id="rId33"/>
    <p:sldId id="351" r:id="rId34"/>
    <p:sldId id="336" r:id="rId35"/>
    <p:sldId id="311" r:id="rId36"/>
  </p:sldIdLst>
  <p:sldSz cx="12192000" cy="6858000"/>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1922B7-5B1D-4B4C-8D8B-0434D8701D13}">
  <a:tblStyle styleId="{A61922B7-5B1D-4B4C-8D8B-0434D8701D1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E41F2A4-3312-473D-BDC1-C575FF68CF46}"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73" autoAdjust="0"/>
    <p:restoredTop sz="93323"/>
  </p:normalViewPr>
  <p:slideViewPr>
    <p:cSldViewPr snapToGrid="0">
      <p:cViewPr varScale="1">
        <p:scale>
          <a:sx n="103" d="100"/>
          <a:sy n="103" d="100"/>
        </p:scale>
        <p:origin x="12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077059" cy="513630"/>
          </a:xfrm>
          <a:prstGeom prst="rect">
            <a:avLst/>
          </a:prstGeom>
          <a:noFill/>
          <a:ln>
            <a:noFill/>
          </a:ln>
        </p:spPr>
        <p:txBody>
          <a:bodyPr spcFirstLastPara="1" wrap="square" lIns="86825" tIns="43400" rIns="86825" bIns="43400" anchor="t"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4020751" y="1"/>
            <a:ext cx="3077059" cy="513630"/>
          </a:xfrm>
          <a:prstGeom prst="rect">
            <a:avLst/>
          </a:prstGeom>
          <a:noFill/>
          <a:ln>
            <a:noFill/>
          </a:ln>
        </p:spPr>
        <p:txBody>
          <a:bodyPr spcFirstLastPara="1" wrap="square" lIns="86825" tIns="43400" rIns="86825" bIns="43400" anchor="t" anchorCtr="0">
            <a:noAutofit/>
          </a:bodyPr>
          <a:lstStyle>
            <a:lvl1pPr marR="0" lvl="0" algn="r"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632" y="4925075"/>
            <a:ext cx="5680036" cy="4030021"/>
          </a:xfrm>
          <a:prstGeom prst="rect">
            <a:avLst/>
          </a:prstGeom>
          <a:noFill/>
          <a:ln>
            <a:noFill/>
          </a:ln>
        </p:spPr>
        <p:txBody>
          <a:bodyPr spcFirstLastPara="1" wrap="square" lIns="86825" tIns="43400" rIns="86825" bIns="434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0983"/>
            <a:ext cx="3077059" cy="513630"/>
          </a:xfrm>
          <a:prstGeom prst="rect">
            <a:avLst/>
          </a:prstGeom>
          <a:noFill/>
          <a:ln>
            <a:noFill/>
          </a:ln>
        </p:spPr>
        <p:txBody>
          <a:bodyPr spcFirstLastPara="1" wrap="square" lIns="86825" tIns="43400" rIns="86825" bIns="43400" anchor="b"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4020751" y="9720983"/>
            <a:ext cx="3077059" cy="513630"/>
          </a:xfrm>
          <a:prstGeom prst="rect">
            <a:avLst/>
          </a:prstGeom>
          <a:noFill/>
          <a:ln>
            <a:noFill/>
          </a:ln>
        </p:spPr>
        <p:txBody>
          <a:bodyPr spcFirstLastPara="1" wrap="square" lIns="86825" tIns="43400" rIns="86825" bIns="43400" anchor="b" anchorCtr="0">
            <a:noAutofit/>
          </a:bodyPr>
          <a:lstStyle/>
          <a:p>
            <a:pPr marL="0" marR="0" lvl="0" indent="0" algn="r" rtl="0">
              <a:spcBef>
                <a:spcPts val="0"/>
              </a:spcBef>
              <a:spcAft>
                <a:spcPts val="0"/>
              </a:spcAft>
              <a:buNone/>
            </a:pPr>
            <a:fld id="{00000000-1234-1234-1234-123412341234}" type="slidenum">
              <a:rPr lang="en-GB" sz="1100" b="0" i="0" u="none" strike="noStrike" cap="none">
                <a:solidFill>
                  <a:schemeClr val="dk1"/>
                </a:solidFill>
                <a:latin typeface="Calibri"/>
                <a:ea typeface="Calibri"/>
                <a:cs typeface="Calibri"/>
                <a:sym typeface="Calibri"/>
              </a:rPr>
              <a:t>‹#›</a:t>
            </a:fld>
            <a:endParaRPr sz="11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Slide Image Placeholder 1">
            <a:extLst>
              <a:ext uri="{FF2B5EF4-FFF2-40B4-BE49-F238E27FC236}">
                <a16:creationId xmlns:a16="http://schemas.microsoft.com/office/drawing/2014/main" id="{924C1156-A18D-EDEF-1BA3-3FA6F8E4E4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8" name="Notes Placeholder 2">
            <a:extLst>
              <a:ext uri="{FF2B5EF4-FFF2-40B4-BE49-F238E27FC236}">
                <a16:creationId xmlns:a16="http://schemas.microsoft.com/office/drawing/2014/main" id="{61EEFE7D-3619-CF44-DC72-7DABAEF9D5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4099" name="Slide Number Placeholder 3">
            <a:extLst>
              <a:ext uri="{FF2B5EF4-FFF2-40B4-BE49-F238E27FC236}">
                <a16:creationId xmlns:a16="http://schemas.microsoft.com/office/drawing/2014/main" id="{08B07006-87B3-9592-30C7-B465BFA5317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A92D447-32BA-FC4F-8CE8-38FE99979A33}" type="slidenum">
              <a:rPr lang="en-GB" altLang="en-US">
                <a:latin typeface="Arial" panose="020B0604020202020204" pitchFamily="34" charset="0"/>
              </a:rPr>
              <a:pPr>
                <a:spcBef>
                  <a:spcPct val="0"/>
                </a:spcBef>
              </a:pPr>
              <a:t>1</a:t>
            </a:fld>
            <a:endParaRPr lang="en-GB"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45360722"/>
      </p:ext>
    </p:extLst>
  </p:cSld>
  <p:clrMapOvr>
    <a:masterClrMapping/>
  </p:clrMapOvr>
  <p:hf sldNum="0" hdr="0" ft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uk-UA" smtClean="0"/>
              <a:t>‹#›</a:t>
            </a:fld>
            <a:endParaRPr lang="uk-UA" dirty="0"/>
          </a:p>
        </p:txBody>
      </p:sp>
    </p:spTree>
    <p:extLst>
      <p:ext uri="{BB962C8B-B14F-4D97-AF65-F5344CB8AC3E}">
        <p14:creationId xmlns:p14="http://schemas.microsoft.com/office/powerpoint/2010/main" val="1371277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29268896"/>
      </p:ext>
    </p:extLst>
  </p:cSld>
  <p:clrMapOvr>
    <a:masterClrMapping/>
  </p:clrMapOvr>
  <p:hf sldNum="0" hdr="0" ft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49287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4687378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9/28/2026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956724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2347100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8237905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8067178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269472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02563012"/>
      </p:ext>
    </p:extLst>
  </p:cSld>
  <p:clrMapOvr>
    <a:masterClrMapping/>
  </p:clrMapOvr>
  <p:hf sldNum="0"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69035461"/>
      </p:ext>
    </p:extLst>
  </p:cSld>
  <p:clrMap bg1="lt1" tx1="dk1" bg2="lt2" tx2="dk2" accent1="accent1" accent2="accent2" accent3="accent3" accent4="accent4" accent5="accent5" accent6="accent6" hlink="hlink" folHlink="folHlink"/>
  <p:sldLayoutIdLst>
    <p:sldLayoutId id="2147484197" r:id="rId1"/>
    <p:sldLayoutId id="2147484198" r:id="rId2"/>
    <p:sldLayoutId id="2147484199" r:id="rId3"/>
    <p:sldLayoutId id="2147484200" r:id="rId4"/>
    <p:sldLayoutId id="2147484201" r:id="rId5"/>
    <p:sldLayoutId id="2147484202" r:id="rId6"/>
    <p:sldLayoutId id="2147484203" r:id="rId7"/>
    <p:sldLayoutId id="2147484204" r:id="rId8"/>
    <p:sldLayoutId id="2147484205" r:id="rId9"/>
    <p:sldLayoutId id="2147484206" r:id="rId10"/>
    <p:sldLayoutId id="2147484207"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uk.indeed.com/lead/what-ai-can-do-for-recruitment"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0" name="Rectangle 307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D70D3B-7D27-3029-031E-CA48B79E0EAB}"/>
              </a:ext>
            </a:extLst>
          </p:cNvPr>
          <p:cNvSpPr>
            <a:spLocks noGrp="1"/>
          </p:cNvSpPr>
          <p:nvPr>
            <p:ph type="title"/>
          </p:nvPr>
        </p:nvSpPr>
        <p:spPr>
          <a:xfrm>
            <a:off x="818984" y="4230093"/>
            <a:ext cx="4150581" cy="1800165"/>
          </a:xfrm>
        </p:spPr>
        <p:txBody>
          <a:bodyPr anchor="t">
            <a:normAutofit fontScale="90000"/>
          </a:bodyPr>
          <a:lstStyle/>
          <a:p>
            <a:pPr algn="r">
              <a:defRPr/>
            </a:pPr>
            <a:r>
              <a:rPr lang="en-GB" altLang="en-US" sz="2200" b="1" dirty="0"/>
              <a:t>MGT650</a:t>
            </a:r>
            <a:br>
              <a:rPr lang="en-GB" altLang="en-US" sz="2200" b="1" dirty="0"/>
            </a:br>
            <a:r>
              <a:rPr lang="en-GB" altLang="en-US" sz="2200" b="1" dirty="0"/>
              <a:t>Managing People in Organisations</a:t>
            </a:r>
            <a:br>
              <a:rPr lang="en-GB" altLang="en-US" sz="2200" b="1" dirty="0"/>
            </a:br>
            <a:r>
              <a:rPr lang="en-GB" altLang="en-US" sz="2200" b="1" dirty="0"/>
              <a:t>Semester 1 2026-27</a:t>
            </a:r>
            <a:br>
              <a:rPr lang="en-GB" altLang="en-US" sz="2200" b="1" dirty="0"/>
            </a:br>
            <a:br>
              <a:rPr lang="en-GB" altLang="en-US" sz="2200" dirty="0"/>
            </a:br>
            <a:endParaRPr lang="en-GB" sz="2200" dirty="0"/>
          </a:p>
        </p:txBody>
      </p:sp>
      <p:pic>
        <p:nvPicPr>
          <p:cNvPr id="4" name="Picture 3" descr="The logo for Sheffield University Management School which is a shield and wording. ">
            <a:extLst>
              <a:ext uri="{FF2B5EF4-FFF2-40B4-BE49-F238E27FC236}">
                <a16:creationId xmlns:a16="http://schemas.microsoft.com/office/drawing/2014/main" id="{4335B2E9-D591-0790-4FAB-C92F3A4898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1666" y="358183"/>
            <a:ext cx="6539152" cy="1585745"/>
          </a:xfrm>
          <a:prstGeom prst="rect">
            <a:avLst/>
          </a:prstGeom>
        </p:spPr>
      </p:pic>
      <p:sp>
        <p:nvSpPr>
          <p:cNvPr id="3075" name="Content Placeholder 2">
            <a:extLst>
              <a:ext uri="{FF2B5EF4-FFF2-40B4-BE49-F238E27FC236}">
                <a16:creationId xmlns:a16="http://schemas.microsoft.com/office/drawing/2014/main" id="{FCA79E15-BAED-4C41-3DE5-392519107EFD}"/>
              </a:ext>
            </a:extLst>
          </p:cNvPr>
          <p:cNvSpPr>
            <a:spLocks noGrp="1"/>
          </p:cNvSpPr>
          <p:nvPr>
            <p:ph idx="1"/>
          </p:nvPr>
        </p:nvSpPr>
        <p:spPr>
          <a:xfrm>
            <a:off x="5246415" y="4230094"/>
            <a:ext cx="6235268" cy="1800164"/>
          </a:xfrm>
        </p:spPr>
        <p:txBody>
          <a:bodyPr anchor="t">
            <a:normAutofit/>
          </a:bodyPr>
          <a:lstStyle/>
          <a:p>
            <a:pPr marL="0" indent="0">
              <a:buNone/>
            </a:pPr>
            <a:r>
              <a:rPr lang="en-GB" altLang="en-US" sz="2000" dirty="0"/>
              <a:t>Dr Edward Yates</a:t>
            </a:r>
          </a:p>
          <a:p>
            <a:pPr marL="0" indent="0">
              <a:buNone/>
            </a:pPr>
            <a:r>
              <a:rPr lang="en-GB" altLang="en-US" sz="2000" dirty="0"/>
              <a:t>edward.yates@sheffield.ac.uk</a:t>
            </a:r>
          </a:p>
          <a:p>
            <a:pPr marL="0" indent="0">
              <a:buNone/>
            </a:pPr>
            <a:r>
              <a:rPr lang="en-GB" altLang="en-US" sz="2000" dirty="0"/>
              <a:t>Sheffield University Management School</a:t>
            </a:r>
          </a:p>
          <a:p>
            <a:pPr marL="0" indent="0">
              <a:buNone/>
            </a:pPr>
            <a:endParaRPr lang="en-GB" altLang="en-US" sz="2000" dirty="0"/>
          </a:p>
          <a:p>
            <a:pPr marL="0" indent="0">
              <a:buNone/>
            </a:pPr>
            <a:endParaRPr lang="en-GB" altLang="en-US" sz="2000" dirty="0"/>
          </a:p>
        </p:txBody>
      </p:sp>
      <p:sp>
        <p:nvSpPr>
          <p:cNvPr id="3082" name="Rectangle 3081">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4" name="Rectangle 3083">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CEE1AB04-E727-0EF1-EF88-0B4E2FA9704E}"/>
              </a:ext>
            </a:extLst>
          </p:cNvPr>
          <p:cNvSpPr txBox="1"/>
          <p:nvPr/>
        </p:nvSpPr>
        <p:spPr>
          <a:xfrm>
            <a:off x="2894274" y="2666780"/>
            <a:ext cx="5876544" cy="707886"/>
          </a:xfrm>
          <a:prstGeom prst="rect">
            <a:avLst/>
          </a:prstGeom>
          <a:noFill/>
        </p:spPr>
        <p:txBody>
          <a:bodyPr wrap="square" rtlCol="0">
            <a:spAutoFit/>
          </a:bodyPr>
          <a:lstStyle/>
          <a:p>
            <a:pPr algn="ctr"/>
            <a:r>
              <a:rPr lang="en-US" sz="4000" b="1" dirty="0"/>
              <a:t>Recruitment &amp; Selection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66722" y="586855"/>
            <a:ext cx="3201366" cy="3387497"/>
          </a:xfrm>
        </p:spPr>
        <p:txBody>
          <a:bodyPr anchor="b">
            <a:normAutofit/>
          </a:bodyPr>
          <a:lstStyle/>
          <a:p>
            <a:pPr algn="r"/>
            <a:r>
              <a:rPr lang="en-GB" sz="4000" dirty="0">
                <a:solidFill>
                  <a:srgbClr val="FFFFFF"/>
                </a:solidFill>
              </a:rPr>
              <a:t>Learning Objectives</a:t>
            </a:r>
            <a:endParaRPr lang="en-US" sz="4000" dirty="0">
              <a:solidFill>
                <a:srgbClr val="FFFFFF"/>
              </a:solidFill>
            </a:endParaRPr>
          </a:p>
        </p:txBody>
      </p:sp>
      <p:sp>
        <p:nvSpPr>
          <p:cNvPr id="3" name="Content Placeholder 2"/>
          <p:cNvSpPr>
            <a:spLocks noGrp="1"/>
          </p:cNvSpPr>
          <p:nvPr>
            <p:ph idx="1"/>
          </p:nvPr>
        </p:nvSpPr>
        <p:spPr>
          <a:xfrm>
            <a:off x="4504549" y="397566"/>
            <a:ext cx="7356148" cy="5797962"/>
          </a:xfrm>
        </p:spPr>
        <p:txBody>
          <a:bodyPr anchor="ctr">
            <a:normAutofit/>
          </a:bodyPr>
          <a:lstStyle/>
          <a:p>
            <a:pPr marL="628650" indent="-514350">
              <a:buFont typeface="+mj-lt"/>
              <a:buAutoNum type="arabicPeriod"/>
            </a:pPr>
            <a:r>
              <a:rPr lang="en-GB" dirty="0"/>
              <a:t>Define recruitment and selection, recognising the key differences between these processes.</a:t>
            </a:r>
          </a:p>
          <a:p>
            <a:pPr marL="628650" indent="-514350">
              <a:buFont typeface="+mj-lt"/>
              <a:buAutoNum type="arabicPeriod"/>
            </a:pPr>
            <a:r>
              <a:rPr lang="en-GB" dirty="0"/>
              <a:t>Understand the internal and external factors that influence recruitment practices.</a:t>
            </a:r>
          </a:p>
          <a:p>
            <a:pPr marL="628650" indent="-514350">
              <a:buFont typeface="+mj-lt"/>
              <a:buAutoNum type="arabicPeriod"/>
            </a:pPr>
            <a:r>
              <a:rPr lang="en-GB" dirty="0"/>
              <a:t>Explore the purpose of selection and its role in effective hiring.</a:t>
            </a:r>
          </a:p>
          <a:p>
            <a:pPr marL="628650" indent="-514350">
              <a:buFont typeface="+mj-lt"/>
              <a:buAutoNum type="arabicPeriod"/>
            </a:pPr>
            <a:r>
              <a:rPr lang="en-GB" dirty="0"/>
              <a:t>Identify a range of commonly used selection methods and how to evaluate their effectiveness.</a:t>
            </a:r>
          </a:p>
          <a:p>
            <a:pPr marL="628650" indent="-514350">
              <a:buFont typeface="+mj-lt"/>
              <a:buAutoNum type="arabicPeriod"/>
            </a:pPr>
            <a:r>
              <a:rPr lang="en-GB" dirty="0"/>
              <a:t>Learn how technology is transforming recruitment and selection processes.</a:t>
            </a:r>
          </a:p>
        </p:txBody>
      </p:sp>
    </p:spTree>
    <p:extLst>
      <p:ext uri="{BB962C8B-B14F-4D97-AF65-F5344CB8AC3E}">
        <p14:creationId xmlns:p14="http://schemas.microsoft.com/office/powerpoint/2010/main" val="598580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471" y="298088"/>
            <a:ext cx="8610600" cy="1293028"/>
          </a:xfrm>
        </p:spPr>
        <p:txBody>
          <a:bodyPr/>
          <a:lstStyle/>
          <a:p>
            <a:pPr algn="l"/>
            <a:r>
              <a:rPr lang="en-US" dirty="0"/>
              <a:t>Key reading</a:t>
            </a:r>
          </a:p>
        </p:txBody>
      </p:sp>
      <p:sp>
        <p:nvSpPr>
          <p:cNvPr id="3" name="Content Placeholder 2"/>
          <p:cNvSpPr>
            <a:spLocks noGrp="1"/>
          </p:cNvSpPr>
          <p:nvPr>
            <p:ph idx="1"/>
          </p:nvPr>
        </p:nvSpPr>
        <p:spPr>
          <a:xfrm>
            <a:off x="263471" y="1782305"/>
            <a:ext cx="11515241" cy="4912963"/>
          </a:xfrm>
        </p:spPr>
        <p:txBody>
          <a:bodyPr>
            <a:normAutofit fontScale="85000" lnSpcReduction="20000"/>
          </a:bodyPr>
          <a:lstStyle/>
          <a:p>
            <a:pPr>
              <a:lnSpc>
                <a:spcPct val="150000"/>
              </a:lnSpc>
            </a:pPr>
            <a:r>
              <a:rPr lang="en-US" sz="2500" dirty="0"/>
              <a:t>Chapters 3 (Recruitment) &amp; 4 (Selection) in Wilkinson, A, &amp; Dundon, T and Yates, E (2026) </a:t>
            </a:r>
            <a:r>
              <a:rPr lang="en-US" sz="2500" i="1" dirty="0"/>
              <a:t>Contemporary Human Resource Management </a:t>
            </a:r>
            <a:r>
              <a:rPr lang="en-US" sz="2500" dirty="0"/>
              <a:t>7th Edition, Pearson Education Limited, Harlow, UK. </a:t>
            </a:r>
          </a:p>
          <a:p>
            <a:pPr marL="0" indent="0">
              <a:lnSpc>
                <a:spcPct val="150000"/>
              </a:lnSpc>
              <a:buNone/>
            </a:pPr>
            <a:r>
              <a:rPr lang="en-US" sz="2500" dirty="0"/>
              <a:t>The following book chapter is very useful for the topic of ‘Selection’ and is recommended reading for Tutorial Two (Designing Effective Selection Processes).</a:t>
            </a:r>
          </a:p>
          <a:p>
            <a:pPr>
              <a:lnSpc>
                <a:spcPct val="150000"/>
              </a:lnSpc>
            </a:pPr>
            <a:r>
              <a:rPr lang="en-US" sz="2500" dirty="0"/>
              <a:t>Chapter 4 (personnel selection) in Arnold, J, et al (2020) Work psychology: understanding human behaviour in the workplace (Sixth Edition), Harlow: Pearson Education. (available as an e-book and also hard copies in the library/IC). </a:t>
            </a:r>
          </a:p>
          <a:p>
            <a:pPr>
              <a:lnSpc>
                <a:spcPct val="150000"/>
              </a:lnSpc>
            </a:pPr>
            <a:endParaRPr lang="en-US" sz="2500" dirty="0"/>
          </a:p>
          <a:p>
            <a:pPr marL="0" indent="0">
              <a:buNone/>
            </a:pPr>
            <a:r>
              <a:rPr lang="en-US" dirty="0"/>
              <a:t>	</a:t>
            </a:r>
          </a:p>
        </p:txBody>
      </p:sp>
    </p:spTree>
    <p:extLst>
      <p:ext uri="{BB962C8B-B14F-4D97-AF65-F5344CB8AC3E}">
        <p14:creationId xmlns:p14="http://schemas.microsoft.com/office/powerpoint/2010/main" val="483707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799" y="559422"/>
            <a:ext cx="10507717" cy="1293028"/>
          </a:xfrm>
        </p:spPr>
        <p:txBody>
          <a:bodyPr/>
          <a:lstStyle/>
          <a:p>
            <a:pPr algn="l"/>
            <a:r>
              <a:rPr lang="en-US" dirty="0"/>
              <a:t>Understanding Recruitment &amp; Selection</a:t>
            </a:r>
          </a:p>
        </p:txBody>
      </p:sp>
      <p:sp>
        <p:nvSpPr>
          <p:cNvPr id="3" name="Content Placeholder 2"/>
          <p:cNvSpPr>
            <a:spLocks noGrp="1"/>
          </p:cNvSpPr>
          <p:nvPr>
            <p:ph idx="1"/>
          </p:nvPr>
        </p:nvSpPr>
        <p:spPr>
          <a:xfrm>
            <a:off x="685800" y="2005374"/>
            <a:ext cx="10820400" cy="4602690"/>
          </a:xfrm>
        </p:spPr>
        <p:txBody>
          <a:bodyPr>
            <a:normAutofit fontScale="92500" lnSpcReduction="10000"/>
          </a:bodyPr>
          <a:lstStyle/>
          <a:p>
            <a:pPr algn="just">
              <a:lnSpc>
                <a:spcPct val="150000"/>
              </a:lnSpc>
            </a:pPr>
            <a:r>
              <a:rPr lang="en-US" sz="2600" b="1" dirty="0"/>
              <a:t>Recruitment</a:t>
            </a:r>
            <a:r>
              <a:rPr lang="en-US" sz="2600" dirty="0"/>
              <a:t> is the process by which an organisation engages in activities aimed at identifying and attracting potential employees (Barber, 1998). The goal is to create a pool of suitable candidates for a specific role.</a:t>
            </a:r>
          </a:p>
          <a:p>
            <a:pPr algn="just">
              <a:lnSpc>
                <a:spcPct val="150000"/>
              </a:lnSpc>
            </a:pPr>
            <a:r>
              <a:rPr lang="en-US" sz="2600" b="1" dirty="0"/>
              <a:t>Selection</a:t>
            </a:r>
            <a:r>
              <a:rPr lang="en-US" sz="2600" dirty="0"/>
              <a:t> involves choosing the most suitable candidate from the pool generated during recruitment. The focus is on identifying the individual who best fits the role, organisation, and team.</a:t>
            </a:r>
          </a:p>
          <a:p>
            <a:pPr algn="just">
              <a:lnSpc>
                <a:spcPct val="150000"/>
              </a:lnSpc>
            </a:pPr>
            <a:r>
              <a:rPr lang="en-US" sz="2600" dirty="0"/>
              <a:t>Both recruitment and selection are data-driven processes aimed at predicting a candidate’s future performance and alignment with organisational needs.</a:t>
            </a:r>
          </a:p>
          <a:p>
            <a:endParaRPr lang="en-US" sz="2400" dirty="0"/>
          </a:p>
          <a:p>
            <a:endParaRPr lang="en-US" sz="2400" dirty="0"/>
          </a:p>
          <a:p>
            <a:pPr>
              <a:buClr>
                <a:schemeClr val="tx1"/>
              </a:buClr>
            </a:pPr>
            <a:endParaRPr lang="en-US" sz="2800" dirty="0"/>
          </a:p>
        </p:txBody>
      </p:sp>
    </p:spTree>
    <p:extLst>
      <p:ext uri="{BB962C8B-B14F-4D97-AF65-F5344CB8AC3E}">
        <p14:creationId xmlns:p14="http://schemas.microsoft.com/office/powerpoint/2010/main" val="698199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1749" y="1616780"/>
            <a:ext cx="8610600" cy="1293028"/>
          </a:xfrm>
        </p:spPr>
        <p:txBody>
          <a:bodyPr>
            <a:normAutofit/>
          </a:bodyPr>
          <a:lstStyle/>
          <a:p>
            <a:pPr algn="ctr"/>
            <a:r>
              <a:rPr lang="en-US" sz="7200" dirty="0"/>
              <a:t>Recruitment</a:t>
            </a:r>
            <a:endParaRPr lang="en-US" sz="5400" dirty="0"/>
          </a:p>
        </p:txBody>
      </p:sp>
      <p:pic>
        <p:nvPicPr>
          <p:cNvPr id="4" name="Picture 3" descr="This is cartoon drawing of two people holding a sign that says &quot;we're hiring&quot; and those two people are also holding megaphones. The implication is that they are trying to find people to hire&#10;&#10;"/>
          <p:cNvPicPr>
            <a:picLocks noChangeAspect="1"/>
          </p:cNvPicPr>
          <p:nvPr/>
        </p:nvPicPr>
        <p:blipFill>
          <a:blip r:embed="rId2"/>
          <a:stretch>
            <a:fillRect/>
          </a:stretch>
        </p:blipFill>
        <p:spPr>
          <a:xfrm>
            <a:off x="3999209" y="3302754"/>
            <a:ext cx="4038600" cy="2019300"/>
          </a:xfrm>
          <a:prstGeom prst="rect">
            <a:avLst/>
          </a:prstGeom>
        </p:spPr>
      </p:pic>
    </p:spTree>
    <p:extLst>
      <p:ext uri="{BB962C8B-B14F-4D97-AF65-F5344CB8AC3E}">
        <p14:creationId xmlns:p14="http://schemas.microsoft.com/office/powerpoint/2010/main" val="1851961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22483"/>
            <a:ext cx="10820400" cy="1293028"/>
          </a:xfrm>
        </p:spPr>
        <p:txBody>
          <a:bodyPr/>
          <a:lstStyle/>
          <a:p>
            <a:pPr algn="l"/>
            <a:r>
              <a:rPr lang="en-US" dirty="0"/>
              <a:t>Key External Factors Affecting Recruitment</a:t>
            </a:r>
          </a:p>
        </p:txBody>
      </p:sp>
      <p:sp>
        <p:nvSpPr>
          <p:cNvPr id="3" name="Content Placeholder 2"/>
          <p:cNvSpPr>
            <a:spLocks noGrp="1"/>
          </p:cNvSpPr>
          <p:nvPr>
            <p:ph idx="1"/>
          </p:nvPr>
        </p:nvSpPr>
        <p:spPr>
          <a:xfrm>
            <a:off x="526942" y="1915511"/>
            <a:ext cx="11281430" cy="4516820"/>
          </a:xfrm>
        </p:spPr>
        <p:txBody>
          <a:bodyPr>
            <a:normAutofit fontScale="92500" lnSpcReduction="10000"/>
          </a:bodyPr>
          <a:lstStyle/>
          <a:p>
            <a:pPr marL="457200" indent="-457200">
              <a:buFont typeface="+mj-lt"/>
              <a:buAutoNum type="arabicPeriod"/>
            </a:pPr>
            <a:r>
              <a:rPr lang="en-US" sz="2400" b="1" dirty="0"/>
              <a:t>Economic Conditions</a:t>
            </a:r>
            <a:r>
              <a:rPr lang="en-US" sz="2400" dirty="0"/>
              <a:t>: Economic growth or downturns directly impact recruitment. This includes shifts towards zero-hour contracts, temporary work, and the rise of 'core/periphery' workforces.</a:t>
            </a:r>
          </a:p>
          <a:p>
            <a:pPr marL="457200" indent="-457200">
              <a:buFont typeface="+mj-lt"/>
              <a:buAutoNum type="arabicPeriod"/>
            </a:pPr>
            <a:r>
              <a:rPr lang="en-US" sz="2400" b="1" dirty="0"/>
              <a:t>Job Market Polarization</a:t>
            </a:r>
            <a:r>
              <a:rPr lang="en-US" sz="2400" dirty="0"/>
              <a:t>: Increasing divide between high-skilled and low-skilled jobs, shaping recruitment strategies.</a:t>
            </a:r>
          </a:p>
          <a:p>
            <a:pPr marL="457200" indent="-457200">
              <a:buFont typeface="+mj-lt"/>
              <a:buAutoNum type="arabicPeriod"/>
            </a:pPr>
            <a:r>
              <a:rPr lang="en-US" sz="2400" b="1" dirty="0"/>
              <a:t>Labour Market Dynamics</a:t>
            </a:r>
            <a:r>
              <a:rPr lang="en-US" sz="2400" dirty="0"/>
              <a:t>: A loose market (worker oversupply) vs. a tight market (worker shortage) influences the ease or difficulty of recruitment.</a:t>
            </a:r>
          </a:p>
          <a:p>
            <a:pPr marL="457200" indent="-457200">
              <a:buFont typeface="+mj-lt"/>
              <a:buAutoNum type="arabicPeriod"/>
            </a:pPr>
            <a:r>
              <a:rPr lang="en-US" sz="2400" b="1" dirty="0"/>
              <a:t>Skill Shortages</a:t>
            </a:r>
            <a:r>
              <a:rPr lang="en-US" sz="2400" dirty="0"/>
              <a:t>: Certain industries face difficulties filling roles due to a lack of qualified candidates.</a:t>
            </a:r>
          </a:p>
          <a:p>
            <a:pPr marL="457200" indent="-457200">
              <a:buFont typeface="+mj-lt"/>
              <a:buAutoNum type="arabicPeriod"/>
            </a:pPr>
            <a:r>
              <a:rPr lang="en-US" sz="2400" b="1" dirty="0"/>
              <a:t>Globalization and Migration</a:t>
            </a:r>
            <a:r>
              <a:rPr lang="en-US" sz="2400" dirty="0"/>
              <a:t>: Global workforce mobility and migrant workers influence labour supply.</a:t>
            </a:r>
          </a:p>
          <a:p>
            <a:pPr marL="457200" indent="-457200">
              <a:buFont typeface="+mj-lt"/>
              <a:buAutoNum type="arabicPeriod"/>
            </a:pPr>
            <a:r>
              <a:rPr lang="en-US" sz="2400" b="1" dirty="0"/>
              <a:t>Education Levels</a:t>
            </a:r>
            <a:r>
              <a:rPr lang="en-US" sz="2400" dirty="0"/>
              <a:t>: The general educational attainment within society shapes the availability of skilled workers.</a:t>
            </a:r>
            <a:endParaRPr lang="en-US" dirty="0"/>
          </a:p>
          <a:p>
            <a:endParaRPr lang="en-US" dirty="0"/>
          </a:p>
          <a:p>
            <a:endParaRPr lang="en-US" dirty="0"/>
          </a:p>
        </p:txBody>
      </p:sp>
    </p:spTree>
    <p:extLst>
      <p:ext uri="{BB962C8B-B14F-4D97-AF65-F5344CB8AC3E}">
        <p14:creationId xmlns:p14="http://schemas.microsoft.com/office/powerpoint/2010/main" val="651927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769" y="371856"/>
            <a:ext cx="11264462" cy="1293028"/>
          </a:xfrm>
        </p:spPr>
        <p:txBody>
          <a:bodyPr/>
          <a:lstStyle/>
          <a:p>
            <a:pPr algn="l"/>
            <a:r>
              <a:rPr lang="en-US" dirty="0"/>
              <a:t>Social Trends Shaping Recruitment Practices</a:t>
            </a:r>
          </a:p>
        </p:txBody>
      </p:sp>
      <p:sp>
        <p:nvSpPr>
          <p:cNvPr id="3" name="Content Placeholder 2"/>
          <p:cNvSpPr>
            <a:spLocks noGrp="1"/>
          </p:cNvSpPr>
          <p:nvPr>
            <p:ph idx="1"/>
          </p:nvPr>
        </p:nvSpPr>
        <p:spPr>
          <a:xfrm>
            <a:off x="463769" y="1664884"/>
            <a:ext cx="11386855" cy="4821260"/>
          </a:xfrm>
        </p:spPr>
        <p:txBody>
          <a:bodyPr>
            <a:normAutofit fontScale="70000" lnSpcReduction="20000"/>
          </a:bodyPr>
          <a:lstStyle/>
          <a:p>
            <a:pPr>
              <a:lnSpc>
                <a:spcPct val="170000"/>
              </a:lnSpc>
            </a:pPr>
            <a:r>
              <a:rPr lang="en-US" sz="2600" b="1" dirty="0"/>
              <a:t>Workforce Demographics</a:t>
            </a:r>
            <a:r>
              <a:rPr lang="en-US" sz="2600" dirty="0"/>
              <a:t>: An ageing population and increasing workplace diversity (e.g. more women) are influencing recruitment strategies.</a:t>
            </a:r>
          </a:p>
          <a:p>
            <a:pPr>
              <a:lnSpc>
                <a:spcPct val="170000"/>
              </a:lnSpc>
            </a:pPr>
            <a:r>
              <a:rPr lang="en-US" sz="2600" b="1" dirty="0"/>
              <a:t>Changing Work Expectations</a:t>
            </a:r>
            <a:r>
              <a:rPr lang="en-US" sz="2600" dirty="0"/>
              <a:t>: Work-life balance, flexibility, and job satisfaction are all things that are becoming increasingly important to people. </a:t>
            </a:r>
          </a:p>
          <a:p>
            <a:pPr>
              <a:lnSpc>
                <a:spcPct val="170000"/>
              </a:lnSpc>
            </a:pPr>
            <a:r>
              <a:rPr lang="en-US" sz="2600" b="1" dirty="0"/>
              <a:t>Technological Integration</a:t>
            </a:r>
            <a:r>
              <a:rPr lang="en-US" sz="2600" dirty="0"/>
              <a:t>: Digital transformation has led to a shift in recruitment methods, including online platforms (LinkedIn) and AI-driven tools.</a:t>
            </a:r>
          </a:p>
          <a:p>
            <a:pPr>
              <a:lnSpc>
                <a:spcPct val="170000"/>
              </a:lnSpc>
            </a:pPr>
            <a:r>
              <a:rPr lang="en-US" sz="2600" b="1" dirty="0"/>
              <a:t>Cultural Shifts</a:t>
            </a:r>
            <a:r>
              <a:rPr lang="en-US" sz="2600" dirty="0"/>
              <a:t>: Growing focus on corporate social responsibility (CSR) and ethical practices is reshaping how organizations attract talent.</a:t>
            </a:r>
          </a:p>
          <a:p>
            <a:pPr>
              <a:lnSpc>
                <a:spcPct val="170000"/>
              </a:lnSpc>
            </a:pPr>
            <a:r>
              <a:rPr lang="en-US" sz="2600" b="1" dirty="0"/>
              <a:t>Generational Differences</a:t>
            </a:r>
            <a:r>
              <a:rPr lang="en-US" sz="2600" dirty="0"/>
              <a:t>: Each generation brings its own set of values, expectations, and work habits, influencing recruitment approaches.</a:t>
            </a:r>
            <a:endParaRPr lang="en-US" sz="3200" dirty="0"/>
          </a:p>
          <a:p>
            <a:endParaRPr lang="en-US" dirty="0"/>
          </a:p>
        </p:txBody>
      </p:sp>
    </p:spTree>
    <p:extLst>
      <p:ext uri="{BB962C8B-B14F-4D97-AF65-F5344CB8AC3E}">
        <p14:creationId xmlns:p14="http://schemas.microsoft.com/office/powerpoint/2010/main" val="1172780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138" y="252309"/>
            <a:ext cx="11634952" cy="1293028"/>
          </a:xfrm>
        </p:spPr>
        <p:txBody>
          <a:bodyPr>
            <a:normAutofit/>
          </a:bodyPr>
          <a:lstStyle/>
          <a:p>
            <a:pPr algn="l"/>
            <a:r>
              <a:rPr lang="en-US" sz="3600" dirty="0"/>
              <a:t>Legal Frameworks Influencing Recruitment Practices</a:t>
            </a:r>
          </a:p>
        </p:txBody>
      </p:sp>
      <p:sp>
        <p:nvSpPr>
          <p:cNvPr id="3" name="Content Placeholder 2"/>
          <p:cNvSpPr>
            <a:spLocks noGrp="1"/>
          </p:cNvSpPr>
          <p:nvPr>
            <p:ph idx="1"/>
          </p:nvPr>
        </p:nvSpPr>
        <p:spPr>
          <a:xfrm>
            <a:off x="394138" y="1435609"/>
            <a:ext cx="11403724" cy="5060353"/>
          </a:xfrm>
        </p:spPr>
        <p:txBody>
          <a:bodyPr>
            <a:normAutofit fontScale="92500" lnSpcReduction="10000"/>
          </a:bodyPr>
          <a:lstStyle/>
          <a:p>
            <a:pPr>
              <a:lnSpc>
                <a:spcPct val="150000"/>
              </a:lnSpc>
            </a:pPr>
            <a:r>
              <a:rPr lang="en-US" sz="2400" b="1" dirty="0"/>
              <a:t>Global Standards: </a:t>
            </a:r>
            <a:r>
              <a:rPr lang="en-US" sz="2400" dirty="0"/>
              <a:t>ILO (International Labour Organization) mandates all members to uphold certain fundamental rights, including the elimination of workplace discrimination (ILO, 1998).</a:t>
            </a:r>
          </a:p>
          <a:p>
            <a:pPr>
              <a:lnSpc>
                <a:spcPct val="150000"/>
              </a:lnSpc>
            </a:pPr>
            <a:r>
              <a:rPr lang="en-US" sz="2400" b="1" dirty="0"/>
              <a:t>UK Equality Act 2010</a:t>
            </a:r>
            <a:r>
              <a:rPr lang="en-US" sz="2400" dirty="0"/>
              <a:t>: A key legislation addressing both direct and indirect discrimination in recruitment processes.</a:t>
            </a:r>
          </a:p>
          <a:p>
            <a:pPr>
              <a:lnSpc>
                <a:spcPct val="150000"/>
              </a:lnSpc>
            </a:pPr>
            <a:r>
              <a:rPr lang="en-US" sz="2400" b="1" dirty="0"/>
              <a:t>Positive Discrimination vs. Positive Action</a:t>
            </a:r>
            <a:r>
              <a:rPr lang="en-US" sz="2400" dirty="0"/>
              <a:t>:</a:t>
            </a:r>
          </a:p>
          <a:p>
            <a:pPr lvl="1">
              <a:lnSpc>
                <a:spcPct val="150000"/>
              </a:lnSpc>
            </a:pPr>
            <a:r>
              <a:rPr lang="en-US" sz="1800" dirty="0"/>
              <a:t>Positive Discrimination: Illegal in the UK, including the use of quotas.</a:t>
            </a:r>
          </a:p>
          <a:p>
            <a:pPr lvl="1">
              <a:lnSpc>
                <a:spcPct val="150000"/>
              </a:lnSpc>
            </a:pPr>
            <a:r>
              <a:rPr lang="en-US" sz="1800" dirty="0"/>
              <a:t>Positive Action: Legal strategies aimed at providing equal access to opportunities (e.g., targeted recruitment).</a:t>
            </a:r>
          </a:p>
          <a:p>
            <a:pPr>
              <a:lnSpc>
                <a:spcPct val="150000"/>
              </a:lnSpc>
            </a:pPr>
            <a:r>
              <a:rPr lang="en-US" sz="2400" b="1" dirty="0"/>
              <a:t>Other Legal Considerations</a:t>
            </a:r>
            <a:r>
              <a:rPr lang="en-US" sz="2400" dirty="0"/>
              <a:t>: Regulations ensuring public safety, such as standards for hiring ex-offenders or individuals working with vulnerable populations (e.g. children).</a:t>
            </a:r>
          </a:p>
        </p:txBody>
      </p:sp>
    </p:spTree>
    <p:extLst>
      <p:ext uri="{BB962C8B-B14F-4D97-AF65-F5344CB8AC3E}">
        <p14:creationId xmlns:p14="http://schemas.microsoft.com/office/powerpoint/2010/main" val="1982955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380" y="310431"/>
            <a:ext cx="10820400" cy="1293028"/>
          </a:xfrm>
        </p:spPr>
        <p:txBody>
          <a:bodyPr>
            <a:normAutofit/>
          </a:bodyPr>
          <a:lstStyle/>
          <a:p>
            <a:pPr algn="l"/>
            <a:r>
              <a:rPr lang="en-US" sz="3600" dirty="0"/>
              <a:t>Organisational Factors Impacting Recruitment Strategies</a:t>
            </a:r>
          </a:p>
        </p:txBody>
      </p:sp>
      <p:sp>
        <p:nvSpPr>
          <p:cNvPr id="3" name="Content Placeholder 2"/>
          <p:cNvSpPr>
            <a:spLocks noGrp="1"/>
          </p:cNvSpPr>
          <p:nvPr>
            <p:ph idx="1"/>
          </p:nvPr>
        </p:nvSpPr>
        <p:spPr>
          <a:xfrm>
            <a:off x="512380" y="1579540"/>
            <a:ext cx="11582400" cy="4644941"/>
          </a:xfrm>
        </p:spPr>
        <p:txBody>
          <a:bodyPr>
            <a:noAutofit/>
          </a:bodyPr>
          <a:lstStyle/>
          <a:p>
            <a:pPr marL="0" indent="0">
              <a:lnSpc>
                <a:spcPct val="150000"/>
              </a:lnSpc>
              <a:buNone/>
            </a:pPr>
            <a:r>
              <a:rPr lang="en-US" sz="2400" dirty="0"/>
              <a:t>Various organisational characteristics shape recruitment practices, such as:</a:t>
            </a:r>
          </a:p>
          <a:p>
            <a:pPr lvl="1">
              <a:lnSpc>
                <a:spcPct val="150000"/>
              </a:lnSpc>
            </a:pPr>
            <a:r>
              <a:rPr lang="en-US" sz="2000" b="1" dirty="0"/>
              <a:t>Size</a:t>
            </a:r>
            <a:r>
              <a:rPr lang="en-US" sz="2000" dirty="0"/>
              <a:t>: Larger organizations may recruit more frequently and have more formalised processes.</a:t>
            </a:r>
          </a:p>
          <a:p>
            <a:pPr lvl="1">
              <a:lnSpc>
                <a:spcPct val="150000"/>
              </a:lnSpc>
            </a:pPr>
            <a:r>
              <a:rPr lang="en-US" sz="2000" b="1" dirty="0"/>
              <a:t>Sector</a:t>
            </a:r>
            <a:r>
              <a:rPr lang="en-US" sz="2000" dirty="0"/>
              <a:t>: Industry type can affect employer appeal and recruitment needs.</a:t>
            </a:r>
          </a:p>
          <a:p>
            <a:pPr lvl="1">
              <a:lnSpc>
                <a:spcPct val="150000"/>
              </a:lnSpc>
            </a:pPr>
            <a:r>
              <a:rPr lang="en-US" sz="2000" b="1" dirty="0"/>
              <a:t>Geographical Location</a:t>
            </a:r>
            <a:r>
              <a:rPr lang="en-US" sz="2000" dirty="0"/>
              <a:t>: Affects access to talent and local job market dynamics.</a:t>
            </a:r>
          </a:p>
          <a:p>
            <a:pPr lvl="1">
              <a:lnSpc>
                <a:spcPct val="150000"/>
              </a:lnSpc>
            </a:pPr>
            <a:r>
              <a:rPr lang="en-US" sz="2000" b="1" dirty="0"/>
              <a:t>HR Strategy</a:t>
            </a:r>
            <a:r>
              <a:rPr lang="en-US" sz="2000" dirty="0"/>
              <a:t>: Determines the approach to talent acquisition and employee value proposition.</a:t>
            </a:r>
          </a:p>
          <a:p>
            <a:pPr lvl="1">
              <a:lnSpc>
                <a:spcPct val="150000"/>
              </a:lnSpc>
            </a:pPr>
            <a:r>
              <a:rPr lang="en-US" sz="2000" b="1" dirty="0"/>
              <a:t>Growth Stage</a:t>
            </a:r>
            <a:r>
              <a:rPr lang="en-US" sz="2000" dirty="0"/>
              <a:t>: Expanding companies may have more frequent hiring needs.</a:t>
            </a:r>
          </a:p>
          <a:p>
            <a:pPr marL="0" indent="0">
              <a:lnSpc>
                <a:spcPct val="150000"/>
              </a:lnSpc>
              <a:buNone/>
            </a:pPr>
            <a:r>
              <a:rPr lang="en-US" sz="2400" dirty="0"/>
              <a:t>These factors influence how often recruitment occurs, the attractiveness of the organisation, the rewards and benefits offered, the scope of the recruitment market, and even who manages recruitment processes.</a:t>
            </a:r>
          </a:p>
        </p:txBody>
      </p:sp>
    </p:spTree>
    <p:extLst>
      <p:ext uri="{BB962C8B-B14F-4D97-AF65-F5344CB8AC3E}">
        <p14:creationId xmlns:p14="http://schemas.microsoft.com/office/powerpoint/2010/main" val="1890951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62607"/>
            <a:ext cx="10820400" cy="1293028"/>
          </a:xfrm>
        </p:spPr>
        <p:txBody>
          <a:bodyPr>
            <a:normAutofit/>
          </a:bodyPr>
          <a:lstStyle/>
          <a:p>
            <a:pPr algn="l"/>
            <a:r>
              <a:rPr lang="en-US" sz="3600" dirty="0"/>
              <a:t>Pre-Recruitment Considerations for Employers</a:t>
            </a:r>
          </a:p>
        </p:txBody>
      </p:sp>
      <p:sp>
        <p:nvSpPr>
          <p:cNvPr id="3" name="Content Placeholder 2"/>
          <p:cNvSpPr>
            <a:spLocks noGrp="1"/>
          </p:cNvSpPr>
          <p:nvPr>
            <p:ph idx="1"/>
          </p:nvPr>
        </p:nvSpPr>
        <p:spPr>
          <a:xfrm>
            <a:off x="431800" y="1549400"/>
            <a:ext cx="11074400" cy="4945993"/>
          </a:xfrm>
        </p:spPr>
        <p:txBody>
          <a:bodyPr>
            <a:normAutofit fontScale="92500" lnSpcReduction="20000"/>
          </a:bodyPr>
          <a:lstStyle/>
          <a:p>
            <a:pPr marL="0" indent="0">
              <a:lnSpc>
                <a:spcPct val="150000"/>
              </a:lnSpc>
              <a:buNone/>
            </a:pPr>
            <a:r>
              <a:rPr lang="en-GB" sz="2400" dirty="0"/>
              <a:t>Before starting the recruitment process, employers should carefully analyse the job role by asking:</a:t>
            </a:r>
          </a:p>
          <a:p>
            <a:pPr lvl="1">
              <a:lnSpc>
                <a:spcPct val="150000"/>
              </a:lnSpc>
            </a:pPr>
            <a:r>
              <a:rPr lang="en-GB" sz="2000" dirty="0"/>
              <a:t>What </a:t>
            </a:r>
            <a:r>
              <a:rPr lang="en-GB" sz="2000" b="1" dirty="0"/>
              <a:t>tasks</a:t>
            </a:r>
            <a:r>
              <a:rPr lang="en-GB" sz="2000" dirty="0"/>
              <a:t> will the employee perform? Clearly outline the day-to-day responsibilities.</a:t>
            </a:r>
          </a:p>
          <a:p>
            <a:pPr lvl="1">
              <a:lnSpc>
                <a:spcPct val="150000"/>
              </a:lnSpc>
            </a:pPr>
            <a:r>
              <a:rPr lang="en-GB" sz="2000" dirty="0"/>
              <a:t>What </a:t>
            </a:r>
            <a:r>
              <a:rPr lang="en-GB" sz="2000" b="1" dirty="0"/>
              <a:t>skills</a:t>
            </a:r>
            <a:r>
              <a:rPr lang="en-GB" sz="2000" dirty="0"/>
              <a:t> are required? Identify the essential skills needed to complete these tasks efficiently.</a:t>
            </a:r>
          </a:p>
          <a:p>
            <a:pPr lvl="1">
              <a:lnSpc>
                <a:spcPct val="150000"/>
              </a:lnSpc>
            </a:pPr>
            <a:r>
              <a:rPr lang="en-GB" sz="2000" dirty="0"/>
              <a:t>How critical is each skill? </a:t>
            </a:r>
            <a:r>
              <a:rPr lang="en-GB" sz="2000" b="1" dirty="0"/>
              <a:t>Prioritise the skills </a:t>
            </a:r>
            <a:r>
              <a:rPr lang="en-GB" sz="2000" dirty="0"/>
              <a:t>based on their importance to success in the role.</a:t>
            </a:r>
          </a:p>
          <a:p>
            <a:pPr lvl="1">
              <a:lnSpc>
                <a:spcPct val="150000"/>
              </a:lnSpc>
            </a:pPr>
            <a:r>
              <a:rPr lang="en-GB" sz="2000" dirty="0"/>
              <a:t>What </a:t>
            </a:r>
            <a:r>
              <a:rPr lang="en-GB" sz="2000" b="1" dirty="0"/>
              <a:t>candidate information </a:t>
            </a:r>
            <a:r>
              <a:rPr lang="en-GB" sz="2000" dirty="0"/>
              <a:t>is needed? Determine what qualifications, experience, and attributes are necessary to assess these skills effectively.</a:t>
            </a:r>
          </a:p>
          <a:p>
            <a:pPr lvl="1">
              <a:lnSpc>
                <a:spcPct val="150000"/>
              </a:lnSpc>
            </a:pPr>
            <a:r>
              <a:rPr lang="en-GB" sz="2000" dirty="0"/>
              <a:t>Should </a:t>
            </a:r>
            <a:r>
              <a:rPr lang="en-GB" sz="2000" b="1" dirty="0"/>
              <a:t>values</a:t>
            </a:r>
            <a:r>
              <a:rPr lang="en-GB" sz="2000" dirty="0"/>
              <a:t> or</a:t>
            </a:r>
            <a:r>
              <a:rPr lang="en-GB" sz="2000" b="1" dirty="0"/>
              <a:t> traits </a:t>
            </a:r>
            <a:r>
              <a:rPr lang="en-GB" sz="2000" dirty="0"/>
              <a:t>be assessed? Consider whether specific values, behaviours, or personality traits align with the company’s culture and are crucial for the role.</a:t>
            </a:r>
          </a:p>
          <a:p>
            <a:pPr marL="0" indent="0">
              <a:lnSpc>
                <a:spcPct val="150000"/>
              </a:lnSpc>
              <a:buNone/>
            </a:pPr>
            <a:r>
              <a:rPr lang="en-GB" sz="2400" dirty="0"/>
              <a:t>This comprehensive understanding helps create a well-targeted job advertisement, attracting the right candidates.</a:t>
            </a:r>
          </a:p>
        </p:txBody>
      </p:sp>
    </p:spTree>
    <p:extLst>
      <p:ext uri="{BB962C8B-B14F-4D97-AF65-F5344CB8AC3E}">
        <p14:creationId xmlns:p14="http://schemas.microsoft.com/office/powerpoint/2010/main" val="1768573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4B36C4-62A9-304B-8F56-A99E88DFC6DD}"/>
              </a:ext>
            </a:extLst>
          </p:cNvPr>
          <p:cNvSpPr>
            <a:spLocks noGrp="1"/>
          </p:cNvSpPr>
          <p:nvPr>
            <p:ph idx="1"/>
          </p:nvPr>
        </p:nvSpPr>
        <p:spPr/>
        <p:txBody>
          <a:bodyPr>
            <a:normAutofit/>
          </a:bodyPr>
          <a:lstStyle/>
          <a:p>
            <a:pPr marL="0" indent="0" algn="ctr">
              <a:buNone/>
            </a:pPr>
            <a:r>
              <a:rPr lang="en-US" sz="4400" dirty="0"/>
              <a:t>Where do organisations search when recruiting new employees?</a:t>
            </a:r>
          </a:p>
        </p:txBody>
      </p:sp>
      <p:pic>
        <p:nvPicPr>
          <p:cNvPr id="1026" name="Picture 2" descr="This is a lady holding a large question mark.">
            <a:extLst>
              <a:ext uri="{FF2B5EF4-FFF2-40B4-BE49-F238E27FC236}">
                <a16:creationId xmlns:a16="http://schemas.microsoft.com/office/drawing/2014/main" id="{510B6211-5880-CBDF-9C70-07664B2B22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9922" y="3708400"/>
            <a:ext cx="2387600" cy="187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918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0D2D7-DAE5-8DF2-30A4-6A29A75E0423}"/>
              </a:ext>
            </a:extLst>
          </p:cNvPr>
          <p:cNvSpPr>
            <a:spLocks noGrp="1"/>
          </p:cNvSpPr>
          <p:nvPr>
            <p:ph type="title"/>
          </p:nvPr>
        </p:nvSpPr>
        <p:spPr>
          <a:xfrm>
            <a:off x="469557" y="365125"/>
            <a:ext cx="10515600" cy="1325563"/>
          </a:xfrm>
        </p:spPr>
        <p:txBody>
          <a:bodyPr/>
          <a:lstStyle/>
          <a:p>
            <a:r>
              <a:rPr lang="en-US" dirty="0"/>
              <a:t>Internal or External Labour Market</a:t>
            </a:r>
          </a:p>
        </p:txBody>
      </p:sp>
      <p:sp>
        <p:nvSpPr>
          <p:cNvPr id="3" name="Content Placeholder 2">
            <a:extLst>
              <a:ext uri="{FF2B5EF4-FFF2-40B4-BE49-F238E27FC236}">
                <a16:creationId xmlns:a16="http://schemas.microsoft.com/office/drawing/2014/main" id="{35C7DBB5-3B65-241B-BDC4-8BC4F698524E}"/>
              </a:ext>
            </a:extLst>
          </p:cNvPr>
          <p:cNvSpPr>
            <a:spLocks noGrp="1"/>
          </p:cNvSpPr>
          <p:nvPr>
            <p:ph idx="1"/>
          </p:nvPr>
        </p:nvSpPr>
        <p:spPr>
          <a:xfrm>
            <a:off x="469557" y="1825625"/>
            <a:ext cx="11368216" cy="4667250"/>
          </a:xfrm>
        </p:spPr>
        <p:txBody>
          <a:bodyPr>
            <a:normAutofit fontScale="85000" lnSpcReduction="20000"/>
          </a:bodyPr>
          <a:lstStyle/>
          <a:p>
            <a:pPr>
              <a:lnSpc>
                <a:spcPct val="150000"/>
              </a:lnSpc>
            </a:pPr>
            <a:r>
              <a:rPr lang="en-US" dirty="0"/>
              <a:t>Internal Labour Market</a:t>
            </a:r>
          </a:p>
          <a:p>
            <a:pPr lvl="1">
              <a:lnSpc>
                <a:spcPct val="150000"/>
              </a:lnSpc>
            </a:pPr>
            <a:r>
              <a:rPr lang="en-US" dirty="0"/>
              <a:t>Employees may be recruited internally</a:t>
            </a:r>
          </a:p>
          <a:p>
            <a:pPr lvl="1">
              <a:lnSpc>
                <a:spcPct val="150000"/>
              </a:lnSpc>
            </a:pPr>
            <a:r>
              <a:rPr lang="en-US" dirty="0"/>
              <a:t>Employees may move roles from other teams/departments/offices</a:t>
            </a:r>
          </a:p>
          <a:p>
            <a:pPr lvl="1">
              <a:lnSpc>
                <a:spcPct val="150000"/>
              </a:lnSpc>
            </a:pPr>
            <a:r>
              <a:rPr lang="en-US" dirty="0"/>
              <a:t>Employees may be promoted</a:t>
            </a:r>
          </a:p>
          <a:p>
            <a:pPr>
              <a:lnSpc>
                <a:spcPct val="150000"/>
              </a:lnSpc>
            </a:pPr>
            <a:r>
              <a:rPr lang="en-US" dirty="0"/>
              <a:t>External Labour Market </a:t>
            </a:r>
          </a:p>
          <a:p>
            <a:pPr lvl="1">
              <a:lnSpc>
                <a:spcPct val="150000"/>
              </a:lnSpc>
            </a:pPr>
            <a:r>
              <a:rPr lang="en-US" dirty="0"/>
              <a:t>When organisations look outside of the organization</a:t>
            </a:r>
          </a:p>
          <a:p>
            <a:pPr lvl="1">
              <a:lnSpc>
                <a:spcPct val="150000"/>
              </a:lnSpc>
            </a:pPr>
            <a:r>
              <a:rPr lang="en-US" dirty="0"/>
              <a:t>People moving from other organisations </a:t>
            </a:r>
          </a:p>
          <a:p>
            <a:pPr lvl="1">
              <a:lnSpc>
                <a:spcPct val="150000"/>
              </a:lnSpc>
            </a:pPr>
            <a:r>
              <a:rPr lang="en-US" dirty="0"/>
              <a:t>People moving from education </a:t>
            </a:r>
          </a:p>
          <a:p>
            <a:pPr lvl="1">
              <a:lnSpc>
                <a:spcPct val="150000"/>
              </a:lnSpc>
            </a:pPr>
            <a:r>
              <a:rPr lang="en-US" dirty="0"/>
              <a:t>People moving from unemployment</a:t>
            </a:r>
          </a:p>
          <a:p>
            <a:pPr lvl="1">
              <a:lnSpc>
                <a:spcPct val="150000"/>
              </a:lnSpc>
            </a:pPr>
            <a:endParaRPr lang="en-US" dirty="0"/>
          </a:p>
          <a:p>
            <a:pPr lvl="1"/>
            <a:endParaRPr lang="en-US" dirty="0"/>
          </a:p>
        </p:txBody>
      </p:sp>
    </p:spTree>
    <p:extLst>
      <p:ext uri="{BB962C8B-B14F-4D97-AF65-F5344CB8AC3E}">
        <p14:creationId xmlns:p14="http://schemas.microsoft.com/office/powerpoint/2010/main" val="3295983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EF674-2137-4C77-BA16-DBED0DD258E3}"/>
              </a:ext>
            </a:extLst>
          </p:cNvPr>
          <p:cNvSpPr>
            <a:spLocks noGrp="1"/>
          </p:cNvSpPr>
          <p:nvPr>
            <p:ph type="title"/>
          </p:nvPr>
        </p:nvSpPr>
        <p:spPr>
          <a:xfrm>
            <a:off x="186660" y="234400"/>
            <a:ext cx="11328581" cy="1325160"/>
          </a:xfrm>
        </p:spPr>
        <p:txBody>
          <a:bodyPr>
            <a:normAutofit/>
          </a:bodyPr>
          <a:lstStyle/>
          <a:p>
            <a:pPr algn="l"/>
            <a:r>
              <a:rPr lang="en-GB" sz="3200" dirty="0"/>
              <a:t>Internal Labour Markets: Benefits &amp; Disadvantages</a:t>
            </a:r>
          </a:p>
        </p:txBody>
      </p:sp>
      <p:graphicFrame>
        <p:nvGraphicFramePr>
          <p:cNvPr id="4" name="Table 4">
            <a:extLst>
              <a:ext uri="{FF2B5EF4-FFF2-40B4-BE49-F238E27FC236}">
                <a16:creationId xmlns:a16="http://schemas.microsoft.com/office/drawing/2014/main" id="{1A329D07-EC86-4F71-9222-CE00C57926F8}"/>
              </a:ext>
            </a:extLst>
          </p:cNvPr>
          <p:cNvGraphicFramePr>
            <a:graphicFrameLocks noGrp="1"/>
          </p:cNvGraphicFramePr>
          <p:nvPr>
            <p:extLst>
              <p:ext uri="{D42A27DB-BD31-4B8C-83A1-F6EECF244321}">
                <p14:modId xmlns:p14="http://schemas.microsoft.com/office/powerpoint/2010/main" val="2819695907"/>
              </p:ext>
            </p:extLst>
          </p:nvPr>
        </p:nvGraphicFramePr>
        <p:xfrm>
          <a:off x="467830" y="1559560"/>
          <a:ext cx="11017983" cy="5109078"/>
        </p:xfrm>
        <a:graphic>
          <a:graphicData uri="http://schemas.openxmlformats.org/drawingml/2006/table">
            <a:tbl>
              <a:tblPr firstRow="1" bandRow="1">
                <a:tableStyleId>{5940675A-B579-460E-94D1-54222C63F5DA}</a:tableStyleId>
              </a:tblPr>
              <a:tblGrid>
                <a:gridCol w="5350828">
                  <a:extLst>
                    <a:ext uri="{9D8B030D-6E8A-4147-A177-3AD203B41FA5}">
                      <a16:colId xmlns:a16="http://schemas.microsoft.com/office/drawing/2014/main" val="3822400497"/>
                    </a:ext>
                  </a:extLst>
                </a:gridCol>
                <a:gridCol w="5667155">
                  <a:extLst>
                    <a:ext uri="{9D8B030D-6E8A-4147-A177-3AD203B41FA5}">
                      <a16:colId xmlns:a16="http://schemas.microsoft.com/office/drawing/2014/main" val="1103345696"/>
                    </a:ext>
                  </a:extLst>
                </a:gridCol>
              </a:tblGrid>
              <a:tr h="378591">
                <a:tc>
                  <a:txBody>
                    <a:bodyPr/>
                    <a:lstStyle/>
                    <a:p>
                      <a:pPr algn="ctr"/>
                      <a:r>
                        <a:rPr lang="en-GB" sz="2000" b="1" dirty="0"/>
                        <a:t>Benefits</a:t>
                      </a:r>
                    </a:p>
                  </a:txBody>
                  <a:tcPr>
                    <a:solidFill>
                      <a:schemeClr val="bg1">
                        <a:lumMod val="85000"/>
                      </a:schemeClr>
                    </a:solidFill>
                  </a:tcPr>
                </a:tc>
                <a:tc>
                  <a:txBody>
                    <a:bodyPr/>
                    <a:lstStyle/>
                    <a:p>
                      <a:pPr algn="ctr"/>
                      <a:r>
                        <a:rPr lang="en-GB" sz="2000" b="1" dirty="0"/>
                        <a:t>Disadvantages</a:t>
                      </a:r>
                    </a:p>
                  </a:txBody>
                  <a:tcPr>
                    <a:solidFill>
                      <a:schemeClr val="bg1">
                        <a:lumMod val="85000"/>
                      </a:schemeClr>
                    </a:solidFill>
                  </a:tcPr>
                </a:tc>
                <a:extLst>
                  <a:ext uri="{0D108BD9-81ED-4DB2-BD59-A6C34878D82A}">
                    <a16:rowId xmlns:a16="http://schemas.microsoft.com/office/drawing/2014/main" val="1590933689"/>
                  </a:ext>
                </a:extLst>
              </a:tr>
              <a:tr h="873672">
                <a:tc>
                  <a:txBody>
                    <a:bodyPr/>
                    <a:lstStyle/>
                    <a:p>
                      <a:pPr marL="0" indent="0">
                        <a:buFont typeface="Arial" charset="0"/>
                        <a:buNone/>
                      </a:pPr>
                      <a:endParaRPr lang="en-GB" sz="1700" dirty="0"/>
                    </a:p>
                    <a:p>
                      <a:pPr marL="0" indent="0">
                        <a:buFont typeface="Arial" charset="0"/>
                        <a:buNone/>
                      </a:pPr>
                      <a:r>
                        <a:rPr lang="en-GB" sz="1700" dirty="0"/>
                        <a:t>Can improve morale, commitment and job security</a:t>
                      </a:r>
                    </a:p>
                  </a:txBody>
                  <a:tcPr/>
                </a:tc>
                <a:tc>
                  <a:txBody>
                    <a:bodyPr/>
                    <a:lstStyle/>
                    <a:p>
                      <a:pPr marL="0" indent="0">
                        <a:buFont typeface="Arial" charset="0"/>
                        <a:buNone/>
                      </a:pPr>
                      <a:endParaRPr lang="en-GB" sz="1700" dirty="0"/>
                    </a:p>
                    <a:p>
                      <a:pPr marL="0" indent="0">
                        <a:buFont typeface="Arial" charset="0"/>
                        <a:buNone/>
                      </a:pPr>
                      <a:r>
                        <a:rPr lang="en-GB" sz="1700" dirty="0"/>
                        <a:t>Internal competition and office politics</a:t>
                      </a:r>
                    </a:p>
                  </a:txBody>
                  <a:tcPr anchor="ctr"/>
                </a:tc>
                <a:extLst>
                  <a:ext uri="{0D108BD9-81ED-4DB2-BD59-A6C34878D82A}">
                    <a16:rowId xmlns:a16="http://schemas.microsoft.com/office/drawing/2014/main" val="1774732011"/>
                  </a:ext>
                </a:extLst>
              </a:tr>
              <a:tr h="611571">
                <a:tc>
                  <a:txBody>
                    <a:bodyPr/>
                    <a:lstStyle/>
                    <a:p>
                      <a:pPr marL="0" indent="0">
                        <a:buFont typeface="Arial" charset="0"/>
                        <a:buNone/>
                      </a:pPr>
                      <a:endParaRPr lang="en-GB" sz="1700" dirty="0"/>
                    </a:p>
                    <a:p>
                      <a:pPr marL="0" indent="0">
                        <a:buFont typeface="Arial" charset="0"/>
                        <a:buNone/>
                      </a:pPr>
                      <a:r>
                        <a:rPr lang="en-GB" sz="1700" dirty="0"/>
                        <a:t>Prior knowledge of the candidates’ /skills/abilities</a:t>
                      </a:r>
                    </a:p>
                  </a:txBody>
                  <a:tcPr anchor="ctr"/>
                </a:tc>
                <a:tc>
                  <a:txBody>
                    <a:bodyPr/>
                    <a:lstStyle/>
                    <a:p>
                      <a:pPr marL="0" indent="0">
                        <a:buFont typeface="Arial" charset="0"/>
                        <a:buNone/>
                      </a:pPr>
                      <a:endParaRPr lang="en-GB" sz="1700" dirty="0"/>
                    </a:p>
                    <a:p>
                      <a:pPr marL="0" indent="0">
                        <a:buFont typeface="Arial" charset="0"/>
                        <a:buNone/>
                      </a:pPr>
                      <a:r>
                        <a:rPr lang="en-GB" sz="1700" dirty="0"/>
                        <a:t>Informal glass ceilings and glass walls (barriers to career growth)</a:t>
                      </a:r>
                    </a:p>
                  </a:txBody>
                  <a:tcPr anchor="ctr"/>
                </a:tc>
                <a:extLst>
                  <a:ext uri="{0D108BD9-81ED-4DB2-BD59-A6C34878D82A}">
                    <a16:rowId xmlns:a16="http://schemas.microsoft.com/office/drawing/2014/main" val="160622282"/>
                  </a:ext>
                </a:extLst>
              </a:tr>
              <a:tr h="873672">
                <a:tc>
                  <a:txBody>
                    <a:bodyPr/>
                    <a:lstStyle/>
                    <a:p>
                      <a:pPr marL="0" indent="0">
                        <a:buFont typeface="Arial" charset="0"/>
                        <a:buNone/>
                      </a:pPr>
                      <a:endParaRPr lang="en-GB" sz="1700" dirty="0"/>
                    </a:p>
                    <a:p>
                      <a:pPr marL="0" indent="0">
                        <a:buFont typeface="Arial" charset="0"/>
                        <a:buNone/>
                      </a:pPr>
                      <a:r>
                        <a:rPr lang="en-GB" sz="1700" dirty="0"/>
                        <a:t>Can be a cheaper alternative to external recruitment</a:t>
                      </a:r>
                    </a:p>
                  </a:txBody>
                  <a:tcPr anchor="ctr"/>
                </a:tc>
                <a:tc>
                  <a:txBody>
                    <a:bodyPr/>
                    <a:lstStyle/>
                    <a:p>
                      <a:pPr marL="0" indent="0">
                        <a:buFont typeface="Arial" charset="0"/>
                        <a:buNone/>
                      </a:pPr>
                      <a:r>
                        <a:rPr lang="en-GB" sz="1700" dirty="0"/>
                        <a:t>Risk of complacency and lack of innovation</a:t>
                      </a:r>
                    </a:p>
                  </a:txBody>
                  <a:tcPr anchor="ctr"/>
                </a:tc>
                <a:extLst>
                  <a:ext uri="{0D108BD9-81ED-4DB2-BD59-A6C34878D82A}">
                    <a16:rowId xmlns:a16="http://schemas.microsoft.com/office/drawing/2014/main" val="2725735605"/>
                  </a:ext>
                </a:extLst>
              </a:tr>
              <a:tr h="873672">
                <a:tc>
                  <a:txBody>
                    <a:bodyPr/>
                    <a:lstStyle/>
                    <a:p>
                      <a:pPr marL="0" indent="0">
                        <a:buFont typeface="Arial" charset="0"/>
                        <a:buNone/>
                      </a:pPr>
                      <a:endParaRPr lang="en-GB" sz="1700" dirty="0"/>
                    </a:p>
                    <a:p>
                      <a:pPr marL="0" indent="0">
                        <a:buFont typeface="Arial" charset="0"/>
                        <a:buNone/>
                      </a:pPr>
                      <a:r>
                        <a:rPr lang="en-GB" sz="1700" dirty="0"/>
                        <a:t>May help to control salary levels in the organisation </a:t>
                      </a:r>
                    </a:p>
                  </a:txBody>
                  <a:tcPr anchor="ctr"/>
                </a:tc>
                <a:tc>
                  <a:txBody>
                    <a:bodyPr/>
                    <a:lstStyle/>
                    <a:p>
                      <a:pPr marL="0" indent="0">
                        <a:buFont typeface="Arial" charset="0"/>
                        <a:buNone/>
                      </a:pPr>
                      <a:endParaRPr lang="en-GB" sz="1700" dirty="0"/>
                    </a:p>
                    <a:p>
                      <a:pPr marL="0" indent="0">
                        <a:buFont typeface="Arial" charset="0"/>
                        <a:buNone/>
                      </a:pPr>
                      <a:r>
                        <a:rPr lang="en-GB" sz="1700" dirty="0"/>
                        <a:t>Skills mismatch for evolving needs</a:t>
                      </a:r>
                    </a:p>
                  </a:txBody>
                  <a:tcPr anchor="ctr"/>
                </a:tc>
                <a:extLst>
                  <a:ext uri="{0D108BD9-81ED-4DB2-BD59-A6C34878D82A}">
                    <a16:rowId xmlns:a16="http://schemas.microsoft.com/office/drawing/2014/main" val="2669241920"/>
                  </a:ext>
                </a:extLst>
              </a:tr>
              <a:tr h="611571">
                <a:tc>
                  <a:txBody>
                    <a:bodyPr/>
                    <a:lstStyle/>
                    <a:p>
                      <a:r>
                        <a:rPr lang="en-GB" sz="1600" dirty="0"/>
                        <a:t>Shorter onboarding </a:t>
                      </a:r>
                    </a:p>
                  </a:txBody>
                  <a:tcPr/>
                </a:tc>
                <a:tc>
                  <a:txBody>
                    <a:bodyPr/>
                    <a:lstStyle/>
                    <a:p>
                      <a:pPr marL="0" indent="0">
                        <a:buFont typeface="Arial" charset="0"/>
                        <a:buNone/>
                      </a:pPr>
                      <a:r>
                        <a:rPr lang="en-GB" sz="1700" dirty="0"/>
                        <a:t>Difficulty in addressing underperformance</a:t>
                      </a:r>
                    </a:p>
                  </a:txBody>
                  <a:tcPr anchor="ctr"/>
                </a:tc>
                <a:extLst>
                  <a:ext uri="{0D108BD9-81ED-4DB2-BD59-A6C34878D82A}">
                    <a16:rowId xmlns:a16="http://schemas.microsoft.com/office/drawing/2014/main" val="839500650"/>
                  </a:ext>
                </a:extLst>
              </a:tr>
              <a:tr h="611571">
                <a:tc>
                  <a:txBody>
                    <a:bodyPr/>
                    <a:lstStyle/>
                    <a:p>
                      <a:r>
                        <a:rPr lang="en-GB" sz="1600" dirty="0"/>
                        <a:t>Person/organisation fit </a:t>
                      </a:r>
                    </a:p>
                  </a:txBody>
                  <a:tcPr/>
                </a:tc>
                <a:tc>
                  <a:txBody>
                    <a:bodyPr/>
                    <a:lstStyle/>
                    <a:p>
                      <a:pPr marL="0" indent="0">
                        <a:buFont typeface="Arial" charset="0"/>
                        <a:buNone/>
                      </a:pPr>
                      <a:r>
                        <a:rPr lang="en-GB" sz="1700" dirty="0"/>
                        <a:t>Limited talent pool</a:t>
                      </a:r>
                    </a:p>
                  </a:txBody>
                  <a:tcPr anchor="ctr"/>
                </a:tc>
                <a:extLst>
                  <a:ext uri="{0D108BD9-81ED-4DB2-BD59-A6C34878D82A}">
                    <a16:rowId xmlns:a16="http://schemas.microsoft.com/office/drawing/2014/main" val="741705149"/>
                  </a:ext>
                </a:extLst>
              </a:tr>
            </a:tbl>
          </a:graphicData>
        </a:graphic>
      </p:graphicFrame>
    </p:spTree>
    <p:extLst>
      <p:ext uri="{BB962C8B-B14F-4D97-AF65-F5344CB8AC3E}">
        <p14:creationId xmlns:p14="http://schemas.microsoft.com/office/powerpoint/2010/main" val="464157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This is a neon sign that says “vacancy”">
            <a:extLst>
              <a:ext uri="{FF2B5EF4-FFF2-40B4-BE49-F238E27FC236}">
                <a16:creationId xmlns:a16="http://schemas.microsoft.com/office/drawing/2014/main" id="{052AA1BF-AAFA-45B3-93F2-9A232A7416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376" r="5598" b="7676"/>
          <a:stretch/>
        </p:blipFill>
        <p:spPr bwMode="auto">
          <a:xfrm>
            <a:off x="9229061" y="2251480"/>
            <a:ext cx="2962939" cy="4606520"/>
          </a:xfrm>
          <a:custGeom>
            <a:avLst/>
            <a:gdLst/>
            <a:ahLst/>
            <a:cxnLst/>
            <a:rect l="l" t="t" r="r" b="b"/>
            <a:pathLst>
              <a:path w="4636517" h="6858000">
                <a:moveTo>
                  <a:pt x="0" y="0"/>
                </a:moveTo>
                <a:lnTo>
                  <a:pt x="4636517" y="0"/>
                </a:lnTo>
                <a:lnTo>
                  <a:pt x="4636517"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F83A02C-4F1A-4D57-8F2E-D9074C845141}"/>
              </a:ext>
            </a:extLst>
          </p:cNvPr>
          <p:cNvSpPr>
            <a:spLocks noGrp="1"/>
          </p:cNvSpPr>
          <p:nvPr>
            <p:ph type="title"/>
          </p:nvPr>
        </p:nvSpPr>
        <p:spPr>
          <a:xfrm>
            <a:off x="382770" y="344192"/>
            <a:ext cx="10953109" cy="1325563"/>
          </a:xfrm>
        </p:spPr>
        <p:txBody>
          <a:bodyPr>
            <a:normAutofit/>
          </a:bodyPr>
          <a:lstStyle/>
          <a:p>
            <a:pPr algn="l"/>
            <a:r>
              <a:rPr lang="en-GB" sz="3600" dirty="0"/>
              <a:t>The Benefits of Recruiting Externally</a:t>
            </a:r>
          </a:p>
        </p:txBody>
      </p:sp>
      <p:sp>
        <p:nvSpPr>
          <p:cNvPr id="3" name="Text Placeholder 2">
            <a:extLst>
              <a:ext uri="{FF2B5EF4-FFF2-40B4-BE49-F238E27FC236}">
                <a16:creationId xmlns:a16="http://schemas.microsoft.com/office/drawing/2014/main" id="{9E3A1327-3CD3-4685-BD15-2AE01A8768EA}"/>
              </a:ext>
            </a:extLst>
          </p:cNvPr>
          <p:cNvSpPr>
            <a:spLocks noGrp="1"/>
          </p:cNvSpPr>
          <p:nvPr>
            <p:ph idx="1"/>
          </p:nvPr>
        </p:nvSpPr>
        <p:spPr>
          <a:xfrm>
            <a:off x="382770" y="1669755"/>
            <a:ext cx="8399721" cy="4922654"/>
          </a:xfrm>
        </p:spPr>
        <p:txBody>
          <a:bodyPr>
            <a:normAutofit/>
          </a:bodyPr>
          <a:lstStyle/>
          <a:p>
            <a:pPr>
              <a:lnSpc>
                <a:spcPct val="150000"/>
              </a:lnSpc>
            </a:pPr>
            <a:r>
              <a:rPr lang="en-GB" sz="2400" dirty="0"/>
              <a:t>External hires bring diverse experiences and new ideas</a:t>
            </a:r>
          </a:p>
          <a:p>
            <a:pPr>
              <a:lnSpc>
                <a:spcPct val="150000"/>
              </a:lnSpc>
            </a:pPr>
            <a:r>
              <a:rPr lang="en-GB" sz="2400" dirty="0"/>
              <a:t>Gain insights into competitors</a:t>
            </a:r>
          </a:p>
          <a:p>
            <a:pPr>
              <a:lnSpc>
                <a:spcPct val="150000"/>
              </a:lnSpc>
            </a:pPr>
            <a:r>
              <a:rPr lang="en-GB" sz="2400" dirty="0"/>
              <a:t>Cost effective way to access unique skills </a:t>
            </a:r>
          </a:p>
          <a:p>
            <a:pPr>
              <a:lnSpc>
                <a:spcPct val="150000"/>
              </a:lnSpc>
            </a:pPr>
            <a:r>
              <a:rPr lang="en-GB" sz="2400" dirty="0"/>
              <a:t>Can address an immediate or temporary need</a:t>
            </a:r>
          </a:p>
          <a:p>
            <a:pPr>
              <a:lnSpc>
                <a:spcPct val="150000"/>
              </a:lnSpc>
            </a:pPr>
            <a:r>
              <a:rPr lang="en-GB" sz="2400" dirty="0"/>
              <a:t>To support EDI goals</a:t>
            </a:r>
          </a:p>
          <a:p>
            <a:pPr>
              <a:lnSpc>
                <a:spcPct val="150000"/>
              </a:lnSpc>
            </a:pPr>
            <a:endParaRPr lang="en-GB" sz="2800" dirty="0"/>
          </a:p>
        </p:txBody>
      </p:sp>
    </p:spTree>
    <p:extLst>
      <p:ext uri="{BB962C8B-B14F-4D97-AF65-F5344CB8AC3E}">
        <p14:creationId xmlns:p14="http://schemas.microsoft.com/office/powerpoint/2010/main" val="1176692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A2568-2CE9-8F95-6085-C92CAC0FE994}"/>
              </a:ext>
            </a:extLst>
          </p:cNvPr>
          <p:cNvSpPr>
            <a:spLocks noGrp="1"/>
          </p:cNvSpPr>
          <p:nvPr>
            <p:ph type="title"/>
          </p:nvPr>
        </p:nvSpPr>
        <p:spPr/>
        <p:txBody>
          <a:bodyPr/>
          <a:lstStyle/>
          <a:p>
            <a:r>
              <a:rPr lang="en-US" dirty="0"/>
              <a:t>Recruitment Sources</a:t>
            </a:r>
          </a:p>
        </p:txBody>
      </p:sp>
      <p:sp>
        <p:nvSpPr>
          <p:cNvPr id="3" name="Content Placeholder 2">
            <a:extLst>
              <a:ext uri="{FF2B5EF4-FFF2-40B4-BE49-F238E27FC236}">
                <a16:creationId xmlns:a16="http://schemas.microsoft.com/office/drawing/2014/main" id="{9608EFE9-894F-2DB8-8396-8734AA011B15}"/>
              </a:ext>
            </a:extLst>
          </p:cNvPr>
          <p:cNvSpPr>
            <a:spLocks noGrp="1"/>
          </p:cNvSpPr>
          <p:nvPr>
            <p:ph idx="1"/>
          </p:nvPr>
        </p:nvSpPr>
        <p:spPr>
          <a:xfrm>
            <a:off x="495300" y="1825625"/>
            <a:ext cx="11430000" cy="4667250"/>
          </a:xfrm>
        </p:spPr>
        <p:txBody>
          <a:bodyPr>
            <a:normAutofit/>
          </a:bodyPr>
          <a:lstStyle/>
          <a:p>
            <a:pPr>
              <a:lnSpc>
                <a:spcPct val="150000"/>
              </a:lnSpc>
            </a:pPr>
            <a:r>
              <a:rPr lang="en-US" sz="2000" b="1" dirty="0"/>
              <a:t>Employee referrals</a:t>
            </a:r>
            <a:r>
              <a:rPr lang="en-US" sz="2000" dirty="0"/>
              <a:t>: can provide high quality candidates, but difficult to use for high volume recruitment</a:t>
            </a:r>
          </a:p>
          <a:p>
            <a:pPr>
              <a:lnSpc>
                <a:spcPct val="150000"/>
              </a:lnSpc>
            </a:pPr>
            <a:r>
              <a:rPr lang="en-US" sz="2000" b="1" dirty="0"/>
              <a:t>Job boards</a:t>
            </a:r>
            <a:r>
              <a:rPr lang="en-US" sz="2000" dirty="0"/>
              <a:t>: sites such as Indeed.com are commonly use by employers</a:t>
            </a:r>
          </a:p>
          <a:p>
            <a:pPr>
              <a:lnSpc>
                <a:spcPct val="150000"/>
              </a:lnSpc>
            </a:pPr>
            <a:r>
              <a:rPr lang="en-US" sz="2000" b="1" dirty="0"/>
              <a:t>Professional networking sites and social media</a:t>
            </a:r>
            <a:r>
              <a:rPr lang="en-US" sz="2000" dirty="0"/>
              <a:t>: LinkedIn is becoming increasingly important especially for professional roles, also allows organisations to target individuals of interest</a:t>
            </a:r>
          </a:p>
          <a:p>
            <a:pPr>
              <a:lnSpc>
                <a:spcPct val="150000"/>
              </a:lnSpc>
            </a:pPr>
            <a:r>
              <a:rPr lang="en-US" sz="2000" b="1" dirty="0"/>
              <a:t>Company websites</a:t>
            </a:r>
            <a:r>
              <a:rPr lang="en-US" sz="2000" dirty="0"/>
              <a:t>: many organisations invest heavily in their own careers page on their website </a:t>
            </a:r>
          </a:p>
          <a:p>
            <a:pPr>
              <a:lnSpc>
                <a:spcPct val="150000"/>
              </a:lnSpc>
            </a:pPr>
            <a:r>
              <a:rPr lang="en-US" sz="2000" dirty="0"/>
              <a:t>Recruitment agencies: often used for niche or hard to fill vacancies </a:t>
            </a:r>
          </a:p>
          <a:p>
            <a:pPr>
              <a:lnSpc>
                <a:spcPct val="150000"/>
              </a:lnSpc>
            </a:pPr>
            <a:r>
              <a:rPr lang="en-US" sz="2000" b="1" dirty="0"/>
              <a:t>Applicant tracking systems </a:t>
            </a:r>
          </a:p>
        </p:txBody>
      </p:sp>
    </p:spTree>
    <p:extLst>
      <p:ext uri="{BB962C8B-B14F-4D97-AF65-F5344CB8AC3E}">
        <p14:creationId xmlns:p14="http://schemas.microsoft.com/office/powerpoint/2010/main" val="1853214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313B7-63B5-3CB6-9954-BEB3C7532DB7}"/>
              </a:ext>
            </a:extLst>
          </p:cNvPr>
          <p:cNvSpPr>
            <a:spLocks noGrp="1"/>
          </p:cNvSpPr>
          <p:nvPr>
            <p:ph type="title"/>
          </p:nvPr>
        </p:nvSpPr>
        <p:spPr>
          <a:xfrm>
            <a:off x="482600" y="187325"/>
            <a:ext cx="10515600" cy="1325563"/>
          </a:xfrm>
        </p:spPr>
        <p:txBody>
          <a:bodyPr/>
          <a:lstStyle/>
          <a:p>
            <a:r>
              <a:rPr lang="en-US" dirty="0"/>
              <a:t>What is research saying?</a:t>
            </a:r>
          </a:p>
        </p:txBody>
      </p:sp>
      <p:sp>
        <p:nvSpPr>
          <p:cNvPr id="3" name="Content Placeholder 2">
            <a:extLst>
              <a:ext uri="{FF2B5EF4-FFF2-40B4-BE49-F238E27FC236}">
                <a16:creationId xmlns:a16="http://schemas.microsoft.com/office/drawing/2014/main" id="{832DC08A-C069-ED73-F01F-583FF2F76404}"/>
              </a:ext>
            </a:extLst>
          </p:cNvPr>
          <p:cNvSpPr>
            <a:spLocks noGrp="1"/>
          </p:cNvSpPr>
          <p:nvPr>
            <p:ph idx="1"/>
          </p:nvPr>
        </p:nvSpPr>
        <p:spPr>
          <a:xfrm>
            <a:off x="482600" y="1512888"/>
            <a:ext cx="11468100" cy="4979987"/>
          </a:xfrm>
        </p:spPr>
        <p:txBody>
          <a:bodyPr>
            <a:normAutofit fontScale="92500" lnSpcReduction="20000"/>
          </a:bodyPr>
          <a:lstStyle/>
          <a:p>
            <a:pPr>
              <a:lnSpc>
                <a:spcPct val="150000"/>
              </a:lnSpc>
            </a:pPr>
            <a:r>
              <a:rPr lang="en-US" sz="2000" dirty="0"/>
              <a:t>Online boards are a dominant approach, generalist platforms are good for a wide audience and specialist board for more niche roles (Parry &amp; Wilson, 2009). Algorithm based job matching is also used by these sites to improve candidate-job fit </a:t>
            </a:r>
          </a:p>
          <a:p>
            <a:pPr>
              <a:lnSpc>
                <a:spcPct val="150000"/>
              </a:lnSpc>
            </a:pPr>
            <a:r>
              <a:rPr lang="en-US" sz="2000" dirty="0"/>
              <a:t>Referred candidates tend to perform better and integrate faster into the organisation (Castilla, 2005). However, risk of diversity issues with referrals (Fernandez &amp; Sosa, 2005)</a:t>
            </a:r>
          </a:p>
          <a:p>
            <a:pPr>
              <a:lnSpc>
                <a:spcPct val="150000"/>
              </a:lnSpc>
            </a:pPr>
            <a:r>
              <a:rPr lang="en-US" sz="2000" dirty="0"/>
              <a:t>Sites like LinkedIn can lead to improved access to passive candidates (Brown &amp; Vaughn, 2011)</a:t>
            </a:r>
          </a:p>
          <a:p>
            <a:pPr>
              <a:lnSpc>
                <a:spcPct val="150000"/>
              </a:lnSpc>
            </a:pPr>
            <a:r>
              <a:rPr lang="en-US" sz="2000" dirty="0"/>
              <a:t>Social media allows for “branded” recruitment (Nikolaou, 2014), which could improve cultural fit. Company websites can also communicate their culture which allows for more suitable candidates (Allen et al, 2007)</a:t>
            </a:r>
          </a:p>
          <a:p>
            <a:pPr>
              <a:lnSpc>
                <a:spcPct val="150000"/>
              </a:lnSpc>
            </a:pPr>
            <a:r>
              <a:rPr lang="en-US" sz="2000" dirty="0"/>
              <a:t>Scarcity of talent means organisations are having to recruit internally, this can improve retention and skill building (Cappelli, 2019).</a:t>
            </a:r>
          </a:p>
        </p:txBody>
      </p:sp>
    </p:spTree>
    <p:extLst>
      <p:ext uri="{BB962C8B-B14F-4D97-AF65-F5344CB8AC3E}">
        <p14:creationId xmlns:p14="http://schemas.microsoft.com/office/powerpoint/2010/main" val="2222994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61DD3-DA16-45F7-9795-06AFBF137D21}"/>
              </a:ext>
            </a:extLst>
          </p:cNvPr>
          <p:cNvSpPr>
            <a:spLocks noGrp="1"/>
          </p:cNvSpPr>
          <p:nvPr>
            <p:ph type="title"/>
          </p:nvPr>
        </p:nvSpPr>
        <p:spPr>
          <a:xfrm>
            <a:off x="340243" y="228600"/>
            <a:ext cx="11270511" cy="1325563"/>
          </a:xfrm>
        </p:spPr>
        <p:txBody>
          <a:bodyPr>
            <a:normAutofit/>
          </a:bodyPr>
          <a:lstStyle/>
          <a:p>
            <a:pPr algn="l"/>
            <a:r>
              <a:rPr lang="en-GB" sz="2800" dirty="0"/>
              <a:t>CIPD – Resourcing &amp; Talent Planning Survey 2024 – ‘The Highlights’</a:t>
            </a:r>
          </a:p>
        </p:txBody>
      </p:sp>
      <p:sp>
        <p:nvSpPr>
          <p:cNvPr id="3" name="Text Placeholder 2">
            <a:extLst>
              <a:ext uri="{FF2B5EF4-FFF2-40B4-BE49-F238E27FC236}">
                <a16:creationId xmlns:a16="http://schemas.microsoft.com/office/drawing/2014/main" id="{7999ACDE-DD58-4073-85FC-2E5FDE112DDC}"/>
              </a:ext>
            </a:extLst>
          </p:cNvPr>
          <p:cNvSpPr>
            <a:spLocks noGrp="1"/>
          </p:cNvSpPr>
          <p:nvPr>
            <p:ph idx="1"/>
          </p:nvPr>
        </p:nvSpPr>
        <p:spPr>
          <a:xfrm>
            <a:off x="340243" y="1282700"/>
            <a:ext cx="11674548" cy="5054600"/>
          </a:xfrm>
        </p:spPr>
        <p:txBody>
          <a:bodyPr>
            <a:noAutofit/>
          </a:bodyPr>
          <a:lstStyle/>
          <a:p>
            <a:pPr>
              <a:lnSpc>
                <a:spcPct val="170000"/>
              </a:lnSpc>
            </a:pPr>
            <a:r>
              <a:rPr lang="en-GB" sz="2000" dirty="0"/>
              <a:t>Challenges in recruitment: 69% employers report difficulty in filling vacancies (skill shortages and changes in migration rules have increased these challenges)</a:t>
            </a:r>
          </a:p>
          <a:p>
            <a:pPr>
              <a:lnSpc>
                <a:spcPct val="170000"/>
              </a:lnSpc>
            </a:pPr>
            <a:r>
              <a:rPr lang="en-GB" sz="2000" dirty="0"/>
              <a:t>Growing use of applicant tracking systems (ATS) and AI to streamline recruitment processes (AI is seemingly being used to filter candidates in large volume recruitment)</a:t>
            </a:r>
          </a:p>
          <a:p>
            <a:pPr>
              <a:lnSpc>
                <a:spcPct val="170000"/>
              </a:lnSpc>
            </a:pPr>
            <a:r>
              <a:rPr lang="en-GB" sz="2000" dirty="0"/>
              <a:t>Employers are are increasingly having in focus inwards – 56% report using internal development programmes rather than recruiting externally</a:t>
            </a:r>
          </a:p>
          <a:p>
            <a:pPr>
              <a:lnSpc>
                <a:spcPct val="170000"/>
              </a:lnSpc>
            </a:pPr>
            <a:r>
              <a:rPr lang="en-GB" sz="2000" dirty="0"/>
              <a:t>Retention and turnover: The high turnover of new hires is a particular problem (41% employers report employees often join and leave in a very short time frame). </a:t>
            </a:r>
            <a:endParaRPr lang="en-GB" sz="2400" dirty="0"/>
          </a:p>
          <a:p>
            <a:pPr marL="457200" lvl="1" indent="0">
              <a:buNone/>
            </a:pPr>
            <a:endParaRPr lang="en-GB" sz="1800" dirty="0"/>
          </a:p>
          <a:p>
            <a:pPr marL="914400" lvl="2" indent="0" algn="r">
              <a:buNone/>
            </a:pPr>
            <a:r>
              <a:rPr lang="en-GB" sz="1800" dirty="0"/>
              <a:t>CIPD (2024)</a:t>
            </a:r>
          </a:p>
        </p:txBody>
      </p:sp>
    </p:spTree>
    <p:extLst>
      <p:ext uri="{BB962C8B-B14F-4D97-AF65-F5344CB8AC3E}">
        <p14:creationId xmlns:p14="http://schemas.microsoft.com/office/powerpoint/2010/main" val="1388763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8D0D6D3E-D7F9-4591-9CA9-DDF4DB1F7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33128BC-D6B0-AF8E-EC6C-15EDB7E4896A}"/>
              </a:ext>
            </a:extLst>
          </p:cNvPr>
          <p:cNvSpPr>
            <a:spLocks noGrp="1"/>
          </p:cNvSpPr>
          <p:nvPr>
            <p:ph type="title"/>
          </p:nvPr>
        </p:nvSpPr>
        <p:spPr>
          <a:xfrm>
            <a:off x="982639" y="1012536"/>
            <a:ext cx="4613300" cy="3163224"/>
          </a:xfrm>
        </p:spPr>
        <p:txBody>
          <a:bodyPr vert="horz" lIns="91440" tIns="45720" rIns="91440" bIns="45720" rtlCol="0" anchor="t">
            <a:normAutofit/>
          </a:bodyPr>
          <a:lstStyle/>
          <a:p>
            <a:r>
              <a:rPr lang="en-US" sz="6000" dirty="0"/>
              <a:t>Let’s have a break……</a:t>
            </a:r>
          </a:p>
        </p:txBody>
      </p:sp>
      <p:sp>
        <p:nvSpPr>
          <p:cNvPr id="2057" name="Rectangle 2056">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4068664" cy="6858000"/>
          </a:xfrm>
          <a:prstGeom prst="rect">
            <a:avLst/>
          </a:prstGeom>
          <a:gradFill>
            <a:gsLst>
              <a:gs pos="26000">
                <a:srgbClr val="000000"/>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9" name="Rectangle 2058">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3611463" cy="6858000"/>
          </a:xfrm>
          <a:prstGeom prst="rect">
            <a:avLst/>
          </a:prstGeom>
          <a:gradFill>
            <a:gsLst>
              <a:gs pos="0">
                <a:schemeClr val="accent1">
                  <a:lumMod val="75000"/>
                  <a:alpha val="56000"/>
                </a:schemeClr>
              </a:gs>
              <a:gs pos="100000">
                <a:srgbClr val="000000">
                  <a:alpha val="52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1" name="Rectangle 2060">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230721" y="-107390"/>
            <a:ext cx="3853890" cy="4068665"/>
          </a:xfrm>
          <a:prstGeom prst="rect">
            <a:avLst/>
          </a:prstGeom>
          <a:gradFill>
            <a:gsLst>
              <a:gs pos="0">
                <a:srgbClr val="000000">
                  <a:alpha val="34000"/>
                </a:srgbClr>
              </a:gs>
              <a:gs pos="96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1965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0499" y="440162"/>
            <a:ext cx="8610600" cy="1293028"/>
          </a:xfrm>
        </p:spPr>
        <p:txBody>
          <a:bodyPr/>
          <a:lstStyle/>
          <a:p>
            <a:pPr algn="ctr"/>
            <a:r>
              <a:rPr lang="en-GB" dirty="0"/>
              <a:t>Selection Methods</a:t>
            </a:r>
            <a:endParaRPr lang="en-US" dirty="0"/>
          </a:p>
        </p:txBody>
      </p:sp>
      <p:sp>
        <p:nvSpPr>
          <p:cNvPr id="3" name="Content Placeholder 2"/>
          <p:cNvSpPr>
            <a:spLocks noGrp="1"/>
          </p:cNvSpPr>
          <p:nvPr>
            <p:ph idx="1"/>
          </p:nvPr>
        </p:nvSpPr>
        <p:spPr>
          <a:xfrm>
            <a:off x="838199" y="2066500"/>
            <a:ext cx="10515600" cy="4351338"/>
          </a:xfrm>
        </p:spPr>
        <p:txBody>
          <a:bodyPr/>
          <a:lstStyle/>
          <a:p>
            <a:pPr marL="0" lvl="0" indent="0" algn="ctr">
              <a:lnSpc>
                <a:spcPct val="110000"/>
              </a:lnSpc>
              <a:spcBef>
                <a:spcPts val="0"/>
              </a:spcBef>
              <a:buSzPts val="4000"/>
              <a:buNone/>
            </a:pPr>
            <a:r>
              <a:rPr lang="en-GB" sz="2800" dirty="0"/>
              <a:t>If recruitment is about casting your net in the right waters, then selection is about choosing the finest fish!</a:t>
            </a:r>
            <a:endParaRPr lang="en-US" dirty="0"/>
          </a:p>
        </p:txBody>
      </p:sp>
      <p:pic>
        <p:nvPicPr>
          <p:cNvPr id="4" name="Google Shape;115;p2" descr="This is a picture of David Beckham, the famous former footballer, holding a fish and fishing rod. He has been fishing and has caught a large fish and is smiling. "/>
          <p:cNvPicPr preferRelativeResize="0"/>
          <p:nvPr/>
        </p:nvPicPr>
        <p:blipFill rotWithShape="1">
          <a:blip r:embed="rId2">
            <a:alphaModFix/>
            <a:extLst>
              <a:ext uri="{BEBA8EAE-BF5A-486C-A8C5-ECC9F3942E4B}">
                <a14:imgProps xmlns:a14="http://schemas.microsoft.com/office/drawing/2010/main">
                  <a14:imgLayer r:embed="rId3">
                    <a14:imgEffect>
                      <a14:brightnessContrast bright="40000"/>
                    </a14:imgEffect>
                  </a14:imgLayer>
                </a14:imgProps>
              </a:ext>
            </a:extLst>
          </a:blip>
          <a:srcRect/>
          <a:stretch/>
        </p:blipFill>
        <p:spPr>
          <a:xfrm>
            <a:off x="3776662" y="3745790"/>
            <a:ext cx="4410075" cy="2672048"/>
          </a:xfrm>
          <a:prstGeom prst="rect">
            <a:avLst/>
          </a:prstGeom>
          <a:noFill/>
          <a:ln>
            <a:noFill/>
          </a:ln>
        </p:spPr>
      </p:pic>
    </p:spTree>
    <p:extLst>
      <p:ext uri="{BB962C8B-B14F-4D97-AF65-F5344CB8AC3E}">
        <p14:creationId xmlns:p14="http://schemas.microsoft.com/office/powerpoint/2010/main" val="192018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871C2-3C72-8EA1-9652-6565A3BFA0D1}"/>
              </a:ext>
            </a:extLst>
          </p:cNvPr>
          <p:cNvSpPr>
            <a:spLocks noGrp="1"/>
          </p:cNvSpPr>
          <p:nvPr>
            <p:ph type="title"/>
          </p:nvPr>
        </p:nvSpPr>
        <p:spPr/>
        <p:txBody>
          <a:bodyPr/>
          <a:lstStyle/>
          <a:p>
            <a:r>
              <a:rPr lang="en-US" dirty="0"/>
              <a:t>The Underpinning Principles of Selection</a:t>
            </a:r>
          </a:p>
        </p:txBody>
      </p:sp>
      <p:sp>
        <p:nvSpPr>
          <p:cNvPr id="3" name="Content Placeholder 2">
            <a:extLst>
              <a:ext uri="{FF2B5EF4-FFF2-40B4-BE49-F238E27FC236}">
                <a16:creationId xmlns:a16="http://schemas.microsoft.com/office/drawing/2014/main" id="{FF55BA45-86C6-2832-C17B-2BEA9677E8C3}"/>
              </a:ext>
            </a:extLst>
          </p:cNvPr>
          <p:cNvSpPr>
            <a:spLocks noGrp="1"/>
          </p:cNvSpPr>
          <p:nvPr>
            <p:ph idx="1"/>
          </p:nvPr>
        </p:nvSpPr>
        <p:spPr>
          <a:xfrm>
            <a:off x="431800" y="1863725"/>
            <a:ext cx="11569700" cy="4629150"/>
          </a:xfrm>
        </p:spPr>
        <p:txBody>
          <a:bodyPr>
            <a:normAutofit lnSpcReduction="10000"/>
          </a:bodyPr>
          <a:lstStyle/>
          <a:p>
            <a:pPr marL="514350" indent="-514350">
              <a:lnSpc>
                <a:spcPct val="150000"/>
              </a:lnSpc>
              <a:buFont typeface="+mj-lt"/>
              <a:buAutoNum type="arabicPeriod"/>
            </a:pPr>
            <a:r>
              <a:rPr lang="en-US" b="1" dirty="0"/>
              <a:t>Individual Differences </a:t>
            </a:r>
            <a:r>
              <a:rPr lang="en-US" dirty="0"/>
              <a:t>- People are different! – they have unique abilities, skills and knowledge which means certain people may be more suited to some jobs.</a:t>
            </a:r>
          </a:p>
          <a:p>
            <a:pPr marL="514350" indent="-514350">
              <a:lnSpc>
                <a:spcPct val="150000"/>
              </a:lnSpc>
              <a:buFont typeface="+mj-lt"/>
              <a:buAutoNum type="arabicPeriod"/>
            </a:pPr>
            <a:r>
              <a:rPr lang="en-US" b="1" dirty="0"/>
              <a:t>Behavioural Predictability </a:t>
            </a:r>
            <a:r>
              <a:rPr lang="en-US" dirty="0"/>
              <a:t>- Future behaviour can be predicted by past and current behaviour.</a:t>
            </a:r>
          </a:p>
          <a:p>
            <a:pPr marL="0" indent="0">
              <a:lnSpc>
                <a:spcPct val="150000"/>
              </a:lnSpc>
              <a:buNone/>
            </a:pPr>
            <a:r>
              <a:rPr lang="en-US" b="1" dirty="0"/>
              <a:t>Thinking point: </a:t>
            </a:r>
            <a:r>
              <a:rPr lang="en-US" dirty="0"/>
              <a:t>What do you think? Do you think some people are better suited to certain jobs? What about your behaviour – is it consistent?</a:t>
            </a:r>
          </a:p>
          <a:p>
            <a:endParaRPr lang="en-US" dirty="0"/>
          </a:p>
        </p:txBody>
      </p:sp>
    </p:spTree>
    <p:extLst>
      <p:ext uri="{BB962C8B-B14F-4D97-AF65-F5344CB8AC3E}">
        <p14:creationId xmlns:p14="http://schemas.microsoft.com/office/powerpoint/2010/main" val="4247481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F92F0-7BEC-9E84-9862-FF123BC43582}"/>
              </a:ext>
            </a:extLst>
          </p:cNvPr>
          <p:cNvSpPr>
            <a:spLocks noGrp="1"/>
          </p:cNvSpPr>
          <p:nvPr>
            <p:ph type="title"/>
          </p:nvPr>
        </p:nvSpPr>
        <p:spPr/>
        <p:txBody>
          <a:bodyPr/>
          <a:lstStyle/>
          <a:p>
            <a:r>
              <a:rPr lang="en-US" dirty="0"/>
              <a:t>Job Analysis &amp; Competencies</a:t>
            </a:r>
          </a:p>
        </p:txBody>
      </p:sp>
      <p:sp>
        <p:nvSpPr>
          <p:cNvPr id="3" name="Content Placeholder 2">
            <a:extLst>
              <a:ext uri="{FF2B5EF4-FFF2-40B4-BE49-F238E27FC236}">
                <a16:creationId xmlns:a16="http://schemas.microsoft.com/office/drawing/2014/main" id="{4852C493-F736-7A7A-CC05-473DA2657AD9}"/>
              </a:ext>
            </a:extLst>
          </p:cNvPr>
          <p:cNvSpPr>
            <a:spLocks noGrp="1"/>
          </p:cNvSpPr>
          <p:nvPr>
            <p:ph idx="1"/>
          </p:nvPr>
        </p:nvSpPr>
        <p:spPr>
          <a:xfrm>
            <a:off x="838200" y="1825625"/>
            <a:ext cx="10515600" cy="4667250"/>
          </a:xfrm>
        </p:spPr>
        <p:txBody>
          <a:bodyPr>
            <a:normAutofit fontScale="92500" lnSpcReduction="20000"/>
          </a:bodyPr>
          <a:lstStyle/>
          <a:p>
            <a:pPr>
              <a:lnSpc>
                <a:spcPct val="150000"/>
              </a:lnSpc>
            </a:pPr>
            <a:r>
              <a:rPr lang="en-US" dirty="0"/>
              <a:t>Job Analysis:</a:t>
            </a:r>
          </a:p>
          <a:p>
            <a:pPr lvl="1">
              <a:lnSpc>
                <a:spcPct val="150000"/>
              </a:lnSpc>
            </a:pPr>
            <a:r>
              <a:rPr lang="en-US" dirty="0"/>
              <a:t>Systematic process for identifying key tasks, responsibilities, and skills required for a role.</a:t>
            </a:r>
          </a:p>
          <a:p>
            <a:pPr lvl="1">
              <a:lnSpc>
                <a:spcPct val="150000"/>
              </a:lnSpc>
            </a:pPr>
            <a:r>
              <a:rPr lang="en-US" dirty="0"/>
              <a:t>Purpose: provides recruitment and selection criteria </a:t>
            </a:r>
          </a:p>
          <a:p>
            <a:pPr lvl="1">
              <a:lnSpc>
                <a:spcPct val="150000"/>
              </a:lnSpc>
            </a:pPr>
            <a:r>
              <a:rPr lang="en-US" dirty="0"/>
              <a:t>Methods of JA: interviews, observations, questionnaires.</a:t>
            </a:r>
          </a:p>
          <a:p>
            <a:pPr>
              <a:lnSpc>
                <a:spcPct val="150000"/>
              </a:lnSpc>
            </a:pPr>
            <a:r>
              <a:rPr lang="en-US" dirty="0"/>
              <a:t>Competencies</a:t>
            </a:r>
          </a:p>
          <a:p>
            <a:pPr lvl="1">
              <a:lnSpc>
                <a:spcPct val="150000"/>
              </a:lnSpc>
            </a:pPr>
            <a:r>
              <a:rPr lang="en-US" dirty="0"/>
              <a:t>Focuses on the behaviours and skills required to perform a role effectively.</a:t>
            </a:r>
          </a:p>
          <a:p>
            <a:pPr lvl="1">
              <a:lnSpc>
                <a:spcPct val="150000"/>
              </a:lnSpc>
            </a:pPr>
            <a:r>
              <a:rPr lang="en-US" dirty="0"/>
              <a:t>Competencies: Clustered skills, knowledge, and abilities linked to success in a role (e.g., communication skills, leadership ability).</a:t>
            </a:r>
          </a:p>
        </p:txBody>
      </p:sp>
    </p:spTree>
    <p:extLst>
      <p:ext uri="{BB962C8B-B14F-4D97-AF65-F5344CB8AC3E}">
        <p14:creationId xmlns:p14="http://schemas.microsoft.com/office/powerpoint/2010/main" val="4226740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45EF6-D8D2-5CA7-EDA7-59DE852A6542}"/>
              </a:ext>
            </a:extLst>
          </p:cNvPr>
          <p:cNvSpPr>
            <a:spLocks noGrp="1"/>
          </p:cNvSpPr>
          <p:nvPr>
            <p:ph type="title"/>
          </p:nvPr>
        </p:nvSpPr>
        <p:spPr/>
        <p:txBody>
          <a:bodyPr/>
          <a:lstStyle/>
          <a:p>
            <a:r>
              <a:rPr lang="en-US" dirty="0"/>
              <a:t>Criteria for Evaluation</a:t>
            </a:r>
          </a:p>
        </p:txBody>
      </p:sp>
      <p:sp>
        <p:nvSpPr>
          <p:cNvPr id="3" name="Content Placeholder 2">
            <a:extLst>
              <a:ext uri="{FF2B5EF4-FFF2-40B4-BE49-F238E27FC236}">
                <a16:creationId xmlns:a16="http://schemas.microsoft.com/office/drawing/2014/main" id="{4C6E4331-3179-B81C-F527-EAF872B0EFC8}"/>
              </a:ext>
            </a:extLst>
          </p:cNvPr>
          <p:cNvSpPr>
            <a:spLocks noGrp="1"/>
          </p:cNvSpPr>
          <p:nvPr>
            <p:ph idx="1"/>
          </p:nvPr>
        </p:nvSpPr>
        <p:spPr>
          <a:xfrm>
            <a:off x="558800" y="1825625"/>
            <a:ext cx="11290300" cy="4667250"/>
          </a:xfrm>
        </p:spPr>
        <p:txBody>
          <a:bodyPr>
            <a:normAutofit fontScale="85000" lnSpcReduction="20000"/>
          </a:bodyPr>
          <a:lstStyle/>
          <a:p>
            <a:r>
              <a:rPr lang="en-US" dirty="0"/>
              <a:t>Work Experience</a:t>
            </a:r>
          </a:p>
          <a:p>
            <a:r>
              <a:rPr lang="en-US" dirty="0"/>
              <a:t>Qualifications:</a:t>
            </a:r>
          </a:p>
          <a:p>
            <a:pPr lvl="1"/>
            <a:r>
              <a:rPr lang="en-US" dirty="0"/>
              <a:t>Education: degrees, certifications etc.</a:t>
            </a:r>
          </a:p>
          <a:p>
            <a:r>
              <a:rPr lang="en-US" dirty="0"/>
              <a:t>Skills:</a:t>
            </a:r>
          </a:p>
          <a:p>
            <a:pPr lvl="1"/>
            <a:r>
              <a:rPr lang="en-US" dirty="0"/>
              <a:t>Technical skills/job-specific abilities: coding, data analysis etc.</a:t>
            </a:r>
          </a:p>
          <a:p>
            <a:pPr lvl="1"/>
            <a:r>
              <a:rPr lang="en-US" dirty="0"/>
              <a:t>Soft skills: communication, teamwork, adaptability.</a:t>
            </a:r>
          </a:p>
          <a:p>
            <a:r>
              <a:rPr lang="en-US" dirty="0"/>
              <a:t>Competencies</a:t>
            </a:r>
          </a:p>
          <a:p>
            <a:pPr lvl="1"/>
            <a:r>
              <a:rPr lang="en-US" dirty="0"/>
              <a:t>Core competencies: problem-solving, leadership, decision-making.</a:t>
            </a:r>
          </a:p>
          <a:p>
            <a:pPr lvl="1"/>
            <a:r>
              <a:rPr lang="en-US" dirty="0"/>
              <a:t>Role-specific competencies: defined based on job analysis (e.g. customer service skills) </a:t>
            </a:r>
          </a:p>
          <a:p>
            <a:r>
              <a:rPr lang="en-US" dirty="0"/>
              <a:t>Cognitive abilities</a:t>
            </a:r>
          </a:p>
          <a:p>
            <a:pPr lvl="1"/>
            <a:r>
              <a:rPr lang="en-US" dirty="0"/>
              <a:t>Numerical ability, verbal reasoning etc. </a:t>
            </a:r>
          </a:p>
          <a:p>
            <a:r>
              <a:rPr lang="en-US" dirty="0"/>
              <a:t>Behaviours</a:t>
            </a:r>
          </a:p>
          <a:p>
            <a:pPr lvl="1"/>
            <a:r>
              <a:rPr lang="en-US" dirty="0"/>
              <a:t>Work ethic: personality, attitude, motivation, and initiative</a:t>
            </a:r>
          </a:p>
          <a:p>
            <a:pPr lvl="1"/>
            <a:r>
              <a:rPr lang="en-US" dirty="0"/>
              <a:t>Interpersonal behavior: collaboration, emotional intelligence.</a:t>
            </a:r>
          </a:p>
          <a:p>
            <a:endParaRPr lang="en-US" dirty="0"/>
          </a:p>
        </p:txBody>
      </p:sp>
      <p:pic>
        <p:nvPicPr>
          <p:cNvPr id="5122" name="Picture 2">
            <a:extLst>
              <a:ext uri="{FF2B5EF4-FFF2-40B4-BE49-F238E27FC236}">
                <a16:creationId xmlns:a16="http://schemas.microsoft.com/office/drawing/2014/main" id="{3E8EA79A-1733-2D04-616F-D27C392ED208}"/>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9100" y="623888"/>
            <a:ext cx="38100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925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900" y="352377"/>
            <a:ext cx="8610600" cy="1293028"/>
          </a:xfrm>
        </p:spPr>
        <p:txBody>
          <a:bodyPr>
            <a:normAutofit fontScale="90000"/>
          </a:bodyPr>
          <a:lstStyle/>
          <a:p>
            <a:pPr algn="l"/>
            <a:r>
              <a:rPr lang="en-US" dirty="0"/>
              <a:t>The Objectives of Selection Processes</a:t>
            </a:r>
          </a:p>
        </p:txBody>
      </p:sp>
      <p:sp>
        <p:nvSpPr>
          <p:cNvPr id="3" name="Content Placeholder 2"/>
          <p:cNvSpPr>
            <a:spLocks noGrp="1"/>
          </p:cNvSpPr>
          <p:nvPr>
            <p:ph idx="1"/>
          </p:nvPr>
        </p:nvSpPr>
        <p:spPr>
          <a:xfrm>
            <a:off x="298450" y="1503453"/>
            <a:ext cx="11595100" cy="4829175"/>
          </a:xfrm>
        </p:spPr>
        <p:txBody>
          <a:bodyPr>
            <a:noAutofit/>
          </a:bodyPr>
          <a:lstStyle/>
          <a:p>
            <a:pPr lvl="0">
              <a:lnSpc>
                <a:spcPct val="150000"/>
              </a:lnSpc>
              <a:spcBef>
                <a:spcPts val="0"/>
              </a:spcBef>
              <a:buSzPts val="2800"/>
            </a:pPr>
            <a:r>
              <a:rPr lang="en-GB" sz="1800" b="1" dirty="0"/>
              <a:t>Candidate Data</a:t>
            </a:r>
            <a:r>
              <a:rPr lang="en-GB" sz="1800" dirty="0"/>
              <a:t>: Collect detailed information on candidates’ qualifications, skills, and behavioural traits to support high-quality decision making.</a:t>
            </a:r>
          </a:p>
          <a:p>
            <a:pPr lvl="0">
              <a:lnSpc>
                <a:spcPct val="150000"/>
              </a:lnSpc>
              <a:spcBef>
                <a:spcPts val="0"/>
              </a:spcBef>
              <a:buSzPts val="2800"/>
            </a:pPr>
            <a:r>
              <a:rPr lang="en-GB" sz="1800" b="1" dirty="0"/>
              <a:t>Predict Future Performance</a:t>
            </a:r>
            <a:r>
              <a:rPr lang="en-GB" sz="1800" dirty="0"/>
              <a:t>: Use data to assess candidates’ potential effectiveness in specific roles, helping to foresee how they might contribute to the organisation's success.</a:t>
            </a:r>
          </a:p>
          <a:p>
            <a:pPr lvl="0">
              <a:lnSpc>
                <a:spcPct val="150000"/>
              </a:lnSpc>
              <a:spcBef>
                <a:spcPts val="0"/>
              </a:spcBef>
              <a:buSzPts val="2800"/>
            </a:pPr>
            <a:r>
              <a:rPr lang="en-GB" sz="1800" b="1" dirty="0"/>
              <a:t>Optimize Fit for Role/Organisation</a:t>
            </a:r>
            <a:r>
              <a:rPr lang="en-GB" sz="1800" dirty="0"/>
              <a:t>: Place selected candidates in roles that align with their strengths and the organisation's goals, ensuring a mutually beneficial employment arrangement.</a:t>
            </a:r>
          </a:p>
          <a:p>
            <a:pPr lvl="0">
              <a:lnSpc>
                <a:spcPct val="150000"/>
              </a:lnSpc>
              <a:spcBef>
                <a:spcPts val="0"/>
              </a:spcBef>
              <a:buSzPts val="2800"/>
            </a:pPr>
            <a:r>
              <a:rPr lang="en-GB" sz="1800" b="1" dirty="0"/>
              <a:t>Maximize Return on Investment (ROI): </a:t>
            </a:r>
            <a:r>
              <a:rPr lang="en-GB" sz="1800" dirty="0"/>
              <a:t>Ensure that the hiring process and resulting decisions justify the financial investments by enhancing organisational productivity and reducing turnover.</a:t>
            </a:r>
          </a:p>
          <a:p>
            <a:pPr lvl="0">
              <a:lnSpc>
                <a:spcPct val="150000"/>
              </a:lnSpc>
              <a:spcBef>
                <a:spcPts val="0"/>
              </a:spcBef>
              <a:buSzPts val="2800"/>
            </a:pPr>
            <a:r>
              <a:rPr lang="en-GB" sz="1800" b="1" dirty="0"/>
              <a:t>EDI</a:t>
            </a:r>
            <a:r>
              <a:rPr lang="en-GB" sz="1800" dirty="0"/>
              <a:t>: Select individuals not only based on their skills but also with a view to enhancing diversity, equity, and inclusion within the organisation, contributing to a broader range of perspectives and ideas.</a:t>
            </a:r>
          </a:p>
          <a:p>
            <a:pPr lvl="0">
              <a:lnSpc>
                <a:spcPct val="150000"/>
              </a:lnSpc>
              <a:spcBef>
                <a:spcPts val="0"/>
              </a:spcBef>
              <a:buSzPts val="2800"/>
            </a:pPr>
            <a:r>
              <a:rPr lang="en-GB" sz="1800" b="1" dirty="0"/>
              <a:t>Legal Compliance and Fairness</a:t>
            </a:r>
            <a:r>
              <a:rPr lang="en-GB" sz="1800" dirty="0"/>
              <a:t>: Follow best practices in selection to ensure legal compliance, creating a transparent process that is fair for all candidates.</a:t>
            </a:r>
            <a:endParaRPr lang="en-US" sz="1800" dirty="0"/>
          </a:p>
        </p:txBody>
      </p:sp>
    </p:spTree>
    <p:extLst>
      <p:ext uri="{BB962C8B-B14F-4D97-AF65-F5344CB8AC3E}">
        <p14:creationId xmlns:p14="http://schemas.microsoft.com/office/powerpoint/2010/main" val="944292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949" y="142072"/>
            <a:ext cx="11227231" cy="1293028"/>
          </a:xfrm>
        </p:spPr>
        <p:txBody>
          <a:bodyPr>
            <a:normAutofit/>
          </a:bodyPr>
          <a:lstStyle/>
          <a:p>
            <a:pPr algn="l"/>
            <a:r>
              <a:rPr lang="en-GB" sz="3600" dirty="0"/>
              <a:t>A Framework for Evaluating Selection Methods</a:t>
            </a:r>
            <a:endParaRPr lang="en-US" sz="3600" dirty="0"/>
          </a:p>
        </p:txBody>
      </p:sp>
      <p:sp>
        <p:nvSpPr>
          <p:cNvPr id="3" name="Content Placeholder 2"/>
          <p:cNvSpPr>
            <a:spLocks noGrp="1"/>
          </p:cNvSpPr>
          <p:nvPr>
            <p:ph idx="1"/>
          </p:nvPr>
        </p:nvSpPr>
        <p:spPr>
          <a:xfrm>
            <a:off x="464949" y="1435100"/>
            <a:ext cx="11422251" cy="5280828"/>
          </a:xfrm>
        </p:spPr>
        <p:txBody>
          <a:bodyPr>
            <a:normAutofit fontScale="92500" lnSpcReduction="10000"/>
          </a:bodyPr>
          <a:lstStyle/>
          <a:p>
            <a:pPr>
              <a:lnSpc>
                <a:spcPct val="120000"/>
              </a:lnSpc>
              <a:spcBef>
                <a:spcPts val="0"/>
              </a:spcBef>
              <a:buSzPts val="2000"/>
            </a:pPr>
            <a:r>
              <a:rPr lang="en-GB" sz="2400" b="1" dirty="0"/>
              <a:t>Reliability</a:t>
            </a:r>
            <a:r>
              <a:rPr lang="en-GB" sz="2400" dirty="0"/>
              <a:t> – Is the selection method consistent?</a:t>
            </a:r>
          </a:p>
          <a:p>
            <a:pPr>
              <a:lnSpc>
                <a:spcPct val="120000"/>
              </a:lnSpc>
              <a:spcBef>
                <a:spcPts val="0"/>
              </a:spcBef>
              <a:buSzPts val="2000"/>
            </a:pPr>
            <a:r>
              <a:rPr lang="en-GB" sz="2400" b="1" dirty="0"/>
              <a:t>Validity</a:t>
            </a:r>
            <a:r>
              <a:rPr lang="en-GB" sz="2400" dirty="0"/>
              <a:t> – Does the method measure what it is supposed to measure?</a:t>
            </a:r>
          </a:p>
          <a:p>
            <a:pPr>
              <a:lnSpc>
                <a:spcPct val="120000"/>
              </a:lnSpc>
              <a:spcBef>
                <a:spcPts val="0"/>
              </a:spcBef>
              <a:buSzPts val="2000"/>
            </a:pPr>
            <a:r>
              <a:rPr lang="en-GB" sz="2400" b="1" dirty="0"/>
              <a:t>Fairness</a:t>
            </a:r>
            <a:r>
              <a:rPr lang="en-GB" sz="2400" dirty="0"/>
              <a:t> – Is the method fair and does it promote diversity?</a:t>
            </a:r>
          </a:p>
          <a:p>
            <a:pPr>
              <a:lnSpc>
                <a:spcPct val="120000"/>
              </a:lnSpc>
              <a:spcBef>
                <a:spcPts val="0"/>
              </a:spcBef>
              <a:buSzPts val="2000"/>
            </a:pPr>
            <a:r>
              <a:rPr lang="en-GB" sz="2400" b="1" dirty="0"/>
              <a:t>Legality</a:t>
            </a:r>
            <a:r>
              <a:rPr lang="en-GB" sz="2400" dirty="0"/>
              <a:t> – Is the method legally defensible?</a:t>
            </a:r>
          </a:p>
          <a:p>
            <a:pPr>
              <a:lnSpc>
                <a:spcPct val="120000"/>
              </a:lnSpc>
              <a:spcBef>
                <a:spcPts val="0"/>
              </a:spcBef>
              <a:buSzPts val="2000"/>
            </a:pPr>
            <a:r>
              <a:rPr lang="en-GB" sz="2400" b="1" dirty="0"/>
              <a:t>Scalability</a:t>
            </a:r>
            <a:r>
              <a:rPr lang="en-GB" sz="2400" dirty="0"/>
              <a:t> – Can the method be scaled up or down?</a:t>
            </a:r>
          </a:p>
          <a:p>
            <a:pPr>
              <a:lnSpc>
                <a:spcPct val="120000"/>
              </a:lnSpc>
              <a:spcBef>
                <a:spcPts val="0"/>
              </a:spcBef>
              <a:buSzPts val="2000"/>
            </a:pPr>
            <a:r>
              <a:rPr lang="en-GB" sz="2400" b="1" dirty="0"/>
              <a:t>Efficiency</a:t>
            </a:r>
            <a:r>
              <a:rPr lang="en-GB" sz="2400" dirty="0"/>
              <a:t> – what are the costs/time involved in using the method?</a:t>
            </a:r>
          </a:p>
          <a:p>
            <a:pPr>
              <a:lnSpc>
                <a:spcPct val="120000"/>
              </a:lnSpc>
              <a:spcBef>
                <a:spcPts val="0"/>
              </a:spcBef>
              <a:buSzPts val="2000"/>
            </a:pPr>
            <a:r>
              <a:rPr lang="en-GB" sz="2400" b="1" dirty="0"/>
              <a:t>Utility</a:t>
            </a:r>
            <a:r>
              <a:rPr lang="en-GB" sz="2400" dirty="0"/>
              <a:t> – Cost/benefit ratio (e.g. if it is a temporary role then spending lots of money on a selection process may not be sensible!)</a:t>
            </a:r>
          </a:p>
          <a:p>
            <a:pPr>
              <a:lnSpc>
                <a:spcPct val="120000"/>
              </a:lnSpc>
              <a:spcBef>
                <a:spcPts val="0"/>
              </a:spcBef>
              <a:buSzPts val="2000"/>
            </a:pPr>
            <a:r>
              <a:rPr lang="en-GB" sz="2400" b="1" dirty="0"/>
              <a:t>Expertise required </a:t>
            </a:r>
            <a:r>
              <a:rPr lang="en-GB" sz="2400" dirty="0"/>
              <a:t>– Some selection method require specialised training (e.g. psychometric tests)</a:t>
            </a:r>
          </a:p>
          <a:p>
            <a:pPr>
              <a:lnSpc>
                <a:spcPct val="120000"/>
              </a:lnSpc>
              <a:spcBef>
                <a:spcPts val="0"/>
              </a:spcBef>
              <a:buSzPts val="2000"/>
            </a:pPr>
            <a:r>
              <a:rPr lang="en-GB" sz="2400" b="1" dirty="0"/>
              <a:t>Applicant perceptions </a:t>
            </a:r>
            <a:r>
              <a:rPr lang="en-GB" sz="2400" dirty="0"/>
              <a:t>– How do they react to the method?</a:t>
            </a:r>
          </a:p>
          <a:p>
            <a:pPr>
              <a:lnSpc>
                <a:spcPct val="120000"/>
              </a:lnSpc>
              <a:spcBef>
                <a:spcPts val="0"/>
              </a:spcBef>
              <a:buSzPts val="2000"/>
            </a:pPr>
            <a:r>
              <a:rPr lang="en-GB" sz="2400" b="1" dirty="0"/>
              <a:t>Training</a:t>
            </a:r>
            <a:r>
              <a:rPr lang="en-GB" sz="2400" dirty="0"/>
              <a:t> – The extent to which the people undertaking the selection process receive adequate training (e.g. interview training, EDI etc). </a:t>
            </a:r>
          </a:p>
          <a:p>
            <a:pPr marL="0" indent="0" algn="r">
              <a:lnSpc>
                <a:spcPct val="120000"/>
              </a:lnSpc>
              <a:spcBef>
                <a:spcPts val="0"/>
              </a:spcBef>
              <a:buSzPts val="2000"/>
              <a:buNone/>
            </a:pPr>
            <a:r>
              <a:rPr lang="en-GB" sz="2000" dirty="0"/>
              <a:t>(Arnold et al, 2020)</a:t>
            </a:r>
          </a:p>
          <a:p>
            <a:endParaRPr lang="en-US" dirty="0"/>
          </a:p>
        </p:txBody>
      </p:sp>
    </p:spTree>
    <p:extLst>
      <p:ext uri="{BB962C8B-B14F-4D97-AF65-F5344CB8AC3E}">
        <p14:creationId xmlns:p14="http://schemas.microsoft.com/office/powerpoint/2010/main" val="1858685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086" y="153395"/>
            <a:ext cx="8610600" cy="1293028"/>
          </a:xfrm>
        </p:spPr>
        <p:txBody>
          <a:bodyPr/>
          <a:lstStyle/>
          <a:p>
            <a:pPr algn="l"/>
            <a:r>
              <a:rPr lang="en-US" dirty="0"/>
              <a:t>Different selection methods</a:t>
            </a:r>
          </a:p>
        </p:txBody>
      </p:sp>
      <p:sp>
        <p:nvSpPr>
          <p:cNvPr id="3" name="Content Placeholder 2"/>
          <p:cNvSpPr>
            <a:spLocks noGrp="1"/>
          </p:cNvSpPr>
          <p:nvPr>
            <p:ph idx="1"/>
          </p:nvPr>
        </p:nvSpPr>
        <p:spPr>
          <a:xfrm>
            <a:off x="685800" y="1301242"/>
            <a:ext cx="10820400" cy="4785490"/>
          </a:xfrm>
        </p:spPr>
        <p:txBody>
          <a:bodyPr>
            <a:noAutofit/>
          </a:bodyPr>
          <a:lstStyle/>
          <a:p>
            <a:pPr>
              <a:lnSpc>
                <a:spcPct val="150000"/>
              </a:lnSpc>
            </a:pPr>
            <a:r>
              <a:rPr lang="en-US" sz="1800" dirty="0"/>
              <a:t>Interviews </a:t>
            </a:r>
          </a:p>
          <a:p>
            <a:pPr>
              <a:lnSpc>
                <a:spcPct val="150000"/>
              </a:lnSpc>
            </a:pPr>
            <a:r>
              <a:rPr lang="en-US" sz="1800" dirty="0"/>
              <a:t>Psychometric tests </a:t>
            </a:r>
          </a:p>
          <a:p>
            <a:pPr lvl="1">
              <a:lnSpc>
                <a:spcPct val="150000"/>
              </a:lnSpc>
            </a:pPr>
            <a:r>
              <a:rPr lang="en-US" sz="1800" dirty="0"/>
              <a:t>Cognitive ability</a:t>
            </a:r>
          </a:p>
          <a:p>
            <a:pPr lvl="1">
              <a:lnSpc>
                <a:spcPct val="150000"/>
              </a:lnSpc>
            </a:pPr>
            <a:r>
              <a:rPr lang="en-US" sz="1800" dirty="0"/>
              <a:t>Personality measures</a:t>
            </a:r>
          </a:p>
          <a:p>
            <a:pPr>
              <a:lnSpc>
                <a:spcPct val="150000"/>
              </a:lnSpc>
            </a:pPr>
            <a:r>
              <a:rPr lang="en-US" sz="1800" dirty="0"/>
              <a:t>Situational Judgement Tests</a:t>
            </a:r>
          </a:p>
          <a:p>
            <a:pPr>
              <a:lnSpc>
                <a:spcPct val="150000"/>
              </a:lnSpc>
            </a:pPr>
            <a:r>
              <a:rPr lang="en-US" sz="1800" dirty="0"/>
              <a:t>References	</a:t>
            </a:r>
          </a:p>
          <a:p>
            <a:pPr>
              <a:lnSpc>
                <a:spcPct val="150000"/>
              </a:lnSpc>
            </a:pPr>
            <a:r>
              <a:rPr lang="en-US" sz="1800" dirty="0"/>
              <a:t>Biodata</a:t>
            </a:r>
          </a:p>
          <a:p>
            <a:pPr>
              <a:lnSpc>
                <a:spcPct val="150000"/>
              </a:lnSpc>
            </a:pPr>
            <a:r>
              <a:rPr lang="en-US" sz="1800" dirty="0"/>
              <a:t>Work sample tests</a:t>
            </a:r>
          </a:p>
          <a:p>
            <a:pPr>
              <a:lnSpc>
                <a:spcPct val="150000"/>
              </a:lnSpc>
            </a:pPr>
            <a:r>
              <a:rPr lang="en-US" sz="1800" dirty="0"/>
              <a:t>Assessment centres</a:t>
            </a:r>
          </a:p>
          <a:p>
            <a:pPr>
              <a:lnSpc>
                <a:spcPct val="150000"/>
              </a:lnSpc>
            </a:pPr>
            <a:r>
              <a:rPr lang="en-US" sz="1800" dirty="0"/>
              <a:t>CV’s &amp; application forms</a:t>
            </a:r>
          </a:p>
        </p:txBody>
      </p:sp>
      <p:pic>
        <p:nvPicPr>
          <p:cNvPr id="4098" name="Picture 2" descr="This a picture of people lined up and a machine selecting one of the people. It is designed to emulate a selection process. ">
            <a:extLst>
              <a:ext uri="{FF2B5EF4-FFF2-40B4-BE49-F238E27FC236}">
                <a16:creationId xmlns:a16="http://schemas.microsoft.com/office/drawing/2014/main" id="{FA1F26D4-EE16-89F6-45B4-D0A1A99A35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7150" y="2761064"/>
            <a:ext cx="34925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75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07BFB-A98B-432B-A036-D9F46E38EB04}"/>
              </a:ext>
            </a:extLst>
          </p:cNvPr>
          <p:cNvSpPr>
            <a:spLocks noGrp="1"/>
          </p:cNvSpPr>
          <p:nvPr>
            <p:ph type="title"/>
          </p:nvPr>
        </p:nvSpPr>
        <p:spPr>
          <a:xfrm>
            <a:off x="362607" y="496615"/>
            <a:ext cx="7987862" cy="1048405"/>
          </a:xfrm>
        </p:spPr>
        <p:txBody>
          <a:bodyPr>
            <a:normAutofit/>
          </a:bodyPr>
          <a:lstStyle/>
          <a:p>
            <a:r>
              <a:rPr lang="en-GB" b="1" dirty="0">
                <a:solidFill>
                  <a:schemeClr val="tx1"/>
                </a:solidFill>
              </a:rPr>
              <a:t>The Selection Interview</a:t>
            </a:r>
          </a:p>
        </p:txBody>
      </p:sp>
      <p:sp>
        <p:nvSpPr>
          <p:cNvPr id="3" name="TextBox 2">
            <a:extLst>
              <a:ext uri="{FF2B5EF4-FFF2-40B4-BE49-F238E27FC236}">
                <a16:creationId xmlns:a16="http://schemas.microsoft.com/office/drawing/2014/main" id="{A991CB7A-5C0B-FE86-EFD6-89A250DC9310}"/>
              </a:ext>
            </a:extLst>
          </p:cNvPr>
          <p:cNvSpPr txBox="1"/>
          <p:nvPr/>
        </p:nvSpPr>
        <p:spPr>
          <a:xfrm>
            <a:off x="508000" y="1816100"/>
            <a:ext cx="10947400" cy="423577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600" dirty="0"/>
              <a:t>One of the commonly used selection methods</a:t>
            </a:r>
          </a:p>
          <a:p>
            <a:pPr marL="285750" indent="-285750">
              <a:lnSpc>
                <a:spcPct val="150000"/>
              </a:lnSpc>
              <a:buFont typeface="Arial" panose="020B0604020202020204" pitchFamily="34" charset="0"/>
              <a:buChar char="•"/>
            </a:pPr>
            <a:r>
              <a:rPr lang="en-US" sz="2600" dirty="0"/>
              <a:t>Often criticised for lacking subjectivity, being unreliable and vulnerable to bias</a:t>
            </a:r>
          </a:p>
          <a:p>
            <a:pPr marL="285750" indent="-285750">
              <a:lnSpc>
                <a:spcPct val="150000"/>
              </a:lnSpc>
              <a:buFont typeface="Arial" panose="020B0604020202020204" pitchFamily="34" charset="0"/>
              <a:buChar char="•"/>
            </a:pPr>
            <a:r>
              <a:rPr lang="en-US" sz="2600" dirty="0"/>
              <a:t>However, research indicates that interviews can designed in a way to maximise their effectiveness (for reviews see Dipboye, 2017; Levashina et al, 2014). </a:t>
            </a:r>
          </a:p>
          <a:p>
            <a:pPr marL="285750" indent="-285750">
              <a:lnSpc>
                <a:spcPct val="150000"/>
              </a:lnSpc>
              <a:buFont typeface="Arial" panose="020B0604020202020204" pitchFamily="34" charset="0"/>
              <a:buChar char="•"/>
            </a:pPr>
            <a:r>
              <a:rPr lang="en-US" sz="2600" dirty="0"/>
              <a:t> Structured, unstructured, virtual interviews, asynchronous interviews</a:t>
            </a:r>
          </a:p>
        </p:txBody>
      </p:sp>
    </p:spTree>
    <p:extLst>
      <p:ext uri="{BB962C8B-B14F-4D97-AF65-F5344CB8AC3E}">
        <p14:creationId xmlns:p14="http://schemas.microsoft.com/office/powerpoint/2010/main" val="2748950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46780"/>
            <a:ext cx="8610600" cy="1293028"/>
          </a:xfrm>
        </p:spPr>
        <p:txBody>
          <a:bodyPr>
            <a:normAutofit fontScale="90000"/>
          </a:bodyPr>
          <a:lstStyle/>
          <a:p>
            <a:pPr algn="l"/>
            <a:r>
              <a:rPr lang="en-US" dirty="0"/>
              <a:t>Unstructured Interviews – Pros &amp; Cons</a:t>
            </a:r>
          </a:p>
        </p:txBody>
      </p:sp>
      <p:sp>
        <p:nvSpPr>
          <p:cNvPr id="3" name="Content Placeholder 2"/>
          <p:cNvSpPr>
            <a:spLocks noGrp="1"/>
          </p:cNvSpPr>
          <p:nvPr>
            <p:ph idx="1"/>
          </p:nvPr>
        </p:nvSpPr>
        <p:spPr>
          <a:xfrm>
            <a:off x="457200" y="1825624"/>
            <a:ext cx="11493500" cy="4892675"/>
          </a:xfrm>
        </p:spPr>
        <p:txBody>
          <a:bodyPr>
            <a:normAutofit fontScale="92500" lnSpcReduction="20000"/>
          </a:bodyPr>
          <a:lstStyle/>
          <a:p>
            <a:r>
              <a:rPr lang="en-US" dirty="0"/>
              <a:t>A tool for building rapport and showcasing the organization.</a:t>
            </a:r>
          </a:p>
          <a:p>
            <a:r>
              <a:rPr lang="en-US" dirty="0"/>
              <a:t>Faster and less formal – minimal preparation and training needed.</a:t>
            </a:r>
          </a:p>
          <a:p>
            <a:pPr marL="0" indent="0">
              <a:buNone/>
            </a:pPr>
            <a:r>
              <a:rPr lang="en-US" dirty="0"/>
              <a:t>However……they can be prone to biases:</a:t>
            </a:r>
          </a:p>
          <a:p>
            <a:r>
              <a:rPr lang="en-US" b="1" dirty="0"/>
              <a:t>Primacy/recency effect </a:t>
            </a:r>
            <a:r>
              <a:rPr lang="en-US" dirty="0"/>
              <a:t>- early or late information in the interview can disproportionately influence the interviewer’s decision-making.</a:t>
            </a:r>
          </a:p>
          <a:p>
            <a:r>
              <a:rPr lang="en-US" b="1" dirty="0"/>
              <a:t>Information overload </a:t>
            </a:r>
            <a:r>
              <a:rPr lang="en-US" dirty="0"/>
              <a:t>- without a structured format, interviewers may become overwhelmed by excessive information.</a:t>
            </a:r>
          </a:p>
          <a:p>
            <a:r>
              <a:rPr lang="en-US" b="1" dirty="0"/>
              <a:t>Stereotyping</a:t>
            </a:r>
            <a:r>
              <a:rPr lang="en-US" dirty="0"/>
              <a:t> - interviewers may unconsciously apply stereotypes based on a candidate’s appearance or background.</a:t>
            </a:r>
          </a:p>
          <a:p>
            <a:r>
              <a:rPr lang="en-US" b="1" dirty="0"/>
              <a:t>Halo and horns effect </a:t>
            </a:r>
            <a:r>
              <a:rPr lang="en-US" dirty="0"/>
              <a:t>– certain info/traits can influence the interviewer’s perception of the entire candidate</a:t>
            </a:r>
          </a:p>
          <a:p>
            <a:r>
              <a:rPr lang="en-US" b="1" dirty="0"/>
              <a:t>In-group/out-group bias </a:t>
            </a:r>
            <a:r>
              <a:rPr lang="en-US" dirty="0"/>
              <a:t>- Interviewers may favor candidates who are similar to themselves.</a:t>
            </a:r>
          </a:p>
        </p:txBody>
      </p:sp>
    </p:spTree>
    <p:extLst>
      <p:ext uri="{BB962C8B-B14F-4D97-AF65-F5344CB8AC3E}">
        <p14:creationId xmlns:p14="http://schemas.microsoft.com/office/powerpoint/2010/main" val="932414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292063"/>
            <a:ext cx="8610600" cy="1293028"/>
          </a:xfrm>
        </p:spPr>
        <p:txBody>
          <a:bodyPr/>
          <a:lstStyle/>
          <a:p>
            <a:pPr algn="l"/>
            <a:r>
              <a:rPr lang="en-US" dirty="0"/>
              <a:t>Structured interviews</a:t>
            </a:r>
          </a:p>
        </p:txBody>
      </p:sp>
      <p:sp>
        <p:nvSpPr>
          <p:cNvPr id="3" name="Content Placeholder 2"/>
          <p:cNvSpPr>
            <a:spLocks noGrp="1"/>
          </p:cNvSpPr>
          <p:nvPr>
            <p:ph idx="1"/>
          </p:nvPr>
        </p:nvSpPr>
        <p:spPr>
          <a:xfrm>
            <a:off x="685800" y="1663700"/>
            <a:ext cx="10820400" cy="4637909"/>
          </a:xfrm>
        </p:spPr>
        <p:txBody>
          <a:bodyPr>
            <a:normAutofit/>
          </a:bodyPr>
          <a:lstStyle/>
          <a:p>
            <a:r>
              <a:rPr lang="en-US" sz="2000" dirty="0"/>
              <a:t>Behavioural (Competency-Based) Interviews</a:t>
            </a:r>
          </a:p>
          <a:p>
            <a:pPr lvl="1"/>
            <a:r>
              <a:rPr lang="en-US" sz="1800" dirty="0"/>
              <a:t>These focus on past experiences, asking candidates to provide specific examples demonstrating particular skills or behaviours.</a:t>
            </a:r>
          </a:p>
          <a:p>
            <a:pPr lvl="1"/>
            <a:r>
              <a:rPr lang="en-US" sz="1800" dirty="0"/>
              <a:t>Example: "Can you give us an example of a time when you used your communication skills to resolve a conflict?"</a:t>
            </a:r>
          </a:p>
          <a:p>
            <a:pPr lvl="1"/>
            <a:r>
              <a:rPr lang="en-US" sz="1800" dirty="0"/>
              <a:t>Principle: The Behavioural Consistency principle suggests that past behaviour is a reliable predictor of future performance.</a:t>
            </a:r>
          </a:p>
          <a:p>
            <a:r>
              <a:rPr lang="en-US" sz="2000" dirty="0"/>
              <a:t>Situational Interviews</a:t>
            </a:r>
          </a:p>
          <a:p>
            <a:pPr lvl="1"/>
            <a:r>
              <a:rPr lang="en-US" sz="1800" dirty="0"/>
              <a:t>These pose hypothetical scenarios, asking candidates how they would handle particular situations.</a:t>
            </a:r>
          </a:p>
          <a:p>
            <a:pPr lvl="1"/>
            <a:r>
              <a:rPr lang="en-US" sz="1800" dirty="0"/>
              <a:t>Example: "If you were faced with X challenge, how would you approach solving it?”</a:t>
            </a:r>
          </a:p>
          <a:p>
            <a:pPr lvl="1"/>
            <a:r>
              <a:rPr lang="en-US" sz="1800" dirty="0"/>
              <a:t>Principle: Based on the idea that people’s intentions predict future behaviour, situational interviews assess problem-solving and decision-making skills.</a:t>
            </a:r>
          </a:p>
          <a:p>
            <a:r>
              <a:rPr lang="en-US" sz="2000" dirty="0"/>
              <a:t>Responses are often rated using </a:t>
            </a:r>
            <a:r>
              <a:rPr lang="en-US" sz="2000" dirty="0" err="1"/>
              <a:t>Behaviourally</a:t>
            </a:r>
            <a:r>
              <a:rPr lang="en-US" sz="2000" dirty="0"/>
              <a:t> Anchored Rating Scales (BARS), which provide clear examples of what constitutes good, average, or poor performance in the context of the role.</a:t>
            </a:r>
          </a:p>
        </p:txBody>
      </p:sp>
    </p:spTree>
    <p:extLst>
      <p:ext uri="{BB962C8B-B14F-4D97-AF65-F5344CB8AC3E}">
        <p14:creationId xmlns:p14="http://schemas.microsoft.com/office/powerpoint/2010/main" val="13619550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A00CF-9B76-9434-78E8-5BEF9E846F5E}"/>
              </a:ext>
            </a:extLst>
          </p:cNvPr>
          <p:cNvSpPr>
            <a:spLocks noGrp="1"/>
          </p:cNvSpPr>
          <p:nvPr>
            <p:ph type="title"/>
          </p:nvPr>
        </p:nvSpPr>
        <p:spPr/>
        <p:txBody>
          <a:bodyPr/>
          <a:lstStyle/>
          <a:p>
            <a:r>
              <a:rPr lang="en-US" dirty="0"/>
              <a:t>Video Interviews</a:t>
            </a:r>
          </a:p>
        </p:txBody>
      </p:sp>
      <p:sp>
        <p:nvSpPr>
          <p:cNvPr id="3" name="Content Placeholder 2">
            <a:extLst>
              <a:ext uri="{FF2B5EF4-FFF2-40B4-BE49-F238E27FC236}">
                <a16:creationId xmlns:a16="http://schemas.microsoft.com/office/drawing/2014/main" id="{175DD892-D1C8-AC5A-9488-B70DE3BF5910}"/>
              </a:ext>
            </a:extLst>
          </p:cNvPr>
          <p:cNvSpPr>
            <a:spLocks noGrp="1"/>
          </p:cNvSpPr>
          <p:nvPr>
            <p:ph idx="1"/>
          </p:nvPr>
        </p:nvSpPr>
        <p:spPr>
          <a:xfrm>
            <a:off x="838200" y="1825625"/>
            <a:ext cx="10515600" cy="4667250"/>
          </a:xfrm>
        </p:spPr>
        <p:txBody>
          <a:bodyPr>
            <a:normAutofit fontScale="92500" lnSpcReduction="10000"/>
          </a:bodyPr>
          <a:lstStyle/>
          <a:p>
            <a:pPr>
              <a:lnSpc>
                <a:spcPct val="150000"/>
              </a:lnSpc>
            </a:pPr>
            <a:r>
              <a:rPr lang="en-US" dirty="0"/>
              <a:t>Cost effective – reduce travel costs and can be organized quicker (Langer et al, 2017)</a:t>
            </a:r>
          </a:p>
          <a:p>
            <a:pPr>
              <a:lnSpc>
                <a:spcPct val="150000"/>
              </a:lnSpc>
            </a:pPr>
            <a:r>
              <a:rPr lang="en-US" dirty="0"/>
              <a:t>Access to a larger talent pool </a:t>
            </a:r>
          </a:p>
          <a:p>
            <a:pPr>
              <a:lnSpc>
                <a:spcPct val="150000"/>
              </a:lnSpc>
            </a:pPr>
            <a:r>
              <a:rPr lang="en-US" dirty="0"/>
              <a:t>Limited non-verbal cues (Blacksmith et al, 2016)</a:t>
            </a:r>
          </a:p>
          <a:p>
            <a:pPr>
              <a:lnSpc>
                <a:spcPct val="150000"/>
              </a:lnSpc>
            </a:pPr>
            <a:r>
              <a:rPr lang="en-US" dirty="0"/>
              <a:t>Vulnerable to problems with technology (Langer et al, 2020)</a:t>
            </a:r>
          </a:p>
          <a:p>
            <a:pPr>
              <a:lnSpc>
                <a:spcPct val="150000"/>
              </a:lnSpc>
            </a:pPr>
            <a:r>
              <a:rPr lang="en-US" dirty="0"/>
              <a:t>Can be harder to build a rapport </a:t>
            </a:r>
          </a:p>
          <a:p>
            <a:pPr>
              <a:lnSpc>
                <a:spcPct val="150000"/>
              </a:lnSpc>
            </a:pPr>
            <a:r>
              <a:rPr lang="en-US" dirty="0"/>
              <a:t>Potentially disadvantage some candidates.</a:t>
            </a:r>
          </a:p>
        </p:txBody>
      </p:sp>
    </p:spTree>
    <p:extLst>
      <p:ext uri="{BB962C8B-B14F-4D97-AF65-F5344CB8AC3E}">
        <p14:creationId xmlns:p14="http://schemas.microsoft.com/office/powerpoint/2010/main" val="336362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EAB48-BF75-0DF6-6399-F6809F88332A}"/>
              </a:ext>
            </a:extLst>
          </p:cNvPr>
          <p:cNvSpPr>
            <a:spLocks noGrp="1"/>
          </p:cNvSpPr>
          <p:nvPr>
            <p:ph type="title"/>
          </p:nvPr>
        </p:nvSpPr>
        <p:spPr/>
        <p:txBody>
          <a:bodyPr/>
          <a:lstStyle/>
          <a:p>
            <a:r>
              <a:rPr lang="en-US" dirty="0"/>
              <a:t>Psychometric Testing</a:t>
            </a:r>
          </a:p>
        </p:txBody>
      </p:sp>
      <p:sp>
        <p:nvSpPr>
          <p:cNvPr id="3" name="Content Placeholder 2">
            <a:extLst>
              <a:ext uri="{FF2B5EF4-FFF2-40B4-BE49-F238E27FC236}">
                <a16:creationId xmlns:a16="http://schemas.microsoft.com/office/drawing/2014/main" id="{7523CFAB-45E2-3275-5FBA-E7612A58F278}"/>
              </a:ext>
            </a:extLst>
          </p:cNvPr>
          <p:cNvSpPr>
            <a:spLocks noGrp="1"/>
          </p:cNvSpPr>
          <p:nvPr>
            <p:ph idx="1"/>
          </p:nvPr>
        </p:nvSpPr>
        <p:spPr>
          <a:xfrm>
            <a:off x="279400" y="1549401"/>
            <a:ext cx="11633200" cy="5189538"/>
          </a:xfrm>
        </p:spPr>
        <p:txBody>
          <a:bodyPr>
            <a:normAutofit/>
          </a:bodyPr>
          <a:lstStyle/>
          <a:p>
            <a:pPr>
              <a:lnSpc>
                <a:spcPct val="150000"/>
              </a:lnSpc>
            </a:pPr>
            <a:r>
              <a:rPr lang="en-US" sz="1800" b="1" dirty="0"/>
              <a:t>Cognitive ability </a:t>
            </a:r>
            <a:r>
              <a:rPr lang="en-US" sz="1800" dirty="0"/>
              <a:t>– ‘G’, verbal ability, numerical ability, spatial ability</a:t>
            </a:r>
          </a:p>
          <a:p>
            <a:pPr>
              <a:lnSpc>
                <a:spcPct val="150000"/>
              </a:lnSpc>
            </a:pPr>
            <a:r>
              <a:rPr lang="en-US" sz="1800" b="1" dirty="0"/>
              <a:t>Personality measures </a:t>
            </a:r>
            <a:r>
              <a:rPr lang="en-US" sz="1800" dirty="0"/>
              <a:t>– The Big 5 (OCEAN), Myers-Briggs</a:t>
            </a:r>
          </a:p>
          <a:p>
            <a:pPr>
              <a:lnSpc>
                <a:spcPct val="150000"/>
              </a:lnSpc>
            </a:pPr>
            <a:r>
              <a:rPr lang="en-US" sz="1800" b="1" dirty="0"/>
              <a:t>Situational judgement tests </a:t>
            </a:r>
            <a:r>
              <a:rPr lang="en-US" sz="1800" dirty="0"/>
              <a:t>– evaluate how candidates respond to hypothetical job-related scenarios</a:t>
            </a:r>
          </a:p>
          <a:p>
            <a:pPr>
              <a:lnSpc>
                <a:spcPct val="150000"/>
              </a:lnSpc>
            </a:pPr>
            <a:r>
              <a:rPr lang="en-US" sz="1800" dirty="0"/>
              <a:t>Can be completed online or F2F</a:t>
            </a:r>
          </a:p>
          <a:p>
            <a:pPr>
              <a:lnSpc>
                <a:spcPct val="150000"/>
              </a:lnSpc>
            </a:pPr>
            <a:r>
              <a:rPr lang="en-US" sz="1800" dirty="0"/>
              <a:t>Experts often needed for interpretation (BPS Qualification in Test Use)</a:t>
            </a:r>
          </a:p>
          <a:p>
            <a:pPr>
              <a:lnSpc>
                <a:spcPct val="150000"/>
              </a:lnSpc>
            </a:pPr>
            <a:r>
              <a:rPr lang="en-US" sz="1800" dirty="0"/>
              <a:t>However, may favour some ethnicities over others (Berry et al, 2014; Dahlke &amp; Sackett, 2017; Haudorf &amp; Robie, 2018).</a:t>
            </a:r>
          </a:p>
          <a:p>
            <a:pPr>
              <a:lnSpc>
                <a:spcPct val="150000"/>
              </a:lnSpc>
            </a:pPr>
            <a:r>
              <a:rPr lang="en-US" sz="1800" dirty="0"/>
              <a:t>Candidates don’t always like them!</a:t>
            </a:r>
          </a:p>
          <a:p>
            <a:pPr>
              <a:lnSpc>
                <a:spcPct val="150000"/>
              </a:lnSpc>
            </a:pPr>
            <a:r>
              <a:rPr lang="en-US" sz="1800" dirty="0"/>
              <a:t>Can be cost effective or very expensive (some organisation design bespoke branded tests and unique game-based tests).</a:t>
            </a:r>
          </a:p>
        </p:txBody>
      </p:sp>
      <p:pic>
        <p:nvPicPr>
          <p:cNvPr id="3074" name="Picture 2">
            <a:extLst>
              <a:ext uri="{FF2B5EF4-FFF2-40B4-BE49-F238E27FC236}">
                <a16:creationId xmlns:a16="http://schemas.microsoft.com/office/drawing/2014/main" id="{FFE4F5BE-3C3B-2C9E-F6C1-3B19077F05EB}"/>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411" r="16765" b="3294"/>
          <a:stretch/>
        </p:blipFill>
        <p:spPr bwMode="auto">
          <a:xfrm>
            <a:off x="8940800" y="119062"/>
            <a:ext cx="2971800" cy="1817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7629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1B9D0-BAD7-1F69-7D09-97C5649276FB}"/>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C54F4A4-6C81-C2A4-36BB-95C9B2D06785}"/>
              </a:ext>
            </a:extLst>
          </p:cNvPr>
          <p:cNvSpPr>
            <a:spLocks noGrp="1"/>
          </p:cNvSpPr>
          <p:nvPr>
            <p:ph idx="1"/>
          </p:nvPr>
        </p:nvSpPr>
        <p:spPr/>
        <p:txBody>
          <a:bodyPr>
            <a:normAutofit fontScale="77500" lnSpcReduction="20000"/>
          </a:bodyPr>
          <a:lstStyle/>
          <a:p>
            <a:pPr>
              <a:lnSpc>
                <a:spcPct val="150000"/>
              </a:lnSpc>
            </a:pPr>
            <a:r>
              <a:rPr lang="en-US" dirty="0"/>
              <a:t>Widely used across the world – however, often the final stage of a selection process (e.g. rarely used as a solo method)</a:t>
            </a:r>
          </a:p>
          <a:p>
            <a:pPr>
              <a:lnSpc>
                <a:spcPct val="150000"/>
              </a:lnSpc>
            </a:pPr>
            <a:r>
              <a:rPr lang="en-US" dirty="0"/>
              <a:t>Poor validity </a:t>
            </a:r>
          </a:p>
          <a:p>
            <a:pPr>
              <a:lnSpc>
                <a:spcPct val="150000"/>
              </a:lnSpc>
            </a:pPr>
            <a:r>
              <a:rPr lang="en-US" dirty="0"/>
              <a:t>Legal issues mean that often organisations are wary of providing a ”bad” reference (e.g. minimum info is provided, such as length of service and job title/role).</a:t>
            </a:r>
          </a:p>
          <a:p>
            <a:pPr>
              <a:lnSpc>
                <a:spcPct val="150000"/>
              </a:lnSpc>
            </a:pPr>
            <a:r>
              <a:rPr lang="en-US" dirty="0"/>
              <a:t>LinkedIn profiles as an alternative type of reference, however, research suggests no more accurate than traditional references (Chamorro-Premuzic et al, 2016).</a:t>
            </a:r>
          </a:p>
          <a:p>
            <a:endParaRPr lang="en-US" dirty="0"/>
          </a:p>
          <a:p>
            <a:endParaRPr lang="en-US" dirty="0"/>
          </a:p>
          <a:p>
            <a:endParaRPr lang="en-US" dirty="0"/>
          </a:p>
        </p:txBody>
      </p:sp>
    </p:spTree>
    <p:extLst>
      <p:ext uri="{BB962C8B-B14F-4D97-AF65-F5344CB8AC3E}">
        <p14:creationId xmlns:p14="http://schemas.microsoft.com/office/powerpoint/2010/main" val="3827970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9E0A4-E6CB-E9A4-D530-03D635EAEFF9}"/>
              </a:ext>
            </a:extLst>
          </p:cNvPr>
          <p:cNvSpPr>
            <a:spLocks noGrp="1"/>
          </p:cNvSpPr>
          <p:nvPr>
            <p:ph type="title"/>
          </p:nvPr>
        </p:nvSpPr>
        <p:spPr/>
        <p:txBody>
          <a:bodyPr/>
          <a:lstStyle/>
          <a:p>
            <a:r>
              <a:rPr lang="en-US" dirty="0"/>
              <a:t>Assessment Centres</a:t>
            </a:r>
          </a:p>
        </p:txBody>
      </p:sp>
      <p:sp>
        <p:nvSpPr>
          <p:cNvPr id="3" name="Content Placeholder 2">
            <a:extLst>
              <a:ext uri="{FF2B5EF4-FFF2-40B4-BE49-F238E27FC236}">
                <a16:creationId xmlns:a16="http://schemas.microsoft.com/office/drawing/2014/main" id="{5893C006-04F9-3B8C-7D64-F49E095365C9}"/>
              </a:ext>
            </a:extLst>
          </p:cNvPr>
          <p:cNvSpPr>
            <a:spLocks noGrp="1"/>
          </p:cNvSpPr>
          <p:nvPr>
            <p:ph idx="1"/>
          </p:nvPr>
        </p:nvSpPr>
        <p:spPr>
          <a:xfrm>
            <a:off x="838200" y="1825625"/>
            <a:ext cx="10515600" cy="4667250"/>
          </a:xfrm>
        </p:spPr>
        <p:txBody>
          <a:bodyPr>
            <a:normAutofit/>
          </a:bodyPr>
          <a:lstStyle/>
          <a:p>
            <a:r>
              <a:rPr lang="en-US" dirty="0"/>
              <a:t>ACs typically last between 0.5-3 days</a:t>
            </a:r>
          </a:p>
          <a:p>
            <a:r>
              <a:rPr lang="en-US" dirty="0"/>
              <a:t>Usually face to face, however, online ACs are increasing.</a:t>
            </a:r>
          </a:p>
          <a:p>
            <a:r>
              <a:rPr lang="en-US" dirty="0"/>
              <a:t>Can include work sample exercises, group exercises, presentations, interviews and psychometric tests.</a:t>
            </a:r>
          </a:p>
          <a:p>
            <a:r>
              <a:rPr lang="en-US" dirty="0"/>
              <a:t>Candidates are observed by assessors and scored for different skills/competencies.</a:t>
            </a:r>
          </a:p>
          <a:p>
            <a:r>
              <a:rPr lang="en-US" dirty="0"/>
              <a:t>Properly designed assessment centres are valid predictors of job performance.</a:t>
            </a:r>
          </a:p>
          <a:p>
            <a:r>
              <a:rPr lang="en-US" dirty="0"/>
              <a:t>Can be time consuming and expensive to run.</a:t>
            </a:r>
          </a:p>
          <a:p>
            <a:endParaRPr lang="en-US" dirty="0"/>
          </a:p>
        </p:txBody>
      </p:sp>
    </p:spTree>
    <p:extLst>
      <p:ext uri="{BB962C8B-B14F-4D97-AF65-F5344CB8AC3E}">
        <p14:creationId xmlns:p14="http://schemas.microsoft.com/office/powerpoint/2010/main" val="33394760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9B876-76F2-D6FD-3C49-3F3A182DE56C}"/>
              </a:ext>
            </a:extLst>
          </p:cNvPr>
          <p:cNvSpPr>
            <a:spLocks noGrp="1"/>
          </p:cNvSpPr>
          <p:nvPr>
            <p:ph type="title"/>
          </p:nvPr>
        </p:nvSpPr>
        <p:spPr>
          <a:xfrm>
            <a:off x="254000" y="271461"/>
            <a:ext cx="10998200" cy="1325563"/>
          </a:xfrm>
        </p:spPr>
        <p:txBody>
          <a:bodyPr>
            <a:normAutofit/>
          </a:bodyPr>
          <a:lstStyle/>
          <a:p>
            <a:r>
              <a:rPr lang="en-US" sz="4000" dirty="0"/>
              <a:t>Evaluating selection methods (in Arnold et al, 2020)</a:t>
            </a:r>
          </a:p>
        </p:txBody>
      </p:sp>
      <p:graphicFrame>
        <p:nvGraphicFramePr>
          <p:cNvPr id="4" name="Content Placeholder 3">
            <a:extLst>
              <a:ext uri="{FF2B5EF4-FFF2-40B4-BE49-F238E27FC236}">
                <a16:creationId xmlns:a16="http://schemas.microsoft.com/office/drawing/2014/main" id="{82097FD4-5F3A-1789-3CBE-11F3E7A575DC}"/>
              </a:ext>
            </a:extLst>
          </p:cNvPr>
          <p:cNvGraphicFramePr>
            <a:graphicFrameLocks noGrp="1"/>
          </p:cNvGraphicFramePr>
          <p:nvPr>
            <p:ph idx="1"/>
            <p:extLst>
              <p:ext uri="{D42A27DB-BD31-4B8C-83A1-F6EECF244321}">
                <p14:modId xmlns:p14="http://schemas.microsoft.com/office/powerpoint/2010/main" val="3135781790"/>
              </p:ext>
            </p:extLst>
          </p:nvPr>
        </p:nvGraphicFramePr>
        <p:xfrm>
          <a:off x="254000" y="1508124"/>
          <a:ext cx="11480800" cy="4587875"/>
        </p:xfrm>
        <a:graphic>
          <a:graphicData uri="http://schemas.openxmlformats.org/drawingml/2006/table">
            <a:tbl>
              <a:tblPr firstRow="1" bandRow="1">
                <a:tableStyleId>{A61922B7-5B1D-4B4C-8D8B-0434D8701D13}</a:tableStyleId>
              </a:tblPr>
              <a:tblGrid>
                <a:gridCol w="3162300">
                  <a:extLst>
                    <a:ext uri="{9D8B030D-6E8A-4147-A177-3AD203B41FA5}">
                      <a16:colId xmlns:a16="http://schemas.microsoft.com/office/drawing/2014/main" val="2602273587"/>
                    </a:ext>
                  </a:extLst>
                </a:gridCol>
                <a:gridCol w="2070100">
                  <a:extLst>
                    <a:ext uri="{9D8B030D-6E8A-4147-A177-3AD203B41FA5}">
                      <a16:colId xmlns:a16="http://schemas.microsoft.com/office/drawing/2014/main" val="806106740"/>
                    </a:ext>
                  </a:extLst>
                </a:gridCol>
                <a:gridCol w="2019300">
                  <a:extLst>
                    <a:ext uri="{9D8B030D-6E8A-4147-A177-3AD203B41FA5}">
                      <a16:colId xmlns:a16="http://schemas.microsoft.com/office/drawing/2014/main" val="4272979967"/>
                    </a:ext>
                  </a:extLst>
                </a:gridCol>
                <a:gridCol w="2413000">
                  <a:extLst>
                    <a:ext uri="{9D8B030D-6E8A-4147-A177-3AD203B41FA5}">
                      <a16:colId xmlns:a16="http://schemas.microsoft.com/office/drawing/2014/main" val="3932412354"/>
                    </a:ext>
                  </a:extLst>
                </a:gridCol>
                <a:gridCol w="1816100">
                  <a:extLst>
                    <a:ext uri="{9D8B030D-6E8A-4147-A177-3AD203B41FA5}">
                      <a16:colId xmlns:a16="http://schemas.microsoft.com/office/drawing/2014/main" val="3344290197"/>
                    </a:ext>
                  </a:extLst>
                </a:gridCol>
              </a:tblGrid>
              <a:tr h="684698">
                <a:tc>
                  <a:txBody>
                    <a:bodyPr/>
                    <a:lstStyle/>
                    <a:p>
                      <a:pPr algn="ctr"/>
                      <a:r>
                        <a:rPr lang="en-US" b="1" dirty="0"/>
                        <a:t>Selection Method</a:t>
                      </a:r>
                    </a:p>
                  </a:txBody>
                  <a:tcPr>
                    <a:solidFill>
                      <a:schemeClr val="bg1">
                        <a:lumMod val="85000"/>
                      </a:schemeClr>
                    </a:solidFill>
                  </a:tcPr>
                </a:tc>
                <a:tc>
                  <a:txBody>
                    <a:bodyPr/>
                    <a:lstStyle/>
                    <a:p>
                      <a:pPr algn="ctr"/>
                      <a:r>
                        <a:rPr lang="en-US" b="1" dirty="0"/>
                        <a:t>Reliability</a:t>
                      </a:r>
                    </a:p>
                  </a:txBody>
                  <a:tcPr>
                    <a:solidFill>
                      <a:schemeClr val="bg1">
                        <a:lumMod val="85000"/>
                      </a:schemeClr>
                    </a:solidFill>
                  </a:tcPr>
                </a:tc>
                <a:tc>
                  <a:txBody>
                    <a:bodyPr/>
                    <a:lstStyle/>
                    <a:p>
                      <a:pPr algn="ctr"/>
                      <a:r>
                        <a:rPr lang="en-US" b="1" dirty="0"/>
                        <a:t>Validity </a:t>
                      </a:r>
                    </a:p>
                  </a:txBody>
                  <a:tcPr>
                    <a:solidFill>
                      <a:schemeClr val="bg1">
                        <a:lumMod val="85000"/>
                      </a:schemeClr>
                    </a:solidFill>
                  </a:tcPr>
                </a:tc>
                <a:tc>
                  <a:txBody>
                    <a:bodyPr/>
                    <a:lstStyle/>
                    <a:p>
                      <a:pPr algn="ctr"/>
                      <a:r>
                        <a:rPr lang="en-US" b="1" dirty="0"/>
                        <a:t>Applicant Reaction</a:t>
                      </a:r>
                    </a:p>
                  </a:txBody>
                  <a:tcPr>
                    <a:solidFill>
                      <a:schemeClr val="bg1">
                        <a:lumMod val="85000"/>
                      </a:schemeClr>
                    </a:solidFill>
                  </a:tcPr>
                </a:tc>
                <a:tc>
                  <a:txBody>
                    <a:bodyPr/>
                    <a:lstStyle/>
                    <a:p>
                      <a:pPr algn="ctr"/>
                      <a:r>
                        <a:rPr lang="en-US" b="1" dirty="0"/>
                        <a:t>Promotes Diversity</a:t>
                      </a:r>
                    </a:p>
                  </a:txBody>
                  <a:tcPr>
                    <a:solidFill>
                      <a:schemeClr val="bg1">
                        <a:lumMod val="85000"/>
                      </a:schemeClr>
                    </a:solidFill>
                  </a:tcPr>
                </a:tc>
                <a:extLst>
                  <a:ext uri="{0D108BD9-81ED-4DB2-BD59-A6C34878D82A}">
                    <a16:rowId xmlns:a16="http://schemas.microsoft.com/office/drawing/2014/main" val="441098475"/>
                  </a:ext>
                </a:extLst>
              </a:tr>
              <a:tr h="418309">
                <a:tc>
                  <a:txBody>
                    <a:bodyPr/>
                    <a:lstStyle/>
                    <a:p>
                      <a:r>
                        <a:rPr lang="en-US" sz="1600" dirty="0"/>
                        <a:t>Academic record</a:t>
                      </a:r>
                    </a:p>
                  </a:txBody>
                  <a:tcPr/>
                </a:tc>
                <a:tc>
                  <a:txBody>
                    <a:bodyPr/>
                    <a:lstStyle/>
                    <a:p>
                      <a:r>
                        <a:rPr lang="en-US" sz="1600" dirty="0"/>
                        <a:t>High</a:t>
                      </a:r>
                    </a:p>
                  </a:txBody>
                  <a:tcPr/>
                </a:tc>
                <a:tc>
                  <a:txBody>
                    <a:bodyPr/>
                    <a:lstStyle/>
                    <a:p>
                      <a:r>
                        <a:rPr lang="en-US" sz="1600" dirty="0"/>
                        <a:t>High</a:t>
                      </a:r>
                    </a:p>
                  </a:txBody>
                  <a:tcPr/>
                </a:tc>
                <a:tc>
                  <a:txBody>
                    <a:bodyPr/>
                    <a:lstStyle/>
                    <a:p>
                      <a:r>
                        <a:rPr lang="en-US" sz="1600" dirty="0"/>
                        <a:t>High</a:t>
                      </a:r>
                    </a:p>
                  </a:txBody>
                  <a:tcPr/>
                </a:tc>
                <a:tc>
                  <a:txBody>
                    <a:bodyPr/>
                    <a:lstStyle/>
                    <a:p>
                      <a:r>
                        <a:rPr lang="en-US" sz="1600" dirty="0"/>
                        <a:t>Low</a:t>
                      </a:r>
                    </a:p>
                  </a:txBody>
                  <a:tcPr/>
                </a:tc>
                <a:extLst>
                  <a:ext uri="{0D108BD9-81ED-4DB2-BD59-A6C34878D82A}">
                    <a16:rowId xmlns:a16="http://schemas.microsoft.com/office/drawing/2014/main" val="3818369598"/>
                  </a:ext>
                </a:extLst>
              </a:tr>
              <a:tr h="418309">
                <a:tc>
                  <a:txBody>
                    <a:bodyPr/>
                    <a:lstStyle/>
                    <a:p>
                      <a:r>
                        <a:rPr lang="en-US" sz="1600" dirty="0"/>
                        <a:t>Structured interviews</a:t>
                      </a:r>
                    </a:p>
                  </a:txBody>
                  <a:tcPr/>
                </a:tc>
                <a:tc>
                  <a:txBody>
                    <a:bodyPr/>
                    <a:lstStyle/>
                    <a:p>
                      <a:r>
                        <a:rPr lang="en-US" sz="1600" dirty="0"/>
                        <a:t>Moderate to high</a:t>
                      </a:r>
                    </a:p>
                  </a:txBody>
                  <a:tcPr/>
                </a:tc>
                <a:tc>
                  <a:txBody>
                    <a:bodyPr/>
                    <a:lstStyle/>
                    <a:p>
                      <a:r>
                        <a:rPr lang="en-US" sz="1600" dirty="0"/>
                        <a:t>Moderate to high</a:t>
                      </a:r>
                    </a:p>
                  </a:txBody>
                  <a:tcPr/>
                </a:tc>
                <a:tc>
                  <a:txBody>
                    <a:bodyPr/>
                    <a:lstStyle/>
                    <a:p>
                      <a:r>
                        <a:rPr lang="en-US" sz="1600" dirty="0"/>
                        <a:t>High</a:t>
                      </a:r>
                    </a:p>
                  </a:txBody>
                  <a:tcPr/>
                </a:tc>
                <a:tc>
                  <a:txBody>
                    <a:bodyPr/>
                    <a:lstStyle/>
                    <a:p>
                      <a:r>
                        <a:rPr lang="en-US" sz="1600" dirty="0"/>
                        <a:t>Moderate </a:t>
                      </a:r>
                    </a:p>
                  </a:txBody>
                  <a:tcPr/>
                </a:tc>
                <a:extLst>
                  <a:ext uri="{0D108BD9-81ED-4DB2-BD59-A6C34878D82A}">
                    <a16:rowId xmlns:a16="http://schemas.microsoft.com/office/drawing/2014/main" val="1631463728"/>
                  </a:ext>
                </a:extLst>
              </a:tr>
              <a:tr h="492703">
                <a:tc>
                  <a:txBody>
                    <a:bodyPr/>
                    <a:lstStyle/>
                    <a:p>
                      <a:r>
                        <a:rPr lang="en-US" sz="1600" dirty="0"/>
                        <a:t>Unstructured interviews</a:t>
                      </a:r>
                    </a:p>
                  </a:txBody>
                  <a:tcPr/>
                </a:tc>
                <a:tc>
                  <a:txBody>
                    <a:bodyPr/>
                    <a:lstStyle/>
                    <a:p>
                      <a:r>
                        <a:rPr lang="en-US" sz="1600" dirty="0"/>
                        <a:t>Low</a:t>
                      </a:r>
                    </a:p>
                  </a:txBody>
                  <a:tcPr/>
                </a:tc>
                <a:tc>
                  <a:txBody>
                    <a:bodyPr/>
                    <a:lstStyle/>
                    <a:p>
                      <a:r>
                        <a:rPr lang="en-US" sz="1600" dirty="0"/>
                        <a:t>Low</a:t>
                      </a:r>
                    </a:p>
                  </a:txBody>
                  <a:tcPr/>
                </a:tc>
                <a:tc>
                  <a:txBody>
                    <a:bodyPr/>
                    <a:lstStyle/>
                    <a:p>
                      <a:r>
                        <a:rPr lang="en-US" sz="1600" dirty="0"/>
                        <a:t>High</a:t>
                      </a:r>
                    </a:p>
                  </a:txBody>
                  <a:tcPr/>
                </a:tc>
                <a:tc>
                  <a:txBody>
                    <a:bodyPr/>
                    <a:lstStyle/>
                    <a:p>
                      <a:r>
                        <a:rPr lang="en-US" sz="1600" dirty="0"/>
                        <a:t>Low</a:t>
                      </a:r>
                    </a:p>
                  </a:txBody>
                  <a:tcPr/>
                </a:tc>
                <a:extLst>
                  <a:ext uri="{0D108BD9-81ED-4DB2-BD59-A6C34878D82A}">
                    <a16:rowId xmlns:a16="http://schemas.microsoft.com/office/drawing/2014/main" val="4261567268"/>
                  </a:ext>
                </a:extLst>
              </a:tr>
              <a:tr h="665679">
                <a:tc>
                  <a:txBody>
                    <a:bodyPr/>
                    <a:lstStyle/>
                    <a:p>
                      <a:r>
                        <a:rPr lang="en-US" sz="1600" dirty="0"/>
                        <a:t>Psychometrics: aptitude/cognitive ability</a:t>
                      </a:r>
                    </a:p>
                  </a:txBody>
                  <a:tcPr/>
                </a:tc>
                <a:tc>
                  <a:txBody>
                    <a:bodyPr/>
                    <a:lstStyle/>
                    <a:p>
                      <a:r>
                        <a:rPr lang="en-US" sz="1600" dirty="0"/>
                        <a:t>High</a:t>
                      </a:r>
                    </a:p>
                  </a:txBody>
                  <a:tcPr/>
                </a:tc>
                <a:tc>
                  <a:txBody>
                    <a:bodyPr/>
                    <a:lstStyle/>
                    <a:p>
                      <a:r>
                        <a:rPr lang="en-US" sz="1600" dirty="0"/>
                        <a:t>Various</a:t>
                      </a:r>
                    </a:p>
                  </a:txBody>
                  <a:tcPr/>
                </a:tc>
                <a:tc>
                  <a:txBody>
                    <a:bodyPr/>
                    <a:lstStyle/>
                    <a:p>
                      <a:r>
                        <a:rPr lang="en-US" sz="1600" dirty="0"/>
                        <a:t>Moderate</a:t>
                      </a:r>
                    </a:p>
                  </a:txBody>
                  <a:tcPr/>
                </a:tc>
                <a:tc>
                  <a:txBody>
                    <a:bodyPr/>
                    <a:lstStyle/>
                    <a:p>
                      <a:r>
                        <a:rPr lang="en-US" sz="1600" dirty="0"/>
                        <a:t>Moderate</a:t>
                      </a:r>
                    </a:p>
                  </a:txBody>
                  <a:tcPr/>
                </a:tc>
                <a:extLst>
                  <a:ext uri="{0D108BD9-81ED-4DB2-BD59-A6C34878D82A}">
                    <a16:rowId xmlns:a16="http://schemas.microsoft.com/office/drawing/2014/main" val="3901378982"/>
                  </a:ext>
                </a:extLst>
              </a:tr>
              <a:tr h="653250">
                <a:tc>
                  <a:txBody>
                    <a:bodyPr/>
                    <a:lstStyle/>
                    <a:p>
                      <a:r>
                        <a:rPr lang="en-US" sz="1600" dirty="0"/>
                        <a:t>Psychometrics: personality measures</a:t>
                      </a:r>
                    </a:p>
                  </a:txBody>
                  <a:tcPr/>
                </a:tc>
                <a:tc>
                  <a:txBody>
                    <a:bodyPr/>
                    <a:lstStyle/>
                    <a:p>
                      <a:r>
                        <a:rPr lang="en-US" sz="1600" dirty="0"/>
                        <a:t>High</a:t>
                      </a:r>
                    </a:p>
                  </a:txBody>
                  <a:tcPr/>
                </a:tc>
                <a:tc>
                  <a:txBody>
                    <a:bodyPr/>
                    <a:lstStyle/>
                    <a:p>
                      <a:r>
                        <a:rPr lang="en-US" sz="1600" dirty="0"/>
                        <a:t>Moderate</a:t>
                      </a:r>
                    </a:p>
                  </a:txBody>
                  <a:tcPr/>
                </a:tc>
                <a:tc>
                  <a:txBody>
                    <a:bodyPr/>
                    <a:lstStyle/>
                    <a:p>
                      <a:r>
                        <a:rPr lang="en-US" sz="1600" dirty="0"/>
                        <a:t>Low to moderate</a:t>
                      </a:r>
                    </a:p>
                  </a:txBody>
                  <a:tcPr/>
                </a:tc>
                <a:tc>
                  <a:txBody>
                    <a:bodyPr/>
                    <a:lstStyle/>
                    <a:p>
                      <a:r>
                        <a:rPr lang="en-US" sz="1600" dirty="0"/>
                        <a:t>N/A</a:t>
                      </a:r>
                    </a:p>
                  </a:txBody>
                  <a:tcPr/>
                </a:tc>
                <a:extLst>
                  <a:ext uri="{0D108BD9-81ED-4DB2-BD59-A6C34878D82A}">
                    <a16:rowId xmlns:a16="http://schemas.microsoft.com/office/drawing/2014/main" val="955398469"/>
                  </a:ext>
                </a:extLst>
              </a:tr>
              <a:tr h="418309">
                <a:tc>
                  <a:txBody>
                    <a:bodyPr/>
                    <a:lstStyle/>
                    <a:p>
                      <a:r>
                        <a:rPr lang="en-US" sz="1600" dirty="0"/>
                        <a:t>Situational</a:t>
                      </a:r>
                      <a:r>
                        <a:rPr lang="en-US" sz="1600" baseline="0" dirty="0"/>
                        <a:t> judgement tests</a:t>
                      </a:r>
                      <a:endParaRPr lang="en-US" sz="1600" dirty="0"/>
                    </a:p>
                  </a:txBody>
                  <a:tcPr/>
                </a:tc>
                <a:tc>
                  <a:txBody>
                    <a:bodyPr/>
                    <a:lstStyle/>
                    <a:p>
                      <a:r>
                        <a:rPr lang="en-US" sz="1600" dirty="0"/>
                        <a:t>High</a:t>
                      </a:r>
                    </a:p>
                  </a:txBody>
                  <a:tcPr/>
                </a:tc>
                <a:tc>
                  <a:txBody>
                    <a:bodyPr/>
                    <a:lstStyle/>
                    <a:p>
                      <a:r>
                        <a:rPr lang="en-US" sz="1600" dirty="0"/>
                        <a:t>High</a:t>
                      </a:r>
                    </a:p>
                  </a:txBody>
                  <a:tcPr/>
                </a:tc>
                <a:tc>
                  <a:txBody>
                    <a:bodyPr/>
                    <a:lstStyle/>
                    <a:p>
                      <a:r>
                        <a:rPr lang="en-US" sz="1600" dirty="0"/>
                        <a:t>Moderate to high</a:t>
                      </a:r>
                    </a:p>
                  </a:txBody>
                  <a:tcPr/>
                </a:tc>
                <a:tc>
                  <a:txBody>
                    <a:bodyPr/>
                    <a:lstStyle/>
                    <a:p>
                      <a:r>
                        <a:rPr lang="en-US" sz="1600" dirty="0"/>
                        <a:t>High</a:t>
                      </a:r>
                    </a:p>
                  </a:txBody>
                  <a:tcPr/>
                </a:tc>
                <a:extLst>
                  <a:ext uri="{0D108BD9-81ED-4DB2-BD59-A6C34878D82A}">
                    <a16:rowId xmlns:a16="http://schemas.microsoft.com/office/drawing/2014/main" val="3219624361"/>
                  </a:ext>
                </a:extLst>
              </a:tr>
              <a:tr h="418309">
                <a:tc>
                  <a:txBody>
                    <a:bodyPr/>
                    <a:lstStyle/>
                    <a:p>
                      <a:r>
                        <a:rPr lang="en-US" sz="1600" dirty="0"/>
                        <a:t>References</a:t>
                      </a:r>
                    </a:p>
                  </a:txBody>
                  <a:tcPr/>
                </a:tc>
                <a:tc>
                  <a:txBody>
                    <a:bodyPr/>
                    <a:lstStyle/>
                    <a:p>
                      <a:r>
                        <a:rPr lang="en-US" sz="1600" dirty="0"/>
                        <a:t>Low</a:t>
                      </a:r>
                    </a:p>
                  </a:txBody>
                  <a:tcPr/>
                </a:tc>
                <a:tc>
                  <a:txBody>
                    <a:bodyPr/>
                    <a:lstStyle/>
                    <a:p>
                      <a:r>
                        <a:rPr lang="en-US" sz="1600" dirty="0"/>
                        <a:t>Low</a:t>
                      </a:r>
                    </a:p>
                  </a:txBody>
                  <a:tcPr/>
                </a:tc>
                <a:tc>
                  <a:txBody>
                    <a:bodyPr/>
                    <a:lstStyle/>
                    <a:p>
                      <a:r>
                        <a:rPr lang="en-US" sz="1600" dirty="0"/>
                        <a:t>High</a:t>
                      </a:r>
                    </a:p>
                  </a:txBody>
                  <a:tcPr/>
                </a:tc>
                <a:tc>
                  <a:txBody>
                    <a:bodyPr/>
                    <a:lstStyle/>
                    <a:p>
                      <a:r>
                        <a:rPr lang="en-US" sz="1600" dirty="0"/>
                        <a:t>Low</a:t>
                      </a:r>
                    </a:p>
                  </a:txBody>
                  <a:tcPr/>
                </a:tc>
                <a:extLst>
                  <a:ext uri="{0D108BD9-81ED-4DB2-BD59-A6C34878D82A}">
                    <a16:rowId xmlns:a16="http://schemas.microsoft.com/office/drawing/2014/main" val="375127277"/>
                  </a:ext>
                </a:extLst>
              </a:tr>
              <a:tr h="418309">
                <a:tc>
                  <a:txBody>
                    <a:bodyPr/>
                    <a:lstStyle/>
                    <a:p>
                      <a:r>
                        <a:rPr lang="en-US" sz="1600" dirty="0"/>
                        <a:t>Personal statements</a:t>
                      </a:r>
                    </a:p>
                  </a:txBody>
                  <a:tcPr/>
                </a:tc>
                <a:tc>
                  <a:txBody>
                    <a:bodyPr/>
                    <a:lstStyle/>
                    <a:p>
                      <a:r>
                        <a:rPr lang="en-US" sz="1600" dirty="0"/>
                        <a:t>Low</a:t>
                      </a:r>
                    </a:p>
                  </a:txBody>
                  <a:tcPr/>
                </a:tc>
                <a:tc>
                  <a:txBody>
                    <a:bodyPr/>
                    <a:lstStyle/>
                    <a:p>
                      <a:r>
                        <a:rPr lang="en-US" sz="1600" dirty="0"/>
                        <a:t>Low</a:t>
                      </a:r>
                    </a:p>
                  </a:txBody>
                  <a:tcPr/>
                </a:tc>
                <a:tc>
                  <a:txBody>
                    <a:bodyPr/>
                    <a:lstStyle/>
                    <a:p>
                      <a:r>
                        <a:rPr lang="en-US" sz="1600" dirty="0"/>
                        <a:t>High</a:t>
                      </a:r>
                    </a:p>
                  </a:txBody>
                  <a:tcPr/>
                </a:tc>
                <a:tc>
                  <a:txBody>
                    <a:bodyPr/>
                    <a:lstStyle/>
                    <a:p>
                      <a:r>
                        <a:rPr lang="en-US" sz="1600" dirty="0"/>
                        <a:t>Low</a:t>
                      </a:r>
                    </a:p>
                  </a:txBody>
                  <a:tcPr/>
                </a:tc>
                <a:extLst>
                  <a:ext uri="{0D108BD9-81ED-4DB2-BD59-A6C34878D82A}">
                    <a16:rowId xmlns:a16="http://schemas.microsoft.com/office/drawing/2014/main" val="3032629643"/>
                  </a:ext>
                </a:extLst>
              </a:tr>
            </a:tbl>
          </a:graphicData>
        </a:graphic>
      </p:graphicFrame>
      <p:sp>
        <p:nvSpPr>
          <p:cNvPr id="5" name="TextBox 4">
            <a:extLst>
              <a:ext uri="{FF2B5EF4-FFF2-40B4-BE49-F238E27FC236}">
                <a16:creationId xmlns:a16="http://schemas.microsoft.com/office/drawing/2014/main" id="{FC33E32E-1117-7E53-7A47-539D0921EC6A}"/>
              </a:ext>
            </a:extLst>
          </p:cNvPr>
          <p:cNvSpPr txBox="1"/>
          <p:nvPr/>
        </p:nvSpPr>
        <p:spPr>
          <a:xfrm>
            <a:off x="8851900" y="6331507"/>
            <a:ext cx="2654300" cy="369332"/>
          </a:xfrm>
          <a:prstGeom prst="rect">
            <a:avLst/>
          </a:prstGeom>
          <a:noFill/>
        </p:spPr>
        <p:txBody>
          <a:bodyPr wrap="square" rtlCol="0">
            <a:spAutoFit/>
          </a:bodyPr>
          <a:lstStyle/>
          <a:p>
            <a:r>
              <a:rPr lang="en-US" dirty="0"/>
              <a:t>(Patterson et al, 2016)</a:t>
            </a:r>
          </a:p>
        </p:txBody>
      </p:sp>
    </p:spTree>
    <p:extLst>
      <p:ext uri="{BB962C8B-B14F-4D97-AF65-F5344CB8AC3E}">
        <p14:creationId xmlns:p14="http://schemas.microsoft.com/office/powerpoint/2010/main" val="30227791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8300" y="304802"/>
            <a:ext cx="8479138" cy="1293028"/>
          </a:xfrm>
        </p:spPr>
        <p:txBody>
          <a:bodyPr>
            <a:normAutofit/>
          </a:bodyPr>
          <a:lstStyle/>
          <a:p>
            <a:pPr algn="l"/>
            <a:r>
              <a:rPr lang="en-US" sz="3600" dirty="0"/>
              <a:t>Artificial Intelligence </a:t>
            </a:r>
            <a:r>
              <a:rPr lang="mr-IN" sz="3600" dirty="0"/>
              <a:t>–</a:t>
            </a:r>
            <a:r>
              <a:rPr lang="en-US" sz="3600" dirty="0"/>
              <a:t> A changing landscape</a:t>
            </a:r>
          </a:p>
        </p:txBody>
      </p:sp>
      <p:sp>
        <p:nvSpPr>
          <p:cNvPr id="3" name="Content Placeholder 2"/>
          <p:cNvSpPr>
            <a:spLocks noGrp="1"/>
          </p:cNvSpPr>
          <p:nvPr>
            <p:ph idx="1"/>
          </p:nvPr>
        </p:nvSpPr>
        <p:spPr>
          <a:xfrm>
            <a:off x="241300" y="1838323"/>
            <a:ext cx="11303000" cy="4714875"/>
          </a:xfrm>
        </p:spPr>
        <p:txBody>
          <a:bodyPr>
            <a:normAutofit fontScale="92500" lnSpcReduction="10000"/>
          </a:bodyPr>
          <a:lstStyle/>
          <a:p>
            <a:r>
              <a:rPr lang="en-US" dirty="0">
                <a:solidFill>
                  <a:schemeClr val="tx2"/>
                </a:solidFill>
                <a:hlinkClick r:id="rId2">
                  <a:extLst>
                    <a:ext uri="{A12FA001-AC4F-418D-AE19-62706E023703}">
                      <ahyp:hlinkClr xmlns:ahyp="http://schemas.microsoft.com/office/drawing/2018/hyperlinkcolor" val="tx"/>
                    </a:ext>
                  </a:extLst>
                </a:hlinkClick>
              </a:rPr>
              <a:t>https://uk.indeed.com/lead/what-ai-can-do-for-recruitment</a:t>
            </a:r>
            <a:endParaRPr lang="en-US" dirty="0">
              <a:solidFill>
                <a:schemeClr val="tx2"/>
              </a:solidFill>
            </a:endParaRPr>
          </a:p>
          <a:p>
            <a:r>
              <a:rPr lang="en-US" dirty="0"/>
              <a:t>AI is currently being used as a short-listing/filtering tool by employers </a:t>
            </a:r>
            <a:r>
              <a:rPr lang="mr-IN" dirty="0"/>
              <a:t>–</a:t>
            </a:r>
            <a:r>
              <a:rPr lang="en-US" dirty="0"/>
              <a:t> however AI cannot yet check for false/misleading information in applications.</a:t>
            </a:r>
          </a:p>
          <a:p>
            <a:r>
              <a:rPr lang="en-US" dirty="0"/>
              <a:t>Could AI be used to create job adverts from a job analysis/spec and to then design effective selection processes?</a:t>
            </a:r>
          </a:p>
          <a:p>
            <a:r>
              <a:rPr lang="en-US" dirty="0"/>
              <a:t>Can AI help reduce bias in the recruitment and selection – or is that an illusion?</a:t>
            </a:r>
          </a:p>
          <a:p>
            <a:pPr lvl="1"/>
            <a:r>
              <a:rPr lang="en-US" dirty="0"/>
              <a:t>Interesting readings (in the online reading list): Drage, E., &amp; Mackereth, K. (2022). Does AI Debias Recruitment? Race, Gender, and AI’s “Eradication of Difference”. </a:t>
            </a:r>
            <a:r>
              <a:rPr lang="en-US" i="1" dirty="0"/>
              <a:t>Philosophy &amp; technology</a:t>
            </a:r>
            <a:r>
              <a:rPr lang="en-US" dirty="0"/>
              <a:t>, </a:t>
            </a:r>
            <a:r>
              <a:rPr lang="en-US" i="1" dirty="0"/>
              <a:t>35</a:t>
            </a:r>
            <a:r>
              <a:rPr lang="en-US" dirty="0"/>
              <a:t>(4), 89.</a:t>
            </a:r>
          </a:p>
          <a:p>
            <a:pPr lvl="1"/>
            <a:r>
              <a:rPr lang="en-US" dirty="0"/>
              <a:t>Albert, E. T. (2019). AI in talent acquisition: a review of AI-applications used in recruitment and selection. </a:t>
            </a:r>
            <a:r>
              <a:rPr lang="en-US" i="1" dirty="0"/>
              <a:t>Strategic HR Review</a:t>
            </a:r>
            <a:r>
              <a:rPr lang="en-US" dirty="0"/>
              <a:t>, </a:t>
            </a:r>
            <a:r>
              <a:rPr lang="en-US" i="1" dirty="0"/>
              <a:t>18</a:t>
            </a:r>
            <a:r>
              <a:rPr lang="en-US" dirty="0"/>
              <a:t>(5), 215-221.</a:t>
            </a:r>
          </a:p>
          <a:p>
            <a:endParaRPr lang="en-US" dirty="0"/>
          </a:p>
        </p:txBody>
      </p:sp>
      <p:pic>
        <p:nvPicPr>
          <p:cNvPr id="7170" name="Picture 2">
            <a:extLst>
              <a:ext uri="{FF2B5EF4-FFF2-40B4-BE49-F238E27FC236}">
                <a16:creationId xmlns:a16="http://schemas.microsoft.com/office/drawing/2014/main" id="{B28232AC-DE21-E375-4F16-4CDC2CFC2805}"/>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0" y="104076"/>
            <a:ext cx="2546349" cy="1694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27317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732D55-C107-478B-96D4-69338D59C221}"/>
              </a:ext>
            </a:extLst>
          </p:cNvPr>
          <p:cNvSpPr>
            <a:spLocks noGrp="1"/>
          </p:cNvSpPr>
          <p:nvPr>
            <p:ph type="title"/>
          </p:nvPr>
        </p:nvSpPr>
        <p:spPr>
          <a:xfrm>
            <a:off x="466722" y="586855"/>
            <a:ext cx="3201366" cy="3387497"/>
          </a:xfrm>
        </p:spPr>
        <p:txBody>
          <a:bodyPr anchor="b">
            <a:normAutofit/>
          </a:bodyPr>
          <a:lstStyle/>
          <a:p>
            <a:pPr algn="r"/>
            <a:r>
              <a:rPr lang="en-GB" sz="4000" dirty="0">
                <a:solidFill>
                  <a:srgbClr val="FFFFFF"/>
                </a:solidFill>
              </a:rPr>
              <a:t>Lecture Summary</a:t>
            </a:r>
          </a:p>
        </p:txBody>
      </p:sp>
      <p:sp>
        <p:nvSpPr>
          <p:cNvPr id="3" name="Text Placeholder 2">
            <a:extLst>
              <a:ext uri="{FF2B5EF4-FFF2-40B4-BE49-F238E27FC236}">
                <a16:creationId xmlns:a16="http://schemas.microsoft.com/office/drawing/2014/main" id="{7324DCA5-3174-42EC-87DA-47009083C0FA}"/>
              </a:ext>
            </a:extLst>
          </p:cNvPr>
          <p:cNvSpPr>
            <a:spLocks noGrp="1"/>
          </p:cNvSpPr>
          <p:nvPr>
            <p:ph idx="1"/>
          </p:nvPr>
        </p:nvSpPr>
        <p:spPr>
          <a:xfrm>
            <a:off x="4367695" y="649480"/>
            <a:ext cx="7544905" cy="5865620"/>
          </a:xfrm>
        </p:spPr>
        <p:txBody>
          <a:bodyPr anchor="ctr">
            <a:normAutofit/>
          </a:bodyPr>
          <a:lstStyle/>
          <a:p>
            <a:r>
              <a:rPr lang="en-GB" sz="1900" dirty="0"/>
              <a:t>Recruitment and selection processes are crucial drivers of an organisation’s success, ensuring the right talent is brought on board.</a:t>
            </a:r>
          </a:p>
          <a:p>
            <a:r>
              <a:rPr lang="en-GB" sz="1900" dirty="0"/>
              <a:t>These practices are shaped by various external factors, including the economy, labour market conditions, and social trends, as well as internal factors like the organisation's size, industry, location, and HR strategy.</a:t>
            </a:r>
          </a:p>
          <a:p>
            <a:r>
              <a:rPr lang="en-GB" sz="1900" dirty="0"/>
              <a:t>It’s essential for organisations to establish clear criteria for jobs, focusing on qualifications, skills, and behaviours etc.</a:t>
            </a:r>
          </a:p>
          <a:p>
            <a:r>
              <a:rPr lang="en-GB" sz="1900" dirty="0"/>
              <a:t>A wide range of selection methods are available, each varying in popularity and effectiveness.</a:t>
            </a:r>
          </a:p>
          <a:p>
            <a:r>
              <a:rPr lang="en-GB" sz="1900" dirty="0"/>
              <a:t>There are various different ways in which selection methods can be evaluated, but at the very least they should be reliable, valid and fair. </a:t>
            </a:r>
          </a:p>
          <a:p>
            <a:r>
              <a:rPr lang="en-GB" sz="1900" dirty="0"/>
              <a:t>The past decade has seen significant growth in tech-driven recruitment processes, with AI poised to further transform the hiring landscape.</a:t>
            </a:r>
          </a:p>
        </p:txBody>
      </p:sp>
    </p:spTree>
    <p:extLst>
      <p:ext uri="{BB962C8B-B14F-4D97-AF65-F5344CB8AC3E}">
        <p14:creationId xmlns:p14="http://schemas.microsoft.com/office/powerpoint/2010/main" val="1182962788"/>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10022</TotalTime>
  <Words>3178</Words>
  <Application>Microsoft Office PowerPoint</Application>
  <PresentationFormat>Widescreen</PresentationFormat>
  <Paragraphs>293</Paragraphs>
  <Slides>35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Aptos Display</vt:lpstr>
      <vt:lpstr>Arial</vt:lpstr>
      <vt:lpstr>Calibri</vt:lpstr>
      <vt:lpstr>Times New Roman</vt:lpstr>
      <vt:lpstr>Office Theme</vt:lpstr>
      <vt:lpstr>MGT650 Managing People in Organisations Semester 1 2026-27  </vt:lpstr>
      <vt:lpstr>Learning Objectives</vt:lpstr>
      <vt:lpstr>Key reading</vt:lpstr>
      <vt:lpstr>Understanding Recruitment &amp; Selection</vt:lpstr>
      <vt:lpstr>Recruitment</vt:lpstr>
      <vt:lpstr>Key External Factors Affecting Recruitment</vt:lpstr>
      <vt:lpstr>Social Trends Shaping Recruitment Practices</vt:lpstr>
      <vt:lpstr>Legal Frameworks Influencing Recruitment Practices</vt:lpstr>
      <vt:lpstr>Organisational Factors Impacting Recruitment Strategies</vt:lpstr>
      <vt:lpstr>Pre-Recruitment Considerations for Employers</vt:lpstr>
      <vt:lpstr>PowerPoint Presentation</vt:lpstr>
      <vt:lpstr>Internal or External Labour Market</vt:lpstr>
      <vt:lpstr>Internal Labour Markets: Benefits &amp; Disadvantages</vt:lpstr>
      <vt:lpstr>The Benefits of Recruiting Externally</vt:lpstr>
      <vt:lpstr>Recruitment Sources</vt:lpstr>
      <vt:lpstr>What is research saying?</vt:lpstr>
      <vt:lpstr>CIPD – Resourcing &amp; Talent Planning Survey 2024 – ‘The Highlights’</vt:lpstr>
      <vt:lpstr>Let’s have a break……</vt:lpstr>
      <vt:lpstr>Selection Methods</vt:lpstr>
      <vt:lpstr>The Underpinning Principles of Selection</vt:lpstr>
      <vt:lpstr>Job Analysis &amp; Competencies</vt:lpstr>
      <vt:lpstr>Criteria for Evaluation</vt:lpstr>
      <vt:lpstr>The Objectives of Selection Processes</vt:lpstr>
      <vt:lpstr>A Framework for Evaluating Selection Methods</vt:lpstr>
      <vt:lpstr>Different selection methods</vt:lpstr>
      <vt:lpstr>The Selection Interview</vt:lpstr>
      <vt:lpstr>Unstructured Interviews – Pros &amp; Cons</vt:lpstr>
      <vt:lpstr>Structured interviews</vt:lpstr>
      <vt:lpstr>Video Interviews</vt:lpstr>
      <vt:lpstr>Psychometric Testing</vt:lpstr>
      <vt:lpstr>References</vt:lpstr>
      <vt:lpstr>Assessment Centres</vt:lpstr>
      <vt:lpstr>Evaluating selection methods (in Arnold et al, 2020)</vt:lpstr>
      <vt:lpstr>Artificial Intelligence – A changing landscape</vt:lpstr>
      <vt:lpstr>Lecture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Recruitment and Selection</dc:title>
  <dc:creator>Carole Elliott</dc:creator>
  <cp:lastModifiedBy>Edward Yates</cp:lastModifiedBy>
  <cp:revision>126</cp:revision>
  <dcterms:created xsi:type="dcterms:W3CDTF">2021-02-08T15:31:36Z</dcterms:created>
  <dcterms:modified xsi:type="dcterms:W3CDTF">2026-09-28T17:00:23Z</dcterms:modified>
</cp:coreProperties>
</file>