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196" r:id="rId1"/>
  </p:sldMasterIdLst>
  <p:notesMasterIdLst>
    <p:notesMasterId r:id="rId46"/>
  </p:notesMasterIdLst>
  <p:sldIdLst>
    <p:sldId id="338" r:id="rId2"/>
    <p:sldId id="314" r:id="rId3"/>
    <p:sldId id="316" r:id="rId4"/>
    <p:sldId id="354" r:id="rId5"/>
    <p:sldId id="355" r:id="rId6"/>
    <p:sldId id="396" r:id="rId7"/>
    <p:sldId id="356" r:id="rId8"/>
    <p:sldId id="357" r:id="rId9"/>
    <p:sldId id="363" r:id="rId10"/>
    <p:sldId id="368" r:id="rId11"/>
    <p:sldId id="387" r:id="rId12"/>
    <p:sldId id="395" r:id="rId13"/>
    <p:sldId id="369" r:id="rId14"/>
    <p:sldId id="370" r:id="rId15"/>
    <p:sldId id="371" r:id="rId16"/>
    <p:sldId id="364" r:id="rId17"/>
    <p:sldId id="397" r:id="rId18"/>
    <p:sldId id="393" r:id="rId19"/>
    <p:sldId id="256" r:id="rId20"/>
    <p:sldId id="257" r:id="rId21"/>
    <p:sldId id="359" r:id="rId22"/>
    <p:sldId id="383" r:id="rId23"/>
    <p:sldId id="384" r:id="rId24"/>
    <p:sldId id="365" r:id="rId25"/>
    <p:sldId id="360" r:id="rId26"/>
    <p:sldId id="361" r:id="rId27"/>
    <p:sldId id="373" r:id="rId28"/>
    <p:sldId id="374" r:id="rId29"/>
    <p:sldId id="375" r:id="rId30"/>
    <p:sldId id="376" r:id="rId31"/>
    <p:sldId id="377" r:id="rId32"/>
    <p:sldId id="378" r:id="rId33"/>
    <p:sldId id="379" r:id="rId34"/>
    <p:sldId id="390" r:id="rId35"/>
    <p:sldId id="391" r:id="rId36"/>
    <p:sldId id="392" r:id="rId37"/>
    <p:sldId id="394" r:id="rId38"/>
    <p:sldId id="381" r:id="rId39"/>
    <p:sldId id="382" r:id="rId40"/>
    <p:sldId id="367" r:id="rId41"/>
    <p:sldId id="388" r:id="rId42"/>
    <p:sldId id="389" r:id="rId43"/>
    <p:sldId id="311" r:id="rId44"/>
    <p:sldId id="337" r:id="rId45"/>
  </p:sldIdLst>
  <p:sldSz cx="12192000" cy="6858000"/>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1922B7-5B1D-4B4C-8D8B-0434D8701D13}">
  <a:tblStyle styleId="{A61922B7-5B1D-4B4C-8D8B-0434D8701D1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41F2A4-3312-473D-BDC1-C575FF68CF4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53"/>
    <p:restoredTop sz="93313"/>
  </p:normalViewPr>
  <p:slideViewPr>
    <p:cSldViewPr snapToGrid="0">
      <p:cViewPr varScale="1">
        <p:scale>
          <a:sx n="103" d="100"/>
          <a:sy n="103" d="100"/>
        </p:scale>
        <p:origin x="9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77059" cy="513630"/>
          </a:xfrm>
          <a:prstGeom prst="rect">
            <a:avLst/>
          </a:prstGeom>
          <a:noFill/>
          <a:ln>
            <a:noFill/>
          </a:ln>
        </p:spPr>
        <p:txBody>
          <a:bodyPr spcFirstLastPara="1" wrap="square" lIns="86825" tIns="43400" rIns="86825" bIns="43400"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020751" y="1"/>
            <a:ext cx="3077059" cy="513630"/>
          </a:xfrm>
          <a:prstGeom prst="rect">
            <a:avLst/>
          </a:prstGeom>
          <a:noFill/>
          <a:ln>
            <a:noFill/>
          </a:ln>
        </p:spPr>
        <p:txBody>
          <a:bodyPr spcFirstLastPara="1" wrap="square" lIns="86825" tIns="43400" rIns="86825" bIns="43400"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32" y="4925075"/>
            <a:ext cx="5680036" cy="4030021"/>
          </a:xfrm>
          <a:prstGeom prst="rect">
            <a:avLst/>
          </a:prstGeom>
          <a:noFill/>
          <a:ln>
            <a:noFill/>
          </a:ln>
        </p:spPr>
        <p:txBody>
          <a:bodyPr spcFirstLastPara="1" wrap="square" lIns="86825" tIns="43400" rIns="86825" bIns="434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0983"/>
            <a:ext cx="3077059" cy="513630"/>
          </a:xfrm>
          <a:prstGeom prst="rect">
            <a:avLst/>
          </a:prstGeom>
          <a:noFill/>
          <a:ln>
            <a:noFill/>
          </a:ln>
        </p:spPr>
        <p:txBody>
          <a:bodyPr spcFirstLastPara="1" wrap="square" lIns="86825" tIns="43400" rIns="86825" bIns="43400"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020751" y="9720983"/>
            <a:ext cx="3077059" cy="513630"/>
          </a:xfrm>
          <a:prstGeom prst="rect">
            <a:avLst/>
          </a:prstGeom>
          <a:noFill/>
          <a:ln>
            <a:noFill/>
          </a:ln>
        </p:spPr>
        <p:txBody>
          <a:bodyPr spcFirstLastPara="1" wrap="square" lIns="86825" tIns="43400" rIns="86825" bIns="43400" anchor="b" anchorCtr="0">
            <a:noAutofit/>
          </a:bodyPr>
          <a:lstStyle/>
          <a:p>
            <a:pPr marL="0" marR="0" lvl="0" indent="0" algn="r" rtl="0">
              <a:spcBef>
                <a:spcPts val="0"/>
              </a:spcBef>
              <a:spcAft>
                <a:spcPts val="0"/>
              </a:spcAft>
              <a:buNone/>
            </a:pPr>
            <a:fld id="{00000000-1234-1234-1234-123412341234}" type="slidenum">
              <a:rPr lang="en-GB" sz="1100" b="0" i="0" u="none" strike="noStrike" cap="none">
                <a:solidFill>
                  <a:schemeClr val="dk1"/>
                </a:solidFill>
                <a:latin typeface="Calibri"/>
                <a:ea typeface="Calibri"/>
                <a:cs typeface="Calibri"/>
                <a:sym typeface="Calibri"/>
              </a:rPr>
              <a:t>‹#›</a:t>
            </a:fld>
            <a:endParaRPr sz="11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Slide Image Placeholder 1">
            <a:extLst>
              <a:ext uri="{FF2B5EF4-FFF2-40B4-BE49-F238E27FC236}">
                <a16:creationId xmlns:a16="http://schemas.microsoft.com/office/drawing/2014/main" id="{924C1156-A18D-EDEF-1BA3-3FA6F8E4E4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8" name="Notes Placeholder 2">
            <a:extLst>
              <a:ext uri="{FF2B5EF4-FFF2-40B4-BE49-F238E27FC236}">
                <a16:creationId xmlns:a16="http://schemas.microsoft.com/office/drawing/2014/main" id="{61EEFE7D-3619-CF44-DC72-7DABAEF9D5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4099" name="Slide Number Placeholder 3">
            <a:extLst>
              <a:ext uri="{FF2B5EF4-FFF2-40B4-BE49-F238E27FC236}">
                <a16:creationId xmlns:a16="http://schemas.microsoft.com/office/drawing/2014/main" id="{08B07006-87B3-9592-30C7-B465BFA531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A92D447-32BA-FC4F-8CE8-38FE99979A33}" type="slidenum">
              <a:rPr lang="en-GB" altLang="en-US">
                <a:latin typeface="Arial" panose="020B0604020202020204" pitchFamily="34" charset="0"/>
              </a:rPr>
              <a:pPr>
                <a:spcBef>
                  <a:spcPct val="0"/>
                </a:spcBef>
              </a:pPr>
              <a:t>1</a:t>
            </a:fld>
            <a:endParaRPr lang="en-GB"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5360722"/>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uk-UA" smtClean="0"/>
              <a:t>‹#›</a:t>
            </a:fld>
            <a:endParaRPr lang="uk-UA" dirty="0"/>
          </a:p>
        </p:txBody>
      </p:sp>
    </p:spTree>
    <p:extLst>
      <p:ext uri="{BB962C8B-B14F-4D97-AF65-F5344CB8AC3E}">
        <p14:creationId xmlns:p14="http://schemas.microsoft.com/office/powerpoint/2010/main" val="1371277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29268896"/>
      </p:ext>
    </p:extLst>
  </p:cSld>
  <p:clrMapOvr>
    <a:masterClrMapping/>
  </p:clrMapOvr>
  <p:hf sldNum="0"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49287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68737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10/12/2026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56724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234710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823790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806717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269472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2563012"/>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69035461"/>
      </p:ext>
    </p:extLst>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maw6hmlNh4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ideo" Target="https://www.youtube.com/embed/N0nYhnYLR0g?feature=oembed" TargetMode="External"/><Relationship Id="rId4" Type="http://schemas.openxmlformats.org/officeDocument/2006/relationships/hyperlink" Target="https://www.bbc.co.uk/programmes/m002v2w6"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s://www.ons.gov.uk/employmentandlabourmarket/peopleinwork/earningsandworkinghours/bulletins/genderpaygapintheuk/2023#:~:text=In%202023%2C%20the%20gap%20among,seen%20in%202019%20(17.4%25)"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D70D3B-7D27-3029-031E-CA48B79E0EAB}"/>
              </a:ext>
            </a:extLst>
          </p:cNvPr>
          <p:cNvSpPr>
            <a:spLocks noGrp="1"/>
          </p:cNvSpPr>
          <p:nvPr>
            <p:ph type="title"/>
          </p:nvPr>
        </p:nvSpPr>
        <p:spPr>
          <a:xfrm>
            <a:off x="927268" y="4492110"/>
            <a:ext cx="4150581" cy="1585745"/>
          </a:xfrm>
        </p:spPr>
        <p:txBody>
          <a:bodyPr anchor="t">
            <a:normAutofit fontScale="90000"/>
          </a:bodyPr>
          <a:lstStyle/>
          <a:p>
            <a:pPr algn="r">
              <a:lnSpc>
                <a:spcPct val="100000"/>
              </a:lnSpc>
              <a:defRPr/>
            </a:pPr>
            <a:r>
              <a:rPr lang="en-GB" altLang="en-US" sz="2200" b="1" dirty="0"/>
              <a:t>MGT650</a:t>
            </a:r>
            <a:br>
              <a:rPr lang="en-GB" altLang="en-US" sz="2200" b="1" dirty="0"/>
            </a:br>
            <a:r>
              <a:rPr lang="en-GB" altLang="en-US" sz="2200" b="1" dirty="0"/>
              <a:t>Managing People in Organisations</a:t>
            </a:r>
            <a:br>
              <a:rPr lang="en-GB" altLang="en-US" sz="2200" b="1" dirty="0"/>
            </a:br>
            <a:r>
              <a:rPr lang="en-GB" altLang="en-US" sz="2200" b="1" dirty="0"/>
              <a:t>Semester 1 2026/2027</a:t>
            </a:r>
            <a:br>
              <a:rPr lang="en-GB" altLang="en-US" sz="2200" b="1" dirty="0"/>
            </a:br>
            <a:br>
              <a:rPr lang="en-GB" altLang="en-US" sz="2200" dirty="0"/>
            </a:br>
            <a:endParaRPr lang="en-GB" sz="2200" dirty="0"/>
          </a:p>
        </p:txBody>
      </p:sp>
      <p:pic>
        <p:nvPicPr>
          <p:cNvPr id="4" name="Picture 3" descr="The logo for Sheffield University Management School which is a shield and wording. ">
            <a:extLst>
              <a:ext uri="{FF2B5EF4-FFF2-40B4-BE49-F238E27FC236}">
                <a16:creationId xmlns:a16="http://schemas.microsoft.com/office/drawing/2014/main" id="{4335B2E9-D591-0790-4FAB-C92F3A489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666" y="358183"/>
            <a:ext cx="6539152" cy="1585745"/>
          </a:xfrm>
          <a:prstGeom prst="rect">
            <a:avLst/>
          </a:prstGeom>
        </p:spPr>
      </p:pic>
      <p:sp>
        <p:nvSpPr>
          <p:cNvPr id="3075" name="Content Placeholder 2">
            <a:extLst>
              <a:ext uri="{FF2B5EF4-FFF2-40B4-BE49-F238E27FC236}">
                <a16:creationId xmlns:a16="http://schemas.microsoft.com/office/drawing/2014/main" id="{FCA79E15-BAED-4C41-3DE5-392519107EFD}"/>
              </a:ext>
            </a:extLst>
          </p:cNvPr>
          <p:cNvSpPr>
            <a:spLocks noGrp="1"/>
          </p:cNvSpPr>
          <p:nvPr>
            <p:ph idx="1"/>
          </p:nvPr>
        </p:nvSpPr>
        <p:spPr>
          <a:xfrm>
            <a:off x="5246415" y="4517386"/>
            <a:ext cx="6235268" cy="1512871"/>
          </a:xfrm>
        </p:spPr>
        <p:txBody>
          <a:bodyPr anchor="t">
            <a:normAutofit/>
          </a:bodyPr>
          <a:lstStyle/>
          <a:p>
            <a:pPr marL="0" indent="0">
              <a:buNone/>
            </a:pPr>
            <a:r>
              <a:rPr lang="en-GB" altLang="en-US" sz="2000" dirty="0"/>
              <a:t>Dr Edward Yates</a:t>
            </a:r>
          </a:p>
          <a:p>
            <a:pPr marL="0" indent="0">
              <a:buNone/>
            </a:pPr>
            <a:r>
              <a:rPr lang="en-GB" altLang="en-US" sz="2000" dirty="0"/>
              <a:t>e.yates@sheffield.ac.uk</a:t>
            </a:r>
          </a:p>
          <a:p>
            <a:pPr marL="0" indent="0">
              <a:buNone/>
            </a:pPr>
            <a:r>
              <a:rPr lang="en-GB" altLang="en-US" sz="2000" dirty="0"/>
              <a:t>Sheffield University Management School</a:t>
            </a:r>
          </a:p>
          <a:p>
            <a:pPr marL="0" indent="0">
              <a:buNone/>
            </a:pPr>
            <a:endParaRPr lang="en-GB" altLang="en-US" sz="2000" dirty="0"/>
          </a:p>
          <a:p>
            <a:pPr marL="0" indent="0">
              <a:buNone/>
            </a:pPr>
            <a:endParaRPr lang="en-GB" altLang="en-US" sz="2000" dirty="0"/>
          </a:p>
        </p:txBody>
      </p:sp>
      <p:sp>
        <p:nvSpPr>
          <p:cNvPr id="3082" name="Rectangle 308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4" name="Rectangle 308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EE1AB04-E727-0EF1-EF88-0B4E2FA9704E}"/>
              </a:ext>
            </a:extLst>
          </p:cNvPr>
          <p:cNvSpPr txBox="1"/>
          <p:nvPr/>
        </p:nvSpPr>
        <p:spPr>
          <a:xfrm>
            <a:off x="2426469" y="2578394"/>
            <a:ext cx="7339060" cy="1938992"/>
          </a:xfrm>
          <a:prstGeom prst="rect">
            <a:avLst/>
          </a:prstGeom>
          <a:noFill/>
        </p:spPr>
        <p:txBody>
          <a:bodyPr wrap="square" rtlCol="0">
            <a:spAutoFit/>
          </a:bodyPr>
          <a:lstStyle/>
          <a:p>
            <a:pPr algn="ctr"/>
            <a:r>
              <a:rPr lang="en-US" sz="4000" b="1"/>
              <a:t>Lecture 3</a:t>
            </a:r>
            <a:endParaRPr lang="en-US" sz="4000" b="1" dirty="0"/>
          </a:p>
          <a:p>
            <a:pPr algn="ctr"/>
            <a:r>
              <a:rPr lang="en-US" sz="4000" b="1" dirty="0"/>
              <a:t>Equality, Diversity &amp; Inclusion (ED&amp;I)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Learning Objectives</a:t>
            </a:r>
            <a:endParaRPr lang="en-US" sz="4000" dirty="0">
              <a:solidFill>
                <a:srgbClr val="FFFFFF"/>
              </a:solidFill>
            </a:endParaRPr>
          </a:p>
        </p:txBody>
      </p:sp>
      <p:sp>
        <p:nvSpPr>
          <p:cNvPr id="3" name="Content Placeholder 2"/>
          <p:cNvSpPr>
            <a:spLocks noGrp="1"/>
          </p:cNvSpPr>
          <p:nvPr>
            <p:ph idx="1"/>
          </p:nvPr>
        </p:nvSpPr>
        <p:spPr>
          <a:xfrm>
            <a:off x="4504549" y="397565"/>
            <a:ext cx="7356148" cy="6087455"/>
          </a:xfrm>
        </p:spPr>
        <p:txBody>
          <a:bodyPr anchor="ctr">
            <a:normAutofit fontScale="77500" lnSpcReduction="20000"/>
          </a:bodyPr>
          <a:lstStyle/>
          <a:p>
            <a:pPr marL="571500" indent="-457200">
              <a:lnSpc>
                <a:spcPct val="120000"/>
              </a:lnSpc>
            </a:pPr>
            <a:r>
              <a:rPr lang="en-GB" dirty="0"/>
              <a:t>Be able to understand the concepts and principles of EDI in the workplace</a:t>
            </a:r>
          </a:p>
          <a:p>
            <a:pPr marL="571500" indent="-457200">
              <a:lnSpc>
                <a:spcPct val="120000"/>
              </a:lnSpc>
            </a:pPr>
            <a:r>
              <a:rPr lang="en-GB" dirty="0"/>
              <a:t>Show knowledge of key EDI legislation and relevant terms</a:t>
            </a:r>
          </a:p>
          <a:p>
            <a:pPr marL="571500" indent="-457200">
              <a:lnSpc>
                <a:spcPct val="120000"/>
              </a:lnSpc>
            </a:pPr>
            <a:r>
              <a:rPr lang="en-GB" dirty="0"/>
              <a:t>Have awareness of discrimination in the workplace </a:t>
            </a:r>
          </a:p>
          <a:p>
            <a:pPr marL="571500" indent="-457200">
              <a:lnSpc>
                <a:spcPct val="120000"/>
              </a:lnSpc>
            </a:pPr>
            <a:r>
              <a:rPr lang="en-GB" dirty="0"/>
              <a:t>Understand relevant theories and concepts of why discrimination in the workplace occurs</a:t>
            </a:r>
          </a:p>
          <a:p>
            <a:pPr marL="571500" indent="-457200">
              <a:lnSpc>
                <a:spcPct val="120000"/>
              </a:lnSpc>
            </a:pPr>
            <a:r>
              <a:rPr lang="en-GB" dirty="0"/>
              <a:t>Understand the concept of managing diversity, including the different rationale doing so</a:t>
            </a:r>
          </a:p>
          <a:p>
            <a:pPr marL="571500" indent="-457200">
              <a:lnSpc>
                <a:spcPct val="120000"/>
              </a:lnSpc>
            </a:pPr>
            <a:r>
              <a:rPr lang="en-GB" dirty="0"/>
              <a:t>Be able to conceptualise the principles of diversity management </a:t>
            </a:r>
          </a:p>
          <a:p>
            <a:pPr marL="571500" indent="-457200">
              <a:lnSpc>
                <a:spcPct val="120000"/>
              </a:lnSpc>
            </a:pPr>
            <a:r>
              <a:rPr lang="en-GB" dirty="0"/>
              <a:t>Show knowledge of the different diversity initiatives that organisations commonly utilise and critique these initiatives. </a:t>
            </a:r>
          </a:p>
        </p:txBody>
      </p:sp>
    </p:spTree>
    <p:extLst>
      <p:ext uri="{BB962C8B-B14F-4D97-AF65-F5344CB8AC3E}">
        <p14:creationId xmlns:p14="http://schemas.microsoft.com/office/powerpoint/2010/main" val="598580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471" y="298088"/>
            <a:ext cx="8610600" cy="1293028"/>
          </a:xfrm>
        </p:spPr>
        <p:txBody>
          <a:bodyPr/>
          <a:lstStyle/>
          <a:p>
            <a:pPr algn="l"/>
            <a:r>
              <a:rPr lang="en-US" dirty="0"/>
              <a:t>Key reading</a:t>
            </a:r>
          </a:p>
        </p:txBody>
      </p:sp>
      <p:sp>
        <p:nvSpPr>
          <p:cNvPr id="3" name="Content Placeholder 2"/>
          <p:cNvSpPr>
            <a:spLocks noGrp="1"/>
          </p:cNvSpPr>
          <p:nvPr>
            <p:ph idx="1"/>
          </p:nvPr>
        </p:nvSpPr>
        <p:spPr>
          <a:xfrm>
            <a:off x="263471" y="1782305"/>
            <a:ext cx="11515241" cy="4912963"/>
          </a:xfrm>
        </p:spPr>
        <p:txBody>
          <a:bodyPr>
            <a:normAutofit fontScale="85000" lnSpcReduction="10000"/>
          </a:bodyPr>
          <a:lstStyle/>
          <a:p>
            <a:pPr algn="just">
              <a:lnSpc>
                <a:spcPct val="170000"/>
              </a:lnSpc>
            </a:pPr>
            <a:r>
              <a:rPr lang="en-US" sz="2500" dirty="0"/>
              <a:t>Chapter 12 (Managing Diversity) in </a:t>
            </a:r>
            <a:r>
              <a:rPr lang="en-GB" sz="2500" dirty="0"/>
              <a:t>Wilkinson, A., Dundon, T., &amp; Yates, E. (2025). Contemporary human resource management: Text and cases (7th ed.). SAGE.</a:t>
            </a:r>
            <a:endParaRPr lang="en-US" sz="2500" dirty="0"/>
          </a:p>
          <a:p>
            <a:pPr algn="just">
              <a:lnSpc>
                <a:spcPct val="170000"/>
              </a:lnSpc>
            </a:pPr>
            <a:r>
              <a:rPr lang="en-US" sz="2500" dirty="0"/>
              <a:t>This is your core text for this module and is available as an e-book and with hard copies in the library/IC. </a:t>
            </a:r>
          </a:p>
          <a:p>
            <a:pPr>
              <a:lnSpc>
                <a:spcPct val="150000"/>
              </a:lnSpc>
            </a:pPr>
            <a:r>
              <a:rPr lang="en-US" sz="2500" dirty="0"/>
              <a:t>You can also use the 6th edition (2021) and there are hard copies of this version in the library or the 4th edition, which has hard copies in the library and is an e-book on Starplus</a:t>
            </a:r>
          </a:p>
          <a:p>
            <a:pPr>
              <a:lnSpc>
                <a:spcPct val="150000"/>
              </a:lnSpc>
            </a:pPr>
            <a:endParaRPr lang="en-US" sz="2500" dirty="0"/>
          </a:p>
          <a:p>
            <a:pPr>
              <a:lnSpc>
                <a:spcPct val="150000"/>
              </a:lnSpc>
            </a:pPr>
            <a:endParaRPr lang="en-US" sz="2500" dirty="0"/>
          </a:p>
          <a:p>
            <a:pPr marL="0" indent="0">
              <a:buNone/>
            </a:pPr>
            <a:r>
              <a:rPr lang="en-US" dirty="0"/>
              <a:t>	</a:t>
            </a:r>
          </a:p>
        </p:txBody>
      </p:sp>
    </p:spTree>
    <p:extLst>
      <p:ext uri="{BB962C8B-B14F-4D97-AF65-F5344CB8AC3E}">
        <p14:creationId xmlns:p14="http://schemas.microsoft.com/office/powerpoint/2010/main" val="483707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3" y="412020"/>
            <a:ext cx="11408229" cy="1293028"/>
          </a:xfrm>
        </p:spPr>
        <p:txBody>
          <a:bodyPr>
            <a:normAutofit/>
          </a:bodyPr>
          <a:lstStyle/>
          <a:p>
            <a:pPr algn="l"/>
            <a:r>
              <a:rPr lang="en-US" sz="3600" b="1" dirty="0"/>
              <a:t>Understanding Equality, Diversity &amp; Inclusion at Work</a:t>
            </a:r>
          </a:p>
        </p:txBody>
      </p:sp>
      <p:sp>
        <p:nvSpPr>
          <p:cNvPr id="3" name="Content Placeholder 2"/>
          <p:cNvSpPr>
            <a:spLocks noGrp="1"/>
          </p:cNvSpPr>
          <p:nvPr>
            <p:ph idx="1"/>
          </p:nvPr>
        </p:nvSpPr>
        <p:spPr>
          <a:xfrm>
            <a:off x="304800" y="1861458"/>
            <a:ext cx="11625942" cy="4898571"/>
          </a:xfrm>
        </p:spPr>
        <p:txBody>
          <a:bodyPr>
            <a:noAutofit/>
          </a:bodyPr>
          <a:lstStyle/>
          <a:p>
            <a:pPr>
              <a:lnSpc>
                <a:spcPct val="110000"/>
              </a:lnSpc>
            </a:pPr>
            <a:r>
              <a:rPr lang="en-US" sz="2100" dirty="0"/>
              <a:t>Equality</a:t>
            </a:r>
          </a:p>
          <a:p>
            <a:pPr lvl="1">
              <a:lnSpc>
                <a:spcPct val="110000"/>
              </a:lnSpc>
            </a:pPr>
            <a:r>
              <a:rPr lang="en-US" sz="2100" dirty="0"/>
              <a:t>The principle of fairness</a:t>
            </a:r>
          </a:p>
          <a:p>
            <a:pPr lvl="1">
              <a:lnSpc>
                <a:spcPct val="110000"/>
              </a:lnSpc>
            </a:pPr>
            <a:r>
              <a:rPr lang="en-US" sz="2100" dirty="0"/>
              <a:t>That employees are treated equally irrespective of any differences (that may or may not be the same!)</a:t>
            </a:r>
          </a:p>
          <a:p>
            <a:pPr lvl="1">
              <a:lnSpc>
                <a:spcPct val="110000"/>
              </a:lnSpc>
            </a:pPr>
            <a:r>
              <a:rPr lang="en-US" sz="2100" dirty="0"/>
              <a:t>That if disadvantage exists, then those people are given the means to access equal opportunities</a:t>
            </a:r>
          </a:p>
          <a:p>
            <a:pPr>
              <a:lnSpc>
                <a:spcPct val="110000"/>
              </a:lnSpc>
            </a:pPr>
            <a:r>
              <a:rPr lang="en-US" sz="2100" dirty="0"/>
              <a:t>Diversity</a:t>
            </a:r>
          </a:p>
          <a:p>
            <a:pPr lvl="1">
              <a:lnSpc>
                <a:spcPct val="110000"/>
              </a:lnSpc>
            </a:pPr>
            <a:r>
              <a:rPr lang="en-US" sz="2100" dirty="0"/>
              <a:t>Recognizing and respecting our differences</a:t>
            </a:r>
          </a:p>
          <a:p>
            <a:pPr lvl="1">
              <a:lnSpc>
                <a:spcPct val="110000"/>
              </a:lnSpc>
            </a:pPr>
            <a:r>
              <a:rPr lang="en-US" sz="2100" dirty="0"/>
              <a:t>Celebrating uniqueness</a:t>
            </a:r>
          </a:p>
          <a:p>
            <a:pPr>
              <a:lnSpc>
                <a:spcPct val="110000"/>
              </a:lnSpc>
            </a:pPr>
            <a:r>
              <a:rPr lang="en-US" sz="2100" dirty="0"/>
              <a:t>Inclusion</a:t>
            </a:r>
          </a:p>
          <a:p>
            <a:pPr lvl="1">
              <a:lnSpc>
                <a:spcPct val="110000"/>
              </a:lnSpc>
            </a:pPr>
            <a:r>
              <a:rPr lang="en-US" sz="2100" dirty="0"/>
              <a:t>Creating a work environment where all employees feel valued and comfortable</a:t>
            </a:r>
          </a:p>
        </p:txBody>
      </p:sp>
    </p:spTree>
    <p:extLst>
      <p:ext uri="{BB962C8B-B14F-4D97-AF65-F5344CB8AC3E}">
        <p14:creationId xmlns:p14="http://schemas.microsoft.com/office/powerpoint/2010/main" val="709251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763987"/>
            <a:ext cx="10820400" cy="875211"/>
          </a:xfrm>
        </p:spPr>
        <p:txBody>
          <a:bodyPr/>
          <a:lstStyle/>
          <a:p>
            <a:r>
              <a:rPr lang="en-US" dirty="0">
                <a:hlinkClick r:id="rId2">
                  <a:extLst>
                    <a:ext uri="{A12FA001-AC4F-418D-AE19-62706E023703}">
                      <ahyp:hlinkClr xmlns:ahyp="http://schemas.microsoft.com/office/drawing/2018/hyperlinkcolor" val="tx"/>
                    </a:ext>
                  </a:extLst>
                </a:hlinkClick>
              </a:rPr>
              <a:t>https://www.youtube.com/watch?v=maw6hmlNh44</a:t>
            </a:r>
            <a:endParaRPr lang="en-US" dirty="0"/>
          </a:p>
          <a:p>
            <a:endParaRPr lang="en-US" dirty="0"/>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2784" y="938545"/>
            <a:ext cx="7326432" cy="4555671"/>
          </a:xfrm>
          <a:prstGeom prst="rect">
            <a:avLst/>
          </a:prstGeom>
        </p:spPr>
      </p:pic>
    </p:spTree>
    <p:extLst>
      <p:ext uri="{BB962C8B-B14F-4D97-AF65-F5344CB8AC3E}">
        <p14:creationId xmlns:p14="http://schemas.microsoft.com/office/powerpoint/2010/main" val="1072414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DD30-6EEB-CDB8-4B4E-C231CE08EAC5}"/>
              </a:ext>
            </a:extLst>
          </p:cNvPr>
          <p:cNvSpPr>
            <a:spLocks noGrp="1"/>
          </p:cNvSpPr>
          <p:nvPr>
            <p:ph type="title"/>
          </p:nvPr>
        </p:nvSpPr>
        <p:spPr/>
        <p:txBody>
          <a:bodyPr/>
          <a:lstStyle/>
          <a:p>
            <a:r>
              <a:rPr lang="en-GB" dirty="0"/>
              <a:t>WOOCLAP 1</a:t>
            </a:r>
          </a:p>
        </p:txBody>
      </p:sp>
      <p:sp>
        <p:nvSpPr>
          <p:cNvPr id="3" name="Content Placeholder 2">
            <a:extLst>
              <a:ext uri="{FF2B5EF4-FFF2-40B4-BE49-F238E27FC236}">
                <a16:creationId xmlns:a16="http://schemas.microsoft.com/office/drawing/2014/main" id="{87519367-C78D-A128-D5EF-A48C7CD82E83}"/>
              </a:ext>
            </a:extLst>
          </p:cNvPr>
          <p:cNvSpPr>
            <a:spLocks noGrp="1"/>
          </p:cNvSpPr>
          <p:nvPr>
            <p:ph idx="1"/>
          </p:nvPr>
        </p:nvSpPr>
        <p:spPr/>
        <p:txBody>
          <a:bodyPr/>
          <a:lstStyle/>
          <a:p>
            <a:pPr marL="0" indent="0" algn="ctr">
              <a:buNone/>
            </a:pPr>
            <a:r>
              <a:rPr lang="en-GB" b="1" dirty="0"/>
              <a:t>What do you think of when you hear the phrase EDI?</a:t>
            </a:r>
            <a:endParaRPr lang="en-GB" dirty="0"/>
          </a:p>
          <a:p>
            <a:pPr marL="0" indent="0">
              <a:buNone/>
            </a:pPr>
            <a:br>
              <a:rPr lang="en-GB" dirty="0"/>
            </a:br>
            <a:endParaRPr lang="en-GB" b="1" dirty="0"/>
          </a:p>
          <a:p>
            <a:pPr algn="ctr"/>
            <a:endParaRPr lang="en-GB" b="1" dirty="0"/>
          </a:p>
          <a:p>
            <a:pPr algn="ctr"/>
            <a:endParaRPr lang="en-GB" b="1" dirty="0"/>
          </a:p>
          <a:p>
            <a:pPr algn="ctr"/>
            <a:r>
              <a:rPr lang="en-GB" b="1" dirty="0"/>
              <a:t>HBJHRZA</a:t>
            </a:r>
          </a:p>
        </p:txBody>
      </p:sp>
    </p:spTree>
    <p:extLst>
      <p:ext uri="{BB962C8B-B14F-4D97-AF65-F5344CB8AC3E}">
        <p14:creationId xmlns:p14="http://schemas.microsoft.com/office/powerpoint/2010/main" val="2816697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11973"/>
            <a:ext cx="8610600" cy="1293028"/>
          </a:xfrm>
        </p:spPr>
        <p:txBody>
          <a:bodyPr/>
          <a:lstStyle/>
          <a:p>
            <a:pPr algn="l"/>
            <a:r>
              <a:rPr lang="en-US" b="1" dirty="0"/>
              <a:t>Key Legislation in the UK</a:t>
            </a:r>
          </a:p>
        </p:txBody>
      </p:sp>
      <p:sp>
        <p:nvSpPr>
          <p:cNvPr id="3" name="Content Placeholder 2"/>
          <p:cNvSpPr>
            <a:spLocks noGrp="1"/>
          </p:cNvSpPr>
          <p:nvPr>
            <p:ph idx="1"/>
          </p:nvPr>
        </p:nvSpPr>
        <p:spPr>
          <a:xfrm>
            <a:off x="685800" y="1905000"/>
            <a:ext cx="11114314" cy="4582885"/>
          </a:xfrm>
        </p:spPr>
        <p:txBody>
          <a:bodyPr>
            <a:normAutofit fontScale="85000" lnSpcReduction="20000"/>
          </a:bodyPr>
          <a:lstStyle/>
          <a:p>
            <a:r>
              <a:rPr lang="en-US" dirty="0"/>
              <a:t>The 2010 Equality Act</a:t>
            </a:r>
          </a:p>
          <a:p>
            <a:r>
              <a:rPr lang="en-US" dirty="0"/>
              <a:t>The Equality Act protects people against discrimination in the workplace because of certain protected characteristics</a:t>
            </a:r>
          </a:p>
          <a:p>
            <a:r>
              <a:rPr lang="en-US" dirty="0"/>
              <a:t>Under the Equality Act, there are nine protected characteristics:</a:t>
            </a:r>
          </a:p>
          <a:p>
            <a:pPr marL="914400" lvl="1" indent="-457200">
              <a:buFont typeface="+mj-lt"/>
              <a:buAutoNum type="arabicPeriod"/>
            </a:pPr>
            <a:r>
              <a:rPr lang="en-US" dirty="0"/>
              <a:t>Age</a:t>
            </a:r>
          </a:p>
          <a:p>
            <a:pPr marL="914400" lvl="1" indent="-457200">
              <a:buFont typeface="+mj-lt"/>
              <a:buAutoNum type="arabicPeriod"/>
            </a:pPr>
            <a:r>
              <a:rPr lang="en-US" dirty="0"/>
              <a:t>Disability</a:t>
            </a:r>
          </a:p>
          <a:p>
            <a:pPr marL="914400" lvl="1" indent="-457200">
              <a:buFont typeface="+mj-lt"/>
              <a:buAutoNum type="arabicPeriod"/>
            </a:pPr>
            <a:r>
              <a:rPr lang="en-US" dirty="0"/>
              <a:t>Gender reassignment</a:t>
            </a:r>
          </a:p>
          <a:p>
            <a:pPr marL="914400" lvl="1" indent="-457200">
              <a:buFont typeface="+mj-lt"/>
              <a:buAutoNum type="arabicPeriod"/>
            </a:pPr>
            <a:r>
              <a:rPr lang="en-US" dirty="0"/>
              <a:t>Marital status (including civil partnership)</a:t>
            </a:r>
          </a:p>
          <a:p>
            <a:pPr marL="914400" lvl="1" indent="-457200">
              <a:buFont typeface="+mj-lt"/>
              <a:buAutoNum type="arabicPeriod"/>
            </a:pPr>
            <a:r>
              <a:rPr lang="en-US" dirty="0"/>
              <a:t>Pregnancy and maternity</a:t>
            </a:r>
          </a:p>
          <a:p>
            <a:pPr marL="914400" lvl="1" indent="-457200">
              <a:buFont typeface="+mj-lt"/>
              <a:buAutoNum type="arabicPeriod"/>
            </a:pPr>
            <a:r>
              <a:rPr lang="en-US" dirty="0"/>
              <a:t>Race or Ethnicity</a:t>
            </a:r>
          </a:p>
          <a:p>
            <a:pPr marL="914400" lvl="1" indent="-457200">
              <a:buFont typeface="+mj-lt"/>
              <a:buAutoNum type="arabicPeriod"/>
            </a:pPr>
            <a:r>
              <a:rPr lang="en-US" dirty="0"/>
              <a:t>Religion or Religious belief</a:t>
            </a:r>
          </a:p>
          <a:p>
            <a:pPr marL="914400" lvl="1" indent="-457200">
              <a:buFont typeface="+mj-lt"/>
              <a:buAutoNum type="arabicPeriod"/>
            </a:pPr>
            <a:r>
              <a:rPr lang="en-US" dirty="0"/>
              <a:t>Sex</a:t>
            </a:r>
          </a:p>
          <a:p>
            <a:pPr marL="914400" lvl="1" indent="-457200">
              <a:buFont typeface="+mj-lt"/>
              <a:buAutoNum type="arabicPeriod"/>
            </a:pPr>
            <a:r>
              <a:rPr lang="en-US" dirty="0"/>
              <a:t>Sexual orientation</a:t>
            </a:r>
          </a:p>
          <a:p>
            <a:r>
              <a:rPr lang="en-US" dirty="0"/>
              <a:t>Are there any characteristics that are not on that list, that you think should be?</a:t>
            </a:r>
          </a:p>
          <a:p>
            <a:pPr lvl="1"/>
            <a:endParaRPr lang="en-US" dirty="0"/>
          </a:p>
        </p:txBody>
      </p:sp>
    </p:spTree>
    <p:extLst>
      <p:ext uri="{BB962C8B-B14F-4D97-AF65-F5344CB8AC3E}">
        <p14:creationId xmlns:p14="http://schemas.microsoft.com/office/powerpoint/2010/main" val="110018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943" y="318058"/>
            <a:ext cx="8610600" cy="1293028"/>
          </a:xfrm>
        </p:spPr>
        <p:txBody>
          <a:bodyPr>
            <a:normAutofit/>
          </a:bodyPr>
          <a:lstStyle/>
          <a:p>
            <a:pPr algn="l"/>
            <a:r>
              <a:rPr lang="en-US" sz="4800" b="1" dirty="0"/>
              <a:t>Key Terms</a:t>
            </a:r>
          </a:p>
        </p:txBody>
      </p:sp>
      <p:sp>
        <p:nvSpPr>
          <p:cNvPr id="3" name="Content Placeholder 2"/>
          <p:cNvSpPr>
            <a:spLocks noGrp="1"/>
          </p:cNvSpPr>
          <p:nvPr>
            <p:ph idx="1"/>
          </p:nvPr>
        </p:nvSpPr>
        <p:spPr>
          <a:xfrm>
            <a:off x="261256" y="1611086"/>
            <a:ext cx="11691257" cy="5246914"/>
          </a:xfrm>
        </p:spPr>
        <p:txBody>
          <a:bodyPr>
            <a:normAutofit fontScale="85000" lnSpcReduction="20000"/>
          </a:bodyPr>
          <a:lstStyle/>
          <a:p>
            <a:pPr>
              <a:lnSpc>
                <a:spcPct val="150000"/>
              </a:lnSpc>
            </a:pPr>
            <a:r>
              <a:rPr lang="en-US" sz="2900" b="1" dirty="0"/>
              <a:t>Direct discrimination  </a:t>
            </a:r>
            <a:r>
              <a:rPr lang="en-US" sz="2900" dirty="0"/>
              <a:t>- when a person is treated less favorably because of a protected characteristics</a:t>
            </a:r>
          </a:p>
          <a:p>
            <a:pPr>
              <a:lnSpc>
                <a:spcPct val="150000"/>
              </a:lnSpc>
            </a:pPr>
            <a:r>
              <a:rPr lang="en-US" sz="2900" b="1" dirty="0"/>
              <a:t>Indirect discrimination </a:t>
            </a:r>
            <a:r>
              <a:rPr lang="mr-IN" sz="2900" dirty="0"/>
              <a:t>–</a:t>
            </a:r>
            <a:r>
              <a:rPr lang="en-US" sz="2900" dirty="0"/>
              <a:t> when a rule, condition or practice disadvantages some people</a:t>
            </a:r>
          </a:p>
          <a:p>
            <a:pPr>
              <a:lnSpc>
                <a:spcPct val="150000"/>
              </a:lnSpc>
            </a:pPr>
            <a:r>
              <a:rPr lang="en-US" sz="2900" b="1" dirty="0"/>
              <a:t>Discrimination by association </a:t>
            </a:r>
            <a:r>
              <a:rPr lang="en-US" sz="2900" dirty="0"/>
              <a:t>- discrimination against a person because they associate with a person who has a protected characteristic </a:t>
            </a:r>
          </a:p>
          <a:p>
            <a:pPr>
              <a:lnSpc>
                <a:spcPct val="150000"/>
              </a:lnSpc>
            </a:pPr>
            <a:r>
              <a:rPr lang="en-US" sz="2900" b="1" dirty="0"/>
              <a:t>Harassment</a:t>
            </a:r>
            <a:r>
              <a:rPr lang="en-US" sz="2900" dirty="0"/>
              <a:t> </a:t>
            </a:r>
            <a:r>
              <a:rPr lang="mr-IN" sz="2900" dirty="0"/>
              <a:t>–</a:t>
            </a:r>
            <a:r>
              <a:rPr lang="en-US" sz="2900" dirty="0"/>
              <a:t> unwanted conduct relating to a protected characteristic </a:t>
            </a:r>
          </a:p>
          <a:p>
            <a:pPr>
              <a:lnSpc>
                <a:spcPct val="150000"/>
              </a:lnSpc>
            </a:pPr>
            <a:r>
              <a:rPr lang="en-US" sz="2900" b="1" dirty="0" err="1"/>
              <a:t>Victimisation</a:t>
            </a:r>
            <a:r>
              <a:rPr lang="en-US" sz="2900" dirty="0"/>
              <a:t> </a:t>
            </a:r>
            <a:r>
              <a:rPr lang="mr-IN" sz="2900" dirty="0"/>
              <a:t>–</a:t>
            </a:r>
            <a:r>
              <a:rPr lang="en-US" sz="2900" dirty="0"/>
              <a:t> when an employee is treated poorly because they have made or supported a complaint under the 2010 Equality Act</a:t>
            </a:r>
          </a:p>
          <a:p>
            <a:endParaRPr lang="en-US" dirty="0"/>
          </a:p>
        </p:txBody>
      </p:sp>
    </p:spTree>
    <p:extLst>
      <p:ext uri="{BB962C8B-B14F-4D97-AF65-F5344CB8AC3E}">
        <p14:creationId xmlns:p14="http://schemas.microsoft.com/office/powerpoint/2010/main" val="1218350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258" y="633744"/>
            <a:ext cx="8610600" cy="1293028"/>
          </a:xfrm>
        </p:spPr>
        <p:txBody>
          <a:bodyPr>
            <a:normAutofit/>
          </a:bodyPr>
          <a:lstStyle/>
          <a:p>
            <a:pPr algn="l"/>
            <a:r>
              <a:rPr lang="en-US" sz="4800" b="1" dirty="0"/>
              <a:t>Key Terms cont</a:t>
            </a:r>
            <a:r>
              <a:rPr lang="mr-IN" sz="4800" b="1" dirty="0"/>
              <a:t>…</a:t>
            </a:r>
            <a:r>
              <a:rPr lang="en-GB" sz="4800" b="1" dirty="0"/>
              <a:t>..</a:t>
            </a:r>
            <a:endParaRPr lang="en-US" sz="4800" b="1" dirty="0"/>
          </a:p>
        </p:txBody>
      </p:sp>
      <p:sp>
        <p:nvSpPr>
          <p:cNvPr id="3" name="Content Placeholder 2"/>
          <p:cNvSpPr>
            <a:spLocks noGrp="1"/>
          </p:cNvSpPr>
          <p:nvPr>
            <p:ph idx="1"/>
          </p:nvPr>
        </p:nvSpPr>
        <p:spPr>
          <a:xfrm>
            <a:off x="435429" y="1926772"/>
            <a:ext cx="11070771" cy="4517571"/>
          </a:xfrm>
        </p:spPr>
        <p:txBody>
          <a:bodyPr>
            <a:normAutofit fontScale="92500" lnSpcReduction="20000"/>
          </a:bodyPr>
          <a:lstStyle/>
          <a:p>
            <a:pPr>
              <a:lnSpc>
                <a:spcPct val="150000"/>
              </a:lnSpc>
            </a:pPr>
            <a:r>
              <a:rPr lang="en-US" sz="2400" b="1" dirty="0"/>
              <a:t>Positive discrimination </a:t>
            </a:r>
            <a:r>
              <a:rPr lang="mr-IN" sz="2400" dirty="0"/>
              <a:t>–</a:t>
            </a:r>
            <a:r>
              <a:rPr lang="en-US" sz="2400" dirty="0"/>
              <a:t> employing members of certain groups who have been traditionally discriminated against (rather than because they are suitable for the role). Also, relates to the use of quotas based on protected characteristics- Illegal in the UK but not in all countries!</a:t>
            </a:r>
          </a:p>
          <a:p>
            <a:pPr>
              <a:lnSpc>
                <a:spcPct val="150000"/>
              </a:lnSpc>
            </a:pPr>
            <a:r>
              <a:rPr lang="en-US" sz="2400" b="1" dirty="0"/>
              <a:t>Positive Action </a:t>
            </a:r>
            <a:r>
              <a:rPr lang="mr-IN" sz="2400" dirty="0"/>
              <a:t>–</a:t>
            </a:r>
            <a:r>
              <a:rPr lang="en-US" sz="2400" dirty="0"/>
              <a:t> encouraging applications from certain groups and taking action to ‘level the playing field’</a:t>
            </a:r>
          </a:p>
          <a:p>
            <a:pPr>
              <a:lnSpc>
                <a:spcPct val="150000"/>
              </a:lnSpc>
            </a:pPr>
            <a:r>
              <a:rPr lang="en-US" sz="2400" b="1" dirty="0"/>
              <a:t>Occupational Genuine Requirement </a:t>
            </a:r>
            <a:r>
              <a:rPr lang="mr-IN" sz="2400" dirty="0"/>
              <a:t>–</a:t>
            </a:r>
            <a:r>
              <a:rPr lang="en-US" sz="2400" dirty="0"/>
              <a:t> a defense of claims of positive discrimination (allows employers to state because of the nature of the job, a genuine requirement is necessary e.g. women’s centre</a:t>
            </a:r>
          </a:p>
          <a:p>
            <a:endParaRPr lang="en-US" dirty="0"/>
          </a:p>
        </p:txBody>
      </p:sp>
    </p:spTree>
    <p:extLst>
      <p:ext uri="{BB962C8B-B14F-4D97-AF65-F5344CB8AC3E}">
        <p14:creationId xmlns:p14="http://schemas.microsoft.com/office/powerpoint/2010/main" val="839344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6C7C3-504A-CD50-C17A-A1F9B2DCE6D9}"/>
              </a:ext>
            </a:extLst>
          </p:cNvPr>
          <p:cNvSpPr>
            <a:spLocks noGrp="1"/>
          </p:cNvSpPr>
          <p:nvPr>
            <p:ph type="title"/>
          </p:nvPr>
        </p:nvSpPr>
        <p:spPr>
          <a:xfrm>
            <a:off x="560832" y="419405"/>
            <a:ext cx="10945368" cy="1293028"/>
          </a:xfrm>
        </p:spPr>
        <p:txBody>
          <a:bodyPr/>
          <a:lstStyle/>
          <a:p>
            <a:pPr algn="l"/>
            <a:r>
              <a:rPr lang="en-US" b="1" dirty="0"/>
              <a:t>Discrimination Headlines…….</a:t>
            </a:r>
          </a:p>
        </p:txBody>
      </p:sp>
      <p:pic>
        <p:nvPicPr>
          <p:cNvPr id="5" name="Content Placeholder 4" descr="A building with windows and trees&#10;&#10;Description automatically generated">
            <a:extLst>
              <a:ext uri="{FF2B5EF4-FFF2-40B4-BE49-F238E27FC236}">
                <a16:creationId xmlns:a16="http://schemas.microsoft.com/office/drawing/2014/main" id="{79A76B5F-B6E5-B890-5F9E-E9B462CF3782}"/>
              </a:ext>
            </a:extLst>
          </p:cNvPr>
          <p:cNvPicPr>
            <a:picLocks noGrp="1" noChangeAspect="1"/>
          </p:cNvPicPr>
          <p:nvPr>
            <p:ph idx="1"/>
          </p:nvPr>
        </p:nvPicPr>
        <p:blipFill rotWithShape="1">
          <a:blip r:embed="rId2"/>
          <a:srcRect r="17119" b="69525"/>
          <a:stretch/>
        </p:blipFill>
        <p:spPr>
          <a:xfrm>
            <a:off x="6033516" y="2704205"/>
            <a:ext cx="5998464" cy="994666"/>
          </a:xfrm>
        </p:spPr>
      </p:pic>
      <p:pic>
        <p:nvPicPr>
          <p:cNvPr id="7" name="Picture 6" descr="Two women standing next to each other&#10;&#10;Description automatically generated">
            <a:extLst>
              <a:ext uri="{FF2B5EF4-FFF2-40B4-BE49-F238E27FC236}">
                <a16:creationId xmlns:a16="http://schemas.microsoft.com/office/drawing/2014/main" id="{91321EFE-B2E1-A061-B45E-0AB9413E767F}"/>
              </a:ext>
            </a:extLst>
          </p:cNvPr>
          <p:cNvPicPr>
            <a:picLocks noChangeAspect="1"/>
          </p:cNvPicPr>
          <p:nvPr/>
        </p:nvPicPr>
        <p:blipFill rotWithShape="1">
          <a:blip r:embed="rId3"/>
          <a:srcRect b="73481"/>
          <a:stretch/>
        </p:blipFill>
        <p:spPr>
          <a:xfrm>
            <a:off x="1329455" y="3986662"/>
            <a:ext cx="7917649" cy="1114805"/>
          </a:xfrm>
          <a:prstGeom prst="rect">
            <a:avLst/>
          </a:prstGeom>
        </p:spPr>
      </p:pic>
      <p:pic>
        <p:nvPicPr>
          <p:cNvPr id="9" name="Picture 8" descr="A person with grey hair&#10;&#10;Description automatically generated">
            <a:extLst>
              <a:ext uri="{FF2B5EF4-FFF2-40B4-BE49-F238E27FC236}">
                <a16:creationId xmlns:a16="http://schemas.microsoft.com/office/drawing/2014/main" id="{37AC3449-1B19-422A-2D67-A028584AB88D}"/>
              </a:ext>
            </a:extLst>
          </p:cNvPr>
          <p:cNvPicPr>
            <a:picLocks noChangeAspect="1"/>
          </p:cNvPicPr>
          <p:nvPr/>
        </p:nvPicPr>
        <p:blipFill rotWithShape="1">
          <a:blip r:embed="rId4"/>
          <a:srcRect b="75764"/>
          <a:stretch/>
        </p:blipFill>
        <p:spPr>
          <a:xfrm>
            <a:off x="6283371" y="5559543"/>
            <a:ext cx="5721350" cy="791044"/>
          </a:xfrm>
          <a:prstGeom prst="rect">
            <a:avLst/>
          </a:prstGeom>
        </p:spPr>
      </p:pic>
      <p:pic>
        <p:nvPicPr>
          <p:cNvPr id="11" name="Picture 10" descr="A person with glasses and a book&#10;&#10;Description automatically generated">
            <a:extLst>
              <a:ext uri="{FF2B5EF4-FFF2-40B4-BE49-F238E27FC236}">
                <a16:creationId xmlns:a16="http://schemas.microsoft.com/office/drawing/2014/main" id="{08871FC4-EC7C-779E-E571-DACABC3127F7}"/>
              </a:ext>
            </a:extLst>
          </p:cNvPr>
          <p:cNvPicPr>
            <a:picLocks noChangeAspect="1"/>
          </p:cNvPicPr>
          <p:nvPr/>
        </p:nvPicPr>
        <p:blipFill rotWithShape="1">
          <a:blip r:embed="rId5"/>
          <a:srcRect r="21534" b="74217"/>
          <a:stretch/>
        </p:blipFill>
        <p:spPr>
          <a:xfrm>
            <a:off x="187279" y="5397662"/>
            <a:ext cx="5908721" cy="1114806"/>
          </a:xfrm>
          <a:prstGeom prst="rect">
            <a:avLst/>
          </a:prstGeom>
        </p:spPr>
      </p:pic>
      <p:pic>
        <p:nvPicPr>
          <p:cNvPr id="15" name="Picture 14">
            <a:extLst>
              <a:ext uri="{FF2B5EF4-FFF2-40B4-BE49-F238E27FC236}">
                <a16:creationId xmlns:a16="http://schemas.microsoft.com/office/drawing/2014/main" id="{C26D0FF8-D1A2-B026-D456-5508770D3258}"/>
              </a:ext>
            </a:extLst>
          </p:cNvPr>
          <p:cNvPicPr>
            <a:picLocks noChangeAspect="1"/>
          </p:cNvPicPr>
          <p:nvPr/>
        </p:nvPicPr>
        <p:blipFill>
          <a:blip r:embed="rId6"/>
          <a:stretch>
            <a:fillRect/>
          </a:stretch>
        </p:blipFill>
        <p:spPr>
          <a:xfrm>
            <a:off x="560832" y="1950044"/>
            <a:ext cx="7772400" cy="661719"/>
          </a:xfrm>
          <a:prstGeom prst="rect">
            <a:avLst/>
          </a:prstGeom>
        </p:spPr>
      </p:pic>
      <p:pic>
        <p:nvPicPr>
          <p:cNvPr id="19" name="Picture 18">
            <a:extLst>
              <a:ext uri="{FF2B5EF4-FFF2-40B4-BE49-F238E27FC236}">
                <a16:creationId xmlns:a16="http://schemas.microsoft.com/office/drawing/2014/main" id="{02A7F2B5-2B3D-2EDA-DF3C-542700E50A9E}"/>
              </a:ext>
            </a:extLst>
          </p:cNvPr>
          <p:cNvPicPr>
            <a:picLocks noChangeAspect="1"/>
          </p:cNvPicPr>
          <p:nvPr/>
        </p:nvPicPr>
        <p:blipFill>
          <a:blip r:embed="rId7"/>
          <a:stretch>
            <a:fillRect/>
          </a:stretch>
        </p:blipFill>
        <p:spPr>
          <a:xfrm>
            <a:off x="370333" y="2969012"/>
            <a:ext cx="5030723" cy="660400"/>
          </a:xfrm>
          <a:prstGeom prst="rect">
            <a:avLst/>
          </a:prstGeom>
        </p:spPr>
      </p:pic>
    </p:spTree>
    <p:extLst>
      <p:ext uri="{BB962C8B-B14F-4D97-AF65-F5344CB8AC3E}">
        <p14:creationId xmlns:p14="http://schemas.microsoft.com/office/powerpoint/2010/main" val="347699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48496-2E3D-C10A-101A-4E0D9FCA2ECB}"/>
              </a:ext>
            </a:extLst>
          </p:cNvPr>
          <p:cNvSpPr>
            <a:spLocks noGrp="1"/>
          </p:cNvSpPr>
          <p:nvPr>
            <p:ph type="title"/>
          </p:nvPr>
        </p:nvSpPr>
        <p:spPr/>
        <p:txBody>
          <a:bodyPr/>
          <a:lstStyle/>
          <a:p>
            <a:endParaRPr lang="en-US" dirty="0"/>
          </a:p>
        </p:txBody>
      </p:sp>
      <p:pic>
        <p:nvPicPr>
          <p:cNvPr id="7" name="Content Placeholder 6" descr="A person in a suit&#10;&#10;Description automatically generated">
            <a:extLst>
              <a:ext uri="{FF2B5EF4-FFF2-40B4-BE49-F238E27FC236}">
                <a16:creationId xmlns:a16="http://schemas.microsoft.com/office/drawing/2014/main" id="{05860B69-DD0D-5EC9-BB02-35723164C985}"/>
              </a:ext>
            </a:extLst>
          </p:cNvPr>
          <p:cNvPicPr>
            <a:picLocks noGrp="1" noChangeAspect="1"/>
          </p:cNvPicPr>
          <p:nvPr>
            <p:ph idx="1"/>
          </p:nvPr>
        </p:nvPicPr>
        <p:blipFill>
          <a:blip r:embed="rId2"/>
          <a:stretch>
            <a:fillRect/>
          </a:stretch>
        </p:blipFill>
        <p:spPr>
          <a:xfrm>
            <a:off x="398200" y="365125"/>
            <a:ext cx="4695888" cy="3352633"/>
          </a:xfrm>
        </p:spPr>
      </p:pic>
      <p:pic>
        <p:nvPicPr>
          <p:cNvPr id="9" name="Picture 8" descr="A person sitting in a chair&#10;&#10;Description automatically generated">
            <a:extLst>
              <a:ext uri="{FF2B5EF4-FFF2-40B4-BE49-F238E27FC236}">
                <a16:creationId xmlns:a16="http://schemas.microsoft.com/office/drawing/2014/main" id="{496631C3-D17D-61B7-6747-AFB28B955752}"/>
              </a:ext>
            </a:extLst>
          </p:cNvPr>
          <p:cNvPicPr>
            <a:picLocks noChangeAspect="1"/>
          </p:cNvPicPr>
          <p:nvPr/>
        </p:nvPicPr>
        <p:blipFill>
          <a:blip r:embed="rId3"/>
          <a:srcRect b="28309"/>
          <a:stretch/>
        </p:blipFill>
        <p:spPr>
          <a:xfrm>
            <a:off x="5679931" y="256889"/>
            <a:ext cx="5307687" cy="3569103"/>
          </a:xfrm>
          <a:prstGeom prst="rect">
            <a:avLst/>
          </a:prstGeom>
        </p:spPr>
      </p:pic>
      <p:pic>
        <p:nvPicPr>
          <p:cNvPr id="11" name="Picture 10" descr="A close-up of a sign&#10;&#10;Description automatically generated">
            <a:extLst>
              <a:ext uri="{FF2B5EF4-FFF2-40B4-BE49-F238E27FC236}">
                <a16:creationId xmlns:a16="http://schemas.microsoft.com/office/drawing/2014/main" id="{F2E15603-554E-DC3C-CCBF-5A20A6C78397}"/>
              </a:ext>
            </a:extLst>
          </p:cNvPr>
          <p:cNvPicPr>
            <a:picLocks noChangeAspect="1"/>
          </p:cNvPicPr>
          <p:nvPr/>
        </p:nvPicPr>
        <p:blipFill>
          <a:blip r:embed="rId4"/>
          <a:stretch>
            <a:fillRect/>
          </a:stretch>
        </p:blipFill>
        <p:spPr>
          <a:xfrm>
            <a:off x="4447574" y="4653155"/>
            <a:ext cx="7772400" cy="1541151"/>
          </a:xfrm>
          <a:prstGeom prst="rect">
            <a:avLst/>
          </a:prstGeom>
        </p:spPr>
      </p:pic>
      <p:pic>
        <p:nvPicPr>
          <p:cNvPr id="13" name="Picture 12" descr="A close up of a sign&#10;&#10;Description automatically generated">
            <a:extLst>
              <a:ext uri="{FF2B5EF4-FFF2-40B4-BE49-F238E27FC236}">
                <a16:creationId xmlns:a16="http://schemas.microsoft.com/office/drawing/2014/main" id="{96088A97-822D-38C9-90F3-9DA78B90FD67}"/>
              </a:ext>
            </a:extLst>
          </p:cNvPr>
          <p:cNvPicPr>
            <a:picLocks noChangeAspect="1"/>
          </p:cNvPicPr>
          <p:nvPr/>
        </p:nvPicPr>
        <p:blipFill>
          <a:blip r:embed="rId5"/>
          <a:stretch>
            <a:fillRect/>
          </a:stretch>
        </p:blipFill>
        <p:spPr>
          <a:xfrm>
            <a:off x="443210" y="3875101"/>
            <a:ext cx="3795701" cy="2519017"/>
          </a:xfrm>
          <a:prstGeom prst="rect">
            <a:avLst/>
          </a:prstGeom>
        </p:spPr>
      </p:pic>
    </p:spTree>
    <p:extLst>
      <p:ext uri="{BB962C8B-B14F-4D97-AF65-F5344CB8AC3E}">
        <p14:creationId xmlns:p14="http://schemas.microsoft.com/office/powerpoint/2010/main" val="1500122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38BD0-A127-282A-D1A0-49F7B261E369}"/>
              </a:ext>
            </a:extLst>
          </p:cNvPr>
          <p:cNvSpPr>
            <a:spLocks noGrp="1"/>
          </p:cNvSpPr>
          <p:nvPr>
            <p:ph type="title"/>
          </p:nvPr>
        </p:nvSpPr>
        <p:spPr/>
        <p:txBody>
          <a:bodyPr>
            <a:normAutofit fontScale="90000"/>
          </a:bodyPr>
          <a:lstStyle/>
          <a:p>
            <a:r>
              <a:rPr lang="en-GB" dirty="0"/>
              <a:t>BBC Storyville: Speechless - The New Campus Revolution (April 2026)</a:t>
            </a:r>
            <a:br>
              <a:rPr lang="en-GB" dirty="0"/>
            </a:br>
            <a:endParaRPr lang="en-GB" dirty="0"/>
          </a:p>
        </p:txBody>
      </p:sp>
      <p:pic>
        <p:nvPicPr>
          <p:cNvPr id="4" name="Online Media 3" title="SPEECHLESS TRAILER">
            <a:hlinkClick r:id="" action="ppaction://media"/>
            <a:extLst>
              <a:ext uri="{FF2B5EF4-FFF2-40B4-BE49-F238E27FC236}">
                <a16:creationId xmlns:a16="http://schemas.microsoft.com/office/drawing/2014/main" id="{CDBFD2F4-9571-7128-BF43-354FD7C7A543}"/>
              </a:ext>
            </a:extLst>
          </p:cNvPr>
          <p:cNvPicPr>
            <a:picLocks noGrp="1" noRot="1" noChangeAspect="1"/>
          </p:cNvPicPr>
          <p:nvPr>
            <p:ph idx="1"/>
            <a:videoFile r:link="rId1"/>
          </p:nvPr>
        </p:nvPicPr>
        <p:blipFill>
          <a:blip r:embed="rId3"/>
          <a:stretch>
            <a:fillRect/>
          </a:stretch>
        </p:blipFill>
        <p:spPr>
          <a:xfrm>
            <a:off x="2244725" y="1825625"/>
            <a:ext cx="7700963" cy="4351338"/>
          </a:xfrm>
          <a:prstGeom prst="rect">
            <a:avLst/>
          </a:prstGeom>
        </p:spPr>
      </p:pic>
      <p:sp>
        <p:nvSpPr>
          <p:cNvPr id="5" name="TextBox 4">
            <a:extLst>
              <a:ext uri="{FF2B5EF4-FFF2-40B4-BE49-F238E27FC236}">
                <a16:creationId xmlns:a16="http://schemas.microsoft.com/office/drawing/2014/main" id="{F71AB9B9-0183-DCBB-FCE5-1116AC4EF94B}"/>
              </a:ext>
            </a:extLst>
          </p:cNvPr>
          <p:cNvSpPr txBox="1"/>
          <p:nvPr/>
        </p:nvSpPr>
        <p:spPr>
          <a:xfrm>
            <a:off x="593889" y="6278252"/>
            <a:ext cx="10671142" cy="369332"/>
          </a:xfrm>
          <a:prstGeom prst="rect">
            <a:avLst/>
          </a:prstGeom>
          <a:noFill/>
        </p:spPr>
        <p:txBody>
          <a:bodyPr wrap="square" rtlCol="0">
            <a:spAutoFit/>
          </a:bodyPr>
          <a:lstStyle/>
          <a:p>
            <a:pPr algn="ctr"/>
            <a:r>
              <a:rPr lang="en-GB" dirty="0">
                <a:hlinkClick r:id="rId4"/>
              </a:rPr>
              <a:t>https://www.bbc.co.uk/programmes/m002v2w6</a:t>
            </a:r>
            <a:r>
              <a:rPr lang="en-GB" dirty="0"/>
              <a:t> </a:t>
            </a:r>
          </a:p>
        </p:txBody>
      </p:sp>
    </p:spTree>
    <p:extLst>
      <p:ext uri="{BB962C8B-B14F-4D97-AF65-F5344CB8AC3E}">
        <p14:creationId xmlns:p14="http://schemas.microsoft.com/office/powerpoint/2010/main" val="385876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1345"/>
            <a:ext cx="10613571" cy="1293028"/>
          </a:xfrm>
        </p:spPr>
        <p:txBody>
          <a:bodyPr/>
          <a:lstStyle/>
          <a:p>
            <a:pPr algn="l"/>
            <a:r>
              <a:rPr lang="en-GB" b="1" dirty="0"/>
              <a:t>Discrimination in the Workplace</a:t>
            </a:r>
            <a:endParaRPr lang="en-US" b="1" dirty="0"/>
          </a:p>
        </p:txBody>
      </p:sp>
      <p:sp>
        <p:nvSpPr>
          <p:cNvPr id="3" name="Content Placeholder 2"/>
          <p:cNvSpPr>
            <a:spLocks noGrp="1"/>
          </p:cNvSpPr>
          <p:nvPr>
            <p:ph idx="1"/>
          </p:nvPr>
        </p:nvSpPr>
        <p:spPr>
          <a:xfrm>
            <a:off x="685800" y="1774373"/>
            <a:ext cx="10820400" cy="4423954"/>
          </a:xfrm>
        </p:spPr>
        <p:txBody>
          <a:bodyPr>
            <a:normAutofit fontScale="85000" lnSpcReduction="10000"/>
          </a:bodyPr>
          <a:lstStyle/>
          <a:p>
            <a:pPr marL="0" indent="0">
              <a:buNone/>
            </a:pPr>
            <a:r>
              <a:rPr lang="en-US" b="1" dirty="0"/>
              <a:t>Gender </a:t>
            </a:r>
            <a:endParaRPr lang="en-US" dirty="0"/>
          </a:p>
          <a:p>
            <a:r>
              <a:rPr lang="en-US" dirty="0"/>
              <a:t>The gender pay gap for full-time workers is entirely in favour of men for all occupations</a:t>
            </a:r>
          </a:p>
          <a:p>
            <a:r>
              <a:rPr lang="en-US" dirty="0"/>
              <a:t>When looking at age groups, the gap for full-time workers remains small at younger ages; however, from age 40 onwards the gap widens reaching its peak between ages 50 to 59.</a:t>
            </a:r>
          </a:p>
          <a:p>
            <a:r>
              <a:rPr lang="en-US" dirty="0"/>
              <a:t>According for the Office for National Statistics (ONS), median hourly pay for full-time employees was 7.7% less for women than for men in April 2023,</a:t>
            </a:r>
          </a:p>
          <a:p>
            <a:r>
              <a:rPr lang="en-US" dirty="0"/>
              <a:t>Office for National Statistics (GB) Nov 2023</a:t>
            </a:r>
          </a:p>
          <a:p>
            <a:r>
              <a:rPr lang="en-US" dirty="0">
                <a:hlinkClick r:id="rId2">
                  <a:extLst>
                    <a:ext uri="{A12FA001-AC4F-418D-AE19-62706E023703}">
                      <ahyp:hlinkClr xmlns:ahyp="http://schemas.microsoft.com/office/drawing/2018/hyperlinkcolor" val="tx"/>
                    </a:ext>
                  </a:extLst>
                </a:hlinkClick>
              </a:rPr>
              <a:t>https://www.ons.gov.uk/employmentandlabourmarket/peopleinwork/earningsandworkinghours/bulletins/genderpaygapintheuk/2023#:~:text=In%202023%2C%20the%20gap%20among,seen%20in%202019%20(17.4%25)</a:t>
            </a:r>
            <a:r>
              <a:rPr lang="en-US" dirty="0"/>
              <a:t>.</a:t>
            </a:r>
          </a:p>
          <a:p>
            <a:endParaRPr lang="en-US" dirty="0"/>
          </a:p>
        </p:txBody>
      </p:sp>
    </p:spTree>
    <p:extLst>
      <p:ext uri="{BB962C8B-B14F-4D97-AF65-F5344CB8AC3E}">
        <p14:creationId xmlns:p14="http://schemas.microsoft.com/office/powerpoint/2010/main" val="891635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4258"/>
            <a:ext cx="10134600" cy="1293028"/>
          </a:xfrm>
        </p:spPr>
        <p:txBody>
          <a:bodyPr/>
          <a:lstStyle/>
          <a:p>
            <a:pPr algn="l"/>
            <a:r>
              <a:rPr lang="en-GB" b="1" dirty="0"/>
              <a:t>Discrimination in the Workplace</a:t>
            </a:r>
            <a:endParaRPr lang="en-US" b="1" dirty="0"/>
          </a:p>
        </p:txBody>
      </p:sp>
      <p:sp>
        <p:nvSpPr>
          <p:cNvPr id="3" name="Content Placeholder 2"/>
          <p:cNvSpPr>
            <a:spLocks noGrp="1"/>
          </p:cNvSpPr>
          <p:nvPr>
            <p:ph idx="1"/>
          </p:nvPr>
        </p:nvSpPr>
        <p:spPr>
          <a:xfrm>
            <a:off x="348343" y="1687286"/>
            <a:ext cx="11669486" cy="4757057"/>
          </a:xfrm>
        </p:spPr>
        <p:txBody>
          <a:bodyPr>
            <a:normAutofit/>
          </a:bodyPr>
          <a:lstStyle/>
          <a:p>
            <a:pPr marL="0" indent="0">
              <a:buNone/>
            </a:pPr>
            <a:r>
              <a:rPr lang="en-US" sz="2400" b="1" dirty="0"/>
              <a:t>Race</a:t>
            </a:r>
          </a:p>
          <a:p>
            <a:r>
              <a:rPr lang="en-US" sz="2400" dirty="0"/>
              <a:t>Employment pay gap: black workers get paid 8.3% less than white workers – costing them an average of £1.15 an hour.</a:t>
            </a:r>
          </a:p>
          <a:p>
            <a:r>
              <a:rPr lang="en-US" sz="2400" dirty="0"/>
              <a:t>Qualifications pay gap: black workers whose highest qualifications are A-levels earn 10% less than their white peers – missing out on an average £1.20 per hour.</a:t>
            </a:r>
          </a:p>
          <a:p>
            <a:r>
              <a:rPr lang="en-US" sz="2400" dirty="0"/>
              <a:t>Type of employment: ethnic minority workers are over a third more likely than white workers to be stuck in temporary or zero-hours work.</a:t>
            </a:r>
          </a:p>
          <a:p>
            <a:r>
              <a:rPr lang="en-US" sz="2400" dirty="0"/>
              <a:t>Abuse at work: more than a third (37%) of ethnic minority workers have been bullied, abused or singled out at work. </a:t>
            </a:r>
          </a:p>
          <a:p>
            <a:r>
              <a:rPr lang="en-US" sz="2400" dirty="0"/>
              <a:t>Effects of racism : TUC polling shows that over half (57%) of BME women affected by bullying and harassment have suffered mental health problems. </a:t>
            </a:r>
          </a:p>
          <a:p>
            <a:endParaRPr lang="en-US" dirty="0"/>
          </a:p>
        </p:txBody>
      </p:sp>
    </p:spTree>
    <p:extLst>
      <p:ext uri="{BB962C8B-B14F-4D97-AF65-F5344CB8AC3E}">
        <p14:creationId xmlns:p14="http://schemas.microsoft.com/office/powerpoint/2010/main" val="156945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524888"/>
            <a:ext cx="9633857" cy="1293028"/>
          </a:xfrm>
        </p:spPr>
        <p:txBody>
          <a:bodyPr/>
          <a:lstStyle/>
          <a:p>
            <a:pPr algn="l"/>
            <a:r>
              <a:rPr lang="en-GB" b="1" dirty="0"/>
              <a:t>Discrimination in the Workplace</a:t>
            </a:r>
            <a:endParaRPr lang="en-US" b="1" dirty="0"/>
          </a:p>
        </p:txBody>
      </p:sp>
      <p:sp>
        <p:nvSpPr>
          <p:cNvPr id="3" name="Content Placeholder 2"/>
          <p:cNvSpPr>
            <a:spLocks noGrp="1"/>
          </p:cNvSpPr>
          <p:nvPr>
            <p:ph idx="1"/>
          </p:nvPr>
        </p:nvSpPr>
        <p:spPr>
          <a:xfrm>
            <a:off x="326571" y="1817915"/>
            <a:ext cx="11625943" cy="4844141"/>
          </a:xfrm>
        </p:spPr>
        <p:txBody>
          <a:bodyPr>
            <a:normAutofit fontScale="92500" lnSpcReduction="20000"/>
          </a:bodyPr>
          <a:lstStyle/>
          <a:p>
            <a:pPr marL="0" indent="0">
              <a:buNone/>
            </a:pPr>
            <a:r>
              <a:rPr lang="en-US" b="1" dirty="0"/>
              <a:t>LGBTQ+ </a:t>
            </a:r>
            <a:endParaRPr lang="en-US" dirty="0"/>
          </a:p>
          <a:p>
            <a:r>
              <a:rPr lang="en-US" dirty="0"/>
              <a:t>In Britain almost one in five LGBTQ+ staff (18%) have been the target of negative comments or conduct from work colleagues in the last year because they're LGBT. </a:t>
            </a:r>
          </a:p>
          <a:p>
            <a:r>
              <a:rPr lang="en-US" dirty="0"/>
              <a:t>One in eight trans people (12%) have been physically attacked by customers or colleagues in the last year because of being trans. </a:t>
            </a:r>
          </a:p>
          <a:p>
            <a:r>
              <a:rPr lang="en-US" dirty="0"/>
              <a:t>One in ten black, Asian and minority ethnic LGBTQ+ staff (10%) have similarly been physically attacked because of their sexual orientation and/or gender identity, compared to three per cent of white LGBTQ+ staff. </a:t>
            </a:r>
          </a:p>
          <a:p>
            <a:r>
              <a:rPr lang="en-US" dirty="0"/>
              <a:t>More than a third of LGBTQ+ staff (35%) have hidden or disguised their identity at work in the last year because they were afraid of discrimination. </a:t>
            </a:r>
          </a:p>
          <a:p>
            <a:r>
              <a:rPr lang="en-US" dirty="0"/>
              <a:t>One in eight lesbian, gay and bi people (12%) wouldn’t feel confident reporting any homophobic or bi-phobic bullying to their employer. </a:t>
            </a:r>
          </a:p>
          <a:p>
            <a:r>
              <a:rPr lang="en-US" dirty="0"/>
              <a:t>• Stonewall, LGBT At Work, Report 2018 </a:t>
            </a:r>
          </a:p>
          <a:p>
            <a:endParaRPr lang="en-US" dirty="0"/>
          </a:p>
        </p:txBody>
      </p:sp>
    </p:spTree>
    <p:extLst>
      <p:ext uri="{BB962C8B-B14F-4D97-AF65-F5344CB8AC3E}">
        <p14:creationId xmlns:p14="http://schemas.microsoft.com/office/powerpoint/2010/main" val="148525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C8CA1-B68F-E60D-DD57-B0C5796EB730}"/>
              </a:ext>
            </a:extLst>
          </p:cNvPr>
          <p:cNvSpPr>
            <a:spLocks noGrp="1"/>
          </p:cNvSpPr>
          <p:nvPr>
            <p:ph type="title"/>
          </p:nvPr>
        </p:nvSpPr>
        <p:spPr>
          <a:xfrm>
            <a:off x="1883664" y="1873845"/>
            <a:ext cx="8610600" cy="1293028"/>
          </a:xfrm>
        </p:spPr>
        <p:txBody>
          <a:bodyPr/>
          <a:lstStyle/>
          <a:p>
            <a:pPr algn="ctr"/>
            <a:r>
              <a:rPr lang="en-US" dirty="0"/>
              <a:t>Why do people discriminate?</a:t>
            </a:r>
          </a:p>
        </p:txBody>
      </p:sp>
      <p:pic>
        <p:nvPicPr>
          <p:cNvPr id="1026" name="Picture 2">
            <a:extLst>
              <a:ext uri="{FF2B5EF4-FFF2-40B4-BE49-F238E27FC236}">
                <a16:creationId xmlns:a16="http://schemas.microsoft.com/office/drawing/2014/main" id="{1B95A0A3-B2BA-4058-0452-EC9E18B1488C}"/>
              </a:ext>
              <a:ext uri="{C183D7F6-B498-43B3-948B-1728B52AA6E4}">
                <adec:decorative xmlns:adec="http://schemas.microsoft.com/office/drawing/2017/decorative" val="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4127500" y="3308350"/>
            <a:ext cx="3937000" cy="207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98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12F3-26E2-9647-F26E-82B99D9FA3A9}"/>
              </a:ext>
            </a:extLst>
          </p:cNvPr>
          <p:cNvSpPr>
            <a:spLocks noGrp="1"/>
          </p:cNvSpPr>
          <p:nvPr>
            <p:ph type="title"/>
          </p:nvPr>
        </p:nvSpPr>
        <p:spPr/>
        <p:txBody>
          <a:bodyPr/>
          <a:lstStyle/>
          <a:p>
            <a:r>
              <a:rPr lang="en-GB" dirty="0"/>
              <a:t>WOOCLAP 2 </a:t>
            </a:r>
          </a:p>
        </p:txBody>
      </p:sp>
      <p:sp>
        <p:nvSpPr>
          <p:cNvPr id="3" name="Content Placeholder 2">
            <a:extLst>
              <a:ext uri="{FF2B5EF4-FFF2-40B4-BE49-F238E27FC236}">
                <a16:creationId xmlns:a16="http://schemas.microsoft.com/office/drawing/2014/main" id="{65219C8B-737C-6B7C-237C-750BDED311AC}"/>
              </a:ext>
            </a:extLst>
          </p:cNvPr>
          <p:cNvSpPr>
            <a:spLocks noGrp="1"/>
          </p:cNvSpPr>
          <p:nvPr>
            <p:ph idx="1"/>
          </p:nvPr>
        </p:nvSpPr>
        <p:spPr/>
        <p:txBody>
          <a:bodyPr/>
          <a:lstStyle/>
          <a:p>
            <a:r>
              <a:rPr lang="en-GB" b="1" dirty="0"/>
              <a:t>Should organisations be allowed to set targets for the proportion of certain groups e.g. women or ethnic minorities in senior management?</a:t>
            </a:r>
            <a:endParaRPr lang="en-GB" dirty="0"/>
          </a:p>
        </p:txBody>
      </p:sp>
    </p:spTree>
    <p:extLst>
      <p:ext uri="{BB962C8B-B14F-4D97-AF65-F5344CB8AC3E}">
        <p14:creationId xmlns:p14="http://schemas.microsoft.com/office/powerpoint/2010/main" val="264742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5281A-6B25-B3BB-F199-C193AEAC48C9}"/>
              </a:ext>
            </a:extLst>
          </p:cNvPr>
          <p:cNvSpPr>
            <a:spLocks noGrp="1"/>
          </p:cNvSpPr>
          <p:nvPr>
            <p:ph type="title"/>
          </p:nvPr>
        </p:nvSpPr>
        <p:spPr/>
        <p:txBody>
          <a:bodyPr/>
          <a:lstStyle/>
          <a:p>
            <a:r>
              <a:rPr lang="en-GB" dirty="0"/>
              <a:t>Theorising equality, diversity and inclusion</a:t>
            </a:r>
          </a:p>
        </p:txBody>
      </p:sp>
    </p:spTree>
    <p:extLst>
      <p:ext uri="{BB962C8B-B14F-4D97-AF65-F5344CB8AC3E}">
        <p14:creationId xmlns:p14="http://schemas.microsoft.com/office/powerpoint/2010/main" val="3716249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5712398" cy="523220"/>
          </a:xfrm>
          <a:prstGeom prst="rect">
            <a:avLst/>
          </a:prstGeom>
          <a:noFill/>
        </p:spPr>
        <p:txBody>
          <a:bodyPr wrap="none">
            <a:spAutoFit/>
          </a:bodyPr>
          <a:lstStyle/>
          <a:p>
            <a:pPr>
              <a:defRPr sz="2800" b="1">
                <a:solidFill>
                  <a:srgbClr val="1B314A"/>
                </a:solidFill>
                <a:latin typeface="Arial"/>
              </a:defRPr>
            </a:pPr>
            <a:r>
              <a:rPr dirty="0">
                <a:solidFill>
                  <a:schemeClr val="tx1">
                    <a:lumMod val="95000"/>
                    <a:lumOff val="5000"/>
                  </a:schemeClr>
                </a:solidFill>
              </a:rPr>
              <a:t>John Rawls: A Theory of Justice</a:t>
            </a:r>
          </a:p>
        </p:txBody>
      </p:sp>
      <p:sp>
        <p:nvSpPr>
          <p:cNvPr id="3" name="TextBox 2"/>
          <p:cNvSpPr txBox="1"/>
          <p:nvPr/>
        </p:nvSpPr>
        <p:spPr>
          <a:xfrm>
            <a:off x="1861280" y="1024128"/>
            <a:ext cx="8292655" cy="584775"/>
          </a:xfrm>
          <a:prstGeom prst="rect">
            <a:avLst/>
          </a:prstGeom>
          <a:noFill/>
        </p:spPr>
        <p:txBody>
          <a:bodyPr wrap="none">
            <a:spAutoFit/>
          </a:bodyPr>
          <a:lstStyle/>
          <a:p>
            <a:pPr algn="ctr">
              <a:defRPr sz="1400">
                <a:solidFill>
                  <a:srgbClr val="5A5A5A"/>
                </a:solidFill>
                <a:latin typeface="Arial"/>
              </a:defRPr>
            </a:pPr>
            <a:r>
              <a:rPr lang="en-GB" sz="1600" dirty="0">
                <a:solidFill>
                  <a:schemeClr val="tx1">
                    <a:lumMod val="95000"/>
                    <a:lumOff val="5000"/>
                  </a:schemeClr>
                </a:solidFill>
              </a:rPr>
              <a:t>How should the basic institutions of society distribute rights, opportunities and resources?</a:t>
            </a:r>
          </a:p>
          <a:p>
            <a:pPr algn="ctr">
              <a:defRPr sz="1400">
                <a:solidFill>
                  <a:srgbClr val="5A5A5A"/>
                </a:solidFill>
                <a:latin typeface="Arial"/>
              </a:defRPr>
            </a:pPr>
            <a:endParaRPr sz="1600" dirty="0"/>
          </a:p>
        </p:txBody>
      </p:sp>
      <p:sp>
        <p:nvSpPr>
          <p:cNvPr id="4" name="Rounded Rectangle 3"/>
          <p:cNvSpPr/>
          <p:nvPr/>
        </p:nvSpPr>
        <p:spPr>
          <a:xfrm>
            <a:off x="640080" y="1508760"/>
            <a:ext cx="3383280" cy="4343400"/>
          </a:xfrm>
          <a:prstGeom prst="roundRect">
            <a:avLst/>
          </a:prstGeom>
          <a:solidFill>
            <a:srgbClr val="F2F4F7"/>
          </a:solidFill>
          <a:ln>
            <a:solidFill>
              <a:srgbClr val="1B31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1B314A"/>
                </a:solidFill>
                <a:latin typeface="Arial"/>
              </a:defRPr>
            </a:pPr>
            <a:r>
              <a:rPr dirty="0"/>
              <a:t>Justice as Fairness</a:t>
            </a:r>
          </a:p>
          <a:p>
            <a:pPr algn="ctr">
              <a:spcBef>
                <a:spcPts val="1000"/>
              </a:spcBef>
              <a:defRPr sz="1600">
                <a:solidFill>
                  <a:srgbClr val="232323"/>
                </a:solidFill>
                <a:latin typeface="Arial"/>
              </a:defRPr>
            </a:pPr>
            <a:r>
              <a:rPr dirty="0"/>
              <a:t>Rawls asks which principles people would choose for society if the choice were made under fair conditions.</a:t>
            </a:r>
          </a:p>
          <a:p>
            <a:pPr algn="ctr">
              <a:spcBef>
                <a:spcPts val="1000"/>
              </a:spcBef>
              <a:defRPr sz="1600">
                <a:solidFill>
                  <a:srgbClr val="232323"/>
                </a:solidFill>
                <a:latin typeface="Arial"/>
              </a:defRPr>
            </a:pPr>
            <a:r>
              <a:rPr dirty="0"/>
              <a:t>The focus is the 'basic structure' of society: major political, social and economic institutions.</a:t>
            </a:r>
          </a:p>
          <a:p>
            <a:pPr algn="ctr">
              <a:spcBef>
                <a:spcPts val="1000"/>
              </a:spcBef>
              <a:defRPr sz="1600">
                <a:solidFill>
                  <a:srgbClr val="232323"/>
                </a:solidFill>
                <a:latin typeface="Arial"/>
              </a:defRPr>
            </a:pPr>
            <a:r>
              <a:rPr dirty="0"/>
              <a:t>Inequality is not automatically unjust — the key question is whether institutions are fair.</a:t>
            </a:r>
          </a:p>
        </p:txBody>
      </p:sp>
      <p:sp>
        <p:nvSpPr>
          <p:cNvPr id="5" name="Rounded Rectangle 4"/>
          <p:cNvSpPr/>
          <p:nvPr/>
        </p:nvSpPr>
        <p:spPr>
          <a:xfrm>
            <a:off x="4434840" y="1508760"/>
            <a:ext cx="6995160" cy="1143000"/>
          </a:xfrm>
          <a:prstGeom prst="roundRect">
            <a:avLst/>
          </a:prstGeom>
          <a:solidFill>
            <a:srgbClr val="FFFFFF"/>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314A"/>
                </a:solidFill>
                <a:latin typeface="Arial"/>
              </a:defRPr>
            </a:pPr>
            <a:r>
              <a:rPr dirty="0"/>
              <a:t>1. Equal basic liberties</a:t>
            </a:r>
          </a:p>
          <a:p>
            <a:pPr algn="ctr">
              <a:defRPr sz="1400">
                <a:solidFill>
                  <a:srgbClr val="232323"/>
                </a:solidFill>
                <a:latin typeface="Arial"/>
              </a:defRPr>
            </a:pPr>
            <a:r>
              <a:rPr dirty="0"/>
              <a:t>Each person should have an equal claim to an adequate scheme of fundamental liberties </a:t>
            </a:r>
            <a:r>
              <a:rPr sz="1400" dirty="0"/>
              <a:t>compatible</a:t>
            </a:r>
            <a:r>
              <a:rPr dirty="0"/>
              <a:t> with the same liberties for others.</a:t>
            </a:r>
          </a:p>
        </p:txBody>
      </p:sp>
      <p:sp>
        <p:nvSpPr>
          <p:cNvPr id="6" name="Rounded Rectangle 5"/>
          <p:cNvSpPr/>
          <p:nvPr/>
        </p:nvSpPr>
        <p:spPr>
          <a:xfrm>
            <a:off x="4360195" y="2926080"/>
            <a:ext cx="6995160" cy="1143000"/>
          </a:xfrm>
          <a:prstGeom prst="roundRect">
            <a:avLst/>
          </a:prstGeom>
          <a:solidFill>
            <a:srgbClr val="FFFFFF"/>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314A"/>
                </a:solidFill>
                <a:latin typeface="Arial"/>
              </a:defRPr>
            </a:pPr>
            <a:r>
              <a:rPr dirty="0"/>
              <a:t>2. Fair equality of opportunity</a:t>
            </a:r>
          </a:p>
          <a:p>
            <a:pPr algn="ctr">
              <a:defRPr sz="1400">
                <a:solidFill>
                  <a:srgbClr val="232323"/>
                </a:solidFill>
                <a:latin typeface="Arial"/>
              </a:defRPr>
            </a:pPr>
            <a:r>
              <a:rPr dirty="0"/>
              <a:t>Social and economic positions should be genuinely open to all under conditions of fair equality of opportunity.</a:t>
            </a:r>
          </a:p>
        </p:txBody>
      </p:sp>
      <p:sp>
        <p:nvSpPr>
          <p:cNvPr id="7" name="Rounded Rectangle 6"/>
          <p:cNvSpPr/>
          <p:nvPr/>
        </p:nvSpPr>
        <p:spPr>
          <a:xfrm>
            <a:off x="4434840" y="4343400"/>
            <a:ext cx="6995160" cy="1143000"/>
          </a:xfrm>
          <a:prstGeom prst="roundRect">
            <a:avLst/>
          </a:prstGeom>
          <a:solidFill>
            <a:srgbClr val="FFFFFF"/>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314A"/>
                </a:solidFill>
                <a:latin typeface="Arial"/>
              </a:defRPr>
            </a:pPr>
            <a:r>
              <a:rPr dirty="0"/>
              <a:t>3. Difference principle</a:t>
            </a:r>
          </a:p>
          <a:p>
            <a:pPr algn="ctr">
              <a:defRPr sz="1400">
                <a:solidFill>
                  <a:srgbClr val="232323"/>
                </a:solidFill>
                <a:latin typeface="Arial"/>
              </a:defRPr>
            </a:pPr>
            <a:r>
              <a:rPr dirty="0"/>
              <a:t>Social and economic inequalities are permissible only where they work to the greatest benefit of the least advantaged.</a:t>
            </a:r>
          </a:p>
        </p:txBody>
      </p:sp>
      <p:sp>
        <p:nvSpPr>
          <p:cNvPr id="8" name="TextBox 7"/>
          <p:cNvSpPr txBox="1"/>
          <p:nvPr/>
        </p:nvSpPr>
        <p:spPr>
          <a:xfrm>
            <a:off x="640080" y="6446520"/>
            <a:ext cx="10881360" cy="228600"/>
          </a:xfrm>
          <a:prstGeom prst="rect">
            <a:avLst/>
          </a:prstGeom>
          <a:noFill/>
        </p:spPr>
        <p:txBody>
          <a:bodyPr wrap="none">
            <a:spAutoFit/>
          </a:bodyPr>
          <a:lstStyle/>
          <a:p>
            <a:pPr>
              <a:defRPr sz="900">
                <a:solidFill>
                  <a:srgbClr val="5A5A5A"/>
                </a:solidFill>
                <a:latin typeface="Arial"/>
              </a:defRPr>
            </a:pPr>
            <a:r>
              <a:t>Source: Rawls, J. (1971). A Theory of Justice. Harvard University Press.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3798860" cy="523220"/>
          </a:xfrm>
          <a:prstGeom prst="rect">
            <a:avLst/>
          </a:prstGeom>
          <a:noFill/>
        </p:spPr>
        <p:txBody>
          <a:bodyPr wrap="none">
            <a:spAutoFit/>
          </a:bodyPr>
          <a:lstStyle/>
          <a:p>
            <a:pPr>
              <a:defRPr sz="2800" b="1">
                <a:solidFill>
                  <a:srgbClr val="1B314A"/>
                </a:solidFill>
                <a:latin typeface="Arial"/>
              </a:defRPr>
            </a:pPr>
            <a:r>
              <a:rPr dirty="0">
                <a:solidFill>
                  <a:schemeClr val="tx1">
                    <a:lumMod val="95000"/>
                    <a:lumOff val="5000"/>
                  </a:schemeClr>
                </a:solidFill>
              </a:rPr>
              <a:t>The Veil of Ignorance</a:t>
            </a:r>
          </a:p>
        </p:txBody>
      </p:sp>
      <p:sp>
        <p:nvSpPr>
          <p:cNvPr id="3" name="TextBox 2"/>
          <p:cNvSpPr txBox="1"/>
          <p:nvPr/>
        </p:nvSpPr>
        <p:spPr>
          <a:xfrm>
            <a:off x="2842382" y="1024128"/>
            <a:ext cx="6330451" cy="338554"/>
          </a:xfrm>
          <a:prstGeom prst="rect">
            <a:avLst/>
          </a:prstGeom>
          <a:noFill/>
        </p:spPr>
        <p:txBody>
          <a:bodyPr wrap="none">
            <a:spAutoFit/>
          </a:bodyPr>
          <a:lstStyle/>
          <a:p>
            <a:pPr algn="ctr">
              <a:defRPr sz="1400">
                <a:solidFill>
                  <a:srgbClr val="5A5A5A"/>
                </a:solidFill>
                <a:latin typeface="Arial"/>
              </a:defRPr>
            </a:pPr>
            <a:r>
              <a:rPr sz="1600" dirty="0">
                <a:solidFill>
                  <a:schemeClr val="tx1">
                    <a:lumMod val="95000"/>
                    <a:lumOff val="5000"/>
                  </a:schemeClr>
                </a:solidFill>
              </a:rPr>
              <a:t>A thought experiment for deciding what a fair society would look like</a:t>
            </a:r>
          </a:p>
        </p:txBody>
      </p:sp>
      <p:sp>
        <p:nvSpPr>
          <p:cNvPr id="4" name="Rounded Rectangle 3"/>
          <p:cNvSpPr/>
          <p:nvPr/>
        </p:nvSpPr>
        <p:spPr>
          <a:xfrm>
            <a:off x="685800" y="1417320"/>
            <a:ext cx="3383280" cy="1417320"/>
          </a:xfrm>
          <a:prstGeom prst="roundRect">
            <a:avLst/>
          </a:prstGeom>
          <a:solidFill>
            <a:srgbClr val="F2F4F7"/>
          </a:solidFill>
          <a:ln>
            <a:solidFill>
              <a:srgbClr val="1B31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B314A"/>
                </a:solidFill>
                <a:latin typeface="Arial"/>
              </a:defRPr>
            </a:pPr>
            <a:r>
              <a:rPr dirty="0"/>
              <a:t>You do NOT know…</a:t>
            </a:r>
          </a:p>
          <a:p>
            <a:pPr algn="ctr">
              <a:defRPr sz="1300">
                <a:solidFill>
                  <a:srgbClr val="232323"/>
                </a:solidFill>
                <a:latin typeface="Arial"/>
              </a:defRPr>
            </a:pPr>
            <a:r>
              <a:rPr dirty="0"/>
              <a:t>your class, wealth, gender, ethnicity, abilities, religion, social status or life chances</a:t>
            </a:r>
          </a:p>
        </p:txBody>
      </p:sp>
      <p:sp>
        <p:nvSpPr>
          <p:cNvPr id="5" name="Rounded Rectangle 4"/>
          <p:cNvSpPr/>
          <p:nvPr/>
        </p:nvSpPr>
        <p:spPr>
          <a:xfrm>
            <a:off x="4480560" y="1417320"/>
            <a:ext cx="3383280" cy="1417320"/>
          </a:xfrm>
          <a:prstGeom prst="roundRect">
            <a:avLst/>
          </a:prstGeom>
          <a:solidFill>
            <a:srgbClr val="F2F4F7"/>
          </a:solidFill>
          <a:ln>
            <a:solidFill>
              <a:srgbClr val="1B31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B314A"/>
                </a:solidFill>
                <a:latin typeface="Arial"/>
              </a:defRPr>
            </a:pPr>
            <a:r>
              <a:rPr dirty="0"/>
              <a:t>You DO know…</a:t>
            </a:r>
          </a:p>
          <a:p>
            <a:pPr algn="ctr">
              <a:defRPr sz="1300">
                <a:solidFill>
                  <a:srgbClr val="232323"/>
                </a:solidFill>
                <a:latin typeface="Arial"/>
              </a:defRPr>
            </a:pPr>
            <a:r>
              <a:rPr dirty="0"/>
              <a:t>general facts about society, economics and human </a:t>
            </a:r>
            <a:r>
              <a:rPr dirty="0" err="1"/>
              <a:t>behaviour</a:t>
            </a:r>
            <a:r>
              <a:rPr lang="en-GB" dirty="0"/>
              <a:t>s</a:t>
            </a:r>
            <a:endParaRPr dirty="0"/>
          </a:p>
        </p:txBody>
      </p:sp>
      <p:sp>
        <p:nvSpPr>
          <p:cNvPr id="6" name="Rounded Rectangle 5"/>
          <p:cNvSpPr/>
          <p:nvPr/>
        </p:nvSpPr>
        <p:spPr>
          <a:xfrm>
            <a:off x="8275320" y="1417320"/>
            <a:ext cx="3383280" cy="1417320"/>
          </a:xfrm>
          <a:prstGeom prst="roundRect">
            <a:avLst/>
          </a:prstGeom>
          <a:solidFill>
            <a:srgbClr val="F2F4F7"/>
          </a:solidFill>
          <a:ln>
            <a:solidFill>
              <a:srgbClr val="1B31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B314A"/>
                </a:solidFill>
                <a:latin typeface="Arial"/>
              </a:defRPr>
            </a:pPr>
            <a:r>
              <a:rPr dirty="0"/>
              <a:t>You must choose…</a:t>
            </a:r>
          </a:p>
          <a:p>
            <a:pPr algn="ctr">
              <a:defRPr sz="1300">
                <a:solidFill>
                  <a:srgbClr val="232323"/>
                </a:solidFill>
                <a:latin typeface="Arial"/>
              </a:defRPr>
            </a:pPr>
            <a:r>
              <a:rPr dirty="0"/>
              <a:t>the rules and institutions that everyone will live under</a:t>
            </a:r>
          </a:p>
        </p:txBody>
      </p:sp>
      <p:sp>
        <p:nvSpPr>
          <p:cNvPr id="7" name="Rounded Rectangle 6"/>
          <p:cNvSpPr/>
          <p:nvPr/>
        </p:nvSpPr>
        <p:spPr>
          <a:xfrm>
            <a:off x="685800" y="3154680"/>
            <a:ext cx="6949440" cy="2514600"/>
          </a:xfrm>
          <a:prstGeom prst="roundRect">
            <a:avLst/>
          </a:prstGeom>
          <a:solidFill>
            <a:srgbClr val="FFFFFF"/>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B314A"/>
                </a:solidFill>
                <a:latin typeface="Arial"/>
              </a:defRPr>
            </a:pPr>
            <a:r>
              <a:rPr dirty="0"/>
              <a:t>Why does this matter for EDI?</a:t>
            </a:r>
          </a:p>
          <a:p>
            <a:pPr algn="ctr">
              <a:spcBef>
                <a:spcPts val="800"/>
              </a:spcBef>
              <a:defRPr sz="1500">
                <a:solidFill>
                  <a:srgbClr val="232323"/>
                </a:solidFill>
                <a:latin typeface="Arial"/>
              </a:defRPr>
            </a:pPr>
            <a:r>
              <a:rPr dirty="0"/>
              <a:t>Because you do not know which social position you will occupy, you have a reason to design institutions that protect people who could be disadvantaged.</a:t>
            </a:r>
          </a:p>
          <a:p>
            <a:pPr algn="ctr">
              <a:spcBef>
                <a:spcPts val="800"/>
              </a:spcBef>
              <a:defRPr sz="1500">
                <a:solidFill>
                  <a:srgbClr val="232323"/>
                </a:solidFill>
                <a:latin typeface="Arial"/>
              </a:defRPr>
            </a:pPr>
            <a:r>
              <a:rPr dirty="0"/>
              <a:t>Rawls provides a moral argument for fairness that does not depend on EDI producing higher profits or </a:t>
            </a:r>
            <a:r>
              <a:rPr dirty="0" err="1"/>
              <a:t>organisational</a:t>
            </a:r>
            <a:r>
              <a:rPr dirty="0"/>
              <a:t> performance.</a:t>
            </a:r>
          </a:p>
          <a:p>
            <a:pPr algn="ctr">
              <a:spcBef>
                <a:spcPts val="800"/>
              </a:spcBef>
              <a:defRPr sz="1500">
                <a:solidFill>
                  <a:srgbClr val="232323"/>
                </a:solidFill>
                <a:latin typeface="Arial"/>
              </a:defRPr>
            </a:pPr>
            <a:r>
              <a:rPr dirty="0"/>
              <a:t>For HRM, the question becomes: </a:t>
            </a:r>
            <a:r>
              <a:rPr i="1" dirty="0"/>
              <a:t>what employment rules would we choose if we did not know whether we would be advantaged or disadvantaged by them?</a:t>
            </a:r>
          </a:p>
        </p:txBody>
      </p:sp>
      <p:sp>
        <p:nvSpPr>
          <p:cNvPr id="8" name="Rounded Rectangle 7"/>
          <p:cNvSpPr/>
          <p:nvPr/>
        </p:nvSpPr>
        <p:spPr>
          <a:xfrm>
            <a:off x="7955279" y="3154680"/>
            <a:ext cx="3474720" cy="2514600"/>
          </a:xfrm>
          <a:prstGeom prst="roundRect">
            <a:avLst/>
          </a:prstGeom>
          <a:solidFill>
            <a:srgbClr val="1B314A"/>
          </a:solidFill>
          <a:ln>
            <a:solidFill>
              <a:srgbClr val="1B31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FFFFFF"/>
                </a:solidFill>
                <a:latin typeface="Arial"/>
              </a:defRPr>
            </a:pPr>
            <a:r>
              <a:rPr dirty="0"/>
              <a:t>Discussion question</a:t>
            </a:r>
          </a:p>
          <a:p>
            <a:pPr algn="ctr">
              <a:spcBef>
                <a:spcPts val="1200"/>
              </a:spcBef>
              <a:defRPr sz="1600">
                <a:solidFill>
                  <a:srgbClr val="FFFFFF"/>
                </a:solidFill>
                <a:latin typeface="Arial"/>
              </a:defRPr>
            </a:pPr>
            <a:r>
              <a:rPr dirty="0"/>
              <a:t>Behind the veil of ignorance, what rules would you choose for recruitment, pay, promotion and workplace treatment if you did not know what position you would occupy in society?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173" y="808941"/>
            <a:ext cx="11407654" cy="5240118"/>
          </a:xfrm>
        </p:spPr>
        <p:txBody>
          <a:bodyPr>
            <a:normAutofit fontScale="55000" lnSpcReduction="20000"/>
          </a:bodyPr>
          <a:lstStyle/>
          <a:p>
            <a:pPr marL="0" indent="0">
              <a:lnSpc>
                <a:spcPct val="170000"/>
              </a:lnSpc>
              <a:buNone/>
            </a:pPr>
            <a:r>
              <a:rPr lang="en-US" sz="5100" b="1" dirty="0">
                <a:solidFill>
                  <a:srgbClr val="FF0000"/>
                </a:solidFill>
              </a:rPr>
              <a:t>Social Identity Theory </a:t>
            </a:r>
            <a:r>
              <a:rPr lang="en-US" sz="3300" dirty="0"/>
              <a:t>(Tajfel &amp; Turner, 1979)</a:t>
            </a:r>
          </a:p>
          <a:p>
            <a:pPr>
              <a:lnSpc>
                <a:spcPct val="170000"/>
              </a:lnSpc>
            </a:pPr>
            <a:r>
              <a:rPr lang="en-US" sz="3300" dirty="0"/>
              <a:t>People categorize themselves in terms of the social groups with which they identify (e.g. gender, ethnicity, age, religion, nationality, occupation etc.)</a:t>
            </a:r>
          </a:p>
          <a:p>
            <a:pPr>
              <a:lnSpc>
                <a:spcPct val="170000"/>
              </a:lnSpc>
            </a:pPr>
            <a:r>
              <a:rPr lang="en-US" sz="3300" dirty="0"/>
              <a:t>Examples: I am a women, I am a mother, I am an academic </a:t>
            </a:r>
          </a:p>
          <a:p>
            <a:pPr>
              <a:lnSpc>
                <a:spcPct val="170000"/>
              </a:lnSpc>
            </a:pPr>
            <a:r>
              <a:rPr lang="en-US" sz="3300" dirty="0"/>
              <a:t>Categorization provides lots of benefits to individuals:</a:t>
            </a:r>
          </a:p>
          <a:p>
            <a:pPr lvl="1">
              <a:lnSpc>
                <a:spcPct val="170000"/>
              </a:lnSpc>
            </a:pPr>
            <a:r>
              <a:rPr lang="en-US" sz="2900" dirty="0"/>
              <a:t>Provides them with a sense of belonging</a:t>
            </a:r>
          </a:p>
          <a:p>
            <a:pPr lvl="1">
              <a:lnSpc>
                <a:spcPct val="170000"/>
              </a:lnSpc>
            </a:pPr>
            <a:r>
              <a:rPr lang="en-US" sz="2900" dirty="0"/>
              <a:t>Positive impact on their self-esteem</a:t>
            </a:r>
          </a:p>
          <a:p>
            <a:pPr lvl="1">
              <a:lnSpc>
                <a:spcPct val="170000"/>
              </a:lnSpc>
            </a:pPr>
            <a:r>
              <a:rPr lang="en-US" sz="2900" dirty="0"/>
              <a:t>A guide for behaviour (e.g. norms associated with different social identities)</a:t>
            </a:r>
          </a:p>
          <a:p>
            <a:pPr>
              <a:lnSpc>
                <a:spcPct val="170000"/>
              </a:lnSpc>
            </a:pPr>
            <a:r>
              <a:rPr lang="en-US" sz="3300" dirty="0"/>
              <a:t>In group = those that are the same, out-group = those that are in different but relevant groups </a:t>
            </a:r>
          </a:p>
          <a:p>
            <a:pPr>
              <a:lnSpc>
                <a:spcPct val="170000"/>
              </a:lnSpc>
            </a:pPr>
            <a:r>
              <a:rPr lang="en-US" sz="3300" dirty="0"/>
              <a:t>Being categorized as out-group can lead to stereotyping and other forms of bias (such as prejudice) </a:t>
            </a:r>
          </a:p>
          <a:p>
            <a:endParaRPr lang="en-US" dirty="0"/>
          </a:p>
          <a:p>
            <a:endParaRPr lang="en-US" dirty="0"/>
          </a:p>
          <a:p>
            <a:endParaRPr lang="en-US" dirty="0"/>
          </a:p>
          <a:p>
            <a:pPr lvl="1"/>
            <a:endParaRPr lang="en-US" dirty="0"/>
          </a:p>
        </p:txBody>
      </p:sp>
    </p:spTree>
    <p:extLst>
      <p:ext uri="{BB962C8B-B14F-4D97-AF65-F5344CB8AC3E}">
        <p14:creationId xmlns:p14="http://schemas.microsoft.com/office/powerpoint/2010/main" val="1883869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F8D4-1F7A-EBFA-1942-5C6AD88C91D6}"/>
              </a:ext>
            </a:extLst>
          </p:cNvPr>
          <p:cNvSpPr>
            <a:spLocks noGrp="1"/>
          </p:cNvSpPr>
          <p:nvPr>
            <p:ph type="title"/>
          </p:nvPr>
        </p:nvSpPr>
        <p:spPr>
          <a:xfrm>
            <a:off x="645694" y="329030"/>
            <a:ext cx="10515600" cy="1325563"/>
          </a:xfrm>
        </p:spPr>
        <p:txBody>
          <a:bodyPr>
            <a:normAutofit/>
          </a:bodyPr>
          <a:lstStyle/>
          <a:p>
            <a:r>
              <a:rPr lang="en-US" sz="2800" b="1" dirty="0">
                <a:solidFill>
                  <a:srgbClr val="FF0000"/>
                </a:solidFill>
              </a:rPr>
              <a:t>Intersectionality</a:t>
            </a:r>
          </a:p>
        </p:txBody>
      </p:sp>
      <p:sp>
        <p:nvSpPr>
          <p:cNvPr id="3" name="Content Placeholder 2">
            <a:extLst>
              <a:ext uri="{FF2B5EF4-FFF2-40B4-BE49-F238E27FC236}">
                <a16:creationId xmlns:a16="http://schemas.microsoft.com/office/drawing/2014/main" id="{DC5866C9-5B3C-D42F-FA7D-10A035484532}"/>
              </a:ext>
            </a:extLst>
          </p:cNvPr>
          <p:cNvSpPr>
            <a:spLocks noGrp="1"/>
          </p:cNvSpPr>
          <p:nvPr>
            <p:ph idx="1"/>
          </p:nvPr>
        </p:nvSpPr>
        <p:spPr>
          <a:xfrm>
            <a:off x="393031" y="1555036"/>
            <a:ext cx="11405937" cy="4863933"/>
          </a:xfrm>
        </p:spPr>
        <p:txBody>
          <a:bodyPr>
            <a:normAutofit fontScale="77500" lnSpcReduction="20000"/>
          </a:bodyPr>
          <a:lstStyle/>
          <a:p>
            <a:pPr>
              <a:lnSpc>
                <a:spcPct val="160000"/>
              </a:lnSpc>
            </a:pPr>
            <a:r>
              <a:rPr lang="en-US" dirty="0"/>
              <a:t>Intersectionality is a framework for understanding how various aspects of a person's identity, such as race, gender, socioeconomic status, sexual orientation, and more, intersect and interact, creating overlapping systems of discrimination or privilege.</a:t>
            </a:r>
          </a:p>
          <a:p>
            <a:pPr>
              <a:lnSpc>
                <a:spcPct val="160000"/>
              </a:lnSpc>
            </a:pPr>
            <a:r>
              <a:rPr lang="en-US" dirty="0"/>
              <a:t>Term originated by the scholar Kimberley Crenshaw in the 1980s to show how discrimination laws in the USA were not able take into account the intersection of multiple minority identities (e.g. black, working class)</a:t>
            </a:r>
          </a:p>
          <a:p>
            <a:pPr>
              <a:lnSpc>
                <a:spcPct val="160000"/>
              </a:lnSpc>
            </a:pPr>
            <a:r>
              <a:rPr lang="en-US" dirty="0"/>
              <a:t>Multiple Identities - people belong to more than one social category or identity.</a:t>
            </a:r>
          </a:p>
          <a:p>
            <a:pPr>
              <a:lnSpc>
                <a:spcPct val="160000"/>
              </a:lnSpc>
            </a:pPr>
            <a:r>
              <a:rPr lang="en-US" dirty="0"/>
              <a:t>Oppressions and privileges are not isolated. Systems like racism, sexism, classism, and ableism are interconnected and can amplify one another.</a:t>
            </a:r>
          </a:p>
        </p:txBody>
      </p:sp>
    </p:spTree>
    <p:extLst>
      <p:ext uri="{BB962C8B-B14F-4D97-AF65-F5344CB8AC3E}">
        <p14:creationId xmlns:p14="http://schemas.microsoft.com/office/powerpoint/2010/main" val="1547265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FEEED-E296-A1C8-F7EC-8FA5CEFDE900}"/>
              </a:ext>
            </a:extLst>
          </p:cNvPr>
          <p:cNvSpPr>
            <a:spLocks noGrp="1"/>
          </p:cNvSpPr>
          <p:nvPr>
            <p:ph type="title"/>
          </p:nvPr>
        </p:nvSpPr>
        <p:spPr/>
        <p:txBody>
          <a:bodyPr/>
          <a:lstStyle/>
          <a:p>
            <a:r>
              <a:rPr lang="en-US" b="1" dirty="0"/>
              <a:t>The Identity Wheel</a:t>
            </a:r>
          </a:p>
        </p:txBody>
      </p:sp>
      <p:pic>
        <p:nvPicPr>
          <p:cNvPr id="1026" name="Picture 2" descr="The wheel of social identity • Recipes for Wellbeing">
            <a:extLst>
              <a:ext uri="{FF2B5EF4-FFF2-40B4-BE49-F238E27FC236}">
                <a16:creationId xmlns:a16="http://schemas.microsoft.com/office/drawing/2014/main" id="{D61C9FB3-B85B-C1FC-FFC0-2C59EB7A80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96685" y="1690688"/>
            <a:ext cx="5398630" cy="4301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846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C23E1-23BF-4B73-48BC-DBA63CA47801}"/>
              </a:ext>
            </a:extLst>
          </p:cNvPr>
          <p:cNvSpPr>
            <a:spLocks noGrp="1"/>
          </p:cNvSpPr>
          <p:nvPr>
            <p:ph type="title"/>
          </p:nvPr>
        </p:nvSpPr>
        <p:spPr>
          <a:xfrm>
            <a:off x="576072" y="529587"/>
            <a:ext cx="8610600" cy="1293028"/>
          </a:xfrm>
        </p:spPr>
        <p:txBody>
          <a:bodyPr/>
          <a:lstStyle/>
          <a:p>
            <a:pPr algn="l"/>
            <a:r>
              <a:rPr lang="en-US" b="1" dirty="0"/>
              <a:t>What is Bias?</a:t>
            </a:r>
          </a:p>
        </p:txBody>
      </p:sp>
      <p:pic>
        <p:nvPicPr>
          <p:cNvPr id="5" name="Content Placeholder 4" descr="A diagram of a model of bias&#10;&#10;There are three parts: cognitive, affect and behaviour. ">
            <a:extLst>
              <a:ext uri="{FF2B5EF4-FFF2-40B4-BE49-F238E27FC236}">
                <a16:creationId xmlns:a16="http://schemas.microsoft.com/office/drawing/2014/main" id="{747B7747-5F2C-5F38-9243-FA05C38ED6D0}"/>
              </a:ext>
            </a:extLst>
          </p:cNvPr>
          <p:cNvPicPr>
            <a:picLocks noGrp="1" noChangeAspect="1"/>
          </p:cNvPicPr>
          <p:nvPr>
            <p:ph idx="1"/>
          </p:nvPr>
        </p:nvPicPr>
        <p:blipFill rotWithShape="1">
          <a:blip r:embed="rId2"/>
          <a:srcRect t="21223"/>
          <a:stretch/>
        </p:blipFill>
        <p:spPr>
          <a:xfrm>
            <a:off x="6156811" y="1684175"/>
            <a:ext cx="6059721" cy="3886201"/>
          </a:xfrm>
        </p:spPr>
      </p:pic>
      <p:sp>
        <p:nvSpPr>
          <p:cNvPr id="6" name="TextBox 5">
            <a:extLst>
              <a:ext uri="{FF2B5EF4-FFF2-40B4-BE49-F238E27FC236}">
                <a16:creationId xmlns:a16="http://schemas.microsoft.com/office/drawing/2014/main" id="{C02118DE-A1A5-4B88-D509-91E46B417B44}"/>
              </a:ext>
            </a:extLst>
          </p:cNvPr>
          <p:cNvSpPr txBox="1"/>
          <p:nvPr/>
        </p:nvSpPr>
        <p:spPr>
          <a:xfrm>
            <a:off x="329181" y="1822615"/>
            <a:ext cx="6266689" cy="4610108"/>
          </a:xfrm>
          <a:prstGeom prst="rect">
            <a:avLst/>
          </a:prstGeom>
          <a:noFill/>
        </p:spPr>
        <p:txBody>
          <a:bodyPr wrap="square" rtlCol="0">
            <a:spAutoFit/>
          </a:bodyPr>
          <a:lstStyle/>
          <a:p>
            <a:pPr marL="285750" indent="-285750">
              <a:lnSpc>
                <a:spcPct val="150000"/>
              </a:lnSpc>
              <a:buClr>
                <a:schemeClr val="tx1"/>
              </a:buClr>
              <a:buFont typeface="Arial" panose="020B0604020202020204" pitchFamily="34" charset="0"/>
              <a:buChar char="•"/>
            </a:pPr>
            <a:r>
              <a:rPr lang="en-US" sz="1800" b="1" dirty="0">
                <a:solidFill>
                  <a:srgbClr val="FF0000"/>
                </a:solidFill>
                <a:latin typeface="+mn-lt"/>
              </a:rPr>
              <a:t>Tri-partite model of bias (Fiske, 2004)</a:t>
            </a:r>
          </a:p>
          <a:p>
            <a:pPr marL="342900" indent="-342900">
              <a:lnSpc>
                <a:spcPct val="150000"/>
              </a:lnSpc>
              <a:buClr>
                <a:schemeClr val="tx1"/>
              </a:buClr>
              <a:buFont typeface="+mj-lt"/>
              <a:buAutoNum type="arabicPeriod"/>
            </a:pPr>
            <a:r>
              <a:rPr lang="en-US" sz="1800" b="1" dirty="0">
                <a:solidFill>
                  <a:schemeClr val="tx1"/>
                </a:solidFill>
                <a:latin typeface="+mn-lt"/>
              </a:rPr>
              <a:t>Cognitive element  </a:t>
            </a:r>
            <a:r>
              <a:rPr lang="en-US" sz="1800" dirty="0">
                <a:solidFill>
                  <a:schemeClr val="tx1"/>
                </a:solidFill>
                <a:latin typeface="+mn-lt"/>
              </a:rPr>
              <a:t>- what we think about other groups, including stereotypes (e.g. men make better leaders than women)</a:t>
            </a:r>
          </a:p>
          <a:p>
            <a:pPr marL="342900" indent="-342900">
              <a:lnSpc>
                <a:spcPct val="150000"/>
              </a:lnSpc>
              <a:buClr>
                <a:schemeClr val="tx1"/>
              </a:buClr>
              <a:buFont typeface="+mj-lt"/>
              <a:buAutoNum type="arabicPeriod"/>
            </a:pPr>
            <a:r>
              <a:rPr lang="en-US" sz="1800" b="1" dirty="0">
                <a:solidFill>
                  <a:schemeClr val="tx1"/>
                </a:solidFill>
                <a:latin typeface="+mn-lt"/>
              </a:rPr>
              <a:t>Affective element </a:t>
            </a:r>
            <a:r>
              <a:rPr lang="en-US" sz="1800" dirty="0">
                <a:solidFill>
                  <a:schemeClr val="tx1"/>
                </a:solidFill>
                <a:latin typeface="+mn-lt"/>
              </a:rPr>
              <a:t>– what we feel about other groups, do we like them or dislike them? Do they make us angry? Often referred to as ‘prejudice’</a:t>
            </a:r>
          </a:p>
          <a:p>
            <a:pPr marL="342900" indent="-342900">
              <a:lnSpc>
                <a:spcPct val="150000"/>
              </a:lnSpc>
              <a:buClr>
                <a:schemeClr val="tx1"/>
              </a:buClr>
              <a:buFont typeface="+mj-lt"/>
              <a:buAutoNum type="arabicPeriod"/>
            </a:pPr>
            <a:r>
              <a:rPr lang="en-US" sz="1800" b="1" dirty="0">
                <a:solidFill>
                  <a:schemeClr val="tx1"/>
                </a:solidFill>
                <a:latin typeface="+mn-lt"/>
              </a:rPr>
              <a:t>Behavioural element </a:t>
            </a:r>
            <a:r>
              <a:rPr lang="en-US" sz="1800" dirty="0">
                <a:solidFill>
                  <a:schemeClr val="tx1"/>
                </a:solidFill>
                <a:latin typeface="+mn-lt"/>
              </a:rPr>
              <a:t>– what we actually do is often because of our thoughts (</a:t>
            </a:r>
            <a:r>
              <a:rPr lang="en-US" sz="1800" i="1" dirty="0">
                <a:solidFill>
                  <a:schemeClr val="tx1"/>
                </a:solidFill>
                <a:latin typeface="+mn-lt"/>
              </a:rPr>
              <a:t>stereotypes</a:t>
            </a:r>
            <a:r>
              <a:rPr lang="en-US" sz="1800" dirty="0">
                <a:solidFill>
                  <a:schemeClr val="tx1"/>
                </a:solidFill>
                <a:latin typeface="+mn-lt"/>
              </a:rPr>
              <a:t>) and feelings (</a:t>
            </a:r>
            <a:r>
              <a:rPr lang="en-US" sz="1800" i="1" dirty="0">
                <a:solidFill>
                  <a:schemeClr val="tx1"/>
                </a:solidFill>
                <a:latin typeface="+mn-lt"/>
              </a:rPr>
              <a:t>prejudice</a:t>
            </a:r>
            <a:r>
              <a:rPr lang="en-US" sz="1800" dirty="0">
                <a:solidFill>
                  <a:schemeClr val="tx1"/>
                </a:solidFill>
                <a:latin typeface="+mn-lt"/>
              </a:rPr>
              <a:t>) (example could be not promoting a women into a leadership role)</a:t>
            </a:r>
          </a:p>
        </p:txBody>
      </p:sp>
    </p:spTree>
    <p:extLst>
      <p:ext uri="{BB962C8B-B14F-4D97-AF65-F5344CB8AC3E}">
        <p14:creationId xmlns:p14="http://schemas.microsoft.com/office/powerpoint/2010/main" val="3529090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11973"/>
            <a:ext cx="10820400" cy="1293028"/>
          </a:xfrm>
        </p:spPr>
        <p:txBody>
          <a:bodyPr/>
          <a:lstStyle/>
          <a:p>
            <a:pPr algn="l"/>
            <a:r>
              <a:rPr lang="en-US" b="1" dirty="0"/>
              <a:t>Stereotyping - Discrimination</a:t>
            </a:r>
          </a:p>
        </p:txBody>
      </p:sp>
      <p:sp>
        <p:nvSpPr>
          <p:cNvPr id="3" name="Content Placeholder 2"/>
          <p:cNvSpPr>
            <a:spLocks noGrp="1"/>
          </p:cNvSpPr>
          <p:nvPr>
            <p:ph idx="1"/>
          </p:nvPr>
        </p:nvSpPr>
        <p:spPr>
          <a:xfrm>
            <a:off x="685800" y="1905002"/>
            <a:ext cx="11049000" cy="4669970"/>
          </a:xfrm>
        </p:spPr>
        <p:txBody>
          <a:bodyPr>
            <a:normAutofit/>
          </a:bodyPr>
          <a:lstStyle/>
          <a:p>
            <a:r>
              <a:rPr lang="en-US" sz="2400" dirty="0"/>
              <a:t>A widely held but oversimplified (e.g. a </a:t>
            </a:r>
            <a:r>
              <a:rPr lang="en-US" sz="2400" dirty="0" err="1"/>
              <a:t>generalisation</a:t>
            </a:r>
            <a:r>
              <a:rPr lang="en-US" sz="2400" dirty="0"/>
              <a:t>) idea about a person (or group of people)</a:t>
            </a:r>
          </a:p>
          <a:p>
            <a:r>
              <a:rPr lang="en-US" sz="2400" dirty="0"/>
              <a:t>Examples of stereotypes in the workplace:</a:t>
            </a:r>
          </a:p>
          <a:p>
            <a:pPr lvl="1"/>
            <a:r>
              <a:rPr lang="en-US" sz="2400" dirty="0"/>
              <a:t>Older workers are slower and less productive tha</a:t>
            </a:r>
            <a:r>
              <a:rPr lang="en-US" dirty="0"/>
              <a:t>n younger workers</a:t>
            </a:r>
            <a:endParaRPr lang="en-US" sz="2400" dirty="0"/>
          </a:p>
          <a:p>
            <a:pPr lvl="1"/>
            <a:r>
              <a:rPr lang="en-US" sz="2400" dirty="0"/>
              <a:t>Older workers are less able with technology than younger workers</a:t>
            </a:r>
          </a:p>
          <a:p>
            <a:pPr lvl="1"/>
            <a:r>
              <a:rPr lang="en-US" sz="2400" dirty="0"/>
              <a:t>Younger workers are less committed to their jobs than older workers</a:t>
            </a:r>
          </a:p>
          <a:p>
            <a:pPr lvl="1"/>
            <a:r>
              <a:rPr lang="en-US" dirty="0"/>
              <a:t>Younger workers are lazier than older workers</a:t>
            </a:r>
            <a:endParaRPr lang="en-US" sz="2400" dirty="0"/>
          </a:p>
          <a:p>
            <a:r>
              <a:rPr lang="en-US" sz="2400" dirty="0"/>
              <a:t>Stereotypes have been found to have a negative impact on a variety different work outcomes including: recruitment and selection decisions, promotion and career opportunities, performance management, and redundancies (Bradley-Geist &amp; Schmidtke, 2018; Heilman, 2012; Posthuma et al, 2012)</a:t>
            </a:r>
          </a:p>
          <a:p>
            <a:endParaRPr lang="en-US" dirty="0"/>
          </a:p>
        </p:txBody>
      </p:sp>
    </p:spTree>
    <p:extLst>
      <p:ext uri="{BB962C8B-B14F-4D97-AF65-F5344CB8AC3E}">
        <p14:creationId xmlns:p14="http://schemas.microsoft.com/office/powerpoint/2010/main" val="1959336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55515"/>
            <a:ext cx="8610600" cy="1293028"/>
          </a:xfrm>
        </p:spPr>
        <p:txBody>
          <a:bodyPr/>
          <a:lstStyle/>
          <a:p>
            <a:pPr algn="l"/>
            <a:r>
              <a:rPr lang="en-US" b="1" dirty="0"/>
              <a:t>Implicit or Unconscious Bias </a:t>
            </a:r>
          </a:p>
        </p:txBody>
      </p:sp>
      <p:sp>
        <p:nvSpPr>
          <p:cNvPr id="3" name="Content Placeholder 2"/>
          <p:cNvSpPr>
            <a:spLocks noGrp="1"/>
          </p:cNvSpPr>
          <p:nvPr>
            <p:ph idx="1"/>
          </p:nvPr>
        </p:nvSpPr>
        <p:spPr>
          <a:xfrm>
            <a:off x="685800" y="2238103"/>
            <a:ext cx="10820400" cy="4293326"/>
          </a:xfrm>
        </p:spPr>
        <p:txBody>
          <a:bodyPr>
            <a:normAutofit fontScale="92500"/>
          </a:bodyPr>
          <a:lstStyle/>
          <a:p>
            <a:pPr>
              <a:lnSpc>
                <a:spcPct val="150000"/>
              </a:lnSpc>
            </a:pPr>
            <a:r>
              <a:rPr lang="en-US" sz="2400" dirty="0"/>
              <a:t>Unconscious bias relates to the implicit associations we have about people outside of our conscious awareness</a:t>
            </a:r>
          </a:p>
          <a:p>
            <a:pPr>
              <a:lnSpc>
                <a:spcPct val="150000"/>
              </a:lnSpc>
            </a:pPr>
            <a:r>
              <a:rPr lang="en-US" sz="2400" dirty="0"/>
              <a:t>This is why perceptions of own ‘isms’ are often flawed (e.g. “I’m not racist or sexist”)</a:t>
            </a:r>
          </a:p>
          <a:p>
            <a:pPr>
              <a:lnSpc>
                <a:spcPct val="150000"/>
              </a:lnSpc>
            </a:pPr>
            <a:r>
              <a:rPr lang="en-US" sz="2400" dirty="0"/>
              <a:t>This concept has led to the development of numerous unconscious bias tests and a training area for employees. </a:t>
            </a:r>
          </a:p>
          <a:p>
            <a:pPr>
              <a:lnSpc>
                <a:spcPct val="150000"/>
              </a:lnSpc>
            </a:pPr>
            <a:r>
              <a:rPr lang="en-US" sz="2400" dirty="0"/>
              <a:t>However, it has been argued that unconscious bias training may be largely ineffective (Noon, 2018), which raises questions about its utility (Onyeador et al, 2021). </a:t>
            </a:r>
          </a:p>
        </p:txBody>
      </p:sp>
    </p:spTree>
    <p:extLst>
      <p:ext uri="{BB962C8B-B14F-4D97-AF65-F5344CB8AC3E}">
        <p14:creationId xmlns:p14="http://schemas.microsoft.com/office/powerpoint/2010/main" val="362939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40387"/>
            <a:ext cx="8610600" cy="1293028"/>
          </a:xfrm>
        </p:spPr>
        <p:txBody>
          <a:bodyPr/>
          <a:lstStyle/>
          <a:p>
            <a:pPr algn="l"/>
            <a:r>
              <a:rPr lang="en-US" b="1" dirty="0"/>
              <a:t>Managing Diversity</a:t>
            </a:r>
          </a:p>
        </p:txBody>
      </p:sp>
      <p:sp>
        <p:nvSpPr>
          <p:cNvPr id="3" name="Content Placeholder 2"/>
          <p:cNvSpPr>
            <a:spLocks noGrp="1"/>
          </p:cNvSpPr>
          <p:nvPr>
            <p:ph idx="1"/>
          </p:nvPr>
        </p:nvSpPr>
        <p:spPr/>
        <p:txBody>
          <a:bodyPr>
            <a:normAutofit fontScale="92500" lnSpcReduction="10000"/>
          </a:bodyPr>
          <a:lstStyle/>
          <a:p>
            <a:pPr>
              <a:lnSpc>
                <a:spcPct val="150000"/>
              </a:lnSpc>
            </a:pPr>
            <a:r>
              <a:rPr lang="en-US" sz="2400" dirty="0"/>
              <a:t>The concept of ‘diversity management’ emerged in the late 1980s.</a:t>
            </a:r>
          </a:p>
          <a:p>
            <a:pPr>
              <a:lnSpc>
                <a:spcPct val="150000"/>
              </a:lnSpc>
            </a:pPr>
            <a:r>
              <a:rPr lang="en-US" sz="2400" dirty="0"/>
              <a:t>Managing diversity encompasses lots of different concepts and refers to the systematic and planned commitment on the part of organizations to recruit and retain employees from diverse backgrounds (Thomas, 1992). </a:t>
            </a:r>
          </a:p>
          <a:p>
            <a:pPr>
              <a:lnSpc>
                <a:spcPct val="150000"/>
              </a:lnSpc>
            </a:pPr>
            <a:r>
              <a:rPr lang="en-US" sz="2400" dirty="0"/>
              <a:t>Managing diversity often presents a business case for equal opportunities, linking diversity related initiatives with business strategy.</a:t>
            </a:r>
          </a:p>
          <a:p>
            <a:pPr>
              <a:lnSpc>
                <a:spcPct val="150000"/>
              </a:lnSpc>
            </a:pPr>
            <a:r>
              <a:rPr lang="en-US" sz="2400" dirty="0"/>
              <a:t>What do you think - do you think organisations should manage diversity as it makes good business sense? </a:t>
            </a:r>
            <a:endParaRPr lang="en-US" dirty="0"/>
          </a:p>
          <a:p>
            <a:pPr marL="0" indent="0">
              <a:buNone/>
            </a:pPr>
            <a:endParaRPr lang="en-US" dirty="0"/>
          </a:p>
        </p:txBody>
      </p:sp>
    </p:spTree>
    <p:extLst>
      <p:ext uri="{BB962C8B-B14F-4D97-AF65-F5344CB8AC3E}">
        <p14:creationId xmlns:p14="http://schemas.microsoft.com/office/powerpoint/2010/main" val="326102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33744"/>
            <a:ext cx="11506200" cy="1293028"/>
          </a:xfrm>
        </p:spPr>
        <p:txBody>
          <a:bodyPr>
            <a:normAutofit/>
          </a:bodyPr>
          <a:lstStyle/>
          <a:p>
            <a:pPr algn="l"/>
            <a:r>
              <a:rPr lang="en-US" sz="3600" b="1" dirty="0"/>
              <a:t>Managing Diversity……A Changing World</a:t>
            </a:r>
          </a:p>
        </p:txBody>
      </p:sp>
      <p:sp>
        <p:nvSpPr>
          <p:cNvPr id="3" name="Content Placeholder 2"/>
          <p:cNvSpPr>
            <a:spLocks noGrp="1"/>
          </p:cNvSpPr>
          <p:nvPr>
            <p:ph idx="1"/>
          </p:nvPr>
        </p:nvSpPr>
        <p:spPr>
          <a:xfrm>
            <a:off x="685800" y="2194560"/>
            <a:ext cx="10820400" cy="4293326"/>
          </a:xfrm>
        </p:spPr>
        <p:txBody>
          <a:bodyPr>
            <a:normAutofit fontScale="92500"/>
          </a:bodyPr>
          <a:lstStyle/>
          <a:p>
            <a:pPr>
              <a:lnSpc>
                <a:spcPct val="150000"/>
              </a:lnSpc>
            </a:pPr>
            <a:r>
              <a:rPr lang="en-US" sz="2600" dirty="0"/>
              <a:t>Huge demographic changes for the labour market</a:t>
            </a:r>
          </a:p>
          <a:p>
            <a:pPr>
              <a:lnSpc>
                <a:spcPct val="150000"/>
              </a:lnSpc>
            </a:pPr>
            <a:r>
              <a:rPr lang="en-US" sz="2600" dirty="0"/>
              <a:t>An ageing population, globalization, and changes in work/home life </a:t>
            </a:r>
          </a:p>
          <a:p>
            <a:pPr>
              <a:lnSpc>
                <a:spcPct val="150000"/>
              </a:lnSpc>
            </a:pPr>
            <a:r>
              <a:rPr lang="en-US" sz="2600" dirty="0"/>
              <a:t>Increase in numbers of women, ethic minorities and older workers in the labour market. </a:t>
            </a:r>
          </a:p>
          <a:p>
            <a:pPr>
              <a:lnSpc>
                <a:spcPct val="150000"/>
              </a:lnSpc>
            </a:pPr>
            <a:r>
              <a:rPr lang="en-US" sz="2600" dirty="0"/>
              <a:t>Organizations wanted to turn these demographic changes into an advantage - to </a:t>
            </a:r>
            <a:r>
              <a:rPr lang="en-US" sz="2600" dirty="0" err="1"/>
              <a:t>capitalise</a:t>
            </a:r>
            <a:r>
              <a:rPr lang="en-US" sz="2600" dirty="0"/>
              <a:t> on the new talent that was not previously available to them</a:t>
            </a:r>
            <a:endParaRPr lang="en-US" dirty="0"/>
          </a:p>
          <a:p>
            <a:endParaRPr lang="en-US" dirty="0"/>
          </a:p>
        </p:txBody>
      </p:sp>
    </p:spTree>
    <p:extLst>
      <p:ext uri="{BB962C8B-B14F-4D97-AF65-F5344CB8AC3E}">
        <p14:creationId xmlns:p14="http://schemas.microsoft.com/office/powerpoint/2010/main" val="1362956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90202"/>
            <a:ext cx="11136086" cy="1293028"/>
          </a:xfrm>
        </p:spPr>
        <p:txBody>
          <a:bodyPr>
            <a:normAutofit/>
          </a:bodyPr>
          <a:lstStyle/>
          <a:p>
            <a:pPr algn="l"/>
            <a:r>
              <a:rPr lang="en-US" sz="4000" b="1" dirty="0"/>
              <a:t>The Moral or Social Justice Rationale</a:t>
            </a:r>
          </a:p>
        </p:txBody>
      </p:sp>
      <p:sp>
        <p:nvSpPr>
          <p:cNvPr id="3" name="Content Placeholder 2"/>
          <p:cNvSpPr>
            <a:spLocks noGrp="1"/>
          </p:cNvSpPr>
          <p:nvPr>
            <p:ph idx="1"/>
          </p:nvPr>
        </p:nvSpPr>
        <p:spPr>
          <a:xfrm>
            <a:off x="685800" y="2194560"/>
            <a:ext cx="10820400" cy="4303776"/>
          </a:xfrm>
        </p:spPr>
        <p:txBody>
          <a:bodyPr>
            <a:normAutofit fontScale="92500" lnSpcReduction="20000"/>
          </a:bodyPr>
          <a:lstStyle/>
          <a:p>
            <a:pPr>
              <a:lnSpc>
                <a:spcPct val="150000"/>
              </a:lnSpc>
            </a:pPr>
            <a:r>
              <a:rPr lang="en-US" sz="2400" dirty="0"/>
              <a:t>Having fair and equitable workplaces is the ‘right’ thing to do</a:t>
            </a:r>
          </a:p>
          <a:p>
            <a:pPr>
              <a:lnSpc>
                <a:spcPct val="150000"/>
              </a:lnSpc>
            </a:pPr>
            <a:r>
              <a:rPr lang="en-US" sz="2400" dirty="0"/>
              <a:t>Organisations should promote interaction between groups (women and men, able bodied and less able bodied)</a:t>
            </a:r>
          </a:p>
          <a:p>
            <a:pPr>
              <a:lnSpc>
                <a:spcPct val="150000"/>
              </a:lnSpc>
            </a:pPr>
            <a:r>
              <a:rPr lang="en-US" sz="2400" dirty="0"/>
              <a:t>Helps to foster culture change in an organization (culture can shape our beliefs, norms and behaviour)</a:t>
            </a:r>
          </a:p>
          <a:p>
            <a:pPr>
              <a:lnSpc>
                <a:spcPct val="150000"/>
              </a:lnSpc>
            </a:pPr>
            <a:r>
              <a:rPr lang="en-US" sz="2400" dirty="0"/>
              <a:t>Encourages attitude adjustment and can counter prejudice in the workplace</a:t>
            </a:r>
          </a:p>
          <a:p>
            <a:pPr>
              <a:lnSpc>
                <a:spcPct val="150000"/>
              </a:lnSpc>
            </a:pPr>
            <a:r>
              <a:rPr lang="en-US" sz="2400" dirty="0"/>
              <a:t>Can increase commitment/loyalty to the employer</a:t>
            </a:r>
          </a:p>
          <a:p>
            <a:pPr>
              <a:lnSpc>
                <a:spcPct val="150000"/>
              </a:lnSpc>
            </a:pPr>
            <a:r>
              <a:rPr lang="en-US" sz="2400" dirty="0"/>
              <a:t>Creates organisational harmony – it is socially ‘just’ and morally desirable</a:t>
            </a:r>
          </a:p>
        </p:txBody>
      </p:sp>
    </p:spTree>
    <p:extLst>
      <p:ext uri="{BB962C8B-B14F-4D97-AF65-F5344CB8AC3E}">
        <p14:creationId xmlns:p14="http://schemas.microsoft.com/office/powerpoint/2010/main" val="131249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33745"/>
            <a:ext cx="11049000" cy="1293028"/>
          </a:xfrm>
        </p:spPr>
        <p:txBody>
          <a:bodyPr>
            <a:normAutofit/>
          </a:bodyPr>
          <a:lstStyle/>
          <a:p>
            <a:pPr algn="l"/>
            <a:r>
              <a:rPr lang="en-US" sz="4000" b="1" dirty="0"/>
              <a:t>The Economic Rationale for Managing Diversity</a:t>
            </a:r>
          </a:p>
        </p:txBody>
      </p:sp>
      <p:sp>
        <p:nvSpPr>
          <p:cNvPr id="3" name="Content Placeholder 2"/>
          <p:cNvSpPr>
            <a:spLocks noGrp="1"/>
          </p:cNvSpPr>
          <p:nvPr>
            <p:ph idx="1"/>
          </p:nvPr>
        </p:nvSpPr>
        <p:spPr/>
        <p:txBody>
          <a:bodyPr>
            <a:normAutofit lnSpcReduction="10000"/>
          </a:bodyPr>
          <a:lstStyle/>
          <a:p>
            <a:pPr>
              <a:lnSpc>
                <a:spcPct val="150000"/>
              </a:lnSpc>
            </a:pPr>
            <a:r>
              <a:rPr lang="en-US" sz="2400" dirty="0"/>
              <a:t>'The Business Case’</a:t>
            </a:r>
          </a:p>
          <a:p>
            <a:pPr>
              <a:lnSpc>
                <a:spcPct val="150000"/>
              </a:lnSpc>
            </a:pPr>
            <a:r>
              <a:rPr lang="en-US" sz="2400" dirty="0"/>
              <a:t>Improves productivity and encourages more innovative solutions to problems (could increase profits!)</a:t>
            </a:r>
          </a:p>
          <a:p>
            <a:pPr>
              <a:lnSpc>
                <a:spcPct val="150000"/>
              </a:lnSpc>
            </a:pPr>
            <a:r>
              <a:rPr lang="en-US" sz="2400" dirty="0"/>
              <a:t>Assists in the understanding of a greater number of customer needs thus potentially increases the customer base (Segal, 1997)</a:t>
            </a:r>
          </a:p>
          <a:p>
            <a:pPr>
              <a:lnSpc>
                <a:spcPct val="150000"/>
              </a:lnSpc>
            </a:pPr>
            <a:r>
              <a:rPr lang="en-US" sz="2400" dirty="0"/>
              <a:t>Enhances corporate competitiveness and continued survival</a:t>
            </a:r>
          </a:p>
          <a:p>
            <a:pPr>
              <a:lnSpc>
                <a:spcPct val="150000"/>
              </a:lnSpc>
            </a:pPr>
            <a:r>
              <a:rPr lang="en-US" sz="2400" dirty="0"/>
              <a:t>Helps lower the likelihood of litigation</a:t>
            </a:r>
          </a:p>
        </p:txBody>
      </p:sp>
    </p:spTree>
    <p:extLst>
      <p:ext uri="{BB962C8B-B14F-4D97-AF65-F5344CB8AC3E}">
        <p14:creationId xmlns:p14="http://schemas.microsoft.com/office/powerpoint/2010/main" val="1278972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4373"/>
            <a:ext cx="10820400" cy="1293028"/>
          </a:xfrm>
        </p:spPr>
        <p:txBody>
          <a:bodyPr/>
          <a:lstStyle/>
          <a:p>
            <a:pPr algn="l"/>
            <a:r>
              <a:rPr lang="en-US" b="1" dirty="0"/>
              <a:t>Principles of Diversity Management</a:t>
            </a:r>
          </a:p>
        </p:txBody>
      </p:sp>
      <p:sp>
        <p:nvSpPr>
          <p:cNvPr id="3" name="Content Placeholder 2"/>
          <p:cNvSpPr>
            <a:spLocks noGrp="1"/>
          </p:cNvSpPr>
          <p:nvPr>
            <p:ph idx="1"/>
          </p:nvPr>
        </p:nvSpPr>
        <p:spPr>
          <a:xfrm>
            <a:off x="511628" y="1981202"/>
            <a:ext cx="11157858" cy="4024125"/>
          </a:xfrm>
        </p:spPr>
        <p:txBody>
          <a:bodyPr>
            <a:noAutofit/>
          </a:bodyPr>
          <a:lstStyle/>
          <a:p>
            <a:pPr>
              <a:lnSpc>
                <a:spcPct val="150000"/>
              </a:lnSpc>
            </a:pPr>
            <a:r>
              <a:rPr lang="en-US" sz="2000" dirty="0"/>
              <a:t>Pitts (2006) conceptualizes diversity management to consist of three inter-related components:</a:t>
            </a:r>
          </a:p>
          <a:p>
            <a:pPr lvl="1">
              <a:lnSpc>
                <a:spcPct val="150000"/>
              </a:lnSpc>
            </a:pPr>
            <a:r>
              <a:rPr lang="en-US" b="1" dirty="0"/>
              <a:t>Recruitment and outreach </a:t>
            </a:r>
            <a:r>
              <a:rPr lang="mr-IN" dirty="0"/>
              <a:t>–</a:t>
            </a:r>
            <a:r>
              <a:rPr lang="en-US" dirty="0"/>
              <a:t> organisations should actively seek out diverse employees </a:t>
            </a:r>
          </a:p>
          <a:p>
            <a:pPr lvl="1">
              <a:lnSpc>
                <a:spcPct val="150000"/>
              </a:lnSpc>
            </a:pPr>
            <a:r>
              <a:rPr lang="en-US" b="1" dirty="0"/>
              <a:t>Valuing difference </a:t>
            </a:r>
            <a:r>
              <a:rPr lang="mr-IN" dirty="0"/>
              <a:t>–</a:t>
            </a:r>
            <a:r>
              <a:rPr lang="en-US" dirty="0"/>
              <a:t> differences (both visible and non-visible) must be valued </a:t>
            </a:r>
          </a:p>
          <a:p>
            <a:pPr lvl="1">
              <a:lnSpc>
                <a:spcPct val="150000"/>
              </a:lnSpc>
            </a:pPr>
            <a:r>
              <a:rPr lang="en-US" b="1" dirty="0"/>
              <a:t>Pragmatic programs and policies </a:t>
            </a:r>
            <a:r>
              <a:rPr lang="mr-IN" dirty="0"/>
              <a:t>–</a:t>
            </a:r>
            <a:r>
              <a:rPr lang="en-US" dirty="0"/>
              <a:t> a set of management tools that ensures that diverse groups in the workplace have their needs met </a:t>
            </a:r>
          </a:p>
        </p:txBody>
      </p:sp>
    </p:spTree>
    <p:extLst>
      <p:ext uri="{BB962C8B-B14F-4D97-AF65-F5344CB8AC3E}">
        <p14:creationId xmlns:p14="http://schemas.microsoft.com/office/powerpoint/2010/main" val="1431345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33744"/>
            <a:ext cx="8610600" cy="1293028"/>
          </a:xfrm>
        </p:spPr>
        <p:txBody>
          <a:bodyPr/>
          <a:lstStyle/>
          <a:p>
            <a:pPr algn="l"/>
            <a:r>
              <a:rPr lang="en-US" b="1" dirty="0"/>
              <a:t>Diversity Initiatives</a:t>
            </a:r>
          </a:p>
        </p:txBody>
      </p:sp>
      <p:sp>
        <p:nvSpPr>
          <p:cNvPr id="3" name="Content Placeholder 2"/>
          <p:cNvSpPr>
            <a:spLocks noGrp="1"/>
          </p:cNvSpPr>
          <p:nvPr>
            <p:ph idx="1"/>
          </p:nvPr>
        </p:nvSpPr>
        <p:spPr>
          <a:xfrm>
            <a:off x="429985" y="2200131"/>
            <a:ext cx="11332029" cy="4453332"/>
          </a:xfrm>
        </p:spPr>
        <p:txBody>
          <a:bodyPr>
            <a:normAutofit/>
          </a:bodyPr>
          <a:lstStyle/>
          <a:p>
            <a:pPr>
              <a:lnSpc>
                <a:spcPct val="150000"/>
              </a:lnSpc>
            </a:pPr>
            <a:r>
              <a:rPr lang="en-US" sz="2400" dirty="0"/>
              <a:t>Encourage voice/representation from all employees (e.g. advisory councils, support groups)</a:t>
            </a:r>
          </a:p>
          <a:p>
            <a:pPr>
              <a:lnSpc>
                <a:spcPct val="150000"/>
              </a:lnSpc>
            </a:pPr>
            <a:r>
              <a:rPr lang="en-US" sz="2400" b="1" dirty="0"/>
              <a:t>IBM</a:t>
            </a:r>
            <a:r>
              <a:rPr lang="en-US" sz="2400" dirty="0"/>
              <a:t> has created network groups for LGBTQ employees in 12 countries</a:t>
            </a:r>
          </a:p>
          <a:p>
            <a:pPr>
              <a:lnSpc>
                <a:spcPct val="150000"/>
              </a:lnSpc>
            </a:pPr>
            <a:r>
              <a:rPr lang="en-US" sz="2400" dirty="0"/>
              <a:t>Career development initiatives (e.g. leadership development programs specifically aimed at women, ethnic minorities)</a:t>
            </a:r>
          </a:p>
          <a:p>
            <a:pPr>
              <a:lnSpc>
                <a:spcPct val="150000"/>
              </a:lnSpc>
            </a:pPr>
            <a:r>
              <a:rPr lang="en-US" sz="2400" dirty="0"/>
              <a:t>Stereotype and unconscious bias training </a:t>
            </a:r>
          </a:p>
          <a:p>
            <a:pPr>
              <a:lnSpc>
                <a:spcPct val="150000"/>
              </a:lnSpc>
            </a:pPr>
            <a:r>
              <a:rPr lang="en-US" sz="2400" dirty="0"/>
              <a:t>~£10 billion pounds spent annually on diversity training in USA, as of 2025</a:t>
            </a:r>
          </a:p>
        </p:txBody>
      </p:sp>
    </p:spTree>
    <p:extLst>
      <p:ext uri="{BB962C8B-B14F-4D97-AF65-F5344CB8AC3E}">
        <p14:creationId xmlns:p14="http://schemas.microsoft.com/office/powerpoint/2010/main" val="64338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343" y="611973"/>
            <a:ext cx="11179629" cy="1293028"/>
          </a:xfrm>
        </p:spPr>
        <p:txBody>
          <a:bodyPr/>
          <a:lstStyle/>
          <a:p>
            <a:pPr algn="l"/>
            <a:r>
              <a:rPr lang="en-US" b="1" dirty="0"/>
              <a:t>Examples of Diversity Initiatives</a:t>
            </a:r>
          </a:p>
        </p:txBody>
      </p:sp>
      <p:pic>
        <p:nvPicPr>
          <p:cNvPr id="4" name="Content Placeholder 3" descr="Mckinsey Log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7129" y="1905000"/>
            <a:ext cx="4093028" cy="2442131"/>
          </a:xfrm>
          <a:prstGeom prst="rect">
            <a:avLst/>
          </a:prstGeom>
        </p:spPr>
      </p:pic>
      <p:pic>
        <p:nvPicPr>
          <p:cNvPr id="5" name="Picture 4" descr="Coca-cola logo"/>
          <p:cNvPicPr>
            <a:picLocks noChangeAspect="1"/>
          </p:cNvPicPr>
          <p:nvPr/>
        </p:nvPicPr>
        <p:blipFill>
          <a:blip r:embed="rId3"/>
          <a:stretch>
            <a:fillRect/>
          </a:stretch>
        </p:blipFill>
        <p:spPr>
          <a:xfrm>
            <a:off x="6418943" y="1905000"/>
            <a:ext cx="5092700" cy="1587500"/>
          </a:xfrm>
          <a:prstGeom prst="rect">
            <a:avLst/>
          </a:prstGeom>
        </p:spPr>
      </p:pic>
      <p:pic>
        <p:nvPicPr>
          <p:cNvPr id="6" name="Picture 5" descr="Mastercard logo"/>
          <p:cNvPicPr>
            <a:picLocks noChangeAspect="1"/>
          </p:cNvPicPr>
          <p:nvPr/>
        </p:nvPicPr>
        <p:blipFill>
          <a:blip r:embed="rId4"/>
          <a:stretch>
            <a:fillRect/>
          </a:stretch>
        </p:blipFill>
        <p:spPr>
          <a:xfrm>
            <a:off x="1843313" y="4630159"/>
            <a:ext cx="3055259" cy="1968500"/>
          </a:xfrm>
          <a:prstGeom prst="rect">
            <a:avLst/>
          </a:prstGeom>
        </p:spPr>
      </p:pic>
      <p:sp>
        <p:nvSpPr>
          <p:cNvPr id="10" name="TextBox 9">
            <a:extLst>
              <a:ext uri="{FF2B5EF4-FFF2-40B4-BE49-F238E27FC236}">
                <a16:creationId xmlns:a16="http://schemas.microsoft.com/office/drawing/2014/main" id="{9DFFC589-EA35-B30B-EAEA-091DA54F8DBC}"/>
              </a:ext>
            </a:extLst>
          </p:cNvPr>
          <p:cNvSpPr txBox="1"/>
          <p:nvPr/>
        </p:nvSpPr>
        <p:spPr>
          <a:xfrm>
            <a:off x="7114175" y="4675433"/>
            <a:ext cx="3055259" cy="1569660"/>
          </a:xfrm>
          <a:prstGeom prst="rect">
            <a:avLst/>
          </a:prstGeom>
          <a:noFill/>
        </p:spPr>
        <p:txBody>
          <a:bodyPr wrap="square">
            <a:spAutoFit/>
          </a:bodyPr>
          <a:lstStyle/>
          <a:p>
            <a:pPr algn="r"/>
            <a:r>
              <a:rPr sz="9600" b="1" dirty="0">
                <a:solidFill>
                  <a:srgbClr val="0560BB"/>
                </a:solidFill>
                <a:latin typeface="Aptos"/>
              </a:rPr>
              <a:t>IBM</a:t>
            </a:r>
          </a:p>
        </p:txBody>
      </p:sp>
    </p:spTree>
    <p:extLst>
      <p:ext uri="{BB962C8B-B14F-4D97-AF65-F5344CB8AC3E}">
        <p14:creationId xmlns:p14="http://schemas.microsoft.com/office/powerpoint/2010/main" val="932486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9711954" cy="553998"/>
          </a:xfrm>
          <a:prstGeom prst="rect">
            <a:avLst/>
          </a:prstGeom>
          <a:noFill/>
        </p:spPr>
        <p:txBody>
          <a:bodyPr wrap="none">
            <a:spAutoFit/>
          </a:bodyPr>
          <a:lstStyle/>
          <a:p>
            <a:pPr algn="l"/>
            <a:r>
              <a:rPr lang="en-GB" sz="3000" b="1" dirty="0">
                <a:solidFill>
                  <a:srgbClr val="282828"/>
                </a:solidFill>
                <a:latin typeface="Aptos"/>
              </a:rPr>
              <a:t>CASE STUDY 1 – </a:t>
            </a:r>
            <a:r>
              <a:rPr sz="3000" b="1" dirty="0">
                <a:solidFill>
                  <a:srgbClr val="282828"/>
                </a:solidFill>
                <a:latin typeface="Aptos"/>
              </a:rPr>
              <a:t>IBM</a:t>
            </a:r>
            <a:r>
              <a:rPr lang="en-GB" sz="3000" b="1" dirty="0">
                <a:solidFill>
                  <a:srgbClr val="282828"/>
                </a:solidFill>
                <a:latin typeface="Aptos"/>
              </a:rPr>
              <a:t>’s </a:t>
            </a:r>
            <a:r>
              <a:rPr sz="3000" b="1" dirty="0">
                <a:solidFill>
                  <a:srgbClr val="282828"/>
                </a:solidFill>
                <a:latin typeface="Aptos"/>
              </a:rPr>
              <a:t>global HRM and LGBT+ inclusion</a:t>
            </a:r>
          </a:p>
        </p:txBody>
      </p:sp>
      <p:sp>
        <p:nvSpPr>
          <p:cNvPr id="3" name="TextBox 2"/>
          <p:cNvSpPr txBox="1"/>
          <p:nvPr/>
        </p:nvSpPr>
        <p:spPr>
          <a:xfrm>
            <a:off x="9555480" y="320040"/>
            <a:ext cx="1920240" cy="658368"/>
          </a:xfrm>
          <a:prstGeom prst="rect">
            <a:avLst/>
          </a:prstGeom>
          <a:noFill/>
        </p:spPr>
        <p:txBody>
          <a:bodyPr wrap="none">
            <a:spAutoFit/>
          </a:bodyPr>
          <a:lstStyle/>
          <a:p>
            <a:pPr algn="r"/>
            <a:r>
              <a:rPr sz="3400" b="1" dirty="0">
                <a:solidFill>
                  <a:srgbClr val="0560BB"/>
                </a:solidFill>
                <a:latin typeface="Aptos"/>
              </a:rPr>
              <a:t>IBM</a:t>
            </a:r>
          </a:p>
        </p:txBody>
      </p:sp>
      <p:sp>
        <p:nvSpPr>
          <p:cNvPr id="4" name="TextBox 3"/>
          <p:cNvSpPr txBox="1"/>
          <p:nvPr/>
        </p:nvSpPr>
        <p:spPr>
          <a:xfrm>
            <a:off x="530352" y="987552"/>
            <a:ext cx="10424160" cy="347472"/>
          </a:xfrm>
          <a:prstGeom prst="rect">
            <a:avLst/>
          </a:prstGeom>
          <a:noFill/>
        </p:spPr>
        <p:txBody>
          <a:bodyPr wrap="square">
            <a:spAutoFit/>
          </a:bodyPr>
          <a:lstStyle/>
          <a:p>
            <a:r>
              <a:rPr sz="1400" b="0">
                <a:solidFill>
                  <a:srgbClr val="5F5F5F"/>
                </a:solidFill>
                <a:latin typeface="Aptos"/>
              </a:rPr>
              <a:t>Why IBM is useful: it lets us compare a global corporate EDI policy with different legal and cultural contexts.</a:t>
            </a:r>
          </a:p>
        </p:txBody>
      </p:sp>
      <p:sp>
        <p:nvSpPr>
          <p:cNvPr id="5" name="Rounded Rectangle 4"/>
          <p:cNvSpPr/>
          <p:nvPr/>
        </p:nvSpPr>
        <p:spPr>
          <a:xfrm>
            <a:off x="594360" y="1508760"/>
            <a:ext cx="3337560" cy="411480"/>
          </a:xfrm>
          <a:prstGeom prst="roundRect">
            <a:avLst/>
          </a:prstGeom>
          <a:solidFill>
            <a:srgbClr val="E8F2FF"/>
          </a:solidFill>
          <a:ln>
            <a:solidFill>
              <a:srgbClr val="C8C8C8"/>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r>
              <a:rPr sz="1600" b="1">
                <a:solidFill>
                  <a:srgbClr val="282828"/>
                </a:solidFill>
                <a:latin typeface="Aptos"/>
              </a:rPr>
              <a:t>IBM globally</a:t>
            </a:r>
          </a:p>
        </p:txBody>
      </p:sp>
      <p:sp>
        <p:nvSpPr>
          <p:cNvPr id="6" name="TextBox 5"/>
          <p:cNvSpPr txBox="1"/>
          <p:nvPr/>
        </p:nvSpPr>
        <p:spPr>
          <a:xfrm>
            <a:off x="731520" y="2039112"/>
            <a:ext cx="3063240" cy="2148840"/>
          </a:xfrm>
          <a:prstGeom prst="rect">
            <a:avLst/>
          </a:prstGeom>
          <a:noFill/>
        </p:spPr>
        <p:txBody>
          <a:bodyPr wrap="square">
            <a:normAutofit lnSpcReduction="10000"/>
          </a:bodyPr>
          <a:lstStyle/>
          <a:p>
            <a:pPr algn="ctr">
              <a:spcAft>
                <a:spcPts val="600"/>
              </a:spcAft>
              <a:defRPr sz="1600">
                <a:solidFill>
                  <a:srgbClr val="282828"/>
                </a:solidFill>
                <a:latin typeface="Aptos"/>
              </a:defRPr>
            </a:pPr>
            <a:r>
              <a:rPr dirty="0"/>
              <a:t>US-headquartered technology and consulting multinational</a:t>
            </a:r>
          </a:p>
          <a:p>
            <a:pPr algn="ctr">
              <a:spcAft>
                <a:spcPts val="600"/>
              </a:spcAft>
              <a:defRPr sz="1600">
                <a:solidFill>
                  <a:srgbClr val="282828"/>
                </a:solidFill>
                <a:latin typeface="Aptos"/>
              </a:defRPr>
            </a:pPr>
            <a:r>
              <a:rPr dirty="0"/>
              <a:t>IBM presents inclusion as linked to innovation, creativity and competitive success</a:t>
            </a:r>
          </a:p>
          <a:p>
            <a:pPr algn="ctr">
              <a:spcAft>
                <a:spcPts val="600"/>
              </a:spcAft>
              <a:defRPr sz="1600">
                <a:solidFill>
                  <a:srgbClr val="282828"/>
                </a:solidFill>
                <a:latin typeface="Aptos"/>
              </a:defRPr>
            </a:pPr>
            <a:r>
              <a:rPr dirty="0"/>
              <a:t>Long institutional narrative: IBM traces non-discrimination policy back to 1953</a:t>
            </a:r>
          </a:p>
        </p:txBody>
      </p:sp>
      <p:sp>
        <p:nvSpPr>
          <p:cNvPr id="7" name="Rounded Rectangle 6"/>
          <p:cNvSpPr/>
          <p:nvPr/>
        </p:nvSpPr>
        <p:spPr>
          <a:xfrm>
            <a:off x="4251960" y="1508760"/>
            <a:ext cx="3337560" cy="411480"/>
          </a:xfrm>
          <a:prstGeom prst="roundRect">
            <a:avLst/>
          </a:prstGeom>
          <a:solidFill>
            <a:srgbClr val="E8F2FF"/>
          </a:solidFill>
          <a:ln>
            <a:solidFill>
              <a:srgbClr val="C8C8C8"/>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r>
              <a:rPr sz="1600" b="1">
                <a:solidFill>
                  <a:srgbClr val="282828"/>
                </a:solidFill>
                <a:latin typeface="Aptos"/>
              </a:rPr>
              <a:t>Western IBM / LGBT+</a:t>
            </a:r>
          </a:p>
        </p:txBody>
      </p:sp>
      <p:sp>
        <p:nvSpPr>
          <p:cNvPr id="8" name="TextBox 7"/>
          <p:cNvSpPr txBox="1"/>
          <p:nvPr/>
        </p:nvSpPr>
        <p:spPr>
          <a:xfrm>
            <a:off x="4389120" y="2039112"/>
            <a:ext cx="3063240" cy="2148840"/>
          </a:xfrm>
          <a:prstGeom prst="rect">
            <a:avLst/>
          </a:prstGeom>
          <a:noFill/>
        </p:spPr>
        <p:txBody>
          <a:bodyPr wrap="square">
            <a:normAutofit fontScale="92500" lnSpcReduction="10000"/>
          </a:bodyPr>
          <a:lstStyle/>
          <a:p>
            <a:pPr algn="ctr">
              <a:spcAft>
                <a:spcPts val="600"/>
              </a:spcAft>
              <a:defRPr sz="1600">
                <a:solidFill>
                  <a:srgbClr val="282828"/>
                </a:solidFill>
                <a:latin typeface="Aptos"/>
              </a:defRPr>
            </a:pPr>
            <a:r>
              <a:rPr dirty="0"/>
              <a:t>Current global policy covers sexual orientation, gender identity and gender expression</a:t>
            </a:r>
          </a:p>
          <a:p>
            <a:pPr algn="ctr">
              <a:spcAft>
                <a:spcPts val="600"/>
              </a:spcAft>
              <a:defRPr sz="1600">
                <a:solidFill>
                  <a:srgbClr val="282828"/>
                </a:solidFill>
                <a:latin typeface="Aptos"/>
              </a:defRPr>
            </a:pPr>
            <a:r>
              <a:rPr dirty="0"/>
              <a:t>LGBT+ inclusion sits within wider equality, anti-harassment and employee voice frameworks</a:t>
            </a:r>
          </a:p>
          <a:p>
            <a:pPr algn="ctr">
              <a:spcAft>
                <a:spcPts val="600"/>
              </a:spcAft>
              <a:defRPr sz="1600">
                <a:solidFill>
                  <a:srgbClr val="282828"/>
                </a:solidFill>
                <a:latin typeface="Aptos"/>
              </a:defRPr>
            </a:pPr>
            <a:r>
              <a:rPr dirty="0"/>
              <a:t>Western legal systems often give clearer employment protection and relationship recognition</a:t>
            </a:r>
          </a:p>
        </p:txBody>
      </p:sp>
      <p:sp>
        <p:nvSpPr>
          <p:cNvPr id="9" name="Rounded Rectangle 8"/>
          <p:cNvSpPr/>
          <p:nvPr/>
        </p:nvSpPr>
        <p:spPr>
          <a:xfrm>
            <a:off x="7909560" y="1508760"/>
            <a:ext cx="3337560" cy="411480"/>
          </a:xfrm>
          <a:prstGeom prst="roundRect">
            <a:avLst/>
          </a:prstGeom>
          <a:solidFill>
            <a:srgbClr val="E8F2FF"/>
          </a:solidFill>
          <a:ln>
            <a:solidFill>
              <a:srgbClr val="C8C8C8"/>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r>
              <a:rPr sz="1600" b="1">
                <a:solidFill>
                  <a:srgbClr val="282828"/>
                </a:solidFill>
                <a:latin typeface="Aptos"/>
              </a:rPr>
              <a:t>Critical issue</a:t>
            </a:r>
          </a:p>
        </p:txBody>
      </p:sp>
      <p:sp>
        <p:nvSpPr>
          <p:cNvPr id="10" name="TextBox 9"/>
          <p:cNvSpPr txBox="1"/>
          <p:nvPr/>
        </p:nvSpPr>
        <p:spPr>
          <a:xfrm>
            <a:off x="8046720" y="2039112"/>
            <a:ext cx="3063240" cy="2148840"/>
          </a:xfrm>
          <a:prstGeom prst="rect">
            <a:avLst/>
          </a:prstGeom>
          <a:noFill/>
        </p:spPr>
        <p:txBody>
          <a:bodyPr wrap="square">
            <a:normAutofit lnSpcReduction="10000"/>
          </a:bodyPr>
          <a:lstStyle/>
          <a:p>
            <a:pPr algn="ctr">
              <a:spcAft>
                <a:spcPts val="600"/>
              </a:spcAft>
              <a:defRPr sz="1600">
                <a:solidFill>
                  <a:srgbClr val="282828"/>
                </a:solidFill>
                <a:latin typeface="Aptos"/>
              </a:defRPr>
            </a:pPr>
            <a:r>
              <a:rPr dirty="0"/>
              <a:t>A global EDI policy is not experienced identically everywhere</a:t>
            </a:r>
          </a:p>
          <a:p>
            <a:pPr algn="ctr">
              <a:spcAft>
                <a:spcPts val="600"/>
              </a:spcAft>
              <a:defRPr sz="1600">
                <a:solidFill>
                  <a:srgbClr val="282828"/>
                </a:solidFill>
                <a:latin typeface="Aptos"/>
              </a:defRPr>
            </a:pPr>
            <a:r>
              <a:rPr dirty="0"/>
              <a:t>US/Western DEI is now also legally and politically contested</a:t>
            </a:r>
          </a:p>
          <a:p>
            <a:pPr algn="ctr">
              <a:spcAft>
                <a:spcPts val="600"/>
              </a:spcAft>
              <a:defRPr sz="1600">
                <a:solidFill>
                  <a:srgbClr val="282828"/>
                </a:solidFill>
                <a:latin typeface="Aptos"/>
              </a:defRPr>
            </a:pPr>
            <a:r>
              <a:rPr dirty="0"/>
              <a:t>Question: compliance, social justice, business case, or corporate identity?</a:t>
            </a:r>
          </a:p>
        </p:txBody>
      </p:sp>
      <p:sp>
        <p:nvSpPr>
          <p:cNvPr id="11" name="Rounded Rectangle 10"/>
          <p:cNvSpPr/>
          <p:nvPr/>
        </p:nvSpPr>
        <p:spPr>
          <a:xfrm>
            <a:off x="822960" y="4937760"/>
            <a:ext cx="10607040" cy="777240"/>
          </a:xfrm>
          <a:prstGeom prst="roundRect">
            <a:avLst/>
          </a:prstGeom>
          <a:solidFill>
            <a:srgbClr val="F5F5F5"/>
          </a:solidFill>
          <a:ln>
            <a:solidFill>
              <a:srgbClr val="D2D2D2"/>
            </a:solidFill>
          </a:ln>
        </p:spPr>
        <p:style>
          <a:lnRef idx="1">
            <a:schemeClr val="accent1"/>
          </a:lnRef>
          <a:fillRef idx="3">
            <a:schemeClr val="accent1"/>
          </a:fillRef>
          <a:effectRef idx="2">
            <a:schemeClr val="accent1"/>
          </a:effectRef>
          <a:fontRef idx="minor">
            <a:schemeClr val="lt1"/>
          </a:fontRef>
        </p:style>
        <p:txBody>
          <a:bodyPr wrap="square" lIns="164592" tIns="91440" rIns="164592" bIns="73152" rtlCol="0" anchor="ctr"/>
          <a:lstStyle/>
          <a:p>
            <a:pPr algn="ctr"/>
            <a:r>
              <a:rPr sz="1500" b="0">
                <a:solidFill>
                  <a:srgbClr val="282828"/>
                </a:solidFill>
                <a:latin typeface="Aptos"/>
              </a:rPr>
              <a:t>Discussion: does a global multinational have a responsibility to standardise LGBT+ rights across its operations, or should it adapt to local law and culture?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8778240" cy="658368"/>
          </a:xfrm>
          <a:prstGeom prst="rect">
            <a:avLst/>
          </a:prstGeom>
          <a:noFill/>
        </p:spPr>
        <p:txBody>
          <a:bodyPr wrap="none">
            <a:spAutoFit/>
          </a:bodyPr>
          <a:lstStyle/>
          <a:p>
            <a:pPr algn="l"/>
            <a:r>
              <a:rPr sz="3000" b="1">
                <a:solidFill>
                  <a:srgbClr val="282828"/>
                </a:solidFill>
                <a:latin typeface="Aptos"/>
              </a:rPr>
              <a:t>LGBT+ law: West and China</a:t>
            </a:r>
          </a:p>
        </p:txBody>
      </p:sp>
      <p:sp>
        <p:nvSpPr>
          <p:cNvPr id="3" name="TextBox 2"/>
          <p:cNvSpPr txBox="1"/>
          <p:nvPr/>
        </p:nvSpPr>
        <p:spPr>
          <a:xfrm>
            <a:off x="530352" y="987552"/>
            <a:ext cx="10698480" cy="347472"/>
          </a:xfrm>
          <a:prstGeom prst="rect">
            <a:avLst/>
          </a:prstGeom>
          <a:noFill/>
        </p:spPr>
        <p:txBody>
          <a:bodyPr wrap="square">
            <a:spAutoFit/>
          </a:bodyPr>
          <a:lstStyle/>
          <a:p>
            <a:r>
              <a:rPr sz="1400" b="0">
                <a:solidFill>
                  <a:srgbClr val="5F5F5F"/>
                </a:solidFill>
                <a:latin typeface="Aptos"/>
              </a:rPr>
              <a:t>“The West” is not uniform, but UK/US/EU contexts generally give clearer statutory workplace protections than mainland China.</a:t>
            </a:r>
          </a:p>
        </p:txBody>
      </p:sp>
      <p:graphicFrame>
        <p:nvGraphicFramePr>
          <p:cNvPr id="4" name="Table 3"/>
          <p:cNvGraphicFramePr>
            <a:graphicFrameLocks noGrp="1"/>
          </p:cNvGraphicFramePr>
          <p:nvPr>
            <p:extLst>
              <p:ext uri="{D42A27DB-BD31-4B8C-83A1-F6EECF244321}">
                <p14:modId xmlns:p14="http://schemas.microsoft.com/office/powerpoint/2010/main" val="736977060"/>
              </p:ext>
            </p:extLst>
          </p:nvPr>
        </p:nvGraphicFramePr>
        <p:xfrm>
          <a:off x="502920" y="1444752"/>
          <a:ext cx="11201400" cy="4651248"/>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896112">
                <a:tc>
                  <a:txBody>
                    <a:bodyPr/>
                    <a:lstStyle/>
                    <a:p>
                      <a:r>
                        <a:rPr sz="1600" b="1">
                          <a:solidFill>
                            <a:schemeClr val="tx1">
                              <a:lumMod val="95000"/>
                              <a:lumOff val="5000"/>
                            </a:schemeClr>
                          </a:solidFill>
                          <a:latin typeface="Aptos"/>
                        </a:rPr>
                        <a:t>Issue</a:t>
                      </a:r>
                    </a:p>
                  </a:txBody>
                  <a:tcPr>
                    <a:solidFill>
                      <a:srgbClr val="E8F2FF"/>
                    </a:solidFill>
                  </a:tcPr>
                </a:tc>
                <a:tc>
                  <a:txBody>
                    <a:bodyPr/>
                    <a:lstStyle/>
                    <a:p>
                      <a:r>
                        <a:rPr sz="1600" b="1">
                          <a:solidFill>
                            <a:schemeClr val="tx1">
                              <a:lumMod val="95000"/>
                              <a:lumOff val="5000"/>
                            </a:schemeClr>
                          </a:solidFill>
                          <a:latin typeface="Aptos"/>
                        </a:rPr>
                        <a:t>UK/US/EU-type Western position</a:t>
                      </a:r>
                    </a:p>
                  </a:txBody>
                  <a:tcPr>
                    <a:solidFill>
                      <a:srgbClr val="E8F2FF"/>
                    </a:solidFill>
                  </a:tcPr>
                </a:tc>
                <a:tc>
                  <a:txBody>
                    <a:bodyPr/>
                    <a:lstStyle/>
                    <a:p>
                      <a:r>
                        <a:rPr sz="1600" b="1">
                          <a:solidFill>
                            <a:schemeClr val="tx1">
                              <a:lumMod val="95000"/>
                              <a:lumOff val="5000"/>
                            </a:schemeClr>
                          </a:solidFill>
                          <a:latin typeface="Aptos"/>
                        </a:rPr>
                        <a:t>Mainland China position</a:t>
                      </a:r>
                    </a:p>
                  </a:txBody>
                  <a:tcPr>
                    <a:solidFill>
                      <a:srgbClr val="E8F2FF"/>
                    </a:solidFill>
                  </a:tcPr>
                </a:tc>
                <a:extLst>
                  <a:ext uri="{0D108BD9-81ED-4DB2-BD59-A6C34878D82A}">
                    <a16:rowId xmlns:a16="http://schemas.microsoft.com/office/drawing/2014/main" val="10000"/>
                  </a:ext>
                </a:extLst>
              </a:tr>
              <a:tr h="896112">
                <a:tc>
                  <a:txBody>
                    <a:bodyPr/>
                    <a:lstStyle/>
                    <a:p>
                      <a:r>
                        <a:rPr sz="1600" b="1">
                          <a:solidFill>
                            <a:schemeClr val="tx1">
                              <a:lumMod val="95000"/>
                              <a:lumOff val="5000"/>
                            </a:schemeClr>
                          </a:solidFill>
                          <a:latin typeface="Aptos"/>
                        </a:rPr>
                        <a:t>Employment protection</a:t>
                      </a:r>
                    </a:p>
                  </a:txBody>
                  <a:tcPr marL="73152" marR="73152">
                    <a:solidFill>
                      <a:srgbClr val="FAFAFA"/>
                    </a:solidFill>
                  </a:tcPr>
                </a:tc>
                <a:tc>
                  <a:txBody>
                    <a:bodyPr/>
                    <a:lstStyle/>
                    <a:p>
                      <a:r>
                        <a:rPr sz="1600" b="0" dirty="0">
                          <a:solidFill>
                            <a:schemeClr val="tx1">
                              <a:lumMod val="95000"/>
                              <a:lumOff val="5000"/>
                            </a:schemeClr>
                          </a:solidFill>
                          <a:latin typeface="Aptos"/>
                        </a:rPr>
                        <a:t>Sexual orientation and gender reassignment / gender identity are generally protected in employment law.</a:t>
                      </a:r>
                    </a:p>
                  </a:txBody>
                  <a:tcPr marL="73152" marR="73152"/>
                </a:tc>
                <a:tc>
                  <a:txBody>
                    <a:bodyPr/>
                    <a:lstStyle/>
                    <a:p>
                      <a:r>
                        <a:rPr sz="1600" b="0">
                          <a:solidFill>
                            <a:schemeClr val="tx1">
                              <a:lumMod val="95000"/>
                              <a:lumOff val="5000"/>
                            </a:schemeClr>
                          </a:solidFill>
                          <a:latin typeface="Aptos"/>
                        </a:rPr>
                        <a:t>No long-standing explicit national statutory protection in labour law; some recent judicial signals may support claims, but protection is less codified.</a:t>
                      </a:r>
                    </a:p>
                  </a:txBody>
                  <a:tcPr marL="73152" marR="73152"/>
                </a:tc>
                <a:extLst>
                  <a:ext uri="{0D108BD9-81ED-4DB2-BD59-A6C34878D82A}">
                    <a16:rowId xmlns:a16="http://schemas.microsoft.com/office/drawing/2014/main" val="10001"/>
                  </a:ext>
                </a:extLst>
              </a:tr>
              <a:tr h="896112">
                <a:tc>
                  <a:txBody>
                    <a:bodyPr/>
                    <a:lstStyle/>
                    <a:p>
                      <a:r>
                        <a:rPr sz="1600" b="1">
                          <a:solidFill>
                            <a:schemeClr val="tx1">
                              <a:lumMod val="95000"/>
                              <a:lumOff val="5000"/>
                            </a:schemeClr>
                          </a:solidFill>
                          <a:latin typeface="Aptos"/>
                        </a:rPr>
                        <a:t>Relationship recognition</a:t>
                      </a:r>
                    </a:p>
                  </a:txBody>
                  <a:tcPr marL="73152" marR="73152">
                    <a:solidFill>
                      <a:srgbClr val="FAFAFA"/>
                    </a:solidFill>
                  </a:tcPr>
                </a:tc>
                <a:tc>
                  <a:txBody>
                    <a:bodyPr/>
                    <a:lstStyle/>
                    <a:p>
                      <a:r>
                        <a:rPr sz="1600" b="0">
                          <a:solidFill>
                            <a:schemeClr val="tx1">
                              <a:lumMod val="95000"/>
                              <a:lumOff val="5000"/>
                            </a:schemeClr>
                          </a:solidFill>
                          <a:latin typeface="Aptos"/>
                        </a:rPr>
                        <a:t>Same-sex marriage or civil partnership is legally recognised in many Western jurisdictions, including the UK.</a:t>
                      </a:r>
                    </a:p>
                  </a:txBody>
                  <a:tcPr marL="73152" marR="73152"/>
                </a:tc>
                <a:tc>
                  <a:txBody>
                    <a:bodyPr/>
                    <a:lstStyle/>
                    <a:p>
                      <a:r>
                        <a:rPr sz="1600" b="0">
                          <a:solidFill>
                            <a:schemeClr val="tx1">
                              <a:lumMod val="95000"/>
                              <a:lumOff val="5000"/>
                            </a:schemeClr>
                          </a:solidFill>
                          <a:latin typeface="Aptos"/>
                        </a:rPr>
                        <a:t>Same-sex marriage and civil unions are not legally recognised.</a:t>
                      </a:r>
                    </a:p>
                  </a:txBody>
                  <a:tcPr marL="73152" marR="73152"/>
                </a:tc>
                <a:extLst>
                  <a:ext uri="{0D108BD9-81ED-4DB2-BD59-A6C34878D82A}">
                    <a16:rowId xmlns:a16="http://schemas.microsoft.com/office/drawing/2014/main" val="10002"/>
                  </a:ext>
                </a:extLst>
              </a:tr>
              <a:tr h="896112">
                <a:tc>
                  <a:txBody>
                    <a:bodyPr/>
                    <a:lstStyle/>
                    <a:p>
                      <a:r>
                        <a:rPr sz="1600" b="1">
                          <a:solidFill>
                            <a:schemeClr val="tx1">
                              <a:lumMod val="95000"/>
                              <a:lumOff val="5000"/>
                            </a:schemeClr>
                          </a:solidFill>
                          <a:latin typeface="Aptos"/>
                        </a:rPr>
                        <a:t>Corporate visibility</a:t>
                      </a:r>
                    </a:p>
                  </a:txBody>
                  <a:tcPr marL="73152" marR="73152">
                    <a:solidFill>
                      <a:srgbClr val="FAFAFA"/>
                    </a:solidFill>
                  </a:tcPr>
                </a:tc>
                <a:tc>
                  <a:txBody>
                    <a:bodyPr/>
                    <a:lstStyle/>
                    <a:p>
                      <a:r>
                        <a:rPr sz="1600" b="0">
                          <a:solidFill>
                            <a:schemeClr val="tx1">
                              <a:lumMod val="95000"/>
                              <a:lumOff val="5000"/>
                            </a:schemeClr>
                          </a:solidFill>
                          <a:latin typeface="Aptos"/>
                        </a:rPr>
                        <a:t>Pride networks, employee resource groups and partner benefits are relatively normalised in many large firms.</a:t>
                      </a:r>
                    </a:p>
                  </a:txBody>
                  <a:tcPr marL="73152" marR="73152"/>
                </a:tc>
                <a:tc>
                  <a:txBody>
                    <a:bodyPr/>
                    <a:lstStyle/>
                    <a:p>
                      <a:r>
                        <a:rPr sz="1600" b="0">
                          <a:solidFill>
                            <a:schemeClr val="tx1">
                              <a:lumMod val="95000"/>
                              <a:lumOff val="5000"/>
                            </a:schemeClr>
                          </a:solidFill>
                          <a:latin typeface="Aptos"/>
                        </a:rPr>
                        <a:t>More privacy risk: participation in LGBT+ schemes may disclose identity or relationship status.</a:t>
                      </a:r>
                    </a:p>
                  </a:txBody>
                  <a:tcPr marL="73152" marR="73152"/>
                </a:tc>
                <a:extLst>
                  <a:ext uri="{0D108BD9-81ED-4DB2-BD59-A6C34878D82A}">
                    <a16:rowId xmlns:a16="http://schemas.microsoft.com/office/drawing/2014/main" val="10003"/>
                  </a:ext>
                </a:extLst>
              </a:tr>
              <a:tr h="896112">
                <a:tc>
                  <a:txBody>
                    <a:bodyPr/>
                    <a:lstStyle/>
                    <a:p>
                      <a:r>
                        <a:rPr sz="1600" b="1">
                          <a:solidFill>
                            <a:schemeClr val="tx1">
                              <a:lumMod val="95000"/>
                              <a:lumOff val="5000"/>
                            </a:schemeClr>
                          </a:solidFill>
                          <a:latin typeface="Aptos"/>
                        </a:rPr>
                        <a:t>HRM problem</a:t>
                      </a:r>
                    </a:p>
                  </a:txBody>
                  <a:tcPr marL="73152" marR="73152">
                    <a:solidFill>
                      <a:srgbClr val="FAFAFA"/>
                    </a:solidFill>
                  </a:tcPr>
                </a:tc>
                <a:tc>
                  <a:txBody>
                    <a:bodyPr/>
                    <a:lstStyle/>
                    <a:p>
                      <a:r>
                        <a:rPr sz="1600" b="0">
                          <a:solidFill>
                            <a:schemeClr val="tx1">
                              <a:lumMod val="95000"/>
                              <a:lumOff val="5000"/>
                            </a:schemeClr>
                          </a:solidFill>
                          <a:latin typeface="Aptos"/>
                        </a:rPr>
                        <a:t>EDI often framed as compliance + inclusion + employer branding.</a:t>
                      </a:r>
                    </a:p>
                  </a:txBody>
                  <a:tcPr marL="73152" marR="73152"/>
                </a:tc>
                <a:tc>
                  <a:txBody>
                    <a:bodyPr/>
                    <a:lstStyle/>
                    <a:p>
                      <a:r>
                        <a:rPr sz="1600" b="0" dirty="0">
                          <a:solidFill>
                            <a:schemeClr val="tx1">
                              <a:lumMod val="95000"/>
                              <a:lumOff val="5000"/>
                            </a:schemeClr>
                          </a:solidFill>
                          <a:latin typeface="Aptos"/>
                        </a:rPr>
                        <a:t>EDI requires </a:t>
                      </a:r>
                      <a:r>
                        <a:rPr sz="1600" b="0" dirty="0" err="1">
                          <a:solidFill>
                            <a:schemeClr val="tx1">
                              <a:lumMod val="95000"/>
                              <a:lumOff val="5000"/>
                            </a:schemeClr>
                          </a:solidFill>
                          <a:latin typeface="Aptos"/>
                        </a:rPr>
                        <a:t>localisation</a:t>
                      </a:r>
                      <a:r>
                        <a:rPr sz="1600" b="0" dirty="0">
                          <a:solidFill>
                            <a:schemeClr val="tx1">
                              <a:lumMod val="95000"/>
                              <a:lumOff val="5000"/>
                            </a:schemeClr>
                          </a:solidFill>
                          <a:latin typeface="Aptos"/>
                        </a:rPr>
                        <a:t>: confidentiality, cautious visibility, and mechanisms not dependent on legal marriage certificates.</a:t>
                      </a:r>
                    </a:p>
                  </a:txBody>
                  <a:tcPr marL="73152" marR="73152"/>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8778240" cy="658368"/>
          </a:xfrm>
          <a:prstGeom prst="rect">
            <a:avLst/>
          </a:prstGeom>
          <a:noFill/>
        </p:spPr>
        <p:txBody>
          <a:bodyPr wrap="none">
            <a:spAutoFit/>
          </a:bodyPr>
          <a:lstStyle/>
          <a:p>
            <a:pPr algn="l"/>
            <a:r>
              <a:rPr sz="3000" b="1">
                <a:solidFill>
                  <a:srgbClr val="282828"/>
                </a:solidFill>
                <a:latin typeface="Aptos"/>
              </a:rPr>
              <a:t>IBM China: LGBT+ policies</a:t>
            </a:r>
          </a:p>
        </p:txBody>
      </p:sp>
      <p:sp>
        <p:nvSpPr>
          <p:cNvPr id="3" name="TextBox 2"/>
          <p:cNvSpPr txBox="1"/>
          <p:nvPr/>
        </p:nvSpPr>
        <p:spPr>
          <a:xfrm>
            <a:off x="9555480" y="320040"/>
            <a:ext cx="1920240" cy="658368"/>
          </a:xfrm>
          <a:prstGeom prst="rect">
            <a:avLst/>
          </a:prstGeom>
          <a:noFill/>
        </p:spPr>
        <p:txBody>
          <a:bodyPr wrap="none">
            <a:spAutoFit/>
          </a:bodyPr>
          <a:lstStyle/>
          <a:p>
            <a:pPr algn="r"/>
            <a:r>
              <a:rPr sz="3400" b="1" dirty="0">
                <a:solidFill>
                  <a:srgbClr val="0560BB"/>
                </a:solidFill>
                <a:latin typeface="Aptos"/>
              </a:rPr>
              <a:t>IBM</a:t>
            </a:r>
          </a:p>
        </p:txBody>
      </p:sp>
      <p:sp>
        <p:nvSpPr>
          <p:cNvPr id="4" name="TextBox 3"/>
          <p:cNvSpPr txBox="1"/>
          <p:nvPr/>
        </p:nvSpPr>
        <p:spPr>
          <a:xfrm>
            <a:off x="530352" y="987552"/>
            <a:ext cx="10241280" cy="347472"/>
          </a:xfrm>
          <a:prstGeom prst="rect">
            <a:avLst/>
          </a:prstGeom>
          <a:noFill/>
        </p:spPr>
        <p:txBody>
          <a:bodyPr wrap="square">
            <a:spAutoFit/>
          </a:bodyPr>
          <a:lstStyle/>
          <a:p>
            <a:r>
              <a:rPr sz="1400" b="0">
                <a:solidFill>
                  <a:srgbClr val="5F5F5F"/>
                </a:solidFill>
                <a:latin typeface="Aptos"/>
              </a:rPr>
              <a:t>IBM China shows how a global EDI framework can be adapted where formal legal recognition is weaker.</a:t>
            </a:r>
          </a:p>
        </p:txBody>
      </p:sp>
      <p:sp>
        <p:nvSpPr>
          <p:cNvPr id="5" name="Rounded Rectangle 4"/>
          <p:cNvSpPr/>
          <p:nvPr/>
        </p:nvSpPr>
        <p:spPr>
          <a:xfrm>
            <a:off x="594360" y="1417320"/>
            <a:ext cx="5166360" cy="411480"/>
          </a:xfrm>
          <a:prstGeom prst="roundRect">
            <a:avLst/>
          </a:prstGeom>
          <a:solidFill>
            <a:srgbClr val="E8F2FF"/>
          </a:solidFill>
          <a:ln>
            <a:solidFill>
              <a:srgbClr val="C8C8C8"/>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r>
              <a:rPr sz="1600" b="1">
                <a:solidFill>
                  <a:srgbClr val="282828"/>
                </a:solidFill>
                <a:latin typeface="Aptos"/>
              </a:rPr>
              <a:t>What IBM China introduced</a:t>
            </a:r>
          </a:p>
        </p:txBody>
      </p:sp>
      <p:sp>
        <p:nvSpPr>
          <p:cNvPr id="6" name="TextBox 5"/>
          <p:cNvSpPr txBox="1"/>
          <p:nvPr/>
        </p:nvSpPr>
        <p:spPr>
          <a:xfrm>
            <a:off x="777240" y="1920240"/>
            <a:ext cx="4754880" cy="3429000"/>
          </a:xfrm>
          <a:prstGeom prst="rect">
            <a:avLst/>
          </a:prstGeom>
          <a:noFill/>
        </p:spPr>
        <p:txBody>
          <a:bodyPr wrap="square">
            <a:normAutofit fontScale="92500"/>
          </a:bodyPr>
          <a:lstStyle/>
          <a:p>
            <a:pPr algn="ctr">
              <a:spcAft>
                <a:spcPts val="600"/>
              </a:spcAft>
              <a:defRPr sz="1520">
                <a:solidFill>
                  <a:srgbClr val="282828"/>
                </a:solidFill>
                <a:latin typeface="Aptos"/>
              </a:defRPr>
            </a:pPr>
            <a:r>
              <a:rPr dirty="0"/>
              <a:t>EAGLE LGBT+ employee network</a:t>
            </a:r>
            <a:endParaRPr lang="en-GB" dirty="0"/>
          </a:p>
          <a:p>
            <a:pPr algn="ctr">
              <a:spcAft>
                <a:spcPts val="600"/>
              </a:spcAft>
              <a:defRPr sz="1520">
                <a:solidFill>
                  <a:srgbClr val="282828"/>
                </a:solidFill>
                <a:latin typeface="Aptos"/>
              </a:defRPr>
            </a:pPr>
            <a:r>
              <a:rPr dirty="0"/>
              <a:t>“EAGLE and Friends” ally group open to all employees</a:t>
            </a:r>
            <a:endParaRPr lang="en-GB" dirty="0"/>
          </a:p>
          <a:p>
            <a:pPr algn="ctr">
              <a:spcAft>
                <a:spcPts val="600"/>
              </a:spcAft>
              <a:defRPr sz="1520">
                <a:solidFill>
                  <a:srgbClr val="282828"/>
                </a:solidFill>
                <a:latin typeface="Aptos"/>
              </a:defRPr>
            </a:pPr>
            <a:r>
              <a:rPr lang="en-GB" dirty="0"/>
              <a:t>(EAGLE - </a:t>
            </a:r>
            <a:r>
              <a:rPr lang="en-GB" sz="1520" b="1" dirty="0">
                <a:solidFill>
                  <a:srgbClr val="282828"/>
                </a:solidFill>
                <a:latin typeface="Aptos"/>
              </a:rPr>
              <a:t>E</a:t>
            </a:r>
            <a:r>
              <a:rPr lang="en-GB" sz="1520" dirty="0">
                <a:solidFill>
                  <a:srgbClr val="282828"/>
                </a:solidFill>
                <a:latin typeface="Aptos"/>
              </a:rPr>
              <a:t>mployees </a:t>
            </a:r>
            <a:r>
              <a:rPr lang="en-GB" sz="1520" b="1" dirty="0">
                <a:solidFill>
                  <a:srgbClr val="282828"/>
                </a:solidFill>
                <a:latin typeface="Aptos"/>
              </a:rPr>
              <a:t>A</a:t>
            </a:r>
            <a:r>
              <a:rPr lang="en-GB" sz="1520" dirty="0">
                <a:solidFill>
                  <a:srgbClr val="282828"/>
                </a:solidFill>
                <a:latin typeface="Aptos"/>
              </a:rPr>
              <a:t>nd friends of </a:t>
            </a:r>
            <a:r>
              <a:rPr lang="en-GB" sz="1520" b="1" dirty="0">
                <a:solidFill>
                  <a:srgbClr val="282828"/>
                </a:solidFill>
                <a:latin typeface="Aptos"/>
              </a:rPr>
              <a:t>G</a:t>
            </a:r>
            <a:r>
              <a:rPr lang="en-GB" sz="1520" dirty="0">
                <a:solidFill>
                  <a:srgbClr val="282828"/>
                </a:solidFill>
                <a:latin typeface="Aptos"/>
              </a:rPr>
              <a:t>ays and </a:t>
            </a:r>
            <a:r>
              <a:rPr lang="en-GB" sz="1520" b="1" dirty="0" err="1">
                <a:solidFill>
                  <a:srgbClr val="282828"/>
                </a:solidFill>
                <a:latin typeface="Aptos"/>
              </a:rPr>
              <a:t>LE</a:t>
            </a:r>
            <a:r>
              <a:rPr lang="en-GB" sz="1520" dirty="0" err="1">
                <a:solidFill>
                  <a:srgbClr val="282828"/>
                </a:solidFill>
                <a:latin typeface="Aptos"/>
              </a:rPr>
              <a:t>sbians</a:t>
            </a:r>
            <a:r>
              <a:rPr lang="en-GB" sz="1520" dirty="0">
                <a:solidFill>
                  <a:srgbClr val="282828"/>
                </a:solidFill>
                <a:latin typeface="Aptos"/>
              </a:rPr>
              <a:t>)</a:t>
            </a:r>
            <a:endParaRPr dirty="0"/>
          </a:p>
          <a:p>
            <a:pPr algn="ctr">
              <a:spcAft>
                <a:spcPts val="600"/>
              </a:spcAft>
              <a:defRPr sz="1520">
                <a:solidFill>
                  <a:srgbClr val="282828"/>
                </a:solidFill>
                <a:latin typeface="Aptos"/>
              </a:defRPr>
            </a:pPr>
            <a:r>
              <a:rPr dirty="0"/>
              <a:t>Executive sponsor for the network</a:t>
            </a:r>
          </a:p>
          <a:p>
            <a:pPr algn="ctr">
              <a:spcAft>
                <a:spcPts val="600"/>
              </a:spcAft>
              <a:defRPr sz="1520">
                <a:solidFill>
                  <a:srgbClr val="282828"/>
                </a:solidFill>
                <a:latin typeface="Aptos"/>
              </a:defRPr>
            </a:pPr>
            <a:r>
              <a:rPr dirty="0"/>
              <a:t>Ally training and reverse mentoring: LGBT+ employees mentor line managers</a:t>
            </a:r>
          </a:p>
          <a:p>
            <a:pPr algn="ctr">
              <a:spcAft>
                <a:spcPts val="600"/>
              </a:spcAft>
              <a:defRPr sz="1520">
                <a:solidFill>
                  <a:srgbClr val="282828"/>
                </a:solidFill>
                <a:latin typeface="Aptos"/>
              </a:defRPr>
            </a:pPr>
            <a:r>
              <a:rPr dirty="0"/>
              <a:t>Same-sex partner benefits from 2011 using an IBM affidavit rather than a marriage certificate</a:t>
            </a:r>
          </a:p>
          <a:p>
            <a:pPr algn="ctr">
              <a:spcAft>
                <a:spcPts val="600"/>
              </a:spcAft>
              <a:defRPr sz="1520">
                <a:solidFill>
                  <a:srgbClr val="282828"/>
                </a:solidFill>
                <a:latin typeface="Aptos"/>
              </a:defRPr>
            </a:pPr>
            <a:r>
              <a:rPr dirty="0"/>
              <a:t>Pride month awareness events and external work with </a:t>
            </a:r>
            <a:r>
              <a:rPr dirty="0" err="1"/>
              <a:t>Aibai</a:t>
            </a:r>
            <a:r>
              <a:rPr lang="en-GB" dirty="0"/>
              <a:t> Culture and Education Centre a </a:t>
            </a:r>
            <a:r>
              <a:rPr lang="en-GB" sz="1520" dirty="0">
                <a:solidFill>
                  <a:srgbClr val="282828"/>
                </a:solidFill>
                <a:latin typeface="Aptos"/>
              </a:rPr>
              <a:t>Chinese non-profit organisation dedicated to promoting equal rights for the LGBT+ community through public advocacy, education, and medical support for those living with HIV</a:t>
            </a:r>
            <a:endParaRPr dirty="0"/>
          </a:p>
        </p:txBody>
      </p:sp>
      <p:sp>
        <p:nvSpPr>
          <p:cNvPr id="7" name="Rounded Rectangle 6"/>
          <p:cNvSpPr/>
          <p:nvPr/>
        </p:nvSpPr>
        <p:spPr>
          <a:xfrm>
            <a:off x="6217920" y="1417320"/>
            <a:ext cx="4892040" cy="411480"/>
          </a:xfrm>
          <a:prstGeom prst="roundRect">
            <a:avLst/>
          </a:prstGeom>
          <a:solidFill>
            <a:srgbClr val="E8F2FF"/>
          </a:solidFill>
          <a:ln>
            <a:solidFill>
              <a:srgbClr val="C8C8C8"/>
            </a:solidFill>
          </a:ln>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r>
              <a:rPr sz="1600" b="1">
                <a:solidFill>
                  <a:srgbClr val="282828"/>
                </a:solidFill>
                <a:latin typeface="Aptos"/>
              </a:rPr>
              <a:t>Why it is analytically interesting</a:t>
            </a:r>
          </a:p>
        </p:txBody>
      </p:sp>
      <p:sp>
        <p:nvSpPr>
          <p:cNvPr id="8" name="TextBox 7"/>
          <p:cNvSpPr txBox="1"/>
          <p:nvPr/>
        </p:nvSpPr>
        <p:spPr>
          <a:xfrm>
            <a:off x="6400800" y="1920240"/>
            <a:ext cx="4480560" cy="3063240"/>
          </a:xfrm>
          <a:prstGeom prst="rect">
            <a:avLst/>
          </a:prstGeom>
          <a:noFill/>
        </p:spPr>
        <p:txBody>
          <a:bodyPr wrap="square">
            <a:normAutofit/>
          </a:bodyPr>
          <a:lstStyle/>
          <a:p>
            <a:pPr algn="ctr">
              <a:spcAft>
                <a:spcPts val="600"/>
              </a:spcAft>
              <a:defRPr sz="1520">
                <a:solidFill>
                  <a:srgbClr val="282828"/>
                </a:solidFill>
                <a:latin typeface="Aptos"/>
              </a:defRPr>
            </a:pPr>
            <a:r>
              <a:rPr dirty="0"/>
              <a:t>Moves beyond training: benefits, networks, voice and management learning</a:t>
            </a:r>
          </a:p>
          <a:p>
            <a:pPr algn="ctr">
              <a:spcAft>
                <a:spcPts val="600"/>
              </a:spcAft>
              <a:defRPr sz="1520">
                <a:solidFill>
                  <a:srgbClr val="282828"/>
                </a:solidFill>
                <a:latin typeface="Aptos"/>
              </a:defRPr>
            </a:pPr>
            <a:r>
              <a:rPr dirty="0"/>
              <a:t>“Friends” model reduces the risk that participation publicly identifies LGBT+ staff</a:t>
            </a:r>
          </a:p>
          <a:p>
            <a:pPr algn="ctr">
              <a:spcAft>
                <a:spcPts val="600"/>
              </a:spcAft>
              <a:defRPr sz="1520">
                <a:solidFill>
                  <a:srgbClr val="282828"/>
                </a:solidFill>
                <a:latin typeface="Aptos"/>
              </a:defRPr>
            </a:pPr>
            <a:r>
              <a:rPr dirty="0"/>
              <a:t>Employer can partly compensate for absent legal marriage recognition</a:t>
            </a:r>
          </a:p>
          <a:p>
            <a:pPr algn="ctr">
              <a:spcAft>
                <a:spcPts val="600"/>
              </a:spcAft>
              <a:defRPr sz="1520">
                <a:solidFill>
                  <a:srgbClr val="282828"/>
                </a:solidFill>
                <a:latin typeface="Aptos"/>
              </a:defRPr>
            </a:pPr>
            <a:r>
              <a:rPr dirty="0"/>
              <a:t>But benefits require disclosure of sensitive relationship data to HR</a:t>
            </a:r>
          </a:p>
          <a:p>
            <a:pPr algn="ctr">
              <a:spcAft>
                <a:spcPts val="600"/>
              </a:spcAft>
              <a:defRPr sz="1520">
                <a:solidFill>
                  <a:srgbClr val="282828"/>
                </a:solidFill>
                <a:latin typeface="Aptos"/>
              </a:defRPr>
            </a:pPr>
            <a:r>
              <a:rPr dirty="0"/>
              <a:t>Evidence gap: public material shows policy design, but limited independent evaluation of outcomes</a:t>
            </a:r>
          </a:p>
        </p:txBody>
      </p:sp>
      <p:sp>
        <p:nvSpPr>
          <p:cNvPr id="9" name="Rounded Rectangle 8"/>
          <p:cNvSpPr/>
          <p:nvPr/>
        </p:nvSpPr>
        <p:spPr>
          <a:xfrm>
            <a:off x="777240" y="5623560"/>
            <a:ext cx="10287000" cy="502920"/>
          </a:xfrm>
          <a:prstGeom prst="roundRect">
            <a:avLst/>
          </a:prstGeom>
          <a:solidFill>
            <a:srgbClr val="F5F5F5"/>
          </a:solidFill>
          <a:ln>
            <a:solidFill>
              <a:srgbClr val="D2D2D2"/>
            </a:solidFill>
          </a:ln>
        </p:spPr>
        <p:style>
          <a:lnRef idx="1">
            <a:schemeClr val="accent1"/>
          </a:lnRef>
          <a:fillRef idx="3">
            <a:schemeClr val="accent1"/>
          </a:fillRef>
          <a:effectRef idx="2">
            <a:schemeClr val="accent1"/>
          </a:effectRef>
          <a:fontRef idx="minor">
            <a:schemeClr val="lt1"/>
          </a:fontRef>
        </p:style>
        <p:txBody>
          <a:bodyPr wrap="square" lIns="164592" tIns="91440" rIns="164592" bIns="73152" rtlCol="0" anchor="ctr"/>
          <a:lstStyle/>
          <a:p>
            <a:pPr algn="ctr"/>
            <a:r>
              <a:rPr sz="1500" b="0">
                <a:solidFill>
                  <a:srgbClr val="282828"/>
                </a:solidFill>
                <a:latin typeface="Aptos"/>
              </a:rPr>
              <a:t>Seminar question: is IBM changing the causes of workplace inequality, or mainly creating a safer organisational micro-environment inside a more unequal wider context?</a:t>
            </a:r>
          </a:p>
        </p:txBody>
      </p:sp>
      <p:sp>
        <p:nvSpPr>
          <p:cNvPr id="10" name="TextBox 9"/>
          <p:cNvSpPr txBox="1"/>
          <p:nvPr/>
        </p:nvSpPr>
        <p:spPr>
          <a:xfrm>
            <a:off x="502920" y="6446520"/>
            <a:ext cx="11064240" cy="228600"/>
          </a:xfrm>
          <a:prstGeom prst="rect">
            <a:avLst/>
          </a:prstGeom>
          <a:noFill/>
        </p:spPr>
        <p:txBody>
          <a:bodyPr wrap="none">
            <a:spAutoFit/>
          </a:bodyPr>
          <a:lstStyle/>
          <a:p>
            <a:r>
              <a:rPr sz="850" b="0">
                <a:solidFill>
                  <a:srgbClr val="5F5F5F"/>
                </a:solidFill>
                <a:latin typeface="Aptos"/>
              </a:rPr>
              <a:t>Sources: Stonewall Global Workplace Briefing: China (2018); IBM Data &amp; Policies / Inclusion@IBM; Community Business China resource guide.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9156130" cy="461665"/>
          </a:xfrm>
          <a:prstGeom prst="rect">
            <a:avLst/>
          </a:prstGeom>
          <a:noFill/>
        </p:spPr>
        <p:txBody>
          <a:bodyPr wrap="square">
            <a:spAutoFit/>
          </a:bodyPr>
          <a:lstStyle/>
          <a:p>
            <a:pPr>
              <a:defRPr sz="3000" b="1">
                <a:solidFill>
                  <a:srgbClr val="1B314A"/>
                </a:solidFill>
                <a:latin typeface="Arial"/>
              </a:defRPr>
            </a:pPr>
            <a:r>
              <a:rPr sz="2400" dirty="0">
                <a:solidFill>
                  <a:schemeClr val="tx1">
                    <a:lumMod val="95000"/>
                    <a:lumOff val="5000"/>
                  </a:schemeClr>
                </a:solidFill>
              </a:rPr>
              <a:t>Case Study</a:t>
            </a:r>
            <a:r>
              <a:rPr lang="en-GB" sz="2400" dirty="0">
                <a:solidFill>
                  <a:schemeClr val="tx1">
                    <a:lumMod val="95000"/>
                    <a:lumOff val="5000"/>
                  </a:schemeClr>
                </a:solidFill>
              </a:rPr>
              <a:t> 2 -</a:t>
            </a:r>
            <a:r>
              <a:rPr sz="2400" dirty="0">
                <a:solidFill>
                  <a:schemeClr val="tx1">
                    <a:lumMod val="95000"/>
                    <a:lumOff val="5000"/>
                  </a:schemeClr>
                </a:solidFill>
              </a:rPr>
              <a:t> Mastercard and Diversity Management</a:t>
            </a:r>
          </a:p>
        </p:txBody>
      </p:sp>
      <p:sp>
        <p:nvSpPr>
          <p:cNvPr id="3" name="TextBox 2"/>
          <p:cNvSpPr txBox="1"/>
          <p:nvPr/>
        </p:nvSpPr>
        <p:spPr>
          <a:xfrm>
            <a:off x="621791" y="896112"/>
            <a:ext cx="7990363" cy="461665"/>
          </a:xfrm>
          <a:prstGeom prst="rect">
            <a:avLst/>
          </a:prstGeom>
          <a:noFill/>
        </p:spPr>
        <p:txBody>
          <a:bodyPr wrap="square">
            <a:spAutoFit/>
          </a:bodyPr>
          <a:lstStyle/>
          <a:p>
            <a:pPr>
              <a:defRPr sz="1350">
                <a:solidFill>
                  <a:srgbClr val="5A5A5A"/>
                </a:solidFill>
                <a:latin typeface="Arial"/>
              </a:defRPr>
            </a:pPr>
            <a:r>
              <a:rPr sz="1200" dirty="0">
                <a:solidFill>
                  <a:schemeClr val="tx1">
                    <a:lumMod val="95000"/>
                    <a:lumOff val="5000"/>
                  </a:schemeClr>
                </a:solidFill>
              </a:rPr>
              <a:t>A useful case because it combines visible EDI initiatives, global branding, STEM pipeline work and recent controversy over pay equity.</a:t>
            </a:r>
          </a:p>
        </p:txBody>
      </p:sp>
      <p:sp>
        <p:nvSpPr>
          <p:cNvPr id="4" name="Rounded Rectangle 3"/>
          <p:cNvSpPr/>
          <p:nvPr/>
        </p:nvSpPr>
        <p:spPr>
          <a:xfrm>
            <a:off x="685800" y="1417320"/>
            <a:ext cx="3063240" cy="4160520"/>
          </a:xfrm>
          <a:prstGeom prst="roundRect">
            <a:avLst/>
          </a:prstGeom>
          <a:solidFill>
            <a:srgbClr val="F2F4F7"/>
          </a:solidFill>
          <a:ln>
            <a:solidFill>
              <a:srgbClr val="1B31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1B314A"/>
                </a:solidFill>
                <a:latin typeface="Arial"/>
              </a:defRPr>
            </a:pPr>
            <a:r>
              <a:t>Context</a:t>
            </a:r>
          </a:p>
          <a:p>
            <a:pPr>
              <a:spcBef>
                <a:spcPts val="800"/>
              </a:spcBef>
              <a:defRPr sz="1500">
                <a:solidFill>
                  <a:srgbClr val="232323"/>
                </a:solidFill>
                <a:latin typeface="Arial"/>
              </a:defRPr>
            </a:pPr>
            <a:r>
              <a:t>• Global payments and technology company operating in 200+ countries and territories.</a:t>
            </a:r>
          </a:p>
          <a:p>
            <a:pPr>
              <a:spcBef>
                <a:spcPts val="800"/>
              </a:spcBef>
              <a:defRPr sz="1500">
                <a:solidFill>
                  <a:srgbClr val="232323"/>
                </a:solidFill>
                <a:latin typeface="Arial"/>
              </a:defRPr>
            </a:pPr>
            <a:r>
              <a:t>• EDI is linked to talent, innovation, brand reputation and access to the digital economy.</a:t>
            </a:r>
          </a:p>
          <a:p>
            <a:pPr>
              <a:spcBef>
                <a:spcPts val="800"/>
              </a:spcBef>
              <a:defRPr sz="1500">
                <a:solidFill>
                  <a:srgbClr val="232323"/>
                </a:solidFill>
                <a:latin typeface="Arial"/>
              </a:defRPr>
            </a:pPr>
            <a:r>
              <a:t>• The case is not only about internal HR: Mastercard also frames inclusion through social-impact programmes.</a:t>
            </a:r>
          </a:p>
        </p:txBody>
      </p:sp>
      <p:sp>
        <p:nvSpPr>
          <p:cNvPr id="5" name="Rounded Rectangle 4"/>
          <p:cNvSpPr/>
          <p:nvPr/>
        </p:nvSpPr>
        <p:spPr>
          <a:xfrm>
            <a:off x="3977639" y="1417320"/>
            <a:ext cx="3794760" cy="4160520"/>
          </a:xfrm>
          <a:prstGeom prst="roundRect">
            <a:avLst/>
          </a:prstGeom>
          <a:solidFill>
            <a:srgbClr val="FFFFFF"/>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1B314A"/>
                </a:solidFill>
                <a:latin typeface="Arial"/>
              </a:defRPr>
            </a:pPr>
            <a:r>
              <a:t>Main EDI initiatives</a:t>
            </a:r>
          </a:p>
          <a:p>
            <a:pPr>
              <a:spcBef>
                <a:spcPts val="800"/>
              </a:spcBef>
              <a:defRPr sz="1550" b="1">
                <a:solidFill>
                  <a:srgbClr val="2F5980"/>
                </a:solidFill>
                <a:latin typeface="Arial"/>
              </a:defRPr>
            </a:pPr>
            <a:r>
              <a:t>STEM pipeline</a:t>
            </a:r>
          </a:p>
          <a:p>
            <a:pPr>
              <a:defRPr sz="1350">
                <a:solidFill>
                  <a:srgbClr val="232323"/>
                </a:solidFill>
                <a:latin typeface="Arial"/>
              </a:defRPr>
            </a:pPr>
            <a:r>
              <a:t>Girls4Tech/Kids4Tech educated 279,000 students in 2025; aims to widen future access to technology careers.</a:t>
            </a:r>
          </a:p>
          <a:p>
            <a:pPr>
              <a:spcBef>
                <a:spcPts val="800"/>
              </a:spcBef>
              <a:defRPr sz="1550" b="1">
                <a:solidFill>
                  <a:srgbClr val="2F5980"/>
                </a:solidFill>
                <a:latin typeface="Arial"/>
              </a:defRPr>
            </a:pPr>
            <a:r>
              <a:t>Pay equity</a:t>
            </a:r>
          </a:p>
          <a:p>
            <a:pPr>
              <a:defRPr sz="1350">
                <a:solidFill>
                  <a:srgbClr val="232323"/>
                </a:solidFill>
                <a:latin typeface="Arial"/>
              </a:defRPr>
            </a:pPr>
            <a:r>
              <a:t>Public commitment to equal pay for equal work across gender, race and ethnicity.</a:t>
            </a:r>
          </a:p>
          <a:p>
            <a:pPr>
              <a:spcBef>
                <a:spcPts val="800"/>
              </a:spcBef>
              <a:defRPr sz="1550" b="1">
                <a:solidFill>
                  <a:srgbClr val="2F5980"/>
                </a:solidFill>
                <a:latin typeface="Arial"/>
              </a:defRPr>
            </a:pPr>
            <a:r>
              <a:t>Culture and voice</a:t>
            </a:r>
          </a:p>
          <a:p>
            <a:pPr>
              <a:defRPr sz="1350">
                <a:solidFill>
                  <a:srgbClr val="232323"/>
                </a:solidFill>
                <a:latin typeface="Arial"/>
              </a:defRPr>
            </a:pPr>
            <a:r>
              <a:t>Inclusion policies, employee communities/resource groups and employer-branding around belonging.</a:t>
            </a:r>
          </a:p>
        </p:txBody>
      </p:sp>
      <p:sp>
        <p:nvSpPr>
          <p:cNvPr id="6" name="Rounded Rectangle 5"/>
          <p:cNvSpPr/>
          <p:nvPr/>
        </p:nvSpPr>
        <p:spPr>
          <a:xfrm>
            <a:off x="8001000" y="1417320"/>
            <a:ext cx="3474720" cy="4160520"/>
          </a:xfrm>
          <a:prstGeom prst="roundRect">
            <a:avLst/>
          </a:prstGeom>
          <a:solidFill>
            <a:srgbClr val="FFF8F0"/>
          </a:solidFill>
          <a:ln>
            <a:solidFill>
              <a:srgbClr val="DF752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AA3737"/>
                </a:solidFill>
                <a:latin typeface="Arial"/>
              </a:defRPr>
            </a:pPr>
            <a:r>
              <a:t>Critical issues</a:t>
            </a:r>
          </a:p>
          <a:p>
            <a:pPr>
              <a:spcBef>
                <a:spcPts val="800"/>
              </a:spcBef>
              <a:defRPr sz="1420">
                <a:solidFill>
                  <a:srgbClr val="232323"/>
                </a:solidFill>
                <a:latin typeface="Arial"/>
              </a:defRPr>
            </a:pPr>
            <a:r>
              <a:t>• Pipeline initiatives may improve future access but do not automatically alter promotion, pay or senior representation now.</a:t>
            </a:r>
          </a:p>
          <a:p>
            <a:pPr>
              <a:spcBef>
                <a:spcPts val="800"/>
              </a:spcBef>
              <a:defRPr sz="1420">
                <a:solidFill>
                  <a:srgbClr val="232323"/>
                </a:solidFill>
                <a:latin typeface="Arial"/>
              </a:defRPr>
            </a:pPr>
            <a:r>
              <a:t>• Adjusted “equal pay for equal work” can coexist with wider median pay gaps if groups are concentrated in lower-paid roles.</a:t>
            </a:r>
          </a:p>
          <a:p>
            <a:pPr>
              <a:spcBef>
                <a:spcPts val="800"/>
              </a:spcBef>
              <a:defRPr sz="1420">
                <a:solidFill>
                  <a:srgbClr val="232323"/>
                </a:solidFill>
                <a:latin typeface="Arial"/>
              </a:defRPr>
            </a:pPr>
            <a:r>
              <a:t>• In 2025 Mastercard agreed a $26m settlement in a US pay-bias lawsuit while denying wrongdoing; the settlement included audits of employment practices.</a:t>
            </a:r>
          </a:p>
        </p:txBody>
      </p:sp>
      <p:pic>
        <p:nvPicPr>
          <p:cNvPr id="10" name="Picture 9" descr="mastercard logo">
            <a:extLst>
              <a:ext uri="{FF2B5EF4-FFF2-40B4-BE49-F238E27FC236}">
                <a16:creationId xmlns:a16="http://schemas.microsoft.com/office/drawing/2014/main" id="{A5BB422D-0705-414E-52FF-8ABC64729D4D}"/>
              </a:ext>
            </a:extLst>
          </p:cNvPr>
          <p:cNvPicPr>
            <a:picLocks noChangeAspect="1"/>
          </p:cNvPicPr>
          <p:nvPr/>
        </p:nvPicPr>
        <p:blipFill>
          <a:blip r:embed="rId2"/>
          <a:stretch>
            <a:fillRect/>
          </a:stretch>
        </p:blipFill>
        <p:spPr>
          <a:xfrm>
            <a:off x="10294776" y="210312"/>
            <a:ext cx="1611086" cy="103802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99059"/>
            <a:ext cx="8610600" cy="1293028"/>
          </a:xfrm>
        </p:spPr>
        <p:txBody>
          <a:bodyPr/>
          <a:lstStyle/>
          <a:p>
            <a:pPr algn="l"/>
            <a:r>
              <a:rPr lang="en-US" b="1" dirty="0"/>
              <a:t>Mastercard</a:t>
            </a:r>
          </a:p>
        </p:txBody>
      </p:sp>
      <p:sp>
        <p:nvSpPr>
          <p:cNvPr id="3" name="Content Placeholder 2"/>
          <p:cNvSpPr>
            <a:spLocks noGrp="1"/>
          </p:cNvSpPr>
          <p:nvPr>
            <p:ph idx="1"/>
          </p:nvPr>
        </p:nvSpPr>
        <p:spPr>
          <a:xfrm>
            <a:off x="685800" y="2194560"/>
            <a:ext cx="10820400" cy="4358640"/>
          </a:xfrm>
        </p:spPr>
        <p:txBody>
          <a:bodyPr>
            <a:normAutofit/>
          </a:bodyPr>
          <a:lstStyle/>
          <a:p>
            <a:pPr>
              <a:lnSpc>
                <a:spcPct val="150000"/>
              </a:lnSpc>
            </a:pPr>
            <a:r>
              <a:rPr lang="en-US" sz="2400" dirty="0"/>
              <a:t>Mastercard offers a number of key initiatives including:</a:t>
            </a:r>
          </a:p>
          <a:p>
            <a:pPr lvl="1">
              <a:lnSpc>
                <a:spcPct val="150000"/>
              </a:lnSpc>
            </a:pPr>
            <a:r>
              <a:rPr lang="en-US" sz="2400" dirty="0"/>
              <a:t>Encouraging school age girls to consider STEM careers</a:t>
            </a:r>
          </a:p>
          <a:p>
            <a:pPr lvl="1">
              <a:lnSpc>
                <a:spcPct val="150000"/>
              </a:lnSpc>
            </a:pPr>
            <a:r>
              <a:rPr lang="en-US" sz="2400" dirty="0"/>
              <a:t>Equal pay for equal work (is committed to closing racial and gender pay gaps)</a:t>
            </a:r>
          </a:p>
          <a:p>
            <a:pPr lvl="1">
              <a:lnSpc>
                <a:spcPct val="150000"/>
              </a:lnSpc>
            </a:pPr>
            <a:r>
              <a:rPr lang="en-US" sz="2400" dirty="0"/>
              <a:t>Sex reassignment surgery coverage </a:t>
            </a:r>
          </a:p>
          <a:p>
            <a:pPr>
              <a:lnSpc>
                <a:spcPct val="150000"/>
              </a:lnSpc>
            </a:pPr>
            <a:r>
              <a:rPr lang="en-US" sz="2400" dirty="0"/>
              <a:t>One in four of senior managers are not white and nearly half of its global workforce are women</a:t>
            </a:r>
          </a:p>
        </p:txBody>
      </p:sp>
      <p:pic>
        <p:nvPicPr>
          <p:cNvPr id="4" name="Picture 3" descr="mastercard logo"/>
          <p:cNvPicPr>
            <a:picLocks noChangeAspect="1"/>
          </p:cNvPicPr>
          <p:nvPr/>
        </p:nvPicPr>
        <p:blipFill>
          <a:blip r:embed="rId2"/>
          <a:stretch>
            <a:fillRect/>
          </a:stretch>
        </p:blipFill>
        <p:spPr>
          <a:xfrm>
            <a:off x="9296400" y="304800"/>
            <a:ext cx="2741006" cy="1766027"/>
          </a:xfrm>
          <a:prstGeom prst="rect">
            <a:avLst/>
          </a:prstGeom>
        </p:spPr>
      </p:pic>
    </p:spTree>
    <p:extLst>
      <p:ext uri="{BB962C8B-B14F-4D97-AF65-F5344CB8AC3E}">
        <p14:creationId xmlns:p14="http://schemas.microsoft.com/office/powerpoint/2010/main" val="589280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394259"/>
            <a:ext cx="11114314" cy="1293028"/>
          </a:xfrm>
        </p:spPr>
        <p:txBody>
          <a:bodyPr/>
          <a:lstStyle/>
          <a:p>
            <a:r>
              <a:rPr lang="en-US" b="1" dirty="0"/>
              <a:t>Do diversity initiatives actually work?</a:t>
            </a:r>
          </a:p>
        </p:txBody>
      </p:sp>
      <p:sp>
        <p:nvSpPr>
          <p:cNvPr id="3" name="Content Placeholder 2"/>
          <p:cNvSpPr>
            <a:spLocks noGrp="1"/>
          </p:cNvSpPr>
          <p:nvPr>
            <p:ph idx="1"/>
          </p:nvPr>
        </p:nvSpPr>
        <p:spPr>
          <a:xfrm>
            <a:off x="685800" y="1687287"/>
            <a:ext cx="11136086" cy="4865913"/>
          </a:xfrm>
        </p:spPr>
        <p:txBody>
          <a:bodyPr>
            <a:normAutofit fontScale="92500" lnSpcReduction="10000"/>
          </a:bodyPr>
          <a:lstStyle/>
          <a:p>
            <a:r>
              <a:rPr lang="en-US" dirty="0"/>
              <a:t>Are they culturally specific? (or can they be transferred to other areas of the globe)</a:t>
            </a:r>
          </a:p>
          <a:p>
            <a:r>
              <a:rPr lang="en-US" dirty="0"/>
              <a:t>European Commission claims that managing diversity benefits businesses (EC, 2005):</a:t>
            </a:r>
          </a:p>
          <a:p>
            <a:pPr lvl="1"/>
            <a:r>
              <a:rPr lang="en-US" dirty="0"/>
              <a:t>They have access to a wider talent pool</a:t>
            </a:r>
          </a:p>
          <a:p>
            <a:pPr lvl="1"/>
            <a:r>
              <a:rPr lang="en-US" dirty="0"/>
              <a:t>They may improve their brand reputation/corporate image</a:t>
            </a:r>
          </a:p>
          <a:p>
            <a:pPr lvl="1"/>
            <a:r>
              <a:rPr lang="en-US" dirty="0"/>
              <a:t>Bring more innovation </a:t>
            </a:r>
          </a:p>
          <a:p>
            <a:r>
              <a:rPr lang="en-US" dirty="0"/>
              <a:t>However, companies are not evaluating many of their diversity initiatives</a:t>
            </a:r>
          </a:p>
          <a:p>
            <a:r>
              <a:rPr lang="en-US" dirty="0"/>
              <a:t>Managers do not know the impact of these strategies and do not want to know (Kochan et al, 2003)</a:t>
            </a:r>
          </a:p>
          <a:p>
            <a:r>
              <a:rPr lang="en-US" dirty="0"/>
              <a:t>The diversity-performance link is more a matter of belief than scientific measurement (Klarsfield, 2009). </a:t>
            </a:r>
          </a:p>
          <a:p>
            <a:endParaRPr lang="en-US" dirty="0"/>
          </a:p>
        </p:txBody>
      </p:sp>
    </p:spTree>
    <p:extLst>
      <p:ext uri="{BB962C8B-B14F-4D97-AF65-F5344CB8AC3E}">
        <p14:creationId xmlns:p14="http://schemas.microsoft.com/office/powerpoint/2010/main" val="1594561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9" name="Group 28">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30" name="Freeform: Shape 29">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ACD48D26-18FF-0AA3-EF9B-45F6A7AD2F14}"/>
              </a:ext>
            </a:extLst>
          </p:cNvPr>
          <p:cNvSpPr>
            <a:spLocks noGrp="1"/>
          </p:cNvSpPr>
          <p:nvPr>
            <p:ph type="title"/>
          </p:nvPr>
        </p:nvSpPr>
        <p:spPr>
          <a:xfrm>
            <a:off x="640080" y="1243013"/>
            <a:ext cx="3855720" cy="4371974"/>
          </a:xfrm>
        </p:spPr>
        <p:txBody>
          <a:bodyPr>
            <a:normAutofit/>
          </a:bodyPr>
          <a:lstStyle/>
          <a:p>
            <a:r>
              <a:rPr lang="en-US" sz="3600" b="1" dirty="0"/>
              <a:t>Diversity in practice</a:t>
            </a:r>
          </a:p>
        </p:txBody>
      </p:sp>
      <p:sp>
        <p:nvSpPr>
          <p:cNvPr id="34" name="Content Placeholder 2">
            <a:extLst>
              <a:ext uri="{FF2B5EF4-FFF2-40B4-BE49-F238E27FC236}">
                <a16:creationId xmlns:a16="http://schemas.microsoft.com/office/drawing/2014/main" id="{2AA0EC40-E194-6A65-A507-EFDE57DDAAC4}"/>
              </a:ext>
            </a:extLst>
          </p:cNvPr>
          <p:cNvSpPr>
            <a:spLocks noGrp="1"/>
          </p:cNvSpPr>
          <p:nvPr>
            <p:ph idx="1"/>
          </p:nvPr>
        </p:nvSpPr>
        <p:spPr>
          <a:xfrm>
            <a:off x="5833723" y="508837"/>
            <a:ext cx="6149729" cy="5988215"/>
          </a:xfrm>
        </p:spPr>
        <p:txBody>
          <a:bodyPr anchor="ctr">
            <a:normAutofit fontScale="92500" lnSpcReduction="20000"/>
          </a:bodyPr>
          <a:lstStyle/>
          <a:p>
            <a:pPr>
              <a:lnSpc>
                <a:spcPct val="150000"/>
              </a:lnSpc>
            </a:pPr>
            <a:r>
              <a:rPr lang="en-US" sz="2000" dirty="0"/>
              <a:t>Some argue that the business case for EDI hinders diversity in the workplace (Wilkinson, Dundon and Yates, 2025). This is because in difficult times diversity may not be seen as a priority by organisations. </a:t>
            </a:r>
          </a:p>
          <a:p>
            <a:pPr>
              <a:lnSpc>
                <a:spcPct val="150000"/>
              </a:lnSpc>
            </a:pPr>
            <a:r>
              <a:rPr lang="en-US" sz="2000" dirty="0"/>
              <a:t>Businesses may also engage in ‘diversity washing’ without being committed to real and meaningful change.</a:t>
            </a:r>
          </a:p>
          <a:p>
            <a:pPr>
              <a:lnSpc>
                <a:spcPct val="150000"/>
              </a:lnSpc>
            </a:pPr>
            <a:r>
              <a:rPr lang="en-US" sz="2000" dirty="0"/>
              <a:t>Some minority groups may be favoured over others. Woodhams and Danieli (2000) argue that rarely has there been a ‘business case’ for more disabled workers.</a:t>
            </a:r>
          </a:p>
          <a:p>
            <a:pPr>
              <a:lnSpc>
                <a:spcPct val="150000"/>
              </a:lnSpc>
            </a:pPr>
            <a:r>
              <a:rPr lang="en-US" sz="2000" dirty="0"/>
              <a:t>Does the business case actually obscure the aims of the social justice/moral approach to diversity? (e.g. to promote fairness).</a:t>
            </a:r>
          </a:p>
        </p:txBody>
      </p:sp>
    </p:spTree>
    <p:extLst>
      <p:ext uri="{BB962C8B-B14F-4D97-AF65-F5344CB8AC3E}">
        <p14:creationId xmlns:p14="http://schemas.microsoft.com/office/powerpoint/2010/main" val="2249690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FC98-3E8B-C4BC-DD7A-CE78D96CD70B}"/>
              </a:ext>
            </a:extLst>
          </p:cNvPr>
          <p:cNvSpPr>
            <a:spLocks noGrp="1"/>
          </p:cNvSpPr>
          <p:nvPr>
            <p:ph type="title"/>
          </p:nvPr>
        </p:nvSpPr>
        <p:spPr/>
        <p:txBody>
          <a:bodyPr/>
          <a:lstStyle/>
          <a:p>
            <a:r>
              <a:rPr lang="en-US" dirty="0"/>
              <a:t>Artificial Intelligence &amp; EDI 1 </a:t>
            </a:r>
          </a:p>
        </p:txBody>
      </p:sp>
      <p:sp>
        <p:nvSpPr>
          <p:cNvPr id="3" name="Content Placeholder 2">
            <a:extLst>
              <a:ext uri="{FF2B5EF4-FFF2-40B4-BE49-F238E27FC236}">
                <a16:creationId xmlns:a16="http://schemas.microsoft.com/office/drawing/2014/main" id="{1DA9C0CB-F0D9-AB84-7569-202A91471819}"/>
              </a:ext>
            </a:extLst>
          </p:cNvPr>
          <p:cNvSpPr>
            <a:spLocks noGrp="1"/>
          </p:cNvSpPr>
          <p:nvPr>
            <p:ph idx="1"/>
          </p:nvPr>
        </p:nvSpPr>
        <p:spPr/>
        <p:txBody>
          <a:bodyPr>
            <a:normAutofit lnSpcReduction="10000"/>
          </a:bodyPr>
          <a:lstStyle/>
          <a:p>
            <a:pPr>
              <a:lnSpc>
                <a:spcPct val="150000"/>
              </a:lnSpc>
            </a:pPr>
            <a:r>
              <a:rPr lang="en-US" dirty="0"/>
              <a:t>Analyse data and provide EDI insights to organisations</a:t>
            </a:r>
          </a:p>
          <a:p>
            <a:pPr>
              <a:lnSpc>
                <a:spcPct val="150000"/>
              </a:lnSpc>
            </a:pPr>
            <a:r>
              <a:rPr lang="en-US" dirty="0"/>
              <a:t>Potentially reduce bias in HRM processes and decision making</a:t>
            </a:r>
          </a:p>
          <a:p>
            <a:pPr>
              <a:lnSpc>
                <a:spcPct val="150000"/>
              </a:lnSpc>
            </a:pPr>
            <a:r>
              <a:rPr lang="en-US" dirty="0"/>
              <a:t>Recruitment and selection – anonymize CV’s/application forms, filter candidates etc. </a:t>
            </a:r>
          </a:p>
          <a:p>
            <a:pPr>
              <a:lnSpc>
                <a:spcPct val="150000"/>
              </a:lnSpc>
            </a:pPr>
            <a:r>
              <a:rPr lang="en-US" dirty="0"/>
              <a:t>Performance management – evaluate performance data </a:t>
            </a:r>
          </a:p>
          <a:p>
            <a:pPr>
              <a:lnSpc>
                <a:spcPct val="150000"/>
              </a:lnSpc>
            </a:pPr>
            <a:r>
              <a:rPr lang="en-US" dirty="0"/>
              <a:t>Provide targeted EDI training for employees</a:t>
            </a:r>
          </a:p>
          <a:p>
            <a:endParaRPr lang="en-US" dirty="0"/>
          </a:p>
        </p:txBody>
      </p:sp>
      <p:pic>
        <p:nvPicPr>
          <p:cNvPr id="7170" name="Picture 2" descr="Artificial intelligence: What is AI ...">
            <a:extLst>
              <a:ext uri="{FF2B5EF4-FFF2-40B4-BE49-F238E27FC236}">
                <a16:creationId xmlns:a16="http://schemas.microsoft.com/office/drawing/2014/main" id="{51B2FA2C-BE88-EDB4-1A61-6708427F9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9462" y="146392"/>
            <a:ext cx="3148263" cy="1763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90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DC9D0-B2A5-C0BC-264E-E305780A935F}"/>
              </a:ext>
            </a:extLst>
          </p:cNvPr>
          <p:cNvSpPr>
            <a:spLocks noGrp="1"/>
          </p:cNvSpPr>
          <p:nvPr>
            <p:ph type="title"/>
          </p:nvPr>
        </p:nvSpPr>
        <p:spPr/>
        <p:txBody>
          <a:bodyPr/>
          <a:lstStyle/>
          <a:p>
            <a:r>
              <a:rPr lang="en-US" dirty="0"/>
              <a:t>Artificial Intelligence &amp; EDI 2</a:t>
            </a:r>
          </a:p>
        </p:txBody>
      </p:sp>
      <p:sp>
        <p:nvSpPr>
          <p:cNvPr id="3" name="Content Placeholder 2">
            <a:extLst>
              <a:ext uri="{FF2B5EF4-FFF2-40B4-BE49-F238E27FC236}">
                <a16:creationId xmlns:a16="http://schemas.microsoft.com/office/drawing/2014/main" id="{C7AAE933-DC75-0441-C37D-DB8FB0A5B294}"/>
              </a:ext>
            </a:extLst>
          </p:cNvPr>
          <p:cNvSpPr>
            <a:spLocks noGrp="1"/>
          </p:cNvSpPr>
          <p:nvPr>
            <p:ph idx="1"/>
          </p:nvPr>
        </p:nvSpPr>
        <p:spPr>
          <a:xfrm>
            <a:off x="637674" y="1825625"/>
            <a:ext cx="10716126" cy="4351338"/>
          </a:xfrm>
        </p:spPr>
        <p:txBody>
          <a:bodyPr>
            <a:normAutofit fontScale="70000" lnSpcReduction="20000"/>
          </a:bodyPr>
          <a:lstStyle/>
          <a:p>
            <a:pPr>
              <a:lnSpc>
                <a:spcPct val="150000"/>
              </a:lnSpc>
            </a:pPr>
            <a:r>
              <a:rPr lang="en-US" dirty="0"/>
              <a:t>Algorithmic Bias – Who designed the algorithm, what data is basing it’s learning on, can end up reinforcing inequalities instead of eradicating!</a:t>
            </a:r>
          </a:p>
          <a:p>
            <a:pPr>
              <a:lnSpc>
                <a:spcPct val="150000"/>
              </a:lnSpc>
            </a:pPr>
            <a:r>
              <a:rPr lang="en-US" dirty="0"/>
              <a:t>Transparency – what data is it basing its decisions on? </a:t>
            </a:r>
          </a:p>
          <a:p>
            <a:pPr>
              <a:lnSpc>
                <a:spcPct val="150000"/>
              </a:lnSpc>
            </a:pPr>
            <a:r>
              <a:rPr lang="en-US" dirty="0"/>
              <a:t>Using technology for human related processes – does this limit real social change?</a:t>
            </a:r>
          </a:p>
          <a:p>
            <a:pPr>
              <a:lnSpc>
                <a:spcPct val="150000"/>
              </a:lnSpc>
            </a:pPr>
            <a:r>
              <a:rPr lang="en-US" dirty="0"/>
              <a:t>Power relations – who designs and has access to AI systems? (are minority groups included?)</a:t>
            </a:r>
          </a:p>
          <a:p>
            <a:pPr>
              <a:lnSpc>
                <a:spcPct val="150000"/>
              </a:lnSpc>
            </a:pPr>
            <a:r>
              <a:rPr lang="en-US" dirty="0"/>
              <a:t>Privacy – issues around use of data/consent etc. </a:t>
            </a:r>
          </a:p>
          <a:p>
            <a:pPr>
              <a:lnSpc>
                <a:spcPct val="150000"/>
              </a:lnSpc>
            </a:pPr>
            <a:r>
              <a:rPr lang="en-US" dirty="0"/>
              <a:t>Answer – AI is a tool and requires proper management and oversight in the workplace.  Shouldn’t be given too much automated control over HR/employment relations issues </a:t>
            </a:r>
          </a:p>
          <a:p>
            <a:pPr>
              <a:lnSpc>
                <a:spcPct val="150000"/>
              </a:lnSpc>
            </a:pPr>
            <a:endParaRPr lang="en-US" dirty="0"/>
          </a:p>
        </p:txBody>
      </p:sp>
      <p:pic>
        <p:nvPicPr>
          <p:cNvPr id="4" name="Picture 2" descr="Artificial intelligence: What is AI ...">
            <a:extLst>
              <a:ext uri="{FF2B5EF4-FFF2-40B4-BE49-F238E27FC236}">
                <a16:creationId xmlns:a16="http://schemas.microsoft.com/office/drawing/2014/main" id="{DFB3CD5E-6E0C-E1EE-BC56-CBF12E9AB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9462" y="146392"/>
            <a:ext cx="3148263" cy="1763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683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732D55-C107-478B-96D4-69338D59C221}"/>
              </a:ext>
            </a:extLst>
          </p:cNvPr>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Lecture Summary</a:t>
            </a:r>
          </a:p>
        </p:txBody>
      </p:sp>
      <p:sp>
        <p:nvSpPr>
          <p:cNvPr id="3" name="Text Placeholder 2">
            <a:extLst>
              <a:ext uri="{FF2B5EF4-FFF2-40B4-BE49-F238E27FC236}">
                <a16:creationId xmlns:a16="http://schemas.microsoft.com/office/drawing/2014/main" id="{7324DCA5-3174-42EC-87DA-47009083C0FA}"/>
              </a:ext>
            </a:extLst>
          </p:cNvPr>
          <p:cNvSpPr>
            <a:spLocks noGrp="1"/>
          </p:cNvSpPr>
          <p:nvPr>
            <p:ph idx="1"/>
          </p:nvPr>
        </p:nvSpPr>
        <p:spPr>
          <a:xfrm>
            <a:off x="4367695" y="649480"/>
            <a:ext cx="7544905" cy="5967888"/>
          </a:xfrm>
        </p:spPr>
        <p:txBody>
          <a:bodyPr anchor="ctr">
            <a:normAutofit fontScale="92500" lnSpcReduction="10000"/>
          </a:bodyPr>
          <a:lstStyle/>
          <a:p>
            <a:r>
              <a:rPr lang="en-GB" sz="2400" dirty="0"/>
              <a:t>EDI remains a key issue for many organisations </a:t>
            </a:r>
          </a:p>
          <a:p>
            <a:r>
              <a:rPr lang="en-GB" sz="2400" dirty="0"/>
              <a:t>Employees in the UK are protected by legislation such as the 2010 equality act.</a:t>
            </a:r>
          </a:p>
          <a:p>
            <a:r>
              <a:rPr lang="en-GB" sz="2400" dirty="0"/>
              <a:t>The use of positive discrimination and quotas is still illegal in the UK.</a:t>
            </a:r>
          </a:p>
          <a:p>
            <a:r>
              <a:rPr lang="en-GB" sz="2400" dirty="0"/>
              <a:t>In spite of legislation, discrimination is still widespread, as evidenced by the gender and racial pay gaps.</a:t>
            </a:r>
          </a:p>
          <a:p>
            <a:r>
              <a:rPr lang="en-GB" sz="2400" dirty="0"/>
              <a:t>There are various theories as to why discrimination occurs, however, key concepts appear to be stereotyping and unconscious bias. </a:t>
            </a:r>
          </a:p>
          <a:p>
            <a:r>
              <a:rPr lang="en-GB" sz="2400" dirty="0"/>
              <a:t>The concept of ’managing diversity’ first emerged in the late 1980s in response to demographic changes in the labour market.</a:t>
            </a:r>
          </a:p>
          <a:p>
            <a:r>
              <a:rPr lang="en-GB" sz="2400" dirty="0"/>
              <a:t>There are various different diversity management initiatives and organisations invest huge sums of money into these programs, however, there is some debate about how effective these initiatives actually are!</a:t>
            </a:r>
          </a:p>
          <a:p>
            <a:endParaRPr lang="en-GB" sz="1900" dirty="0"/>
          </a:p>
        </p:txBody>
      </p:sp>
    </p:spTree>
    <p:extLst>
      <p:ext uri="{BB962C8B-B14F-4D97-AF65-F5344CB8AC3E}">
        <p14:creationId xmlns:p14="http://schemas.microsoft.com/office/powerpoint/2010/main" val="1182962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3776" y="314923"/>
            <a:ext cx="8610600" cy="1293028"/>
          </a:xfrm>
        </p:spPr>
        <p:txBody>
          <a:bodyPr>
            <a:normAutofit/>
          </a:bodyPr>
          <a:lstStyle/>
          <a:p>
            <a:pPr algn="ctr"/>
            <a:r>
              <a:rPr lang="en-US" sz="3200" dirty="0"/>
              <a:t>References</a:t>
            </a:r>
          </a:p>
        </p:txBody>
      </p:sp>
      <p:sp>
        <p:nvSpPr>
          <p:cNvPr id="3" name="Content Placeholder 2"/>
          <p:cNvSpPr>
            <a:spLocks noGrp="1"/>
          </p:cNvSpPr>
          <p:nvPr>
            <p:ph idx="1"/>
          </p:nvPr>
        </p:nvSpPr>
        <p:spPr>
          <a:xfrm>
            <a:off x="544286" y="1607951"/>
            <a:ext cx="11430000" cy="4967020"/>
          </a:xfrm>
        </p:spPr>
        <p:txBody>
          <a:bodyPr>
            <a:normAutofit fontScale="92500" lnSpcReduction="20000"/>
          </a:bodyPr>
          <a:lstStyle/>
          <a:p>
            <a:r>
              <a:rPr lang="en-US" sz="2200" dirty="0"/>
              <a:t>Ellis, C., 1994. Diverse approaches to managing diversity. </a:t>
            </a:r>
            <a:r>
              <a:rPr lang="en-US" sz="2200" i="1" dirty="0"/>
              <a:t>Human Resource Management</a:t>
            </a:r>
            <a:r>
              <a:rPr lang="en-US" sz="2200" dirty="0"/>
              <a:t>, </a:t>
            </a:r>
            <a:r>
              <a:rPr lang="en-US" sz="2200" i="1" dirty="0"/>
              <a:t>33</a:t>
            </a:r>
            <a:r>
              <a:rPr lang="en-US" sz="2200" dirty="0"/>
              <a:t>(1), pp.79-109.</a:t>
            </a:r>
          </a:p>
          <a:p>
            <a:r>
              <a:rPr lang="en-US" sz="2200" dirty="0"/>
              <a:t>Heilman, M.E. and Eagly, A.H., 2008. Gender stereotypes are alive, well, and busy producing workplace discrimination. </a:t>
            </a:r>
            <a:r>
              <a:rPr lang="en-US" sz="2200" i="1" dirty="0"/>
              <a:t>Industrial and Organizational Psychology</a:t>
            </a:r>
            <a:r>
              <a:rPr lang="en-US" sz="2200" dirty="0"/>
              <a:t>, </a:t>
            </a:r>
            <a:r>
              <a:rPr lang="en-US" sz="2200" i="1" dirty="0"/>
              <a:t>1</a:t>
            </a:r>
            <a:r>
              <a:rPr lang="en-US" sz="2200" dirty="0"/>
              <a:t>(4), pp.393-398.</a:t>
            </a:r>
          </a:p>
          <a:p>
            <a:r>
              <a:rPr lang="en-US" sz="2200" dirty="0"/>
              <a:t>Klarsfeld, A., 2009. The diffusion of diversity management: The case of France. </a:t>
            </a:r>
            <a:r>
              <a:rPr lang="en-US" sz="2200" i="1" dirty="0"/>
              <a:t>Scandinavian Journal of Management</a:t>
            </a:r>
            <a:r>
              <a:rPr lang="en-US" sz="2200" dirty="0"/>
              <a:t>, </a:t>
            </a:r>
            <a:r>
              <a:rPr lang="en-US" sz="2200" i="1" dirty="0"/>
              <a:t>25</a:t>
            </a:r>
            <a:r>
              <a:rPr lang="en-US" sz="2200" dirty="0"/>
              <a:t>(4), pp.363-373.</a:t>
            </a:r>
          </a:p>
          <a:p>
            <a:r>
              <a:rPr lang="en-US" sz="2200" dirty="0"/>
              <a:t>Noon, M., 2018. Pointless diversity training: Unconscious bias, new racism and agency. </a:t>
            </a:r>
            <a:r>
              <a:rPr lang="en-US" sz="2200" i="1" dirty="0"/>
              <a:t>Work, employment and society</a:t>
            </a:r>
            <a:r>
              <a:rPr lang="en-US" sz="2200" dirty="0"/>
              <a:t>, </a:t>
            </a:r>
            <a:r>
              <a:rPr lang="en-US" sz="2200" i="1" dirty="0"/>
              <a:t>32</a:t>
            </a:r>
            <a:r>
              <a:rPr lang="en-US" sz="2200" dirty="0"/>
              <a:t>(1), pp.198-209.</a:t>
            </a:r>
          </a:p>
          <a:p>
            <a:r>
              <a:rPr lang="en-US" sz="2200" dirty="0"/>
              <a:t>Pitts, D.W., 2006. Modeling the impact of diversity management. </a:t>
            </a:r>
            <a:r>
              <a:rPr lang="en-US" sz="2200" i="1" dirty="0"/>
              <a:t>Review of Public Personnel Administration</a:t>
            </a:r>
            <a:r>
              <a:rPr lang="en-US" sz="2200" dirty="0"/>
              <a:t>, </a:t>
            </a:r>
            <a:r>
              <a:rPr lang="en-US" sz="2200" i="1" dirty="0"/>
              <a:t>26</a:t>
            </a:r>
            <a:r>
              <a:rPr lang="en-US" sz="2200" dirty="0"/>
              <a:t>(3), pp.245-268.</a:t>
            </a:r>
          </a:p>
          <a:p>
            <a:r>
              <a:rPr lang="en-US" sz="2200" dirty="0"/>
              <a:t>Shen, J., Chanda, A., D'netto, B. and Monga, M., 2009. Managing diversity through human resource management: An international perspective and conceptual framework. </a:t>
            </a:r>
            <a:r>
              <a:rPr lang="en-US" sz="2200" i="1" dirty="0"/>
              <a:t>The International Journal of Human Resource Management</a:t>
            </a:r>
            <a:r>
              <a:rPr lang="en-US" sz="2200" dirty="0"/>
              <a:t>, </a:t>
            </a:r>
            <a:r>
              <a:rPr lang="en-US" sz="2200" i="1" dirty="0"/>
              <a:t>20</a:t>
            </a:r>
            <a:r>
              <a:rPr lang="en-US" sz="2200" dirty="0"/>
              <a:t>(2), pp.235-251.</a:t>
            </a:r>
          </a:p>
          <a:p>
            <a:r>
              <a:rPr lang="en-US" sz="2200" dirty="0"/>
              <a:t>Tajfel, H. and Turner, J.C., 2004. The social identity theory of intergroup behavior. In </a:t>
            </a:r>
            <a:r>
              <a:rPr lang="en-US" sz="2200" i="1" dirty="0"/>
              <a:t>Political psychology</a:t>
            </a:r>
            <a:r>
              <a:rPr lang="en-US" sz="2200" dirty="0"/>
              <a:t> (pp. 276-293). Psychology Press.</a:t>
            </a:r>
          </a:p>
          <a:p>
            <a:r>
              <a:rPr lang="en-GB" sz="2200" dirty="0"/>
              <a:t>Wilkinson, A., Dundon, T., &amp; Yates, E. (2025). </a:t>
            </a:r>
            <a:r>
              <a:rPr lang="en-GB" sz="2200" i="1" dirty="0"/>
              <a:t>Contemporary human resource management: Text and cases</a:t>
            </a:r>
            <a:r>
              <a:rPr lang="en-GB" sz="2200" dirty="0"/>
              <a:t> (7th ed.). SAGE</a:t>
            </a:r>
            <a:endParaRPr lang="en-US" sz="2200" dirty="0"/>
          </a:p>
          <a:p>
            <a:endParaRPr lang="en-US" sz="2000" dirty="0"/>
          </a:p>
          <a:p>
            <a:endParaRPr lang="en-US" dirty="0"/>
          </a:p>
        </p:txBody>
      </p:sp>
    </p:spTree>
    <p:extLst>
      <p:ext uri="{BB962C8B-B14F-4D97-AF65-F5344CB8AC3E}">
        <p14:creationId xmlns:p14="http://schemas.microsoft.com/office/powerpoint/2010/main" val="878052504"/>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11863</TotalTime>
  <Words>4083</Words>
  <Application>Microsoft Office PowerPoint</Application>
  <PresentationFormat>Widescreen</PresentationFormat>
  <Paragraphs>309</Paragraphs>
  <Slides>44</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Aptos Display</vt:lpstr>
      <vt:lpstr>Arial</vt:lpstr>
      <vt:lpstr>Calibri</vt:lpstr>
      <vt:lpstr>Times New Roman</vt:lpstr>
      <vt:lpstr>Office Theme</vt:lpstr>
      <vt:lpstr>MGT650 Managing People in Organisations Semester 1 2026/2027  </vt:lpstr>
      <vt:lpstr>Learning Objectives</vt:lpstr>
      <vt:lpstr>Key reading</vt:lpstr>
      <vt:lpstr>Understanding Equality, Diversity &amp; Inclusion at Work</vt:lpstr>
      <vt:lpstr>PowerPoint Presentation</vt:lpstr>
      <vt:lpstr>WOOCLAP 1</vt:lpstr>
      <vt:lpstr>Key Legislation in the UK</vt:lpstr>
      <vt:lpstr>Key Terms</vt:lpstr>
      <vt:lpstr>Key Terms cont…..</vt:lpstr>
      <vt:lpstr>Discrimination Headlines…….</vt:lpstr>
      <vt:lpstr>PowerPoint Presentation</vt:lpstr>
      <vt:lpstr>BBC Storyville: Speechless - The New Campus Revolution (April 2026) </vt:lpstr>
      <vt:lpstr>Discrimination in the Workplace</vt:lpstr>
      <vt:lpstr>Discrimination in the Workplace</vt:lpstr>
      <vt:lpstr>Discrimination in the Workplace</vt:lpstr>
      <vt:lpstr>Why do people discriminate?</vt:lpstr>
      <vt:lpstr>WOOCLAP 2 </vt:lpstr>
      <vt:lpstr>Theorising equality, diversity and inclusion</vt:lpstr>
      <vt:lpstr>PowerPoint Presentation</vt:lpstr>
      <vt:lpstr>PowerPoint Presentation</vt:lpstr>
      <vt:lpstr>PowerPoint Presentation</vt:lpstr>
      <vt:lpstr>Intersectionality</vt:lpstr>
      <vt:lpstr>The Identity Wheel</vt:lpstr>
      <vt:lpstr>What is Bias?</vt:lpstr>
      <vt:lpstr>Stereotyping - Discrimination</vt:lpstr>
      <vt:lpstr>Implicit or Unconscious Bias </vt:lpstr>
      <vt:lpstr>Managing Diversity</vt:lpstr>
      <vt:lpstr>Managing Diversity……A Changing World</vt:lpstr>
      <vt:lpstr>The Moral or Social Justice Rationale</vt:lpstr>
      <vt:lpstr>The Economic Rationale for Managing Diversity</vt:lpstr>
      <vt:lpstr>Principles of Diversity Management</vt:lpstr>
      <vt:lpstr>Diversity Initiatives</vt:lpstr>
      <vt:lpstr>Examples of Diversity Initiatives</vt:lpstr>
      <vt:lpstr>PowerPoint Presentation</vt:lpstr>
      <vt:lpstr>PowerPoint Presentation</vt:lpstr>
      <vt:lpstr>PowerPoint Presentation</vt:lpstr>
      <vt:lpstr>PowerPoint Presentation</vt:lpstr>
      <vt:lpstr>Mastercard</vt:lpstr>
      <vt:lpstr>Do diversity initiatives actually work?</vt:lpstr>
      <vt:lpstr>Diversity in practice</vt:lpstr>
      <vt:lpstr>Artificial Intelligence &amp; EDI 1 </vt:lpstr>
      <vt:lpstr>Artificial Intelligence &amp; EDI 2</vt:lpstr>
      <vt:lpstr>Lecture 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Recruitment and Selection</dc:title>
  <dc:creator>Carole Elliott</dc:creator>
  <cp:lastModifiedBy>Edward Yates</cp:lastModifiedBy>
  <cp:revision>142</cp:revision>
  <dcterms:created xsi:type="dcterms:W3CDTF">2021-02-08T15:31:36Z</dcterms:created>
  <dcterms:modified xsi:type="dcterms:W3CDTF">2026-10-12T09:05:03Z</dcterms:modified>
</cp:coreProperties>
</file>