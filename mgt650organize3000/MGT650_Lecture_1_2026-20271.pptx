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797675" cy="9926638"/>
  <p:embeddedFontLst>
    <p:embeddedFont>
      <p:font typeface="Play" panose="020B0604020202020204" charset="0"/>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6B6BC0-B453-4A44-B1ED-6BD7F8503949}">
  <a:tblStyle styleId="{F16B6BC0-B453-4A44-B1ED-6BD7F850394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E131820-335C-4AD0-8DB9-1C2BE914CE66}"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525" autoAdjust="0"/>
  </p:normalViewPr>
  <p:slideViewPr>
    <p:cSldViewPr snapToGrid="0">
      <p:cViewPr varScale="1">
        <p:scale>
          <a:sx n="66" d="100"/>
          <a:sy n="66" d="100"/>
        </p:scale>
        <p:origin x="1293"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163"/>
            <a:ext cx="2946400" cy="4968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86" name="Google Shape;86;p1: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97" name="Google Shape;97;p2: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8" name="Google Shape;108;p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 name="Google Shape;117;p4: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131" name="Google Shape;131;p5: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a:t>
            </a:fld>
            <a:endParaRPr sz="12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6: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4" name="Google Shape;154;p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8: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173" name="Google Shape;173;p9: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9</a:t>
            </a:fld>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0: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0: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1: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1: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03" name="Google Shape;203;p12: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12</a:t>
            </a:fld>
            <a:endParaRPr sz="12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3: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14" name="Google Shape;214;p13: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7" name="Google Shape;227;p14: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5: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5: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5: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6: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6: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a:p>
            <a:pPr marL="0" lvl="0" indent="0" algn="l" rtl="0">
              <a:spcBef>
                <a:spcPts val="360"/>
              </a:spcBef>
              <a:spcAft>
                <a:spcPts val="0"/>
              </a:spcAft>
              <a:buNone/>
            </a:pPr>
            <a:endParaRPr dirty="0"/>
          </a:p>
        </p:txBody>
      </p:sp>
      <p:sp>
        <p:nvSpPr>
          <p:cNvPr id="245" name="Google Shape;245;p16: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55" name="Google Shape;255;p17: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360"/>
              </a:spcBef>
              <a:spcAft>
                <a:spcPts val="0"/>
              </a:spcAft>
              <a:buNone/>
            </a:pPr>
            <a:endParaRPr/>
          </a:p>
        </p:txBody>
      </p:sp>
      <p:sp>
        <p:nvSpPr>
          <p:cNvPr id="256" name="Google Shape;256;p17: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17</a:t>
            </a:fld>
            <a:endParaRPr sz="12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8: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8: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8: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9: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75" name="Google Shape;275;p19: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9: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19</a:t>
            </a:fld>
            <a:endParaRPr sz="12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0: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20: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86" name="Google Shape;286;p20: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1: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96" name="Google Shape;296;p21: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2: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22: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279"/>
              </a:spcBef>
              <a:spcAft>
                <a:spcPts val="0"/>
              </a:spcAft>
              <a:buNone/>
            </a:pPr>
            <a:endParaRPr sz="930" dirty="0"/>
          </a:p>
        </p:txBody>
      </p:sp>
      <p:sp>
        <p:nvSpPr>
          <p:cNvPr id="304" name="Google Shape;304;p22: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3: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0" name="Google Shape;310;p2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4: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4: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p:txBody>
      </p:sp>
      <p:sp>
        <p:nvSpPr>
          <p:cNvPr id="317" name="Google Shape;317;p24: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6" name="Google Shape;326;p25: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6: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6: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6: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7: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0" name="Google Shape;340;p2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8: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28: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28: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9: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29: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29: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0: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30: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5" name="Google Shape;365;p30: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31: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1: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2: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32: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79" name="Google Shape;379;p32: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33: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200" dirty="0"/>
          </a:p>
          <a:p>
            <a:pPr marL="0" lvl="0" indent="0" algn="l" rtl="0">
              <a:spcBef>
                <a:spcPts val="360"/>
              </a:spcBef>
              <a:spcAft>
                <a:spcPts val="0"/>
              </a:spcAft>
              <a:buNone/>
            </a:pPr>
            <a:endParaRPr dirty="0"/>
          </a:p>
        </p:txBody>
      </p:sp>
      <p:sp>
        <p:nvSpPr>
          <p:cNvPr id="386" name="Google Shape;386;p33: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4: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34: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4: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5: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35: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5: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6: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36: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33"/>
              </a:spcBef>
              <a:spcAft>
                <a:spcPts val="0"/>
              </a:spcAft>
              <a:buNone/>
            </a:pPr>
            <a:endParaRPr sz="1110" dirty="0"/>
          </a:p>
        </p:txBody>
      </p:sp>
      <p:sp>
        <p:nvSpPr>
          <p:cNvPr id="407" name="Google Shape;407;p36: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37: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endParaRPr dirty="0"/>
          </a:p>
          <a:p>
            <a:pPr marL="0" lvl="0" indent="0" algn="l" rtl="0">
              <a:spcBef>
                <a:spcPts val="360"/>
              </a:spcBef>
              <a:spcAft>
                <a:spcPts val="0"/>
              </a:spcAft>
              <a:buNone/>
            </a:pPr>
            <a:endParaRPr dirty="0"/>
          </a:p>
        </p:txBody>
      </p:sp>
      <p:sp>
        <p:nvSpPr>
          <p:cNvPr id="414" name="Google Shape;414;p37: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8: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38: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21" name="Google Shape;421;p38: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9:notes"/>
          <p:cNvSpPr txBox="1">
            <a:spLocks noGrp="1"/>
          </p:cNvSpPr>
          <p:nvPr>
            <p:ph type="body" idx="1"/>
          </p:nvPr>
        </p:nvSpPr>
        <p:spPr>
          <a:xfrm>
            <a:off x="679450" y="4714875"/>
            <a:ext cx="5438775"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5" name="Google Shape;435;p39: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0: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0: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40: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41:notes"/>
          <p:cNvSpPr txBox="1">
            <a:spLocks noGrp="1"/>
          </p:cNvSpPr>
          <p:nvPr>
            <p:ph type="body" idx="1"/>
          </p:nvPr>
        </p:nvSpPr>
        <p:spPr>
          <a:xfrm>
            <a:off x="679450" y="4714875"/>
            <a:ext cx="5438775"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1:notes"/>
          <p:cNvSpPr txBox="1">
            <a:spLocks noGrp="1"/>
          </p:cNvSpPr>
          <p:nvPr>
            <p:ph type="sldNum" idx="12"/>
          </p:nvPr>
        </p:nvSpPr>
        <p:spPr>
          <a:xfrm>
            <a:off x="3849688" y="9428163"/>
            <a:ext cx="2946400" cy="4968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4"/>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623887" y="1709738"/>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623887"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37" name="Google Shape;37;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3" name="Google Shape;43;p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5" name="Google Shape;45;p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sp>
      <p:sp>
        <p:nvSpPr>
          <p:cNvPr id="68" name="Google Shape;68;p1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burns@sheffield.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mailto:sums@sheffield.ac.uk"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www.cipd.co.uk/"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3"/>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3"/>
          <p:cNvSpPr txBox="1">
            <a:spLocks noGrp="1"/>
          </p:cNvSpPr>
          <p:nvPr>
            <p:ph type="title"/>
          </p:nvPr>
        </p:nvSpPr>
        <p:spPr>
          <a:xfrm>
            <a:off x="2135553" y="3429000"/>
            <a:ext cx="5849688" cy="999106"/>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1"/>
              </a:buClr>
              <a:buSzPct val="100000"/>
              <a:buFont typeface="Play"/>
              <a:buNone/>
            </a:pPr>
            <a:r>
              <a:rPr lang="en-US" sz="2700" b="1"/>
              <a:t>MGT650 Managing People in Organisations</a:t>
            </a:r>
            <a:br>
              <a:rPr lang="en-US" sz="2700" b="1"/>
            </a:br>
            <a:br>
              <a:rPr lang="en-US" sz="2700" b="1" i="1"/>
            </a:br>
            <a:r>
              <a:rPr lang="en-US" sz="2700" b="1" i="1"/>
              <a:t>Why is managing people so difficult? </a:t>
            </a:r>
            <a:br>
              <a:rPr lang="en-US" sz="2700" b="1" i="1"/>
            </a:br>
            <a:br>
              <a:rPr lang="en-US" sz="2700" b="1" i="1"/>
            </a:br>
            <a:r>
              <a:rPr lang="en-US" sz="2700" b="1"/>
              <a:t>Professor Diane Burns</a:t>
            </a:r>
            <a:br>
              <a:rPr lang="en-US" sz="2700" b="1"/>
            </a:br>
            <a:r>
              <a:rPr lang="en-US" sz="2700" b="1" u="sng">
                <a:solidFill>
                  <a:schemeClr val="hlink"/>
                </a:solidFill>
                <a:hlinkClick r:id="rId3"/>
              </a:rPr>
              <a:t>d.burns@sheffield.ac.uk</a:t>
            </a:r>
            <a:br>
              <a:rPr lang="en-US" sz="2700" b="1"/>
            </a:br>
            <a:br>
              <a:rPr lang="en-US" sz="2700" b="1" i="1"/>
            </a:br>
            <a:br>
              <a:rPr lang="en-US" sz="2200" b="1"/>
            </a:br>
            <a:br>
              <a:rPr lang="en-US" sz="2200" b="1"/>
            </a:br>
            <a:br>
              <a:rPr lang="en-US" sz="2200"/>
            </a:br>
            <a:endParaRPr sz="2200"/>
          </a:p>
        </p:txBody>
      </p:sp>
      <p:pic>
        <p:nvPicPr>
          <p:cNvPr id="91" name="Google Shape;91;p13" descr="The logo for Sheffield University Management School which is a shield and wording. "/>
          <p:cNvPicPr preferRelativeResize="0"/>
          <p:nvPr/>
        </p:nvPicPr>
        <p:blipFill rotWithShape="1">
          <a:blip r:embed="rId4">
            <a:alphaModFix/>
          </a:blip>
          <a:srcRect/>
          <a:stretch/>
        </p:blipFill>
        <p:spPr>
          <a:xfrm>
            <a:off x="417444" y="1171839"/>
            <a:ext cx="8354833" cy="2026047"/>
          </a:xfrm>
          <a:prstGeom prst="rect">
            <a:avLst/>
          </a:prstGeom>
          <a:noFill/>
          <a:ln>
            <a:noFill/>
          </a:ln>
        </p:spPr>
      </p:pic>
      <p:sp>
        <p:nvSpPr>
          <p:cNvPr id="92" name="Google Shape;92;p13"/>
          <p:cNvSpPr txBox="1">
            <a:spLocks noGrp="1"/>
          </p:cNvSpPr>
          <p:nvPr>
            <p:ph type="body" idx="1"/>
          </p:nvPr>
        </p:nvSpPr>
        <p:spPr>
          <a:xfrm>
            <a:off x="2123728" y="3053178"/>
            <a:ext cx="6408712" cy="9991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700"/>
              <a:buFont typeface="Arial"/>
              <a:buNone/>
            </a:pPr>
            <a:endParaRPr sz="1700"/>
          </a:p>
          <a:p>
            <a:pPr marL="0" lvl="0" indent="0" algn="l" rtl="0">
              <a:lnSpc>
                <a:spcPct val="90000"/>
              </a:lnSpc>
              <a:spcBef>
                <a:spcPts val="750"/>
              </a:spcBef>
              <a:spcAft>
                <a:spcPts val="0"/>
              </a:spcAft>
              <a:buClr>
                <a:schemeClr val="dk1"/>
              </a:buClr>
              <a:buSzPts val="1700"/>
              <a:buFont typeface="Arial"/>
              <a:buNone/>
            </a:pPr>
            <a:endParaRPr sz="1700"/>
          </a:p>
        </p:txBody>
      </p:sp>
      <p:sp>
        <p:nvSpPr>
          <p:cNvPr id="93" name="Google Shape;93;p13"/>
          <p:cNvSpPr/>
          <p:nvPr/>
        </p:nvSpPr>
        <p:spPr>
          <a:xfrm flipH="1">
            <a:off x="0" y="6406116"/>
            <a:ext cx="9143998" cy="461774"/>
          </a:xfrm>
          <a:prstGeom prst="rect">
            <a:avLst/>
          </a:prstGeom>
          <a:gradFill>
            <a:gsLst>
              <a:gs pos="0">
                <a:srgbClr val="000000"/>
              </a:gs>
              <a:gs pos="100000">
                <a:srgbClr val="0F476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3"/>
          <p:cNvSpPr/>
          <p:nvPr/>
        </p:nvSpPr>
        <p:spPr>
          <a:xfrm flipH="1">
            <a:off x="6086475" y="6406115"/>
            <a:ext cx="3057523" cy="464399"/>
          </a:xfrm>
          <a:prstGeom prst="rect">
            <a:avLst/>
          </a:prstGeom>
          <a:gradFill>
            <a:gsLst>
              <a:gs pos="0">
                <a:srgbClr val="000000">
                  <a:alpha val="30980"/>
                </a:srgbClr>
              </a:gs>
              <a:gs pos="19000">
                <a:srgbClr val="000000">
                  <a:alpha val="30980"/>
                </a:srgbClr>
              </a:gs>
              <a:gs pos="99000">
                <a:schemeClr val="accent1"/>
              </a:gs>
              <a:gs pos="100000">
                <a:schemeClr val="accent1"/>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14"/>
          <p:cNvSpPr/>
          <p:nvPr/>
        </p:nvSpPr>
        <p:spPr>
          <a:xfrm>
            <a:off x="5658496" y="323519"/>
            <a:ext cx="3242924" cy="6212748"/>
          </a:xfrm>
          <a:custGeom>
            <a:avLst/>
            <a:gdLst/>
            <a:ahLst/>
            <a:cxnLst/>
            <a:rect l="l" t="t" r="r" b="b"/>
            <a:pathLst>
              <a:path w="4323899" h="6212748" extrusionOk="0">
                <a:moveTo>
                  <a:pt x="0" y="0"/>
                </a:moveTo>
                <a:lnTo>
                  <a:pt x="742501" y="0"/>
                </a:lnTo>
                <a:lnTo>
                  <a:pt x="4323899" y="0"/>
                </a:lnTo>
                <a:lnTo>
                  <a:pt x="4323899" y="2864954"/>
                </a:lnTo>
                <a:lnTo>
                  <a:pt x="880454" y="6212748"/>
                </a:lnTo>
                <a:lnTo>
                  <a:pt x="0" y="6212748"/>
                </a:lnTo>
                <a:lnTo>
                  <a:pt x="0" y="6210962"/>
                </a:lnTo>
                <a:close/>
              </a:path>
            </a:pathLst>
          </a:custGeom>
          <a:solidFill>
            <a:srgbClr val="7F7F7F">
              <a:alpha val="2509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14"/>
          <p:cNvSpPr/>
          <p:nvPr/>
        </p:nvSpPr>
        <p:spPr>
          <a:xfrm flipH="1">
            <a:off x="6432540" y="3335867"/>
            <a:ext cx="2468880" cy="3200400"/>
          </a:xfrm>
          <a:prstGeom prst="rtTriangl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4"/>
          <p:cNvSpPr/>
          <p:nvPr/>
        </p:nvSpPr>
        <p:spPr>
          <a:xfrm>
            <a:off x="481330" y="623275"/>
            <a:ext cx="8178790" cy="5607882"/>
          </a:xfrm>
          <a:prstGeom prst="rect">
            <a:avLst/>
          </a:prstGeom>
          <a:noFill/>
          <a:ln w="19050" cap="flat" cmpd="sng">
            <a:solidFill>
              <a:srgbClr val="3F3F3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14"/>
          <p:cNvSpPr txBox="1">
            <a:spLocks noGrp="1"/>
          </p:cNvSpPr>
          <p:nvPr>
            <p:ph type="ctrTitle"/>
          </p:nvPr>
        </p:nvSpPr>
        <p:spPr>
          <a:xfrm>
            <a:off x="5738885" y="806364"/>
            <a:ext cx="2799062" cy="284741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200"/>
              <a:buFont typeface="Play"/>
              <a:buNone/>
            </a:pPr>
            <a:r>
              <a:rPr lang="en-US" sz="4200" b="1" dirty="0">
                <a:latin typeface="Play"/>
                <a:ea typeface="Play"/>
                <a:cs typeface="Play"/>
                <a:sym typeface="Play"/>
              </a:rPr>
              <a:t>Welcome!</a:t>
            </a:r>
            <a:endParaRPr dirty="0"/>
          </a:p>
        </p:txBody>
      </p:sp>
      <p:pic>
        <p:nvPicPr>
          <p:cNvPr id="105" name="Google Shape;105;p14" descr="University of Sheffield sign and architecture Sheffield, UK - Close up of a sign for the University of Sheffield, with The Diamond building, used by the university's engineering department, in the background. university of sheffield stock pictures, royalty-free photos &amp; images"/>
          <p:cNvPicPr preferRelativeResize="0"/>
          <p:nvPr/>
        </p:nvPicPr>
        <p:blipFill rotWithShape="1">
          <a:blip r:embed="rId3">
            <a:alphaModFix/>
          </a:blip>
          <a:srcRect/>
          <a:stretch/>
        </p:blipFill>
        <p:spPr>
          <a:xfrm>
            <a:off x="972418" y="1875463"/>
            <a:ext cx="4203477" cy="30895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15"/>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1" name="Google Shape;111;p15"/>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1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endParaRPr/>
          </a:p>
        </p:txBody>
      </p:sp>
      <p:sp>
        <p:nvSpPr>
          <p:cNvPr id="113" name="Google Shape;113;p15"/>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4" name="Google Shape;114;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3600"/>
              <a:buNone/>
            </a:pPr>
            <a:r>
              <a:rPr lang="en-US" sz="3600" b="1"/>
              <a:t>What do organisations most need from their employees?</a:t>
            </a:r>
            <a:endParaRPr sz="36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30079" y="174143"/>
            <a:ext cx="7886700" cy="73457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6300" b="1" dirty="0"/>
              <a:t>Teaching Team</a:t>
            </a:r>
            <a:endParaRPr dirty="0"/>
          </a:p>
        </p:txBody>
      </p:sp>
      <p:sp>
        <p:nvSpPr>
          <p:cNvPr id="120" name="Google Shape;120;p16"/>
          <p:cNvSpPr txBox="1">
            <a:spLocks noGrp="1"/>
          </p:cNvSpPr>
          <p:nvPr>
            <p:ph type="body" idx="1"/>
          </p:nvPr>
        </p:nvSpPr>
        <p:spPr>
          <a:xfrm>
            <a:off x="179512" y="1124744"/>
            <a:ext cx="8856984" cy="283901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100"/>
              <a:buFont typeface="Arial"/>
              <a:buNone/>
            </a:pPr>
            <a:r>
              <a:rPr lang="en-US" b="1" dirty="0"/>
              <a:t>	</a:t>
            </a:r>
            <a:endParaRPr dirty="0"/>
          </a:p>
          <a:p>
            <a:pPr marL="0" lvl="0" indent="0" algn="l" rtl="0">
              <a:lnSpc>
                <a:spcPct val="90000"/>
              </a:lnSpc>
              <a:spcBef>
                <a:spcPts val="750"/>
              </a:spcBef>
              <a:spcAft>
                <a:spcPts val="0"/>
              </a:spcAft>
              <a:buClr>
                <a:schemeClr val="dk1"/>
              </a:buClr>
              <a:buSzPts val="2100"/>
              <a:buNone/>
            </a:pPr>
            <a:r>
              <a:rPr lang="en-US" dirty="0"/>
              <a:t>Dr Edward Yates 	 Dr </a:t>
            </a:r>
            <a:r>
              <a:rPr lang="en-US" dirty="0" err="1"/>
              <a:t>Valiera</a:t>
            </a:r>
            <a:r>
              <a:rPr lang="en-US" dirty="0"/>
              <a:t> </a:t>
            </a:r>
            <a:r>
              <a:rPr lang="en-US" dirty="0" err="1"/>
              <a:t>Insarauto</a:t>
            </a:r>
            <a:r>
              <a:rPr lang="en-US" dirty="0"/>
              <a:t>	Dr John Wilson</a:t>
            </a:r>
            <a:endParaRPr dirty="0"/>
          </a:p>
          <a:p>
            <a:pPr marL="0" lvl="0" indent="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Font typeface="Arial"/>
              <a:buNone/>
            </a:pPr>
            <a:endParaRPr dirty="0"/>
          </a:p>
          <a:p>
            <a:pPr marL="0" lvl="0" indent="0" algn="l" rtl="0">
              <a:lnSpc>
                <a:spcPct val="90000"/>
              </a:lnSpc>
              <a:spcBef>
                <a:spcPts val="750"/>
              </a:spcBef>
              <a:spcAft>
                <a:spcPts val="0"/>
              </a:spcAft>
              <a:buClr>
                <a:schemeClr val="dk1"/>
              </a:buClr>
              <a:buSzPts val="2100"/>
              <a:buFont typeface="Arial"/>
              <a:buNone/>
            </a:pPr>
            <a:endParaRPr dirty="0"/>
          </a:p>
        </p:txBody>
      </p:sp>
      <p:sp>
        <p:nvSpPr>
          <p:cNvPr id="121" name="Google Shape;121;p16"/>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100"/>
              <a:buNone/>
            </a:pPr>
            <a:endParaRPr/>
          </a:p>
          <a:p>
            <a:pPr marL="0" lvl="0" indent="0" algn="l" rtl="0">
              <a:lnSpc>
                <a:spcPct val="90000"/>
              </a:lnSpc>
              <a:spcBef>
                <a:spcPts val="750"/>
              </a:spcBef>
              <a:spcAft>
                <a:spcPts val="0"/>
              </a:spcAft>
              <a:buClr>
                <a:schemeClr val="dk1"/>
              </a:buClr>
              <a:buSzPts val="2100"/>
              <a:buNone/>
            </a:pPr>
            <a:endParaRPr/>
          </a:p>
        </p:txBody>
      </p:sp>
      <p:pic>
        <p:nvPicPr>
          <p:cNvPr id="122" name="Google Shape;122;p16" descr="This is an image of Dr Edward Yates, one of hte lecturers on the module">
            <a:extLst>
              <a:ext uri="{C183D7F6-B498-43B3-948B-1728B52AA6E4}">
                <adec:decorative xmlns:adec="http://schemas.microsoft.com/office/drawing/2017/decorative" val="0"/>
              </a:ext>
            </a:extLst>
          </p:cNvPr>
          <p:cNvPicPr preferRelativeResize="0"/>
          <p:nvPr/>
        </p:nvPicPr>
        <p:blipFill rotWithShape="1">
          <a:blip r:embed="rId3">
            <a:alphaModFix/>
          </a:blip>
          <a:srcRect/>
          <a:stretch/>
        </p:blipFill>
        <p:spPr>
          <a:xfrm>
            <a:off x="181210" y="1872418"/>
            <a:ext cx="2091345" cy="2091345"/>
          </a:xfrm>
          <a:prstGeom prst="rect">
            <a:avLst/>
          </a:prstGeom>
          <a:noFill/>
          <a:ln>
            <a:noFill/>
          </a:ln>
        </p:spPr>
      </p:pic>
      <p:pic>
        <p:nvPicPr>
          <p:cNvPr id="123" name="Google Shape;123;p16" descr="This is an image of Dr Valiera Insarauto, one of the lecturers on the module"/>
          <p:cNvPicPr preferRelativeResize="0"/>
          <p:nvPr/>
        </p:nvPicPr>
        <p:blipFill rotWithShape="1">
          <a:blip r:embed="rId4">
            <a:alphaModFix/>
          </a:blip>
          <a:srcRect/>
          <a:stretch/>
        </p:blipFill>
        <p:spPr>
          <a:xfrm>
            <a:off x="3069593" y="1835768"/>
            <a:ext cx="2076822" cy="2076822"/>
          </a:xfrm>
          <a:prstGeom prst="rect">
            <a:avLst/>
          </a:prstGeom>
          <a:noFill/>
          <a:ln>
            <a:noFill/>
          </a:ln>
        </p:spPr>
      </p:pic>
      <p:pic>
        <p:nvPicPr>
          <p:cNvPr id="124" name="Google Shape;124;p16" descr="This is an image of Dr John Wilson one of hte lecturers on the module"/>
          <p:cNvPicPr preferRelativeResize="0"/>
          <p:nvPr/>
        </p:nvPicPr>
        <p:blipFill rotWithShape="1">
          <a:blip r:embed="rId5">
            <a:alphaModFix/>
          </a:blip>
          <a:srcRect/>
          <a:stretch/>
        </p:blipFill>
        <p:spPr>
          <a:xfrm>
            <a:off x="5653483" y="1872418"/>
            <a:ext cx="2076822" cy="2076822"/>
          </a:xfrm>
          <a:prstGeom prst="rect">
            <a:avLst/>
          </a:prstGeom>
          <a:noFill/>
          <a:ln>
            <a:noFill/>
          </a:ln>
        </p:spPr>
      </p:pic>
      <p:sp>
        <p:nvSpPr>
          <p:cNvPr id="125" name="Google Shape;125;p16"/>
          <p:cNvSpPr txBox="1"/>
          <p:nvPr/>
        </p:nvSpPr>
        <p:spPr>
          <a:xfrm>
            <a:off x="181210" y="4293096"/>
            <a:ext cx="842323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Dr Martyn Griffin		Dr Luke Neal		Ms Yanan Yu</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26" name="Google Shape;126;p16" descr="This is an image of Dr Martyn Griffin, one of the lecturers on the module"/>
          <p:cNvPicPr preferRelativeResize="0"/>
          <p:nvPr/>
        </p:nvPicPr>
        <p:blipFill rotWithShape="1">
          <a:blip r:embed="rId6">
            <a:alphaModFix/>
          </a:blip>
          <a:srcRect/>
          <a:stretch/>
        </p:blipFill>
        <p:spPr>
          <a:xfrm>
            <a:off x="165842" y="4679899"/>
            <a:ext cx="2106713" cy="2106713"/>
          </a:xfrm>
          <a:prstGeom prst="rect">
            <a:avLst/>
          </a:prstGeom>
          <a:noFill/>
          <a:ln>
            <a:noFill/>
          </a:ln>
        </p:spPr>
      </p:pic>
      <p:pic>
        <p:nvPicPr>
          <p:cNvPr id="127" name="Google Shape;127;p16" descr="This is an image of Dr Luke Neal, one of the tutors on the module"/>
          <p:cNvPicPr preferRelativeResize="0"/>
          <p:nvPr/>
        </p:nvPicPr>
        <p:blipFill rotWithShape="1">
          <a:blip r:embed="rId7">
            <a:alphaModFix/>
          </a:blip>
          <a:srcRect/>
          <a:stretch/>
        </p:blipFill>
        <p:spPr>
          <a:xfrm>
            <a:off x="3028803" y="4616261"/>
            <a:ext cx="2117612" cy="2117612"/>
          </a:xfrm>
          <a:prstGeom prst="rect">
            <a:avLst/>
          </a:prstGeom>
          <a:noFill/>
          <a:ln>
            <a:noFill/>
          </a:ln>
        </p:spPr>
      </p:pic>
      <p:pic>
        <p:nvPicPr>
          <p:cNvPr id="128" name="Google Shape;128;p16" descr="This is an image of Yanan Yu, one of the tutors on the module"/>
          <p:cNvPicPr preferRelativeResize="0"/>
          <p:nvPr/>
        </p:nvPicPr>
        <p:blipFill rotWithShape="1">
          <a:blip r:embed="rId8">
            <a:alphaModFix/>
          </a:blip>
          <a:srcRect/>
          <a:stretch/>
        </p:blipFill>
        <p:spPr>
          <a:xfrm>
            <a:off x="5648409" y="4616261"/>
            <a:ext cx="2373910" cy="2170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17"/>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7"/>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1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4 Things You Need to Know</a:t>
            </a:r>
            <a:endParaRPr/>
          </a:p>
        </p:txBody>
      </p:sp>
      <p:sp>
        <p:nvSpPr>
          <p:cNvPr id="137" name="Google Shape;137;p17"/>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17"/>
          <p:cNvSpPr txBox="1">
            <a:spLocks noGrp="1"/>
          </p:cNvSpPr>
          <p:nvPr>
            <p:ph type="body" idx="1"/>
          </p:nvPr>
        </p:nvSpPr>
        <p:spPr>
          <a:xfrm>
            <a:off x="971600" y="1698242"/>
            <a:ext cx="7886700" cy="4351338"/>
          </a:xfrm>
          <a:prstGeom prst="rect">
            <a:avLst/>
          </a:prstGeom>
          <a:noFill/>
          <a:ln>
            <a:noFill/>
          </a:ln>
        </p:spPr>
        <p:txBody>
          <a:bodyPr spcFirstLastPara="1" wrap="square" lIns="91425" tIns="45700" rIns="91425" bIns="45700" anchor="t" anchorCtr="0">
            <a:normAutofit/>
          </a:bodyPr>
          <a:lstStyle/>
          <a:p>
            <a:pPr marL="171450" lvl="0" indent="-177800" algn="l" rtl="0">
              <a:lnSpc>
                <a:spcPct val="90000"/>
              </a:lnSpc>
              <a:spcBef>
                <a:spcPts val="0"/>
              </a:spcBef>
              <a:spcAft>
                <a:spcPts val="0"/>
              </a:spcAft>
              <a:buClr>
                <a:schemeClr val="dk1"/>
              </a:buClr>
              <a:buSzPts val="2800"/>
              <a:buChar char="•"/>
            </a:pPr>
            <a:r>
              <a:rPr lang="en-US" sz="2800" b="1"/>
              <a:t>Key Info</a:t>
            </a:r>
            <a:r>
              <a:rPr lang="en-US" sz="2800"/>
              <a:t>: Check Blackboard </a:t>
            </a:r>
            <a:endParaRPr/>
          </a:p>
          <a:p>
            <a:pPr marL="171450" lvl="0" indent="-177800" algn="l" rtl="0">
              <a:lnSpc>
                <a:spcPct val="90000"/>
              </a:lnSpc>
              <a:spcBef>
                <a:spcPts val="750"/>
              </a:spcBef>
              <a:spcAft>
                <a:spcPts val="0"/>
              </a:spcAft>
              <a:buClr>
                <a:schemeClr val="dk1"/>
              </a:buClr>
              <a:buSzPts val="2800"/>
              <a:buChar char="•"/>
            </a:pPr>
            <a:r>
              <a:rPr lang="en-US" sz="2800" b="1"/>
              <a:t>Teaching Timetable</a:t>
            </a:r>
            <a:r>
              <a:rPr lang="en-US" sz="2800"/>
              <a:t>: Personal timetable and regularly check the announcements on Blackboard.</a:t>
            </a:r>
            <a:endParaRPr/>
          </a:p>
          <a:p>
            <a:pPr marL="171450" lvl="0" indent="-177800" algn="l" rtl="0">
              <a:lnSpc>
                <a:spcPct val="90000"/>
              </a:lnSpc>
              <a:spcBef>
                <a:spcPts val="750"/>
              </a:spcBef>
              <a:spcAft>
                <a:spcPts val="0"/>
              </a:spcAft>
              <a:buClr>
                <a:schemeClr val="dk1"/>
              </a:buClr>
              <a:buSzPts val="2800"/>
              <a:buChar char="•"/>
            </a:pPr>
            <a:r>
              <a:rPr lang="en-US" sz="2800" b="1"/>
              <a:t>Tutorials</a:t>
            </a:r>
            <a:r>
              <a:rPr lang="en-US" sz="2800"/>
              <a:t>: Attend your assigned tutorial. Any clashes email </a:t>
            </a:r>
            <a:r>
              <a:rPr lang="en-US" sz="2800" u="sng">
                <a:solidFill>
                  <a:schemeClr val="hlink"/>
                </a:solidFill>
                <a:hlinkClick r:id="rId3"/>
              </a:rPr>
              <a:t>sums@sheffield.ac.uk</a:t>
            </a:r>
            <a:endParaRPr sz="2800"/>
          </a:p>
          <a:p>
            <a:pPr marL="171450" lvl="0" indent="-177800" algn="l" rtl="0">
              <a:lnSpc>
                <a:spcPct val="90000"/>
              </a:lnSpc>
              <a:spcBef>
                <a:spcPts val="750"/>
              </a:spcBef>
              <a:spcAft>
                <a:spcPts val="0"/>
              </a:spcAft>
              <a:buClr>
                <a:schemeClr val="dk1"/>
              </a:buClr>
              <a:buSzPts val="2800"/>
              <a:buChar char="•"/>
            </a:pPr>
            <a:r>
              <a:rPr lang="en-US" sz="2800" b="1"/>
              <a:t>Assessment: </a:t>
            </a:r>
            <a:r>
              <a:rPr lang="en-US" sz="2800"/>
              <a:t>Individual assignment of  3,000 words and a submission deadline in January 2027.</a:t>
            </a:r>
            <a:endParaRPr/>
          </a:p>
          <a:p>
            <a:pPr marL="0" lvl="0" indent="0" algn="l" rtl="0">
              <a:lnSpc>
                <a:spcPct val="90000"/>
              </a:lnSpc>
              <a:spcBef>
                <a:spcPts val="750"/>
              </a:spcBef>
              <a:spcAft>
                <a:spcPts val="0"/>
              </a:spcAft>
              <a:buClr>
                <a:schemeClr val="dk1"/>
              </a:buClr>
              <a:buSzPts val="2100"/>
              <a:buFont typeface="Arial"/>
              <a:buNone/>
            </a:pPr>
            <a:endParaRPr/>
          </a:p>
          <a:p>
            <a:pPr marL="171450" lvl="0" indent="-3810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323180" y="-134888"/>
            <a:ext cx="8497639" cy="12938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4800" b="1"/>
              <a:t>Topics – journey through the module</a:t>
            </a:r>
            <a:endParaRPr/>
          </a:p>
        </p:txBody>
      </p:sp>
      <p:sp>
        <p:nvSpPr>
          <p:cNvPr id="144" name="Google Shape;144;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171450" lvl="0" indent="-38100" algn="l" rtl="0">
              <a:lnSpc>
                <a:spcPct val="90000"/>
              </a:lnSpc>
              <a:spcBef>
                <a:spcPts val="0"/>
              </a:spcBef>
              <a:spcAft>
                <a:spcPts val="0"/>
              </a:spcAft>
              <a:buClr>
                <a:schemeClr val="dk1"/>
              </a:buClr>
              <a:buSzPts val="2100"/>
              <a:buNone/>
            </a:pPr>
            <a:endParaRPr/>
          </a:p>
        </p:txBody>
      </p:sp>
      <p:sp>
        <p:nvSpPr>
          <p:cNvPr id="145" name="Google Shape;145;p18"/>
          <p:cNvSpPr/>
          <p:nvPr/>
        </p:nvSpPr>
        <p:spPr>
          <a:xfrm>
            <a:off x="628650" y="1340768"/>
            <a:ext cx="2808312" cy="2160240"/>
          </a:xfrm>
          <a:prstGeom prst="ellipse">
            <a:avLst/>
          </a:prstGeom>
          <a:solidFill>
            <a:schemeClr val="accent2"/>
          </a:solidFill>
          <a:ln w="19050" cap="flat" cmpd="sng">
            <a:solidFill>
              <a:srgbClr val="622F1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Getting People</a:t>
            </a:r>
            <a:endParaRPr sz="1800">
              <a:solidFill>
                <a:schemeClr val="lt1"/>
              </a:solidFill>
              <a:latin typeface="Arial"/>
              <a:ea typeface="Arial"/>
              <a:cs typeface="Arial"/>
              <a:sym typeface="Arial"/>
            </a:endParaRPr>
          </a:p>
        </p:txBody>
      </p:sp>
      <p:sp>
        <p:nvSpPr>
          <p:cNvPr id="146" name="Google Shape;146;p18"/>
          <p:cNvSpPr/>
          <p:nvPr/>
        </p:nvSpPr>
        <p:spPr>
          <a:xfrm>
            <a:off x="5292080" y="1422376"/>
            <a:ext cx="3096344" cy="1800200"/>
          </a:xfrm>
          <a:prstGeom prst="roundRect">
            <a:avLst>
              <a:gd name="adj" fmla="val 16667"/>
            </a:avLst>
          </a:prstGeom>
          <a:solidFill>
            <a:schemeClr val="accent5"/>
          </a:solidFill>
          <a:ln w="19050" cap="flat" cmpd="sng">
            <a:solidFill>
              <a:srgbClr val="43123E"/>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Managing and Motivating People</a:t>
            </a:r>
            <a:endParaRPr sz="1800">
              <a:solidFill>
                <a:schemeClr val="lt1"/>
              </a:solidFill>
              <a:latin typeface="Arial"/>
              <a:ea typeface="Arial"/>
              <a:cs typeface="Arial"/>
              <a:sym typeface="Arial"/>
            </a:endParaRPr>
          </a:p>
        </p:txBody>
      </p:sp>
      <p:sp>
        <p:nvSpPr>
          <p:cNvPr id="147" name="Google Shape;147;p18"/>
          <p:cNvSpPr/>
          <p:nvPr/>
        </p:nvSpPr>
        <p:spPr>
          <a:xfrm>
            <a:off x="827584" y="4515098"/>
            <a:ext cx="2808312" cy="1944216"/>
          </a:xfrm>
          <a:prstGeom prst="rect">
            <a:avLst/>
          </a:prstGeom>
          <a:gradFill>
            <a:gsLst>
              <a:gs pos="0">
                <a:srgbClr val="65B151"/>
              </a:gs>
              <a:gs pos="50000">
                <a:srgbClr val="4BAD27"/>
              </a:gs>
              <a:gs pos="100000">
                <a:srgbClr val="3F9E1D"/>
              </a:gs>
            </a:gsLst>
            <a:lin ang="5400000" scaled="0"/>
          </a:gradFill>
          <a:ln w="12700" cap="flat" cmpd="sng">
            <a:solidFill>
              <a:schemeClr val="accent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Understanding Organisations</a:t>
            </a:r>
            <a:endParaRPr sz="1800">
              <a:solidFill>
                <a:schemeClr val="lt1"/>
              </a:solidFill>
              <a:latin typeface="Arial"/>
              <a:ea typeface="Arial"/>
              <a:cs typeface="Arial"/>
              <a:sym typeface="Arial"/>
            </a:endParaRPr>
          </a:p>
        </p:txBody>
      </p:sp>
      <p:sp>
        <p:nvSpPr>
          <p:cNvPr id="148" name="Google Shape;148;p18"/>
          <p:cNvSpPr/>
          <p:nvPr/>
        </p:nvSpPr>
        <p:spPr>
          <a:xfrm>
            <a:off x="5733591" y="4293096"/>
            <a:ext cx="2808312" cy="2119090"/>
          </a:xfrm>
          <a:prstGeom prst="trapezoid">
            <a:avLst>
              <a:gd name="adj" fmla="val 25000"/>
            </a:avLst>
          </a:prstGeom>
          <a:gradFill>
            <a:gsLst>
              <a:gs pos="0">
                <a:srgbClr val="48A9DD"/>
              </a:gs>
              <a:gs pos="50000">
                <a:srgbClr val="05A1DE"/>
              </a:gs>
              <a:gs pos="100000">
                <a:srgbClr val="0092CC"/>
              </a:gs>
            </a:gsLst>
            <a:lin ang="5400000" scaled="0"/>
          </a:gra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HRM and Performance</a:t>
            </a:r>
            <a:endParaRPr sz="1800">
              <a:solidFill>
                <a:schemeClr val="lt1"/>
              </a:solidFill>
              <a:latin typeface="Arial"/>
              <a:ea typeface="Arial"/>
              <a:cs typeface="Arial"/>
              <a:sym typeface="Arial"/>
            </a:endParaRPr>
          </a:p>
        </p:txBody>
      </p:sp>
      <p:cxnSp>
        <p:nvCxnSpPr>
          <p:cNvPr id="149" name="Google Shape;149;p18"/>
          <p:cNvCxnSpPr/>
          <p:nvPr/>
        </p:nvCxnSpPr>
        <p:spPr>
          <a:xfrm>
            <a:off x="3635896" y="2420888"/>
            <a:ext cx="1512168" cy="0"/>
          </a:xfrm>
          <a:prstGeom prst="straightConnector1">
            <a:avLst/>
          </a:prstGeom>
          <a:noFill/>
          <a:ln w="19050" cap="flat" cmpd="sng">
            <a:solidFill>
              <a:schemeClr val="accent2"/>
            </a:solidFill>
            <a:prstDash val="solid"/>
            <a:round/>
            <a:headEnd type="stealth" w="med" len="med"/>
            <a:tailEnd type="stealth" w="med" len="med"/>
          </a:ln>
        </p:spPr>
      </p:cxnSp>
      <p:cxnSp>
        <p:nvCxnSpPr>
          <p:cNvPr id="150" name="Google Shape;150;p18"/>
          <p:cNvCxnSpPr/>
          <p:nvPr/>
        </p:nvCxnSpPr>
        <p:spPr>
          <a:xfrm flipH="1">
            <a:off x="2699792" y="3356992"/>
            <a:ext cx="3384376" cy="1008112"/>
          </a:xfrm>
          <a:prstGeom prst="straightConnector1">
            <a:avLst/>
          </a:prstGeom>
          <a:noFill/>
          <a:ln w="19050" cap="flat" cmpd="sng">
            <a:solidFill>
              <a:schemeClr val="accent5"/>
            </a:solidFill>
            <a:prstDash val="solid"/>
            <a:round/>
            <a:headEnd type="stealth" w="med" len="med"/>
            <a:tailEnd type="stealth" w="med" len="med"/>
          </a:ln>
        </p:spPr>
      </p:cxnSp>
      <p:cxnSp>
        <p:nvCxnSpPr>
          <p:cNvPr id="151" name="Google Shape;151;p18"/>
          <p:cNvCxnSpPr/>
          <p:nvPr/>
        </p:nvCxnSpPr>
        <p:spPr>
          <a:xfrm>
            <a:off x="3851920" y="5487206"/>
            <a:ext cx="2016224" cy="0"/>
          </a:xfrm>
          <a:prstGeom prst="straightConnector1">
            <a:avLst/>
          </a:prstGeom>
          <a:noFill/>
          <a:ln w="19050" cap="flat" cmpd="sng">
            <a:solidFill>
              <a:schemeClr val="accent6"/>
            </a:solidFill>
            <a:prstDash val="solid"/>
            <a:round/>
            <a:headEnd type="stealth" w="med" len="med"/>
            <a:tailEnd type="stealth"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19"/>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19"/>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1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endParaRPr b="1"/>
          </a:p>
        </p:txBody>
      </p:sp>
      <p:sp>
        <p:nvSpPr>
          <p:cNvPr id="159" name="Google Shape;159;p19"/>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60" name="Google Shape;160;p19"/>
          <p:cNvSpPr txBox="1">
            <a:spLocks noGrp="1"/>
          </p:cNvSpPr>
          <p:nvPr>
            <p:ph type="body" idx="1"/>
          </p:nvPr>
        </p:nvSpPr>
        <p:spPr>
          <a:xfrm>
            <a:off x="809043" y="1253331"/>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100"/>
              <a:buNone/>
            </a:pPr>
            <a:r>
              <a:rPr lang="en-US" dirty="0"/>
              <a:t> </a:t>
            </a:r>
            <a:endParaRPr dirty="0"/>
          </a:p>
          <a:p>
            <a:pPr marL="0" lvl="0" indent="0" algn="l" rtl="0">
              <a:lnSpc>
                <a:spcPct val="90000"/>
              </a:lnSpc>
              <a:spcBef>
                <a:spcPts val="750"/>
              </a:spcBef>
              <a:spcAft>
                <a:spcPts val="0"/>
              </a:spcAft>
              <a:buClr>
                <a:schemeClr val="dk1"/>
              </a:buClr>
              <a:buSzPts val="2100"/>
              <a:buNone/>
            </a:pPr>
            <a:endParaRPr b="1" dirty="0"/>
          </a:p>
          <a:p>
            <a:pPr marL="0" lvl="0" indent="0" algn="l" rtl="0">
              <a:lnSpc>
                <a:spcPct val="90000"/>
              </a:lnSpc>
              <a:spcBef>
                <a:spcPts val="750"/>
              </a:spcBef>
              <a:spcAft>
                <a:spcPts val="0"/>
              </a:spcAft>
              <a:buClr>
                <a:schemeClr val="dk1"/>
              </a:buClr>
              <a:buSzPts val="2400"/>
              <a:buNone/>
            </a:pPr>
            <a:r>
              <a:rPr lang="en-US" sz="2400" b="1" dirty="0"/>
              <a:t>Lectures</a:t>
            </a:r>
            <a:r>
              <a:rPr lang="en-US" sz="2400" dirty="0"/>
              <a:t> introduce ideas </a:t>
            </a:r>
            <a:endParaRPr dirty="0"/>
          </a:p>
          <a:p>
            <a:pPr marL="0" lvl="0" indent="0" algn="l" rtl="0">
              <a:lnSpc>
                <a:spcPct val="90000"/>
              </a:lnSpc>
              <a:spcBef>
                <a:spcPts val="750"/>
              </a:spcBef>
              <a:spcAft>
                <a:spcPts val="0"/>
              </a:spcAft>
              <a:buClr>
                <a:schemeClr val="dk1"/>
              </a:buClr>
              <a:buSzPts val="2400"/>
              <a:buNone/>
            </a:pPr>
            <a:endParaRPr sz="2400" dirty="0"/>
          </a:p>
          <a:p>
            <a:pPr marL="0" lvl="0" indent="0" algn="l" rtl="0">
              <a:lnSpc>
                <a:spcPct val="90000"/>
              </a:lnSpc>
              <a:spcBef>
                <a:spcPts val="750"/>
              </a:spcBef>
              <a:spcAft>
                <a:spcPts val="0"/>
              </a:spcAft>
              <a:buClr>
                <a:schemeClr val="dk1"/>
              </a:buClr>
              <a:buSzPts val="2400"/>
              <a:buNone/>
            </a:pPr>
            <a:r>
              <a:rPr lang="en-US" sz="2400" b="1" dirty="0"/>
              <a:t>Tutorials</a:t>
            </a:r>
            <a:r>
              <a:rPr lang="en-US" sz="2400" dirty="0"/>
              <a:t> to apply, discuss and critically examine them (in a small interactive class)</a:t>
            </a:r>
            <a:endParaRPr dirty="0"/>
          </a:p>
          <a:p>
            <a:pPr marL="0" lvl="0" indent="0" algn="l" rtl="0">
              <a:lnSpc>
                <a:spcPct val="90000"/>
              </a:lnSpc>
              <a:spcBef>
                <a:spcPts val="750"/>
              </a:spcBef>
              <a:spcAft>
                <a:spcPts val="0"/>
              </a:spcAft>
              <a:buClr>
                <a:schemeClr val="dk1"/>
              </a:buClr>
              <a:buSzPts val="2400"/>
              <a:buNone/>
            </a:pPr>
            <a:endParaRPr sz="2400" dirty="0"/>
          </a:p>
          <a:p>
            <a:pPr marL="0" lvl="0" indent="0" algn="l" rtl="0">
              <a:lnSpc>
                <a:spcPct val="90000"/>
              </a:lnSpc>
              <a:spcBef>
                <a:spcPts val="750"/>
              </a:spcBef>
              <a:spcAft>
                <a:spcPts val="0"/>
              </a:spcAft>
              <a:buClr>
                <a:schemeClr val="dk1"/>
              </a:buClr>
              <a:buSzPts val="2400"/>
              <a:buNone/>
            </a:pPr>
            <a:endParaRPr sz="2400" dirty="0"/>
          </a:p>
          <a:p>
            <a:pPr marL="0" lvl="0" indent="0" algn="l" rtl="0">
              <a:lnSpc>
                <a:spcPct val="90000"/>
              </a:lnSpc>
              <a:spcBef>
                <a:spcPts val="750"/>
              </a:spcBef>
              <a:spcAft>
                <a:spcPts val="0"/>
              </a:spcAft>
              <a:buClr>
                <a:schemeClr val="dk1"/>
              </a:buClr>
              <a:buSzPts val="2400"/>
              <a:buNone/>
            </a:pPr>
            <a:r>
              <a:rPr lang="en-US" sz="2400" dirty="0"/>
              <a:t>Details of lecture topics and tutorial activities can be found in ‘Learning Materials’ on the Blackboard Site for the MGT650 Managing People in </a:t>
            </a:r>
            <a:r>
              <a:rPr lang="en-US" sz="2400" dirty="0" err="1"/>
              <a:t>Organisations</a:t>
            </a:r>
            <a:r>
              <a:rPr lang="en-US" sz="2400" dirty="0"/>
              <a:t> Module  </a:t>
            </a:r>
            <a:endParaRPr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0"/>
          <p:cNvSpPr txBox="1">
            <a:spLocks noGrp="1"/>
          </p:cNvSpPr>
          <p:nvPr>
            <p:ph type="title"/>
          </p:nvPr>
        </p:nvSpPr>
        <p:spPr>
          <a:xfrm>
            <a:off x="288492" y="116632"/>
            <a:ext cx="7634287" cy="8159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Play"/>
              <a:buNone/>
            </a:pPr>
            <a:r>
              <a:rPr lang="en-US" sz="4800" b="1"/>
              <a:t>How to use the reading</a:t>
            </a:r>
            <a:endParaRPr/>
          </a:p>
        </p:txBody>
      </p:sp>
      <p:sp>
        <p:nvSpPr>
          <p:cNvPr id="167" name="Google Shape;167;p20"/>
          <p:cNvSpPr txBox="1">
            <a:spLocks noGrp="1"/>
          </p:cNvSpPr>
          <p:nvPr>
            <p:ph type="body" idx="1"/>
          </p:nvPr>
        </p:nvSpPr>
        <p:spPr>
          <a:xfrm>
            <a:off x="272256" y="1484784"/>
            <a:ext cx="8599487" cy="5113337"/>
          </a:xfrm>
          <a:prstGeom prst="rect">
            <a:avLst/>
          </a:prstGeom>
          <a:noFill/>
          <a:ln>
            <a:noFill/>
          </a:ln>
        </p:spPr>
        <p:txBody>
          <a:bodyPr spcFirstLastPara="1" wrap="square" lIns="91425" tIns="45700" rIns="91425" bIns="45700" anchor="t" anchorCtr="0">
            <a:noAutofit/>
          </a:bodyPr>
          <a:lstStyle/>
          <a:p>
            <a:pPr marL="171450" lvl="0" indent="-57150" algn="l" rtl="0">
              <a:lnSpc>
                <a:spcPct val="90000"/>
              </a:lnSpc>
              <a:spcBef>
                <a:spcPts val="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57150" algn="l" rtl="0">
              <a:lnSpc>
                <a:spcPct val="90000"/>
              </a:lnSpc>
              <a:spcBef>
                <a:spcPts val="750"/>
              </a:spcBef>
              <a:spcAft>
                <a:spcPts val="0"/>
              </a:spcAft>
              <a:buClr>
                <a:schemeClr val="dk1"/>
              </a:buClr>
              <a:buSzPts val="1800"/>
              <a:buNone/>
            </a:pPr>
            <a:endParaRPr sz="1800" dirty="0"/>
          </a:p>
          <a:p>
            <a:pPr marL="171450" lvl="0" indent="-171450" algn="l" rtl="0">
              <a:lnSpc>
                <a:spcPct val="90000"/>
              </a:lnSpc>
              <a:spcBef>
                <a:spcPts val="750"/>
              </a:spcBef>
              <a:spcAft>
                <a:spcPts val="0"/>
              </a:spcAft>
              <a:buClr>
                <a:schemeClr val="dk1"/>
              </a:buClr>
              <a:buSzPts val="2000"/>
              <a:buChar char="•"/>
            </a:pPr>
            <a:r>
              <a:rPr lang="en-US" sz="2000" b="1" dirty="0"/>
              <a:t>Core texts available through the library; </a:t>
            </a:r>
            <a:endParaRPr dirty="0"/>
          </a:p>
          <a:p>
            <a:pPr marL="171450" lvl="0" indent="-171450" algn="l" rtl="0">
              <a:lnSpc>
                <a:spcPct val="90000"/>
              </a:lnSpc>
              <a:spcBef>
                <a:spcPts val="750"/>
              </a:spcBef>
              <a:spcAft>
                <a:spcPts val="0"/>
              </a:spcAft>
              <a:buClr>
                <a:schemeClr val="dk1"/>
              </a:buClr>
              <a:buSzPts val="2000"/>
              <a:buChar char="•"/>
            </a:pPr>
            <a:r>
              <a:rPr lang="en-US" sz="2000" b="1" dirty="0"/>
              <a:t>Weekly essential/recommended readings on Blackboard; </a:t>
            </a:r>
            <a:endParaRPr dirty="0"/>
          </a:p>
          <a:p>
            <a:pPr marL="171450" lvl="0" indent="-171450" algn="l" rtl="0">
              <a:lnSpc>
                <a:spcPct val="90000"/>
              </a:lnSpc>
              <a:spcBef>
                <a:spcPts val="750"/>
              </a:spcBef>
              <a:spcAft>
                <a:spcPts val="0"/>
              </a:spcAft>
              <a:buClr>
                <a:schemeClr val="dk1"/>
              </a:buClr>
              <a:buSzPts val="2000"/>
              <a:buChar char="•"/>
            </a:pPr>
            <a:r>
              <a:rPr lang="en-US" sz="2000" b="1" dirty="0"/>
              <a:t>Come to tutorials having completed specified preparation. </a:t>
            </a:r>
            <a:endParaRPr dirty="0"/>
          </a:p>
          <a:p>
            <a:pPr marL="0" lvl="0" indent="0" algn="l" rtl="0">
              <a:lnSpc>
                <a:spcPct val="90000"/>
              </a:lnSpc>
              <a:spcBef>
                <a:spcPts val="750"/>
              </a:spcBef>
              <a:spcAft>
                <a:spcPts val="0"/>
              </a:spcAft>
              <a:buClr>
                <a:schemeClr val="dk1"/>
              </a:buClr>
              <a:buSzPts val="1800"/>
              <a:buNone/>
            </a:pPr>
            <a:endParaRPr sz="1800" dirty="0"/>
          </a:p>
          <a:p>
            <a:pPr marL="0" lvl="0" indent="0" algn="l" rtl="0">
              <a:lnSpc>
                <a:spcPct val="90000"/>
              </a:lnSpc>
              <a:spcBef>
                <a:spcPts val="750"/>
              </a:spcBef>
              <a:spcAft>
                <a:spcPts val="0"/>
              </a:spcAft>
              <a:buClr>
                <a:schemeClr val="dk1"/>
              </a:buClr>
              <a:buSzPts val="2000"/>
              <a:buNone/>
            </a:pPr>
            <a:r>
              <a:rPr lang="en-US" sz="2000" dirty="0"/>
              <a:t>The full reference details and links to online materials can be found in the ‘Module Reading List’ on Blackboard for the module.</a:t>
            </a:r>
            <a:endParaRPr dirty="0"/>
          </a:p>
        </p:txBody>
      </p:sp>
      <p:pic>
        <p:nvPicPr>
          <p:cNvPr id="168" name="Google Shape;168;p20" descr="This is an image of the book cover of the core text Contemporary Human Resource Management 7th Edition (published in 2025)"/>
          <p:cNvPicPr preferRelativeResize="0"/>
          <p:nvPr/>
        </p:nvPicPr>
        <p:blipFill rotWithShape="1">
          <a:blip r:embed="rId3">
            <a:alphaModFix/>
          </a:blip>
          <a:srcRect/>
          <a:stretch/>
        </p:blipFill>
        <p:spPr>
          <a:xfrm>
            <a:off x="539552" y="1124744"/>
            <a:ext cx="2448272" cy="3200356"/>
          </a:xfrm>
          <a:prstGeom prst="rect">
            <a:avLst/>
          </a:prstGeom>
          <a:noFill/>
          <a:ln>
            <a:noFill/>
          </a:ln>
        </p:spPr>
      </p:pic>
      <p:pic>
        <p:nvPicPr>
          <p:cNvPr id="169" name="Google Shape;169;p20" descr="This is an image of the core text book Work Psychology: Understanding human behaviour in the workplace. 7th Edition (2020) "/>
          <p:cNvPicPr preferRelativeResize="0"/>
          <p:nvPr/>
        </p:nvPicPr>
        <p:blipFill rotWithShape="1">
          <a:blip r:embed="rId4">
            <a:alphaModFix/>
          </a:blip>
          <a:srcRect/>
          <a:stretch/>
        </p:blipFill>
        <p:spPr>
          <a:xfrm>
            <a:off x="6340751" y="1120661"/>
            <a:ext cx="2263697" cy="3168352"/>
          </a:xfrm>
          <a:prstGeom prst="rect">
            <a:avLst/>
          </a:prstGeom>
          <a:noFill/>
          <a:ln>
            <a:noFill/>
          </a:ln>
        </p:spPr>
      </p:pic>
      <p:pic>
        <p:nvPicPr>
          <p:cNvPr id="170" name="Google Shape;170;p20" descr="This is an image of the book cover of the core text Contemporary Human Resource Management 5th Edition (published in 2017)"/>
          <p:cNvPicPr preferRelativeResize="0"/>
          <p:nvPr/>
        </p:nvPicPr>
        <p:blipFill rotWithShape="1">
          <a:blip r:embed="rId5">
            <a:alphaModFix/>
          </a:blip>
          <a:srcRect/>
          <a:stretch/>
        </p:blipFill>
        <p:spPr>
          <a:xfrm>
            <a:off x="3491879" y="1120661"/>
            <a:ext cx="2664299" cy="32003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21"/>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21"/>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2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Assessment details</a:t>
            </a:r>
            <a:endParaRPr/>
          </a:p>
        </p:txBody>
      </p:sp>
      <p:sp>
        <p:nvSpPr>
          <p:cNvPr id="179" name="Google Shape;179;p21"/>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2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b="1"/>
              <a:t>One 3,000-word individual assignment</a:t>
            </a:r>
            <a:endParaRPr/>
          </a:p>
          <a:p>
            <a:pPr marL="171450" lvl="0" indent="-177800" algn="l" rtl="0">
              <a:lnSpc>
                <a:spcPct val="90000"/>
              </a:lnSpc>
              <a:spcBef>
                <a:spcPts val="750"/>
              </a:spcBef>
              <a:spcAft>
                <a:spcPts val="0"/>
              </a:spcAft>
              <a:buClr>
                <a:schemeClr val="dk1"/>
              </a:buClr>
              <a:buSzPts val="2800"/>
              <a:buChar char="•"/>
            </a:pPr>
            <a:r>
              <a:rPr lang="en-US" sz="2800"/>
              <a:t>Guidance and criteria available from Week 3</a:t>
            </a:r>
            <a:endParaRPr/>
          </a:p>
          <a:p>
            <a:pPr marL="171450" lvl="0" indent="-177800" algn="l" rtl="0">
              <a:lnSpc>
                <a:spcPct val="90000"/>
              </a:lnSpc>
              <a:spcBef>
                <a:spcPts val="750"/>
              </a:spcBef>
              <a:spcAft>
                <a:spcPts val="0"/>
              </a:spcAft>
              <a:buClr>
                <a:schemeClr val="dk1"/>
              </a:buClr>
              <a:buSzPts val="2800"/>
              <a:buChar char="•"/>
            </a:pPr>
            <a:r>
              <a:rPr lang="en-US" sz="2800"/>
              <a:t>Final lecture and final 2 tutorials support assignment preparation</a:t>
            </a:r>
            <a:endParaRPr/>
          </a:p>
          <a:p>
            <a:pPr marL="171450" lvl="0" indent="-177800" algn="l" rtl="0">
              <a:lnSpc>
                <a:spcPct val="90000"/>
              </a:lnSpc>
              <a:spcBef>
                <a:spcPts val="750"/>
              </a:spcBef>
              <a:spcAft>
                <a:spcPts val="0"/>
              </a:spcAft>
              <a:buClr>
                <a:schemeClr val="dk1"/>
              </a:buClr>
              <a:buSzPts val="2800"/>
              <a:buChar char="•"/>
            </a:pPr>
            <a:r>
              <a:rPr lang="en-US" sz="2800"/>
              <a:t>Use module concepts and literature in your analysis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sp>
        <p:nvSpPr>
          <p:cNvPr id="186" name="Google Shape;186;p22"/>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22"/>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22"/>
          <p:cNvSpPr txBox="1">
            <a:spLocks noGrp="1"/>
          </p:cNvSpPr>
          <p:nvPr>
            <p:ph type="title"/>
          </p:nvPr>
        </p:nvSpPr>
        <p:spPr>
          <a:xfrm>
            <a:off x="628650" y="365125"/>
            <a:ext cx="7886700" cy="54359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b="1"/>
              <a:t>Module Feedback &amp; Changes </a:t>
            </a:r>
            <a:endParaRPr/>
          </a:p>
        </p:txBody>
      </p:sp>
      <p:sp>
        <p:nvSpPr>
          <p:cNvPr id="189" name="Google Shape;189;p22"/>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22"/>
          <p:cNvSpPr txBox="1">
            <a:spLocks noGrp="1"/>
          </p:cNvSpPr>
          <p:nvPr>
            <p:ph type="body" idx="1"/>
          </p:nvPr>
        </p:nvSpPr>
        <p:spPr>
          <a:xfrm>
            <a:off x="971600" y="1052736"/>
            <a:ext cx="7886700" cy="5124227"/>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ct val="100000"/>
              <a:buNone/>
            </a:pPr>
            <a:r>
              <a:rPr lang="en-US" sz="2000" b="1" dirty="0"/>
              <a:t>You said</a:t>
            </a:r>
            <a:r>
              <a:rPr lang="en-US" sz="2600" b="1" dirty="0"/>
              <a:t>: </a:t>
            </a:r>
            <a:r>
              <a:rPr lang="en-US" sz="2600" dirty="0"/>
              <a:t>‘</a:t>
            </a:r>
            <a:r>
              <a:rPr lang="en-US" sz="2600" i="1" dirty="0"/>
              <a:t>Interactions with teachers could be increase</a:t>
            </a:r>
            <a:r>
              <a:rPr lang="en-US" sz="2600" dirty="0"/>
              <a:t>’</a:t>
            </a:r>
            <a:endParaRPr sz="2600" dirty="0"/>
          </a:p>
          <a:p>
            <a:pPr marL="0" lvl="0" indent="0" algn="l" rtl="0">
              <a:lnSpc>
                <a:spcPct val="90000"/>
              </a:lnSpc>
              <a:spcBef>
                <a:spcPts val="750"/>
              </a:spcBef>
              <a:spcAft>
                <a:spcPts val="0"/>
              </a:spcAft>
              <a:buClr>
                <a:schemeClr val="dk1"/>
              </a:buClr>
              <a:buSzPct val="100000"/>
              <a:buNone/>
            </a:pPr>
            <a:r>
              <a:rPr lang="en-US" sz="2000" b="1" dirty="0"/>
              <a:t>We did: </a:t>
            </a:r>
            <a:r>
              <a:rPr lang="en-US" sz="2000" dirty="0"/>
              <a:t>Divided cohort into two smaller lecture groups each week. Introduced two dedicated times a week when MGT650 students can meet with me directly: Mondays 9.00–10.00am and Wednesdays 4.00 – 5.00 pm </a:t>
            </a:r>
            <a:endParaRPr dirty="0"/>
          </a:p>
          <a:p>
            <a:pPr marL="0" lvl="0" indent="0" algn="l" rtl="0">
              <a:lnSpc>
                <a:spcPct val="90000"/>
              </a:lnSpc>
              <a:spcBef>
                <a:spcPts val="750"/>
              </a:spcBef>
              <a:spcAft>
                <a:spcPts val="0"/>
              </a:spcAft>
              <a:buClr>
                <a:schemeClr val="dk1"/>
              </a:buClr>
              <a:buSzPct val="100000"/>
              <a:buNone/>
            </a:pPr>
            <a:endParaRPr sz="2000" b="1" dirty="0"/>
          </a:p>
          <a:p>
            <a:pPr marL="0" lvl="0" indent="0" algn="l" rtl="0">
              <a:lnSpc>
                <a:spcPct val="90000"/>
              </a:lnSpc>
              <a:spcBef>
                <a:spcPts val="750"/>
              </a:spcBef>
              <a:spcAft>
                <a:spcPts val="0"/>
              </a:spcAft>
              <a:buClr>
                <a:schemeClr val="dk1"/>
              </a:buClr>
              <a:buSzPct val="100000"/>
              <a:buNone/>
            </a:pPr>
            <a:r>
              <a:rPr lang="en-US" sz="2000" b="1" dirty="0"/>
              <a:t>You said: </a:t>
            </a:r>
            <a:r>
              <a:rPr lang="en-US" sz="2600" b="1" dirty="0"/>
              <a:t>‘</a:t>
            </a:r>
            <a:r>
              <a:rPr lang="en-US" sz="2600" i="1" dirty="0"/>
              <a:t>Style of lecture slides can be improved, there was a slide where lots of capital letters in both content and titles which made us difficult to read’</a:t>
            </a:r>
            <a:endParaRPr sz="2600" dirty="0"/>
          </a:p>
          <a:p>
            <a:pPr marL="0" lvl="0" indent="0" algn="l" rtl="0">
              <a:lnSpc>
                <a:spcPct val="90000"/>
              </a:lnSpc>
              <a:spcBef>
                <a:spcPts val="750"/>
              </a:spcBef>
              <a:spcAft>
                <a:spcPts val="0"/>
              </a:spcAft>
              <a:buClr>
                <a:schemeClr val="dk1"/>
              </a:buClr>
              <a:buSzPct val="100000"/>
              <a:buNone/>
            </a:pPr>
            <a:r>
              <a:rPr lang="en-US" sz="2000" b="1" dirty="0"/>
              <a:t>We did: </a:t>
            </a:r>
            <a:r>
              <a:rPr lang="en-US" sz="2000" dirty="0"/>
              <a:t>the teaching team is revising the module materials. </a:t>
            </a:r>
            <a:endParaRPr sz="2000" b="1" dirty="0"/>
          </a:p>
          <a:p>
            <a:pPr marL="0" lvl="0" indent="0" algn="l" rtl="0">
              <a:lnSpc>
                <a:spcPct val="90000"/>
              </a:lnSpc>
              <a:spcBef>
                <a:spcPts val="750"/>
              </a:spcBef>
              <a:spcAft>
                <a:spcPts val="0"/>
              </a:spcAft>
              <a:buClr>
                <a:schemeClr val="dk1"/>
              </a:buClr>
              <a:buSzPct val="100000"/>
              <a:buNone/>
            </a:pPr>
            <a:endParaRPr sz="2000" b="1" dirty="0"/>
          </a:p>
          <a:p>
            <a:pPr marL="0" lvl="0" indent="0" algn="l" rtl="0">
              <a:lnSpc>
                <a:spcPct val="90000"/>
              </a:lnSpc>
              <a:spcBef>
                <a:spcPts val="750"/>
              </a:spcBef>
              <a:spcAft>
                <a:spcPts val="0"/>
              </a:spcAft>
              <a:buClr>
                <a:schemeClr val="dk1"/>
              </a:buClr>
              <a:buSzPct val="100000"/>
              <a:buNone/>
            </a:pPr>
            <a:r>
              <a:rPr lang="en-US" sz="2000" b="1" dirty="0"/>
              <a:t>You said: </a:t>
            </a:r>
            <a:r>
              <a:rPr lang="en-US" sz="2600" dirty="0"/>
              <a:t>‘</a:t>
            </a:r>
            <a:r>
              <a:rPr lang="en-US" sz="2600" i="1" dirty="0"/>
              <a:t>Salary design and </a:t>
            </a:r>
            <a:r>
              <a:rPr lang="en-US" sz="2600" i="1" dirty="0" err="1"/>
              <a:t>labour</a:t>
            </a:r>
            <a:r>
              <a:rPr lang="en-US" sz="2600" i="1" dirty="0"/>
              <a:t> law maybe important</a:t>
            </a:r>
            <a:r>
              <a:rPr lang="en-US" sz="2600" dirty="0"/>
              <a:t>’: </a:t>
            </a:r>
            <a:endParaRPr sz="2600" dirty="0"/>
          </a:p>
          <a:p>
            <a:pPr marL="0" lvl="0" indent="0" algn="l" rtl="0">
              <a:lnSpc>
                <a:spcPct val="90000"/>
              </a:lnSpc>
              <a:spcBef>
                <a:spcPts val="750"/>
              </a:spcBef>
              <a:spcAft>
                <a:spcPts val="0"/>
              </a:spcAft>
              <a:buClr>
                <a:schemeClr val="dk1"/>
              </a:buClr>
              <a:buSzPct val="100000"/>
              <a:buNone/>
            </a:pPr>
            <a:r>
              <a:rPr lang="en-US" sz="2000" b="1" dirty="0"/>
              <a:t>We did: </a:t>
            </a:r>
            <a:r>
              <a:rPr lang="en-US" sz="2000" dirty="0"/>
              <a:t>We now touch upon a few </a:t>
            </a:r>
            <a:r>
              <a:rPr lang="en-US" sz="2000" dirty="0" err="1"/>
              <a:t>labour</a:t>
            </a:r>
            <a:r>
              <a:rPr lang="en-US" sz="2000" dirty="0"/>
              <a:t> regulations in your upcoming lecture on Equality, Diversity &amp; Inclusion in Week 3.</a:t>
            </a:r>
            <a:endParaRPr dirty="0"/>
          </a:p>
          <a:p>
            <a:pPr marL="0" lvl="0" indent="0" algn="l" rtl="0">
              <a:lnSpc>
                <a:spcPct val="90000"/>
              </a:lnSpc>
              <a:spcBef>
                <a:spcPts val="750"/>
              </a:spcBef>
              <a:spcAft>
                <a:spcPts val="0"/>
              </a:spcAft>
              <a:buClr>
                <a:schemeClr val="dk1"/>
              </a:buClr>
              <a:buSzPct val="100000"/>
              <a:buNone/>
            </a:pPr>
            <a:endParaRPr sz="2000" dirty="0">
              <a:highlight>
                <a:srgbClr val="FFFF00"/>
              </a:highlight>
            </a:endParaRPr>
          </a:p>
          <a:p>
            <a:pPr marL="0" lvl="0" indent="0" algn="l" rtl="0">
              <a:lnSpc>
                <a:spcPct val="90000"/>
              </a:lnSpc>
              <a:spcBef>
                <a:spcPts val="750"/>
              </a:spcBef>
              <a:spcAft>
                <a:spcPts val="0"/>
              </a:spcAft>
              <a:buClr>
                <a:schemeClr val="dk1"/>
              </a:buClr>
              <a:buSzPct val="100000"/>
              <a:buNone/>
            </a:pPr>
            <a:r>
              <a:rPr lang="en-US" sz="2600" b="1" dirty="0"/>
              <a:t>Keep telling us about any issues you might encounter – we want your feedback!</a:t>
            </a:r>
            <a:endParaRPr sz="2600" dirty="0"/>
          </a:p>
          <a:p>
            <a:pPr marL="0" lvl="0" indent="0" algn="l" rtl="0">
              <a:lnSpc>
                <a:spcPct val="90000"/>
              </a:lnSpc>
              <a:spcBef>
                <a:spcPts val="750"/>
              </a:spcBef>
              <a:spcAft>
                <a:spcPts val="0"/>
              </a:spcAft>
              <a:buClr>
                <a:schemeClr val="dk1"/>
              </a:buClr>
              <a:buSzPct val="100000"/>
              <a:buNone/>
            </a:pPr>
            <a:endParaRPr sz="1600" dirty="0">
              <a:highlight>
                <a:srgbClr val="FFFF00"/>
              </a:highlight>
            </a:endParaRPr>
          </a:p>
          <a:p>
            <a:pPr marL="0" lvl="0" indent="0" algn="l" rtl="0">
              <a:lnSpc>
                <a:spcPct val="90000"/>
              </a:lnSpc>
              <a:spcBef>
                <a:spcPts val="750"/>
              </a:spcBef>
              <a:spcAft>
                <a:spcPts val="0"/>
              </a:spcAft>
              <a:buClr>
                <a:schemeClr val="dk1"/>
              </a:buClr>
              <a:buSzPct val="100000"/>
              <a:buNone/>
            </a:pPr>
            <a:endParaRPr sz="1600" dirty="0">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sp>
        <p:nvSpPr>
          <p:cNvPr id="196" name="Google Shape;196;p23"/>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23"/>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2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How to get help</a:t>
            </a:r>
            <a:endParaRPr/>
          </a:p>
        </p:txBody>
      </p:sp>
      <p:sp>
        <p:nvSpPr>
          <p:cNvPr id="199" name="Google Shape;199;p23"/>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0" name="Google Shape;200;p23"/>
          <p:cNvSpPr txBox="1">
            <a:spLocks noGrp="1"/>
          </p:cNvSpPr>
          <p:nvPr>
            <p:ph type="body" idx="1"/>
          </p:nvPr>
        </p:nvSpPr>
        <p:spPr>
          <a:xfrm>
            <a:off x="1103100" y="1502125"/>
            <a:ext cx="7886700" cy="4351200"/>
          </a:xfrm>
          <a:prstGeom prst="rect">
            <a:avLst/>
          </a:prstGeom>
          <a:noFill/>
          <a:ln>
            <a:noFill/>
          </a:ln>
        </p:spPr>
        <p:txBody>
          <a:bodyPr spcFirstLastPara="1" wrap="square" lIns="91425" tIns="45700" rIns="91425" bIns="45700" anchor="t" anchorCtr="0">
            <a:normAutofit/>
          </a:bodyPr>
          <a:lstStyle/>
          <a:p>
            <a:pPr marL="171450" lvl="0" indent="-38100" algn="l" rtl="0">
              <a:lnSpc>
                <a:spcPct val="90000"/>
              </a:lnSpc>
              <a:spcBef>
                <a:spcPts val="0"/>
              </a:spcBef>
              <a:spcAft>
                <a:spcPts val="0"/>
              </a:spcAft>
              <a:buClr>
                <a:schemeClr val="dk1"/>
              </a:buClr>
              <a:buSzPts val="2100"/>
              <a:buNone/>
            </a:pPr>
            <a:endParaRPr/>
          </a:p>
          <a:p>
            <a:pPr marL="171450" lvl="0" indent="-177800" algn="l" rtl="0">
              <a:lnSpc>
                <a:spcPct val="90000"/>
              </a:lnSpc>
              <a:spcBef>
                <a:spcPts val="750"/>
              </a:spcBef>
              <a:spcAft>
                <a:spcPts val="0"/>
              </a:spcAft>
              <a:buClr>
                <a:schemeClr val="dk1"/>
              </a:buClr>
              <a:buSzPts val="2800"/>
              <a:buChar char="•"/>
            </a:pPr>
            <a:r>
              <a:rPr lang="en-US" sz="2800" b="1"/>
              <a:t>Questions in lectures/tutorials/Wooclap</a:t>
            </a:r>
            <a:endParaRPr sz="2800" b="1"/>
          </a:p>
          <a:p>
            <a:pPr marL="171450" lvl="0" indent="0" algn="l" rtl="0">
              <a:lnSpc>
                <a:spcPct val="90000"/>
              </a:lnSpc>
              <a:spcBef>
                <a:spcPts val="750"/>
              </a:spcBef>
              <a:spcAft>
                <a:spcPts val="0"/>
              </a:spcAft>
              <a:buNone/>
            </a:pPr>
            <a:endParaRPr sz="2800" b="1"/>
          </a:p>
          <a:p>
            <a:pPr marL="171450" lvl="0" indent="-177800" algn="l" rtl="0">
              <a:lnSpc>
                <a:spcPct val="90000"/>
              </a:lnSpc>
              <a:spcBef>
                <a:spcPts val="750"/>
              </a:spcBef>
              <a:spcAft>
                <a:spcPts val="0"/>
              </a:spcAft>
              <a:buClr>
                <a:schemeClr val="dk1"/>
              </a:buClr>
              <a:buSzPts val="2800"/>
              <a:buChar char="•"/>
            </a:pPr>
            <a:r>
              <a:rPr lang="en-US" sz="2800" b="1"/>
              <a:t>‘Frequently Asked Questions</a:t>
            </a:r>
            <a:r>
              <a:rPr lang="en-US" sz="2800"/>
              <a:t>’ </a:t>
            </a:r>
            <a:r>
              <a:rPr lang="en-US" sz="2800" b="1"/>
              <a:t>and</a:t>
            </a:r>
            <a:r>
              <a:rPr lang="en-US" sz="2800"/>
              <a:t> </a:t>
            </a:r>
            <a:r>
              <a:rPr lang="en-US" sz="2800" b="1"/>
              <a:t>the</a:t>
            </a:r>
            <a:r>
              <a:rPr lang="en-US" sz="2800"/>
              <a:t> ‘</a:t>
            </a:r>
            <a:r>
              <a:rPr lang="en-US" sz="2800" b="1"/>
              <a:t>Discussion Board’ on Blackboard. </a:t>
            </a:r>
            <a:endParaRPr sz="2800" b="1"/>
          </a:p>
          <a:p>
            <a:pPr marL="171450" lvl="0" indent="0" algn="l" rtl="0">
              <a:lnSpc>
                <a:spcPct val="90000"/>
              </a:lnSpc>
              <a:spcBef>
                <a:spcPts val="750"/>
              </a:spcBef>
              <a:spcAft>
                <a:spcPts val="0"/>
              </a:spcAft>
              <a:buNone/>
            </a:pPr>
            <a:endParaRPr sz="2800" b="1"/>
          </a:p>
          <a:p>
            <a:pPr marL="171450" lvl="0" indent="-177800" algn="l" rtl="0">
              <a:lnSpc>
                <a:spcPct val="90000"/>
              </a:lnSpc>
              <a:spcBef>
                <a:spcPts val="750"/>
              </a:spcBef>
              <a:spcAft>
                <a:spcPts val="0"/>
              </a:spcAft>
              <a:buClr>
                <a:schemeClr val="dk1"/>
              </a:buClr>
              <a:buSzPts val="2800"/>
              <a:buChar char="•"/>
            </a:pPr>
            <a:r>
              <a:rPr lang="en-US" sz="2800" b="1"/>
              <a:t> Meet Diane — Monday 9–10 or Wednesday 16–17, email to book.</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24"/>
          <p:cNvSpPr/>
          <p:nvPr/>
        </p:nvSpPr>
        <p:spPr>
          <a:xfrm>
            <a:off x="0" y="0"/>
            <a:ext cx="9143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24"/>
          <p:cNvSpPr/>
          <p:nvPr/>
        </p:nvSpPr>
        <p:spPr>
          <a:xfrm>
            <a:off x="0" y="2"/>
            <a:ext cx="9144000" cy="441258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24"/>
          <p:cNvSpPr/>
          <p:nvPr/>
        </p:nvSpPr>
        <p:spPr>
          <a:xfrm>
            <a:off x="447348" y="551962"/>
            <a:ext cx="8249304" cy="4618549"/>
          </a:xfrm>
          <a:prstGeom prst="rect">
            <a:avLst/>
          </a:prstGeom>
          <a:solidFill>
            <a:schemeClr val="lt1"/>
          </a:solidFill>
          <a:ln>
            <a:noFill/>
          </a:ln>
          <a:effectLst>
            <a:outerShdw blurRad="139700" dist="127000" dir="5400000" algn="t" rotWithShape="0">
              <a:srgbClr val="000000">
                <a:alpha val="1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24"/>
          <p:cNvSpPr txBox="1">
            <a:spLocks noGrp="1"/>
          </p:cNvSpPr>
          <p:nvPr>
            <p:ph type="title"/>
          </p:nvPr>
        </p:nvSpPr>
        <p:spPr>
          <a:xfrm>
            <a:off x="1143000" y="1293338"/>
            <a:ext cx="6858000" cy="327459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00"/>
              <a:buFont typeface="Play"/>
              <a:buNone/>
            </a:pPr>
            <a:r>
              <a:rPr lang="en-US" sz="3200" b="1" i="1">
                <a:solidFill>
                  <a:schemeClr val="dk1"/>
                </a:solidFill>
                <a:latin typeface="Play"/>
                <a:ea typeface="Play"/>
                <a:cs typeface="Play"/>
                <a:sym typeface="Play"/>
              </a:rPr>
              <a:t>What are:</a:t>
            </a:r>
            <a:br>
              <a:rPr lang="en-US" sz="3200" b="1">
                <a:solidFill>
                  <a:schemeClr val="dk1"/>
                </a:solidFill>
                <a:latin typeface="Play"/>
                <a:ea typeface="Play"/>
                <a:cs typeface="Play"/>
                <a:sym typeface="Play"/>
              </a:rPr>
            </a:br>
            <a:br>
              <a:rPr lang="en-US" sz="3200" b="1">
                <a:solidFill>
                  <a:schemeClr val="dk1"/>
                </a:solidFill>
                <a:latin typeface="Play"/>
                <a:ea typeface="Play"/>
                <a:cs typeface="Play"/>
                <a:sym typeface="Play"/>
              </a:rPr>
            </a:br>
            <a:r>
              <a:rPr lang="en-US" sz="3200" b="1">
                <a:solidFill>
                  <a:schemeClr val="dk1"/>
                </a:solidFill>
                <a:latin typeface="Play"/>
                <a:ea typeface="Play"/>
                <a:cs typeface="Play"/>
                <a:sym typeface="Play"/>
              </a:rPr>
              <a:t>Organisations, </a:t>
            </a:r>
            <a:br>
              <a:rPr lang="en-US" sz="3200" b="1">
                <a:solidFill>
                  <a:schemeClr val="dk1"/>
                </a:solidFill>
                <a:latin typeface="Play"/>
                <a:ea typeface="Play"/>
                <a:cs typeface="Play"/>
                <a:sym typeface="Play"/>
              </a:rPr>
            </a:br>
            <a:r>
              <a:rPr lang="en-US" sz="3200" b="1">
                <a:solidFill>
                  <a:schemeClr val="dk1"/>
                </a:solidFill>
                <a:latin typeface="Play"/>
                <a:ea typeface="Play"/>
                <a:cs typeface="Play"/>
                <a:sym typeface="Play"/>
              </a:rPr>
              <a:t>Organisational Behaviour (OB) and Human Resource Management (HRM).</a:t>
            </a:r>
            <a:br>
              <a:rPr lang="en-US" sz="3200" b="1">
                <a:solidFill>
                  <a:schemeClr val="dk1"/>
                </a:solidFill>
                <a:latin typeface="Play"/>
                <a:ea typeface="Play"/>
                <a:cs typeface="Play"/>
                <a:sym typeface="Play"/>
              </a:rPr>
            </a:br>
            <a:r>
              <a:rPr lang="en-US" sz="3200" b="1">
                <a:solidFill>
                  <a:schemeClr val="dk1"/>
                </a:solidFill>
                <a:latin typeface="Play"/>
                <a:ea typeface="Play"/>
                <a:cs typeface="Play"/>
                <a:sym typeface="Play"/>
              </a:rPr>
              <a:t>What are some of the central debates about managing people?</a:t>
            </a:r>
            <a:br>
              <a:rPr lang="en-US" sz="3200" b="1">
                <a:solidFill>
                  <a:schemeClr val="dk1"/>
                </a:solidFill>
                <a:latin typeface="Play"/>
                <a:ea typeface="Play"/>
                <a:cs typeface="Play"/>
                <a:sym typeface="Play"/>
              </a:rPr>
            </a:br>
            <a:endParaRPr sz="3200" b="1">
              <a:solidFill>
                <a:schemeClr val="dk1"/>
              </a:solidFill>
              <a:latin typeface="Play"/>
              <a:ea typeface="Play"/>
              <a:cs typeface="Play"/>
              <a:sym typeface="Play"/>
            </a:endParaRPr>
          </a:p>
        </p:txBody>
      </p:sp>
      <p:cxnSp>
        <p:nvCxnSpPr>
          <p:cNvPr id="210" name="Google Shape;210;p24"/>
          <p:cNvCxnSpPr/>
          <p:nvPr/>
        </p:nvCxnSpPr>
        <p:spPr>
          <a:xfrm rot="10800000">
            <a:off x="447348" y="6354708"/>
            <a:ext cx="8250174" cy="0"/>
          </a:xfrm>
          <a:prstGeom prst="straightConnector1">
            <a:avLst/>
          </a:prstGeom>
          <a:noFill/>
          <a:ln w="101600" cap="flat" cmpd="sng">
            <a:solidFill>
              <a:schemeClr val="accent4"/>
            </a:solidFill>
            <a:prstDash val="solid"/>
            <a:miter lim="8000"/>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a:spLocks noGrp="1"/>
          </p:cNvSpPr>
          <p:nvPr>
            <p:ph type="title"/>
          </p:nvPr>
        </p:nvSpPr>
        <p:spPr>
          <a:xfrm>
            <a:off x="323528" y="332656"/>
            <a:ext cx="8713787" cy="68613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Defining a Work Organisation</a:t>
            </a:r>
            <a:endParaRPr/>
          </a:p>
        </p:txBody>
      </p:sp>
      <p:sp>
        <p:nvSpPr>
          <p:cNvPr id="217" name="Google Shape;217;p25"/>
          <p:cNvSpPr txBox="1">
            <a:spLocks noGrp="1"/>
          </p:cNvSpPr>
          <p:nvPr>
            <p:ph type="body" idx="1"/>
          </p:nvPr>
        </p:nvSpPr>
        <p:spPr>
          <a:xfrm>
            <a:off x="311087" y="1484784"/>
            <a:ext cx="8496943" cy="5301208"/>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lnSpc>
                <a:spcPct val="150000"/>
              </a:lnSpc>
              <a:spcBef>
                <a:spcPts val="0"/>
              </a:spcBef>
              <a:spcAft>
                <a:spcPts val="0"/>
              </a:spcAft>
              <a:buClr>
                <a:schemeClr val="dk1"/>
              </a:buClr>
              <a:buSzPct val="100000"/>
              <a:buNone/>
            </a:pPr>
            <a:r>
              <a:rPr lang="en-US" sz="2800"/>
              <a:t>								</a:t>
            </a:r>
            <a:endParaRPr/>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r>
              <a:rPr lang="en-US" sz="2800"/>
              <a:t>	</a:t>
            </a:r>
            <a:endParaRPr/>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endParaRPr sz="2800"/>
          </a:p>
          <a:p>
            <a:pPr marL="0" lvl="0" indent="0" algn="l" rtl="0">
              <a:lnSpc>
                <a:spcPct val="150000"/>
              </a:lnSpc>
              <a:spcBef>
                <a:spcPts val="750"/>
              </a:spcBef>
              <a:spcAft>
                <a:spcPts val="0"/>
              </a:spcAft>
              <a:buClr>
                <a:schemeClr val="dk1"/>
              </a:buClr>
              <a:buSzPct val="100000"/>
              <a:buNone/>
            </a:pPr>
            <a:r>
              <a:rPr lang="en-US" sz="5100" b="1"/>
              <a:t>These organisations are very different. What makes all of them organisations?</a:t>
            </a:r>
            <a:endParaRPr/>
          </a:p>
        </p:txBody>
      </p:sp>
      <p:pic>
        <p:nvPicPr>
          <p:cNvPr id="218" name="Google Shape;218;p25" descr="Image of the University of Sheffield"/>
          <p:cNvPicPr preferRelativeResize="0"/>
          <p:nvPr/>
        </p:nvPicPr>
        <p:blipFill rotWithShape="1">
          <a:blip r:embed="rId3">
            <a:alphaModFix/>
          </a:blip>
          <a:srcRect/>
          <a:stretch/>
        </p:blipFill>
        <p:spPr>
          <a:xfrm>
            <a:off x="335970" y="1412776"/>
            <a:ext cx="2219806" cy="1618381"/>
          </a:xfrm>
          <a:prstGeom prst="rect">
            <a:avLst/>
          </a:prstGeom>
          <a:noFill/>
          <a:ln>
            <a:noFill/>
          </a:ln>
        </p:spPr>
      </p:pic>
      <p:pic>
        <p:nvPicPr>
          <p:cNvPr id="219" name="Google Shape;219;p25" descr="Image of a NHS hospital in the UK"/>
          <p:cNvPicPr preferRelativeResize="0"/>
          <p:nvPr/>
        </p:nvPicPr>
        <p:blipFill rotWithShape="1">
          <a:blip r:embed="rId4">
            <a:alphaModFix/>
          </a:blip>
          <a:srcRect/>
          <a:stretch/>
        </p:blipFill>
        <p:spPr>
          <a:xfrm>
            <a:off x="3076256" y="1496864"/>
            <a:ext cx="2559839" cy="1527646"/>
          </a:xfrm>
          <a:prstGeom prst="rect">
            <a:avLst/>
          </a:prstGeom>
          <a:noFill/>
          <a:ln>
            <a:noFill/>
          </a:ln>
        </p:spPr>
      </p:pic>
      <p:pic>
        <p:nvPicPr>
          <p:cNvPr id="220" name="Google Shape;220;p25" descr="Image of Tata Steel"/>
          <p:cNvPicPr preferRelativeResize="0"/>
          <p:nvPr/>
        </p:nvPicPr>
        <p:blipFill rotWithShape="1">
          <a:blip r:embed="rId5">
            <a:alphaModFix/>
          </a:blip>
          <a:srcRect/>
          <a:stretch/>
        </p:blipFill>
        <p:spPr>
          <a:xfrm>
            <a:off x="6228184" y="1453121"/>
            <a:ext cx="2466350" cy="1615132"/>
          </a:xfrm>
          <a:prstGeom prst="rect">
            <a:avLst/>
          </a:prstGeom>
          <a:noFill/>
          <a:ln>
            <a:noFill/>
          </a:ln>
        </p:spPr>
      </p:pic>
      <p:pic>
        <p:nvPicPr>
          <p:cNvPr id="221" name="Google Shape;221;p25" descr="Image of Alibaba"/>
          <p:cNvPicPr preferRelativeResize="0"/>
          <p:nvPr/>
        </p:nvPicPr>
        <p:blipFill rotWithShape="1">
          <a:blip r:embed="rId6">
            <a:alphaModFix/>
          </a:blip>
          <a:srcRect/>
          <a:stretch/>
        </p:blipFill>
        <p:spPr>
          <a:xfrm>
            <a:off x="335970" y="3645024"/>
            <a:ext cx="2400300" cy="1527646"/>
          </a:xfrm>
          <a:prstGeom prst="rect">
            <a:avLst/>
          </a:prstGeom>
          <a:noFill/>
          <a:ln>
            <a:noFill/>
          </a:ln>
        </p:spPr>
      </p:pic>
      <p:pic>
        <p:nvPicPr>
          <p:cNvPr id="222" name="Google Shape;222;p25" descr="Image of DBS bank"/>
          <p:cNvPicPr preferRelativeResize="0"/>
          <p:nvPr/>
        </p:nvPicPr>
        <p:blipFill rotWithShape="1">
          <a:blip r:embed="rId7">
            <a:alphaModFix/>
          </a:blip>
          <a:srcRect/>
          <a:stretch/>
        </p:blipFill>
        <p:spPr>
          <a:xfrm>
            <a:off x="3076256" y="3645024"/>
            <a:ext cx="2590805" cy="1527646"/>
          </a:xfrm>
          <a:prstGeom prst="rect">
            <a:avLst/>
          </a:prstGeom>
          <a:noFill/>
          <a:ln>
            <a:noFill/>
          </a:ln>
        </p:spPr>
      </p:pic>
      <p:pic>
        <p:nvPicPr>
          <p:cNvPr id="223" name="Google Shape;223;p25" descr="Image of Pertamina "/>
          <p:cNvPicPr preferRelativeResize="0"/>
          <p:nvPr/>
        </p:nvPicPr>
        <p:blipFill rotWithShape="1">
          <a:blip r:embed="rId8">
            <a:alphaModFix/>
          </a:blip>
          <a:srcRect/>
          <a:stretch/>
        </p:blipFill>
        <p:spPr>
          <a:xfrm>
            <a:off x="6389989" y="3563837"/>
            <a:ext cx="2304545" cy="16088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sp>
        <p:nvSpPr>
          <p:cNvPr id="229" name="Google Shape;229;p26"/>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26"/>
          <p:cNvSpPr/>
          <p:nvPr/>
        </p:nvSpPr>
        <p:spPr>
          <a:xfrm>
            <a:off x="7656521" y="1"/>
            <a:ext cx="851299" cy="477997"/>
          </a:xfrm>
          <a:custGeom>
            <a:avLst/>
            <a:gdLst/>
            <a:ahLst/>
            <a:cxnLst/>
            <a:rect l="l" t="t" r="r" b="b"/>
            <a:pathLst>
              <a:path w="1135066" h="477997" extrusionOk="0">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26"/>
          <p:cNvSpPr txBox="1">
            <a:spLocks noGrp="1"/>
          </p:cNvSpPr>
          <p:nvPr>
            <p:ph type="title"/>
          </p:nvPr>
        </p:nvSpPr>
        <p:spPr>
          <a:xfrm>
            <a:off x="628650" y="365125"/>
            <a:ext cx="7886700" cy="8316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Defining a Work Organisation Cont.</a:t>
            </a:r>
            <a:endParaRPr/>
          </a:p>
        </p:txBody>
      </p:sp>
      <p:sp>
        <p:nvSpPr>
          <p:cNvPr id="232" name="Google Shape;232;p26"/>
          <p:cNvSpPr/>
          <p:nvPr/>
        </p:nvSpPr>
        <p:spPr>
          <a:xfrm rot="-5400000" flipH="1">
            <a:off x="-93647" y="2693652"/>
            <a:ext cx="4083433" cy="3062575"/>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33" name="Google Shape;233;p26"/>
          <p:cNvSpPr txBox="1">
            <a:spLocks noGrp="1"/>
          </p:cNvSpPr>
          <p:nvPr>
            <p:ph type="body" idx="1"/>
          </p:nvPr>
        </p:nvSpPr>
        <p:spPr>
          <a:xfrm>
            <a:off x="1115616" y="1124744"/>
            <a:ext cx="7886700" cy="485297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500"/>
              <a:buNone/>
            </a:pPr>
            <a:r>
              <a:rPr lang="en-US" sz="2500" b="1"/>
              <a:t>people </a:t>
            </a:r>
            <a:endParaRPr/>
          </a:p>
          <a:p>
            <a:pPr marL="0" lvl="0" indent="0" algn="l" rtl="0">
              <a:lnSpc>
                <a:spcPct val="90000"/>
              </a:lnSpc>
              <a:spcBef>
                <a:spcPts val="750"/>
              </a:spcBef>
              <a:spcAft>
                <a:spcPts val="0"/>
              </a:spcAft>
              <a:buClr>
                <a:schemeClr val="dk1"/>
              </a:buClr>
              <a:buSzPts val="2500"/>
              <a:buNone/>
            </a:pPr>
            <a:r>
              <a:rPr lang="en-US" sz="2500" b="1"/>
              <a:t>coordination </a:t>
            </a:r>
            <a:endParaRPr/>
          </a:p>
          <a:p>
            <a:pPr marL="0" lvl="0" indent="0" algn="l" rtl="0">
              <a:lnSpc>
                <a:spcPct val="90000"/>
              </a:lnSpc>
              <a:spcBef>
                <a:spcPts val="750"/>
              </a:spcBef>
              <a:spcAft>
                <a:spcPts val="0"/>
              </a:spcAft>
              <a:buClr>
                <a:schemeClr val="dk1"/>
              </a:buClr>
              <a:buSzPts val="2500"/>
              <a:buNone/>
            </a:pPr>
            <a:r>
              <a:rPr lang="en-US" sz="2500" b="1"/>
              <a:t>objectives </a:t>
            </a:r>
            <a:endParaRPr/>
          </a:p>
          <a:p>
            <a:pPr marL="0" lvl="0" indent="0" algn="l" rtl="0">
              <a:lnSpc>
                <a:spcPct val="90000"/>
              </a:lnSpc>
              <a:spcBef>
                <a:spcPts val="750"/>
              </a:spcBef>
              <a:spcAft>
                <a:spcPts val="0"/>
              </a:spcAft>
              <a:buClr>
                <a:schemeClr val="dk1"/>
              </a:buClr>
              <a:buSzPts val="2500"/>
              <a:buNone/>
            </a:pPr>
            <a:r>
              <a:rPr lang="en-US" sz="2500" b="1"/>
              <a:t>boundaries </a:t>
            </a:r>
            <a:endParaRPr/>
          </a:p>
          <a:p>
            <a:pPr marL="0" lvl="0" indent="0" algn="l" rtl="0">
              <a:lnSpc>
                <a:spcPct val="90000"/>
              </a:lnSpc>
              <a:spcBef>
                <a:spcPts val="750"/>
              </a:spcBef>
              <a:spcAft>
                <a:spcPts val="0"/>
              </a:spcAft>
              <a:buClr>
                <a:schemeClr val="dk1"/>
              </a:buClr>
              <a:buSzPts val="2500"/>
              <a:buNone/>
            </a:pPr>
            <a:r>
              <a:rPr lang="en-US" sz="2500" b="1"/>
              <a:t>rules/authority </a:t>
            </a:r>
            <a:endParaRPr/>
          </a:p>
          <a:p>
            <a:pPr marL="0" lvl="0" indent="0" algn="l" rtl="0">
              <a:lnSpc>
                <a:spcPct val="90000"/>
              </a:lnSpc>
              <a:spcBef>
                <a:spcPts val="750"/>
              </a:spcBef>
              <a:spcAft>
                <a:spcPts val="0"/>
              </a:spcAft>
              <a:buClr>
                <a:schemeClr val="dk1"/>
              </a:buClr>
              <a:buSzPts val="2500"/>
              <a:buNone/>
            </a:pPr>
            <a:r>
              <a:rPr lang="en-US" sz="2500" b="1"/>
              <a:t>relationship with the external environment</a:t>
            </a:r>
            <a:endParaRPr/>
          </a:p>
          <a:p>
            <a:pPr marL="0" lvl="0" indent="0" algn="l" rtl="0">
              <a:lnSpc>
                <a:spcPct val="90000"/>
              </a:lnSpc>
              <a:spcBef>
                <a:spcPts val="750"/>
              </a:spcBef>
              <a:spcAft>
                <a:spcPts val="0"/>
              </a:spcAft>
              <a:buClr>
                <a:schemeClr val="dk1"/>
              </a:buClr>
              <a:buSzPts val="2500"/>
              <a:buNone/>
            </a:pPr>
            <a:endParaRPr sz="2500"/>
          </a:p>
          <a:p>
            <a:pPr marL="0" lvl="0" indent="0" algn="l" rtl="0">
              <a:lnSpc>
                <a:spcPct val="90000"/>
              </a:lnSpc>
              <a:spcBef>
                <a:spcPts val="750"/>
              </a:spcBef>
              <a:spcAft>
                <a:spcPts val="0"/>
              </a:spcAft>
              <a:buClr>
                <a:schemeClr val="dk1"/>
              </a:buClr>
              <a:buSzPts val="2500"/>
              <a:buNone/>
            </a:pPr>
            <a:r>
              <a:rPr lang="en-US" sz="2500" b="1"/>
              <a:t>Definition: </a:t>
            </a:r>
            <a:r>
              <a:rPr lang="en-US" sz="2500" b="1" i="1"/>
              <a:t>“An organisation is a social system in which people coordinate their activities to achieve particular goals.” </a:t>
            </a:r>
            <a:r>
              <a:rPr lang="en-US" sz="2500" b="1"/>
              <a:t>(Scott and Davis, 2007).</a:t>
            </a:r>
            <a:endParaRPr sz="25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7"/>
          <p:cNvSpPr txBox="1">
            <a:spLocks noGrp="1"/>
          </p:cNvSpPr>
          <p:nvPr>
            <p:ph type="title"/>
          </p:nvPr>
        </p:nvSpPr>
        <p:spPr>
          <a:xfrm>
            <a:off x="628650" y="365126"/>
            <a:ext cx="7886700" cy="84681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300"/>
              <a:buFont typeface="Play"/>
              <a:buNone/>
            </a:pPr>
            <a:r>
              <a:rPr lang="en-US" b="1" dirty="0" err="1"/>
              <a:t>Organisations</a:t>
            </a:r>
            <a:r>
              <a:rPr lang="en-US" b="1" dirty="0"/>
              <a:t> differ enormously</a:t>
            </a:r>
            <a:br>
              <a:rPr lang="en-US" dirty="0"/>
            </a:br>
            <a:endParaRPr dirty="0"/>
          </a:p>
        </p:txBody>
      </p:sp>
      <p:graphicFrame>
        <p:nvGraphicFramePr>
          <p:cNvPr id="240" name="Google Shape;240;p27" descr="This is a table providing examples of how organisations differ in their ownership, activity and geography."/>
          <p:cNvGraphicFramePr/>
          <p:nvPr>
            <p:extLst>
              <p:ext uri="{D42A27DB-BD31-4B8C-83A1-F6EECF244321}">
                <p14:modId xmlns:p14="http://schemas.microsoft.com/office/powerpoint/2010/main" val="4285723681"/>
              </p:ext>
            </p:extLst>
          </p:nvPr>
        </p:nvGraphicFramePr>
        <p:xfrm>
          <a:off x="754410" y="1925980"/>
          <a:ext cx="7886700" cy="2625485"/>
        </p:xfrm>
        <a:graphic>
          <a:graphicData uri="http://schemas.openxmlformats.org/drawingml/2006/table">
            <a:tbl>
              <a:tblPr firstRow="1">
                <a:tableStyleId>{775DCB02-9BB8-47FD-8907-85C794F793BA}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1070975">
                <a:tc>
                  <a:txBody>
                    <a:bodyPr/>
                    <a:lstStyle/>
                    <a:p>
                      <a:pPr marL="0" marR="0" lvl="0" indent="0" algn="l" rtl="0">
                        <a:spcBef>
                          <a:spcPts val="0"/>
                        </a:spcBef>
                        <a:spcAft>
                          <a:spcPts val="0"/>
                        </a:spcAft>
                        <a:buClr>
                          <a:srgbClr val="000000"/>
                        </a:buClr>
                        <a:buSzPts val="2800"/>
                        <a:buFont typeface="Arial"/>
                        <a:buNone/>
                      </a:pPr>
                      <a:r>
                        <a:rPr lang="en-US" sz="2800" b="1" u="none" strike="noStrike" cap="none" dirty="0">
                          <a:solidFill>
                            <a:srgbClr val="000000"/>
                          </a:solidFill>
                        </a:rPr>
                        <a:t>Ownership</a:t>
                      </a:r>
                      <a:endParaRPr dirty="0"/>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b="1" u="none" strike="noStrike" cap="none" dirty="0">
                          <a:solidFill>
                            <a:srgbClr val="000000"/>
                          </a:solidFill>
                        </a:rPr>
                        <a:t>Activity</a:t>
                      </a:r>
                      <a:endParaRPr dirty="0"/>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b="1" u="none" strike="noStrike" cap="none" dirty="0">
                          <a:solidFill>
                            <a:srgbClr val="000000"/>
                          </a:solidFill>
                        </a:rPr>
                        <a:t>Geography</a:t>
                      </a:r>
                      <a:endParaRPr dirty="0"/>
                    </a:p>
                  </a:txBody>
                  <a:tcPr marL="91450" marR="91450" marT="45725" marB="45725" anchor="ctr"/>
                </a:tc>
                <a:extLst>
                  <a:ext uri="{0D108BD9-81ED-4DB2-BD59-A6C34878D82A}">
                    <a16:rowId xmlns:a16="http://schemas.microsoft.com/office/drawing/2014/main" val="10000"/>
                  </a:ext>
                </a:extLst>
              </a:tr>
              <a:tr h="455675">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Private</a:t>
                      </a:r>
                      <a:endParaRPr/>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dirty="0">
                          <a:solidFill>
                            <a:srgbClr val="000000"/>
                          </a:solidFill>
                        </a:rPr>
                        <a:t>Manufacturing</a:t>
                      </a:r>
                      <a:endParaRPr dirty="0"/>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Local</a:t>
                      </a:r>
                      <a:endParaRPr/>
                    </a:p>
                  </a:txBody>
                  <a:tcPr marL="91450" marR="91450" marT="45725" marB="45725" anchor="ctr"/>
                </a:tc>
                <a:extLst>
                  <a:ext uri="{0D108BD9-81ED-4DB2-BD59-A6C34878D82A}">
                    <a16:rowId xmlns:a16="http://schemas.microsoft.com/office/drawing/2014/main" val="10001"/>
                  </a:ext>
                </a:extLst>
              </a:tr>
              <a:tr h="455675">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Public</a:t>
                      </a:r>
                      <a:endParaRPr/>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Services</a:t>
                      </a:r>
                      <a:endParaRPr/>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National</a:t>
                      </a:r>
                      <a:endParaRPr/>
                    </a:p>
                  </a:txBody>
                  <a:tcPr marL="91450" marR="91450" marT="45725" marB="45725" anchor="ctr"/>
                </a:tc>
                <a:extLst>
                  <a:ext uri="{0D108BD9-81ED-4DB2-BD59-A6C34878D82A}">
                    <a16:rowId xmlns:a16="http://schemas.microsoft.com/office/drawing/2014/main" val="10002"/>
                  </a:ext>
                </a:extLst>
              </a:tr>
              <a:tr h="455675">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Non-profit</a:t>
                      </a:r>
                      <a:endParaRPr/>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a:solidFill>
                            <a:srgbClr val="000000"/>
                          </a:solidFill>
                        </a:rPr>
                        <a:t>Knowledge</a:t>
                      </a:r>
                      <a:endParaRPr/>
                    </a:p>
                  </a:txBody>
                  <a:tcPr marL="91450" marR="91450" marT="45725" marB="45725" anchor="ctr"/>
                </a:tc>
                <a:tc>
                  <a:txBody>
                    <a:bodyPr/>
                    <a:lstStyle/>
                    <a:p>
                      <a:pPr marL="0" marR="0" lvl="0" indent="0" algn="l" rtl="0">
                        <a:spcBef>
                          <a:spcPts val="0"/>
                        </a:spcBef>
                        <a:spcAft>
                          <a:spcPts val="0"/>
                        </a:spcAft>
                        <a:buClr>
                          <a:srgbClr val="000000"/>
                        </a:buClr>
                        <a:buSzPts val="2800"/>
                        <a:buFont typeface="Arial"/>
                        <a:buNone/>
                      </a:pPr>
                      <a:r>
                        <a:rPr lang="en-US" sz="2800" u="none" strike="noStrike" cap="none" dirty="0">
                          <a:solidFill>
                            <a:srgbClr val="000000"/>
                          </a:solidFill>
                        </a:rPr>
                        <a:t>Multinational</a:t>
                      </a:r>
                      <a:endParaRPr dirty="0"/>
                    </a:p>
                  </a:txBody>
                  <a:tcPr marL="91450" marR="91450" marT="45725" marB="45725" anchor="ctr"/>
                </a:tc>
                <a:extLst>
                  <a:ext uri="{0D108BD9-81ED-4DB2-BD59-A6C34878D82A}">
                    <a16:rowId xmlns:a16="http://schemas.microsoft.com/office/drawing/2014/main" val="10003"/>
                  </a:ext>
                </a:extLst>
              </a:tr>
            </a:tbl>
          </a:graphicData>
        </a:graphic>
      </p:graphicFrame>
      <p:sp>
        <p:nvSpPr>
          <p:cNvPr id="241" name="Google Shape;241;p27"/>
          <p:cNvSpPr txBox="1"/>
          <p:nvPr/>
        </p:nvSpPr>
        <p:spPr>
          <a:xfrm>
            <a:off x="776719" y="5085184"/>
            <a:ext cx="763401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But every organisation has to organise people</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260A6A04-FCFC-200A-2C36-0D4A551FCB09}"/>
              </a:ext>
            </a:extLst>
          </p:cNvPr>
          <p:cNvSpPr txBox="1"/>
          <p:nvPr/>
        </p:nvSpPr>
        <p:spPr>
          <a:xfrm>
            <a:off x="776719" y="1480457"/>
            <a:ext cx="7864391" cy="307777"/>
          </a:xfrm>
          <a:prstGeom prst="rect">
            <a:avLst/>
          </a:prstGeom>
          <a:noFill/>
        </p:spPr>
        <p:txBody>
          <a:bodyPr wrap="square" rtlCol="0">
            <a:spAutoFit/>
          </a:bodyPr>
          <a:lstStyle/>
          <a:p>
            <a:r>
              <a:rPr lang="en-GB" b="1" dirty="0"/>
              <a:t>Table: Variation in Ownership, Activity and Geography </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6"/>
        <p:cNvGrpSpPr/>
        <p:nvPr/>
      </p:nvGrpSpPr>
      <p:grpSpPr>
        <a:xfrm>
          <a:off x="0" y="0"/>
          <a:ext cx="0" cy="0"/>
          <a:chOff x="0" y="0"/>
          <a:chExt cx="0" cy="0"/>
        </a:xfrm>
      </p:grpSpPr>
      <p:sp>
        <p:nvSpPr>
          <p:cNvPr id="247" name="Google Shape;247;p28"/>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28"/>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28"/>
          <p:cNvSpPr txBox="1">
            <a:spLocks noGrp="1"/>
          </p:cNvSpPr>
          <p:nvPr>
            <p:ph type="title"/>
          </p:nvPr>
        </p:nvSpPr>
        <p:spPr>
          <a:xfrm>
            <a:off x="151525" y="1153575"/>
            <a:ext cx="2763900" cy="4461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2800"/>
              <a:buFont typeface="Play"/>
              <a:buNone/>
            </a:pPr>
            <a:r>
              <a:rPr lang="en-US" sz="2800" b="1">
                <a:solidFill>
                  <a:srgbClr val="FFFFFF"/>
                </a:solidFill>
              </a:rPr>
              <a:t>Understanding Organisational Behaviour (OB)</a:t>
            </a:r>
            <a:endParaRPr/>
          </a:p>
        </p:txBody>
      </p:sp>
      <p:sp>
        <p:nvSpPr>
          <p:cNvPr id="250" name="Google Shape;250;p28"/>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51" name="Google Shape;251;p28"/>
          <p:cNvSpPr txBox="1">
            <a:spLocks noGrp="1"/>
          </p:cNvSpPr>
          <p:nvPr>
            <p:ph type="body" idx="1"/>
          </p:nvPr>
        </p:nvSpPr>
        <p:spPr>
          <a:xfrm>
            <a:off x="3125450" y="281425"/>
            <a:ext cx="5910900" cy="54453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90000"/>
              </a:lnSpc>
              <a:spcBef>
                <a:spcPts val="0"/>
              </a:spcBef>
              <a:spcAft>
                <a:spcPts val="0"/>
              </a:spcAft>
              <a:buClr>
                <a:schemeClr val="dk1"/>
              </a:buClr>
              <a:buSzPct val="100000"/>
              <a:buNone/>
            </a:pPr>
            <a:r>
              <a:rPr lang="en-US" b="1"/>
              <a:t>     ORGANISATION &amp; CONTEXT</a:t>
            </a:r>
            <a:endParaRPr/>
          </a:p>
          <a:p>
            <a:pPr marL="0" lvl="0" indent="0" algn="l" rtl="0">
              <a:lnSpc>
                <a:spcPct val="90000"/>
              </a:lnSpc>
              <a:spcBef>
                <a:spcPts val="600"/>
              </a:spcBef>
              <a:spcAft>
                <a:spcPts val="0"/>
              </a:spcAft>
              <a:buClr>
                <a:schemeClr val="dk1"/>
              </a:buClr>
              <a:buSzPct val="100000"/>
              <a:buNone/>
            </a:pPr>
            <a:r>
              <a:rPr lang="en-US" b="1"/>
              <a:t>                          MACRO</a:t>
            </a:r>
            <a:endParaRPr/>
          </a:p>
          <a:p>
            <a:pPr marL="0" lvl="0" indent="0" algn="l" rtl="0">
              <a:lnSpc>
                <a:spcPct val="90000"/>
              </a:lnSpc>
              <a:spcBef>
                <a:spcPts val="600"/>
              </a:spcBef>
              <a:spcAft>
                <a:spcPts val="0"/>
              </a:spcAft>
              <a:buClr>
                <a:schemeClr val="dk1"/>
              </a:buClr>
              <a:buSzPct val="100000"/>
              <a:buNone/>
            </a:pPr>
            <a:r>
              <a:rPr lang="en-US"/>
              <a:t>Culture • structure • technology • environment</a:t>
            </a:r>
            <a:endParaRPr/>
          </a:p>
          <a:p>
            <a:pPr marL="0" lvl="0" indent="0" algn="l" rtl="0">
              <a:lnSpc>
                <a:spcPct val="90000"/>
              </a:lnSpc>
              <a:spcBef>
                <a:spcPts val="600"/>
              </a:spcBef>
              <a:spcAft>
                <a:spcPts val="0"/>
              </a:spcAft>
              <a:buClr>
                <a:schemeClr val="dk1"/>
              </a:buClr>
              <a:buSzPct val="100000"/>
              <a:buNone/>
            </a:pPr>
            <a:r>
              <a:rPr lang="en-US"/>
              <a:t>                                </a:t>
            </a:r>
            <a:endParaRPr/>
          </a:p>
          <a:p>
            <a:pPr marL="0" lvl="0" indent="0" algn="l" rtl="0">
              <a:lnSpc>
                <a:spcPct val="90000"/>
              </a:lnSpc>
              <a:spcBef>
                <a:spcPts val="600"/>
              </a:spcBef>
              <a:spcAft>
                <a:spcPts val="0"/>
              </a:spcAft>
              <a:buClr>
                <a:schemeClr val="dk1"/>
              </a:buClr>
              <a:buSzPct val="100000"/>
              <a:buNone/>
            </a:pPr>
            <a:r>
              <a:rPr lang="en-US"/>
              <a:t>                               ↕</a:t>
            </a:r>
            <a:endParaRPr/>
          </a:p>
          <a:p>
            <a:pPr marL="0" lvl="0" indent="0" algn="l" rtl="0">
              <a:lnSpc>
                <a:spcPct val="90000"/>
              </a:lnSpc>
              <a:spcBef>
                <a:spcPts val="600"/>
              </a:spcBef>
              <a:spcAft>
                <a:spcPts val="0"/>
              </a:spcAft>
              <a:buClr>
                <a:schemeClr val="dk1"/>
              </a:buClr>
              <a:buSzPct val="100000"/>
              <a:buNone/>
            </a:pPr>
            <a:r>
              <a:rPr lang="en-US" b="1"/>
              <a:t>             </a:t>
            </a:r>
            <a:endParaRPr b="1"/>
          </a:p>
          <a:p>
            <a:pPr marL="0" lvl="0" indent="0" algn="l" rtl="0">
              <a:lnSpc>
                <a:spcPct val="90000"/>
              </a:lnSpc>
              <a:spcBef>
                <a:spcPts val="600"/>
              </a:spcBef>
              <a:spcAft>
                <a:spcPts val="0"/>
              </a:spcAft>
              <a:buClr>
                <a:schemeClr val="dk1"/>
              </a:buClr>
              <a:buSzPct val="100000"/>
              <a:buNone/>
            </a:pPr>
            <a:r>
              <a:rPr lang="en-US" b="1"/>
              <a:t>                GROUPS &amp; TEAMS</a:t>
            </a:r>
            <a:endParaRPr/>
          </a:p>
          <a:p>
            <a:pPr marL="0" lvl="0" indent="0" algn="l" rtl="0">
              <a:lnSpc>
                <a:spcPct val="90000"/>
              </a:lnSpc>
              <a:spcBef>
                <a:spcPts val="600"/>
              </a:spcBef>
              <a:spcAft>
                <a:spcPts val="0"/>
              </a:spcAft>
              <a:buClr>
                <a:schemeClr val="dk1"/>
              </a:buClr>
              <a:buSzPct val="100000"/>
              <a:buNone/>
            </a:pPr>
            <a:r>
              <a:rPr lang="en-US" b="1"/>
              <a:t>                          MESO</a:t>
            </a:r>
            <a:endParaRPr/>
          </a:p>
          <a:p>
            <a:pPr marL="0" lvl="0" indent="0" algn="l" rtl="0">
              <a:lnSpc>
                <a:spcPct val="90000"/>
              </a:lnSpc>
              <a:spcBef>
                <a:spcPts val="600"/>
              </a:spcBef>
              <a:spcAft>
                <a:spcPts val="0"/>
              </a:spcAft>
              <a:buClr>
                <a:schemeClr val="dk1"/>
              </a:buClr>
              <a:buSzPct val="100000"/>
              <a:buNone/>
            </a:pPr>
            <a:r>
              <a:rPr lang="en-US"/>
              <a:t> Leadership • power • teamwork• decision making       </a:t>
            </a:r>
            <a:endParaRPr/>
          </a:p>
          <a:p>
            <a:pPr marL="0" lvl="0" indent="0" algn="l" rtl="0">
              <a:lnSpc>
                <a:spcPct val="90000"/>
              </a:lnSpc>
              <a:spcBef>
                <a:spcPts val="600"/>
              </a:spcBef>
              <a:spcAft>
                <a:spcPts val="0"/>
              </a:spcAft>
              <a:buClr>
                <a:schemeClr val="dk1"/>
              </a:buClr>
              <a:buSzPct val="100000"/>
              <a:buNone/>
            </a:pPr>
            <a:r>
              <a:rPr lang="en-US"/>
              <a:t>                       </a:t>
            </a:r>
            <a:endParaRPr/>
          </a:p>
          <a:p>
            <a:pPr marL="0" lvl="0" indent="0" algn="l" rtl="0">
              <a:lnSpc>
                <a:spcPct val="90000"/>
              </a:lnSpc>
              <a:spcBef>
                <a:spcPts val="600"/>
              </a:spcBef>
              <a:spcAft>
                <a:spcPts val="0"/>
              </a:spcAft>
              <a:buClr>
                <a:schemeClr val="dk1"/>
              </a:buClr>
              <a:buSzPct val="100000"/>
              <a:buNone/>
            </a:pPr>
            <a:r>
              <a:rPr lang="en-US"/>
              <a:t>                               ↕</a:t>
            </a:r>
            <a:endParaRPr/>
          </a:p>
          <a:p>
            <a:pPr marL="0" lvl="0" indent="0" algn="l" rtl="0">
              <a:lnSpc>
                <a:spcPct val="90000"/>
              </a:lnSpc>
              <a:spcBef>
                <a:spcPts val="600"/>
              </a:spcBef>
              <a:spcAft>
                <a:spcPts val="0"/>
              </a:spcAft>
              <a:buClr>
                <a:schemeClr val="dk1"/>
              </a:buClr>
              <a:buSzPct val="100000"/>
              <a:buNone/>
            </a:pPr>
            <a:r>
              <a:rPr lang="en-US" b="1"/>
              <a:t>                     </a:t>
            </a:r>
            <a:endParaRPr b="1"/>
          </a:p>
          <a:p>
            <a:pPr marL="0" lvl="0" indent="0" algn="l" rtl="0">
              <a:lnSpc>
                <a:spcPct val="90000"/>
              </a:lnSpc>
              <a:spcBef>
                <a:spcPts val="600"/>
              </a:spcBef>
              <a:spcAft>
                <a:spcPts val="0"/>
              </a:spcAft>
              <a:buClr>
                <a:schemeClr val="dk1"/>
              </a:buClr>
              <a:buSzPct val="100000"/>
              <a:buNone/>
            </a:pPr>
            <a:r>
              <a:rPr lang="en-US" b="1"/>
              <a:t>                       INDIVIDUAL</a:t>
            </a:r>
            <a:endParaRPr/>
          </a:p>
          <a:p>
            <a:pPr marL="0" lvl="0" indent="0" algn="l" rtl="0">
              <a:lnSpc>
                <a:spcPct val="90000"/>
              </a:lnSpc>
              <a:spcBef>
                <a:spcPts val="600"/>
              </a:spcBef>
              <a:spcAft>
                <a:spcPts val="0"/>
              </a:spcAft>
              <a:buClr>
                <a:schemeClr val="dk1"/>
              </a:buClr>
              <a:buSzPct val="100000"/>
              <a:buNone/>
            </a:pPr>
            <a:r>
              <a:rPr lang="en-US" b="1"/>
              <a:t>                           MICRO</a:t>
            </a:r>
            <a:endParaRPr/>
          </a:p>
          <a:p>
            <a:pPr marL="0" lvl="0" indent="0" algn="l" rtl="0">
              <a:lnSpc>
                <a:spcPct val="90000"/>
              </a:lnSpc>
              <a:spcBef>
                <a:spcPts val="600"/>
              </a:spcBef>
              <a:spcAft>
                <a:spcPts val="0"/>
              </a:spcAft>
              <a:buClr>
                <a:schemeClr val="dk1"/>
              </a:buClr>
              <a:buSzPct val="100000"/>
              <a:buNone/>
            </a:pPr>
            <a:r>
              <a:rPr lang="en-US"/>
              <a:t>       Motivation • attitudes • personality</a:t>
            </a:r>
            <a:endParaRPr/>
          </a:p>
          <a:p>
            <a:pPr marL="0" lvl="0" indent="0" algn="l" rtl="0">
              <a:lnSpc>
                <a:spcPct val="90000"/>
              </a:lnSpc>
              <a:spcBef>
                <a:spcPts val="750"/>
              </a:spcBef>
              <a:spcAft>
                <a:spcPts val="0"/>
              </a:spcAft>
              <a:buClr>
                <a:schemeClr val="dk1"/>
              </a:buClr>
              <a:buSzPct val="100000"/>
              <a:buNone/>
            </a:pPr>
            <a:endParaRPr b="1"/>
          </a:p>
          <a:p>
            <a:pPr marL="0" lvl="0" indent="0" algn="l" rtl="0">
              <a:lnSpc>
                <a:spcPct val="90000"/>
              </a:lnSpc>
              <a:spcBef>
                <a:spcPts val="750"/>
              </a:spcBef>
              <a:spcAft>
                <a:spcPts val="0"/>
              </a:spcAft>
              <a:buClr>
                <a:schemeClr val="dk1"/>
              </a:buClr>
              <a:buSzPct val="100000"/>
              <a:buNone/>
            </a:pPr>
            <a:endParaRPr sz="2400" b="1"/>
          </a:p>
          <a:p>
            <a:pPr marL="0" lvl="0" indent="0" algn="l" rtl="0">
              <a:lnSpc>
                <a:spcPct val="90000"/>
              </a:lnSpc>
              <a:spcBef>
                <a:spcPts val="750"/>
              </a:spcBef>
              <a:spcAft>
                <a:spcPts val="0"/>
              </a:spcAft>
              <a:buClr>
                <a:schemeClr val="dk1"/>
              </a:buClr>
              <a:buSzPct val="100000"/>
              <a:buNone/>
            </a:pPr>
            <a:endParaRPr b="1"/>
          </a:p>
        </p:txBody>
      </p:sp>
      <p:sp>
        <p:nvSpPr>
          <p:cNvPr id="252" name="Google Shape;252;p28"/>
          <p:cNvSpPr txBox="1"/>
          <p:nvPr/>
        </p:nvSpPr>
        <p:spPr>
          <a:xfrm>
            <a:off x="2519304" y="5614717"/>
            <a:ext cx="49686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OB examines behaviour at work, </a:t>
            </a:r>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at and across, these different levels</a:t>
            </a:r>
            <a:endParaRPr sz="24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7"/>
        <p:cNvGrpSpPr/>
        <p:nvPr/>
      </p:nvGrpSpPr>
      <p:grpSpPr>
        <a:xfrm>
          <a:off x="0" y="0"/>
          <a:ext cx="0" cy="0"/>
          <a:chOff x="0" y="0"/>
          <a:chExt cx="0" cy="0"/>
        </a:xfrm>
      </p:grpSpPr>
      <p:sp>
        <p:nvSpPr>
          <p:cNvPr id="258" name="Google Shape;258;p29"/>
          <p:cNvSpPr/>
          <p:nvPr/>
        </p:nvSpPr>
        <p:spPr>
          <a:xfrm>
            <a:off x="241173" y="320040"/>
            <a:ext cx="8661654" cy="6217920"/>
          </a:xfrm>
          <a:prstGeom prst="rect">
            <a:avLst/>
          </a:prstGeom>
          <a:solidFill>
            <a:schemeClr val="dk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29"/>
          <p:cNvSpPr txBox="1">
            <a:spLocks noGrp="1"/>
          </p:cNvSpPr>
          <p:nvPr>
            <p:ph type="title"/>
          </p:nvPr>
        </p:nvSpPr>
        <p:spPr>
          <a:xfrm>
            <a:off x="628650" y="963507"/>
            <a:ext cx="2620771" cy="493098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accent1"/>
              </a:buClr>
              <a:buSzPts val="3400"/>
              <a:buFont typeface="Play"/>
              <a:buNone/>
            </a:pPr>
            <a:br>
              <a:rPr lang="en-US" sz="3400" b="1">
                <a:solidFill>
                  <a:schemeClr val="accent1"/>
                </a:solidFill>
                <a:latin typeface="Play"/>
                <a:ea typeface="Play"/>
                <a:cs typeface="Play"/>
                <a:sym typeface="Play"/>
              </a:rPr>
            </a:br>
            <a:r>
              <a:rPr lang="en-US" sz="3400" b="1">
                <a:solidFill>
                  <a:schemeClr val="accent1"/>
                </a:solidFill>
                <a:latin typeface="Play"/>
                <a:ea typeface="Play"/>
                <a:cs typeface="Play"/>
                <a:sym typeface="Play"/>
              </a:rPr>
              <a:t>Human Resource Management (HRM)</a:t>
            </a:r>
            <a:endParaRPr/>
          </a:p>
        </p:txBody>
      </p:sp>
      <p:cxnSp>
        <p:nvCxnSpPr>
          <p:cNvPr id="260" name="Google Shape;260;p29"/>
          <p:cNvCxnSpPr/>
          <p:nvPr/>
        </p:nvCxnSpPr>
        <p:spPr>
          <a:xfrm>
            <a:off x="3490722" y="2057400"/>
            <a:ext cx="0" cy="2743200"/>
          </a:xfrm>
          <a:prstGeom prst="straightConnector1">
            <a:avLst/>
          </a:prstGeom>
          <a:noFill/>
          <a:ln w="19050" cap="flat" cmpd="sng">
            <a:solidFill>
              <a:srgbClr val="262626"/>
            </a:solidFill>
            <a:prstDash val="solid"/>
            <a:miter lim="8000"/>
            <a:headEnd type="none" w="sm" len="sm"/>
            <a:tailEnd type="none" w="sm" len="sm"/>
          </a:ln>
        </p:spPr>
      </p:cxnSp>
      <p:sp>
        <p:nvSpPr>
          <p:cNvPr id="261" name="Google Shape;261;p29"/>
          <p:cNvSpPr txBox="1">
            <a:spLocks noGrp="1"/>
          </p:cNvSpPr>
          <p:nvPr>
            <p:ph type="body" idx="1"/>
          </p:nvPr>
        </p:nvSpPr>
        <p:spPr>
          <a:xfrm>
            <a:off x="3732021" y="3717032"/>
            <a:ext cx="4688205" cy="230462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400"/>
              <a:buNone/>
            </a:pPr>
            <a:r>
              <a:rPr lang="en-US" sz="2400"/>
              <a:t>“</a:t>
            </a:r>
            <a:r>
              <a:rPr lang="en-US" sz="2400" i="1"/>
              <a:t>HRM includes anything and everything associated with the management of employment relationships in the firm </a:t>
            </a:r>
            <a:r>
              <a:rPr lang="en-US" sz="2400"/>
              <a:t>.” (Boxall and Purcell, 2000: 184)</a:t>
            </a:r>
            <a:endParaRPr/>
          </a:p>
          <a:p>
            <a:pPr marL="0" lvl="0" indent="107950" algn="l" rtl="0">
              <a:lnSpc>
                <a:spcPct val="90000"/>
              </a:lnSpc>
              <a:spcBef>
                <a:spcPts val="750"/>
              </a:spcBef>
              <a:spcAft>
                <a:spcPts val="0"/>
              </a:spcAft>
              <a:buClr>
                <a:schemeClr val="dk1"/>
              </a:buClr>
              <a:buSzPts val="1700"/>
              <a:buNone/>
            </a:pPr>
            <a:endParaRPr sz="1700"/>
          </a:p>
        </p:txBody>
      </p:sp>
      <p:sp>
        <p:nvSpPr>
          <p:cNvPr id="262" name="Google Shape;262;p29"/>
          <p:cNvSpPr txBox="1"/>
          <p:nvPr/>
        </p:nvSpPr>
        <p:spPr>
          <a:xfrm>
            <a:off x="3732020" y="873149"/>
            <a:ext cx="4688205" cy="230462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OB asks: </a:t>
            </a:r>
            <a:r>
              <a:rPr lang="en-US" sz="2400">
                <a:solidFill>
                  <a:schemeClr val="dk1"/>
                </a:solidFill>
                <a:latin typeface="Arial"/>
                <a:ea typeface="Arial"/>
                <a:cs typeface="Arial"/>
                <a:sym typeface="Arial"/>
              </a:rPr>
              <a:t>Why do people behave as they do at work?</a:t>
            </a:r>
            <a:endParaRPr/>
          </a:p>
          <a:p>
            <a:pPr marL="0" marR="0" lvl="0" indent="152400" algn="l" rtl="0">
              <a:lnSpc>
                <a:spcPct val="90000"/>
              </a:lnSpc>
              <a:spcBef>
                <a:spcPts val="600"/>
              </a:spcBef>
              <a:spcAft>
                <a:spcPts val="0"/>
              </a:spcAft>
              <a:buClr>
                <a:schemeClr val="dk1"/>
              </a:buClr>
              <a:buSzPts val="2400"/>
              <a:buFont typeface="Arial"/>
              <a:buNone/>
            </a:pPr>
            <a:endParaRPr sz="2400" b="1">
              <a:solidFill>
                <a:schemeClr val="dk1"/>
              </a:solidFill>
              <a:latin typeface="Arial"/>
              <a:ea typeface="Arial"/>
              <a:cs typeface="Arial"/>
              <a:sym typeface="Arial"/>
            </a:endParaRPr>
          </a:p>
          <a:p>
            <a:pPr marL="0" marR="0" lvl="0" indent="0" algn="l" rtl="0">
              <a:lnSpc>
                <a:spcPct val="90000"/>
              </a:lnSpc>
              <a:spcBef>
                <a:spcPts val="600"/>
              </a:spcBef>
              <a:spcAft>
                <a:spcPts val="0"/>
              </a:spcAft>
              <a:buClr>
                <a:schemeClr val="dk1"/>
              </a:buClr>
              <a:buSzPts val="2400"/>
              <a:buFont typeface="Arial"/>
              <a:buChar char="•"/>
            </a:pPr>
            <a:r>
              <a:rPr lang="en-US" sz="2400" b="1">
                <a:solidFill>
                  <a:schemeClr val="dk1"/>
                </a:solidFill>
                <a:latin typeface="Arial"/>
                <a:ea typeface="Arial"/>
                <a:cs typeface="Arial"/>
                <a:sym typeface="Arial"/>
              </a:rPr>
              <a:t>HRM asks: </a:t>
            </a:r>
            <a:r>
              <a:rPr lang="en-US" sz="2400">
                <a:solidFill>
                  <a:schemeClr val="dk1"/>
                </a:solidFill>
                <a:latin typeface="Arial"/>
                <a:ea typeface="Arial"/>
                <a:cs typeface="Arial"/>
                <a:sym typeface="Arial"/>
              </a:rPr>
              <a:t>How do organisations seek to manage the employment relationship and influence that behaviour?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7"/>
        <p:cNvGrpSpPr/>
        <p:nvPr/>
      </p:nvGrpSpPr>
      <p:grpSpPr>
        <a:xfrm>
          <a:off x="0" y="0"/>
          <a:ext cx="0" cy="0"/>
          <a:chOff x="0" y="0"/>
          <a:chExt cx="0" cy="0"/>
        </a:xfrm>
      </p:grpSpPr>
      <p:sp>
        <p:nvSpPr>
          <p:cNvPr id="268" name="Google Shape;268;p30"/>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30"/>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30"/>
          <p:cNvSpPr txBox="1">
            <a:spLocks noGrp="1"/>
          </p:cNvSpPr>
          <p:nvPr>
            <p:ph type="title"/>
          </p:nvPr>
        </p:nvSpPr>
        <p:spPr>
          <a:xfrm>
            <a:off x="515125" y="1153572"/>
            <a:ext cx="24003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100"/>
              <a:buFont typeface="Play"/>
              <a:buNone/>
            </a:pPr>
            <a:r>
              <a:rPr lang="en-US" sz="3100" b="1" i="0" u="none" strike="noStrike" cap="none">
                <a:solidFill>
                  <a:srgbClr val="FFFFFF"/>
                </a:solidFill>
                <a:latin typeface="Play"/>
                <a:ea typeface="Play"/>
                <a:cs typeface="Play"/>
                <a:sym typeface="Play"/>
              </a:rPr>
              <a:t>Human Resource Management (HRM)</a:t>
            </a:r>
            <a:endParaRPr sz="3100">
              <a:solidFill>
                <a:srgbClr val="FFFFFF"/>
              </a:solidFill>
            </a:endParaRPr>
          </a:p>
        </p:txBody>
      </p:sp>
      <p:sp>
        <p:nvSpPr>
          <p:cNvPr id="271" name="Google Shape;271;p30"/>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72" name="Google Shape;272;p30"/>
          <p:cNvSpPr txBox="1">
            <a:spLocks noGrp="1"/>
          </p:cNvSpPr>
          <p:nvPr>
            <p:ph type="body" idx="1"/>
          </p:nvPr>
        </p:nvSpPr>
        <p:spPr>
          <a:xfrm>
            <a:off x="3335481" y="591344"/>
            <a:ext cx="5179868" cy="5585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None/>
            </a:pPr>
            <a:r>
              <a:rPr lang="en-US" sz="2400" b="1" i="1"/>
              <a:t>Where did HRM come from? </a:t>
            </a:r>
            <a:endParaRPr/>
          </a:p>
          <a:p>
            <a:pPr marL="0" lvl="0" indent="0" algn="l" rtl="0">
              <a:lnSpc>
                <a:spcPct val="90000"/>
              </a:lnSpc>
              <a:spcBef>
                <a:spcPts val="750"/>
              </a:spcBef>
              <a:spcAft>
                <a:spcPts val="0"/>
              </a:spcAft>
              <a:buClr>
                <a:schemeClr val="dk1"/>
              </a:buClr>
              <a:buSzPts val="2400"/>
              <a:buNone/>
            </a:pPr>
            <a:endParaRPr sz="2400" b="1" i="1"/>
          </a:p>
          <a:p>
            <a:pPr marL="0" lvl="0" indent="0" algn="l" rtl="0">
              <a:lnSpc>
                <a:spcPct val="90000"/>
              </a:lnSpc>
              <a:spcBef>
                <a:spcPts val="750"/>
              </a:spcBef>
              <a:spcAft>
                <a:spcPts val="0"/>
              </a:spcAft>
              <a:buClr>
                <a:schemeClr val="dk1"/>
              </a:buClr>
              <a:buSzPts val="2400"/>
              <a:buNone/>
            </a:pPr>
            <a:r>
              <a:rPr lang="en-US" sz="2400" b="1" i="1"/>
              <a:t>What does HRM do? </a:t>
            </a:r>
            <a:endParaRPr/>
          </a:p>
          <a:p>
            <a:pPr marL="0" lvl="0" indent="0" algn="l" rtl="0">
              <a:lnSpc>
                <a:spcPct val="90000"/>
              </a:lnSpc>
              <a:spcBef>
                <a:spcPts val="750"/>
              </a:spcBef>
              <a:spcAft>
                <a:spcPts val="0"/>
              </a:spcAft>
              <a:buClr>
                <a:schemeClr val="dk1"/>
              </a:buClr>
              <a:buSzPts val="2400"/>
              <a:buNone/>
            </a:pPr>
            <a:endParaRPr sz="2400" b="1" i="1"/>
          </a:p>
          <a:p>
            <a:pPr marL="0" lvl="0" indent="0" algn="l" rtl="0">
              <a:lnSpc>
                <a:spcPct val="90000"/>
              </a:lnSpc>
              <a:spcBef>
                <a:spcPts val="750"/>
              </a:spcBef>
              <a:spcAft>
                <a:spcPts val="0"/>
              </a:spcAft>
              <a:buClr>
                <a:schemeClr val="dk1"/>
              </a:buClr>
              <a:buSzPts val="2400"/>
              <a:buNone/>
            </a:pPr>
            <a:r>
              <a:rPr lang="en-US" sz="2400" b="1" i="1"/>
              <a:t>Are there different ways of managing people? </a:t>
            </a:r>
            <a:endParaRPr/>
          </a:p>
          <a:p>
            <a:pPr marL="0" lvl="0" indent="0" algn="l" rtl="0">
              <a:lnSpc>
                <a:spcPct val="90000"/>
              </a:lnSpc>
              <a:spcBef>
                <a:spcPts val="750"/>
              </a:spcBef>
              <a:spcAft>
                <a:spcPts val="0"/>
              </a:spcAft>
              <a:buClr>
                <a:schemeClr val="dk1"/>
              </a:buClr>
              <a:buSzPts val="2400"/>
              <a:buNone/>
            </a:pPr>
            <a:endParaRPr sz="2400" b="1" i="1"/>
          </a:p>
          <a:p>
            <a:pPr marL="0" lvl="0" indent="0" algn="l" rtl="0">
              <a:lnSpc>
                <a:spcPct val="90000"/>
              </a:lnSpc>
              <a:spcBef>
                <a:spcPts val="750"/>
              </a:spcBef>
              <a:spcAft>
                <a:spcPts val="0"/>
              </a:spcAft>
              <a:buClr>
                <a:schemeClr val="dk1"/>
              </a:buClr>
              <a:buSzPts val="2400"/>
              <a:buNone/>
            </a:pPr>
            <a:r>
              <a:rPr lang="en-US" sz="2400" b="1" i="1"/>
              <a:t>Does HRM really produce the outcomes organisations want?</a:t>
            </a:r>
            <a:endParaRPr sz="24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p31"/>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31"/>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31"/>
          <p:cNvSpPr txBox="1">
            <a:spLocks noGrp="1"/>
          </p:cNvSpPr>
          <p:nvPr>
            <p:ph type="title"/>
          </p:nvPr>
        </p:nvSpPr>
        <p:spPr>
          <a:xfrm>
            <a:off x="515125" y="1153572"/>
            <a:ext cx="24003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300"/>
              <a:buFont typeface="Play"/>
              <a:buNone/>
            </a:pPr>
            <a:r>
              <a:rPr lang="en-US" b="1">
                <a:solidFill>
                  <a:srgbClr val="FFFFFF"/>
                </a:solidFill>
              </a:rPr>
              <a:t>In other words… </a:t>
            </a:r>
            <a:endParaRPr b="1">
              <a:solidFill>
                <a:srgbClr val="FFFFFF"/>
              </a:solidFill>
            </a:endParaRPr>
          </a:p>
        </p:txBody>
      </p:sp>
      <p:sp>
        <p:nvSpPr>
          <p:cNvPr id="281" name="Google Shape;281;p31"/>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82" name="Google Shape;282;p31"/>
          <p:cNvSpPr txBox="1">
            <a:spLocks noGrp="1"/>
          </p:cNvSpPr>
          <p:nvPr>
            <p:ph type="body" idx="1"/>
          </p:nvPr>
        </p:nvSpPr>
        <p:spPr>
          <a:xfrm>
            <a:off x="3335481" y="591344"/>
            <a:ext cx="5179868" cy="5585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None/>
            </a:pPr>
            <a:r>
              <a:rPr lang="en-US" sz="3200" b="1"/>
              <a:t>Organisations face external pressures. One response is to ask how people can contribute more effectively to organisational goals.</a:t>
            </a:r>
            <a:endParaRPr sz="32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7"/>
        <p:cNvGrpSpPr/>
        <p:nvPr/>
      </p:nvGrpSpPr>
      <p:grpSpPr>
        <a:xfrm>
          <a:off x="0" y="0"/>
          <a:ext cx="0" cy="0"/>
          <a:chOff x="0" y="0"/>
          <a:chExt cx="0" cy="0"/>
        </a:xfrm>
      </p:grpSpPr>
      <p:sp>
        <p:nvSpPr>
          <p:cNvPr id="288" name="Google Shape;288;p32"/>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32"/>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32"/>
          <p:cNvSpPr txBox="1">
            <a:spLocks noGrp="1"/>
          </p:cNvSpPr>
          <p:nvPr>
            <p:ph type="title"/>
          </p:nvPr>
        </p:nvSpPr>
        <p:spPr>
          <a:xfrm>
            <a:off x="515125" y="1153572"/>
            <a:ext cx="24003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300"/>
              <a:buFont typeface="Play"/>
              <a:buNone/>
            </a:pPr>
            <a:r>
              <a:rPr lang="en-US" b="1">
                <a:solidFill>
                  <a:srgbClr val="FFFFFF"/>
                </a:solidFill>
              </a:rPr>
              <a:t>What does a Human Resource Department actually do?</a:t>
            </a:r>
            <a:endParaRPr/>
          </a:p>
        </p:txBody>
      </p:sp>
      <p:sp>
        <p:nvSpPr>
          <p:cNvPr id="291" name="Google Shape;291;p32"/>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92" name="Google Shape;292;p32"/>
          <p:cNvSpPr txBox="1">
            <a:spLocks noGrp="1"/>
          </p:cNvSpPr>
          <p:nvPr>
            <p:ph type="body" idx="1"/>
          </p:nvPr>
        </p:nvSpPr>
        <p:spPr>
          <a:xfrm>
            <a:off x="3125454" y="591344"/>
            <a:ext cx="5839033" cy="5585619"/>
          </a:xfrm>
          <a:prstGeom prst="rect">
            <a:avLst/>
          </a:prstGeom>
          <a:noFill/>
          <a:ln>
            <a:noFill/>
          </a:ln>
        </p:spPr>
        <p:txBody>
          <a:bodyPr spcFirstLastPara="1" wrap="square" lIns="91425" tIns="45700" rIns="91425" bIns="45700" anchor="ctr" anchorCtr="0">
            <a:normAutofit fontScale="40000" lnSpcReduction="20000"/>
          </a:bodyPr>
          <a:lstStyle/>
          <a:p>
            <a:pPr marL="0" lvl="0" indent="0" algn="l" rtl="0">
              <a:lnSpc>
                <a:spcPct val="90000"/>
              </a:lnSpc>
              <a:spcBef>
                <a:spcPts val="0"/>
              </a:spcBef>
              <a:spcAft>
                <a:spcPts val="0"/>
              </a:spcAft>
              <a:buClr>
                <a:schemeClr val="dk1"/>
              </a:buClr>
              <a:buSzPct val="100000"/>
              <a:buNone/>
            </a:pPr>
            <a:endParaRPr sz="1300" b="1"/>
          </a:p>
          <a:p>
            <a:pPr marL="171450" lvl="0" indent="-171450" algn="l" rtl="0">
              <a:lnSpc>
                <a:spcPct val="90000"/>
              </a:lnSpc>
              <a:spcBef>
                <a:spcPts val="750"/>
              </a:spcBef>
              <a:spcAft>
                <a:spcPts val="0"/>
              </a:spcAft>
              <a:buClr>
                <a:schemeClr val="dk1"/>
              </a:buClr>
              <a:buSzPct val="100000"/>
              <a:buChar char="•"/>
            </a:pPr>
            <a:r>
              <a:rPr lang="en-US" sz="5100" b="1"/>
              <a:t>Getting people</a:t>
            </a:r>
            <a:br>
              <a:rPr lang="en-US" sz="5100"/>
            </a:br>
            <a:r>
              <a:rPr lang="en-US" sz="5100"/>
              <a:t>Recruitment • selection • talent</a:t>
            </a:r>
            <a:endParaRPr/>
          </a:p>
          <a:p>
            <a:pPr marL="0" lvl="0" indent="0" algn="l" rtl="0">
              <a:lnSpc>
                <a:spcPct val="90000"/>
              </a:lnSpc>
              <a:spcBef>
                <a:spcPts val="750"/>
              </a:spcBef>
              <a:spcAft>
                <a:spcPts val="0"/>
              </a:spcAft>
              <a:buClr>
                <a:schemeClr val="dk1"/>
              </a:buClr>
              <a:buSzPct val="100000"/>
              <a:buNone/>
            </a:pPr>
            <a:endParaRPr sz="5100"/>
          </a:p>
          <a:p>
            <a:pPr marL="171450" lvl="0" indent="-171450" algn="l" rtl="0">
              <a:lnSpc>
                <a:spcPct val="90000"/>
              </a:lnSpc>
              <a:spcBef>
                <a:spcPts val="750"/>
              </a:spcBef>
              <a:spcAft>
                <a:spcPts val="0"/>
              </a:spcAft>
              <a:buClr>
                <a:schemeClr val="dk1"/>
              </a:buClr>
              <a:buSzPct val="100000"/>
              <a:buChar char="•"/>
            </a:pPr>
            <a:r>
              <a:rPr lang="en-US" sz="5100" b="1"/>
              <a:t>Developing people</a:t>
            </a:r>
            <a:br>
              <a:rPr lang="en-US" sz="5100"/>
            </a:br>
            <a:r>
              <a:rPr lang="en-US" sz="5100"/>
              <a:t>Training • careers • organisational development</a:t>
            </a:r>
            <a:endParaRPr/>
          </a:p>
          <a:p>
            <a:pPr marL="0" lvl="0" indent="0" algn="l" rtl="0">
              <a:lnSpc>
                <a:spcPct val="90000"/>
              </a:lnSpc>
              <a:spcBef>
                <a:spcPts val="750"/>
              </a:spcBef>
              <a:spcAft>
                <a:spcPts val="0"/>
              </a:spcAft>
              <a:buClr>
                <a:schemeClr val="dk1"/>
              </a:buClr>
              <a:buSzPct val="100000"/>
              <a:buNone/>
            </a:pPr>
            <a:endParaRPr sz="5100"/>
          </a:p>
          <a:p>
            <a:pPr marL="171450" lvl="0" indent="-171450" algn="l" rtl="0">
              <a:lnSpc>
                <a:spcPct val="90000"/>
              </a:lnSpc>
              <a:spcBef>
                <a:spcPts val="750"/>
              </a:spcBef>
              <a:spcAft>
                <a:spcPts val="0"/>
              </a:spcAft>
              <a:buClr>
                <a:schemeClr val="dk1"/>
              </a:buClr>
              <a:buSzPct val="100000"/>
              <a:buChar char="•"/>
            </a:pPr>
            <a:r>
              <a:rPr lang="en-US" sz="5100" b="1"/>
              <a:t>Managing contribution</a:t>
            </a:r>
            <a:br>
              <a:rPr lang="en-US" sz="5100"/>
            </a:br>
            <a:r>
              <a:rPr lang="en-US" sz="5100"/>
              <a:t>Performance • reward • engagement</a:t>
            </a:r>
            <a:endParaRPr/>
          </a:p>
          <a:p>
            <a:pPr marL="0" lvl="0" indent="0" algn="l" rtl="0">
              <a:lnSpc>
                <a:spcPct val="90000"/>
              </a:lnSpc>
              <a:spcBef>
                <a:spcPts val="750"/>
              </a:spcBef>
              <a:spcAft>
                <a:spcPts val="0"/>
              </a:spcAft>
              <a:buClr>
                <a:schemeClr val="dk1"/>
              </a:buClr>
              <a:buSzPct val="100000"/>
              <a:buNone/>
            </a:pPr>
            <a:endParaRPr sz="5100"/>
          </a:p>
          <a:p>
            <a:pPr marL="171450" lvl="0" indent="-171450" algn="l" rtl="0">
              <a:lnSpc>
                <a:spcPct val="90000"/>
              </a:lnSpc>
              <a:spcBef>
                <a:spcPts val="750"/>
              </a:spcBef>
              <a:spcAft>
                <a:spcPts val="0"/>
              </a:spcAft>
              <a:buClr>
                <a:schemeClr val="dk1"/>
              </a:buClr>
              <a:buSzPct val="100000"/>
              <a:buChar char="•"/>
            </a:pPr>
            <a:r>
              <a:rPr lang="en-US" sz="5100" b="1"/>
              <a:t>Managing the employment relationship</a:t>
            </a:r>
            <a:br>
              <a:rPr lang="en-US" sz="5100"/>
            </a:br>
            <a:r>
              <a:rPr lang="en-US" sz="5100"/>
              <a:t>Employee relations • EDI • wellbeing • change</a:t>
            </a:r>
            <a:endParaRPr/>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endParaRPr sz="1300" b="1"/>
          </a:p>
          <a:p>
            <a:pPr marL="0" lvl="0" indent="0" algn="l" rtl="0">
              <a:lnSpc>
                <a:spcPct val="90000"/>
              </a:lnSpc>
              <a:spcBef>
                <a:spcPts val="750"/>
              </a:spcBef>
              <a:spcAft>
                <a:spcPts val="0"/>
              </a:spcAft>
              <a:buClr>
                <a:schemeClr val="dk1"/>
              </a:buClr>
              <a:buSzPct val="100000"/>
              <a:buNone/>
            </a:pPr>
            <a:r>
              <a:rPr lang="en-US" sz="4000" b="1"/>
              <a:t>Visit the Chartered Institute of Personnel and Development (CIPD) website: </a:t>
            </a:r>
            <a:r>
              <a:rPr lang="en-US" sz="4000" b="1" u="sng">
                <a:solidFill>
                  <a:schemeClr val="hlink"/>
                </a:solidFill>
                <a:hlinkClick r:id="rId3"/>
              </a:rPr>
              <a:t>www.cipd.co.uk</a:t>
            </a:r>
            <a:endParaRPr sz="4000" b="1"/>
          </a:p>
          <a:p>
            <a:pPr marL="0" lvl="0" indent="0" algn="l" rtl="0">
              <a:lnSpc>
                <a:spcPct val="90000"/>
              </a:lnSpc>
              <a:spcBef>
                <a:spcPts val="750"/>
              </a:spcBef>
              <a:spcAft>
                <a:spcPts val="0"/>
              </a:spcAft>
              <a:buClr>
                <a:schemeClr val="dk1"/>
              </a:buClr>
              <a:buSzPct val="100000"/>
              <a:buNone/>
            </a:pPr>
            <a:endParaRPr sz="1300" b="1"/>
          </a:p>
          <a:p>
            <a:pPr marL="171450" lvl="0" indent="-138430" algn="l" rtl="0">
              <a:lnSpc>
                <a:spcPct val="90000"/>
              </a:lnSpc>
              <a:spcBef>
                <a:spcPts val="750"/>
              </a:spcBef>
              <a:spcAft>
                <a:spcPts val="0"/>
              </a:spcAft>
              <a:buClr>
                <a:schemeClr val="dk1"/>
              </a:buClr>
              <a:buSzPct val="100000"/>
              <a:buNone/>
            </a:pP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7"/>
        <p:cNvGrpSpPr/>
        <p:nvPr/>
      </p:nvGrpSpPr>
      <p:grpSpPr>
        <a:xfrm>
          <a:off x="0" y="0"/>
          <a:ext cx="0" cy="0"/>
          <a:chOff x="0" y="0"/>
          <a:chExt cx="0" cy="0"/>
        </a:xfrm>
      </p:grpSpPr>
      <p:sp>
        <p:nvSpPr>
          <p:cNvPr id="298" name="Google Shape;298;p33"/>
          <p:cNvSpPr/>
          <p:nvPr/>
        </p:nvSpPr>
        <p:spPr>
          <a:xfrm>
            <a:off x="0" y="651752"/>
            <a:ext cx="9144000" cy="73655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33"/>
          <p:cNvSpPr txBox="1">
            <a:spLocks noGrp="1"/>
          </p:cNvSpPr>
          <p:nvPr>
            <p:ph type="title"/>
          </p:nvPr>
        </p:nvSpPr>
        <p:spPr>
          <a:xfrm>
            <a:off x="417399" y="643467"/>
            <a:ext cx="8408193" cy="7448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800"/>
              <a:buFont typeface="Play"/>
              <a:buNone/>
            </a:pPr>
            <a:r>
              <a:rPr lang="en-US" sz="2800" b="1">
                <a:solidFill>
                  <a:schemeClr val="lt1"/>
                </a:solidFill>
                <a:latin typeface="Play"/>
                <a:ea typeface="Play"/>
                <a:cs typeface="Play"/>
                <a:sym typeface="Play"/>
              </a:rPr>
              <a:t>Approaches to the study of HRM</a:t>
            </a:r>
            <a:endParaRPr/>
          </a:p>
        </p:txBody>
      </p:sp>
      <p:pic>
        <p:nvPicPr>
          <p:cNvPr id="300" name="Google Shape;300;p33" descr="This is a table that details the different approaches to HRM. This table can be found in the Wilkinson and Redman key text book and lists these approaches, including their underlying beliefs/assumptions, strategic qualities, role of line managers and key drivers."/>
          <p:cNvPicPr preferRelativeResize="0">
            <a:picLocks noGrp="1"/>
          </p:cNvPicPr>
          <p:nvPr>
            <p:ph type="body" idx="1"/>
          </p:nvPr>
        </p:nvPicPr>
        <p:blipFill rotWithShape="1">
          <a:blip r:embed="rId3">
            <a:alphaModFix/>
          </a:blip>
          <a:srcRect/>
          <a:stretch/>
        </p:blipFill>
        <p:spPr>
          <a:xfrm>
            <a:off x="179513" y="1556793"/>
            <a:ext cx="8873524" cy="51845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4"/>
          <p:cNvSpPr txBox="1">
            <a:spLocks noGrp="1"/>
          </p:cNvSpPr>
          <p:nvPr>
            <p:ph type="title"/>
          </p:nvPr>
        </p:nvSpPr>
        <p:spPr>
          <a:xfrm>
            <a:off x="628650" y="127001"/>
            <a:ext cx="7886700" cy="91802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dirty="0"/>
              <a:t>Scholars have distinguished between two broad approaches to managing people</a:t>
            </a:r>
            <a:endParaRPr dirty="0"/>
          </a:p>
        </p:txBody>
      </p:sp>
      <p:graphicFrame>
        <p:nvGraphicFramePr>
          <p:cNvPr id="307" name="Google Shape;307;p34" descr="Table showing characteristics of Hard HRM and Soft HRM"/>
          <p:cNvGraphicFramePr/>
          <p:nvPr>
            <p:extLst>
              <p:ext uri="{D42A27DB-BD31-4B8C-83A1-F6EECF244321}">
                <p14:modId xmlns:p14="http://schemas.microsoft.com/office/powerpoint/2010/main" val="291005560"/>
              </p:ext>
            </p:extLst>
          </p:nvPr>
        </p:nvGraphicFramePr>
        <p:xfrm>
          <a:off x="628650" y="1628800"/>
          <a:ext cx="7886700" cy="4991175"/>
        </p:xfrm>
        <a:graphic>
          <a:graphicData uri="http://schemas.openxmlformats.org/drawingml/2006/table">
            <a:tbl>
              <a:tblPr firstRow="1">
                <a:tableStyleId>{DE131820-335C-4AD0-8DB9-1C2BE914CE66}</a:tableStyleId>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658675">
                <a:tc>
                  <a:txBody>
                    <a:bodyPr/>
                    <a:lstStyle/>
                    <a:p>
                      <a:pPr marL="0" marR="0" lvl="0" indent="0" algn="l" rtl="0">
                        <a:spcBef>
                          <a:spcPts val="0"/>
                        </a:spcBef>
                        <a:spcAft>
                          <a:spcPts val="0"/>
                        </a:spcAft>
                        <a:buClr>
                          <a:schemeClr val="dk1"/>
                        </a:buClr>
                        <a:buSzPts val="2800"/>
                        <a:buFont typeface="Arial"/>
                        <a:buNone/>
                      </a:pPr>
                      <a:r>
                        <a:rPr lang="en-US" sz="2800" b="1" u="none" strike="noStrike" cap="none" dirty="0"/>
                        <a:t>Hard HRM</a:t>
                      </a:r>
                      <a:endParaRPr dirty="0"/>
                    </a:p>
                  </a:txBody>
                  <a:tcPr marL="91450" marR="91450" marT="45725" marB="45725" anchor="ctr"/>
                </a:tc>
                <a:tc>
                  <a:txBody>
                    <a:bodyPr/>
                    <a:lstStyle/>
                    <a:p>
                      <a:pPr marL="0" marR="0" lvl="0" indent="0" algn="l" rtl="0">
                        <a:spcBef>
                          <a:spcPts val="0"/>
                        </a:spcBef>
                        <a:spcAft>
                          <a:spcPts val="0"/>
                        </a:spcAft>
                        <a:buClr>
                          <a:schemeClr val="dk1"/>
                        </a:buClr>
                        <a:buSzPts val="2800"/>
                        <a:buFont typeface="Arial"/>
                        <a:buNone/>
                      </a:pPr>
                      <a:r>
                        <a:rPr lang="en-US" sz="2800" b="1" u="none" strike="noStrike" cap="none" dirty="0"/>
                        <a:t>Soft HRM</a:t>
                      </a:r>
                      <a:endParaRPr dirty="0"/>
                    </a:p>
                  </a:txBody>
                  <a:tcPr marL="91450" marR="91450" marT="45725" marB="45725" anchor="ctr"/>
                </a:tc>
                <a:extLst>
                  <a:ext uri="{0D108BD9-81ED-4DB2-BD59-A6C34878D82A}">
                    <a16:rowId xmlns:a16="http://schemas.microsoft.com/office/drawing/2014/main" val="10000"/>
                  </a:ext>
                </a:extLst>
              </a:tr>
              <a:tr h="658675">
                <a:tc>
                  <a:txBody>
                    <a:bodyPr/>
                    <a:lstStyle/>
                    <a:p>
                      <a:pPr marL="0" marR="0" lvl="0" indent="0" algn="l" rtl="0">
                        <a:spcBef>
                          <a:spcPts val="0"/>
                        </a:spcBef>
                        <a:spcAft>
                          <a:spcPts val="0"/>
                        </a:spcAft>
                        <a:buClr>
                          <a:schemeClr val="dk1"/>
                        </a:buClr>
                        <a:buSzPts val="2000"/>
                        <a:buFont typeface="Arial"/>
                        <a:buNone/>
                      </a:pPr>
                      <a:r>
                        <a:rPr lang="en-US" sz="2000" b="1" u="none" strike="noStrike" cap="none"/>
                        <a:t>Employees viewed primarily as resources/costs</a:t>
                      </a:r>
                      <a:endParaRPr/>
                    </a:p>
                  </a:txBody>
                  <a:tcPr marL="91450" marR="91450" marT="45725" marB="45725"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a:t>Employees viewed as valued assets</a:t>
                      </a:r>
                      <a:endParaRPr/>
                    </a:p>
                  </a:txBody>
                  <a:tcPr marL="91450" marR="91450" marT="45725" marB="45725" anchor="ctr"/>
                </a:tc>
                <a:extLst>
                  <a:ext uri="{0D108BD9-81ED-4DB2-BD59-A6C34878D82A}">
                    <a16:rowId xmlns:a16="http://schemas.microsoft.com/office/drawing/2014/main" val="10001"/>
                  </a:ext>
                </a:extLst>
              </a:tr>
              <a:tr h="658675">
                <a:tc>
                  <a:txBody>
                    <a:bodyPr/>
                    <a:lstStyle/>
                    <a:p>
                      <a:pPr marL="0" marR="0" lvl="0" indent="0" algn="l" rtl="0">
                        <a:spcBef>
                          <a:spcPts val="0"/>
                        </a:spcBef>
                        <a:spcAft>
                          <a:spcPts val="0"/>
                        </a:spcAft>
                        <a:buClr>
                          <a:schemeClr val="dk1"/>
                        </a:buClr>
                        <a:buSzPts val="2000"/>
                        <a:buFont typeface="Arial"/>
                        <a:buNone/>
                      </a:pPr>
                      <a:r>
                        <a:rPr lang="en-US" sz="2000" b="1" u="none" strike="noStrike" cap="none" dirty="0"/>
                        <a:t>Emphasis on efficiency and performance</a:t>
                      </a:r>
                      <a:endParaRPr dirty="0"/>
                    </a:p>
                  </a:txBody>
                  <a:tcPr marL="91450" marR="91450" marT="45725" marB="45725"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a:t>Emphasis on commitment and development</a:t>
                      </a:r>
                      <a:endParaRPr/>
                    </a:p>
                  </a:txBody>
                  <a:tcPr marL="91450" marR="91450" marT="45725" marB="45725" anchor="ctr"/>
                </a:tc>
                <a:extLst>
                  <a:ext uri="{0D108BD9-81ED-4DB2-BD59-A6C34878D82A}">
                    <a16:rowId xmlns:a16="http://schemas.microsoft.com/office/drawing/2014/main" val="10002"/>
                  </a:ext>
                </a:extLst>
              </a:tr>
              <a:tr h="658675">
                <a:tc>
                  <a:txBody>
                    <a:bodyPr/>
                    <a:lstStyle/>
                    <a:p>
                      <a:pPr marL="0" marR="0" lvl="0" indent="0" algn="l" rtl="0">
                        <a:spcBef>
                          <a:spcPts val="0"/>
                        </a:spcBef>
                        <a:spcAft>
                          <a:spcPts val="0"/>
                        </a:spcAft>
                        <a:buClr>
                          <a:schemeClr val="dk1"/>
                        </a:buClr>
                        <a:buSzPts val="2000"/>
                        <a:buFont typeface="Arial"/>
                        <a:buNone/>
                      </a:pPr>
                      <a:r>
                        <a:rPr lang="en-US" sz="2000" b="1" u="none" strike="noStrike" cap="none"/>
                        <a:t>Greater emphasis on managerial control</a:t>
                      </a:r>
                      <a:endParaRPr/>
                    </a:p>
                  </a:txBody>
                  <a:tcPr marL="91450" marR="91450" marT="45725" marB="45725"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a:t>Greater emphasis on employee involvement</a:t>
                      </a:r>
                      <a:endParaRPr/>
                    </a:p>
                  </a:txBody>
                  <a:tcPr marL="91450" marR="91450" marT="45725" marB="45725" anchor="ctr"/>
                </a:tc>
                <a:extLst>
                  <a:ext uri="{0D108BD9-81ED-4DB2-BD59-A6C34878D82A}">
                    <a16:rowId xmlns:a16="http://schemas.microsoft.com/office/drawing/2014/main" val="10003"/>
                  </a:ext>
                </a:extLst>
              </a:tr>
              <a:tr h="1114675">
                <a:tc>
                  <a:txBody>
                    <a:bodyPr/>
                    <a:lstStyle/>
                    <a:p>
                      <a:pPr marL="0" marR="0" lvl="0" indent="0" algn="l" rtl="0">
                        <a:spcBef>
                          <a:spcPts val="0"/>
                        </a:spcBef>
                        <a:spcAft>
                          <a:spcPts val="0"/>
                        </a:spcAft>
                        <a:buClr>
                          <a:schemeClr val="dk1"/>
                        </a:buClr>
                        <a:buSzPts val="2000"/>
                        <a:buFont typeface="Arial"/>
                        <a:buNone/>
                      </a:pPr>
                      <a:r>
                        <a:rPr lang="en-US" sz="2000" b="1" u="none" strike="noStrike" cap="none"/>
                        <a:t>Employees expected to meet organisational requirements</a:t>
                      </a:r>
                      <a:endParaRPr/>
                    </a:p>
                  </a:txBody>
                  <a:tcPr marL="91450" marR="91450" marT="45725" marB="45725"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a:t>Employees encouraged to contribute ideas and initiative</a:t>
                      </a:r>
                      <a:endParaRPr/>
                    </a:p>
                  </a:txBody>
                  <a:tcPr marL="91450" marR="91450" marT="45725" marB="45725" anchor="ctr"/>
                </a:tc>
                <a:extLst>
                  <a:ext uri="{0D108BD9-81ED-4DB2-BD59-A6C34878D82A}">
                    <a16:rowId xmlns:a16="http://schemas.microsoft.com/office/drawing/2014/main" val="10004"/>
                  </a:ext>
                </a:extLst>
              </a:tr>
              <a:tr h="1114675">
                <a:tc>
                  <a:txBody>
                    <a:bodyPr/>
                    <a:lstStyle/>
                    <a:p>
                      <a:pPr marL="0" marR="0" lvl="0" indent="0" algn="l" rtl="0">
                        <a:spcBef>
                          <a:spcPts val="0"/>
                        </a:spcBef>
                        <a:spcAft>
                          <a:spcPts val="0"/>
                        </a:spcAft>
                        <a:buClr>
                          <a:schemeClr val="dk1"/>
                        </a:buClr>
                        <a:buSzPts val="2000"/>
                        <a:buFont typeface="Arial"/>
                        <a:buNone/>
                      </a:pPr>
                      <a:r>
                        <a:rPr lang="en-US" sz="2000" b="1" u="none" strike="noStrike" cap="none"/>
                        <a:t>HR practices closely aligned to organisational needs</a:t>
                      </a:r>
                      <a:endParaRPr/>
                    </a:p>
                  </a:txBody>
                  <a:tcPr marL="91450" marR="91450" marT="45725" marB="45725"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dirty="0"/>
                        <a:t>HR practices seek to develop and engage employees</a:t>
                      </a:r>
                      <a:endParaRPr dirty="0"/>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5"/>
          <p:cNvSpPr txBox="1">
            <a:spLocks noGrp="1"/>
          </p:cNvSpPr>
          <p:nvPr>
            <p:ph type="title"/>
          </p:nvPr>
        </p:nvSpPr>
        <p:spPr>
          <a:xfrm>
            <a:off x="628650" y="129334"/>
            <a:ext cx="7886700" cy="47158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Play"/>
              <a:buNone/>
            </a:pPr>
            <a:r>
              <a:rPr lang="en-US" b="1"/>
              <a:t>Case Activity</a:t>
            </a:r>
            <a:endParaRPr b="1"/>
          </a:p>
        </p:txBody>
      </p:sp>
      <p:sp>
        <p:nvSpPr>
          <p:cNvPr id="313" name="Google Shape;313;p35"/>
          <p:cNvSpPr txBox="1">
            <a:spLocks noGrp="1"/>
          </p:cNvSpPr>
          <p:nvPr>
            <p:ph type="body" idx="1"/>
          </p:nvPr>
        </p:nvSpPr>
        <p:spPr>
          <a:xfrm>
            <a:off x="395536" y="600920"/>
            <a:ext cx="8424936" cy="5891953"/>
          </a:xfrm>
          <a:prstGeom prst="rect">
            <a:avLst/>
          </a:prstGeom>
          <a:noFill/>
          <a:ln>
            <a:noFill/>
          </a:ln>
        </p:spPr>
        <p:txBody>
          <a:bodyPr spcFirstLastPara="1" wrap="square" lIns="91425" tIns="45700" rIns="91425" bIns="45700" anchor="t" anchorCtr="0">
            <a:normAutofit lnSpcReduction="10000"/>
          </a:bodyPr>
          <a:lstStyle/>
          <a:p>
            <a:pPr marL="171450" lvl="0" indent="-171450" algn="l" rtl="0">
              <a:lnSpc>
                <a:spcPct val="90000"/>
              </a:lnSpc>
              <a:spcBef>
                <a:spcPts val="0"/>
              </a:spcBef>
              <a:spcAft>
                <a:spcPts val="0"/>
              </a:spcAft>
              <a:buClr>
                <a:schemeClr val="dk1"/>
              </a:buClr>
              <a:buSzPts val="2400"/>
              <a:buChar char="•"/>
            </a:pPr>
            <a:r>
              <a:rPr lang="en-US" sz="2400" b="1" dirty="0" err="1"/>
              <a:t>Organisation</a:t>
            </a:r>
            <a:r>
              <a:rPr lang="en-US" sz="2400" b="1" dirty="0"/>
              <a:t> A – </a:t>
            </a:r>
            <a:r>
              <a:rPr lang="en-US" sz="2400" b="1" dirty="0" err="1"/>
              <a:t>SwiftServe</a:t>
            </a:r>
            <a:r>
              <a:rPr lang="en-US" sz="2400" b="1" dirty="0"/>
              <a:t> Logistics</a:t>
            </a:r>
            <a:endParaRPr sz="2400" dirty="0"/>
          </a:p>
          <a:p>
            <a:pPr marL="0" lvl="0" indent="0" algn="l" rtl="0">
              <a:lnSpc>
                <a:spcPct val="90000"/>
              </a:lnSpc>
              <a:spcBef>
                <a:spcPts val="750"/>
              </a:spcBef>
              <a:spcAft>
                <a:spcPts val="0"/>
              </a:spcAft>
              <a:buClr>
                <a:schemeClr val="dk1"/>
              </a:buClr>
              <a:buSzPts val="2400"/>
              <a:buNone/>
            </a:pPr>
            <a:r>
              <a:rPr lang="en-US" sz="2400" dirty="0" err="1"/>
              <a:t>SwiftServe</a:t>
            </a:r>
            <a:r>
              <a:rPr lang="en-US" sz="2400" dirty="0"/>
              <a:t> operates a large distribution network. Employees have tightly defined roles, individual productivity targets and closely monitored performance. Staffing levels are adjusted to match demand, and managers focus strongly on efficiency, costs and output. Training is mainly directed at ensuring employees can perform their assigned tasks effectively, while decisions about work are largely made by management.</a:t>
            </a:r>
            <a:endParaRPr dirty="0"/>
          </a:p>
          <a:p>
            <a:pPr marL="171450" lvl="0" indent="-171450" algn="l" rtl="0">
              <a:lnSpc>
                <a:spcPct val="90000"/>
              </a:lnSpc>
              <a:spcBef>
                <a:spcPts val="750"/>
              </a:spcBef>
              <a:spcAft>
                <a:spcPts val="0"/>
              </a:spcAft>
              <a:buClr>
                <a:schemeClr val="dk1"/>
              </a:buClr>
              <a:buSzPts val="2400"/>
              <a:buChar char="•"/>
            </a:pPr>
            <a:r>
              <a:rPr lang="en-US" sz="2400" b="1" dirty="0" err="1"/>
              <a:t>Organisation</a:t>
            </a:r>
            <a:r>
              <a:rPr lang="en-US" sz="2400" b="1" dirty="0"/>
              <a:t> B – </a:t>
            </a:r>
            <a:r>
              <a:rPr lang="en-US" sz="2400" b="1" dirty="0" err="1"/>
              <a:t>NovaTech</a:t>
            </a:r>
            <a:r>
              <a:rPr lang="en-US" sz="2400" b="1" dirty="0"/>
              <a:t> Solutions</a:t>
            </a:r>
            <a:endParaRPr sz="2400" dirty="0"/>
          </a:p>
          <a:p>
            <a:pPr marL="0" lvl="0" indent="0" algn="l" rtl="0">
              <a:lnSpc>
                <a:spcPct val="90000"/>
              </a:lnSpc>
              <a:spcBef>
                <a:spcPts val="750"/>
              </a:spcBef>
              <a:spcAft>
                <a:spcPts val="0"/>
              </a:spcAft>
              <a:buClr>
                <a:schemeClr val="dk1"/>
              </a:buClr>
              <a:buSzPts val="2400"/>
              <a:buNone/>
            </a:pPr>
            <a:r>
              <a:rPr lang="en-US" sz="2400" dirty="0" err="1"/>
              <a:t>NovaTech</a:t>
            </a:r>
            <a:r>
              <a:rPr lang="en-US" sz="2400" dirty="0"/>
              <a:t> provides digital consultancy services. It invests heavily in employee development and career progression, encourages staff to contribute ideas and gives teams considerable discretion over how they </a:t>
            </a:r>
            <a:r>
              <a:rPr lang="en-US" sz="2400" dirty="0" err="1"/>
              <a:t>organise</a:t>
            </a:r>
            <a:r>
              <a:rPr lang="en-US" sz="2400" dirty="0"/>
              <a:t> their work. Managers regularly seek employee feedback and place emphasis on engagement, collaboration and long-term retention</a:t>
            </a:r>
            <a:r>
              <a:rPr lang="en-US" dirty="0"/>
              <a:t>.</a:t>
            </a:r>
            <a:endParaRPr dirty="0"/>
          </a:p>
          <a:p>
            <a:pPr marL="171450" lvl="0" indent="-38100" algn="l" rtl="0">
              <a:lnSpc>
                <a:spcPct val="90000"/>
              </a:lnSpc>
              <a:spcBef>
                <a:spcPts val="750"/>
              </a:spcBef>
              <a:spcAft>
                <a:spcPts val="0"/>
              </a:spcAft>
              <a:buClr>
                <a:schemeClr val="dk1"/>
              </a:buClr>
              <a:buSzPts val="2100"/>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8"/>
        <p:cNvGrpSpPr/>
        <p:nvPr/>
      </p:nvGrpSpPr>
      <p:grpSpPr>
        <a:xfrm>
          <a:off x="0" y="0"/>
          <a:ext cx="0" cy="0"/>
          <a:chOff x="0" y="0"/>
          <a:chExt cx="0" cy="0"/>
        </a:xfrm>
      </p:grpSpPr>
      <p:sp>
        <p:nvSpPr>
          <p:cNvPr id="319" name="Google Shape;319;p36"/>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36"/>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36"/>
          <p:cNvSpPr txBox="1">
            <a:spLocks noGrp="1"/>
          </p:cNvSpPr>
          <p:nvPr>
            <p:ph type="title"/>
          </p:nvPr>
        </p:nvSpPr>
        <p:spPr>
          <a:xfrm>
            <a:off x="515125" y="1153572"/>
            <a:ext cx="24003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300"/>
              <a:buFont typeface="Play"/>
              <a:buNone/>
            </a:pPr>
            <a:r>
              <a:rPr lang="en-US" b="1">
                <a:solidFill>
                  <a:srgbClr val="FFFFFF"/>
                </a:solidFill>
              </a:rPr>
              <a:t>Case Activity: Multiple Choice Questions</a:t>
            </a:r>
            <a:endParaRPr b="1">
              <a:solidFill>
                <a:srgbClr val="FFFFFF"/>
              </a:solidFill>
            </a:endParaRPr>
          </a:p>
        </p:txBody>
      </p:sp>
      <p:sp>
        <p:nvSpPr>
          <p:cNvPr id="322" name="Google Shape;322;p36"/>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23" name="Google Shape;323;p36"/>
          <p:cNvSpPr txBox="1">
            <a:spLocks noGrp="1"/>
          </p:cNvSpPr>
          <p:nvPr>
            <p:ph type="body" idx="1"/>
          </p:nvPr>
        </p:nvSpPr>
        <p:spPr>
          <a:xfrm>
            <a:off x="3335481" y="591344"/>
            <a:ext cx="5179868" cy="5585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100"/>
              <a:buNone/>
            </a:pPr>
            <a:r>
              <a:rPr lang="en-US" b="1" dirty="0"/>
              <a:t>Which </a:t>
            </a:r>
            <a:r>
              <a:rPr lang="en-US" b="1" dirty="0" err="1"/>
              <a:t>organisation</a:t>
            </a:r>
            <a:r>
              <a:rPr lang="en-US" b="1" dirty="0"/>
              <a:t> most closely reflects a hard HRM approach?</a:t>
            </a:r>
            <a:endParaRPr dirty="0"/>
          </a:p>
          <a:p>
            <a:pPr marL="0" lvl="0" indent="0" algn="l" rtl="0">
              <a:lnSpc>
                <a:spcPct val="90000"/>
              </a:lnSpc>
              <a:spcBef>
                <a:spcPts val="750"/>
              </a:spcBef>
              <a:spcAft>
                <a:spcPts val="0"/>
              </a:spcAft>
              <a:buClr>
                <a:schemeClr val="dk1"/>
              </a:buClr>
              <a:buSzPts val="2100"/>
              <a:buNone/>
            </a:pPr>
            <a:r>
              <a:rPr lang="en-US" dirty="0"/>
              <a:t>A. </a:t>
            </a:r>
            <a:r>
              <a:rPr lang="en-US" dirty="0" err="1"/>
              <a:t>SwiftServe</a:t>
            </a:r>
            <a:r>
              <a:rPr lang="en-US" dirty="0"/>
              <a:t> Logistics</a:t>
            </a:r>
            <a:br>
              <a:rPr lang="en-US" dirty="0"/>
            </a:br>
            <a:r>
              <a:rPr lang="en-US" dirty="0"/>
              <a:t>B. </a:t>
            </a:r>
            <a:r>
              <a:rPr lang="en-US" dirty="0" err="1"/>
              <a:t>NovaTech</a:t>
            </a:r>
            <a:r>
              <a:rPr lang="en-US" dirty="0"/>
              <a:t> Solutions</a:t>
            </a:r>
            <a:br>
              <a:rPr lang="en-US" dirty="0"/>
            </a:br>
            <a:r>
              <a:rPr lang="en-US" dirty="0"/>
              <a:t>C. Both equally</a:t>
            </a:r>
            <a:br>
              <a:rPr lang="en-US" dirty="0"/>
            </a:br>
            <a:r>
              <a:rPr lang="en-US" dirty="0"/>
              <a:t>D. Neither</a:t>
            </a:r>
            <a:endParaRPr dirty="0"/>
          </a:p>
          <a:p>
            <a:pPr marL="0" lvl="0" indent="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None/>
            </a:pPr>
            <a:r>
              <a:rPr lang="en-US" b="1" dirty="0"/>
              <a:t>What feature most influenced your answer?</a:t>
            </a:r>
            <a:endParaRPr dirty="0"/>
          </a:p>
          <a:p>
            <a:pPr marL="0" lvl="0" indent="0" algn="l" rtl="0">
              <a:lnSpc>
                <a:spcPct val="90000"/>
              </a:lnSpc>
              <a:spcBef>
                <a:spcPts val="750"/>
              </a:spcBef>
              <a:spcAft>
                <a:spcPts val="0"/>
              </a:spcAft>
              <a:buClr>
                <a:schemeClr val="dk1"/>
              </a:buClr>
              <a:buSzPts val="2100"/>
              <a:buNone/>
            </a:pPr>
            <a:r>
              <a:rPr lang="en-US" dirty="0"/>
              <a:t>A. Close performance monitoring</a:t>
            </a:r>
            <a:br>
              <a:rPr lang="en-US" dirty="0"/>
            </a:br>
            <a:r>
              <a:rPr lang="en-US" dirty="0"/>
              <a:t>B. Focus on efficiency and cost</a:t>
            </a:r>
            <a:br>
              <a:rPr lang="en-US" dirty="0"/>
            </a:br>
            <a:r>
              <a:rPr lang="en-US" dirty="0"/>
              <a:t>C. Employee involvement in decisions</a:t>
            </a:r>
            <a:br>
              <a:rPr lang="en-US" dirty="0"/>
            </a:br>
            <a:r>
              <a:rPr lang="en-US" dirty="0"/>
              <a:t>D. Investment in development</a:t>
            </a:r>
            <a:br>
              <a:rPr lang="en-US" dirty="0"/>
            </a:br>
            <a:r>
              <a:rPr lang="en-US" dirty="0"/>
              <a:t>E. Team autonomy</a:t>
            </a:r>
            <a:endParaRPr dirty="0"/>
          </a:p>
          <a:p>
            <a:pPr marL="171450" lvl="0" indent="-38100" algn="l" rtl="0">
              <a:lnSpc>
                <a:spcPct val="90000"/>
              </a:lnSpc>
              <a:spcBef>
                <a:spcPts val="750"/>
              </a:spcBef>
              <a:spcAft>
                <a:spcPts val="0"/>
              </a:spcAft>
              <a:buClr>
                <a:schemeClr val="dk1"/>
              </a:buClr>
              <a:buSzPts val="210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a:t>Example: A large hotel chain</a:t>
            </a:r>
            <a:br>
              <a:rPr lang="en-US"/>
            </a:br>
            <a:endParaRPr/>
          </a:p>
        </p:txBody>
      </p:sp>
      <p:sp>
        <p:nvSpPr>
          <p:cNvPr id="329" name="Google Shape;329;p37"/>
          <p:cNvSpPr txBox="1">
            <a:spLocks noGrp="1"/>
          </p:cNvSpPr>
          <p:nvPr>
            <p:ph type="body" idx="1"/>
          </p:nvPr>
        </p:nvSpPr>
        <p:spPr>
          <a:xfrm>
            <a:off x="628650" y="1340768"/>
            <a:ext cx="7886700" cy="4836195"/>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chemeClr val="dk1"/>
              </a:buClr>
              <a:buSzPts val="2100"/>
              <a:buChar char="•"/>
            </a:pPr>
            <a:r>
              <a:rPr lang="en-US"/>
              <a:t>The organisation employs a wide range of staff. Managers and professional employees are offered permanent contracts, career development opportunities and considerable autonomy over how they organise their work. They are encouraged to contribute ideas and build a long-term career with the company.</a:t>
            </a:r>
            <a:endParaRPr/>
          </a:p>
          <a:p>
            <a:pPr marL="171450" lvl="0" indent="-171450" algn="l" rtl="0">
              <a:lnSpc>
                <a:spcPct val="90000"/>
              </a:lnSpc>
              <a:spcBef>
                <a:spcPts val="750"/>
              </a:spcBef>
              <a:spcAft>
                <a:spcPts val="0"/>
              </a:spcAft>
              <a:buClr>
                <a:schemeClr val="dk1"/>
              </a:buClr>
              <a:buSzPts val="2100"/>
              <a:buChar char="•"/>
            </a:pPr>
            <a:r>
              <a:rPr lang="en-US"/>
              <a:t>By contrast, frontline staff such as housekeeping and food-service workers have more tightly specified tasks, closer performance monitoring and work schedules organised primarily around operational demand. Training focuses mainly on completing tasks efficiently and consistently.</a:t>
            </a:r>
            <a:endParaRPr/>
          </a:p>
          <a:p>
            <a:pPr marL="0" lvl="0" indent="0" algn="l" rtl="0">
              <a:lnSpc>
                <a:spcPct val="90000"/>
              </a:lnSpc>
              <a:spcBef>
                <a:spcPts val="750"/>
              </a:spcBef>
              <a:spcAft>
                <a:spcPts val="0"/>
              </a:spcAft>
              <a:buClr>
                <a:schemeClr val="dk1"/>
              </a:buClr>
              <a:buSzPts val="2100"/>
              <a:buNone/>
            </a:pPr>
            <a:endParaRPr b="1"/>
          </a:p>
          <a:p>
            <a:pPr marL="0" lvl="0" indent="0" algn="l" rtl="0">
              <a:lnSpc>
                <a:spcPct val="90000"/>
              </a:lnSpc>
              <a:spcBef>
                <a:spcPts val="750"/>
              </a:spcBef>
              <a:spcAft>
                <a:spcPts val="0"/>
              </a:spcAft>
              <a:buClr>
                <a:schemeClr val="dk1"/>
              </a:buClr>
              <a:buSzPts val="2100"/>
              <a:buNone/>
            </a:pPr>
            <a:r>
              <a:rPr lang="en-US" b="1"/>
              <a:t>Question:</a:t>
            </a:r>
            <a:br>
              <a:rPr lang="en-US"/>
            </a:br>
            <a:r>
              <a:rPr lang="en-US" b="1"/>
              <a:t>Is this organisation practising hard HRM or soft HRM?</a:t>
            </a:r>
            <a:endParaRPr/>
          </a:p>
          <a:p>
            <a:pPr marL="171450" lvl="0" indent="-3810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4"/>
        <p:cNvGrpSpPr/>
        <p:nvPr/>
      </p:nvGrpSpPr>
      <p:grpSpPr>
        <a:xfrm>
          <a:off x="0" y="0"/>
          <a:ext cx="0" cy="0"/>
          <a:chOff x="0" y="0"/>
          <a:chExt cx="0" cy="0"/>
        </a:xfrm>
      </p:grpSpPr>
      <p:sp>
        <p:nvSpPr>
          <p:cNvPr id="335" name="Google Shape;335;p38"/>
          <p:cNvSpPr/>
          <p:nvPr/>
        </p:nvSpPr>
        <p:spPr>
          <a:xfrm>
            <a:off x="0" y="651752"/>
            <a:ext cx="9144000" cy="73655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38"/>
          <p:cNvSpPr txBox="1">
            <a:spLocks noGrp="1"/>
          </p:cNvSpPr>
          <p:nvPr>
            <p:ph type="title"/>
          </p:nvPr>
        </p:nvSpPr>
        <p:spPr>
          <a:xfrm>
            <a:off x="403902" y="643467"/>
            <a:ext cx="8408193" cy="7448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800"/>
              <a:buFont typeface="Play"/>
              <a:buNone/>
            </a:pPr>
            <a:r>
              <a:rPr lang="en-US" sz="2800" b="1" dirty="0">
                <a:solidFill>
                  <a:schemeClr val="lt1"/>
                </a:solidFill>
                <a:latin typeface="Play"/>
                <a:ea typeface="Play"/>
                <a:cs typeface="Play"/>
                <a:sym typeface="Play"/>
              </a:rPr>
              <a:t>What’s really happening inside </a:t>
            </a:r>
            <a:r>
              <a:rPr lang="en-US" sz="2800" b="1" dirty="0" err="1">
                <a:solidFill>
                  <a:schemeClr val="lt1"/>
                </a:solidFill>
                <a:latin typeface="Play"/>
                <a:ea typeface="Play"/>
                <a:cs typeface="Play"/>
                <a:sym typeface="Play"/>
              </a:rPr>
              <a:t>organisations</a:t>
            </a:r>
            <a:r>
              <a:rPr lang="en-US" sz="2800" b="1" dirty="0">
                <a:solidFill>
                  <a:schemeClr val="lt1"/>
                </a:solidFill>
                <a:latin typeface="Play"/>
                <a:ea typeface="Play"/>
                <a:cs typeface="Play"/>
                <a:sym typeface="Play"/>
              </a:rPr>
              <a:t>?</a:t>
            </a:r>
            <a:endParaRPr dirty="0"/>
          </a:p>
        </p:txBody>
      </p:sp>
      <p:graphicFrame>
        <p:nvGraphicFramePr>
          <p:cNvPr id="337" name="Google Shape;337;p38" descr="Table showing the key differences the working conditions and approaches taken in organisations to manager and professional staff, compared with frontline staff.  "/>
          <p:cNvGraphicFramePr/>
          <p:nvPr>
            <p:extLst>
              <p:ext uri="{D42A27DB-BD31-4B8C-83A1-F6EECF244321}">
                <p14:modId xmlns:p14="http://schemas.microsoft.com/office/powerpoint/2010/main" val="2981611281"/>
              </p:ext>
            </p:extLst>
          </p:nvPr>
        </p:nvGraphicFramePr>
        <p:xfrm>
          <a:off x="179512" y="1675226"/>
          <a:ext cx="8856975" cy="5046950"/>
        </p:xfrm>
        <a:graphic>
          <a:graphicData uri="http://schemas.openxmlformats.org/drawingml/2006/table">
            <a:tbl>
              <a:tblPr firstRow="1">
                <a:tableStyleId>{DE131820-335C-4AD0-8DB9-1C2BE914CE66}</a:tableStyleId>
              </a:tblPr>
              <a:tblGrid>
                <a:gridCol w="4535625">
                  <a:extLst>
                    <a:ext uri="{9D8B030D-6E8A-4147-A177-3AD203B41FA5}">
                      <a16:colId xmlns:a16="http://schemas.microsoft.com/office/drawing/2014/main" val="20000"/>
                    </a:ext>
                  </a:extLst>
                </a:gridCol>
                <a:gridCol w="4321350">
                  <a:extLst>
                    <a:ext uri="{9D8B030D-6E8A-4147-A177-3AD203B41FA5}">
                      <a16:colId xmlns:a16="http://schemas.microsoft.com/office/drawing/2014/main" val="20001"/>
                    </a:ext>
                  </a:extLst>
                </a:gridCol>
              </a:tblGrid>
              <a:tr h="622025">
                <a:tc>
                  <a:txBody>
                    <a:bodyPr/>
                    <a:lstStyle/>
                    <a:p>
                      <a:pPr marL="0" marR="0" lvl="0" indent="0" algn="l" rtl="0">
                        <a:spcBef>
                          <a:spcPts val="0"/>
                        </a:spcBef>
                        <a:spcAft>
                          <a:spcPts val="0"/>
                        </a:spcAft>
                        <a:buClr>
                          <a:schemeClr val="dk1"/>
                        </a:buClr>
                        <a:buSzPts val="2000"/>
                        <a:buFont typeface="Arial"/>
                        <a:buNone/>
                      </a:pPr>
                      <a:r>
                        <a:rPr lang="en-US" sz="2000" b="1" u="none" strike="noStrike" cap="none" dirty="0">
                          <a:solidFill>
                            <a:schemeClr val="bg1"/>
                          </a:solidFill>
                        </a:rPr>
                        <a:t>Managers &amp; Professional Staff</a:t>
                      </a:r>
                      <a:endParaRPr dirty="0">
                        <a:solidFill>
                          <a:schemeClr val="bg1"/>
                        </a:solidFill>
                      </a:endParaRPr>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b="1" u="none" strike="noStrike" cap="none" dirty="0">
                          <a:solidFill>
                            <a:schemeClr val="bg1"/>
                          </a:solidFill>
                        </a:rPr>
                        <a:t>Frontline Service Staff</a:t>
                      </a:r>
                      <a:endParaRPr dirty="0">
                        <a:solidFill>
                          <a:schemeClr val="bg1"/>
                        </a:solidFill>
                      </a:endParaRPr>
                    </a:p>
                  </a:txBody>
                  <a:tcPr marL="151400" marR="116450" marT="116450" marB="116450" anchor="ctr"/>
                </a:tc>
                <a:extLst>
                  <a:ext uri="{0D108BD9-81ED-4DB2-BD59-A6C34878D82A}">
                    <a16:rowId xmlns:a16="http://schemas.microsoft.com/office/drawing/2014/main" val="10000"/>
                  </a:ext>
                </a:extLst>
              </a:tr>
              <a:tr h="950725">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Permanent contracts</a:t>
                      </a:r>
                      <a:endParaRPr/>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u="none" strike="noStrike" cap="none" dirty="0">
                          <a:solidFill>
                            <a:schemeClr val="dk1"/>
                          </a:solidFill>
                        </a:rPr>
                        <a:t>More variable or tightly scheduled hours</a:t>
                      </a:r>
                      <a:endParaRPr dirty="0"/>
                    </a:p>
                  </a:txBody>
                  <a:tcPr marL="151400" marR="116450" marT="116450" marB="116450" anchor="ctr"/>
                </a:tc>
                <a:extLst>
                  <a:ext uri="{0D108BD9-81ED-4DB2-BD59-A6C34878D82A}">
                    <a16:rowId xmlns:a16="http://schemas.microsoft.com/office/drawing/2014/main" val="10001"/>
                  </a:ext>
                </a:extLst>
              </a:tr>
              <a:tr h="950725">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Career development opportunities</a:t>
                      </a:r>
                      <a:endParaRPr/>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Training focused mainly on task performance</a:t>
                      </a:r>
                      <a:endParaRPr/>
                    </a:p>
                  </a:txBody>
                  <a:tcPr marL="151400" marR="116450" marT="116450" marB="116450" anchor="ctr"/>
                </a:tc>
                <a:extLst>
                  <a:ext uri="{0D108BD9-81ED-4DB2-BD59-A6C34878D82A}">
                    <a16:rowId xmlns:a16="http://schemas.microsoft.com/office/drawing/2014/main" val="10002"/>
                  </a:ext>
                </a:extLst>
              </a:tr>
              <a:tr h="950725">
                <a:tc>
                  <a:txBody>
                    <a:bodyPr/>
                    <a:lstStyle/>
                    <a:p>
                      <a:pPr marL="0" marR="0" lvl="0" indent="0" algn="l" rtl="0">
                        <a:spcBef>
                          <a:spcPts val="0"/>
                        </a:spcBef>
                        <a:spcAft>
                          <a:spcPts val="0"/>
                        </a:spcAft>
                        <a:buClr>
                          <a:schemeClr val="dk1"/>
                        </a:buClr>
                        <a:buSzPts val="2000"/>
                        <a:buFont typeface="Arial"/>
                        <a:buNone/>
                      </a:pPr>
                      <a:r>
                        <a:rPr lang="en-US" sz="2000" u="none" strike="noStrike" cap="none" dirty="0">
                          <a:solidFill>
                            <a:schemeClr val="dk1"/>
                          </a:solidFill>
                        </a:rPr>
                        <a:t>Greater autonomy over how work is </a:t>
                      </a:r>
                      <a:r>
                        <a:rPr lang="en-US" sz="2000" u="none" strike="noStrike" cap="none" dirty="0" err="1">
                          <a:solidFill>
                            <a:schemeClr val="dk1"/>
                          </a:solidFill>
                        </a:rPr>
                        <a:t>organised</a:t>
                      </a:r>
                      <a:endParaRPr dirty="0"/>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Closely specified tasks and procedures</a:t>
                      </a:r>
                      <a:endParaRPr/>
                    </a:p>
                  </a:txBody>
                  <a:tcPr marL="151400" marR="116450" marT="116450" marB="116450" anchor="ctr"/>
                </a:tc>
                <a:extLst>
                  <a:ext uri="{0D108BD9-81ED-4DB2-BD59-A6C34878D82A}">
                    <a16:rowId xmlns:a16="http://schemas.microsoft.com/office/drawing/2014/main" val="10003"/>
                  </a:ext>
                </a:extLst>
              </a:tr>
              <a:tr h="622025">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Encouraged to contribute ideas</a:t>
                      </a:r>
                      <a:endParaRPr/>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u="none" strike="noStrike" cap="none">
                          <a:solidFill>
                            <a:schemeClr val="dk1"/>
                          </a:solidFill>
                        </a:rPr>
                        <a:t>Performance closely monitored</a:t>
                      </a:r>
                      <a:endParaRPr/>
                    </a:p>
                  </a:txBody>
                  <a:tcPr marL="151400" marR="116450" marT="116450" marB="116450" anchor="ctr"/>
                </a:tc>
                <a:extLst>
                  <a:ext uri="{0D108BD9-81ED-4DB2-BD59-A6C34878D82A}">
                    <a16:rowId xmlns:a16="http://schemas.microsoft.com/office/drawing/2014/main" val="10004"/>
                  </a:ext>
                </a:extLst>
              </a:tr>
              <a:tr h="950725">
                <a:tc>
                  <a:txBody>
                    <a:bodyPr/>
                    <a:lstStyle/>
                    <a:p>
                      <a:pPr marL="0" marR="0" lvl="0" indent="0" algn="l" rtl="0">
                        <a:spcBef>
                          <a:spcPts val="0"/>
                        </a:spcBef>
                        <a:spcAft>
                          <a:spcPts val="0"/>
                        </a:spcAft>
                        <a:buClr>
                          <a:schemeClr val="dk1"/>
                        </a:buClr>
                        <a:buSzPts val="2000"/>
                        <a:buFont typeface="Arial"/>
                        <a:buNone/>
                      </a:pPr>
                      <a:r>
                        <a:rPr lang="en-US" sz="2000" u="none" strike="noStrike" cap="none" dirty="0">
                          <a:solidFill>
                            <a:schemeClr val="dk1"/>
                          </a:solidFill>
                        </a:rPr>
                        <a:t>Focus on engagement and long-term retention</a:t>
                      </a:r>
                      <a:endParaRPr dirty="0"/>
                    </a:p>
                  </a:txBody>
                  <a:tcPr marL="151400" marR="116450" marT="116450" marB="116450" anchor="ctr"/>
                </a:tc>
                <a:tc>
                  <a:txBody>
                    <a:bodyPr/>
                    <a:lstStyle/>
                    <a:p>
                      <a:pPr marL="0" marR="0" lvl="0" indent="0" algn="l" rtl="0">
                        <a:spcBef>
                          <a:spcPts val="0"/>
                        </a:spcBef>
                        <a:spcAft>
                          <a:spcPts val="0"/>
                        </a:spcAft>
                        <a:buClr>
                          <a:schemeClr val="dk1"/>
                        </a:buClr>
                        <a:buSzPts val="2000"/>
                        <a:buFont typeface="Arial"/>
                        <a:buNone/>
                      </a:pPr>
                      <a:r>
                        <a:rPr lang="en-US" sz="2000" u="none" strike="noStrike" cap="none" dirty="0">
                          <a:solidFill>
                            <a:schemeClr val="dk1"/>
                          </a:solidFill>
                        </a:rPr>
                        <a:t>Strong focus on efficiency and staffing costs</a:t>
                      </a:r>
                      <a:endParaRPr dirty="0"/>
                    </a:p>
                  </a:txBody>
                  <a:tcPr marL="151400" marR="116450" marT="116450" marB="11645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1"/>
        <p:cNvGrpSpPr/>
        <p:nvPr/>
      </p:nvGrpSpPr>
      <p:grpSpPr>
        <a:xfrm>
          <a:off x="0" y="0"/>
          <a:ext cx="0" cy="0"/>
          <a:chOff x="0" y="0"/>
          <a:chExt cx="0" cy="0"/>
        </a:xfrm>
      </p:grpSpPr>
      <p:sp>
        <p:nvSpPr>
          <p:cNvPr id="342" name="Google Shape;342;p39"/>
          <p:cNvSpPr/>
          <p:nvPr/>
        </p:nvSpPr>
        <p:spPr>
          <a:xfrm>
            <a:off x="2286" y="0"/>
            <a:ext cx="9141714"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3" name="Google Shape;343;p39"/>
          <p:cNvSpPr/>
          <p:nvPr/>
        </p:nvSpPr>
        <p:spPr>
          <a:xfrm>
            <a:off x="0" y="0"/>
            <a:ext cx="3125454"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4" name="Google Shape;344;p39"/>
          <p:cNvSpPr txBox="1">
            <a:spLocks noGrp="1"/>
          </p:cNvSpPr>
          <p:nvPr>
            <p:ph type="title"/>
          </p:nvPr>
        </p:nvSpPr>
        <p:spPr>
          <a:xfrm>
            <a:off x="515125" y="1153572"/>
            <a:ext cx="24003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300"/>
              <a:buFont typeface="Play"/>
              <a:buNone/>
            </a:pPr>
            <a:r>
              <a:rPr lang="en-US" b="1">
                <a:solidFill>
                  <a:srgbClr val="FFFFFF"/>
                </a:solidFill>
              </a:rPr>
              <a:t>Key point</a:t>
            </a:r>
            <a:endParaRPr b="1">
              <a:solidFill>
                <a:srgbClr val="FFFFFF"/>
              </a:solidFill>
            </a:endParaRPr>
          </a:p>
        </p:txBody>
      </p:sp>
      <p:sp>
        <p:nvSpPr>
          <p:cNvPr id="345" name="Google Shape;345;p39"/>
          <p:cNvSpPr/>
          <p:nvPr/>
        </p:nvSpPr>
        <p:spPr>
          <a:xfrm rot="10800000" flipH="1">
            <a:off x="5662801" y="2455479"/>
            <a:ext cx="3062575" cy="4083433"/>
          </a:xfrm>
          <a:prstGeom prst="arc">
            <a:avLst>
              <a:gd name="adj1" fmla="val 16200000"/>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46" name="Google Shape;346;p39"/>
          <p:cNvSpPr txBox="1">
            <a:spLocks noGrp="1"/>
          </p:cNvSpPr>
          <p:nvPr>
            <p:ph type="body" idx="1"/>
          </p:nvPr>
        </p:nvSpPr>
        <p:spPr>
          <a:xfrm>
            <a:off x="3335481" y="591344"/>
            <a:ext cx="5179868" cy="5585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None/>
            </a:pPr>
            <a:br>
              <a:rPr lang="en-US" sz="2800"/>
            </a:br>
            <a:r>
              <a:rPr lang="en-US" sz="2800" b="1"/>
              <a:t>Both. Organisations may use different HR approaches for different groups of employees.</a:t>
            </a:r>
            <a:endParaRPr/>
          </a:p>
          <a:p>
            <a:pPr marL="171450" lvl="0" indent="0" algn="l" rtl="0">
              <a:lnSpc>
                <a:spcPct val="90000"/>
              </a:lnSpc>
              <a:spcBef>
                <a:spcPts val="750"/>
              </a:spcBef>
              <a:spcAft>
                <a:spcPts val="0"/>
              </a:spcAft>
              <a:buClr>
                <a:schemeClr val="dk1"/>
              </a:buClr>
              <a:buSzPts val="2800"/>
              <a:buNone/>
            </a:pPr>
            <a:endParaRPr sz="2800" b="1"/>
          </a:p>
          <a:p>
            <a:pPr marL="0" lvl="0" indent="0" algn="l" rtl="0">
              <a:lnSpc>
                <a:spcPct val="90000"/>
              </a:lnSpc>
              <a:spcBef>
                <a:spcPts val="750"/>
              </a:spcBef>
              <a:spcAft>
                <a:spcPts val="0"/>
              </a:spcAft>
              <a:buClr>
                <a:schemeClr val="dk1"/>
              </a:buClr>
              <a:buSzPts val="2800"/>
              <a:buNone/>
            </a:pPr>
            <a:r>
              <a:rPr lang="en-US" sz="2800" b="1"/>
              <a:t>Why might organisations manage different groups of employees differently?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0"/>
          <p:cNvSpPr txBox="1">
            <a:spLocks noGrp="1"/>
          </p:cNvSpPr>
          <p:nvPr>
            <p:ph type="title"/>
          </p:nvPr>
        </p:nvSpPr>
        <p:spPr>
          <a:xfrm>
            <a:off x="628650" y="116632"/>
            <a:ext cx="7886700" cy="93610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b="1"/>
              <a:t>HRM also has to make organisations work</a:t>
            </a:r>
            <a:br>
              <a:rPr lang="en-US" b="1"/>
            </a:br>
            <a:endParaRPr/>
          </a:p>
        </p:txBody>
      </p:sp>
      <p:sp>
        <p:nvSpPr>
          <p:cNvPr id="353" name="Google Shape;353;p40"/>
          <p:cNvSpPr txBox="1">
            <a:spLocks noGrp="1"/>
          </p:cNvSpPr>
          <p:nvPr>
            <p:ph type="body" idx="1"/>
          </p:nvPr>
        </p:nvSpPr>
        <p:spPr>
          <a:xfrm>
            <a:off x="215516" y="908720"/>
            <a:ext cx="8712968" cy="594928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400" b="1"/>
              <a:t>People management is not only about motivation and engagement. It also involves essential organisational functions.</a:t>
            </a:r>
            <a:endParaRPr sz="2400"/>
          </a:p>
          <a:p>
            <a:pPr marL="0" lvl="0" indent="0" algn="l" rtl="0">
              <a:lnSpc>
                <a:spcPct val="90000"/>
              </a:lnSpc>
              <a:spcBef>
                <a:spcPts val="750"/>
              </a:spcBef>
              <a:spcAft>
                <a:spcPts val="0"/>
              </a:spcAft>
              <a:buClr>
                <a:schemeClr val="dk1"/>
              </a:buClr>
              <a:buSzPct val="100000"/>
              <a:buNone/>
            </a:pPr>
            <a:r>
              <a:rPr lang="en-US" sz="2400" b="1"/>
              <a:t>Administration</a:t>
            </a:r>
            <a:endParaRPr sz="2400"/>
          </a:p>
          <a:p>
            <a:pPr marL="171450" lvl="0" indent="-171450" algn="l" rtl="0">
              <a:lnSpc>
                <a:spcPct val="90000"/>
              </a:lnSpc>
              <a:spcBef>
                <a:spcPts val="750"/>
              </a:spcBef>
              <a:spcAft>
                <a:spcPts val="0"/>
              </a:spcAft>
              <a:buClr>
                <a:schemeClr val="dk1"/>
              </a:buClr>
              <a:buSzPct val="100000"/>
              <a:buChar char="•"/>
            </a:pPr>
            <a:r>
              <a:rPr lang="en-US" sz="2400"/>
              <a:t>Paying employees accurately and on time </a:t>
            </a:r>
            <a:endParaRPr/>
          </a:p>
          <a:p>
            <a:pPr marL="171450" lvl="0" indent="-171450" algn="l" rtl="0">
              <a:lnSpc>
                <a:spcPct val="90000"/>
              </a:lnSpc>
              <a:spcBef>
                <a:spcPts val="750"/>
              </a:spcBef>
              <a:spcAft>
                <a:spcPts val="0"/>
              </a:spcAft>
              <a:buClr>
                <a:schemeClr val="dk1"/>
              </a:buClr>
              <a:buSzPct val="100000"/>
              <a:buChar char="•"/>
            </a:pPr>
            <a:r>
              <a:rPr lang="en-US" sz="2400"/>
              <a:t>Maintaining employee records </a:t>
            </a:r>
            <a:endParaRPr/>
          </a:p>
          <a:p>
            <a:pPr marL="171450" lvl="0" indent="-171450" algn="l" rtl="0">
              <a:lnSpc>
                <a:spcPct val="90000"/>
              </a:lnSpc>
              <a:spcBef>
                <a:spcPts val="750"/>
              </a:spcBef>
              <a:spcAft>
                <a:spcPts val="0"/>
              </a:spcAft>
              <a:buClr>
                <a:schemeClr val="dk1"/>
              </a:buClr>
              <a:buSzPct val="100000"/>
              <a:buChar char="•"/>
            </a:pPr>
            <a:r>
              <a:rPr lang="en-US" sz="2400"/>
              <a:t>Applying organisational policies and procedures </a:t>
            </a:r>
            <a:endParaRPr/>
          </a:p>
          <a:p>
            <a:pPr marL="171450" lvl="0" indent="-171450" algn="l" rtl="0">
              <a:lnSpc>
                <a:spcPct val="90000"/>
              </a:lnSpc>
              <a:spcBef>
                <a:spcPts val="750"/>
              </a:spcBef>
              <a:spcAft>
                <a:spcPts val="0"/>
              </a:spcAft>
              <a:buClr>
                <a:schemeClr val="dk1"/>
              </a:buClr>
              <a:buSzPct val="100000"/>
              <a:buChar char="•"/>
            </a:pPr>
            <a:r>
              <a:rPr lang="en-US" sz="2400"/>
              <a:t>Managing contracts, absence and working arrangements </a:t>
            </a:r>
            <a:endParaRPr/>
          </a:p>
          <a:p>
            <a:pPr marL="0" lvl="0" indent="0" algn="l" rtl="0">
              <a:lnSpc>
                <a:spcPct val="90000"/>
              </a:lnSpc>
              <a:spcBef>
                <a:spcPts val="750"/>
              </a:spcBef>
              <a:spcAft>
                <a:spcPts val="0"/>
              </a:spcAft>
              <a:buClr>
                <a:schemeClr val="dk1"/>
              </a:buClr>
              <a:buSzPct val="100000"/>
              <a:buNone/>
            </a:pPr>
            <a:r>
              <a:rPr lang="en-US" sz="2400" b="1"/>
              <a:t>Legal compliance</a:t>
            </a:r>
            <a:endParaRPr sz="2400"/>
          </a:p>
          <a:p>
            <a:pPr marL="171450" lvl="0" indent="-171450" algn="l" rtl="0">
              <a:lnSpc>
                <a:spcPct val="90000"/>
              </a:lnSpc>
              <a:spcBef>
                <a:spcPts val="750"/>
              </a:spcBef>
              <a:spcAft>
                <a:spcPts val="0"/>
              </a:spcAft>
              <a:buClr>
                <a:schemeClr val="dk1"/>
              </a:buClr>
              <a:buSzPct val="100000"/>
              <a:buChar char="•"/>
            </a:pPr>
            <a:r>
              <a:rPr lang="en-US" sz="2400"/>
              <a:t>Ensuring employment practices comply with relevant laws and regulations </a:t>
            </a:r>
            <a:endParaRPr/>
          </a:p>
          <a:p>
            <a:pPr marL="171450" lvl="0" indent="-171450" algn="l" rtl="0">
              <a:lnSpc>
                <a:spcPct val="90000"/>
              </a:lnSpc>
              <a:spcBef>
                <a:spcPts val="750"/>
              </a:spcBef>
              <a:spcAft>
                <a:spcPts val="0"/>
              </a:spcAft>
              <a:buClr>
                <a:schemeClr val="dk1"/>
              </a:buClr>
              <a:buSzPct val="100000"/>
              <a:buChar char="•"/>
            </a:pPr>
            <a:r>
              <a:rPr lang="en-US" sz="2400"/>
              <a:t>Supporting fair and consistent treatment </a:t>
            </a:r>
            <a:endParaRPr/>
          </a:p>
          <a:p>
            <a:pPr marL="171450" lvl="0" indent="-171450" algn="l" rtl="0">
              <a:lnSpc>
                <a:spcPct val="90000"/>
              </a:lnSpc>
              <a:spcBef>
                <a:spcPts val="750"/>
              </a:spcBef>
              <a:spcAft>
                <a:spcPts val="0"/>
              </a:spcAft>
              <a:buClr>
                <a:schemeClr val="dk1"/>
              </a:buClr>
              <a:buSzPct val="100000"/>
              <a:buChar char="•"/>
            </a:pPr>
            <a:r>
              <a:rPr lang="en-US" sz="2400"/>
              <a:t>Recognising that employment regulation varies across countries and sectors </a:t>
            </a:r>
            <a:endParaRPr/>
          </a:p>
          <a:p>
            <a:pPr marL="171450" lvl="0" indent="-30480" algn="l" rtl="0">
              <a:lnSpc>
                <a:spcPct val="90000"/>
              </a:lnSpc>
              <a:spcBef>
                <a:spcPts val="750"/>
              </a:spcBef>
              <a:spcAft>
                <a:spcPts val="0"/>
              </a:spcAft>
              <a:buClr>
                <a:schemeClr val="dk1"/>
              </a:buClr>
              <a:buSzPct val="100000"/>
              <a:buNone/>
            </a:pPr>
            <a:endParaRPr sz="2400"/>
          </a:p>
          <a:p>
            <a:pPr marL="0" lvl="0" indent="0" algn="l" rtl="0">
              <a:lnSpc>
                <a:spcPct val="90000"/>
              </a:lnSpc>
              <a:spcBef>
                <a:spcPts val="750"/>
              </a:spcBef>
              <a:spcAft>
                <a:spcPts val="0"/>
              </a:spcAft>
              <a:buClr>
                <a:schemeClr val="accent1"/>
              </a:buClr>
              <a:buSzPct val="100000"/>
              <a:buNone/>
            </a:pPr>
            <a:r>
              <a:rPr lang="en-US" sz="2400" b="1">
                <a:solidFill>
                  <a:schemeClr val="accent1"/>
                </a:solidFill>
              </a:rPr>
              <a:t>Key point:</a:t>
            </a:r>
            <a:br>
              <a:rPr lang="en-US" sz="2400"/>
            </a:br>
            <a:r>
              <a:rPr lang="en-US" sz="2400" b="1">
                <a:solidFill>
                  <a:schemeClr val="accent1"/>
                </a:solidFill>
              </a:rPr>
              <a:t>Some HR activities are strategic; others are essential to the everyday functioning of the organisation.</a:t>
            </a:r>
            <a:endParaRPr sz="2400">
              <a:solidFill>
                <a:schemeClr val="accent1"/>
              </a:solidFill>
            </a:endParaRPr>
          </a:p>
          <a:p>
            <a:pPr marL="171450" lvl="0" indent="-48133" algn="l" rtl="0">
              <a:lnSpc>
                <a:spcPct val="90000"/>
              </a:lnSpc>
              <a:spcBef>
                <a:spcPts val="750"/>
              </a:spcBef>
              <a:spcAft>
                <a:spcPts val="0"/>
              </a:spcAft>
              <a:buClr>
                <a:schemeClr val="dk1"/>
              </a:buClr>
              <a:buSzPct val="1000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HRM involves competing priorities</a:t>
            </a:r>
            <a:endParaRPr/>
          </a:p>
        </p:txBody>
      </p:sp>
      <p:graphicFrame>
        <p:nvGraphicFramePr>
          <p:cNvPr id="360" name="Google Shape;360;p41" descr="Small table showing some of the key competing priorities that HRM involves"/>
          <p:cNvGraphicFramePr/>
          <p:nvPr>
            <p:extLst>
              <p:ext uri="{D42A27DB-BD31-4B8C-83A1-F6EECF244321}">
                <p14:modId xmlns:p14="http://schemas.microsoft.com/office/powerpoint/2010/main" val="3918077646"/>
              </p:ext>
            </p:extLst>
          </p:nvPr>
        </p:nvGraphicFramePr>
        <p:xfrm>
          <a:off x="659947" y="2132856"/>
          <a:ext cx="7886700" cy="1968200"/>
        </p:xfrm>
        <a:graphic>
          <a:graphicData uri="http://schemas.openxmlformats.org/drawingml/2006/table">
            <a:tbl>
              <a:tblPr>
                <a:noFill/>
                <a:tableStyleId>{DE131820-335C-4AD0-8DB9-1C2BE914CE66}</a:tableStyleId>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984100">
                <a:tc>
                  <a:txBody>
                    <a:bodyPr/>
                    <a:lstStyle/>
                    <a:p>
                      <a:pPr marL="0" marR="0" lvl="0" indent="0" algn="l" rtl="0">
                        <a:spcBef>
                          <a:spcPts val="0"/>
                        </a:spcBef>
                        <a:spcAft>
                          <a:spcPts val="0"/>
                        </a:spcAft>
                        <a:buClr>
                          <a:schemeClr val="dk1"/>
                        </a:buClr>
                        <a:buSzPts val="2400"/>
                        <a:buFont typeface="Arial"/>
                        <a:buNone/>
                      </a:pPr>
                      <a:r>
                        <a:rPr lang="en-US" sz="2400" u="none" strike="noStrike" cap="none"/>
                        <a:t>Control ↔ Employee autonomy</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2400"/>
                        <a:buFont typeface="Arial"/>
                        <a:buNone/>
                      </a:pPr>
                      <a:r>
                        <a:rPr lang="en-US" sz="2400" u="none" strike="noStrike" cap="none"/>
                        <a:t>Efficiency &amp; cost ↔ Development &amp; wellbeing</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84100">
                <a:tc>
                  <a:txBody>
                    <a:bodyPr/>
                    <a:lstStyle/>
                    <a:p>
                      <a:pPr marL="0" marR="0" lvl="0" indent="0" algn="l" rtl="0">
                        <a:spcBef>
                          <a:spcPts val="0"/>
                        </a:spcBef>
                        <a:spcAft>
                          <a:spcPts val="0"/>
                        </a:spcAft>
                        <a:buClr>
                          <a:schemeClr val="dk1"/>
                        </a:buClr>
                        <a:buSzPts val="2400"/>
                        <a:buFont typeface="Arial"/>
                        <a:buNone/>
                      </a:pPr>
                      <a:r>
                        <a:rPr lang="en-US" sz="2400" u="none" strike="noStrike" cap="none"/>
                        <a:t>Organisational goals ↔ Employee interests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2400"/>
                        <a:buFont typeface="Arial"/>
                        <a:buNone/>
                      </a:pPr>
                      <a:r>
                        <a:rPr lang="en-US" sz="2400" u="none" strike="noStrike" cap="none" dirty="0"/>
                        <a:t>Consistency ↔ Adapting to context</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61" name="Google Shape;361;p41"/>
          <p:cNvSpPr txBox="1"/>
          <p:nvPr/>
        </p:nvSpPr>
        <p:spPr>
          <a:xfrm>
            <a:off x="659947" y="4653136"/>
            <a:ext cx="8208912"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Arial"/>
                <a:ea typeface="Arial"/>
                <a:cs typeface="Arial"/>
                <a:sym typeface="Arial"/>
              </a:rPr>
              <a:t>HRM therefore involves choices, tensions and trade-offs. Tere is rarely one universally ‘best’ way to manage people.</a:t>
            </a:r>
            <a:endParaRPr dirty="0"/>
          </a:p>
        </p:txBody>
      </p:sp>
      <p:sp>
        <p:nvSpPr>
          <p:cNvPr id="2" name="TextBox 1">
            <a:extLst>
              <a:ext uri="{FF2B5EF4-FFF2-40B4-BE49-F238E27FC236}">
                <a16:creationId xmlns:a16="http://schemas.microsoft.com/office/drawing/2014/main" id="{6AB72433-2EF9-58A6-AA3B-E6DB1239A399}"/>
              </a:ext>
            </a:extLst>
          </p:cNvPr>
          <p:cNvSpPr txBox="1"/>
          <p:nvPr/>
        </p:nvSpPr>
        <p:spPr>
          <a:xfrm>
            <a:off x="628650" y="1778000"/>
            <a:ext cx="7855403" cy="307777"/>
          </a:xfrm>
          <a:prstGeom prst="rect">
            <a:avLst/>
          </a:prstGeom>
          <a:noFill/>
        </p:spPr>
        <p:txBody>
          <a:bodyPr wrap="square" rtlCol="0">
            <a:spAutoFit/>
          </a:bodyPr>
          <a:lstStyle/>
          <a:p>
            <a:r>
              <a:rPr lang="en-GB" b="1" dirty="0"/>
              <a:t>Table: of competing priorities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2"/>
          <p:cNvSpPr txBox="1">
            <a:spLocks noGrp="1"/>
          </p:cNvSpPr>
          <p:nvPr>
            <p:ph type="title"/>
          </p:nvPr>
        </p:nvSpPr>
        <p:spPr>
          <a:xfrm>
            <a:off x="542050" y="191950"/>
            <a:ext cx="8398500" cy="825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sz="2400" b="1"/>
              <a:t>Can organisations both value and control employees?</a:t>
            </a:r>
            <a:endParaRPr sz="2400"/>
          </a:p>
        </p:txBody>
      </p:sp>
      <p:sp>
        <p:nvSpPr>
          <p:cNvPr id="368" name="Google Shape;368;p42"/>
          <p:cNvSpPr txBox="1">
            <a:spLocks noGrp="1"/>
          </p:cNvSpPr>
          <p:nvPr>
            <p:ph type="body" idx="1"/>
          </p:nvPr>
        </p:nvSpPr>
        <p:spPr>
          <a:xfrm>
            <a:off x="259775" y="1017550"/>
            <a:ext cx="8255700" cy="56934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90000"/>
              </a:lnSpc>
              <a:spcBef>
                <a:spcPts val="0"/>
              </a:spcBef>
              <a:spcAft>
                <a:spcPts val="0"/>
              </a:spcAft>
              <a:buClr>
                <a:schemeClr val="dk1"/>
              </a:buClr>
              <a:buSzPct val="75049"/>
              <a:buNone/>
            </a:pPr>
            <a:r>
              <a:rPr lang="en-US" sz="2798" b="1"/>
              <a:t>Investment &amp; Support</a:t>
            </a:r>
            <a:endParaRPr sz="2798"/>
          </a:p>
          <a:p>
            <a:pPr marL="171450" lvl="0" indent="-195808" algn="l" rtl="0">
              <a:lnSpc>
                <a:spcPct val="90000"/>
              </a:lnSpc>
              <a:spcBef>
                <a:spcPts val="750"/>
              </a:spcBef>
              <a:spcAft>
                <a:spcPts val="0"/>
              </a:spcAft>
              <a:buClr>
                <a:schemeClr val="dk1"/>
              </a:buClr>
              <a:buSzPct val="100000"/>
              <a:buChar char="•"/>
            </a:pPr>
            <a:r>
              <a:rPr lang="en-US" sz="2798"/>
              <a:t>Training and development </a:t>
            </a:r>
            <a:endParaRPr sz="2798"/>
          </a:p>
          <a:p>
            <a:pPr marL="171450" lvl="0" indent="-195808" algn="l" rtl="0">
              <a:lnSpc>
                <a:spcPct val="90000"/>
              </a:lnSpc>
              <a:spcBef>
                <a:spcPts val="750"/>
              </a:spcBef>
              <a:spcAft>
                <a:spcPts val="0"/>
              </a:spcAft>
              <a:buClr>
                <a:schemeClr val="dk1"/>
              </a:buClr>
              <a:buSzPct val="100000"/>
              <a:buChar char="•"/>
            </a:pPr>
            <a:r>
              <a:rPr lang="en-US" sz="2798"/>
              <a:t>Career opportunities </a:t>
            </a:r>
            <a:endParaRPr sz="2798"/>
          </a:p>
          <a:p>
            <a:pPr marL="171450" lvl="0" indent="-195808" algn="l" rtl="0">
              <a:lnSpc>
                <a:spcPct val="90000"/>
              </a:lnSpc>
              <a:spcBef>
                <a:spcPts val="750"/>
              </a:spcBef>
              <a:spcAft>
                <a:spcPts val="0"/>
              </a:spcAft>
              <a:buClr>
                <a:schemeClr val="dk1"/>
              </a:buClr>
              <a:buSzPct val="100000"/>
              <a:buChar char="•"/>
            </a:pPr>
            <a:r>
              <a:rPr lang="en-US" sz="2798"/>
              <a:t>Employee involvement </a:t>
            </a:r>
            <a:endParaRPr sz="2798"/>
          </a:p>
          <a:p>
            <a:pPr marL="171450" lvl="0" indent="-195808" algn="l" rtl="0">
              <a:lnSpc>
                <a:spcPct val="90000"/>
              </a:lnSpc>
              <a:spcBef>
                <a:spcPts val="750"/>
              </a:spcBef>
              <a:spcAft>
                <a:spcPts val="0"/>
              </a:spcAft>
              <a:buClr>
                <a:schemeClr val="dk1"/>
              </a:buClr>
              <a:buSzPct val="100000"/>
              <a:buChar char="•"/>
            </a:pPr>
            <a:r>
              <a:rPr lang="en-US" sz="2798"/>
              <a:t>Wellbeing initiatives </a:t>
            </a:r>
            <a:endParaRPr sz="2798"/>
          </a:p>
          <a:p>
            <a:pPr marL="0" lvl="0" indent="0" algn="l" rtl="0">
              <a:lnSpc>
                <a:spcPct val="90000"/>
              </a:lnSpc>
              <a:spcBef>
                <a:spcPts val="750"/>
              </a:spcBef>
              <a:spcAft>
                <a:spcPts val="0"/>
              </a:spcAft>
              <a:buClr>
                <a:schemeClr val="dk1"/>
              </a:buClr>
              <a:buSzPct val="75049"/>
              <a:buNone/>
            </a:pPr>
            <a:endParaRPr sz="2798" b="1"/>
          </a:p>
          <a:p>
            <a:pPr marL="0" lvl="0" indent="0" algn="l" rtl="0">
              <a:lnSpc>
                <a:spcPct val="90000"/>
              </a:lnSpc>
              <a:spcBef>
                <a:spcPts val="750"/>
              </a:spcBef>
              <a:spcAft>
                <a:spcPts val="0"/>
              </a:spcAft>
              <a:buClr>
                <a:schemeClr val="dk1"/>
              </a:buClr>
              <a:buSzPct val="75049"/>
              <a:buNone/>
            </a:pPr>
            <a:r>
              <a:rPr lang="en-US" sz="2798" b="1"/>
              <a:t>Control &amp; Efficiency</a:t>
            </a:r>
            <a:endParaRPr sz="2798"/>
          </a:p>
          <a:p>
            <a:pPr marL="171450" lvl="0" indent="-195808" algn="l" rtl="0">
              <a:lnSpc>
                <a:spcPct val="90000"/>
              </a:lnSpc>
              <a:spcBef>
                <a:spcPts val="750"/>
              </a:spcBef>
              <a:spcAft>
                <a:spcPts val="0"/>
              </a:spcAft>
              <a:buClr>
                <a:schemeClr val="dk1"/>
              </a:buClr>
              <a:buSzPct val="100000"/>
              <a:buChar char="•"/>
            </a:pPr>
            <a:r>
              <a:rPr lang="en-US" sz="2798"/>
              <a:t>Performance targets </a:t>
            </a:r>
            <a:endParaRPr sz="2798"/>
          </a:p>
          <a:p>
            <a:pPr marL="171450" lvl="0" indent="-195808" algn="l" rtl="0">
              <a:lnSpc>
                <a:spcPct val="90000"/>
              </a:lnSpc>
              <a:spcBef>
                <a:spcPts val="750"/>
              </a:spcBef>
              <a:spcAft>
                <a:spcPts val="0"/>
              </a:spcAft>
              <a:buClr>
                <a:schemeClr val="dk1"/>
              </a:buClr>
              <a:buSzPct val="100000"/>
              <a:buChar char="•"/>
            </a:pPr>
            <a:r>
              <a:rPr lang="en-US" sz="2798"/>
              <a:t>Monitoring </a:t>
            </a:r>
            <a:endParaRPr sz="2798"/>
          </a:p>
          <a:p>
            <a:pPr marL="171450" lvl="0" indent="-195808" algn="l" rtl="0">
              <a:lnSpc>
                <a:spcPct val="90000"/>
              </a:lnSpc>
              <a:spcBef>
                <a:spcPts val="750"/>
              </a:spcBef>
              <a:spcAft>
                <a:spcPts val="0"/>
              </a:spcAft>
              <a:buClr>
                <a:schemeClr val="dk1"/>
              </a:buClr>
              <a:buSzPct val="100000"/>
              <a:buChar char="•"/>
            </a:pPr>
            <a:r>
              <a:rPr lang="en-US" sz="2798"/>
              <a:t>Staffing flexibility </a:t>
            </a:r>
            <a:endParaRPr sz="2798"/>
          </a:p>
          <a:p>
            <a:pPr marL="171450" lvl="0" indent="-195808" algn="l" rtl="0">
              <a:lnSpc>
                <a:spcPct val="90000"/>
              </a:lnSpc>
              <a:spcBef>
                <a:spcPts val="750"/>
              </a:spcBef>
              <a:spcAft>
                <a:spcPts val="0"/>
              </a:spcAft>
              <a:buClr>
                <a:schemeClr val="dk1"/>
              </a:buClr>
              <a:buSzPct val="100000"/>
              <a:buChar char="•"/>
            </a:pPr>
            <a:r>
              <a:rPr lang="en-US" sz="2798"/>
              <a:t>Cost control </a:t>
            </a:r>
            <a:endParaRPr sz="2798"/>
          </a:p>
          <a:p>
            <a:pPr marL="171450" lvl="0" indent="0" algn="l" rtl="0">
              <a:lnSpc>
                <a:spcPct val="90000"/>
              </a:lnSpc>
              <a:spcBef>
                <a:spcPts val="750"/>
              </a:spcBef>
              <a:spcAft>
                <a:spcPts val="0"/>
              </a:spcAft>
              <a:buNone/>
            </a:pPr>
            <a:endParaRPr sz="2692"/>
          </a:p>
          <a:p>
            <a:pPr marL="0" lvl="0" indent="0" algn="l" rtl="0">
              <a:lnSpc>
                <a:spcPct val="90000"/>
              </a:lnSpc>
              <a:spcBef>
                <a:spcPts val="750"/>
              </a:spcBef>
              <a:spcAft>
                <a:spcPts val="0"/>
              </a:spcAft>
              <a:buClr>
                <a:schemeClr val="dk1"/>
              </a:buClr>
              <a:buSzPct val="78011"/>
              <a:buNone/>
            </a:pPr>
            <a:r>
              <a:rPr lang="en-US" sz="2692" b="1"/>
              <a:t>The same organisation may do both, and different groups of employees may experience HRM very differently.</a:t>
            </a:r>
            <a:endParaRPr sz="2692"/>
          </a:p>
          <a:p>
            <a:pPr marL="0" lvl="0" indent="0" algn="l" rtl="0">
              <a:lnSpc>
                <a:spcPct val="90000"/>
              </a:lnSpc>
              <a:spcBef>
                <a:spcPts val="750"/>
              </a:spcBef>
              <a:spcAft>
                <a:spcPts val="0"/>
              </a:spcAft>
              <a:buClr>
                <a:schemeClr val="dk1"/>
              </a:buClr>
              <a:buSzPct val="78011"/>
              <a:buNone/>
            </a:pPr>
            <a:endParaRPr sz="2692" b="1"/>
          </a:p>
          <a:p>
            <a:pPr marL="0" lvl="0" indent="0" algn="l" rtl="0">
              <a:lnSpc>
                <a:spcPct val="90000"/>
              </a:lnSpc>
              <a:spcBef>
                <a:spcPts val="750"/>
              </a:spcBef>
              <a:spcAft>
                <a:spcPts val="0"/>
              </a:spcAft>
              <a:buClr>
                <a:schemeClr val="dk1"/>
              </a:buClr>
              <a:buSzPct val="78011"/>
              <a:buNone/>
            </a:pPr>
            <a:r>
              <a:rPr lang="en-US" sz="2692" b="1"/>
              <a:t>What does this tell us about the distinction between hard and soft HRM?</a:t>
            </a:r>
            <a:endParaRPr sz="2692"/>
          </a:p>
          <a:p>
            <a:pPr marL="171450" lvl="0" indent="-58103" algn="l" rtl="0">
              <a:lnSpc>
                <a:spcPct val="90000"/>
              </a:lnSpc>
              <a:spcBef>
                <a:spcPts val="750"/>
              </a:spcBef>
              <a:spcAft>
                <a:spcPts val="0"/>
              </a:spcAft>
              <a:buClr>
                <a:schemeClr val="dk1"/>
              </a:buClr>
              <a:buSzPct val="100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3"/>
          <p:cNvSpPr txBox="1">
            <a:spLocks noGrp="1"/>
          </p:cNvSpPr>
          <p:nvPr>
            <p:ph type="title"/>
          </p:nvPr>
        </p:nvSpPr>
        <p:spPr>
          <a:xfrm>
            <a:off x="179512" y="365127"/>
            <a:ext cx="9073008" cy="6876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3100" b="1"/>
              <a:t>The employment relationship: a fundamental challenge</a:t>
            </a:r>
            <a:br>
              <a:rPr lang="en-US" b="1"/>
            </a:br>
            <a:endParaRPr/>
          </a:p>
        </p:txBody>
      </p:sp>
      <p:sp>
        <p:nvSpPr>
          <p:cNvPr id="375" name="Google Shape;375;p43"/>
          <p:cNvSpPr txBox="1">
            <a:spLocks noGrp="1"/>
          </p:cNvSpPr>
          <p:nvPr>
            <p:ph type="body" idx="1"/>
          </p:nvPr>
        </p:nvSpPr>
        <p:spPr>
          <a:xfrm>
            <a:off x="179500" y="1052725"/>
            <a:ext cx="8964600" cy="5362589"/>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2400"/>
              <a:buNone/>
            </a:pPr>
            <a:r>
              <a:rPr lang="en-US" sz="2400" b="1" i="1" dirty="0"/>
              <a:t>When an </a:t>
            </a:r>
            <a:r>
              <a:rPr lang="en-US" sz="2400" b="1" i="1" dirty="0" err="1"/>
              <a:t>organisation</a:t>
            </a:r>
            <a:r>
              <a:rPr lang="en-US" sz="2400" b="1" i="1" dirty="0"/>
              <a:t> employs someone, what exactly has it bought?</a:t>
            </a:r>
            <a:endParaRPr dirty="0"/>
          </a:p>
          <a:p>
            <a:pPr marL="0" lvl="0" indent="0" algn="l" rtl="0">
              <a:lnSpc>
                <a:spcPct val="90000"/>
              </a:lnSpc>
              <a:spcBef>
                <a:spcPts val="750"/>
              </a:spcBef>
              <a:spcAft>
                <a:spcPts val="0"/>
              </a:spcAft>
              <a:buClr>
                <a:schemeClr val="dk1"/>
              </a:buClr>
              <a:buSzPts val="2400"/>
              <a:buNone/>
            </a:pPr>
            <a:endParaRPr sz="2400" b="1" dirty="0"/>
          </a:p>
          <a:p>
            <a:pPr marL="0" lvl="0" indent="0" algn="l" rtl="0">
              <a:lnSpc>
                <a:spcPct val="90000"/>
              </a:lnSpc>
              <a:spcBef>
                <a:spcPts val="750"/>
              </a:spcBef>
              <a:spcAft>
                <a:spcPts val="0"/>
              </a:spcAft>
              <a:buClr>
                <a:schemeClr val="dk1"/>
              </a:buClr>
              <a:buSzPts val="2400"/>
              <a:buNone/>
            </a:pPr>
            <a:r>
              <a:rPr lang="en-US" sz="2400" b="1" dirty="0"/>
              <a:t>The employment contract specifies:</a:t>
            </a:r>
            <a:endParaRPr sz="2400" dirty="0"/>
          </a:p>
          <a:p>
            <a:pPr marL="171450" lvl="0" indent="-182880" algn="l" rtl="0">
              <a:lnSpc>
                <a:spcPct val="90000"/>
              </a:lnSpc>
              <a:spcBef>
                <a:spcPts val="750"/>
              </a:spcBef>
              <a:spcAft>
                <a:spcPts val="0"/>
              </a:spcAft>
              <a:buClr>
                <a:schemeClr val="dk1"/>
              </a:buClr>
              <a:buSzPts val="2400"/>
              <a:buChar char="•"/>
            </a:pPr>
            <a:r>
              <a:rPr lang="en-US" sz="2400" dirty="0"/>
              <a:t>Pay + hours + responsibilities</a:t>
            </a:r>
            <a:endParaRPr dirty="0"/>
          </a:p>
          <a:p>
            <a:pPr marL="0" lvl="0" indent="0" algn="l" rtl="0">
              <a:lnSpc>
                <a:spcPct val="90000"/>
              </a:lnSpc>
              <a:spcBef>
                <a:spcPts val="750"/>
              </a:spcBef>
              <a:spcAft>
                <a:spcPts val="0"/>
              </a:spcAft>
              <a:buClr>
                <a:schemeClr val="dk1"/>
              </a:buClr>
              <a:buSzPts val="2400"/>
              <a:buNone/>
            </a:pPr>
            <a:r>
              <a:rPr lang="en-US" sz="2400" b="1" dirty="0"/>
              <a:t>But it cannot fully specify:</a:t>
            </a:r>
            <a:endParaRPr sz="2400" dirty="0"/>
          </a:p>
          <a:p>
            <a:pPr marL="171450" lvl="0" indent="-182880" algn="l" rtl="0">
              <a:lnSpc>
                <a:spcPct val="90000"/>
              </a:lnSpc>
              <a:spcBef>
                <a:spcPts val="750"/>
              </a:spcBef>
              <a:spcAft>
                <a:spcPts val="0"/>
              </a:spcAft>
              <a:buClr>
                <a:schemeClr val="dk1"/>
              </a:buClr>
              <a:buSzPts val="2400"/>
              <a:buChar char="•"/>
            </a:pPr>
            <a:r>
              <a:rPr lang="en-US" sz="2400" dirty="0"/>
              <a:t>Effort + initiative + cooperation + judgement</a:t>
            </a:r>
            <a:endParaRPr dirty="0"/>
          </a:p>
          <a:p>
            <a:pPr marL="0" lvl="0" indent="0" algn="l" rtl="0">
              <a:lnSpc>
                <a:spcPct val="90000"/>
              </a:lnSpc>
              <a:spcBef>
                <a:spcPts val="750"/>
              </a:spcBef>
              <a:spcAft>
                <a:spcPts val="0"/>
              </a:spcAft>
              <a:buClr>
                <a:schemeClr val="dk1"/>
              </a:buClr>
              <a:buSzPts val="2400"/>
              <a:buNone/>
            </a:pPr>
            <a:endParaRPr sz="2400" b="1" dirty="0">
              <a:solidFill>
                <a:schemeClr val="accent1"/>
              </a:solidFill>
            </a:endParaRPr>
          </a:p>
          <a:p>
            <a:pPr marL="0" lvl="0" indent="0" algn="l" rtl="0">
              <a:lnSpc>
                <a:spcPct val="90000"/>
              </a:lnSpc>
              <a:spcBef>
                <a:spcPts val="750"/>
              </a:spcBef>
              <a:spcAft>
                <a:spcPts val="0"/>
              </a:spcAft>
              <a:buClr>
                <a:schemeClr val="accent1"/>
              </a:buClr>
              <a:buSzPts val="2400"/>
              <a:buNone/>
            </a:pPr>
            <a:r>
              <a:rPr lang="en-US" sz="2400" b="1" dirty="0">
                <a:solidFill>
                  <a:schemeClr val="accent1"/>
                </a:solidFill>
              </a:rPr>
              <a:t>Key Point: A wage is exchanged for an indeterminate amount of </a:t>
            </a:r>
            <a:r>
              <a:rPr lang="en-US" sz="2400" b="1" dirty="0" err="1">
                <a:solidFill>
                  <a:schemeClr val="accent1"/>
                </a:solidFill>
              </a:rPr>
              <a:t>labour</a:t>
            </a:r>
            <a:r>
              <a:rPr lang="en-US" sz="2400" b="1" dirty="0">
                <a:solidFill>
                  <a:schemeClr val="accent1"/>
                </a:solidFill>
              </a:rPr>
              <a:t> power.</a:t>
            </a:r>
            <a:endParaRPr dirty="0"/>
          </a:p>
          <a:p>
            <a:pPr marL="0" lvl="0" indent="0" algn="l" rtl="0">
              <a:lnSpc>
                <a:spcPct val="90000"/>
              </a:lnSpc>
              <a:spcBef>
                <a:spcPts val="750"/>
              </a:spcBef>
              <a:spcAft>
                <a:spcPts val="0"/>
              </a:spcAft>
              <a:buClr>
                <a:schemeClr val="dk1"/>
              </a:buClr>
              <a:buSzPts val="2400"/>
              <a:buNone/>
            </a:pPr>
            <a:endParaRPr sz="2400" b="1" dirty="0"/>
          </a:p>
          <a:p>
            <a:pPr marL="0" lvl="0" indent="0" algn="l" rtl="0">
              <a:lnSpc>
                <a:spcPct val="90000"/>
              </a:lnSpc>
              <a:spcBef>
                <a:spcPts val="750"/>
              </a:spcBef>
              <a:spcAft>
                <a:spcPts val="0"/>
              </a:spcAft>
              <a:buClr>
                <a:schemeClr val="dk1"/>
              </a:buClr>
              <a:buSzPts val="2400"/>
              <a:buNone/>
            </a:pPr>
            <a:r>
              <a:rPr lang="en-US" sz="2400" b="1" dirty="0"/>
              <a:t>The people management challenge: </a:t>
            </a:r>
            <a:r>
              <a:rPr lang="en-US" sz="2400" dirty="0"/>
              <a:t>Recruitment • Motivation • Performance management • Training • Teams • Culture</a:t>
            </a:r>
            <a:endParaRPr dirty="0"/>
          </a:p>
          <a:p>
            <a:pPr marL="0" lvl="0" indent="0" algn="l" rtl="0">
              <a:lnSpc>
                <a:spcPct val="90000"/>
              </a:lnSpc>
              <a:spcBef>
                <a:spcPts val="750"/>
              </a:spcBef>
              <a:spcAft>
                <a:spcPts val="0"/>
              </a:spcAft>
              <a:buClr>
                <a:schemeClr val="dk1"/>
              </a:buClr>
              <a:buSzPts val="2400"/>
              <a:buNone/>
            </a:pPr>
            <a:endParaRPr sz="2400" b="1" dirty="0"/>
          </a:p>
          <a:p>
            <a:pPr marL="0" lvl="0" indent="0" algn="l" rtl="0">
              <a:lnSpc>
                <a:spcPct val="90000"/>
              </a:lnSpc>
              <a:spcBef>
                <a:spcPts val="750"/>
              </a:spcBef>
              <a:spcAft>
                <a:spcPts val="0"/>
              </a:spcAft>
              <a:buClr>
                <a:schemeClr val="dk1"/>
              </a:buClr>
              <a:buSzPts val="2400"/>
              <a:buNone/>
            </a:pPr>
            <a:r>
              <a:rPr lang="en-US" sz="2400" b="1" dirty="0"/>
              <a:t>How can </a:t>
            </a:r>
            <a:r>
              <a:rPr lang="en-US" sz="2400" b="1" dirty="0" err="1"/>
              <a:t>organisations</a:t>
            </a:r>
            <a:r>
              <a:rPr lang="en-US" sz="2400" b="1" dirty="0"/>
              <a:t> encourage employees to contribute more than the minimum required?</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4"/>
          <p:cNvSpPr txBox="1">
            <a:spLocks noGrp="1"/>
          </p:cNvSpPr>
          <p:nvPr>
            <p:ph type="title"/>
          </p:nvPr>
        </p:nvSpPr>
        <p:spPr>
          <a:xfrm>
            <a:off x="305850" y="138275"/>
            <a:ext cx="8388300" cy="857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300"/>
              <a:buFont typeface="Play"/>
              <a:buNone/>
            </a:pPr>
            <a:r>
              <a:rPr lang="en-US" sz="2900" b="1"/>
              <a:t>From managing people to Strategic HRM</a:t>
            </a:r>
            <a:endParaRPr sz="2900" b="1"/>
          </a:p>
        </p:txBody>
      </p:sp>
      <p:sp>
        <p:nvSpPr>
          <p:cNvPr id="382" name="Google Shape;382;p44"/>
          <p:cNvSpPr txBox="1">
            <a:spLocks noGrp="1"/>
          </p:cNvSpPr>
          <p:nvPr>
            <p:ph type="body" idx="1"/>
          </p:nvPr>
        </p:nvSpPr>
        <p:spPr>
          <a:xfrm>
            <a:off x="107500" y="1082376"/>
            <a:ext cx="8784900" cy="509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sz="2400" b="1"/>
              <a:t>Organisational goals</a:t>
            </a:r>
            <a:br>
              <a:rPr lang="en-US" sz="2400"/>
            </a:br>
            <a:r>
              <a:rPr lang="en-US" sz="2400"/>
              <a:t>↓</a:t>
            </a:r>
            <a:br>
              <a:rPr lang="en-US" sz="2400"/>
            </a:br>
            <a:r>
              <a:rPr lang="en-US" sz="2400" b="1"/>
              <a:t>HR policies &amp; practices</a:t>
            </a:r>
            <a:br>
              <a:rPr lang="en-US" sz="2400"/>
            </a:br>
            <a:r>
              <a:rPr lang="en-US" sz="2400" i="1"/>
              <a:t>recruitment • development • reward • performance • involvement</a:t>
            </a:r>
            <a:br>
              <a:rPr lang="en-US" sz="2400"/>
            </a:br>
            <a:r>
              <a:rPr lang="en-US" sz="2400"/>
              <a:t>↓</a:t>
            </a:r>
            <a:br>
              <a:rPr lang="en-US" sz="2400"/>
            </a:br>
            <a:r>
              <a:rPr lang="en-US" sz="2400" b="1"/>
              <a:t>Employee skills, attitudes &amp; behaviour</a:t>
            </a:r>
            <a:br>
              <a:rPr lang="en-US" sz="2400"/>
            </a:br>
            <a:r>
              <a:rPr lang="en-US" sz="2400"/>
              <a:t>↓</a:t>
            </a:r>
            <a:br>
              <a:rPr lang="en-US" sz="2400"/>
            </a:br>
            <a:r>
              <a:rPr lang="en-US" sz="2400" b="1"/>
              <a:t>Organisational outcomes</a:t>
            </a:r>
            <a:endParaRPr/>
          </a:p>
          <a:p>
            <a:pPr marL="0" lvl="0" indent="0" algn="ctr" rtl="0">
              <a:lnSpc>
                <a:spcPct val="90000"/>
              </a:lnSpc>
              <a:spcBef>
                <a:spcPts val="750"/>
              </a:spcBef>
              <a:spcAft>
                <a:spcPts val="0"/>
              </a:spcAft>
              <a:buClr>
                <a:schemeClr val="dk1"/>
              </a:buClr>
              <a:buSzPts val="2100"/>
              <a:buNone/>
            </a:pPr>
            <a:endParaRPr b="1"/>
          </a:p>
          <a:p>
            <a:pPr marL="0" lvl="0" indent="0" algn="ctr" rtl="0">
              <a:lnSpc>
                <a:spcPct val="90000"/>
              </a:lnSpc>
              <a:spcBef>
                <a:spcPts val="750"/>
              </a:spcBef>
              <a:spcAft>
                <a:spcPts val="0"/>
              </a:spcAft>
              <a:buClr>
                <a:schemeClr val="dk1"/>
              </a:buClr>
              <a:buSzPts val="2100"/>
              <a:buNone/>
            </a:pPr>
            <a:endParaRPr b="1">
              <a:solidFill>
                <a:schemeClr val="accent1"/>
              </a:solidFill>
            </a:endParaRPr>
          </a:p>
          <a:p>
            <a:pPr marL="0" lvl="0" indent="0" algn="l" rtl="0">
              <a:lnSpc>
                <a:spcPct val="90000"/>
              </a:lnSpc>
              <a:spcBef>
                <a:spcPts val="750"/>
              </a:spcBef>
              <a:spcAft>
                <a:spcPts val="0"/>
              </a:spcAft>
              <a:buClr>
                <a:schemeClr val="accent1"/>
              </a:buClr>
              <a:buSzPts val="2100"/>
              <a:buNone/>
            </a:pPr>
            <a:r>
              <a:rPr lang="en-US" sz="2400" b="1">
                <a:solidFill>
                  <a:schemeClr val="accent1"/>
                </a:solidFill>
              </a:rPr>
              <a:t>Key Point: Strategic HRM (SHRM) is concerned with how HR policies and practices can be aligned with the organisation's longer-term goals</a:t>
            </a:r>
            <a:r>
              <a:rPr lang="en-US" sz="2400" b="1"/>
              <a:t>.</a:t>
            </a:r>
            <a:endParaRPr sz="24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sz="2978" b="1"/>
              <a:t>Why might people provide strategic value?</a:t>
            </a:r>
            <a:br>
              <a:rPr lang="en-US" b="1"/>
            </a:br>
            <a:endParaRPr/>
          </a:p>
        </p:txBody>
      </p:sp>
      <p:sp>
        <p:nvSpPr>
          <p:cNvPr id="389" name="Google Shape;389;p45"/>
          <p:cNvSpPr txBox="1">
            <a:spLocks noGrp="1"/>
          </p:cNvSpPr>
          <p:nvPr>
            <p:ph type="body" idx="1"/>
          </p:nvPr>
        </p:nvSpPr>
        <p:spPr>
          <a:xfrm>
            <a:off x="628650" y="1340768"/>
            <a:ext cx="7886700" cy="53285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sz="2400" b="1"/>
          </a:p>
          <a:p>
            <a:pPr marL="0" lvl="0" indent="0" algn="l" rtl="0">
              <a:lnSpc>
                <a:spcPct val="90000"/>
              </a:lnSpc>
              <a:spcBef>
                <a:spcPts val="0"/>
              </a:spcBef>
              <a:spcAft>
                <a:spcPts val="0"/>
              </a:spcAft>
              <a:buClr>
                <a:schemeClr val="dk1"/>
              </a:buClr>
              <a:buSzPts val="3200"/>
              <a:buNone/>
            </a:pPr>
            <a:r>
              <a:rPr lang="en-US" sz="2400" b="1"/>
              <a:t>Resource-Based View</a:t>
            </a:r>
            <a:endParaRPr sz="2400"/>
          </a:p>
          <a:p>
            <a:pPr marL="171450" lvl="0" indent="0" algn="l" rtl="0">
              <a:lnSpc>
                <a:spcPct val="90000"/>
              </a:lnSpc>
              <a:spcBef>
                <a:spcPts val="750"/>
              </a:spcBef>
              <a:spcAft>
                <a:spcPts val="0"/>
              </a:spcAft>
              <a:buNone/>
            </a:pPr>
            <a:r>
              <a:rPr lang="en-US" sz="2400"/>
              <a:t>An organisation's workforce may provide an advantage when its knowledge, skills and capabilities are:</a:t>
            </a:r>
            <a:endParaRPr sz="2400"/>
          </a:p>
          <a:p>
            <a:pPr marL="0" lvl="0" indent="0" algn="l" rtl="0">
              <a:lnSpc>
                <a:spcPct val="90000"/>
              </a:lnSpc>
              <a:spcBef>
                <a:spcPts val="750"/>
              </a:spcBef>
              <a:spcAft>
                <a:spcPts val="0"/>
              </a:spcAft>
              <a:buClr>
                <a:schemeClr val="dk1"/>
              </a:buClr>
              <a:buSzPts val="3200"/>
              <a:buNone/>
            </a:pPr>
            <a:endParaRPr sz="2400"/>
          </a:p>
          <a:p>
            <a:pPr marL="0" lvl="0" indent="0" algn="l" rtl="0">
              <a:lnSpc>
                <a:spcPct val="90000"/>
              </a:lnSpc>
              <a:spcBef>
                <a:spcPts val="750"/>
              </a:spcBef>
              <a:spcAft>
                <a:spcPts val="0"/>
              </a:spcAft>
              <a:buClr>
                <a:schemeClr val="dk1"/>
              </a:buClr>
              <a:buSzPts val="3200"/>
              <a:buNone/>
            </a:pPr>
            <a:r>
              <a:rPr lang="en-US" sz="2400" b="1"/>
              <a:t>Valuable • Difficult to imitate • Difficult to substitute</a:t>
            </a:r>
            <a:endParaRPr sz="2400"/>
          </a:p>
          <a:p>
            <a:pPr marL="0" lvl="0" indent="0" algn="l" rtl="0">
              <a:lnSpc>
                <a:spcPct val="90000"/>
              </a:lnSpc>
              <a:spcBef>
                <a:spcPts val="750"/>
              </a:spcBef>
              <a:spcAft>
                <a:spcPts val="0"/>
              </a:spcAft>
              <a:buClr>
                <a:schemeClr val="dk1"/>
              </a:buClr>
              <a:buSzPts val="3200"/>
              <a:buNone/>
            </a:pPr>
            <a:endParaRPr sz="2400" b="1">
              <a:solidFill>
                <a:schemeClr val="accent1"/>
              </a:solidFill>
            </a:endParaRPr>
          </a:p>
          <a:p>
            <a:pPr marL="0" lvl="0" indent="0" algn="l" rtl="0">
              <a:lnSpc>
                <a:spcPct val="90000"/>
              </a:lnSpc>
              <a:spcBef>
                <a:spcPts val="750"/>
              </a:spcBef>
              <a:spcAft>
                <a:spcPts val="0"/>
              </a:spcAft>
              <a:buClr>
                <a:schemeClr val="accent1"/>
              </a:buClr>
              <a:buSzPts val="3200"/>
              <a:buNone/>
            </a:pPr>
            <a:endParaRPr sz="2400" b="1">
              <a:solidFill>
                <a:schemeClr val="accent1"/>
              </a:solidFill>
            </a:endParaRPr>
          </a:p>
          <a:p>
            <a:pPr marL="0" lvl="0" indent="0" algn="l" rtl="0">
              <a:lnSpc>
                <a:spcPct val="90000"/>
              </a:lnSpc>
              <a:spcBef>
                <a:spcPts val="750"/>
              </a:spcBef>
              <a:spcAft>
                <a:spcPts val="0"/>
              </a:spcAft>
              <a:buClr>
                <a:schemeClr val="accent1"/>
              </a:buClr>
              <a:buSzPts val="3200"/>
              <a:buNone/>
            </a:pPr>
            <a:r>
              <a:rPr lang="en-US" sz="2400" b="1">
                <a:solidFill>
                  <a:schemeClr val="accent1"/>
                </a:solidFill>
              </a:rPr>
              <a:t>Key point: But if effective people management can improve organisational performance, why doesn't every organisation simply do it well?</a:t>
            </a:r>
            <a:endParaRPr sz="2400">
              <a:solidFill>
                <a:schemeClr val="accent1"/>
              </a:solidFill>
            </a:endParaRPr>
          </a:p>
          <a:p>
            <a:pPr marL="171450" lvl="0" indent="-3810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300"/>
              <a:buFont typeface="Play"/>
              <a:buNone/>
            </a:pPr>
            <a:r>
              <a:rPr lang="en-US" b="1">
                <a:solidFill>
                  <a:schemeClr val="accent1"/>
                </a:solidFill>
              </a:rPr>
              <a:t>Thinking point…</a:t>
            </a:r>
            <a:endParaRPr b="1">
              <a:solidFill>
                <a:schemeClr val="accent1"/>
              </a:solidFill>
            </a:endParaRPr>
          </a:p>
        </p:txBody>
      </p:sp>
      <p:sp>
        <p:nvSpPr>
          <p:cNvPr id="396" name="Google Shape;396;p4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t>Key assumption: </a:t>
            </a:r>
            <a:endParaRPr/>
          </a:p>
          <a:p>
            <a:pPr marL="0" lvl="0" indent="0" algn="l" rtl="0">
              <a:lnSpc>
                <a:spcPct val="90000"/>
              </a:lnSpc>
              <a:spcBef>
                <a:spcPts val="750"/>
              </a:spcBef>
              <a:spcAft>
                <a:spcPts val="0"/>
              </a:spcAft>
              <a:buClr>
                <a:schemeClr val="dk1"/>
              </a:buClr>
              <a:buSzPts val="2400"/>
              <a:buNone/>
            </a:pPr>
            <a:r>
              <a:rPr lang="en-US" sz="2400"/>
              <a:t>HR practices can be designed and aligned in ways that support organisational strategy.</a:t>
            </a:r>
            <a:endParaRPr/>
          </a:p>
          <a:p>
            <a:pPr marL="0" lvl="0" indent="0" algn="l" rtl="0">
              <a:lnSpc>
                <a:spcPct val="90000"/>
              </a:lnSpc>
              <a:spcBef>
                <a:spcPts val="750"/>
              </a:spcBef>
              <a:spcAft>
                <a:spcPts val="0"/>
              </a:spcAft>
              <a:buClr>
                <a:schemeClr val="dk1"/>
              </a:buClr>
              <a:buSzPts val="2400"/>
              <a:buNone/>
            </a:pPr>
            <a:endParaRPr sz="2400"/>
          </a:p>
          <a:p>
            <a:pPr marL="0" lvl="0" indent="0" algn="l" rtl="0">
              <a:lnSpc>
                <a:spcPct val="90000"/>
              </a:lnSpc>
              <a:spcBef>
                <a:spcPts val="750"/>
              </a:spcBef>
              <a:spcAft>
                <a:spcPts val="0"/>
              </a:spcAft>
              <a:buClr>
                <a:schemeClr val="dk1"/>
              </a:buClr>
              <a:buSzPts val="2400"/>
              <a:buNone/>
            </a:pPr>
            <a:r>
              <a:rPr lang="en-US" sz="2400" b="1"/>
              <a:t>But does it work like this in practice?</a:t>
            </a:r>
            <a:endParaRPr/>
          </a:p>
          <a:p>
            <a:pPr marL="0" lvl="0" indent="0" algn="l" rtl="0">
              <a:lnSpc>
                <a:spcPct val="90000"/>
              </a:lnSpc>
              <a:spcBef>
                <a:spcPts val="750"/>
              </a:spcBef>
              <a:spcAft>
                <a:spcPts val="0"/>
              </a:spcAft>
              <a:buClr>
                <a:schemeClr val="dk1"/>
              </a:buClr>
              <a:buSzPts val="2400"/>
              <a:buNone/>
            </a:pPr>
            <a:endParaRPr sz="2400" b="1"/>
          </a:p>
          <a:p>
            <a:pPr marL="0" lvl="0" indent="0" algn="l" rtl="0">
              <a:lnSpc>
                <a:spcPct val="90000"/>
              </a:lnSpc>
              <a:spcBef>
                <a:spcPts val="750"/>
              </a:spcBef>
              <a:spcAft>
                <a:spcPts val="0"/>
              </a:spcAft>
              <a:buClr>
                <a:schemeClr val="dk1"/>
              </a:buClr>
              <a:buSzPts val="2400"/>
              <a:buNone/>
            </a:pPr>
            <a:r>
              <a:rPr lang="en-US" sz="2400" b="1"/>
              <a:t>The theory looks neat. </a:t>
            </a:r>
            <a:endParaRPr/>
          </a:p>
          <a:p>
            <a:pPr marL="0" lvl="0" indent="0" algn="l" rtl="0">
              <a:lnSpc>
                <a:spcPct val="90000"/>
              </a:lnSpc>
              <a:spcBef>
                <a:spcPts val="750"/>
              </a:spcBef>
              <a:spcAft>
                <a:spcPts val="0"/>
              </a:spcAft>
              <a:buClr>
                <a:schemeClr val="dk1"/>
              </a:buClr>
              <a:buSzPts val="2400"/>
              <a:buNone/>
            </a:pPr>
            <a:endParaRPr sz="2400" b="1"/>
          </a:p>
          <a:p>
            <a:pPr marL="0" lvl="0" indent="0" algn="l" rtl="0">
              <a:lnSpc>
                <a:spcPct val="90000"/>
              </a:lnSpc>
              <a:spcBef>
                <a:spcPts val="750"/>
              </a:spcBef>
              <a:spcAft>
                <a:spcPts val="0"/>
              </a:spcAft>
              <a:buClr>
                <a:schemeClr val="dk1"/>
              </a:buClr>
              <a:buSzPts val="2400"/>
              <a:buNone/>
            </a:pPr>
            <a:r>
              <a:rPr lang="en-US" sz="2400" b="1"/>
              <a:t>Organisations are not.</a:t>
            </a:r>
            <a:endParaRPr sz="2400"/>
          </a:p>
          <a:p>
            <a:pPr marL="0" lvl="0" indent="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7"/>
          <p:cNvSpPr txBox="1">
            <a:spLocks noGrp="1"/>
          </p:cNvSpPr>
          <p:nvPr>
            <p:ph type="title"/>
          </p:nvPr>
        </p:nvSpPr>
        <p:spPr>
          <a:xfrm>
            <a:off x="628650" y="365127"/>
            <a:ext cx="8407846" cy="90363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b="1"/>
              <a:t>Why can Strategic HRM be difficult to implement?</a:t>
            </a:r>
            <a:br>
              <a:rPr lang="en-US"/>
            </a:br>
            <a:endParaRPr/>
          </a:p>
        </p:txBody>
      </p:sp>
      <p:sp>
        <p:nvSpPr>
          <p:cNvPr id="403" name="Google Shape;403;p47"/>
          <p:cNvSpPr txBox="1">
            <a:spLocks noGrp="1"/>
          </p:cNvSpPr>
          <p:nvPr>
            <p:ph type="body" idx="1"/>
          </p:nvPr>
        </p:nvSpPr>
        <p:spPr>
          <a:xfrm>
            <a:off x="107504" y="1124744"/>
            <a:ext cx="8712968" cy="5733256"/>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chemeClr val="dk1"/>
              </a:buClr>
              <a:buSzPts val="2100"/>
              <a:buChar char="•"/>
            </a:pPr>
            <a:r>
              <a:rPr lang="en-US" b="1"/>
              <a:t>Context</a:t>
            </a:r>
            <a:br>
              <a:rPr lang="en-US"/>
            </a:br>
            <a:r>
              <a:rPr lang="en-US"/>
              <a:t>What works in one organisation may not work in another.</a:t>
            </a:r>
            <a:endParaRPr/>
          </a:p>
          <a:p>
            <a:pPr marL="171450" lvl="0" indent="-171450" algn="l" rtl="0">
              <a:lnSpc>
                <a:spcPct val="90000"/>
              </a:lnSpc>
              <a:spcBef>
                <a:spcPts val="750"/>
              </a:spcBef>
              <a:spcAft>
                <a:spcPts val="0"/>
              </a:spcAft>
              <a:buClr>
                <a:schemeClr val="dk1"/>
              </a:buClr>
              <a:buSzPts val="2100"/>
              <a:buChar char="•"/>
            </a:pPr>
            <a:r>
              <a:rPr lang="en-US" b="1"/>
              <a:t>Culture</a:t>
            </a:r>
            <a:br>
              <a:rPr lang="en-US"/>
            </a:br>
            <a:r>
              <a:rPr lang="en-US"/>
              <a:t>HR practices are interpreted through existing norms, routines and relationships.</a:t>
            </a:r>
            <a:endParaRPr/>
          </a:p>
          <a:p>
            <a:pPr marL="171450" lvl="0" indent="-171450" algn="l" rtl="0">
              <a:lnSpc>
                <a:spcPct val="90000"/>
              </a:lnSpc>
              <a:spcBef>
                <a:spcPts val="750"/>
              </a:spcBef>
              <a:spcAft>
                <a:spcPts val="0"/>
              </a:spcAft>
              <a:buClr>
                <a:schemeClr val="dk1"/>
              </a:buClr>
              <a:buSzPts val="2100"/>
              <a:buChar char="•"/>
            </a:pPr>
            <a:r>
              <a:rPr lang="en-US" b="1"/>
              <a:t>Implementation</a:t>
            </a:r>
            <a:br>
              <a:rPr lang="en-US"/>
            </a:br>
            <a:r>
              <a:rPr lang="en-US"/>
              <a:t>Policies have to be enacted by managers and may not be implemented as intended.</a:t>
            </a:r>
            <a:endParaRPr/>
          </a:p>
          <a:p>
            <a:pPr marL="171450" lvl="0" indent="-171450" algn="l" rtl="0">
              <a:lnSpc>
                <a:spcPct val="90000"/>
              </a:lnSpc>
              <a:spcBef>
                <a:spcPts val="750"/>
              </a:spcBef>
              <a:spcAft>
                <a:spcPts val="0"/>
              </a:spcAft>
              <a:buClr>
                <a:schemeClr val="dk1"/>
              </a:buClr>
              <a:buSzPts val="2100"/>
              <a:buChar char="•"/>
            </a:pPr>
            <a:r>
              <a:rPr lang="en-US" b="1"/>
              <a:t>Employee agency</a:t>
            </a:r>
            <a:br>
              <a:rPr lang="en-US"/>
            </a:br>
            <a:r>
              <a:rPr lang="en-US"/>
              <a:t>Employees do not simply respond to HR practices in predictable ways.</a:t>
            </a:r>
            <a:endParaRPr/>
          </a:p>
          <a:p>
            <a:pPr marL="171450" lvl="0" indent="-171450" algn="l" rtl="0">
              <a:lnSpc>
                <a:spcPct val="90000"/>
              </a:lnSpc>
              <a:spcBef>
                <a:spcPts val="750"/>
              </a:spcBef>
              <a:spcAft>
                <a:spcPts val="0"/>
              </a:spcAft>
              <a:buClr>
                <a:schemeClr val="dk1"/>
              </a:buClr>
              <a:buSzPts val="2100"/>
              <a:buChar char="•"/>
            </a:pPr>
            <a:r>
              <a:rPr lang="en-US" b="1"/>
              <a:t>Competing priorities</a:t>
            </a:r>
            <a:br>
              <a:rPr lang="en-US"/>
            </a:br>
            <a:r>
              <a:rPr lang="en-US"/>
              <a:t>Cost, performance, employee wellbeing and operational pressures may pull in different directions.</a:t>
            </a:r>
            <a:endParaRPr/>
          </a:p>
          <a:p>
            <a:pPr marL="0" lvl="0" indent="0" algn="l" rtl="0">
              <a:lnSpc>
                <a:spcPct val="90000"/>
              </a:lnSpc>
              <a:spcBef>
                <a:spcPts val="750"/>
              </a:spcBef>
              <a:spcAft>
                <a:spcPts val="0"/>
              </a:spcAft>
              <a:buClr>
                <a:schemeClr val="dk1"/>
              </a:buClr>
              <a:buSzPts val="2100"/>
              <a:buNone/>
            </a:pPr>
            <a:endParaRPr/>
          </a:p>
          <a:p>
            <a:pPr marL="0" lvl="0" indent="0" algn="l" rtl="0">
              <a:lnSpc>
                <a:spcPct val="90000"/>
              </a:lnSpc>
              <a:spcBef>
                <a:spcPts val="750"/>
              </a:spcBef>
              <a:spcAft>
                <a:spcPts val="0"/>
              </a:spcAft>
              <a:buClr>
                <a:schemeClr val="accent1"/>
              </a:buClr>
              <a:buSzPts val="2400"/>
              <a:buNone/>
            </a:pPr>
            <a:r>
              <a:rPr lang="en-US" sz="2400" b="1">
                <a:solidFill>
                  <a:schemeClr val="accent1"/>
                </a:solidFill>
              </a:rPr>
              <a:t>Key Point: This creates a theory–practice gap: what HR strategy intends is not necessarily what happens in practice.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8"/>
          <p:cNvSpPr txBox="1">
            <a:spLocks noGrp="1"/>
          </p:cNvSpPr>
          <p:nvPr>
            <p:ph type="title"/>
          </p:nvPr>
        </p:nvSpPr>
        <p:spPr>
          <a:xfrm>
            <a:off x="628650" y="-315415"/>
            <a:ext cx="7886700" cy="15841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From intended HRM to experienced HRM</a:t>
            </a:r>
            <a:endParaRPr b="1"/>
          </a:p>
        </p:txBody>
      </p:sp>
      <p:sp>
        <p:nvSpPr>
          <p:cNvPr id="410" name="Google Shape;410;p48"/>
          <p:cNvSpPr txBox="1">
            <a:spLocks noGrp="1"/>
          </p:cNvSpPr>
          <p:nvPr>
            <p:ph type="body" idx="1"/>
          </p:nvPr>
        </p:nvSpPr>
        <p:spPr>
          <a:xfrm>
            <a:off x="628650" y="836712"/>
            <a:ext cx="7886700" cy="5832648"/>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90000"/>
              </a:lnSpc>
              <a:spcBef>
                <a:spcPts val="0"/>
              </a:spcBef>
              <a:spcAft>
                <a:spcPts val="0"/>
              </a:spcAft>
              <a:buClr>
                <a:schemeClr val="dk1"/>
              </a:buClr>
              <a:buSzPts val="2400"/>
              <a:buNone/>
            </a:pPr>
            <a:endParaRPr sz="2400" b="1"/>
          </a:p>
          <a:p>
            <a:pPr marL="0" lvl="0" indent="0" algn="ctr" rtl="0">
              <a:lnSpc>
                <a:spcPct val="90000"/>
              </a:lnSpc>
              <a:spcBef>
                <a:spcPts val="750"/>
              </a:spcBef>
              <a:spcAft>
                <a:spcPts val="0"/>
              </a:spcAft>
              <a:buClr>
                <a:schemeClr val="dk1"/>
              </a:buClr>
              <a:buSzPts val="2400"/>
              <a:buNone/>
            </a:pPr>
            <a:r>
              <a:rPr lang="en-US" sz="2400" b="1"/>
              <a:t>INTENDED HRM</a:t>
            </a:r>
            <a:br>
              <a:rPr lang="en-US" sz="2400"/>
            </a:br>
            <a:r>
              <a:rPr lang="en-US" sz="2400" i="1"/>
              <a:t>What senior managers and HR design</a:t>
            </a:r>
            <a:endParaRPr sz="2400"/>
          </a:p>
          <a:p>
            <a:pPr marL="0" lvl="0" indent="0" algn="ctr" rtl="0">
              <a:lnSpc>
                <a:spcPct val="90000"/>
              </a:lnSpc>
              <a:spcBef>
                <a:spcPts val="750"/>
              </a:spcBef>
              <a:spcAft>
                <a:spcPts val="0"/>
              </a:spcAft>
              <a:buClr>
                <a:schemeClr val="dk1"/>
              </a:buClr>
              <a:buSzPts val="2400"/>
              <a:buNone/>
            </a:pPr>
            <a:r>
              <a:rPr lang="en-US" sz="2400"/>
              <a:t>↓</a:t>
            </a:r>
            <a:endParaRPr/>
          </a:p>
          <a:p>
            <a:pPr marL="0" lvl="0" indent="0" algn="ctr" rtl="0">
              <a:lnSpc>
                <a:spcPct val="90000"/>
              </a:lnSpc>
              <a:spcBef>
                <a:spcPts val="750"/>
              </a:spcBef>
              <a:spcAft>
                <a:spcPts val="0"/>
              </a:spcAft>
              <a:buClr>
                <a:schemeClr val="dk1"/>
              </a:buClr>
              <a:buSzPts val="2400"/>
              <a:buNone/>
            </a:pPr>
            <a:r>
              <a:rPr lang="en-US" sz="2400" b="1"/>
              <a:t>IMPLEMENTED HRM</a:t>
            </a:r>
            <a:br>
              <a:rPr lang="en-US" sz="2400"/>
            </a:br>
            <a:r>
              <a:rPr lang="en-US" sz="2400" i="1"/>
              <a:t>How line managers interpret and enact it</a:t>
            </a:r>
            <a:endParaRPr sz="2400"/>
          </a:p>
          <a:p>
            <a:pPr marL="0" lvl="0" indent="0" algn="ctr" rtl="0">
              <a:lnSpc>
                <a:spcPct val="90000"/>
              </a:lnSpc>
              <a:spcBef>
                <a:spcPts val="750"/>
              </a:spcBef>
              <a:spcAft>
                <a:spcPts val="0"/>
              </a:spcAft>
              <a:buClr>
                <a:schemeClr val="dk1"/>
              </a:buClr>
              <a:buSzPts val="2400"/>
              <a:buNone/>
            </a:pPr>
            <a:r>
              <a:rPr lang="en-US" sz="2400"/>
              <a:t>↓</a:t>
            </a:r>
            <a:endParaRPr/>
          </a:p>
          <a:p>
            <a:pPr marL="0" lvl="0" indent="0" algn="ctr" rtl="0">
              <a:lnSpc>
                <a:spcPct val="90000"/>
              </a:lnSpc>
              <a:spcBef>
                <a:spcPts val="750"/>
              </a:spcBef>
              <a:spcAft>
                <a:spcPts val="0"/>
              </a:spcAft>
              <a:buClr>
                <a:schemeClr val="dk1"/>
              </a:buClr>
              <a:buSzPts val="2400"/>
              <a:buNone/>
            </a:pPr>
            <a:r>
              <a:rPr lang="en-US" sz="2400" b="1"/>
              <a:t>EXPERIENCED HRM</a:t>
            </a:r>
            <a:br>
              <a:rPr lang="en-US" sz="2400"/>
            </a:br>
            <a:r>
              <a:rPr lang="en-US" sz="2400" i="1"/>
              <a:t>How employees actually experience and respond to it</a:t>
            </a:r>
            <a:endParaRPr sz="2400"/>
          </a:p>
          <a:p>
            <a:pPr marL="0" lvl="0" indent="0" algn="ctr" rtl="0">
              <a:lnSpc>
                <a:spcPct val="90000"/>
              </a:lnSpc>
              <a:spcBef>
                <a:spcPts val="750"/>
              </a:spcBef>
              <a:spcAft>
                <a:spcPts val="0"/>
              </a:spcAft>
              <a:buClr>
                <a:schemeClr val="dk1"/>
              </a:buClr>
              <a:buSzPts val="2400"/>
              <a:buNone/>
            </a:pPr>
            <a:endParaRPr sz="2400"/>
          </a:p>
          <a:p>
            <a:pPr marL="0" lvl="0" indent="0" algn="l" rtl="0">
              <a:lnSpc>
                <a:spcPct val="90000"/>
              </a:lnSpc>
              <a:spcBef>
                <a:spcPts val="750"/>
              </a:spcBef>
              <a:spcAft>
                <a:spcPts val="0"/>
              </a:spcAft>
              <a:buClr>
                <a:schemeClr val="accent1"/>
              </a:buClr>
              <a:buSzPts val="2400"/>
              <a:buNone/>
            </a:pPr>
            <a:r>
              <a:rPr lang="en-US" sz="2400" b="1">
                <a:solidFill>
                  <a:schemeClr val="accent1"/>
                </a:solidFill>
              </a:rPr>
              <a:t>Possible gaps can emerge at every stage, for example:</a:t>
            </a:r>
            <a:endParaRPr/>
          </a:p>
          <a:p>
            <a:pPr marL="171450" lvl="0" indent="-171450" algn="l" rtl="0">
              <a:lnSpc>
                <a:spcPct val="90000"/>
              </a:lnSpc>
              <a:spcBef>
                <a:spcPts val="750"/>
              </a:spcBef>
              <a:spcAft>
                <a:spcPts val="0"/>
              </a:spcAft>
              <a:buClr>
                <a:schemeClr val="dk1"/>
              </a:buClr>
              <a:buSzPts val="2400"/>
              <a:buChar char="•"/>
            </a:pPr>
            <a:r>
              <a:rPr lang="en-US" sz="2400"/>
              <a:t>a policy may be well designed but poorly implemented; </a:t>
            </a:r>
            <a:endParaRPr/>
          </a:p>
          <a:p>
            <a:pPr marL="171450" lvl="0" indent="-171450" algn="l" rtl="0">
              <a:lnSpc>
                <a:spcPct val="90000"/>
              </a:lnSpc>
              <a:spcBef>
                <a:spcPts val="750"/>
              </a:spcBef>
              <a:spcAft>
                <a:spcPts val="0"/>
              </a:spcAft>
              <a:buClr>
                <a:schemeClr val="dk1"/>
              </a:buClr>
              <a:buSzPts val="2400"/>
              <a:buChar char="•"/>
            </a:pPr>
            <a:r>
              <a:rPr lang="en-US" sz="2400"/>
              <a:t>different managers may apply the same policy differently; </a:t>
            </a:r>
            <a:endParaRPr/>
          </a:p>
          <a:p>
            <a:pPr marL="171450" lvl="0" indent="-171450" algn="l" rtl="0">
              <a:lnSpc>
                <a:spcPct val="90000"/>
              </a:lnSpc>
              <a:spcBef>
                <a:spcPts val="750"/>
              </a:spcBef>
              <a:spcAft>
                <a:spcPts val="0"/>
              </a:spcAft>
              <a:buClr>
                <a:schemeClr val="dk1"/>
              </a:buClr>
              <a:buSzPts val="2400"/>
              <a:buChar char="•"/>
            </a:pPr>
            <a:r>
              <a:rPr lang="en-US" sz="2400"/>
              <a:t>employees may interpret the same practice differently; </a:t>
            </a:r>
            <a:endParaRPr/>
          </a:p>
          <a:p>
            <a:pPr marL="171450" lvl="0" indent="-171450" algn="l" rtl="0">
              <a:lnSpc>
                <a:spcPct val="90000"/>
              </a:lnSpc>
              <a:spcBef>
                <a:spcPts val="750"/>
              </a:spcBef>
              <a:spcAft>
                <a:spcPts val="0"/>
              </a:spcAft>
              <a:buClr>
                <a:schemeClr val="dk1"/>
              </a:buClr>
              <a:buSzPts val="2400"/>
              <a:buChar char="•"/>
            </a:pPr>
            <a:r>
              <a:rPr lang="en-US" sz="2400"/>
              <a:t>operational pressures may override formal HR intentions.</a:t>
            </a:r>
            <a:endParaRPr/>
          </a:p>
          <a:p>
            <a:pPr marL="0" lvl="0" indent="0" algn="l" rtl="0">
              <a:lnSpc>
                <a:spcPct val="90000"/>
              </a:lnSpc>
              <a:spcBef>
                <a:spcPts val="750"/>
              </a:spcBef>
              <a:spcAft>
                <a:spcPts val="0"/>
              </a:spcAft>
              <a:buClr>
                <a:schemeClr val="dk1"/>
              </a:buClr>
              <a:buSzPts val="2400"/>
              <a:buNone/>
            </a:pPr>
            <a:endParaRPr sz="2400">
              <a:solidFill>
                <a:schemeClr val="accent1"/>
              </a:solidFill>
            </a:endParaRPr>
          </a:p>
          <a:p>
            <a:pPr marL="0" lvl="0" indent="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So... why is managing people so difficult?</a:t>
            </a:r>
            <a:endParaRPr/>
          </a:p>
        </p:txBody>
      </p:sp>
      <p:sp>
        <p:nvSpPr>
          <p:cNvPr id="417" name="Google Shape;417;p49"/>
          <p:cNvSpPr txBox="1">
            <a:spLocks noGrp="1"/>
          </p:cNvSpPr>
          <p:nvPr>
            <p:ph type="body" idx="1"/>
          </p:nvPr>
        </p:nvSpPr>
        <p:spPr>
          <a:xfrm>
            <a:off x="628650" y="1825625"/>
            <a:ext cx="7886700" cy="390763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100"/>
              <a:buNone/>
            </a:pPr>
            <a:endParaRPr/>
          </a:p>
          <a:p>
            <a:pPr marL="0" lvl="0" indent="0" algn="l" rtl="0">
              <a:lnSpc>
                <a:spcPct val="90000"/>
              </a:lnSpc>
              <a:spcBef>
                <a:spcPts val="750"/>
              </a:spcBef>
              <a:spcAft>
                <a:spcPts val="0"/>
              </a:spcAft>
              <a:buClr>
                <a:schemeClr val="dk1"/>
              </a:buClr>
              <a:buSzPts val="2100"/>
              <a:buNone/>
            </a:pPr>
            <a:endParaRPr/>
          </a:p>
          <a:p>
            <a:pPr marL="0" lvl="0" indent="0" algn="l" rtl="0">
              <a:lnSpc>
                <a:spcPct val="90000"/>
              </a:lnSpc>
              <a:spcBef>
                <a:spcPts val="750"/>
              </a:spcBef>
              <a:spcAft>
                <a:spcPts val="0"/>
              </a:spcAft>
              <a:buClr>
                <a:schemeClr val="dk1"/>
              </a:buClr>
              <a:buSzPts val="2100"/>
              <a:buNone/>
            </a:pPr>
            <a:r>
              <a:rPr lang="en-US"/>
              <a:t>Wooclap activity</a:t>
            </a:r>
            <a:endParaRPr/>
          </a:p>
          <a:p>
            <a:pPr marL="0" lvl="0" indent="0" algn="l" rtl="0">
              <a:lnSpc>
                <a:spcPct val="90000"/>
              </a:lnSpc>
              <a:spcBef>
                <a:spcPts val="750"/>
              </a:spcBef>
              <a:spcAft>
                <a:spcPts val="0"/>
              </a:spcAft>
              <a:buClr>
                <a:schemeClr val="dk1"/>
              </a:buClr>
              <a:buSzPts val="2100"/>
              <a:buNone/>
            </a:pPr>
            <a:r>
              <a:rPr lang="en-US" b="1"/>
              <a:t>Which of these is most important?</a:t>
            </a:r>
            <a:endParaRPr/>
          </a:p>
          <a:p>
            <a:pPr marL="0" lvl="0" indent="0" algn="l" rtl="0">
              <a:lnSpc>
                <a:spcPct val="90000"/>
              </a:lnSpc>
              <a:spcBef>
                <a:spcPts val="750"/>
              </a:spcBef>
              <a:spcAft>
                <a:spcPts val="0"/>
              </a:spcAft>
              <a:buClr>
                <a:schemeClr val="dk1"/>
              </a:buClr>
              <a:buSzPts val="2100"/>
              <a:buNone/>
            </a:pPr>
            <a:r>
              <a:rPr lang="en-US"/>
              <a:t>A. People have different interests and motivations</a:t>
            </a:r>
            <a:br>
              <a:rPr lang="en-US"/>
            </a:br>
            <a:r>
              <a:rPr lang="en-US"/>
              <a:t>B. Managers interpret and implement policies differently</a:t>
            </a:r>
            <a:br>
              <a:rPr lang="en-US"/>
            </a:br>
            <a:r>
              <a:rPr lang="en-US"/>
              <a:t>C. Organisational culture and context affect what works</a:t>
            </a:r>
            <a:br>
              <a:rPr lang="en-US"/>
            </a:br>
            <a:r>
              <a:rPr lang="en-US"/>
              <a:t>D. Organisations face competing priorities</a:t>
            </a:r>
            <a:br>
              <a:rPr lang="en-US"/>
            </a:br>
            <a:r>
              <a:rPr lang="en-US"/>
              <a:t>E. Employees exercise their own agency</a:t>
            </a:r>
            <a:br>
              <a:rPr lang="en-US"/>
            </a:br>
            <a:r>
              <a:rPr lang="en-US"/>
              <a:t>F. All of the above</a:t>
            </a:r>
            <a:endParaRPr/>
          </a:p>
          <a:p>
            <a:pPr marL="0" lvl="0" indent="0" algn="l" rtl="0">
              <a:lnSpc>
                <a:spcPct val="90000"/>
              </a:lnSpc>
              <a:spcBef>
                <a:spcPts val="750"/>
              </a:spcBef>
              <a:spcAft>
                <a:spcPts val="0"/>
              </a:spcAft>
              <a:buClr>
                <a:schemeClr val="dk1"/>
              </a:buClr>
              <a:buSzPts val="21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0"/>
          <p:cNvSpPr txBox="1">
            <a:spLocks noGrp="1"/>
          </p:cNvSpPr>
          <p:nvPr>
            <p:ph type="title"/>
          </p:nvPr>
        </p:nvSpPr>
        <p:spPr>
          <a:xfrm>
            <a:off x="1907704" y="118957"/>
            <a:ext cx="7886700" cy="25452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b="1"/>
              <a:t>Lecture 1: Bringing it all together</a:t>
            </a:r>
            <a:endParaRPr b="1"/>
          </a:p>
        </p:txBody>
      </p:sp>
      <p:sp>
        <p:nvSpPr>
          <p:cNvPr id="424" name="Google Shape;424;p50"/>
          <p:cNvSpPr txBox="1">
            <a:spLocks noGrp="1"/>
          </p:cNvSpPr>
          <p:nvPr>
            <p:ph type="body" idx="1"/>
          </p:nvPr>
        </p:nvSpPr>
        <p:spPr>
          <a:xfrm>
            <a:off x="107504" y="620688"/>
            <a:ext cx="8928992" cy="5556275"/>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rmAutofit/>
          </a:bodyPr>
          <a:lstStyle/>
          <a:p>
            <a:pPr marL="171450" lvl="0" indent="-38100" algn="l" rtl="0">
              <a:lnSpc>
                <a:spcPct val="90000"/>
              </a:lnSpc>
              <a:spcBef>
                <a:spcPts val="0"/>
              </a:spcBef>
              <a:spcAft>
                <a:spcPts val="0"/>
              </a:spcAft>
              <a:buClr>
                <a:schemeClr val="dk1"/>
              </a:buClr>
              <a:buSzPts val="2100"/>
              <a:buNone/>
            </a:pPr>
            <a:endParaRPr/>
          </a:p>
        </p:txBody>
      </p:sp>
      <p:sp>
        <p:nvSpPr>
          <p:cNvPr id="425" name="Google Shape;425;p50"/>
          <p:cNvSpPr/>
          <p:nvPr/>
        </p:nvSpPr>
        <p:spPr>
          <a:xfrm>
            <a:off x="2591781" y="532225"/>
            <a:ext cx="4082996" cy="592519"/>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Organisations depend on people</a:t>
            </a:r>
            <a:endParaRPr sz="1800">
              <a:solidFill>
                <a:schemeClr val="lt1"/>
              </a:solidFill>
              <a:latin typeface="Arial"/>
              <a:ea typeface="Arial"/>
              <a:cs typeface="Arial"/>
              <a:sym typeface="Arial"/>
            </a:endParaRPr>
          </a:p>
        </p:txBody>
      </p:sp>
      <p:sp>
        <p:nvSpPr>
          <p:cNvPr id="426" name="Google Shape;426;p50"/>
          <p:cNvSpPr/>
          <p:nvPr/>
        </p:nvSpPr>
        <p:spPr>
          <a:xfrm>
            <a:off x="2394942" y="1311576"/>
            <a:ext cx="4476673" cy="592519"/>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OB helps us to understand behaviour</a:t>
            </a:r>
            <a:endParaRPr sz="1800">
              <a:solidFill>
                <a:schemeClr val="lt1"/>
              </a:solidFill>
              <a:latin typeface="Arial"/>
              <a:ea typeface="Arial"/>
              <a:cs typeface="Arial"/>
              <a:sym typeface="Arial"/>
            </a:endParaRPr>
          </a:p>
        </p:txBody>
      </p:sp>
      <p:sp>
        <p:nvSpPr>
          <p:cNvPr id="427" name="Google Shape;427;p50"/>
          <p:cNvSpPr/>
          <p:nvPr/>
        </p:nvSpPr>
        <p:spPr>
          <a:xfrm>
            <a:off x="1475657" y="2040196"/>
            <a:ext cx="6480720" cy="657885"/>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HRM manages the employment relationship</a:t>
            </a:r>
            <a:endParaRPr/>
          </a:p>
        </p:txBody>
      </p:sp>
      <p:sp>
        <p:nvSpPr>
          <p:cNvPr id="428" name="Google Shape;428;p50"/>
          <p:cNvSpPr/>
          <p:nvPr/>
        </p:nvSpPr>
        <p:spPr>
          <a:xfrm>
            <a:off x="2498033" y="2810999"/>
            <a:ext cx="4500499" cy="618001"/>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But employment is indeterminate</a:t>
            </a:r>
            <a:endParaRPr/>
          </a:p>
        </p:txBody>
      </p:sp>
      <p:sp>
        <p:nvSpPr>
          <p:cNvPr id="429" name="Google Shape;429;p50"/>
          <p:cNvSpPr/>
          <p:nvPr/>
        </p:nvSpPr>
        <p:spPr>
          <a:xfrm>
            <a:off x="1979713" y="3517463"/>
            <a:ext cx="5976664" cy="715584"/>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HRM therefore uses practices to shape contribution</a:t>
            </a:r>
            <a:endParaRPr/>
          </a:p>
        </p:txBody>
      </p:sp>
      <p:sp>
        <p:nvSpPr>
          <p:cNvPr id="430" name="Google Shape;430;p50"/>
          <p:cNvSpPr/>
          <p:nvPr/>
        </p:nvSpPr>
        <p:spPr>
          <a:xfrm>
            <a:off x="1475657" y="4383105"/>
            <a:ext cx="6912767" cy="643211"/>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What is intended is not always what happens</a:t>
            </a:r>
            <a:endParaRPr/>
          </a:p>
        </p:txBody>
      </p:sp>
      <p:sp>
        <p:nvSpPr>
          <p:cNvPr id="431" name="Google Shape;431;p50"/>
          <p:cNvSpPr/>
          <p:nvPr/>
        </p:nvSpPr>
        <p:spPr>
          <a:xfrm>
            <a:off x="571818" y="5141075"/>
            <a:ext cx="8352928" cy="720080"/>
          </a:xfrm>
          <a:prstGeom prst="roundRect">
            <a:avLst>
              <a:gd name="adj" fmla="val 16667"/>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Intended HRM ≠ Implemented HRM ≠ Experienced HRM</a:t>
            </a:r>
            <a:endParaRPr/>
          </a:p>
        </p:txBody>
      </p:sp>
      <p:sp>
        <p:nvSpPr>
          <p:cNvPr id="432" name="Google Shape;432;p50"/>
          <p:cNvSpPr txBox="1"/>
          <p:nvPr/>
        </p:nvSpPr>
        <p:spPr>
          <a:xfrm>
            <a:off x="556755" y="5918071"/>
            <a:ext cx="8311483"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This is why managing people is both strategically important and difficult.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6"/>
        <p:cNvGrpSpPr/>
        <p:nvPr/>
      </p:nvGrpSpPr>
      <p:grpSpPr>
        <a:xfrm>
          <a:off x="0" y="0"/>
          <a:ext cx="0" cy="0"/>
          <a:chOff x="0" y="0"/>
          <a:chExt cx="0" cy="0"/>
        </a:xfrm>
      </p:grpSpPr>
      <p:sp>
        <p:nvSpPr>
          <p:cNvPr id="437" name="Google Shape;437;p51"/>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8" name="Google Shape;438;p51"/>
          <p:cNvSpPr/>
          <p:nvPr/>
        </p:nvSpPr>
        <p:spPr>
          <a:xfrm flipH="1">
            <a:off x="6432540" y="3335867"/>
            <a:ext cx="2468880" cy="3200400"/>
          </a:xfrm>
          <a:prstGeom prst="rtTriangl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9" name="Google Shape;439;p51"/>
          <p:cNvSpPr/>
          <p:nvPr/>
        </p:nvSpPr>
        <p:spPr>
          <a:xfrm>
            <a:off x="481330" y="623275"/>
            <a:ext cx="8178790" cy="5607882"/>
          </a:xfrm>
          <a:prstGeom prst="rect">
            <a:avLst/>
          </a:prstGeom>
          <a:noFill/>
          <a:ln w="19050" cap="flat" cmpd="sng">
            <a:solidFill>
              <a:srgbClr val="3F3F3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0" name="Google Shape;440;p51"/>
          <p:cNvSpPr txBox="1">
            <a:spLocks noGrp="1"/>
          </p:cNvSpPr>
          <p:nvPr>
            <p:ph type="title"/>
          </p:nvPr>
        </p:nvSpPr>
        <p:spPr>
          <a:xfrm>
            <a:off x="963930" y="1008993"/>
            <a:ext cx="6923558" cy="35420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500"/>
              <a:buFont typeface="Play"/>
              <a:buNone/>
            </a:pPr>
            <a:r>
              <a:rPr lang="en-US" sz="5500">
                <a:solidFill>
                  <a:schemeClr val="dk1"/>
                </a:solidFill>
                <a:latin typeface="Play"/>
                <a:ea typeface="Play"/>
                <a:cs typeface="Play"/>
                <a:sym typeface="Play"/>
              </a:rPr>
              <a:t>In one sentence, what is the main thing you are taking from today's lecture?</a:t>
            </a:r>
            <a:endParaRPr/>
          </a:p>
        </p:txBody>
      </p:sp>
      <p:sp>
        <p:nvSpPr>
          <p:cNvPr id="441" name="Google Shape;441;p51"/>
          <p:cNvSpPr txBox="1">
            <a:spLocks noGrp="1"/>
          </p:cNvSpPr>
          <p:nvPr>
            <p:ph type="body" idx="1"/>
          </p:nvPr>
        </p:nvSpPr>
        <p:spPr>
          <a:xfrm>
            <a:off x="963930" y="4582814"/>
            <a:ext cx="5349252" cy="13126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solidFill>
                  <a:schemeClr val="dk1"/>
                </a:solidFill>
                <a:latin typeface="Arial"/>
                <a:ea typeface="Arial"/>
                <a:cs typeface="Arial"/>
                <a:sym typeface="Arial"/>
              </a:rPr>
              <a:t>Wooclap activity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6"/>
        <p:cNvGrpSpPr/>
        <p:nvPr/>
      </p:nvGrpSpPr>
      <p:grpSpPr>
        <a:xfrm>
          <a:off x="0" y="0"/>
          <a:ext cx="0" cy="0"/>
          <a:chOff x="0" y="0"/>
          <a:chExt cx="0" cy="0"/>
        </a:xfrm>
      </p:grpSpPr>
      <p:sp>
        <p:nvSpPr>
          <p:cNvPr id="447" name="Google Shape;447;p52"/>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8" name="Google Shape;448;p52"/>
          <p:cNvSpPr/>
          <p:nvPr/>
        </p:nvSpPr>
        <p:spPr>
          <a:xfrm rot="3967198" flipH="1">
            <a:off x="6100024" y="863980"/>
            <a:ext cx="2987899" cy="2240924"/>
          </a:xfrm>
          <a:prstGeom prst="arc">
            <a:avLst>
              <a:gd name="adj1" fmla="val 14441841"/>
              <a:gd name="adj2" fmla="val 0"/>
            </a:avLst>
          </a:prstGeom>
          <a:noFill/>
          <a:ln w="127000" cap="rnd" cmpd="sng">
            <a:solidFill>
              <a:schemeClr val="accent4"/>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9" name="Google Shape;449;p52"/>
          <p:cNvSpPr txBox="1">
            <a:spLocks noGrp="1"/>
          </p:cNvSpPr>
          <p:nvPr>
            <p:ph type="title"/>
          </p:nvPr>
        </p:nvSpPr>
        <p:spPr>
          <a:xfrm>
            <a:off x="4421221" y="479493"/>
            <a:ext cx="409412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300"/>
              <a:buFont typeface="Play"/>
              <a:buNone/>
            </a:pPr>
            <a:r>
              <a:rPr lang="en-US" b="1"/>
              <a:t>Key Reading - Lecture 1</a:t>
            </a:r>
            <a:endParaRPr/>
          </a:p>
        </p:txBody>
      </p:sp>
      <p:sp>
        <p:nvSpPr>
          <p:cNvPr id="450" name="Google Shape;450;p52"/>
          <p:cNvSpPr/>
          <p:nvPr/>
        </p:nvSpPr>
        <p:spPr>
          <a:xfrm flipH="1">
            <a:off x="0" y="5486400"/>
            <a:ext cx="2004647" cy="1371600"/>
          </a:xfrm>
          <a:custGeom>
            <a:avLst/>
            <a:gdLst/>
            <a:ahLst/>
            <a:cxnLst/>
            <a:rect l="l" t="t" r="r" b="b"/>
            <a:pathLst>
              <a:path w="2672863" h="1371600" extrusionOk="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2" name="Google Shape;452;p52"/>
          <p:cNvSpPr txBox="1">
            <a:spLocks noGrp="1"/>
          </p:cNvSpPr>
          <p:nvPr>
            <p:ph type="body" idx="1"/>
          </p:nvPr>
        </p:nvSpPr>
        <p:spPr>
          <a:xfrm>
            <a:off x="4421221" y="1984443"/>
            <a:ext cx="4094129" cy="41925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100"/>
              <a:buNone/>
            </a:pPr>
            <a:r>
              <a:rPr lang="en-US" b="1" dirty="0"/>
              <a:t>Wilkinson, Redman &amp; Dundon</a:t>
            </a:r>
            <a:br>
              <a:rPr lang="en-US" dirty="0"/>
            </a:br>
            <a:r>
              <a:rPr lang="en-US" i="1" dirty="0"/>
              <a:t>Contemporary Human Resource Management</a:t>
            </a:r>
            <a:endParaRPr dirty="0"/>
          </a:p>
          <a:p>
            <a:pPr marL="0" lvl="0" indent="0" algn="l" rtl="0">
              <a:lnSpc>
                <a:spcPct val="90000"/>
              </a:lnSpc>
              <a:spcBef>
                <a:spcPts val="750"/>
              </a:spcBef>
              <a:spcAft>
                <a:spcPts val="0"/>
              </a:spcAft>
              <a:buClr>
                <a:schemeClr val="dk1"/>
              </a:buClr>
              <a:buSzPts val="2100"/>
              <a:buNone/>
            </a:pPr>
            <a:endParaRPr b="1" dirty="0"/>
          </a:p>
          <a:p>
            <a:pPr marL="0" lvl="0" indent="0" algn="l" rtl="0">
              <a:lnSpc>
                <a:spcPct val="90000"/>
              </a:lnSpc>
              <a:spcBef>
                <a:spcPts val="750"/>
              </a:spcBef>
              <a:spcAft>
                <a:spcPts val="0"/>
              </a:spcAft>
              <a:buClr>
                <a:schemeClr val="dk1"/>
              </a:buClr>
              <a:buSzPts val="2100"/>
              <a:buNone/>
            </a:pPr>
            <a:r>
              <a:rPr lang="en-US" b="1" dirty="0"/>
              <a:t>Chapter 1: Human Resource Management: A Contemporary Perspective</a:t>
            </a:r>
            <a:endParaRPr dirty="0"/>
          </a:p>
          <a:p>
            <a:pPr marL="0" lvl="0" indent="0" algn="l" rtl="0">
              <a:lnSpc>
                <a:spcPct val="90000"/>
              </a:lnSpc>
              <a:spcBef>
                <a:spcPts val="750"/>
              </a:spcBef>
              <a:spcAft>
                <a:spcPts val="0"/>
              </a:spcAft>
              <a:buClr>
                <a:schemeClr val="dk1"/>
              </a:buClr>
              <a:buSzPts val="2100"/>
              <a:buNone/>
            </a:pPr>
            <a:r>
              <a:rPr lang="en-US" b="1" dirty="0"/>
              <a:t>Available electronically through Leganto on</a:t>
            </a:r>
            <a:endParaRPr dirty="0"/>
          </a:p>
          <a:p>
            <a:pPr marL="0" lvl="0" indent="0" algn="l" rtl="0">
              <a:lnSpc>
                <a:spcPct val="90000"/>
              </a:lnSpc>
              <a:spcBef>
                <a:spcPts val="750"/>
              </a:spcBef>
              <a:spcAft>
                <a:spcPts val="0"/>
              </a:spcAft>
              <a:buClr>
                <a:schemeClr val="dk1"/>
              </a:buClr>
              <a:buSzPts val="2100"/>
              <a:buNone/>
            </a:pPr>
            <a:r>
              <a:rPr lang="en-US" b="1" dirty="0"/>
              <a:t>Module Reading List on Blackboard</a:t>
            </a:r>
            <a:endParaRPr dirty="0"/>
          </a:p>
          <a:p>
            <a:pPr marL="171450" lvl="0" indent="-3810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None/>
            </a:pPr>
            <a:endParaRPr dirty="0"/>
          </a:p>
          <a:p>
            <a:pPr marL="171450" lvl="0" indent="-38100" algn="l" rtl="0">
              <a:lnSpc>
                <a:spcPct val="90000"/>
              </a:lnSpc>
              <a:spcBef>
                <a:spcPts val="750"/>
              </a:spcBef>
              <a:spcAft>
                <a:spcPts val="0"/>
              </a:spcAft>
              <a:buClr>
                <a:schemeClr val="dk1"/>
              </a:buClr>
              <a:buSzPts val="2100"/>
              <a:buNone/>
            </a:pPr>
            <a:endParaRPr dirty="0"/>
          </a:p>
          <a:p>
            <a:pPr marL="171450" lvl="0" indent="-38100" algn="l" rtl="0">
              <a:lnSpc>
                <a:spcPct val="90000"/>
              </a:lnSpc>
              <a:spcBef>
                <a:spcPts val="750"/>
              </a:spcBef>
              <a:spcAft>
                <a:spcPts val="0"/>
              </a:spcAft>
              <a:buClr>
                <a:schemeClr val="dk1"/>
              </a:buClr>
              <a:buSzPts val="2100"/>
              <a:buNone/>
            </a:pPr>
            <a:endParaRPr dirty="0"/>
          </a:p>
          <a:p>
            <a:pPr marL="0" lvl="0" indent="0" algn="l" rtl="0">
              <a:lnSpc>
                <a:spcPct val="90000"/>
              </a:lnSpc>
              <a:spcBef>
                <a:spcPts val="750"/>
              </a:spcBef>
              <a:spcAft>
                <a:spcPts val="0"/>
              </a:spcAft>
              <a:buClr>
                <a:schemeClr val="dk1"/>
              </a:buClr>
              <a:buSzPts val="2100"/>
              <a:buNone/>
            </a:pPr>
            <a:endParaRPr dirty="0"/>
          </a:p>
        </p:txBody>
      </p:sp>
      <p:pic>
        <p:nvPicPr>
          <p:cNvPr id="3" name="Picture 2" descr="Image of core text book Contemporary Human Resource Management 5th edition (2017).">
            <a:extLst>
              <a:ext uri="{FF2B5EF4-FFF2-40B4-BE49-F238E27FC236}">
                <a16:creationId xmlns:a16="http://schemas.microsoft.com/office/drawing/2014/main" id="{6386BE29-1D53-4625-34E1-7F396DE5DF8B}"/>
              </a:ext>
            </a:extLst>
          </p:cNvPr>
          <p:cNvPicPr>
            <a:picLocks noChangeAspect="1"/>
          </p:cNvPicPr>
          <p:nvPr/>
        </p:nvPicPr>
        <p:blipFill>
          <a:blip r:embed="rId3"/>
          <a:stretch>
            <a:fillRect/>
          </a:stretch>
        </p:blipFill>
        <p:spPr>
          <a:xfrm>
            <a:off x="921572" y="1291771"/>
            <a:ext cx="2578078" cy="35269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7"/>
        <p:cNvGrpSpPr/>
        <p:nvPr/>
      </p:nvGrpSpPr>
      <p:grpSpPr>
        <a:xfrm>
          <a:off x="0" y="0"/>
          <a:ext cx="0" cy="0"/>
          <a:chOff x="0" y="0"/>
          <a:chExt cx="0" cy="0"/>
        </a:xfrm>
      </p:grpSpPr>
      <p:sp>
        <p:nvSpPr>
          <p:cNvPr id="458" name="Google Shape;458;p53"/>
          <p:cNvSpPr/>
          <p:nvPr/>
        </p:nvSpPr>
        <p:spPr>
          <a:xfrm>
            <a:off x="0" y="0"/>
            <a:ext cx="9144000" cy="6858000"/>
          </a:xfrm>
          <a:prstGeom prst="rect">
            <a:avLst/>
          </a:prstGeom>
          <a:solidFill>
            <a:srgbClr val="0C0C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59" name="Google Shape;459;p53"/>
          <p:cNvSpPr txBox="1">
            <a:spLocks noGrp="1"/>
          </p:cNvSpPr>
          <p:nvPr>
            <p:ph type="title"/>
          </p:nvPr>
        </p:nvSpPr>
        <p:spPr>
          <a:xfrm>
            <a:off x="691976" y="1250575"/>
            <a:ext cx="3453205" cy="41632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3900"/>
              <a:buFont typeface="Play"/>
              <a:buNone/>
            </a:pPr>
            <a:r>
              <a:rPr lang="en-US" sz="3900" b="1">
                <a:solidFill>
                  <a:schemeClr val="lt1"/>
                </a:solidFill>
              </a:rPr>
              <a:t>Tutorial 1 – Assumptions about Organisations</a:t>
            </a:r>
            <a:br>
              <a:rPr lang="en-US" sz="3900" b="1">
                <a:solidFill>
                  <a:schemeClr val="lt1"/>
                </a:solidFill>
              </a:rPr>
            </a:br>
            <a:r>
              <a:rPr lang="en-US" sz="3900" b="1">
                <a:solidFill>
                  <a:schemeClr val="lt1"/>
                </a:solidFill>
              </a:rPr>
              <a:t>(week commencing October 6)</a:t>
            </a:r>
            <a:endParaRPr/>
          </a:p>
        </p:txBody>
      </p:sp>
      <p:sp>
        <p:nvSpPr>
          <p:cNvPr id="460" name="Google Shape;460;p53"/>
          <p:cNvSpPr/>
          <p:nvPr/>
        </p:nvSpPr>
        <p:spPr>
          <a:xfrm>
            <a:off x="544857" y="1100949"/>
            <a:ext cx="3747444" cy="4462463"/>
          </a:xfrm>
          <a:prstGeom prst="rect">
            <a:avLst/>
          </a:prstGeom>
          <a:noFill/>
          <a:ln w="127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1" name="Google Shape;461;p53"/>
          <p:cNvSpPr txBox="1">
            <a:spLocks noGrp="1"/>
          </p:cNvSpPr>
          <p:nvPr>
            <p:ph type="body" idx="1"/>
          </p:nvPr>
        </p:nvSpPr>
        <p:spPr>
          <a:xfrm>
            <a:off x="5148064" y="1412776"/>
            <a:ext cx="3598431" cy="5023821"/>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90000"/>
              </a:lnSpc>
              <a:spcBef>
                <a:spcPts val="0"/>
              </a:spcBef>
              <a:spcAft>
                <a:spcPts val="0"/>
              </a:spcAft>
              <a:buClr>
                <a:schemeClr val="lt1"/>
              </a:buClr>
              <a:buSzPts val="2000"/>
              <a:buNone/>
            </a:pPr>
            <a:r>
              <a:rPr lang="en-US" sz="2000" b="1">
                <a:solidFill>
                  <a:schemeClr val="lt1"/>
                </a:solidFill>
              </a:rPr>
              <a:t>Before the tutorial, think about an organisation you know. </a:t>
            </a:r>
            <a:endParaRPr sz="2000">
              <a:solidFill>
                <a:schemeClr val="lt1"/>
              </a:solidFill>
            </a:endParaRPr>
          </a:p>
          <a:p>
            <a:pPr marL="0" lvl="0" indent="0" algn="l" rtl="0">
              <a:lnSpc>
                <a:spcPct val="90000"/>
              </a:lnSpc>
              <a:spcBef>
                <a:spcPts val="750"/>
              </a:spcBef>
              <a:spcAft>
                <a:spcPts val="0"/>
              </a:spcAft>
              <a:buClr>
                <a:schemeClr val="lt1"/>
              </a:buClr>
              <a:buSzPts val="2000"/>
              <a:buNone/>
            </a:pPr>
            <a:r>
              <a:rPr lang="en-US" sz="2000" b="1">
                <a:solidFill>
                  <a:schemeClr val="lt1"/>
                </a:solidFill>
              </a:rPr>
              <a:t>What assumptions does it appear to make about how people behave at work?</a:t>
            </a:r>
            <a:endParaRPr sz="2000">
              <a:solidFill>
                <a:schemeClr val="lt1"/>
              </a:solidFill>
            </a:endParaRPr>
          </a:p>
          <a:p>
            <a:pPr marL="0" lvl="0" indent="0" algn="l" rtl="0">
              <a:lnSpc>
                <a:spcPct val="90000"/>
              </a:lnSpc>
              <a:spcBef>
                <a:spcPts val="750"/>
              </a:spcBef>
              <a:spcAft>
                <a:spcPts val="0"/>
              </a:spcAft>
              <a:buClr>
                <a:schemeClr val="lt1"/>
              </a:buClr>
              <a:buSzPts val="2000"/>
              <a:buNone/>
            </a:pPr>
            <a:r>
              <a:rPr lang="en-US" sz="2000">
                <a:solidFill>
                  <a:schemeClr val="lt1"/>
                </a:solidFill>
              </a:rPr>
              <a:t>In the tutorial you will:</a:t>
            </a:r>
            <a:endParaRPr/>
          </a:p>
          <a:p>
            <a:pPr marL="171450" lvl="0" indent="-171450" algn="l" rtl="0">
              <a:lnSpc>
                <a:spcPct val="90000"/>
              </a:lnSpc>
              <a:spcBef>
                <a:spcPts val="750"/>
              </a:spcBef>
              <a:spcAft>
                <a:spcPts val="0"/>
              </a:spcAft>
              <a:buClr>
                <a:schemeClr val="lt1"/>
              </a:buClr>
              <a:buSzPts val="2000"/>
              <a:buChar char="•"/>
            </a:pPr>
            <a:r>
              <a:rPr lang="en-US" sz="2000">
                <a:solidFill>
                  <a:schemeClr val="lt1"/>
                </a:solidFill>
              </a:rPr>
              <a:t>reflect individually; </a:t>
            </a:r>
            <a:endParaRPr/>
          </a:p>
          <a:p>
            <a:pPr marL="171450" lvl="0" indent="-171450" algn="l" rtl="0">
              <a:lnSpc>
                <a:spcPct val="90000"/>
              </a:lnSpc>
              <a:spcBef>
                <a:spcPts val="750"/>
              </a:spcBef>
              <a:spcAft>
                <a:spcPts val="0"/>
              </a:spcAft>
              <a:buClr>
                <a:schemeClr val="lt1"/>
              </a:buClr>
              <a:buSzPts val="2000"/>
              <a:buChar char="•"/>
            </a:pPr>
            <a:r>
              <a:rPr lang="en-US" sz="2000">
                <a:solidFill>
                  <a:schemeClr val="lt1"/>
                </a:solidFill>
              </a:rPr>
              <a:t>compare your assumptions with others; </a:t>
            </a:r>
            <a:endParaRPr/>
          </a:p>
          <a:p>
            <a:pPr marL="171450" lvl="0" indent="-171450" algn="l" rtl="0">
              <a:lnSpc>
                <a:spcPct val="90000"/>
              </a:lnSpc>
              <a:spcBef>
                <a:spcPts val="750"/>
              </a:spcBef>
              <a:spcAft>
                <a:spcPts val="0"/>
              </a:spcAft>
              <a:buClr>
                <a:schemeClr val="lt1"/>
              </a:buClr>
              <a:buSzPts val="2000"/>
              <a:buChar char="•"/>
            </a:pPr>
            <a:r>
              <a:rPr lang="en-US" sz="2000">
                <a:solidFill>
                  <a:schemeClr val="lt1"/>
                </a:solidFill>
              </a:rPr>
              <a:t>discuss how different assumptions shape approaches to managing people. </a:t>
            </a:r>
            <a:endParaRPr/>
          </a:p>
          <a:p>
            <a:pPr marL="171450" lvl="0" indent="-171450" algn="l" rtl="0">
              <a:lnSpc>
                <a:spcPct val="90000"/>
              </a:lnSpc>
              <a:spcBef>
                <a:spcPts val="750"/>
              </a:spcBef>
              <a:spcAft>
                <a:spcPts val="0"/>
              </a:spcAft>
              <a:buClr>
                <a:schemeClr val="lt1"/>
              </a:buClr>
              <a:buSzPts val="2000"/>
              <a:buChar char="•"/>
            </a:pPr>
            <a:r>
              <a:rPr lang="en-US" sz="2000" b="1">
                <a:solidFill>
                  <a:schemeClr val="lt1"/>
                </a:solidFill>
              </a:rPr>
              <a:t>Check Blackboard and your timetable for preparation, group, time and location.</a:t>
            </a:r>
            <a:endParaRPr sz="2000">
              <a:solidFill>
                <a:schemeClr val="lt1"/>
              </a:solidFill>
            </a:endParaRPr>
          </a:p>
          <a:p>
            <a:pPr marL="171450" lvl="0" indent="-63500" algn="l" rtl="0">
              <a:lnSpc>
                <a:spcPct val="90000"/>
              </a:lnSpc>
              <a:spcBef>
                <a:spcPts val="750"/>
              </a:spcBef>
              <a:spcAft>
                <a:spcPts val="0"/>
              </a:spcAft>
              <a:buClr>
                <a:schemeClr val="dk1"/>
              </a:buClr>
              <a:buSzPts val="1700"/>
              <a:buNone/>
            </a:pPr>
            <a:endParaRPr sz="1700">
              <a:solidFill>
                <a:schemeClr val="lt1"/>
              </a:solidFill>
            </a:endParaRPr>
          </a:p>
          <a:p>
            <a:pPr marL="171450" lvl="0" indent="-63500" algn="l" rtl="0">
              <a:lnSpc>
                <a:spcPct val="90000"/>
              </a:lnSpc>
              <a:spcBef>
                <a:spcPts val="750"/>
              </a:spcBef>
              <a:spcAft>
                <a:spcPts val="0"/>
              </a:spcAft>
              <a:buClr>
                <a:schemeClr val="dk1"/>
              </a:buClr>
              <a:buSzPts val="1700"/>
              <a:buNone/>
            </a:pPr>
            <a:endParaRPr sz="1700">
              <a:solidFill>
                <a:schemeClr val="lt1"/>
              </a:solidFill>
            </a:endParaRPr>
          </a:p>
          <a:p>
            <a:pPr marL="171450" lvl="0" indent="-63500" algn="l" rtl="0">
              <a:lnSpc>
                <a:spcPct val="90000"/>
              </a:lnSpc>
              <a:spcBef>
                <a:spcPts val="750"/>
              </a:spcBef>
              <a:spcAft>
                <a:spcPts val="0"/>
              </a:spcAft>
              <a:buClr>
                <a:schemeClr val="dk1"/>
              </a:buClr>
              <a:buSzPts val="1700"/>
              <a:buNone/>
            </a:pPr>
            <a:endParaRPr sz="1700">
              <a:solidFill>
                <a:schemeClr val="lt1"/>
              </a:solidFill>
            </a:endParaRPr>
          </a:p>
          <a:p>
            <a:pPr marL="0" lvl="0" indent="0" algn="l" rtl="0">
              <a:lnSpc>
                <a:spcPct val="90000"/>
              </a:lnSpc>
              <a:spcBef>
                <a:spcPts val="750"/>
              </a:spcBef>
              <a:spcAft>
                <a:spcPts val="0"/>
              </a:spcAft>
              <a:buClr>
                <a:schemeClr val="dk1"/>
              </a:buClr>
              <a:buSzPts val="1700"/>
              <a:buFont typeface="Arial"/>
              <a:buNone/>
            </a:pPr>
            <a:endParaRPr sz="1700" b="1">
              <a:solidFill>
                <a:schemeClr val="lt1"/>
              </a:solidFill>
            </a:endParaRPr>
          </a:p>
          <a:p>
            <a:pPr marL="0" lvl="0" indent="0" algn="l" rtl="0">
              <a:lnSpc>
                <a:spcPct val="90000"/>
              </a:lnSpc>
              <a:spcBef>
                <a:spcPts val="750"/>
              </a:spcBef>
              <a:spcAft>
                <a:spcPts val="0"/>
              </a:spcAft>
              <a:buClr>
                <a:schemeClr val="dk1"/>
              </a:buClr>
              <a:buSzPts val="1700"/>
              <a:buFont typeface="Arial"/>
              <a:buNone/>
            </a:pPr>
            <a:endParaRPr sz="1700" b="1">
              <a:solidFill>
                <a:schemeClr val="lt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2263</Words>
  <Application>Microsoft Office PowerPoint</Application>
  <PresentationFormat>On-screen Show (4:3)</PresentationFormat>
  <Paragraphs>370</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Play</vt:lpstr>
      <vt:lpstr>Calibri</vt:lpstr>
      <vt:lpstr>Office Theme</vt:lpstr>
      <vt:lpstr>MGT650 Managing People in Organisations  Why is managing people so difficult?   Professor Diane Burns d.burns@sheffield.ac.uk     </vt:lpstr>
      <vt:lpstr>Welcome!</vt:lpstr>
      <vt:lpstr>PowerPoint Presentation</vt:lpstr>
      <vt:lpstr>Teaching Team</vt:lpstr>
      <vt:lpstr>4 Things You Need to Know</vt:lpstr>
      <vt:lpstr>Topics – journey through the module</vt:lpstr>
      <vt:lpstr>PowerPoint Presentation</vt:lpstr>
      <vt:lpstr>How to use the reading</vt:lpstr>
      <vt:lpstr>Assessment details</vt:lpstr>
      <vt:lpstr>Module Feedback &amp; Changes </vt:lpstr>
      <vt:lpstr>How to get help</vt:lpstr>
      <vt:lpstr>What are:  Organisations,  Organisational Behaviour (OB) and Human Resource Management (HRM). What are some of the central debates about managing people? </vt:lpstr>
      <vt:lpstr>Defining a Work Organisation</vt:lpstr>
      <vt:lpstr>Defining a Work Organisation Cont.</vt:lpstr>
      <vt:lpstr>Organisations differ enormously </vt:lpstr>
      <vt:lpstr>Understanding Organisational Behaviour (OB)</vt:lpstr>
      <vt:lpstr> Human Resource Management (HRM)</vt:lpstr>
      <vt:lpstr>Human Resource Management (HRM)</vt:lpstr>
      <vt:lpstr>In other words… </vt:lpstr>
      <vt:lpstr>What does a Human Resource Department actually do?</vt:lpstr>
      <vt:lpstr>Approaches to the study of HRM</vt:lpstr>
      <vt:lpstr>Scholars have distinguished between two broad approaches to managing people</vt:lpstr>
      <vt:lpstr>Case Activity</vt:lpstr>
      <vt:lpstr>Case Activity: Multiple Choice Questions</vt:lpstr>
      <vt:lpstr>Example: A large hotel chain </vt:lpstr>
      <vt:lpstr>What’s really happening inside organisations?</vt:lpstr>
      <vt:lpstr>Key point</vt:lpstr>
      <vt:lpstr>HRM also has to make organisations work </vt:lpstr>
      <vt:lpstr>HRM involves competing priorities</vt:lpstr>
      <vt:lpstr>Can organisations both value and control employees?</vt:lpstr>
      <vt:lpstr>The employment relationship: a fundamental challenge </vt:lpstr>
      <vt:lpstr>From managing people to Strategic HRM</vt:lpstr>
      <vt:lpstr>Why might people provide strategic value? </vt:lpstr>
      <vt:lpstr>Thinking point…</vt:lpstr>
      <vt:lpstr>Why can Strategic HRM be difficult to implement? </vt:lpstr>
      <vt:lpstr>From intended HRM to experienced HRM</vt:lpstr>
      <vt:lpstr>So... why is managing people so difficult?</vt:lpstr>
      <vt:lpstr>Lecture 1: Bringing it all together</vt:lpstr>
      <vt:lpstr>In one sentence, what is the main thing you are taking from today's lecture?</vt:lpstr>
      <vt:lpstr>Key Reading - Lecture 1</vt:lpstr>
      <vt:lpstr>Tutorial 1 – Assumptions about Organisations (week commencing October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Diane Burns</dc:creator>
  <cp:lastModifiedBy>Diane Burns</cp:lastModifiedBy>
  <cp:revision>10</cp:revision>
  <dcterms:modified xsi:type="dcterms:W3CDTF">2026-09-23T08:51:58Z</dcterms:modified>
</cp:coreProperties>
</file>