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autoCompressPictures="0">
  <p:sldMasterIdLst>
    <p:sldMasterId id="2147484196" r:id="rId1"/>
  </p:sldMasterIdLst>
  <p:notesMasterIdLst>
    <p:notesMasterId r:id="rId69"/>
  </p:notesMasterIdLst>
  <p:sldIdLst>
    <p:sldId id="550" r:id="rId2"/>
    <p:sldId id="314" r:id="rId3"/>
    <p:sldId id="316" r:id="rId4"/>
    <p:sldId id="336" r:id="rId5"/>
    <p:sldId id="551" r:id="rId6"/>
    <p:sldId id="570" r:id="rId7"/>
    <p:sldId id="571" r:id="rId8"/>
    <p:sldId id="552" r:id="rId9"/>
    <p:sldId id="263" r:id="rId10"/>
    <p:sldId id="553" r:id="rId11"/>
    <p:sldId id="554" r:id="rId12"/>
    <p:sldId id="560" r:id="rId13"/>
    <p:sldId id="555" r:id="rId14"/>
    <p:sldId id="561" r:id="rId15"/>
    <p:sldId id="562" r:id="rId16"/>
    <p:sldId id="556" r:id="rId17"/>
    <p:sldId id="557" r:id="rId18"/>
    <p:sldId id="353" r:id="rId19"/>
    <p:sldId id="558" r:id="rId20"/>
    <p:sldId id="564" r:id="rId21"/>
    <p:sldId id="565" r:id="rId22"/>
    <p:sldId id="501" r:id="rId23"/>
    <p:sldId id="503" r:id="rId24"/>
    <p:sldId id="388" r:id="rId25"/>
    <p:sldId id="354" r:id="rId26"/>
    <p:sldId id="478" r:id="rId27"/>
    <p:sldId id="467" r:id="rId28"/>
    <p:sldId id="455" r:id="rId29"/>
    <p:sldId id="355" r:id="rId30"/>
    <p:sldId id="456" r:id="rId31"/>
    <p:sldId id="457" r:id="rId32"/>
    <p:sldId id="305" r:id="rId33"/>
    <p:sldId id="470" r:id="rId34"/>
    <p:sldId id="559" r:id="rId35"/>
    <p:sldId id="567" r:id="rId36"/>
    <p:sldId id="566" r:id="rId37"/>
    <p:sldId id="471" r:id="rId38"/>
    <p:sldId id="472" r:id="rId39"/>
    <p:sldId id="474" r:id="rId40"/>
    <p:sldId id="476" r:id="rId41"/>
    <p:sldId id="481" r:id="rId42"/>
    <p:sldId id="487" r:id="rId43"/>
    <p:sldId id="468" r:id="rId44"/>
    <p:sldId id="505" r:id="rId45"/>
    <p:sldId id="513" r:id="rId46"/>
    <p:sldId id="458" r:id="rId47"/>
    <p:sldId id="303" r:id="rId48"/>
    <p:sldId id="304" r:id="rId49"/>
    <p:sldId id="572" r:id="rId50"/>
    <p:sldId id="306" r:id="rId51"/>
    <p:sldId id="479" r:id="rId52"/>
    <p:sldId id="480" r:id="rId53"/>
    <p:sldId id="262" r:id="rId54"/>
    <p:sldId id="483" r:id="rId55"/>
    <p:sldId id="308" r:id="rId56"/>
    <p:sldId id="331" r:id="rId57"/>
    <p:sldId id="488" r:id="rId58"/>
    <p:sldId id="484" r:id="rId59"/>
    <p:sldId id="404" r:id="rId60"/>
    <p:sldId id="401" r:id="rId61"/>
    <p:sldId id="485" r:id="rId62"/>
    <p:sldId id="549" r:id="rId63"/>
    <p:sldId id="569" r:id="rId64"/>
    <p:sldId id="568" r:id="rId65"/>
    <p:sldId id="491" r:id="rId66"/>
    <p:sldId id="524" r:id="rId67"/>
    <p:sldId id="311" r:id="rId68"/>
  </p:sldIdLst>
  <p:sldSz cx="12192000" cy="6858000"/>
  <p:notesSz cx="7099300" cy="10234613"/>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A61922B7-5B1D-4B4C-8D8B-0434D8701D13}">
  <a:tblStyle styleId="{A61922B7-5B1D-4B4C-8D8B-0434D8701D13}"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7E41F2A4-3312-473D-BDC1-C575FF68CF46}" styleName="Table_1">
    <a:wholeTbl>
      <a:tcTxStyle b="off" i="off">
        <a:font>
          <a:latin typeface="Arial"/>
          <a:ea typeface="Arial"/>
          <a:cs typeface="Arial"/>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8ECF4"/>
          </a:solidFill>
        </a:fill>
      </a:tcStyle>
    </a:wholeTbl>
    <a:band1H>
      <a:tcTxStyle/>
      <a:tcStyle>
        <a:tcBdr/>
        <a:fill>
          <a:solidFill>
            <a:srgbClr val="CFD7E7"/>
          </a:solidFill>
        </a:fill>
      </a:tcStyle>
    </a:band1H>
    <a:band2H>
      <a:tcTxStyle/>
      <a:tcStyle>
        <a:tcBdr/>
      </a:tcStyle>
    </a:band2H>
    <a:band1V>
      <a:tcTxStyle/>
      <a:tcStyle>
        <a:tcBdr/>
        <a:fill>
          <a:solidFill>
            <a:srgbClr val="CFD7E7"/>
          </a:solidFill>
        </a:fill>
      </a:tcStyle>
    </a:band1V>
    <a:band2V>
      <a:tcTxStyle/>
      <a:tcStyle>
        <a:tcBdr/>
      </a:tcStyle>
    </a:band2V>
    <a:lastCol>
      <a:tcTxStyle b="on" i="off">
        <a:font>
          <a:latin typeface="Arial"/>
          <a:ea typeface="Arial"/>
          <a:cs typeface="Arial"/>
        </a:font>
        <a:schemeClr val="lt1"/>
      </a:tcTxStyle>
      <a:tcStyle>
        <a:tcBdr/>
        <a:fill>
          <a:solidFill>
            <a:schemeClr val="accent1"/>
          </a:solidFill>
        </a:fill>
      </a:tcStyle>
    </a:lastCol>
    <a:firstCol>
      <a:tcTxStyle b="on" i="off">
        <a:font>
          <a:latin typeface="Arial"/>
          <a:ea typeface="Arial"/>
          <a:cs typeface="Arial"/>
        </a:font>
        <a:schemeClr val="lt1"/>
      </a:tcTxStyle>
      <a:tcStyle>
        <a:tcBdr/>
        <a:fill>
          <a:solidFill>
            <a:schemeClr val="accent1"/>
          </a:solidFill>
        </a:fill>
      </a:tcStyle>
    </a:firstCol>
    <a:lastRow>
      <a:tcTxStyle b="on" i="off">
        <a:font>
          <a:latin typeface="Arial"/>
          <a:ea typeface="Arial"/>
          <a:cs typeface="Arial"/>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Arial"/>
          <a:ea typeface="Arial"/>
          <a:cs typeface="Arial"/>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SorterView">
  <p:normalViewPr>
    <p:restoredLeft sz="11332"/>
    <p:restoredTop sz="93302"/>
  </p:normalViewPr>
  <p:slideViewPr>
    <p:cSldViewPr snapToGrid="0">
      <p:cViewPr varScale="1">
        <p:scale>
          <a:sx n="59" d="100"/>
          <a:sy n="59" d="100"/>
        </p:scale>
        <p:origin x="1104" y="64"/>
      </p:cViewPr>
      <p:guideLst/>
    </p:cSldViewPr>
  </p:slideViewPr>
  <p:notesTextViewPr>
    <p:cViewPr>
      <p:scale>
        <a:sx n="1" d="1"/>
        <a:sy n="1" d="1"/>
      </p:scale>
      <p:origin x="0" y="0"/>
    </p:cViewPr>
  </p:notesTextViewPr>
  <p:sorterViewPr>
    <p:cViewPr>
      <p:scale>
        <a:sx n="90" d="100"/>
        <a:sy n="90" d="100"/>
      </p:scale>
      <p:origin x="0" y="-21788"/>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71" Type="http://schemas.openxmlformats.org/officeDocument/2006/relationships/viewProps" Target="viewProp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node0NoLn">
    <dgm:fillClrLst meth="repeat">
      <a:schemeClr val="accent1"/>
    </dgm:fillClrLst>
    <dgm:linClrLst meth="repeat">
      <a:schemeClr val="lt1">
        <a:alpha val="0"/>
      </a:schemeClr>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1NoLn">
    <dgm:fillClrLst meth="repeat">
      <a:schemeClr val="accent1"/>
    </dgm:fillClrLst>
    <dgm:linClrLst meth="repeat">
      <a:schemeClr val="lt1">
        <a:alpha val="0"/>
      </a:schemeClr>
    </dgm:linClrLst>
    <dgm:effectClrLst/>
    <dgm:txLinClrLst/>
    <dgm:txFillClrLst/>
    <dgm:txEffectClrLst/>
  </dgm:styleLbl>
  <dgm:styleLbl name="ltNode1NoLn">
    <dgm:fillClrLst meth="repeat">
      <a:schemeClr val="accent1">
        <a:tint val="75000"/>
      </a:schemeClr>
    </dgm:fillClrLst>
    <dgm:linClrLst meth="repeat">
      <a:schemeClr val="lt1">
        <a:alpha val="0"/>
      </a:schemeClr>
    </dgm:linClrLst>
    <dgm:effectClrLst/>
    <dgm:txLinClrLst/>
    <dgm:txFillClrLst meth="repeat">
      <a:schemeClr val="dk1"/>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2NoLn">
    <dgm:fillClrLst meth="repeat">
      <a:schemeClr val="accent1"/>
    </dgm:fillClrLst>
    <dgm:linClrLst meth="repeat">
      <a:schemeClr val="lt1">
        <a:alpha val="0"/>
      </a:schemeClr>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3NoLn">
    <dgm:fillClrLst meth="repeat">
      <a:schemeClr val="accent1"/>
    </dgm:fillClrLst>
    <dgm:linClrLst meth="repeat">
      <a:schemeClr val="lt1">
        <a:alpha val="0"/>
      </a:schemeClr>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node4NoLn">
    <dgm:fillClrLst meth="repeat">
      <a:schemeClr val="accent1"/>
    </dgm:fillClrLst>
    <dgm:linClrLst meth="repeat">
      <a:schemeClr val="lt1">
        <a:alpha val="0"/>
      </a:schemeClr>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revTxLt">
    <dgm:fillClrLst meth="repeat">
      <a:schemeClr val="lt1">
        <a:alpha val="0"/>
      </a:schemeClr>
    </dgm:fillClrLst>
    <dgm:linClrLst meth="repeat">
      <a:schemeClr val="dk1">
        <a:alpha val="0"/>
      </a:schemeClr>
    </dgm:linClrLst>
    <dgm:effectClrLst/>
    <dgm:txLinClrLst/>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1">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2D9F2D9-BB80-4D49-9024-42B7F88FCC4A}" type="doc">
      <dgm:prSet loTypeId="urn:microsoft.com/office/officeart/2005/8/layout/cycle8" loCatId="cycle" qsTypeId="urn:microsoft.com/office/officeart/2005/8/quickstyle/simple1" qsCatId="simple" csTypeId="urn:microsoft.com/office/officeart/2005/8/colors/accent1_2" csCatId="accent1" phldr="0"/>
      <dgm:spPr/>
    </dgm:pt>
    <dgm:pt modelId="{762F71A8-5BD1-41DF-9B02-DEF14AEBA65A}">
      <dgm:prSet phldrT="[Text]" phldr="1"/>
      <dgm:spPr/>
      <dgm:t>
        <a:bodyPr/>
        <a:lstStyle/>
        <a:p>
          <a:endParaRPr lang="en-GB" dirty="0"/>
        </a:p>
      </dgm:t>
    </dgm:pt>
    <dgm:pt modelId="{A71FA7F6-6FFE-423E-9F6F-A6B59B3C3867}" type="parTrans" cxnId="{5F9143B3-CFFA-4FFD-84E9-7153137531CD}">
      <dgm:prSet/>
      <dgm:spPr/>
      <dgm:t>
        <a:bodyPr/>
        <a:lstStyle/>
        <a:p>
          <a:endParaRPr lang="en-GB"/>
        </a:p>
      </dgm:t>
    </dgm:pt>
    <dgm:pt modelId="{D9485D7D-3800-4E53-83C9-6A3DB50F9297}" type="sibTrans" cxnId="{5F9143B3-CFFA-4FFD-84E9-7153137531CD}">
      <dgm:prSet/>
      <dgm:spPr/>
      <dgm:t>
        <a:bodyPr/>
        <a:lstStyle/>
        <a:p>
          <a:endParaRPr lang="en-GB"/>
        </a:p>
      </dgm:t>
    </dgm:pt>
    <dgm:pt modelId="{24DA8E52-F900-46FA-8171-7396282B0594}">
      <dgm:prSet phldrT="[Text]" phldr="1"/>
      <dgm:spPr/>
      <dgm:t>
        <a:bodyPr/>
        <a:lstStyle/>
        <a:p>
          <a:endParaRPr lang="en-GB"/>
        </a:p>
      </dgm:t>
    </dgm:pt>
    <dgm:pt modelId="{FF73D1FF-A8A1-428E-9129-637ACEC92E91}" type="parTrans" cxnId="{4EAD6264-6F02-4B15-B3FB-28CF5CA2E3FD}">
      <dgm:prSet/>
      <dgm:spPr/>
      <dgm:t>
        <a:bodyPr/>
        <a:lstStyle/>
        <a:p>
          <a:endParaRPr lang="en-GB"/>
        </a:p>
      </dgm:t>
    </dgm:pt>
    <dgm:pt modelId="{AF358FDE-1988-4C2D-AF71-81BCFE846D99}" type="sibTrans" cxnId="{4EAD6264-6F02-4B15-B3FB-28CF5CA2E3FD}">
      <dgm:prSet/>
      <dgm:spPr/>
      <dgm:t>
        <a:bodyPr/>
        <a:lstStyle/>
        <a:p>
          <a:endParaRPr lang="en-GB"/>
        </a:p>
      </dgm:t>
    </dgm:pt>
    <dgm:pt modelId="{DFD359BD-8582-499D-9406-7C42BCE837F3}">
      <dgm:prSet phldrT="[Text]" phldr="1"/>
      <dgm:spPr/>
      <dgm:t>
        <a:bodyPr/>
        <a:lstStyle/>
        <a:p>
          <a:endParaRPr lang="en-GB"/>
        </a:p>
      </dgm:t>
    </dgm:pt>
    <dgm:pt modelId="{A52D8C77-26EC-40E5-8245-AC2A955F99BB}" type="parTrans" cxnId="{A1D3A3B1-477C-443C-87C3-50F804D10786}">
      <dgm:prSet/>
      <dgm:spPr/>
      <dgm:t>
        <a:bodyPr/>
        <a:lstStyle/>
        <a:p>
          <a:endParaRPr lang="en-GB"/>
        </a:p>
      </dgm:t>
    </dgm:pt>
    <dgm:pt modelId="{D97C8818-8392-4192-A5F1-701F62CCFB0A}" type="sibTrans" cxnId="{A1D3A3B1-477C-443C-87C3-50F804D10786}">
      <dgm:prSet/>
      <dgm:spPr/>
      <dgm:t>
        <a:bodyPr/>
        <a:lstStyle/>
        <a:p>
          <a:endParaRPr lang="en-GB"/>
        </a:p>
      </dgm:t>
    </dgm:pt>
    <dgm:pt modelId="{4C10B0BE-AE43-4202-AB77-7A3EDAA58871}" type="pres">
      <dgm:prSet presAssocID="{E2D9F2D9-BB80-4D49-9024-42B7F88FCC4A}" presName="compositeShape" presStyleCnt="0">
        <dgm:presLayoutVars>
          <dgm:chMax val="7"/>
          <dgm:dir/>
          <dgm:resizeHandles val="exact"/>
        </dgm:presLayoutVars>
      </dgm:prSet>
      <dgm:spPr/>
    </dgm:pt>
    <dgm:pt modelId="{F3F67C3F-2F0C-4B61-AC60-3C7D09A81777}" type="pres">
      <dgm:prSet presAssocID="{E2D9F2D9-BB80-4D49-9024-42B7F88FCC4A}" presName="wedge1" presStyleLbl="node1" presStyleIdx="0" presStyleCnt="3"/>
      <dgm:spPr/>
    </dgm:pt>
    <dgm:pt modelId="{33618336-BC6C-4279-8FA3-0452F3E0B916}" type="pres">
      <dgm:prSet presAssocID="{E2D9F2D9-BB80-4D49-9024-42B7F88FCC4A}" presName="dummy1a" presStyleCnt="0"/>
      <dgm:spPr/>
    </dgm:pt>
    <dgm:pt modelId="{826D4401-97AE-45EF-80F0-7A3B513F046A}" type="pres">
      <dgm:prSet presAssocID="{E2D9F2D9-BB80-4D49-9024-42B7F88FCC4A}" presName="dummy1b" presStyleCnt="0"/>
      <dgm:spPr/>
    </dgm:pt>
    <dgm:pt modelId="{4A2A9EB3-5AD1-44C5-867C-C1F66112FDFC}" type="pres">
      <dgm:prSet presAssocID="{E2D9F2D9-BB80-4D49-9024-42B7F88FCC4A}" presName="wedge1Tx" presStyleLbl="node1" presStyleIdx="0" presStyleCnt="3">
        <dgm:presLayoutVars>
          <dgm:chMax val="0"/>
          <dgm:chPref val="0"/>
          <dgm:bulletEnabled val="1"/>
        </dgm:presLayoutVars>
      </dgm:prSet>
      <dgm:spPr/>
    </dgm:pt>
    <dgm:pt modelId="{BE7E4B5C-DC5E-4AFC-9209-7D49F07488EC}" type="pres">
      <dgm:prSet presAssocID="{E2D9F2D9-BB80-4D49-9024-42B7F88FCC4A}" presName="wedge2" presStyleLbl="node1" presStyleIdx="1" presStyleCnt="3"/>
      <dgm:spPr/>
    </dgm:pt>
    <dgm:pt modelId="{7849750B-4128-4DED-AE0C-A2484DB57BD5}" type="pres">
      <dgm:prSet presAssocID="{E2D9F2D9-BB80-4D49-9024-42B7F88FCC4A}" presName="dummy2a" presStyleCnt="0"/>
      <dgm:spPr/>
    </dgm:pt>
    <dgm:pt modelId="{2939B347-620D-4040-90FF-000FD6BF7A60}" type="pres">
      <dgm:prSet presAssocID="{E2D9F2D9-BB80-4D49-9024-42B7F88FCC4A}" presName="dummy2b" presStyleCnt="0"/>
      <dgm:spPr/>
    </dgm:pt>
    <dgm:pt modelId="{52D7F088-599A-403C-BBA8-517C4B0E91BA}" type="pres">
      <dgm:prSet presAssocID="{E2D9F2D9-BB80-4D49-9024-42B7F88FCC4A}" presName="wedge2Tx" presStyleLbl="node1" presStyleIdx="1" presStyleCnt="3">
        <dgm:presLayoutVars>
          <dgm:chMax val="0"/>
          <dgm:chPref val="0"/>
          <dgm:bulletEnabled val="1"/>
        </dgm:presLayoutVars>
      </dgm:prSet>
      <dgm:spPr/>
    </dgm:pt>
    <dgm:pt modelId="{7A8B6E5E-6964-4780-962B-0CFFDFBCFFED}" type="pres">
      <dgm:prSet presAssocID="{E2D9F2D9-BB80-4D49-9024-42B7F88FCC4A}" presName="wedge3" presStyleLbl="node1" presStyleIdx="2" presStyleCnt="3"/>
      <dgm:spPr/>
    </dgm:pt>
    <dgm:pt modelId="{5BD58893-873B-4B34-BAE8-F7F662593410}" type="pres">
      <dgm:prSet presAssocID="{E2D9F2D9-BB80-4D49-9024-42B7F88FCC4A}" presName="dummy3a" presStyleCnt="0"/>
      <dgm:spPr/>
    </dgm:pt>
    <dgm:pt modelId="{34F97B4E-FAA1-4CE2-A032-F61DE0D602AE}" type="pres">
      <dgm:prSet presAssocID="{E2D9F2D9-BB80-4D49-9024-42B7F88FCC4A}" presName="dummy3b" presStyleCnt="0"/>
      <dgm:spPr/>
    </dgm:pt>
    <dgm:pt modelId="{8C8870AC-F4EE-415E-AA33-DDA509FC8A1D}" type="pres">
      <dgm:prSet presAssocID="{E2D9F2D9-BB80-4D49-9024-42B7F88FCC4A}" presName="wedge3Tx" presStyleLbl="node1" presStyleIdx="2" presStyleCnt="3">
        <dgm:presLayoutVars>
          <dgm:chMax val="0"/>
          <dgm:chPref val="0"/>
          <dgm:bulletEnabled val="1"/>
        </dgm:presLayoutVars>
      </dgm:prSet>
      <dgm:spPr/>
    </dgm:pt>
    <dgm:pt modelId="{D3DBFEE8-E076-4849-A8EF-15F7A85B7028}" type="pres">
      <dgm:prSet presAssocID="{D9485D7D-3800-4E53-83C9-6A3DB50F9297}" presName="arrowWedge1" presStyleLbl="fgSibTrans2D1" presStyleIdx="0" presStyleCnt="3"/>
      <dgm:spPr/>
    </dgm:pt>
    <dgm:pt modelId="{B99FD4B9-FB58-4E55-983B-A9CACD0658E8}" type="pres">
      <dgm:prSet presAssocID="{AF358FDE-1988-4C2D-AF71-81BCFE846D99}" presName="arrowWedge2" presStyleLbl="fgSibTrans2D1" presStyleIdx="1" presStyleCnt="3"/>
      <dgm:spPr/>
    </dgm:pt>
    <dgm:pt modelId="{95311E53-1FB2-4A16-916D-FEB33F040701}" type="pres">
      <dgm:prSet presAssocID="{D97C8818-8392-4192-A5F1-701F62CCFB0A}" presName="arrowWedge3" presStyleLbl="fgSibTrans2D1" presStyleIdx="2" presStyleCnt="3"/>
      <dgm:spPr/>
    </dgm:pt>
  </dgm:ptLst>
  <dgm:cxnLst>
    <dgm:cxn modelId="{3AA11226-4B15-4A06-B327-1907F378BE06}" type="presOf" srcId="{762F71A8-5BD1-41DF-9B02-DEF14AEBA65A}" destId="{4A2A9EB3-5AD1-44C5-867C-C1F66112FDFC}" srcOrd="1" destOrd="0" presId="urn:microsoft.com/office/officeart/2005/8/layout/cycle8"/>
    <dgm:cxn modelId="{82AC9F27-8023-40EC-A0FE-A75D4B01AED1}" type="presOf" srcId="{24DA8E52-F900-46FA-8171-7396282B0594}" destId="{BE7E4B5C-DC5E-4AFC-9209-7D49F07488EC}" srcOrd="0" destOrd="0" presId="urn:microsoft.com/office/officeart/2005/8/layout/cycle8"/>
    <dgm:cxn modelId="{7D1A4B2A-9E53-462E-A065-CC01888F5B43}" type="presOf" srcId="{DFD359BD-8582-499D-9406-7C42BCE837F3}" destId="{7A8B6E5E-6964-4780-962B-0CFFDFBCFFED}" srcOrd="0" destOrd="0" presId="urn:microsoft.com/office/officeart/2005/8/layout/cycle8"/>
    <dgm:cxn modelId="{FDB4833A-76B4-47BE-9357-6255C1DDF3FA}" type="presOf" srcId="{24DA8E52-F900-46FA-8171-7396282B0594}" destId="{52D7F088-599A-403C-BBA8-517C4B0E91BA}" srcOrd="1" destOrd="0" presId="urn:microsoft.com/office/officeart/2005/8/layout/cycle8"/>
    <dgm:cxn modelId="{4EAD6264-6F02-4B15-B3FB-28CF5CA2E3FD}" srcId="{E2D9F2D9-BB80-4D49-9024-42B7F88FCC4A}" destId="{24DA8E52-F900-46FA-8171-7396282B0594}" srcOrd="1" destOrd="0" parTransId="{FF73D1FF-A8A1-428E-9129-637ACEC92E91}" sibTransId="{AF358FDE-1988-4C2D-AF71-81BCFE846D99}"/>
    <dgm:cxn modelId="{D936F04E-E152-4EF9-B245-EB565B234D9B}" type="presOf" srcId="{E2D9F2D9-BB80-4D49-9024-42B7F88FCC4A}" destId="{4C10B0BE-AE43-4202-AB77-7A3EDAA58871}" srcOrd="0" destOrd="0" presId="urn:microsoft.com/office/officeart/2005/8/layout/cycle8"/>
    <dgm:cxn modelId="{792D8953-4DFC-4560-9F0E-8E304C1BB91F}" type="presOf" srcId="{762F71A8-5BD1-41DF-9B02-DEF14AEBA65A}" destId="{F3F67C3F-2F0C-4B61-AC60-3C7D09A81777}" srcOrd="0" destOrd="0" presId="urn:microsoft.com/office/officeart/2005/8/layout/cycle8"/>
    <dgm:cxn modelId="{A5BACCA9-B32D-47DA-86F6-869C5B3D672B}" type="presOf" srcId="{DFD359BD-8582-499D-9406-7C42BCE837F3}" destId="{8C8870AC-F4EE-415E-AA33-DDA509FC8A1D}" srcOrd="1" destOrd="0" presId="urn:microsoft.com/office/officeart/2005/8/layout/cycle8"/>
    <dgm:cxn modelId="{A1D3A3B1-477C-443C-87C3-50F804D10786}" srcId="{E2D9F2D9-BB80-4D49-9024-42B7F88FCC4A}" destId="{DFD359BD-8582-499D-9406-7C42BCE837F3}" srcOrd="2" destOrd="0" parTransId="{A52D8C77-26EC-40E5-8245-AC2A955F99BB}" sibTransId="{D97C8818-8392-4192-A5F1-701F62CCFB0A}"/>
    <dgm:cxn modelId="{5F9143B3-CFFA-4FFD-84E9-7153137531CD}" srcId="{E2D9F2D9-BB80-4D49-9024-42B7F88FCC4A}" destId="{762F71A8-5BD1-41DF-9B02-DEF14AEBA65A}" srcOrd="0" destOrd="0" parTransId="{A71FA7F6-6FFE-423E-9F6F-A6B59B3C3867}" sibTransId="{D9485D7D-3800-4E53-83C9-6A3DB50F9297}"/>
    <dgm:cxn modelId="{632A94C0-A818-4F9B-A7F9-3DC09EA5EF52}" type="presParOf" srcId="{4C10B0BE-AE43-4202-AB77-7A3EDAA58871}" destId="{F3F67C3F-2F0C-4B61-AC60-3C7D09A81777}" srcOrd="0" destOrd="0" presId="urn:microsoft.com/office/officeart/2005/8/layout/cycle8"/>
    <dgm:cxn modelId="{0D39B441-15C2-43C3-8C1F-B9B8D262F0D3}" type="presParOf" srcId="{4C10B0BE-AE43-4202-AB77-7A3EDAA58871}" destId="{33618336-BC6C-4279-8FA3-0452F3E0B916}" srcOrd="1" destOrd="0" presId="urn:microsoft.com/office/officeart/2005/8/layout/cycle8"/>
    <dgm:cxn modelId="{0AA16D0F-9850-4FCF-BBBA-3E2E65DAB820}" type="presParOf" srcId="{4C10B0BE-AE43-4202-AB77-7A3EDAA58871}" destId="{826D4401-97AE-45EF-80F0-7A3B513F046A}" srcOrd="2" destOrd="0" presId="urn:microsoft.com/office/officeart/2005/8/layout/cycle8"/>
    <dgm:cxn modelId="{0329A8AB-140B-455E-B94C-3A5049DB15B5}" type="presParOf" srcId="{4C10B0BE-AE43-4202-AB77-7A3EDAA58871}" destId="{4A2A9EB3-5AD1-44C5-867C-C1F66112FDFC}" srcOrd="3" destOrd="0" presId="urn:microsoft.com/office/officeart/2005/8/layout/cycle8"/>
    <dgm:cxn modelId="{7D4F2DF3-38AC-48FD-B5F1-DFC7D5205255}" type="presParOf" srcId="{4C10B0BE-AE43-4202-AB77-7A3EDAA58871}" destId="{BE7E4B5C-DC5E-4AFC-9209-7D49F07488EC}" srcOrd="4" destOrd="0" presId="urn:microsoft.com/office/officeart/2005/8/layout/cycle8"/>
    <dgm:cxn modelId="{B867B46B-C430-4E8F-B601-4AED71F72D09}" type="presParOf" srcId="{4C10B0BE-AE43-4202-AB77-7A3EDAA58871}" destId="{7849750B-4128-4DED-AE0C-A2484DB57BD5}" srcOrd="5" destOrd="0" presId="urn:microsoft.com/office/officeart/2005/8/layout/cycle8"/>
    <dgm:cxn modelId="{ACE1AA3B-D11F-45E9-BA5F-5BF53E21A67B}" type="presParOf" srcId="{4C10B0BE-AE43-4202-AB77-7A3EDAA58871}" destId="{2939B347-620D-4040-90FF-000FD6BF7A60}" srcOrd="6" destOrd="0" presId="urn:microsoft.com/office/officeart/2005/8/layout/cycle8"/>
    <dgm:cxn modelId="{08B58BFC-4EF3-424C-BC18-4A67B2D07205}" type="presParOf" srcId="{4C10B0BE-AE43-4202-AB77-7A3EDAA58871}" destId="{52D7F088-599A-403C-BBA8-517C4B0E91BA}" srcOrd="7" destOrd="0" presId="urn:microsoft.com/office/officeart/2005/8/layout/cycle8"/>
    <dgm:cxn modelId="{A8AC1F48-F96B-4630-8F90-E622D85B9BC6}" type="presParOf" srcId="{4C10B0BE-AE43-4202-AB77-7A3EDAA58871}" destId="{7A8B6E5E-6964-4780-962B-0CFFDFBCFFED}" srcOrd="8" destOrd="0" presId="urn:microsoft.com/office/officeart/2005/8/layout/cycle8"/>
    <dgm:cxn modelId="{003CA0EC-883E-4E97-9914-C8890CF25232}" type="presParOf" srcId="{4C10B0BE-AE43-4202-AB77-7A3EDAA58871}" destId="{5BD58893-873B-4B34-BAE8-F7F662593410}" srcOrd="9" destOrd="0" presId="urn:microsoft.com/office/officeart/2005/8/layout/cycle8"/>
    <dgm:cxn modelId="{1D0C45FD-AE6D-4069-B620-A9D98A73F556}" type="presParOf" srcId="{4C10B0BE-AE43-4202-AB77-7A3EDAA58871}" destId="{34F97B4E-FAA1-4CE2-A032-F61DE0D602AE}" srcOrd="10" destOrd="0" presId="urn:microsoft.com/office/officeart/2005/8/layout/cycle8"/>
    <dgm:cxn modelId="{28DE85A3-7BC1-4A8D-B2D5-3CF91125D84A}" type="presParOf" srcId="{4C10B0BE-AE43-4202-AB77-7A3EDAA58871}" destId="{8C8870AC-F4EE-415E-AA33-DDA509FC8A1D}" srcOrd="11" destOrd="0" presId="urn:microsoft.com/office/officeart/2005/8/layout/cycle8"/>
    <dgm:cxn modelId="{3EB12D4A-0D86-463E-B3D2-0ADCA888C9A1}" type="presParOf" srcId="{4C10B0BE-AE43-4202-AB77-7A3EDAA58871}" destId="{D3DBFEE8-E076-4849-A8EF-15F7A85B7028}" srcOrd="12" destOrd="0" presId="urn:microsoft.com/office/officeart/2005/8/layout/cycle8"/>
    <dgm:cxn modelId="{0D4252DE-3E5B-4B48-B2FD-0877F64DA357}" type="presParOf" srcId="{4C10B0BE-AE43-4202-AB77-7A3EDAA58871}" destId="{B99FD4B9-FB58-4E55-983B-A9CACD0658E8}" srcOrd="13" destOrd="0" presId="urn:microsoft.com/office/officeart/2005/8/layout/cycle8"/>
    <dgm:cxn modelId="{87993BD9-ADB7-4D84-AB5F-727DD6D6D3EC}" type="presParOf" srcId="{4C10B0BE-AE43-4202-AB77-7A3EDAA58871}" destId="{95311E53-1FB2-4A16-916D-FEB33F040701}" srcOrd="14" destOrd="0" presId="urn:microsoft.com/office/officeart/2005/8/layout/cycle8"/>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F41D2204-CE0B-46C5-A100-91D3C0CA6498}" type="doc">
      <dgm:prSet loTypeId="urn:microsoft.com/office/officeart/2005/8/layout/cycle2" loCatId="cycle" qsTypeId="urn:microsoft.com/office/officeart/2005/8/quickstyle/simple1#1" qsCatId="simple" csTypeId="urn:microsoft.com/office/officeart/2005/8/colors/accent1_2#1" csCatId="accent1" phldr="1"/>
      <dgm:spPr/>
      <dgm:t>
        <a:bodyPr/>
        <a:lstStyle/>
        <a:p>
          <a:endParaRPr lang="en-GB"/>
        </a:p>
      </dgm:t>
    </dgm:pt>
    <dgm:pt modelId="{F95396AC-F3DC-4333-85EC-B639986C3437}">
      <dgm:prSet phldrT="[Text]"/>
      <dgm:spPr/>
      <dgm:t>
        <a:bodyPr/>
        <a:lstStyle/>
        <a:p>
          <a:r>
            <a:rPr lang="en-GB" dirty="0"/>
            <a:t>Resourcing &amp; talent management</a:t>
          </a:r>
        </a:p>
      </dgm:t>
    </dgm:pt>
    <dgm:pt modelId="{25A26192-C584-4A04-B8D9-141437633E95}" type="parTrans" cxnId="{ED11DE77-DD1F-4B4F-955B-BA8CECE31D9D}">
      <dgm:prSet/>
      <dgm:spPr/>
      <dgm:t>
        <a:bodyPr/>
        <a:lstStyle/>
        <a:p>
          <a:endParaRPr lang="en-GB"/>
        </a:p>
      </dgm:t>
    </dgm:pt>
    <dgm:pt modelId="{19A961E4-C082-4FA2-BBBB-84B72C0273C5}" type="sibTrans" cxnId="{ED11DE77-DD1F-4B4F-955B-BA8CECE31D9D}">
      <dgm:prSet/>
      <dgm:spPr/>
      <dgm:t>
        <a:bodyPr/>
        <a:lstStyle/>
        <a:p>
          <a:endParaRPr lang="en-GB"/>
        </a:p>
      </dgm:t>
    </dgm:pt>
    <dgm:pt modelId="{F97D0624-26C6-4E59-8CC0-BE964CC5ED00}">
      <dgm:prSet phldrT="[Text]"/>
      <dgm:spPr/>
      <dgm:t>
        <a:bodyPr/>
        <a:lstStyle/>
        <a:p>
          <a:r>
            <a:rPr lang="en-GB" dirty="0"/>
            <a:t>Induction, onboarding &amp; socialisation</a:t>
          </a:r>
        </a:p>
      </dgm:t>
    </dgm:pt>
    <dgm:pt modelId="{401549F0-FD39-4433-8C34-AC9C4587B0F6}" type="parTrans" cxnId="{661CC22E-639C-48AA-8E26-64B4DAEE3014}">
      <dgm:prSet/>
      <dgm:spPr/>
      <dgm:t>
        <a:bodyPr/>
        <a:lstStyle/>
        <a:p>
          <a:endParaRPr lang="en-GB"/>
        </a:p>
      </dgm:t>
    </dgm:pt>
    <dgm:pt modelId="{11B61FB1-CA5E-4990-B204-0E121C33C7C2}" type="sibTrans" cxnId="{661CC22E-639C-48AA-8E26-64B4DAEE3014}">
      <dgm:prSet/>
      <dgm:spPr/>
      <dgm:t>
        <a:bodyPr/>
        <a:lstStyle/>
        <a:p>
          <a:endParaRPr lang="en-GB"/>
        </a:p>
      </dgm:t>
    </dgm:pt>
    <dgm:pt modelId="{9A5FA5EA-3020-4EFC-8486-194EA6619579}">
      <dgm:prSet phldrT="[Text]"/>
      <dgm:spPr/>
      <dgm:t>
        <a:bodyPr/>
        <a:lstStyle/>
        <a:p>
          <a:r>
            <a:rPr lang="en-GB" dirty="0"/>
            <a:t>Reviewing &amp; appraising performance</a:t>
          </a:r>
        </a:p>
      </dgm:t>
    </dgm:pt>
    <dgm:pt modelId="{EB2FECF8-88CD-4658-9A97-8E64D366FB90}" type="parTrans" cxnId="{0E98D247-F2EC-4D82-8B7E-4ADF2DB45363}">
      <dgm:prSet/>
      <dgm:spPr/>
      <dgm:t>
        <a:bodyPr/>
        <a:lstStyle/>
        <a:p>
          <a:endParaRPr lang="en-GB"/>
        </a:p>
      </dgm:t>
    </dgm:pt>
    <dgm:pt modelId="{16FF7734-B813-4CD2-A5FF-5BA5FAA7A69D}" type="sibTrans" cxnId="{0E98D247-F2EC-4D82-8B7E-4ADF2DB45363}">
      <dgm:prSet/>
      <dgm:spPr/>
      <dgm:t>
        <a:bodyPr/>
        <a:lstStyle/>
        <a:p>
          <a:endParaRPr lang="en-GB"/>
        </a:p>
      </dgm:t>
    </dgm:pt>
    <dgm:pt modelId="{70D7D691-938D-4908-97D9-A68F5FFFE6CC}">
      <dgm:prSet phldrT="[Text]"/>
      <dgm:spPr/>
      <dgm:t>
        <a:bodyPr/>
        <a:lstStyle/>
        <a:p>
          <a:r>
            <a:rPr lang="en-GB" dirty="0"/>
            <a:t>Enhancing &amp; reinforcing performance standards</a:t>
          </a:r>
        </a:p>
      </dgm:t>
    </dgm:pt>
    <dgm:pt modelId="{FB7BE644-B18E-4BE2-B340-2BADA553BB70}" type="parTrans" cxnId="{67285799-D93F-47CB-9C5F-AB53B89218A8}">
      <dgm:prSet/>
      <dgm:spPr/>
      <dgm:t>
        <a:bodyPr/>
        <a:lstStyle/>
        <a:p>
          <a:endParaRPr lang="en-GB"/>
        </a:p>
      </dgm:t>
    </dgm:pt>
    <dgm:pt modelId="{89FA836E-3482-4DFA-8D19-AAD78E04CEF4}" type="sibTrans" cxnId="{67285799-D93F-47CB-9C5F-AB53B89218A8}">
      <dgm:prSet/>
      <dgm:spPr/>
      <dgm:t>
        <a:bodyPr/>
        <a:lstStyle/>
        <a:p>
          <a:endParaRPr lang="en-GB"/>
        </a:p>
      </dgm:t>
    </dgm:pt>
    <dgm:pt modelId="{432DEED5-AB5D-432F-9CC6-285C2FE30407}">
      <dgm:prSet phldrT="[Text]"/>
      <dgm:spPr/>
      <dgm:t>
        <a:bodyPr/>
        <a:lstStyle/>
        <a:p>
          <a:r>
            <a:rPr lang="en-GB" dirty="0"/>
            <a:t>Well-being, counselling &amp; support</a:t>
          </a:r>
        </a:p>
      </dgm:t>
    </dgm:pt>
    <dgm:pt modelId="{587FC94F-D0E9-49EF-B564-35E811B56DD8}" type="parTrans" cxnId="{A731930F-4FB0-4197-B0FC-67DB64C4E278}">
      <dgm:prSet/>
      <dgm:spPr/>
      <dgm:t>
        <a:bodyPr/>
        <a:lstStyle/>
        <a:p>
          <a:endParaRPr lang="en-GB"/>
        </a:p>
      </dgm:t>
    </dgm:pt>
    <dgm:pt modelId="{AA896777-ED8B-4A2B-A141-E725E68C05BF}" type="sibTrans" cxnId="{A731930F-4FB0-4197-B0FC-67DB64C4E278}">
      <dgm:prSet/>
      <dgm:spPr/>
      <dgm:t>
        <a:bodyPr/>
        <a:lstStyle/>
        <a:p>
          <a:endParaRPr lang="en-GB"/>
        </a:p>
      </dgm:t>
    </dgm:pt>
    <dgm:pt modelId="{140CBC96-BF4E-4CC7-8692-22962D873C29}" type="pres">
      <dgm:prSet presAssocID="{F41D2204-CE0B-46C5-A100-91D3C0CA6498}" presName="cycle" presStyleCnt="0">
        <dgm:presLayoutVars>
          <dgm:dir/>
          <dgm:resizeHandles val="exact"/>
        </dgm:presLayoutVars>
      </dgm:prSet>
      <dgm:spPr/>
    </dgm:pt>
    <dgm:pt modelId="{22868CCE-0FD5-4E63-9330-808351EEFA44}" type="pres">
      <dgm:prSet presAssocID="{F95396AC-F3DC-4333-85EC-B639986C3437}" presName="node" presStyleLbl="node1" presStyleIdx="0" presStyleCnt="5" custRadScaleRad="114099">
        <dgm:presLayoutVars>
          <dgm:bulletEnabled val="1"/>
        </dgm:presLayoutVars>
      </dgm:prSet>
      <dgm:spPr/>
    </dgm:pt>
    <dgm:pt modelId="{848C8259-49E1-4A1D-8551-6BB8FC8A95CF}" type="pres">
      <dgm:prSet presAssocID="{19A961E4-C082-4FA2-BBBB-84B72C0273C5}" presName="sibTrans" presStyleLbl="sibTrans2D1" presStyleIdx="0" presStyleCnt="5"/>
      <dgm:spPr/>
    </dgm:pt>
    <dgm:pt modelId="{06A25140-8D4C-4CB1-B907-0AD5C3F74763}" type="pres">
      <dgm:prSet presAssocID="{19A961E4-C082-4FA2-BBBB-84B72C0273C5}" presName="connectorText" presStyleLbl="sibTrans2D1" presStyleIdx="0" presStyleCnt="5"/>
      <dgm:spPr/>
    </dgm:pt>
    <dgm:pt modelId="{A57CC03A-9DE0-4D30-8FBF-89C56666E607}" type="pres">
      <dgm:prSet presAssocID="{F97D0624-26C6-4E59-8CC0-BE964CC5ED00}" presName="node" presStyleLbl="node1" presStyleIdx="1" presStyleCnt="5" custRadScaleRad="111322" custRadScaleInc="-15202">
        <dgm:presLayoutVars>
          <dgm:bulletEnabled val="1"/>
        </dgm:presLayoutVars>
      </dgm:prSet>
      <dgm:spPr/>
    </dgm:pt>
    <dgm:pt modelId="{DC538AA2-0AC0-4046-A25E-6609D474FF8B}" type="pres">
      <dgm:prSet presAssocID="{11B61FB1-CA5E-4990-B204-0E121C33C7C2}" presName="sibTrans" presStyleLbl="sibTrans2D1" presStyleIdx="1" presStyleCnt="5" custScaleX="135871" custLinFactNeighborX="2254" custLinFactNeighborY="7875"/>
      <dgm:spPr/>
    </dgm:pt>
    <dgm:pt modelId="{475AAB5E-06D0-4171-BAC7-63ED493E7340}" type="pres">
      <dgm:prSet presAssocID="{11B61FB1-CA5E-4990-B204-0E121C33C7C2}" presName="connectorText" presStyleLbl="sibTrans2D1" presStyleIdx="1" presStyleCnt="5"/>
      <dgm:spPr/>
    </dgm:pt>
    <dgm:pt modelId="{2B581B70-A67C-4C3E-9D4A-507EBEE889CE}" type="pres">
      <dgm:prSet presAssocID="{9A5FA5EA-3020-4EFC-8486-194EA6619579}" presName="node" presStyleLbl="node1" presStyleIdx="2" presStyleCnt="5" custRadScaleRad="118217" custRadScaleInc="-35080">
        <dgm:presLayoutVars>
          <dgm:bulletEnabled val="1"/>
        </dgm:presLayoutVars>
      </dgm:prSet>
      <dgm:spPr/>
    </dgm:pt>
    <dgm:pt modelId="{D86BC122-522E-4DA1-B2D7-67DF5C35E678}" type="pres">
      <dgm:prSet presAssocID="{16FF7734-B813-4CD2-A5FF-5BA5FAA7A69D}" presName="sibTrans" presStyleLbl="sibTrans2D1" presStyleIdx="2" presStyleCnt="5" custScaleX="60751"/>
      <dgm:spPr/>
    </dgm:pt>
    <dgm:pt modelId="{D50FD7B8-02C4-478C-8BD7-7EA72562CC7F}" type="pres">
      <dgm:prSet presAssocID="{16FF7734-B813-4CD2-A5FF-5BA5FAA7A69D}" presName="connectorText" presStyleLbl="sibTrans2D1" presStyleIdx="2" presStyleCnt="5"/>
      <dgm:spPr/>
    </dgm:pt>
    <dgm:pt modelId="{16EC56F0-1974-40E9-AD13-B09BBB349900}" type="pres">
      <dgm:prSet presAssocID="{70D7D691-938D-4908-97D9-A68F5FFFE6CC}" presName="node" presStyleLbl="node1" presStyleIdx="3" presStyleCnt="5" custRadScaleRad="123068" custRadScaleInc="15255">
        <dgm:presLayoutVars>
          <dgm:bulletEnabled val="1"/>
        </dgm:presLayoutVars>
      </dgm:prSet>
      <dgm:spPr/>
    </dgm:pt>
    <dgm:pt modelId="{48B34278-A54F-427B-B289-B69001849B9D}" type="pres">
      <dgm:prSet presAssocID="{89FA836E-3482-4DFA-8D19-AAD78E04CEF4}" presName="sibTrans" presStyleLbl="sibTrans2D1" presStyleIdx="3" presStyleCnt="5"/>
      <dgm:spPr/>
    </dgm:pt>
    <dgm:pt modelId="{122310D2-65DC-45F2-A453-4D176A137ED6}" type="pres">
      <dgm:prSet presAssocID="{89FA836E-3482-4DFA-8D19-AAD78E04CEF4}" presName="connectorText" presStyleLbl="sibTrans2D1" presStyleIdx="3" presStyleCnt="5"/>
      <dgm:spPr/>
    </dgm:pt>
    <dgm:pt modelId="{62364D10-B4E8-4A59-BB45-AA9C69A335F1}" type="pres">
      <dgm:prSet presAssocID="{432DEED5-AB5D-432F-9CC6-285C2FE30407}" presName="node" presStyleLbl="node1" presStyleIdx="4" presStyleCnt="5" custRadScaleRad="117716" custRadScaleInc="-3826">
        <dgm:presLayoutVars>
          <dgm:bulletEnabled val="1"/>
        </dgm:presLayoutVars>
      </dgm:prSet>
      <dgm:spPr/>
    </dgm:pt>
    <dgm:pt modelId="{323F6B62-8F2C-4E73-8DAD-283EF1279F59}" type="pres">
      <dgm:prSet presAssocID="{AA896777-ED8B-4A2B-A141-E725E68C05BF}" presName="sibTrans" presStyleLbl="sibTrans2D1" presStyleIdx="4" presStyleCnt="5"/>
      <dgm:spPr/>
    </dgm:pt>
    <dgm:pt modelId="{A039A19D-984B-4B85-8A45-7FDD3B5ACF91}" type="pres">
      <dgm:prSet presAssocID="{AA896777-ED8B-4A2B-A141-E725E68C05BF}" presName="connectorText" presStyleLbl="sibTrans2D1" presStyleIdx="4" presStyleCnt="5"/>
      <dgm:spPr/>
    </dgm:pt>
  </dgm:ptLst>
  <dgm:cxnLst>
    <dgm:cxn modelId="{6EC69D0A-B9E7-4C73-90FE-E17D89E6B387}" type="presOf" srcId="{89FA836E-3482-4DFA-8D19-AAD78E04CEF4}" destId="{122310D2-65DC-45F2-A453-4D176A137ED6}" srcOrd="1" destOrd="0" presId="urn:microsoft.com/office/officeart/2005/8/layout/cycle2"/>
    <dgm:cxn modelId="{A731930F-4FB0-4197-B0FC-67DB64C4E278}" srcId="{F41D2204-CE0B-46C5-A100-91D3C0CA6498}" destId="{432DEED5-AB5D-432F-9CC6-285C2FE30407}" srcOrd="4" destOrd="0" parTransId="{587FC94F-D0E9-49EF-B564-35E811B56DD8}" sibTransId="{AA896777-ED8B-4A2B-A141-E725E68C05BF}"/>
    <dgm:cxn modelId="{569C3F17-69D9-41E1-A21A-785BC3755C46}" type="presOf" srcId="{F95396AC-F3DC-4333-85EC-B639986C3437}" destId="{22868CCE-0FD5-4E63-9330-808351EEFA44}" srcOrd="0" destOrd="0" presId="urn:microsoft.com/office/officeart/2005/8/layout/cycle2"/>
    <dgm:cxn modelId="{CC545419-8FA4-4287-809F-ED8706370204}" type="presOf" srcId="{16FF7734-B813-4CD2-A5FF-5BA5FAA7A69D}" destId="{D86BC122-522E-4DA1-B2D7-67DF5C35E678}" srcOrd="0" destOrd="0" presId="urn:microsoft.com/office/officeart/2005/8/layout/cycle2"/>
    <dgm:cxn modelId="{3E299E28-7F29-484D-9806-955B6DAB56A7}" type="presOf" srcId="{11B61FB1-CA5E-4990-B204-0E121C33C7C2}" destId="{DC538AA2-0AC0-4046-A25E-6609D474FF8B}" srcOrd="0" destOrd="0" presId="urn:microsoft.com/office/officeart/2005/8/layout/cycle2"/>
    <dgm:cxn modelId="{661CC22E-639C-48AA-8E26-64B4DAEE3014}" srcId="{F41D2204-CE0B-46C5-A100-91D3C0CA6498}" destId="{F97D0624-26C6-4E59-8CC0-BE964CC5ED00}" srcOrd="1" destOrd="0" parTransId="{401549F0-FD39-4433-8C34-AC9C4587B0F6}" sibTransId="{11B61FB1-CA5E-4990-B204-0E121C33C7C2}"/>
    <dgm:cxn modelId="{DD951347-6CBA-4107-989D-70C5BAEA4D7F}" type="presOf" srcId="{AA896777-ED8B-4A2B-A141-E725E68C05BF}" destId="{A039A19D-984B-4B85-8A45-7FDD3B5ACF91}" srcOrd="1" destOrd="0" presId="urn:microsoft.com/office/officeart/2005/8/layout/cycle2"/>
    <dgm:cxn modelId="{0E98D247-F2EC-4D82-8B7E-4ADF2DB45363}" srcId="{F41D2204-CE0B-46C5-A100-91D3C0CA6498}" destId="{9A5FA5EA-3020-4EFC-8486-194EA6619579}" srcOrd="2" destOrd="0" parTransId="{EB2FECF8-88CD-4658-9A97-8E64D366FB90}" sibTransId="{16FF7734-B813-4CD2-A5FF-5BA5FAA7A69D}"/>
    <dgm:cxn modelId="{C9D84A76-1BC1-4BEB-9441-D81695927216}" type="presOf" srcId="{9A5FA5EA-3020-4EFC-8486-194EA6619579}" destId="{2B581B70-A67C-4C3E-9D4A-507EBEE889CE}" srcOrd="0" destOrd="0" presId="urn:microsoft.com/office/officeart/2005/8/layout/cycle2"/>
    <dgm:cxn modelId="{ED11DE77-DD1F-4B4F-955B-BA8CECE31D9D}" srcId="{F41D2204-CE0B-46C5-A100-91D3C0CA6498}" destId="{F95396AC-F3DC-4333-85EC-B639986C3437}" srcOrd="0" destOrd="0" parTransId="{25A26192-C584-4A04-B8D9-141437633E95}" sibTransId="{19A961E4-C082-4FA2-BBBB-84B72C0273C5}"/>
    <dgm:cxn modelId="{B9469C7C-A2F7-48A0-B435-B5D8536382EE}" type="presOf" srcId="{70D7D691-938D-4908-97D9-A68F5FFFE6CC}" destId="{16EC56F0-1974-40E9-AD13-B09BBB349900}" srcOrd="0" destOrd="0" presId="urn:microsoft.com/office/officeart/2005/8/layout/cycle2"/>
    <dgm:cxn modelId="{DDCEFA7C-3092-4C1B-8505-359BC2190DB7}" type="presOf" srcId="{11B61FB1-CA5E-4990-B204-0E121C33C7C2}" destId="{475AAB5E-06D0-4171-BAC7-63ED493E7340}" srcOrd="1" destOrd="0" presId="urn:microsoft.com/office/officeart/2005/8/layout/cycle2"/>
    <dgm:cxn modelId="{2D002881-246D-4117-A46A-1AFBDB02163A}" type="presOf" srcId="{AA896777-ED8B-4A2B-A141-E725E68C05BF}" destId="{323F6B62-8F2C-4E73-8DAD-283EF1279F59}" srcOrd="0" destOrd="0" presId="urn:microsoft.com/office/officeart/2005/8/layout/cycle2"/>
    <dgm:cxn modelId="{67285799-D93F-47CB-9C5F-AB53B89218A8}" srcId="{F41D2204-CE0B-46C5-A100-91D3C0CA6498}" destId="{70D7D691-938D-4908-97D9-A68F5FFFE6CC}" srcOrd="3" destOrd="0" parTransId="{FB7BE644-B18E-4BE2-B340-2BADA553BB70}" sibTransId="{89FA836E-3482-4DFA-8D19-AAD78E04CEF4}"/>
    <dgm:cxn modelId="{98D0F4B2-3D9F-4BBB-98A8-4702A4335FF2}" type="presOf" srcId="{F41D2204-CE0B-46C5-A100-91D3C0CA6498}" destId="{140CBC96-BF4E-4CC7-8692-22962D873C29}" srcOrd="0" destOrd="0" presId="urn:microsoft.com/office/officeart/2005/8/layout/cycle2"/>
    <dgm:cxn modelId="{DACEDEB6-C62A-4617-A79A-4FC4C05BEF03}" type="presOf" srcId="{19A961E4-C082-4FA2-BBBB-84B72C0273C5}" destId="{848C8259-49E1-4A1D-8551-6BB8FC8A95CF}" srcOrd="0" destOrd="0" presId="urn:microsoft.com/office/officeart/2005/8/layout/cycle2"/>
    <dgm:cxn modelId="{728077CC-200E-44A0-A44C-FA8334048F28}" type="presOf" srcId="{F97D0624-26C6-4E59-8CC0-BE964CC5ED00}" destId="{A57CC03A-9DE0-4D30-8FBF-89C56666E607}" srcOrd="0" destOrd="0" presId="urn:microsoft.com/office/officeart/2005/8/layout/cycle2"/>
    <dgm:cxn modelId="{11CCB3D4-A71F-4A3E-B86E-191CACC3C1D5}" type="presOf" srcId="{19A961E4-C082-4FA2-BBBB-84B72C0273C5}" destId="{06A25140-8D4C-4CB1-B907-0AD5C3F74763}" srcOrd="1" destOrd="0" presId="urn:microsoft.com/office/officeart/2005/8/layout/cycle2"/>
    <dgm:cxn modelId="{CDED82D7-3455-4D09-999D-832690354485}" type="presOf" srcId="{89FA836E-3482-4DFA-8D19-AAD78E04CEF4}" destId="{48B34278-A54F-427B-B289-B69001849B9D}" srcOrd="0" destOrd="0" presId="urn:microsoft.com/office/officeart/2005/8/layout/cycle2"/>
    <dgm:cxn modelId="{B8515BFB-60B4-4733-B460-AB9A6D190677}" type="presOf" srcId="{432DEED5-AB5D-432F-9CC6-285C2FE30407}" destId="{62364D10-B4E8-4A59-BB45-AA9C69A335F1}" srcOrd="0" destOrd="0" presId="urn:microsoft.com/office/officeart/2005/8/layout/cycle2"/>
    <dgm:cxn modelId="{1213F1FB-FB39-4330-974E-4CC3DB499174}" type="presOf" srcId="{16FF7734-B813-4CD2-A5FF-5BA5FAA7A69D}" destId="{D50FD7B8-02C4-478C-8BD7-7EA72562CC7F}" srcOrd="1" destOrd="0" presId="urn:microsoft.com/office/officeart/2005/8/layout/cycle2"/>
    <dgm:cxn modelId="{691A3045-DF19-48CB-BB59-1891D31889BE}" type="presParOf" srcId="{140CBC96-BF4E-4CC7-8692-22962D873C29}" destId="{22868CCE-0FD5-4E63-9330-808351EEFA44}" srcOrd="0" destOrd="0" presId="urn:microsoft.com/office/officeart/2005/8/layout/cycle2"/>
    <dgm:cxn modelId="{495B042C-EC30-4291-94A9-9780DE9406B6}" type="presParOf" srcId="{140CBC96-BF4E-4CC7-8692-22962D873C29}" destId="{848C8259-49E1-4A1D-8551-6BB8FC8A95CF}" srcOrd="1" destOrd="0" presId="urn:microsoft.com/office/officeart/2005/8/layout/cycle2"/>
    <dgm:cxn modelId="{087ED326-CB81-44E6-80E1-5DC3084662C3}" type="presParOf" srcId="{848C8259-49E1-4A1D-8551-6BB8FC8A95CF}" destId="{06A25140-8D4C-4CB1-B907-0AD5C3F74763}" srcOrd="0" destOrd="0" presId="urn:microsoft.com/office/officeart/2005/8/layout/cycle2"/>
    <dgm:cxn modelId="{DB580DF0-3698-4A25-92A8-80655D4E17E8}" type="presParOf" srcId="{140CBC96-BF4E-4CC7-8692-22962D873C29}" destId="{A57CC03A-9DE0-4D30-8FBF-89C56666E607}" srcOrd="2" destOrd="0" presId="urn:microsoft.com/office/officeart/2005/8/layout/cycle2"/>
    <dgm:cxn modelId="{99249700-E8C1-4DB4-B150-423097913286}" type="presParOf" srcId="{140CBC96-BF4E-4CC7-8692-22962D873C29}" destId="{DC538AA2-0AC0-4046-A25E-6609D474FF8B}" srcOrd="3" destOrd="0" presId="urn:microsoft.com/office/officeart/2005/8/layout/cycle2"/>
    <dgm:cxn modelId="{C313E1E0-E777-483D-BF21-A0CCF832F4AC}" type="presParOf" srcId="{DC538AA2-0AC0-4046-A25E-6609D474FF8B}" destId="{475AAB5E-06D0-4171-BAC7-63ED493E7340}" srcOrd="0" destOrd="0" presId="urn:microsoft.com/office/officeart/2005/8/layout/cycle2"/>
    <dgm:cxn modelId="{E0051D44-000E-46A8-9FB4-4CC96C925522}" type="presParOf" srcId="{140CBC96-BF4E-4CC7-8692-22962D873C29}" destId="{2B581B70-A67C-4C3E-9D4A-507EBEE889CE}" srcOrd="4" destOrd="0" presId="urn:microsoft.com/office/officeart/2005/8/layout/cycle2"/>
    <dgm:cxn modelId="{F0EC3164-D466-4C79-B9FB-9E5D69D3DF63}" type="presParOf" srcId="{140CBC96-BF4E-4CC7-8692-22962D873C29}" destId="{D86BC122-522E-4DA1-B2D7-67DF5C35E678}" srcOrd="5" destOrd="0" presId="urn:microsoft.com/office/officeart/2005/8/layout/cycle2"/>
    <dgm:cxn modelId="{228726EA-C3AE-4A99-9480-C8973376178B}" type="presParOf" srcId="{D86BC122-522E-4DA1-B2D7-67DF5C35E678}" destId="{D50FD7B8-02C4-478C-8BD7-7EA72562CC7F}" srcOrd="0" destOrd="0" presId="urn:microsoft.com/office/officeart/2005/8/layout/cycle2"/>
    <dgm:cxn modelId="{2D0048F5-188F-43C2-8E0C-E653B6F5CFB0}" type="presParOf" srcId="{140CBC96-BF4E-4CC7-8692-22962D873C29}" destId="{16EC56F0-1974-40E9-AD13-B09BBB349900}" srcOrd="6" destOrd="0" presId="urn:microsoft.com/office/officeart/2005/8/layout/cycle2"/>
    <dgm:cxn modelId="{C2236CA5-BD6C-43B0-8BA1-F117D61A1652}" type="presParOf" srcId="{140CBC96-BF4E-4CC7-8692-22962D873C29}" destId="{48B34278-A54F-427B-B289-B69001849B9D}" srcOrd="7" destOrd="0" presId="urn:microsoft.com/office/officeart/2005/8/layout/cycle2"/>
    <dgm:cxn modelId="{042FD80C-9E22-44D8-B0C7-383E71F29BC0}" type="presParOf" srcId="{48B34278-A54F-427B-B289-B69001849B9D}" destId="{122310D2-65DC-45F2-A453-4D176A137ED6}" srcOrd="0" destOrd="0" presId="urn:microsoft.com/office/officeart/2005/8/layout/cycle2"/>
    <dgm:cxn modelId="{B8FF1FEB-C792-4FEE-BEAD-17B3395C5882}" type="presParOf" srcId="{140CBC96-BF4E-4CC7-8692-22962D873C29}" destId="{62364D10-B4E8-4A59-BB45-AA9C69A335F1}" srcOrd="8" destOrd="0" presId="urn:microsoft.com/office/officeart/2005/8/layout/cycle2"/>
    <dgm:cxn modelId="{EC5A76D0-773F-4C50-9972-DB0D491BB65D}" type="presParOf" srcId="{140CBC96-BF4E-4CC7-8692-22962D873C29}" destId="{323F6B62-8F2C-4E73-8DAD-283EF1279F59}" srcOrd="9" destOrd="0" presId="urn:microsoft.com/office/officeart/2005/8/layout/cycle2"/>
    <dgm:cxn modelId="{0A72ED83-47E5-4884-8872-C07BD9118330}" type="presParOf" srcId="{323F6B62-8F2C-4E73-8DAD-283EF1279F59}" destId="{A039A19D-984B-4B85-8A45-7FDD3B5ACF91}" srcOrd="0" destOrd="0" presId="urn:microsoft.com/office/officeart/2005/8/layout/cycle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3F67C3F-2F0C-4B61-AC60-3C7D09A81777}">
      <dsp:nvSpPr>
        <dsp:cNvPr id="0" name=""/>
        <dsp:cNvSpPr/>
      </dsp:nvSpPr>
      <dsp:spPr>
        <a:xfrm>
          <a:off x="1881902" y="352213"/>
          <a:ext cx="4551680" cy="4551680"/>
        </a:xfrm>
        <a:prstGeom prst="pie">
          <a:avLst>
            <a:gd name="adj1" fmla="val 16200000"/>
            <a:gd name="adj2" fmla="val 180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2266950">
            <a:lnSpc>
              <a:spcPct val="90000"/>
            </a:lnSpc>
            <a:spcBef>
              <a:spcPct val="0"/>
            </a:spcBef>
            <a:spcAft>
              <a:spcPct val="35000"/>
            </a:spcAft>
            <a:buNone/>
          </a:pPr>
          <a:endParaRPr lang="en-GB" sz="5100" kern="1200"/>
        </a:p>
      </dsp:txBody>
      <dsp:txXfrm>
        <a:off x="4280746" y="1316736"/>
        <a:ext cx="1625600" cy="1354666"/>
      </dsp:txXfrm>
    </dsp:sp>
    <dsp:sp modelId="{BE7E4B5C-DC5E-4AFC-9209-7D49F07488EC}">
      <dsp:nvSpPr>
        <dsp:cNvPr id="0" name=""/>
        <dsp:cNvSpPr/>
      </dsp:nvSpPr>
      <dsp:spPr>
        <a:xfrm>
          <a:off x="1788159" y="514773"/>
          <a:ext cx="4551680" cy="4551680"/>
        </a:xfrm>
        <a:prstGeom prst="pie">
          <a:avLst>
            <a:gd name="adj1" fmla="val 1800000"/>
            <a:gd name="adj2" fmla="val 900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2550" tIns="82550" rIns="82550" bIns="82550" numCol="1" spcCol="1270" anchor="ctr" anchorCtr="0">
          <a:noAutofit/>
        </a:bodyPr>
        <a:lstStyle/>
        <a:p>
          <a:pPr marL="0" lvl="0" indent="0" algn="ctr" defTabSz="2889250">
            <a:lnSpc>
              <a:spcPct val="90000"/>
            </a:lnSpc>
            <a:spcBef>
              <a:spcPct val="0"/>
            </a:spcBef>
            <a:spcAft>
              <a:spcPct val="35000"/>
            </a:spcAft>
            <a:buNone/>
          </a:pPr>
          <a:endParaRPr lang="en-GB" sz="6500" kern="1200"/>
        </a:p>
      </dsp:txBody>
      <dsp:txXfrm>
        <a:off x="2871893" y="3467946"/>
        <a:ext cx="2438400" cy="1192106"/>
      </dsp:txXfrm>
    </dsp:sp>
    <dsp:sp modelId="{7A8B6E5E-6964-4780-962B-0CFFDFBCFFED}">
      <dsp:nvSpPr>
        <dsp:cNvPr id="0" name=""/>
        <dsp:cNvSpPr/>
      </dsp:nvSpPr>
      <dsp:spPr>
        <a:xfrm>
          <a:off x="1694416" y="352213"/>
          <a:ext cx="4551680" cy="4551680"/>
        </a:xfrm>
        <a:prstGeom prst="pie">
          <a:avLst>
            <a:gd name="adj1" fmla="val 9000000"/>
            <a:gd name="adj2" fmla="val 1620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2266950">
            <a:lnSpc>
              <a:spcPct val="90000"/>
            </a:lnSpc>
            <a:spcBef>
              <a:spcPct val="0"/>
            </a:spcBef>
            <a:spcAft>
              <a:spcPct val="35000"/>
            </a:spcAft>
            <a:buNone/>
          </a:pPr>
          <a:endParaRPr lang="en-GB" sz="5100" kern="1200"/>
        </a:p>
      </dsp:txBody>
      <dsp:txXfrm>
        <a:off x="2221653" y="1316736"/>
        <a:ext cx="1625600" cy="1354666"/>
      </dsp:txXfrm>
    </dsp:sp>
    <dsp:sp modelId="{D3DBFEE8-E076-4849-A8EF-15F7A85B7028}">
      <dsp:nvSpPr>
        <dsp:cNvPr id="0" name=""/>
        <dsp:cNvSpPr/>
      </dsp:nvSpPr>
      <dsp:spPr>
        <a:xfrm>
          <a:off x="1600507" y="70442"/>
          <a:ext cx="5115221" cy="5115221"/>
        </a:xfrm>
        <a:prstGeom prst="circularArrow">
          <a:avLst>
            <a:gd name="adj1" fmla="val 5085"/>
            <a:gd name="adj2" fmla="val 327528"/>
            <a:gd name="adj3" fmla="val 1472472"/>
            <a:gd name="adj4" fmla="val 16199432"/>
            <a:gd name="adj5" fmla="val 5932"/>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B99FD4B9-FB58-4E55-983B-A9CACD0658E8}">
      <dsp:nvSpPr>
        <dsp:cNvPr id="0" name=""/>
        <dsp:cNvSpPr/>
      </dsp:nvSpPr>
      <dsp:spPr>
        <a:xfrm>
          <a:off x="1506389" y="232714"/>
          <a:ext cx="5115221" cy="5115221"/>
        </a:xfrm>
        <a:prstGeom prst="circularArrow">
          <a:avLst>
            <a:gd name="adj1" fmla="val 5085"/>
            <a:gd name="adj2" fmla="val 327528"/>
            <a:gd name="adj3" fmla="val 8671970"/>
            <a:gd name="adj4" fmla="val 1800502"/>
            <a:gd name="adj5" fmla="val 5932"/>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95311E53-1FB2-4A16-916D-FEB33F040701}">
      <dsp:nvSpPr>
        <dsp:cNvPr id="0" name=""/>
        <dsp:cNvSpPr/>
      </dsp:nvSpPr>
      <dsp:spPr>
        <a:xfrm>
          <a:off x="1412270" y="70442"/>
          <a:ext cx="5115221" cy="5115221"/>
        </a:xfrm>
        <a:prstGeom prst="circularArrow">
          <a:avLst>
            <a:gd name="adj1" fmla="val 5085"/>
            <a:gd name="adj2" fmla="val 327528"/>
            <a:gd name="adj3" fmla="val 15873039"/>
            <a:gd name="adj4" fmla="val 9000000"/>
            <a:gd name="adj5" fmla="val 5932"/>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2868CCE-0FD5-4E63-9330-808351EEFA44}">
      <dsp:nvSpPr>
        <dsp:cNvPr id="0" name=""/>
        <dsp:cNvSpPr/>
      </dsp:nvSpPr>
      <dsp:spPr>
        <a:xfrm>
          <a:off x="4693353" y="0"/>
          <a:ext cx="1709383" cy="1709383"/>
        </a:xfrm>
        <a:prstGeom prst="ellipse">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r>
            <a:rPr lang="en-GB" sz="1600" kern="1200" dirty="0"/>
            <a:t>Resourcing &amp; talent management</a:t>
          </a:r>
        </a:p>
      </dsp:txBody>
      <dsp:txXfrm>
        <a:off x="4943686" y="250333"/>
        <a:ext cx="1208717" cy="1208717"/>
      </dsp:txXfrm>
    </dsp:sp>
    <dsp:sp modelId="{848C8259-49E1-4A1D-8551-6BB8FC8A95CF}">
      <dsp:nvSpPr>
        <dsp:cNvPr id="0" name=""/>
        <dsp:cNvSpPr/>
      </dsp:nvSpPr>
      <dsp:spPr>
        <a:xfrm rot="1717608">
          <a:off x="6431769" y="1168753"/>
          <a:ext cx="440293" cy="576916"/>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77850">
            <a:lnSpc>
              <a:spcPct val="90000"/>
            </a:lnSpc>
            <a:spcBef>
              <a:spcPct val="0"/>
            </a:spcBef>
            <a:spcAft>
              <a:spcPct val="35000"/>
            </a:spcAft>
            <a:buNone/>
          </a:pPr>
          <a:endParaRPr lang="en-GB" sz="1300" kern="1200"/>
        </a:p>
      </dsp:txBody>
      <dsp:txXfrm>
        <a:off x="6439842" y="1252494"/>
        <a:ext cx="308205" cy="346150"/>
      </dsp:txXfrm>
    </dsp:sp>
    <dsp:sp modelId="{A57CC03A-9DE0-4D30-8FBF-89C56666E607}">
      <dsp:nvSpPr>
        <dsp:cNvPr id="0" name=""/>
        <dsp:cNvSpPr/>
      </dsp:nvSpPr>
      <dsp:spPr>
        <a:xfrm>
          <a:off x="6922972" y="1216981"/>
          <a:ext cx="1709383" cy="1709383"/>
        </a:xfrm>
        <a:prstGeom prst="ellipse">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r>
            <a:rPr lang="en-GB" sz="1600" kern="1200" dirty="0"/>
            <a:t>Induction, onboarding &amp; socialisation</a:t>
          </a:r>
        </a:p>
      </dsp:txBody>
      <dsp:txXfrm>
        <a:off x="7173305" y="1467314"/>
        <a:ext cx="1208717" cy="1208717"/>
      </dsp:txXfrm>
    </dsp:sp>
    <dsp:sp modelId="{DC538AA2-0AC0-4046-A25E-6609D474FF8B}">
      <dsp:nvSpPr>
        <dsp:cNvPr id="0" name=""/>
        <dsp:cNvSpPr/>
      </dsp:nvSpPr>
      <dsp:spPr>
        <a:xfrm rot="5774494">
          <a:off x="7291575" y="3151164"/>
          <a:ext cx="706327" cy="576916"/>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77850">
            <a:lnSpc>
              <a:spcPct val="90000"/>
            </a:lnSpc>
            <a:spcBef>
              <a:spcPct val="0"/>
            </a:spcBef>
            <a:spcAft>
              <a:spcPct val="35000"/>
            </a:spcAft>
            <a:buNone/>
          </a:pPr>
          <a:endParaRPr lang="en-GB" sz="1300" kern="1200"/>
        </a:p>
      </dsp:txBody>
      <dsp:txXfrm rot="10800000">
        <a:off x="7387521" y="3180522"/>
        <a:ext cx="533252" cy="346150"/>
      </dsp:txXfrm>
    </dsp:sp>
    <dsp:sp modelId="{2B581B70-A67C-4C3E-9D4A-507EBEE889CE}">
      <dsp:nvSpPr>
        <dsp:cNvPr id="0" name=""/>
        <dsp:cNvSpPr/>
      </dsp:nvSpPr>
      <dsp:spPr>
        <a:xfrm>
          <a:off x="6630488" y="3891269"/>
          <a:ext cx="1709383" cy="1709383"/>
        </a:xfrm>
        <a:prstGeom prst="ellipse">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r>
            <a:rPr lang="en-GB" sz="1600" kern="1200" dirty="0"/>
            <a:t>Reviewing &amp; appraising performance</a:t>
          </a:r>
        </a:p>
      </dsp:txBody>
      <dsp:txXfrm>
        <a:off x="6880821" y="4141602"/>
        <a:ext cx="1208717" cy="1208717"/>
      </dsp:txXfrm>
    </dsp:sp>
    <dsp:sp modelId="{D86BC122-522E-4DA1-B2D7-67DF5C35E678}">
      <dsp:nvSpPr>
        <dsp:cNvPr id="0" name=""/>
        <dsp:cNvSpPr/>
      </dsp:nvSpPr>
      <dsp:spPr>
        <a:xfrm rot="10742596">
          <a:off x="5333205" y="4488039"/>
          <a:ext cx="646730" cy="576916"/>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77850">
            <a:lnSpc>
              <a:spcPct val="90000"/>
            </a:lnSpc>
            <a:spcBef>
              <a:spcPct val="0"/>
            </a:spcBef>
            <a:spcAft>
              <a:spcPct val="35000"/>
            </a:spcAft>
            <a:buNone/>
          </a:pPr>
          <a:endParaRPr lang="en-GB" sz="1300" kern="1200"/>
        </a:p>
      </dsp:txBody>
      <dsp:txXfrm rot="10800000">
        <a:off x="5506268" y="4601977"/>
        <a:ext cx="473655" cy="346150"/>
      </dsp:txXfrm>
    </dsp:sp>
    <dsp:sp modelId="{16EC56F0-1974-40E9-AD13-B09BBB349900}">
      <dsp:nvSpPr>
        <dsp:cNvPr id="0" name=""/>
        <dsp:cNvSpPr/>
      </dsp:nvSpPr>
      <dsp:spPr>
        <a:xfrm>
          <a:off x="2913020" y="3953349"/>
          <a:ext cx="1709383" cy="1709383"/>
        </a:xfrm>
        <a:prstGeom prst="ellipse">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r>
            <a:rPr lang="en-GB" sz="1600" kern="1200" dirty="0"/>
            <a:t>Enhancing &amp; reinforcing performance standards</a:t>
          </a:r>
        </a:p>
      </dsp:txBody>
      <dsp:txXfrm>
        <a:off x="3163353" y="4203682"/>
        <a:ext cx="1208717" cy="1208717"/>
      </dsp:txXfrm>
    </dsp:sp>
    <dsp:sp modelId="{48B34278-A54F-427B-B289-B69001849B9D}">
      <dsp:nvSpPr>
        <dsp:cNvPr id="0" name=""/>
        <dsp:cNvSpPr/>
      </dsp:nvSpPr>
      <dsp:spPr>
        <a:xfrm rot="15284864">
          <a:off x="3195238" y="3280664"/>
          <a:ext cx="469305" cy="576916"/>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77850">
            <a:lnSpc>
              <a:spcPct val="90000"/>
            </a:lnSpc>
            <a:spcBef>
              <a:spcPct val="0"/>
            </a:spcBef>
            <a:spcAft>
              <a:spcPct val="35000"/>
            </a:spcAft>
            <a:buNone/>
          </a:pPr>
          <a:endParaRPr lang="en-GB" sz="1300" kern="1200"/>
        </a:p>
      </dsp:txBody>
      <dsp:txXfrm rot="10800000">
        <a:off x="3284152" y="3463963"/>
        <a:ext cx="328514" cy="346150"/>
      </dsp:txXfrm>
    </dsp:sp>
    <dsp:sp modelId="{62364D10-B4E8-4A59-BB45-AA9C69A335F1}">
      <dsp:nvSpPr>
        <dsp:cNvPr id="0" name=""/>
        <dsp:cNvSpPr/>
      </dsp:nvSpPr>
      <dsp:spPr>
        <a:xfrm>
          <a:off x="2230390" y="1449883"/>
          <a:ext cx="1709383" cy="1709383"/>
        </a:xfrm>
        <a:prstGeom prst="ellipse">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r>
            <a:rPr lang="en-GB" sz="1600" kern="1200" dirty="0"/>
            <a:t>Well-being, counselling &amp; support</a:t>
          </a:r>
        </a:p>
      </dsp:txBody>
      <dsp:txXfrm>
        <a:off x="2480723" y="1700216"/>
        <a:ext cx="1208717" cy="1208717"/>
      </dsp:txXfrm>
    </dsp:sp>
    <dsp:sp modelId="{323F6B62-8F2C-4E73-8DAD-283EF1279F59}">
      <dsp:nvSpPr>
        <dsp:cNvPr id="0" name=""/>
        <dsp:cNvSpPr/>
      </dsp:nvSpPr>
      <dsp:spPr>
        <a:xfrm rot="19770946">
          <a:off x="3997323" y="1299915"/>
          <a:ext cx="608784" cy="576916"/>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77850">
            <a:lnSpc>
              <a:spcPct val="90000"/>
            </a:lnSpc>
            <a:spcBef>
              <a:spcPct val="0"/>
            </a:spcBef>
            <a:spcAft>
              <a:spcPct val="35000"/>
            </a:spcAft>
            <a:buNone/>
          </a:pPr>
          <a:endParaRPr lang="en-GB" sz="1300" kern="1200"/>
        </a:p>
      </dsp:txBody>
      <dsp:txXfrm>
        <a:off x="4009285" y="1459199"/>
        <a:ext cx="435709" cy="346150"/>
      </dsp:txXfrm>
    </dsp:sp>
  </dsp:spTree>
</dsp:drawing>
</file>

<file path=ppt/diagrams/layout1.xml><?xml version="1.0" encoding="utf-8"?>
<dgm:layoutDef xmlns:dgm="http://schemas.openxmlformats.org/drawingml/2006/diagram" xmlns:a="http://schemas.openxmlformats.org/drawingml/2006/main" uniqueId="urn:microsoft.com/office/officeart/2005/8/layout/cycle8">
  <dgm:title val=""/>
  <dgm:desc val=""/>
  <dgm:catLst>
    <dgm:cat type="cycle" pri="7000"/>
  </dgm:catLst>
  <dgm:sampData useDef="1">
    <dgm:dataModel>
      <dgm:ptLst/>
      <dgm:bg/>
      <dgm:whole/>
    </dgm:dataModel>
  </dgm:sampData>
  <dgm:styleData useDef="1">
    <dgm:dataModel>
      <dgm:ptLst/>
      <dgm:bg/>
      <dgm:whole/>
    </dgm:dataModel>
  </dgm:styleData>
  <dgm:clrData>
    <dgm:dataModel>
      <dgm:ptLst>
        <dgm:pt modelId="0" type="doc"/>
        <dgm:pt modelId="1"/>
        <dgm:pt modelId="2"/>
        <dgm:pt modelId="3"/>
        <dgm:pt modelId="4"/>
        <dgm:pt modelId="5"/>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clrData>
  <dgm:layoutNode name="compositeShape">
    <dgm:varLst>
      <dgm:chMax val="7"/>
      <dgm:dir/>
      <dgm:resizeHandles val="exact"/>
    </dgm:varLst>
    <dgm:alg type="composite">
      <dgm:param type="horzAlign" val="ctr"/>
      <dgm:param type="vertAlign" val="mid"/>
      <dgm:param type="ar" val="1"/>
    </dgm:alg>
    <dgm:shape xmlns:r="http://schemas.openxmlformats.org/officeDocument/2006/relationships" r:blip="">
      <dgm:adjLst/>
    </dgm:shape>
    <dgm:presOf/>
    <dgm:choose name="Name0">
      <dgm:if name="Name1" axis="ch" ptType="node" func="cnt" op="equ" val="1">
        <dgm:constrLst>
          <dgm:constr type="l" for="ch" forName="wedge1" refType="w" fact="0.08"/>
          <dgm:constr type="t" for="ch" forName="wedge1" refType="w" fact="0.08"/>
          <dgm:constr type="w" for="ch" forName="wedge1" refType="w" fact="0.84"/>
          <dgm:constr type="h" for="ch" forName="wedge1" refType="h" fact="0.84"/>
          <dgm:constr type="l" for="ch" forName="dummy1a" refType="w" fact="0.5"/>
          <dgm:constr type="t" for="ch" forName="dummy1a" refType="h" fact="0.08"/>
          <dgm:constr type="l" for="ch" forName="dummy1b" refType="w" fact="0.5"/>
          <dgm:constr type="t" for="ch" forName="dummy1b" refType="h" fact="0.08"/>
          <dgm:constr type="l" for="ch" forName="wedge1Tx" refType="w" fact="0.22"/>
          <dgm:constr type="t" for="ch" forName="wedge1Tx" refType="h" fact="0.22"/>
          <dgm:constr type="w" for="ch" forName="wedge1Tx" refType="w" fact="0.56"/>
          <dgm:constr type="h" for="ch" forName="wedge1Tx" refType="h" fact="0.56"/>
          <dgm:constr type="h" for="ch" forName="arrowWedge1single" refType="w" fact="0.08"/>
          <dgm:constr type="diam" for="ch" forName="arrowWedge1single" refType="w" fact="0.84"/>
          <dgm:constr type="l" for="ch" forName="arrowWedge1single" refType="w" fact="0.5"/>
          <dgm:constr type="t" for="ch" forName="arrowWedge1single" refType="w" fact="0.5"/>
          <dgm:constr type="primFontSz" for="ch" ptType="node" op="equ"/>
        </dgm:constrLst>
      </dgm:if>
      <dgm:if name="Name2" axis="ch" ptType="node" func="cnt" op="equ" val="2">
        <dgm:constrLst>
          <dgm:constr type="l" for="ch" forName="wedge1" refType="w" fact="0.1"/>
          <dgm:constr type="t" for="ch" forName="wedge1" refType="w" fact="0.08"/>
          <dgm:constr type="w" for="ch" forName="wedge1" refType="w" fact="0.84"/>
          <dgm:constr type="h" for="ch" forName="wedge1" refType="h" fact="0.84"/>
          <dgm:constr type="l" for="ch" forName="dummy1a" refType="w" fact="0.52"/>
          <dgm:constr type="t" for="ch" forName="dummy1a" refType="h" fact="0.08"/>
          <dgm:constr type="l" for="ch" forName="dummy1b" refType="w" fact="0.52"/>
          <dgm:constr type="t" for="ch" forName="dummy1b" refType="h" fact="0.92"/>
          <dgm:constr type="l" for="ch" forName="wedge1Tx" refType="w" fact="0.559"/>
          <dgm:constr type="t" for="ch" forName="wedge1Tx" refType="h" fact="0.3"/>
          <dgm:constr type="w" for="ch" forName="wedge1Tx" refType="w" fact="0.3"/>
          <dgm:constr type="h" for="ch" forName="wedge1Tx" refType="h" fact="0.4"/>
          <dgm:constr type="l" for="ch" forName="wedge2" refType="w" fact="0.06"/>
          <dgm:constr type="t" for="ch" forName="wedge2" refType="w" fact="0.08"/>
          <dgm:constr type="w" for="ch" forName="wedge2" refType="w" fact="0.84"/>
          <dgm:constr type="h" for="ch" forName="wedge2" refType="h" fact="0.84"/>
          <dgm:constr type="l" for="ch" forName="dummy2a" refType="w" fact="0.48"/>
          <dgm:constr type="t" for="ch" forName="dummy2a" refType="h" fact="0.92"/>
          <dgm:constr type="l" for="ch" forName="dummy2b" refType="w" fact="0.48"/>
          <dgm:constr type="t" for="ch" forName="dummy2b" refType="h" fact="0.08"/>
          <dgm:constr type="r" for="ch" forName="wedge2Tx" refType="w" fact="0.441"/>
          <dgm:constr type="t" for="ch" forName="wedge2Tx" refType="h" fact="0.3"/>
          <dgm:constr type="w" for="ch" forName="wedge2Tx" refType="w" fact="0.3"/>
          <dgm:constr type="h" for="ch" forName="wedge2Tx" refType="h" fact="0.4"/>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primFontSz" for="ch" ptType="node" op="equ"/>
        </dgm:constrLst>
      </dgm:if>
      <dgm:if name="Name3" axis="ch" ptType="node" func="cnt" op="equ" val="3">
        <dgm:constrLst>
          <dgm:constr type="l" for="ch" forName="wedge1" refType="w" fact="0.0973"/>
          <dgm:constr type="t" for="ch" forName="wedge1" refType="w" fact="0.07"/>
          <dgm:constr type="w" for="ch" forName="wedge1" refType="w" fact="0.84"/>
          <dgm:constr type="h" for="ch" forName="wedge1" refType="h" fact="0.84"/>
          <dgm:constr type="l" for="ch" forName="dummy1a" refType="w" fact="0.5173"/>
          <dgm:constr type="t" for="ch" forName="dummy1a" refType="h" fact="0.07"/>
          <dgm:constr type="l" for="ch" forName="dummy1b" refType="w" fact="0.8811"/>
          <dgm:constr type="t" for="ch" forName="dummy1b" refType="h" fact="0.7"/>
          <dgm:constr type="l" for="ch" forName="wedge1Tx" refType="w" fact="0.54"/>
          <dgm:constr type="t" for="ch" forName="wedge1Tx" refType="h" fact="0.248"/>
          <dgm:constr type="w" for="ch" forName="wedge1Tx" refType="w" fact="0.3"/>
          <dgm:constr type="h" for="ch" forName="wedge1Tx" refType="h" fact="0.25"/>
          <dgm:constr type="l" for="ch" forName="wedge2" refType="w" fact="0.08"/>
          <dgm:constr type="t" for="ch" forName="wedge2" refType="w" fact="0.1"/>
          <dgm:constr type="w" for="ch" forName="wedge2" refType="w" fact="0.84"/>
          <dgm:constr type="h" for="ch" forName="wedge2" refType="h" fact="0.84"/>
          <dgm:constr type="l" for="ch" forName="dummy2a" refType="w" fact="0.8637"/>
          <dgm:constr type="t" for="ch" forName="dummy2a" refType="h" fact="0.73"/>
          <dgm:constr type="l" for="ch" forName="dummy2b" refType="w" fact="0.1363"/>
          <dgm:constr type="t" for="ch" forName="dummy2b" refType="h" fact="0.73"/>
          <dgm:constr type="l" for="ch" forName="wedge2Tx" refType="w" fact="0.28"/>
          <dgm:constr type="t" for="ch" forName="wedge2Tx" refType="h" fact="0.645"/>
          <dgm:constr type="w" for="ch" forName="wedge2Tx" refType="w" fact="0.45"/>
          <dgm:constr type="h" for="ch" forName="wedge2Tx" refType="h" fact="0.22"/>
          <dgm:constr type="l" for="ch" forName="wedge3" refType="w" fact="0.0627"/>
          <dgm:constr type="t" for="ch" forName="wedge3" refType="w" fact="0.07"/>
          <dgm:constr type="w" for="ch" forName="wedge3" refType="w" fact="0.84"/>
          <dgm:constr type="h" for="ch" forName="wedge3" refType="h" fact="0.84"/>
          <dgm:constr type="l" for="ch" forName="dummy3a" refType="w" fact="0.1189"/>
          <dgm:constr type="t" for="ch" forName="dummy3a" refType="h" fact="0.7"/>
          <dgm:constr type="l" for="ch" forName="dummy3b" refType="w" fact="0.4827"/>
          <dgm:constr type="t" for="ch" forName="dummy3b" refType="h" fact="0.07"/>
          <dgm:constr type="r" for="ch" forName="wedge3Tx" refType="w" fact="0.46"/>
          <dgm:constr type="t" for="ch" forName="wedge3Tx" refType="h" fact="0.248"/>
          <dgm:constr type="w" for="ch" forName="wedge3Tx" refType="w" fact="0.3"/>
          <dgm:constr type="h" for="ch" forName="wedge3Tx" refType="h" fact="0.25"/>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primFontSz" for="ch" ptType="node" op="equ"/>
        </dgm:constrLst>
      </dgm:if>
      <dgm:if name="Name4" axis="ch" ptType="node" func="cnt" op="equ" val="4">
        <dgm:constrLst>
          <dgm:constr type="l" for="ch" forName="wedge1" refType="w" fact="0.0941"/>
          <dgm:constr type="t" for="ch" forName="wedge1" refType="w" fact="0.0659"/>
          <dgm:constr type="w" for="ch" forName="wedge1" refType="w" fact="0.84"/>
          <dgm:constr type="h" for="ch" forName="wedge1" refType="h" fact="0.84"/>
          <dgm:constr type="l" for="ch" forName="dummy1a" refType="w" fact="0.5141"/>
          <dgm:constr type="t" for="ch" forName="dummy1a" refType="h" fact="0.0659"/>
          <dgm:constr type="l" for="ch" forName="dummy1b" refType="w" fact="0.9341"/>
          <dgm:constr type="t" for="ch" forName="dummy1b" refType="h" fact="0.4859"/>
          <dgm:constr type="l" for="ch" forName="wedge1Tx" refType="w" fact="0.54"/>
          <dgm:constr type="t" for="ch" forName="wedge1Tx" refType="h" fact="0.24"/>
          <dgm:constr type="w" for="ch" forName="wedge1Tx" refType="w" fact="0.31"/>
          <dgm:constr type="h" for="ch" forName="wedge1Tx" refType="h" fact="0.23"/>
          <dgm:constr type="l" for="ch" forName="wedge2" refType="w" fact="0.0941"/>
          <dgm:constr type="t" for="ch" forName="wedge2" refType="w" fact="0.0941"/>
          <dgm:constr type="w" for="ch" forName="wedge2" refType="w" fact="0.84"/>
          <dgm:constr type="h" for="ch" forName="wedge2" refType="h" fact="0.84"/>
          <dgm:constr type="l" for="ch" forName="dummy2a" refType="w" fact="0.9341"/>
          <dgm:constr type="t" for="ch" forName="dummy2a" refType="h" fact="0.5141"/>
          <dgm:constr type="l" for="ch" forName="dummy2b" refType="w" fact="0.5141"/>
          <dgm:constr type="t" for="ch" forName="dummy2b" refType="h" fact="0.9341"/>
          <dgm:constr type="l" for="ch" forName="wedge2Tx" refType="w" fact="0.54"/>
          <dgm:constr type="t" for="ch" forName="wedge2Tx" refType="h" fact="0.53"/>
          <dgm:constr type="w" for="ch" forName="wedge2Tx" refType="w" fact="0.31"/>
          <dgm:constr type="h" for="ch" forName="wedge2Tx" refType="h" fact="0.23"/>
          <dgm:constr type="l" for="ch" forName="wedge3" refType="w" fact="0.0659"/>
          <dgm:constr type="t" for="ch" forName="wedge3" refType="w" fact="0.0941"/>
          <dgm:constr type="w" for="ch" forName="wedge3" refType="w" fact="0.84"/>
          <dgm:constr type="h" for="ch" forName="wedge3" refType="h" fact="0.84"/>
          <dgm:constr type="l" for="ch" forName="dummy3a" refType="w" fact="0.4859"/>
          <dgm:constr type="t" for="ch" forName="dummy3a" refType="h" fact="0.9341"/>
          <dgm:constr type="l" for="ch" forName="dummy3b" refType="w" fact="0.0659"/>
          <dgm:constr type="t" for="ch" forName="dummy3b" refType="h" fact="0.5141"/>
          <dgm:constr type="r" for="ch" forName="wedge3Tx" refType="w" fact="0.46"/>
          <dgm:constr type="t" for="ch" forName="wedge3Tx" refType="h" fact="0.53"/>
          <dgm:constr type="w" for="ch" forName="wedge3Tx" refType="w" fact="0.31"/>
          <dgm:constr type="h" for="ch" forName="wedge3Tx" refType="h" fact="0.23"/>
          <dgm:constr type="l" for="ch" forName="wedge4" refType="w" fact="0.0659"/>
          <dgm:constr type="t" for="ch" forName="wedge4" refType="h" fact="0.0659"/>
          <dgm:constr type="w" for="ch" forName="wedge4" refType="w" fact="0.84"/>
          <dgm:constr type="h" for="ch" forName="wedge4" refType="h" fact="0.84"/>
          <dgm:constr type="l" for="ch" forName="dummy4a" refType="w" fact="0.0659"/>
          <dgm:constr type="t" for="ch" forName="dummy4a" refType="h" fact="0.4859"/>
          <dgm:constr type="l" for="ch" forName="dummy4b" refType="w" fact="0.4859"/>
          <dgm:constr type="t" for="ch" forName="dummy4b" refType="h" fact="0.0659"/>
          <dgm:constr type="r" for="ch" forName="wedge4Tx" refType="w" fact="0.46"/>
          <dgm:constr type="t" for="ch" forName="wedge4Tx" refType="h" fact="0.24"/>
          <dgm:constr type="w" for="ch" forName="wedge4Tx" refType="w" fact="0.31"/>
          <dgm:constr type="h" for="ch" forName="wedge4Tx" refType="h" fact="0.23"/>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primFontSz" for="ch" ptType="node" op="equ"/>
        </dgm:constrLst>
      </dgm:if>
      <dgm:if name="Name5" axis="ch" ptType="node" func="cnt" op="equ" val="5">
        <dgm:constrLst>
          <dgm:constr type="l" for="ch" forName="wedge1" refType="w" fact="0.0918"/>
          <dgm:constr type="t" for="ch" forName="wedge1" refType="w" fact="0.0638"/>
          <dgm:constr type="w" for="ch" forName="wedge1" refType="w" fact="0.84"/>
          <dgm:constr type="h" for="ch" forName="wedge1" refType="h" fact="0.84"/>
          <dgm:constr type="l" for="ch" forName="dummy1a" refType="w" fact="0.5118"/>
          <dgm:constr type="t" for="ch" forName="dummy1a" refType="h" fact="0.0638"/>
          <dgm:constr type="l" for="ch" forName="dummy1b" refType="w" fact="0.9112"/>
          <dgm:constr type="t" for="ch" forName="dummy1b" refType="h" fact="0.354"/>
          <dgm:constr type="l" for="ch" forName="wedge1Tx" refType="w" fact="0.53"/>
          <dgm:constr type="t" for="ch" forName="wedge1Tx" refType="h" fact="0.205"/>
          <dgm:constr type="w" for="ch" forName="wedge1Tx" refType="w" fact="0.27"/>
          <dgm:constr type="h" for="ch" forName="wedge1Tx" refType="h" fact="0.18"/>
          <dgm:constr type="l" for="ch" forName="wedge2" refType="w" fact="0.099"/>
          <dgm:constr type="t" for="ch" forName="wedge2" refType="w" fact="0.0862"/>
          <dgm:constr type="w" for="ch" forName="wedge2" refType="w" fact="0.84"/>
          <dgm:constr type="h" for="ch" forName="wedge2" refType="h" fact="0.84"/>
          <dgm:constr type="l" for="ch" forName="dummy2a" refType="w" fact="0.9185"/>
          <dgm:constr type="t" for="ch" forName="dummy2a" refType="h" fact="0.3764"/>
          <dgm:constr type="l" for="ch" forName="dummy2b" refType="w" fact="0.7659"/>
          <dgm:constr type="t" for="ch" forName="dummy2b" refType="h" fact="0.846"/>
          <dgm:constr type="l" for="ch" forName="wedge2Tx" refType="w" fact="0.64"/>
          <dgm:constr type="t" for="ch" forName="wedge2Tx" refType="h" fact="0.47"/>
          <dgm:constr type="w" for="ch" forName="wedge2Tx" refType="w" fact="0.25"/>
          <dgm:constr type="h" for="ch" forName="wedge2Tx" refType="h" fact="0.2"/>
          <dgm:constr type="l" for="ch" forName="wedge3" refType="w" fact="0.08"/>
          <dgm:constr type="t" for="ch" forName="wedge3" refType="w" fact="0.1"/>
          <dgm:constr type="w" for="ch" forName="wedge3" refType="w" fact="0.84"/>
          <dgm:constr type="h" for="ch" forName="wedge3" refType="h" fact="0.84"/>
          <dgm:constr type="l" for="ch" forName="dummy3a" refType="w" fact="0.7469"/>
          <dgm:constr type="t" for="ch" forName="dummy3a" refType="h" fact="0.8598"/>
          <dgm:constr type="l" for="ch" forName="dummy3b" refType="w" fact="0.2531"/>
          <dgm:constr type="t" for="ch" forName="dummy3b" refType="h" fact="0.8598"/>
          <dgm:constr type="l" for="ch" forName="wedge3Tx" refType="w" fact="0.38"/>
          <dgm:constr type="t" for="ch" forName="wedge3Tx" refType="h" fact="0.69"/>
          <dgm:constr type="w" for="ch" forName="wedge3Tx" refType="w" fact="0.24"/>
          <dgm:constr type="h" for="ch" forName="wedge3Tx" refType="h" fact="0.22"/>
          <dgm:constr type="l" for="ch" forName="wedge4" refType="w" fact="0.061"/>
          <dgm:constr type="t" for="ch" forName="wedge4" refType="h" fact="0.0862"/>
          <dgm:constr type="w" for="ch" forName="wedge4" refType="w" fact="0.84"/>
          <dgm:constr type="h" for="ch" forName="wedge4" refType="h" fact="0.84"/>
          <dgm:constr type="l" for="ch" forName="dummy4a" refType="w" fact="0.2341"/>
          <dgm:constr type="t" for="ch" forName="dummy4a" refType="h" fact="0.846"/>
          <dgm:constr type="l" for="ch" forName="dummy4b" refType="w" fact="0.0815"/>
          <dgm:constr type="t" for="ch" forName="dummy4b" refType="h" fact="0.3764"/>
          <dgm:constr type="r" for="ch" forName="wedge4Tx" refType="w" fact="0.36"/>
          <dgm:constr type="t" for="ch" forName="wedge4Tx" refType="h" fact="0.47"/>
          <dgm:constr type="w" for="ch" forName="wedge4Tx" refType="w" fact="0.25"/>
          <dgm:constr type="h" for="ch" forName="wedge4Tx" refType="h" fact="0.2"/>
          <dgm:constr type="l" for="ch" forName="wedge5" refType="w" fact="0.0682"/>
          <dgm:constr type="t" for="ch" forName="wedge5" refType="h" fact="0.0638"/>
          <dgm:constr type="w" for="ch" forName="wedge5" refType="w" fact="0.84"/>
          <dgm:constr type="h" for="ch" forName="wedge5" refType="h" fact="0.84"/>
          <dgm:constr type="l" for="ch" forName="dummy5a" refType="w" fact="0.0888"/>
          <dgm:constr type="t" for="ch" forName="dummy5a" refType="h" fact="0.354"/>
          <dgm:constr type="l" for="ch" forName="dummy5b" refType="w" fact="0.4882"/>
          <dgm:constr type="t" for="ch" forName="dummy5b" refType="h" fact="0.0638"/>
          <dgm:constr type="r" for="ch" forName="wedge5Tx" refType="w" fact="0.47"/>
          <dgm:constr type="t" for="ch" forName="wedge5Tx" refType="h" fact="0.205"/>
          <dgm:constr type="w" for="ch" forName="wedge5Tx" refType="w" fact="0.27"/>
          <dgm:constr type="h" for="ch" forName="wedge5Tx" refType="h" fact="0.18"/>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h" for="ch" forName="arrowWedge5" refType="w" fact="0.08"/>
          <dgm:constr type="diam" for="ch" forName="arrowWedge5" refType="w" fact="0.84"/>
          <dgm:constr type="l" for="ch" forName="arrowWedge5" refType="w" fact="0.5"/>
          <dgm:constr type="t" for="ch" forName="arrowWedge5" refType="w" fact="0.5"/>
          <dgm:constr type="primFontSz" for="ch" ptType="node" op="equ"/>
        </dgm:constrLst>
      </dgm:if>
      <dgm:if name="Name6" axis="ch" ptType="node" func="cnt" op="equ" val="6">
        <dgm:constrLst>
          <dgm:constr type="l" for="ch" forName="wedge1" refType="w" fact="0.09"/>
          <dgm:constr type="t" for="ch" forName="wedge1" refType="w" fact="0.0627"/>
          <dgm:constr type="w" for="ch" forName="wedge1" refType="w" fact="0.84"/>
          <dgm:constr type="h" for="ch" forName="wedge1" refType="h" fact="0.84"/>
          <dgm:constr type="l" for="ch" forName="dummy1a" refType="w" fact="0.51"/>
          <dgm:constr type="t" for="ch" forName="dummy1a" refType="h" fact="0.0627"/>
          <dgm:constr type="l" for="ch" forName="dummy1b" refType="w" fact="0.8737"/>
          <dgm:constr type="t" for="ch" forName="dummy1b" refType="h" fact="0.2727"/>
          <dgm:constr type="l" for="ch" forName="wedge1Tx" refType="w" fact="0.53"/>
          <dgm:constr type="t" for="ch" forName="wedge1Tx" refType="h" fact="0.17"/>
          <dgm:constr type="w" for="ch" forName="wedge1Tx" refType="w" fact="0.22"/>
          <dgm:constr type="h" for="ch" forName="wedge1Tx" refType="h" fact="0.17"/>
          <dgm:constr type="l" for="ch" forName="wedge2" refType="w" fact="0.1"/>
          <dgm:constr type="t" for="ch" forName="wedge2" refType="w" fact="0.08"/>
          <dgm:constr type="w" for="ch" forName="wedge2" refType="w" fact="0.84"/>
          <dgm:constr type="h" for="ch" forName="wedge2" refType="h" fact="0.84"/>
          <dgm:constr type="l" for="ch" forName="dummy2a" refType="w" fact="0.8837"/>
          <dgm:constr type="t" for="ch" forName="dummy2a" refType="h" fact="0.29"/>
          <dgm:constr type="l" for="ch" forName="dummy2b" refType="w" fact="0.8837"/>
          <dgm:constr type="t" for="ch" forName="dummy2b" refType="h" fact="0.71"/>
          <dgm:constr type="l" for="ch" forName="wedge2Tx" refType="w" fact="0.67"/>
          <dgm:constr type="t" for="ch" forName="wedge2Tx" refType="h" fact="0.42"/>
          <dgm:constr type="w" for="ch" forName="wedge2Tx" refType="w" fact="0.23"/>
          <dgm:constr type="h" for="ch" forName="wedge2Tx" refType="h" fact="0.165"/>
          <dgm:constr type="l" for="ch" forName="wedge3" refType="w" fact="0.09"/>
          <dgm:constr type="t" for="ch" forName="wedge3" refType="w" fact="0.0973"/>
          <dgm:constr type="w" for="ch" forName="wedge3" refType="w" fact="0.84"/>
          <dgm:constr type="h" for="ch" forName="wedge3" refType="h" fact="0.84"/>
          <dgm:constr type="l" for="ch" forName="dummy3a" refType="w" fact="0.8737"/>
          <dgm:constr type="t" for="ch" forName="dummy3a" refType="h" fact="0.7273"/>
          <dgm:constr type="l" for="ch" forName="dummy3b" refType="w" fact="0.51"/>
          <dgm:constr type="t" for="ch" forName="dummy3b" refType="h" fact="0.9373"/>
          <dgm:constr type="l" for="ch" forName="wedge3Tx" refType="w" fact="0.53"/>
          <dgm:constr type="t" for="ch" forName="wedge3Tx" refType="h" fact="0.665"/>
          <dgm:constr type="w" for="ch" forName="wedge3Tx" refType="w" fact="0.22"/>
          <dgm:constr type="h" for="ch" forName="wedge3Tx" refType="h" fact="0.17"/>
          <dgm:constr type="l" for="ch" forName="wedge4" refType="w" fact="0.07"/>
          <dgm:constr type="t" for="ch" forName="wedge4" refType="h" fact="0.0973"/>
          <dgm:constr type="w" for="ch" forName="wedge4" refType="w" fact="0.84"/>
          <dgm:constr type="h" for="ch" forName="wedge4" refType="h" fact="0.84"/>
          <dgm:constr type="l" for="ch" forName="dummy4a" refType="w" fact="0.49"/>
          <dgm:constr type="t" for="ch" forName="dummy4a" refType="h" fact="0.9373"/>
          <dgm:constr type="l" for="ch" forName="dummy4b" refType="w" fact="0.1263"/>
          <dgm:constr type="t" for="ch" forName="dummy4b" refType="h" fact="0.7273"/>
          <dgm:constr type="r" for="ch" forName="wedge4Tx" refType="w" fact="0.47"/>
          <dgm:constr type="t" for="ch" forName="wedge4Tx" refType="h" fact="0.665"/>
          <dgm:constr type="w" for="ch" forName="wedge4Tx" refType="w" fact="0.22"/>
          <dgm:constr type="h" for="ch" forName="wedge4Tx" refType="h" fact="0.17"/>
          <dgm:constr type="l" for="ch" forName="wedge5" refType="w" fact="0.06"/>
          <dgm:constr type="t" for="ch" forName="wedge5" refType="h" fact="0.08"/>
          <dgm:constr type="w" for="ch" forName="wedge5" refType="w" fact="0.84"/>
          <dgm:constr type="h" for="ch" forName="wedge5" refType="h" fact="0.84"/>
          <dgm:constr type="l" for="ch" forName="dummy5a" refType="w" fact="0.1163"/>
          <dgm:constr type="t" for="ch" forName="dummy5a" refType="h" fact="0.71"/>
          <dgm:constr type="l" for="ch" forName="dummy5b" refType="w" fact="0.1163"/>
          <dgm:constr type="t" for="ch" forName="dummy5b" refType="h" fact="0.29"/>
          <dgm:constr type="r" for="ch" forName="wedge5Tx" refType="w" fact="0.33"/>
          <dgm:constr type="t" for="ch" forName="wedge5Tx" refType="h" fact="0.42"/>
          <dgm:constr type="w" for="ch" forName="wedge5Tx" refType="w" fact="0.23"/>
          <dgm:constr type="h" for="ch" forName="wedge5Tx" refType="h" fact="0.165"/>
          <dgm:constr type="l" for="ch" forName="wedge6" refType="w" fact="0.07"/>
          <dgm:constr type="t" for="ch" forName="wedge6" refType="h" fact="0.0627"/>
          <dgm:constr type="w" for="ch" forName="wedge6" refType="w" fact="0.84"/>
          <dgm:constr type="h" for="ch" forName="wedge6" refType="h" fact="0.84"/>
          <dgm:constr type="l" for="ch" forName="dummy6a" refType="w" fact="0.1263"/>
          <dgm:constr type="t" for="ch" forName="dummy6a" refType="h" fact="0.2727"/>
          <dgm:constr type="l" for="ch" forName="dummy6b" refType="w" fact="0.49"/>
          <dgm:constr type="t" for="ch" forName="dummy6b" refType="h" fact="0.0627"/>
          <dgm:constr type="r" for="ch" forName="wedge6Tx" refType="w" fact="0.47"/>
          <dgm:constr type="t" for="ch" forName="wedge6Tx" refType="h" fact="0.17"/>
          <dgm:constr type="w" for="ch" forName="wedge6Tx" refType="w" fact="0.22"/>
          <dgm:constr type="h" for="ch" forName="wedge6Tx" refType="h" fact="0.17"/>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h" for="ch" forName="arrowWedge5" refType="w" fact="0.08"/>
          <dgm:constr type="diam" for="ch" forName="arrowWedge5" refType="w" fact="0.84"/>
          <dgm:constr type="l" for="ch" forName="arrowWedge5" refType="w" fact="0.5"/>
          <dgm:constr type="t" for="ch" forName="arrowWedge5" refType="w" fact="0.5"/>
          <dgm:constr type="h" for="ch" forName="arrowWedge6" refType="w" fact="0.08"/>
          <dgm:constr type="diam" for="ch" forName="arrowWedge6" refType="w" fact="0.84"/>
          <dgm:constr type="l" for="ch" forName="arrowWedge6" refType="w" fact="0.5"/>
          <dgm:constr type="t" for="ch" forName="arrowWedge6" refType="w" fact="0.5"/>
          <dgm:constr type="primFontSz" for="ch" ptType="node" op="equ"/>
        </dgm:constrLst>
      </dgm:if>
      <dgm:else name="Name7">
        <dgm:constrLst>
          <dgm:constr type="l" for="ch" forName="wedge1" refType="w" fact="0.0887"/>
          <dgm:constr type="t" for="ch" forName="wedge1" refType="w" fact="0.062"/>
          <dgm:constr type="w" for="ch" forName="wedge1" refType="w" fact="0.84"/>
          <dgm:constr type="h" for="ch" forName="wedge1" refType="h" fact="0.84"/>
          <dgm:constr type="l" for="ch" forName="dummy1a" refType="w" fact="0.5087"/>
          <dgm:constr type="t" for="ch" forName="dummy1a" refType="h" fact="0.062"/>
          <dgm:constr type="l" for="ch" forName="dummy1b" refType="w" fact="0.837"/>
          <dgm:constr type="t" for="ch" forName="dummy1b" refType="h" fact="0.2201"/>
          <dgm:constr type="l" for="ch" forName="wedge1Tx" refType="w" fact="0.53"/>
          <dgm:constr type="t" for="ch" forName="wedge1Tx" refType="h" fact="0.14"/>
          <dgm:constr type="w" for="ch" forName="wedge1Tx" refType="w" fact="0.2"/>
          <dgm:constr type="h" for="ch" forName="wedge1Tx" refType="h" fact="0.16"/>
          <dgm:constr type="l" for="ch" forName="wedge2" refType="w" fact="0.0995"/>
          <dgm:constr type="t" for="ch" forName="wedge2" refType="w" fact="0.0755"/>
          <dgm:constr type="w" for="ch" forName="wedge2" refType="w" fact="0.84"/>
          <dgm:constr type="h" for="ch" forName="wedge2" refType="h" fact="0.84"/>
          <dgm:constr type="l" for="ch" forName="dummy2a" refType="w" fact="0.8479"/>
          <dgm:constr type="t" for="ch" forName="dummy2a" refType="h" fact="0.2337"/>
          <dgm:constr type="l" for="ch" forName="dummy2b" refType="w" fact="0.929"/>
          <dgm:constr type="t" for="ch" forName="dummy2b" refType="h" fact="0.589"/>
          <dgm:constr type="l" for="ch" forName="wedge2Tx" refType="w" fact="0.67"/>
          <dgm:constr type="t" for="ch" forName="wedge2Tx" refType="h" fact="0.38"/>
          <dgm:constr type="w" for="ch" forName="wedge2Tx" refType="w" fact="0.23"/>
          <dgm:constr type="h" for="ch" forName="wedge2Tx" refType="h" fact="0.14"/>
          <dgm:constr type="l" for="ch" forName="wedge3" refType="w" fact="0.0956"/>
          <dgm:constr type="t" for="ch" forName="wedge3" refType="w" fact="0.0925"/>
          <dgm:constr type="w" for="ch" forName="wedge3" refType="w" fact="0.84"/>
          <dgm:constr type="h" for="ch" forName="wedge3" refType="h" fact="0.84"/>
          <dgm:constr type="l" for="ch" forName="dummy3a" refType="w" fact="0.9251"/>
          <dgm:constr type="t" for="ch" forName="dummy3a" refType="h" fact="0.6059"/>
          <dgm:constr type="l" for="ch" forName="dummy3b" refType="w" fact="0.6979"/>
          <dgm:constr type="t" for="ch" forName="dummy3b" refType="h" fact="0.8909"/>
          <dgm:constr type="l" for="ch" forName="wedge3Tx" refType="w" fact="0.635"/>
          <dgm:constr type="t" for="ch" forName="wedge3Tx" refType="h" fact="0.59"/>
          <dgm:constr type="w" for="ch" forName="wedge3Tx" refType="w" fact="0.2"/>
          <dgm:constr type="h" for="ch" forName="wedge3Tx" refType="h" fact="0.155"/>
          <dgm:constr type="l" for="ch" forName="wedge4" refType="w" fact="0.08"/>
          <dgm:constr type="t" for="ch" forName="wedge4" refType="h" fact="0.1"/>
          <dgm:constr type="w" for="ch" forName="wedge4" refType="w" fact="0.84"/>
          <dgm:constr type="h" for="ch" forName="wedge4" refType="h" fact="0.84"/>
          <dgm:constr type="l" for="ch" forName="dummy4a" refType="w" fact="0.6822"/>
          <dgm:constr type="t" for="ch" forName="dummy4a" refType="h" fact="0.8984"/>
          <dgm:constr type="l" for="ch" forName="dummy4b" refType="w" fact="0.3178"/>
          <dgm:constr type="t" for="ch" forName="dummy4b" refType="h" fact="0.8984"/>
          <dgm:constr type="l" for="ch" forName="wedge4Tx" refType="w" fact="0.4025"/>
          <dgm:constr type="t" for="ch" forName="wedge4Tx" refType="h" fact="0.76"/>
          <dgm:constr type="w" for="ch" forName="wedge4Tx" refType="w" fact="0.195"/>
          <dgm:constr type="h" for="ch" forName="wedge4Tx" refType="h" fact="0.14"/>
          <dgm:constr type="l" for="ch" forName="wedge5" refType="w" fact="0.0644"/>
          <dgm:constr type="t" for="ch" forName="wedge5" refType="h" fact="0.0925"/>
          <dgm:constr type="w" for="ch" forName="wedge5" refType="w" fact="0.84"/>
          <dgm:constr type="h" for="ch" forName="wedge5" refType="h" fact="0.84"/>
          <dgm:constr type="l" for="ch" forName="dummy5a" refType="w" fact="0.3021"/>
          <dgm:constr type="t" for="ch" forName="dummy5a" refType="h" fact="0.8909"/>
          <dgm:constr type="l" for="ch" forName="dummy5b" refType="w" fact="0.0749"/>
          <dgm:constr type="t" for="ch" forName="dummy5b" refType="h" fact="0.6059"/>
          <dgm:constr type="r" for="ch" forName="wedge5Tx" refType="w" fact="0.365"/>
          <dgm:constr type="t" for="ch" forName="wedge5Tx" refType="h" fact="0.59"/>
          <dgm:constr type="w" for="ch" forName="wedge5Tx" refType="w" fact="0.2"/>
          <dgm:constr type="h" for="ch" forName="wedge5Tx" refType="h" fact="0.155"/>
          <dgm:constr type="l" for="ch" forName="wedge6" refType="w" fact="0.0605"/>
          <dgm:constr type="t" for="ch" forName="wedge6" refType="h" fact="0.0755"/>
          <dgm:constr type="w" for="ch" forName="wedge6" refType="w" fact="0.84"/>
          <dgm:constr type="h" for="ch" forName="wedge6" refType="h" fact="0.84"/>
          <dgm:constr type="l" for="ch" forName="dummy6a" refType="w" fact="0.071"/>
          <dgm:constr type="t" for="ch" forName="dummy6a" refType="h" fact="0.589"/>
          <dgm:constr type="l" for="ch" forName="dummy6b" refType="w" fact="0.1521"/>
          <dgm:constr type="t" for="ch" forName="dummy6b" refType="h" fact="0.2337"/>
          <dgm:constr type="r" for="ch" forName="wedge6Tx" refType="w" fact="0.33"/>
          <dgm:constr type="t" for="ch" forName="wedge6Tx" refType="h" fact="0.38"/>
          <dgm:constr type="w" for="ch" forName="wedge6Tx" refType="w" fact="0.23"/>
          <dgm:constr type="h" for="ch" forName="wedge6Tx" refType="h" fact="0.14"/>
          <dgm:constr type="l" for="ch" forName="wedge7" refType="w" fact="0.0713"/>
          <dgm:constr type="t" for="ch" forName="wedge7" refType="h" fact="0.062"/>
          <dgm:constr type="w" for="ch" forName="wedge7" refType="w" fact="0.84"/>
          <dgm:constr type="h" for="ch" forName="wedge7" refType="h" fact="0.84"/>
          <dgm:constr type="l" for="ch" forName="dummy7a" refType="w" fact="0.163"/>
          <dgm:constr type="t" for="ch" forName="dummy7a" refType="h" fact="0.2201"/>
          <dgm:constr type="l" for="ch" forName="dummy7b" refType="w" fact="0.4913"/>
          <dgm:constr type="t" for="ch" forName="dummy7b" refType="h" fact="0.062"/>
          <dgm:constr type="r" for="ch" forName="wedge7Tx" refType="w" fact="0.47"/>
          <dgm:constr type="t" for="ch" forName="wedge7Tx" refType="h" fact="0.14"/>
          <dgm:constr type="w" for="ch" forName="wedge7Tx" refType="w" fact="0.2"/>
          <dgm:constr type="h" for="ch" forName="wedge7Tx" refType="h" fact="0.16"/>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h" for="ch" forName="arrowWedge5" refType="w" fact="0.08"/>
          <dgm:constr type="diam" for="ch" forName="arrowWedge5" refType="w" fact="0.84"/>
          <dgm:constr type="l" for="ch" forName="arrowWedge5" refType="w" fact="0.5"/>
          <dgm:constr type="t" for="ch" forName="arrowWedge5" refType="w" fact="0.5"/>
          <dgm:constr type="h" for="ch" forName="arrowWedge6" refType="w" fact="0.08"/>
          <dgm:constr type="diam" for="ch" forName="arrowWedge6" refType="w" fact="0.84"/>
          <dgm:constr type="l" for="ch" forName="arrowWedge6" refType="w" fact="0.5"/>
          <dgm:constr type="t" for="ch" forName="arrowWedge6" refType="w" fact="0.5"/>
          <dgm:constr type="h" for="ch" forName="arrowWedge7" refType="w" fact="0.08"/>
          <dgm:constr type="diam" for="ch" forName="arrowWedge7" refType="w" fact="0.84"/>
          <dgm:constr type="l" for="ch" forName="arrowWedge7" refType="w" fact="0.5"/>
          <dgm:constr type="t" for="ch" forName="arrowWedge7" refType="w" fact="0.5"/>
          <dgm:constr type="primFontSz" for="ch" ptType="node" op="equ"/>
        </dgm:constrLst>
      </dgm:else>
    </dgm:choose>
    <dgm:ruleLst/>
    <dgm:choose name="Name8">
      <dgm:if name="Name9" axis="ch" ptType="node" func="cnt" op="gte" val="1">
        <dgm:layoutNode name="wedge1">
          <dgm:alg type="sp"/>
          <dgm:choose name="Name10">
            <dgm:if name="Name11" axis="ch" ptType="node" func="cnt" op="equ" val="1">
              <dgm:shape xmlns:r="http://schemas.openxmlformats.org/officeDocument/2006/relationships" type="ellipse" r:blip="">
                <dgm:adjLst/>
              </dgm:shape>
            </dgm:if>
            <dgm:if name="Name12" axis="ch" ptType="node" func="cnt" op="equ" val="2">
              <dgm:shape xmlns:r="http://schemas.openxmlformats.org/officeDocument/2006/relationships" type="pie" r:blip="">
                <dgm:adjLst>
                  <dgm:adj idx="1" val="270"/>
                  <dgm:adj idx="2" val="90"/>
                </dgm:adjLst>
              </dgm:shape>
            </dgm:if>
            <dgm:if name="Name13" axis="ch" ptType="node" func="cnt" op="equ" val="3">
              <dgm:shape xmlns:r="http://schemas.openxmlformats.org/officeDocument/2006/relationships" type="pie" r:blip="">
                <dgm:adjLst>
                  <dgm:adj idx="1" val="270"/>
                  <dgm:adj idx="2" val="30"/>
                </dgm:adjLst>
              </dgm:shape>
            </dgm:if>
            <dgm:if name="Name14" axis="ch" ptType="node" func="cnt" op="equ" val="4">
              <dgm:shape xmlns:r="http://schemas.openxmlformats.org/officeDocument/2006/relationships" type="pie" r:blip="">
                <dgm:adjLst>
                  <dgm:adj idx="1" val="270"/>
                  <dgm:adj idx="2" val="0"/>
                </dgm:adjLst>
              </dgm:shape>
            </dgm:if>
            <dgm:if name="Name15" axis="ch" ptType="node" func="cnt" op="equ" val="5">
              <dgm:shape xmlns:r="http://schemas.openxmlformats.org/officeDocument/2006/relationships" type="pie" r:blip="">
                <dgm:adjLst>
                  <dgm:adj idx="1" val="270"/>
                  <dgm:adj idx="2" val="342"/>
                </dgm:adjLst>
              </dgm:shape>
            </dgm:if>
            <dgm:if name="Name16" axis="ch" ptType="node" func="cnt" op="equ" val="6">
              <dgm:shape xmlns:r="http://schemas.openxmlformats.org/officeDocument/2006/relationships" type="pie" r:blip="">
                <dgm:adjLst>
                  <dgm:adj idx="1" val="270"/>
                  <dgm:adj idx="2" val="330"/>
                </dgm:adjLst>
              </dgm:shape>
            </dgm:if>
            <dgm:else name="Name17">
              <dgm:shape xmlns:r="http://schemas.openxmlformats.org/officeDocument/2006/relationships" type="pie" r:blip="">
                <dgm:adjLst>
                  <dgm:adj idx="1" val="270"/>
                  <dgm:adj idx="2" val="321.4286"/>
                </dgm:adjLst>
              </dgm:shape>
            </dgm:else>
          </dgm:choose>
          <dgm:choose name="Name18">
            <dgm:if name="Name19" func="var" arg="dir" op="equ" val="norm">
              <dgm:presOf axis="ch desOrSelf" ptType="node node" st="1 1" cnt="1 0"/>
            </dgm:if>
            <dgm:else name="Name20">
              <dgm:choose name="Name21">
                <dgm:if name="Name22" axis="ch" ptType="node" func="cnt" op="equ" val="1">
                  <dgm:presOf axis="ch desOrSelf" ptType="node node" st="1 1" cnt="1 0"/>
                </dgm:if>
                <dgm:if name="Name23" axis="ch" ptType="node" func="cnt" op="equ" val="2">
                  <dgm:presOf axis="ch desOrSelf" ptType="node node" st="2 1" cnt="1 0"/>
                </dgm:if>
                <dgm:if name="Name24" axis="ch" ptType="node" func="cnt" op="equ" val="3">
                  <dgm:presOf axis="ch desOrSelf" ptType="node node" st="3 1" cnt="1 0"/>
                </dgm:if>
                <dgm:if name="Name25" axis="ch" ptType="node" func="cnt" op="equ" val="4">
                  <dgm:presOf axis="ch desOrSelf" ptType="node node" st="4 1" cnt="1 0"/>
                </dgm:if>
                <dgm:if name="Name26" axis="ch" ptType="node" func="cnt" op="equ" val="5">
                  <dgm:presOf axis="ch desOrSelf" ptType="node node" st="5 1" cnt="1 0"/>
                </dgm:if>
                <dgm:if name="Name27" axis="ch" ptType="node" func="cnt" op="equ" val="6">
                  <dgm:presOf axis="ch desOrSelf" ptType="node node" st="6 1" cnt="1 0"/>
                </dgm:if>
                <dgm:else name="Name28">
                  <dgm:presOf axis="ch desOrSelf" ptType="node node" st="7 1" cnt="1 0"/>
                </dgm:else>
              </dgm:choose>
            </dgm:else>
          </dgm:choose>
          <dgm:constrLst/>
          <dgm:ruleLst/>
        </dgm:layoutNode>
        <dgm:layoutNode name="dummy1a" moveWith="wedge1">
          <dgm:alg type="sp"/>
          <dgm:shape xmlns:r="http://schemas.openxmlformats.org/officeDocument/2006/relationships" r:blip="">
            <dgm:adjLst/>
          </dgm:shape>
          <dgm:presOf/>
          <dgm:constrLst>
            <dgm:constr type="w" val="1"/>
            <dgm:constr type="h" val="1"/>
          </dgm:constrLst>
          <dgm:ruleLst/>
        </dgm:layoutNode>
        <dgm:layoutNode name="dummy1b" moveWith="wedge1">
          <dgm:alg type="sp"/>
          <dgm:shape xmlns:r="http://schemas.openxmlformats.org/officeDocument/2006/relationships" r:blip="">
            <dgm:adjLst/>
          </dgm:shape>
          <dgm:presOf/>
          <dgm:constrLst>
            <dgm:constr type="w" val="1"/>
            <dgm:constr type="h" val="1"/>
          </dgm:constrLst>
          <dgm:ruleLst/>
        </dgm:layoutNode>
        <dgm:layoutNode name="wedge1Tx" moveWith="wedge1">
          <dgm:varLst>
            <dgm:chMax val="0"/>
            <dgm:chPref val="0"/>
            <dgm:bulletEnabled val="1"/>
          </dgm:varLst>
          <dgm:alg type="tx"/>
          <dgm:shape xmlns:r="http://schemas.openxmlformats.org/officeDocument/2006/relationships" type="rect" r:blip="" hideGeom="1">
            <dgm:adjLst/>
          </dgm:shape>
          <dgm:choose name="Name29">
            <dgm:if name="Name30" func="var" arg="dir" op="equ" val="norm">
              <dgm:presOf axis="ch desOrSelf" ptType="node node" st="1 1" cnt="1 0"/>
            </dgm:if>
            <dgm:else name="Name31">
              <dgm:choose name="Name32">
                <dgm:if name="Name33" axis="ch" ptType="node" func="cnt" op="equ" val="1">
                  <dgm:presOf axis="ch desOrSelf" ptType="node node" st="1 1" cnt="1 0"/>
                </dgm:if>
                <dgm:if name="Name34" axis="ch" ptType="node" func="cnt" op="equ" val="2">
                  <dgm:presOf axis="ch desOrSelf" ptType="node node" st="2 1" cnt="1 0"/>
                </dgm:if>
                <dgm:if name="Name35" axis="ch" ptType="node" func="cnt" op="equ" val="3">
                  <dgm:presOf axis="ch desOrSelf" ptType="node node" st="3 1" cnt="1 0"/>
                </dgm:if>
                <dgm:if name="Name36" axis="ch" ptType="node" func="cnt" op="equ" val="4">
                  <dgm:presOf axis="ch desOrSelf" ptType="node node" st="4 1" cnt="1 0"/>
                </dgm:if>
                <dgm:if name="Name37" axis="ch" ptType="node" func="cnt" op="equ" val="5">
                  <dgm:presOf axis="ch desOrSelf" ptType="node node" st="5 1" cnt="1 0"/>
                </dgm:if>
                <dgm:if name="Name38" axis="ch" ptType="node" func="cnt" op="equ" val="6">
                  <dgm:presOf axis="ch desOrSelf" ptType="node node" st="6 1" cnt="1 0"/>
                </dgm:if>
                <dgm:else name="Name39">
                  <dgm:presOf axis="ch desOrSelf" ptType="node node" st="7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40"/>
    </dgm:choose>
    <dgm:choose name="Name41">
      <dgm:if name="Name42" axis="ch" ptType="node" func="cnt" op="gte" val="2">
        <dgm:layoutNode name="wedge2">
          <dgm:alg type="sp"/>
          <dgm:choose name="Name43">
            <dgm:if name="Name44" axis="ch" ptType="node" func="cnt" op="equ" val="2">
              <dgm:shape xmlns:r="http://schemas.openxmlformats.org/officeDocument/2006/relationships" type="pie" r:blip="">
                <dgm:adjLst>
                  <dgm:adj idx="1" val="90"/>
                  <dgm:adj idx="2" val="270"/>
                </dgm:adjLst>
              </dgm:shape>
            </dgm:if>
            <dgm:if name="Name45" axis="ch" ptType="node" func="cnt" op="equ" val="3">
              <dgm:shape xmlns:r="http://schemas.openxmlformats.org/officeDocument/2006/relationships" type="pie" r:blip="">
                <dgm:adjLst>
                  <dgm:adj idx="1" val="30"/>
                  <dgm:adj idx="2" val="150"/>
                </dgm:adjLst>
              </dgm:shape>
            </dgm:if>
            <dgm:if name="Name46" axis="ch" ptType="node" func="cnt" op="equ" val="4">
              <dgm:shape xmlns:r="http://schemas.openxmlformats.org/officeDocument/2006/relationships" type="pie" r:blip="">
                <dgm:adjLst>
                  <dgm:adj idx="1" val="0"/>
                  <dgm:adj idx="2" val="90"/>
                </dgm:adjLst>
              </dgm:shape>
            </dgm:if>
            <dgm:if name="Name47" axis="ch" ptType="node" func="cnt" op="equ" val="5">
              <dgm:shape xmlns:r="http://schemas.openxmlformats.org/officeDocument/2006/relationships" type="pie" r:blip="">
                <dgm:adjLst>
                  <dgm:adj idx="1" val="342"/>
                  <dgm:adj idx="2" val="54"/>
                </dgm:adjLst>
              </dgm:shape>
            </dgm:if>
            <dgm:if name="Name48" axis="ch" ptType="node" func="cnt" op="equ" val="6">
              <dgm:shape xmlns:r="http://schemas.openxmlformats.org/officeDocument/2006/relationships" type="pie" r:blip="">
                <dgm:adjLst>
                  <dgm:adj idx="1" val="330"/>
                  <dgm:adj idx="2" val="30"/>
                </dgm:adjLst>
              </dgm:shape>
            </dgm:if>
            <dgm:else name="Name49">
              <dgm:shape xmlns:r="http://schemas.openxmlformats.org/officeDocument/2006/relationships" type="pie" r:blip="">
                <dgm:adjLst>
                  <dgm:adj idx="1" val="321.4286"/>
                  <dgm:adj idx="2" val="12.85714"/>
                </dgm:adjLst>
              </dgm:shape>
            </dgm:else>
          </dgm:choose>
          <dgm:choose name="Name50">
            <dgm:if name="Name51" func="var" arg="dir" op="equ" val="norm">
              <dgm:presOf axis="ch desOrSelf" ptType="node node" st="2 1" cnt="1 0"/>
            </dgm:if>
            <dgm:else name="Name52">
              <dgm:choose name="Name53">
                <dgm:if name="Name54" axis="ch" ptType="node" func="cnt" op="equ" val="2">
                  <dgm:presOf axis="ch desOrSelf" ptType="node node" st="1 1" cnt="1 0"/>
                </dgm:if>
                <dgm:if name="Name55" axis="ch" ptType="node" func="cnt" op="equ" val="3">
                  <dgm:presOf axis="ch desOrSelf" ptType="node node" st="2 1" cnt="1 0"/>
                </dgm:if>
                <dgm:if name="Name56" axis="ch" ptType="node" func="cnt" op="equ" val="4">
                  <dgm:presOf axis="ch desOrSelf" ptType="node node" st="3 1" cnt="1 0"/>
                </dgm:if>
                <dgm:if name="Name57" axis="ch" ptType="node" func="cnt" op="equ" val="5">
                  <dgm:presOf axis="ch desOrSelf" ptType="node node" st="4 1" cnt="1 0"/>
                </dgm:if>
                <dgm:if name="Name58" axis="ch" ptType="node" func="cnt" op="equ" val="6">
                  <dgm:presOf axis="ch desOrSelf" ptType="node node" st="5 1" cnt="1 0"/>
                </dgm:if>
                <dgm:else name="Name59">
                  <dgm:presOf axis="ch desOrSelf" ptType="node node" st="6 1" cnt="1 0"/>
                </dgm:else>
              </dgm:choose>
            </dgm:else>
          </dgm:choose>
          <dgm:constrLst/>
          <dgm:ruleLst/>
        </dgm:layoutNode>
        <dgm:layoutNode name="dummy2a" moveWith="wedge2">
          <dgm:alg type="sp"/>
          <dgm:shape xmlns:r="http://schemas.openxmlformats.org/officeDocument/2006/relationships" r:blip="">
            <dgm:adjLst/>
          </dgm:shape>
          <dgm:presOf/>
          <dgm:constrLst>
            <dgm:constr type="w" val="1"/>
            <dgm:constr type="h" val="1"/>
          </dgm:constrLst>
          <dgm:ruleLst/>
        </dgm:layoutNode>
        <dgm:layoutNode name="dummy2b" moveWith="wedge2">
          <dgm:alg type="sp"/>
          <dgm:shape xmlns:r="http://schemas.openxmlformats.org/officeDocument/2006/relationships" r:blip="">
            <dgm:adjLst/>
          </dgm:shape>
          <dgm:presOf/>
          <dgm:constrLst>
            <dgm:constr type="w" val="1"/>
            <dgm:constr type="h" val="1"/>
          </dgm:constrLst>
          <dgm:ruleLst/>
        </dgm:layoutNode>
        <dgm:layoutNode name="wedge2Tx" moveWith="wedge2">
          <dgm:varLst>
            <dgm:chMax val="0"/>
            <dgm:chPref val="0"/>
            <dgm:bulletEnabled val="1"/>
          </dgm:varLst>
          <dgm:alg type="tx"/>
          <dgm:shape xmlns:r="http://schemas.openxmlformats.org/officeDocument/2006/relationships" type="rect" r:blip="" hideGeom="1">
            <dgm:adjLst/>
          </dgm:shape>
          <dgm:choose name="Name60">
            <dgm:if name="Name61" func="var" arg="dir" op="equ" val="norm">
              <dgm:presOf axis="ch desOrSelf" ptType="node node" st="2 1" cnt="1 0"/>
            </dgm:if>
            <dgm:else name="Name62">
              <dgm:choose name="Name63">
                <dgm:if name="Name64" axis="ch" ptType="node" func="cnt" op="equ" val="2">
                  <dgm:presOf axis="ch desOrSelf" ptType="node node" st="1 1" cnt="1 0"/>
                </dgm:if>
                <dgm:if name="Name65" axis="ch" ptType="node" func="cnt" op="equ" val="3">
                  <dgm:presOf axis="ch desOrSelf" ptType="node node" st="2 1" cnt="1 0"/>
                </dgm:if>
                <dgm:if name="Name66" axis="ch" ptType="node" func="cnt" op="equ" val="4">
                  <dgm:presOf axis="ch desOrSelf" ptType="node node" st="3 1" cnt="1 0"/>
                </dgm:if>
                <dgm:if name="Name67" axis="ch" ptType="node" func="cnt" op="equ" val="5">
                  <dgm:presOf axis="ch desOrSelf" ptType="node node" st="4 1" cnt="1 0"/>
                </dgm:if>
                <dgm:if name="Name68" axis="ch" ptType="node" func="cnt" op="equ" val="6">
                  <dgm:presOf axis="ch desOrSelf" ptType="node node" st="5 1" cnt="1 0"/>
                </dgm:if>
                <dgm:else name="Name69">
                  <dgm:presOf axis="ch desOrSelf" ptType="node node" st="6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70"/>
    </dgm:choose>
    <dgm:choose name="Name71">
      <dgm:if name="Name72" axis="ch" ptType="node" func="cnt" op="gte" val="3">
        <dgm:layoutNode name="wedge3">
          <dgm:alg type="sp"/>
          <dgm:choose name="Name73">
            <dgm:if name="Name74" axis="ch" ptType="node" func="cnt" op="equ" val="3">
              <dgm:shape xmlns:r="http://schemas.openxmlformats.org/officeDocument/2006/relationships" type="pie" r:blip="">
                <dgm:adjLst>
                  <dgm:adj idx="1" val="150"/>
                  <dgm:adj idx="2" val="270"/>
                </dgm:adjLst>
              </dgm:shape>
            </dgm:if>
            <dgm:if name="Name75" axis="ch" ptType="node" func="cnt" op="equ" val="4">
              <dgm:shape xmlns:r="http://schemas.openxmlformats.org/officeDocument/2006/relationships" type="pie" r:blip="">
                <dgm:adjLst>
                  <dgm:adj idx="1" val="90"/>
                  <dgm:adj idx="2" val="180"/>
                </dgm:adjLst>
              </dgm:shape>
            </dgm:if>
            <dgm:if name="Name76" axis="ch" ptType="node" func="cnt" op="equ" val="5">
              <dgm:shape xmlns:r="http://schemas.openxmlformats.org/officeDocument/2006/relationships" type="pie" r:blip="">
                <dgm:adjLst>
                  <dgm:adj idx="1" val="54"/>
                  <dgm:adj idx="2" val="126"/>
                </dgm:adjLst>
              </dgm:shape>
            </dgm:if>
            <dgm:if name="Name77" axis="ch" ptType="node" func="cnt" op="equ" val="6">
              <dgm:shape xmlns:r="http://schemas.openxmlformats.org/officeDocument/2006/relationships" type="pie" r:blip="">
                <dgm:adjLst>
                  <dgm:adj idx="1" val="30"/>
                  <dgm:adj idx="2" val="90"/>
                </dgm:adjLst>
              </dgm:shape>
            </dgm:if>
            <dgm:else name="Name78">
              <dgm:shape xmlns:r="http://schemas.openxmlformats.org/officeDocument/2006/relationships" type="pie" r:blip="">
                <dgm:adjLst>
                  <dgm:adj idx="1" val="12.85714"/>
                  <dgm:adj idx="2" val="64.28571"/>
                </dgm:adjLst>
              </dgm:shape>
            </dgm:else>
          </dgm:choose>
          <dgm:choose name="Name79">
            <dgm:if name="Name80" func="var" arg="dir" op="equ" val="norm">
              <dgm:presOf axis="ch desOrSelf" ptType="node node" st="3 1" cnt="1 0"/>
            </dgm:if>
            <dgm:else name="Name81">
              <dgm:choose name="Name82">
                <dgm:if name="Name83" axis="ch" ptType="node" func="cnt" op="equ" val="3">
                  <dgm:presOf axis="ch desOrSelf" ptType="node node" st="1 1" cnt="1 0"/>
                </dgm:if>
                <dgm:if name="Name84" axis="ch" ptType="node" func="cnt" op="equ" val="4">
                  <dgm:presOf axis="ch desOrSelf" ptType="node node" st="2 1" cnt="1 0"/>
                </dgm:if>
                <dgm:if name="Name85" axis="ch" ptType="node" func="cnt" op="equ" val="5">
                  <dgm:presOf axis="ch desOrSelf" ptType="node node" st="3 1" cnt="1 0"/>
                </dgm:if>
                <dgm:if name="Name86" axis="ch" ptType="node" func="cnt" op="equ" val="6">
                  <dgm:presOf axis="ch desOrSelf" ptType="node node" st="4 1" cnt="1 0"/>
                </dgm:if>
                <dgm:else name="Name87">
                  <dgm:presOf axis="ch desOrSelf" ptType="node node" st="5 1" cnt="1 0"/>
                </dgm:else>
              </dgm:choose>
            </dgm:else>
          </dgm:choose>
          <dgm:constrLst/>
          <dgm:ruleLst/>
        </dgm:layoutNode>
        <dgm:layoutNode name="dummy3a" moveWith="wedge3">
          <dgm:alg type="sp"/>
          <dgm:shape xmlns:r="http://schemas.openxmlformats.org/officeDocument/2006/relationships" r:blip="">
            <dgm:adjLst/>
          </dgm:shape>
          <dgm:presOf/>
          <dgm:constrLst>
            <dgm:constr type="w" val="1"/>
            <dgm:constr type="h" val="1"/>
          </dgm:constrLst>
          <dgm:ruleLst/>
        </dgm:layoutNode>
        <dgm:layoutNode name="dummy3b" moveWith="wedge3">
          <dgm:alg type="sp"/>
          <dgm:shape xmlns:r="http://schemas.openxmlformats.org/officeDocument/2006/relationships" r:blip="">
            <dgm:adjLst/>
          </dgm:shape>
          <dgm:presOf/>
          <dgm:constrLst>
            <dgm:constr type="w" val="1"/>
            <dgm:constr type="h" val="1"/>
          </dgm:constrLst>
          <dgm:ruleLst/>
        </dgm:layoutNode>
        <dgm:layoutNode name="wedge3Tx" moveWith="wedge3">
          <dgm:varLst>
            <dgm:chMax val="0"/>
            <dgm:chPref val="0"/>
            <dgm:bulletEnabled val="1"/>
          </dgm:varLst>
          <dgm:alg type="tx"/>
          <dgm:shape xmlns:r="http://schemas.openxmlformats.org/officeDocument/2006/relationships" type="rect" r:blip="" hideGeom="1">
            <dgm:adjLst/>
          </dgm:shape>
          <dgm:choose name="Name88">
            <dgm:if name="Name89" func="var" arg="dir" op="equ" val="norm">
              <dgm:presOf axis="ch desOrSelf" ptType="node node" st="3 1" cnt="1 0"/>
            </dgm:if>
            <dgm:else name="Name90">
              <dgm:choose name="Name91">
                <dgm:if name="Name92" axis="ch" ptType="node" func="cnt" op="equ" val="3">
                  <dgm:presOf axis="ch desOrSelf" ptType="node node" st="1 1" cnt="1 0"/>
                </dgm:if>
                <dgm:if name="Name93" axis="ch" ptType="node" func="cnt" op="equ" val="4">
                  <dgm:presOf axis="ch desOrSelf" ptType="node node" st="2 1" cnt="1 0"/>
                </dgm:if>
                <dgm:if name="Name94" axis="ch" ptType="node" func="cnt" op="equ" val="5">
                  <dgm:presOf axis="ch desOrSelf" ptType="node node" st="3 1" cnt="1 0"/>
                </dgm:if>
                <dgm:if name="Name95" axis="ch" ptType="node" func="cnt" op="equ" val="6">
                  <dgm:presOf axis="ch desOrSelf" ptType="node node" st="4 1" cnt="1 0"/>
                </dgm:if>
                <dgm:else name="Name96">
                  <dgm:presOf axis="ch desOrSelf" ptType="node node" st="5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97"/>
    </dgm:choose>
    <dgm:choose name="Name98">
      <dgm:if name="Name99" axis="ch" ptType="node" func="cnt" op="gte" val="4">
        <dgm:layoutNode name="wedge4">
          <dgm:alg type="sp"/>
          <dgm:choose name="Name100">
            <dgm:if name="Name101" axis="ch" ptType="node" func="cnt" op="equ" val="4">
              <dgm:shape xmlns:r="http://schemas.openxmlformats.org/officeDocument/2006/relationships" type="pie" r:blip="">
                <dgm:adjLst>
                  <dgm:adj idx="1" val="180"/>
                  <dgm:adj idx="2" val="270"/>
                </dgm:adjLst>
              </dgm:shape>
            </dgm:if>
            <dgm:if name="Name102" axis="ch" ptType="node" func="cnt" op="equ" val="5">
              <dgm:shape xmlns:r="http://schemas.openxmlformats.org/officeDocument/2006/relationships" type="pie" r:blip="">
                <dgm:adjLst>
                  <dgm:adj idx="1" val="126"/>
                  <dgm:adj idx="2" val="198"/>
                </dgm:adjLst>
              </dgm:shape>
            </dgm:if>
            <dgm:if name="Name103" axis="ch" ptType="node" func="cnt" op="equ" val="6">
              <dgm:shape xmlns:r="http://schemas.openxmlformats.org/officeDocument/2006/relationships" type="pie" r:blip="">
                <dgm:adjLst>
                  <dgm:adj idx="1" val="90"/>
                  <dgm:adj idx="2" val="150"/>
                </dgm:adjLst>
              </dgm:shape>
            </dgm:if>
            <dgm:else name="Name104">
              <dgm:shape xmlns:r="http://schemas.openxmlformats.org/officeDocument/2006/relationships" type="pie" r:blip="">
                <dgm:adjLst>
                  <dgm:adj idx="1" val="64.2871"/>
                  <dgm:adj idx="2" val="115.7143"/>
                </dgm:adjLst>
              </dgm:shape>
            </dgm:else>
          </dgm:choose>
          <dgm:choose name="Name105">
            <dgm:if name="Name106" func="var" arg="dir" op="equ" val="norm">
              <dgm:presOf axis="ch desOrSelf" ptType="node node" st="4 1" cnt="1 0"/>
            </dgm:if>
            <dgm:else name="Name107">
              <dgm:choose name="Name108">
                <dgm:if name="Name109" axis="ch" ptType="node" func="cnt" op="equ" val="4">
                  <dgm:presOf axis="ch desOrSelf" ptType="node node" st="1 1" cnt="1 0"/>
                </dgm:if>
                <dgm:if name="Name110" axis="ch" ptType="node" func="cnt" op="equ" val="5">
                  <dgm:presOf axis="ch desOrSelf" ptType="node node" st="2 1" cnt="1 0"/>
                </dgm:if>
                <dgm:if name="Name111" axis="ch" ptType="node" func="cnt" op="equ" val="6">
                  <dgm:presOf axis="ch desOrSelf" ptType="node node" st="3 1" cnt="1 0"/>
                </dgm:if>
                <dgm:else name="Name112">
                  <dgm:presOf axis="ch desOrSelf" ptType="node node" st="4 1" cnt="1 0"/>
                </dgm:else>
              </dgm:choose>
            </dgm:else>
          </dgm:choose>
          <dgm:constrLst/>
          <dgm:ruleLst/>
        </dgm:layoutNode>
        <dgm:layoutNode name="dummy4a" moveWith="wedge4">
          <dgm:alg type="sp"/>
          <dgm:shape xmlns:r="http://schemas.openxmlformats.org/officeDocument/2006/relationships" r:blip="">
            <dgm:adjLst/>
          </dgm:shape>
          <dgm:presOf/>
          <dgm:constrLst>
            <dgm:constr type="w" val="1"/>
            <dgm:constr type="h" val="1"/>
          </dgm:constrLst>
          <dgm:ruleLst/>
        </dgm:layoutNode>
        <dgm:layoutNode name="dummy4b" moveWith="wedge4">
          <dgm:alg type="sp"/>
          <dgm:shape xmlns:r="http://schemas.openxmlformats.org/officeDocument/2006/relationships" r:blip="">
            <dgm:adjLst/>
          </dgm:shape>
          <dgm:presOf/>
          <dgm:constrLst>
            <dgm:constr type="w" val="1"/>
            <dgm:constr type="h" val="1"/>
          </dgm:constrLst>
          <dgm:ruleLst/>
        </dgm:layoutNode>
        <dgm:layoutNode name="wedge4Tx" moveWith="wedge4">
          <dgm:varLst>
            <dgm:chMax val="0"/>
            <dgm:chPref val="0"/>
            <dgm:bulletEnabled val="1"/>
          </dgm:varLst>
          <dgm:alg type="tx"/>
          <dgm:shape xmlns:r="http://schemas.openxmlformats.org/officeDocument/2006/relationships" type="rect" r:blip="" hideGeom="1">
            <dgm:adjLst/>
          </dgm:shape>
          <dgm:choose name="Name113">
            <dgm:if name="Name114" func="var" arg="dir" op="equ" val="norm">
              <dgm:presOf axis="ch desOrSelf" ptType="node node" st="4 1" cnt="1 0"/>
            </dgm:if>
            <dgm:else name="Name115">
              <dgm:choose name="Name116">
                <dgm:if name="Name117" axis="ch" ptType="node" func="cnt" op="equ" val="4">
                  <dgm:presOf axis="ch desOrSelf" ptType="node node" st="1 1" cnt="1 0"/>
                </dgm:if>
                <dgm:if name="Name118" axis="ch" ptType="node" func="cnt" op="equ" val="5">
                  <dgm:presOf axis="ch desOrSelf" ptType="node node" st="2 1" cnt="1 0"/>
                </dgm:if>
                <dgm:if name="Name119" axis="ch" ptType="node" func="cnt" op="equ" val="6">
                  <dgm:presOf axis="ch desOrSelf" ptType="node node" st="3 1" cnt="1 0"/>
                </dgm:if>
                <dgm:else name="Name120">
                  <dgm:presOf axis="ch desOrSelf" ptType="node node" st="4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21"/>
    </dgm:choose>
    <dgm:choose name="Name122">
      <dgm:if name="Name123" axis="ch" ptType="node" func="cnt" op="gte" val="5">
        <dgm:layoutNode name="wedge5">
          <dgm:alg type="sp"/>
          <dgm:choose name="Name124">
            <dgm:if name="Name125" axis="ch" ptType="node" func="cnt" op="equ" val="5">
              <dgm:shape xmlns:r="http://schemas.openxmlformats.org/officeDocument/2006/relationships" type="pie" r:blip="">
                <dgm:adjLst>
                  <dgm:adj idx="1" val="198"/>
                  <dgm:adj idx="2" val="270"/>
                </dgm:adjLst>
              </dgm:shape>
            </dgm:if>
            <dgm:if name="Name126" axis="ch" ptType="node" func="cnt" op="equ" val="6">
              <dgm:shape xmlns:r="http://schemas.openxmlformats.org/officeDocument/2006/relationships" type="pie" r:blip="">
                <dgm:adjLst>
                  <dgm:adj idx="1" val="150"/>
                  <dgm:adj idx="2" val="210"/>
                </dgm:adjLst>
              </dgm:shape>
            </dgm:if>
            <dgm:else name="Name127">
              <dgm:shape xmlns:r="http://schemas.openxmlformats.org/officeDocument/2006/relationships" type="pie" r:blip="">
                <dgm:adjLst>
                  <dgm:adj idx="1" val="115.7143"/>
                  <dgm:adj idx="2" val="167.1429"/>
                </dgm:adjLst>
              </dgm:shape>
            </dgm:else>
          </dgm:choose>
          <dgm:choose name="Name128">
            <dgm:if name="Name129" func="var" arg="dir" op="equ" val="norm">
              <dgm:presOf axis="ch desOrSelf" ptType="node node" st="5 1" cnt="1 0"/>
            </dgm:if>
            <dgm:else name="Name130">
              <dgm:choose name="Name131">
                <dgm:if name="Name132" axis="ch" ptType="node" func="cnt" op="equ" val="5">
                  <dgm:presOf axis="ch desOrSelf" ptType="node node" st="1 1" cnt="1 0"/>
                </dgm:if>
                <dgm:if name="Name133" axis="ch" ptType="node" func="cnt" op="equ" val="6">
                  <dgm:presOf axis="ch desOrSelf" ptType="node node" st="2 1" cnt="1 0"/>
                </dgm:if>
                <dgm:else name="Name134">
                  <dgm:presOf axis="ch desOrSelf" ptType="node node" st="3 1" cnt="1 0"/>
                </dgm:else>
              </dgm:choose>
            </dgm:else>
          </dgm:choose>
          <dgm:constrLst/>
          <dgm:ruleLst/>
        </dgm:layoutNode>
        <dgm:layoutNode name="dummy5a" moveWith="wedge5">
          <dgm:alg type="sp"/>
          <dgm:shape xmlns:r="http://schemas.openxmlformats.org/officeDocument/2006/relationships" r:blip="">
            <dgm:adjLst/>
          </dgm:shape>
          <dgm:presOf/>
          <dgm:constrLst>
            <dgm:constr type="w" val="1"/>
            <dgm:constr type="h" val="1"/>
          </dgm:constrLst>
          <dgm:ruleLst/>
        </dgm:layoutNode>
        <dgm:layoutNode name="dummy5b" moveWith="wedge5">
          <dgm:alg type="sp"/>
          <dgm:shape xmlns:r="http://schemas.openxmlformats.org/officeDocument/2006/relationships" r:blip="">
            <dgm:adjLst/>
          </dgm:shape>
          <dgm:presOf/>
          <dgm:constrLst>
            <dgm:constr type="w" val="1"/>
            <dgm:constr type="h" val="1"/>
          </dgm:constrLst>
          <dgm:ruleLst/>
        </dgm:layoutNode>
        <dgm:layoutNode name="wedge5Tx" moveWith="wedge5">
          <dgm:varLst>
            <dgm:chMax val="0"/>
            <dgm:chPref val="0"/>
            <dgm:bulletEnabled val="1"/>
          </dgm:varLst>
          <dgm:alg type="tx"/>
          <dgm:shape xmlns:r="http://schemas.openxmlformats.org/officeDocument/2006/relationships" type="rect" r:blip="" hideGeom="1">
            <dgm:adjLst/>
          </dgm:shape>
          <dgm:choose name="Name135">
            <dgm:if name="Name136" func="var" arg="dir" op="equ" val="norm">
              <dgm:presOf axis="ch desOrSelf" ptType="node node" st="5 1" cnt="1 0"/>
            </dgm:if>
            <dgm:else name="Name137">
              <dgm:choose name="Name138">
                <dgm:if name="Name139" axis="ch" ptType="node" func="cnt" op="equ" val="5">
                  <dgm:presOf axis="ch desOrSelf" ptType="node node" st="1 1" cnt="1 0"/>
                </dgm:if>
                <dgm:if name="Name140" axis="ch" ptType="node" func="cnt" op="equ" val="6">
                  <dgm:presOf axis="ch desOrSelf" ptType="node node" st="2 1" cnt="1 0"/>
                </dgm:if>
                <dgm:else name="Name141">
                  <dgm:presOf axis="ch desOrSelf" ptType="node node" st="3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42"/>
    </dgm:choose>
    <dgm:choose name="Name143">
      <dgm:if name="Name144" axis="ch" ptType="node" func="cnt" op="gte" val="6">
        <dgm:layoutNode name="wedge6">
          <dgm:alg type="sp"/>
          <dgm:choose name="Name145">
            <dgm:if name="Name146" axis="ch" ptType="node" func="cnt" op="equ" val="6">
              <dgm:shape xmlns:r="http://schemas.openxmlformats.org/officeDocument/2006/relationships" type="pie" r:blip="">
                <dgm:adjLst>
                  <dgm:adj idx="1" val="210"/>
                  <dgm:adj idx="2" val="270"/>
                </dgm:adjLst>
              </dgm:shape>
            </dgm:if>
            <dgm:else name="Name147">
              <dgm:shape xmlns:r="http://schemas.openxmlformats.org/officeDocument/2006/relationships" type="pie" r:blip="">
                <dgm:adjLst>
                  <dgm:adj idx="1" val="167.1429"/>
                  <dgm:adj idx="2" val="218.5714"/>
                </dgm:adjLst>
              </dgm:shape>
            </dgm:else>
          </dgm:choose>
          <dgm:choose name="Name148">
            <dgm:if name="Name149" func="var" arg="dir" op="equ" val="norm">
              <dgm:presOf axis="ch desOrSelf" ptType="node node" st="6 1" cnt="1 0"/>
            </dgm:if>
            <dgm:else name="Name150">
              <dgm:choose name="Name151">
                <dgm:if name="Name152" axis="ch" ptType="node" func="cnt" op="equ" val="6">
                  <dgm:presOf axis="ch desOrSelf" ptType="node node" st="1 1" cnt="1 0"/>
                </dgm:if>
                <dgm:else name="Name153">
                  <dgm:presOf axis="ch desOrSelf" ptType="node node" st="2 1" cnt="1 0"/>
                </dgm:else>
              </dgm:choose>
            </dgm:else>
          </dgm:choose>
          <dgm:constrLst/>
          <dgm:ruleLst/>
        </dgm:layoutNode>
        <dgm:layoutNode name="dummy6a" moveWith="wedge6">
          <dgm:alg type="sp"/>
          <dgm:shape xmlns:r="http://schemas.openxmlformats.org/officeDocument/2006/relationships" r:blip="">
            <dgm:adjLst/>
          </dgm:shape>
          <dgm:presOf/>
          <dgm:constrLst>
            <dgm:constr type="w" val="1"/>
            <dgm:constr type="h" val="1"/>
          </dgm:constrLst>
          <dgm:ruleLst/>
        </dgm:layoutNode>
        <dgm:layoutNode name="dummy6b" moveWith="wedge6">
          <dgm:alg type="sp"/>
          <dgm:shape xmlns:r="http://schemas.openxmlformats.org/officeDocument/2006/relationships" r:blip="">
            <dgm:adjLst/>
          </dgm:shape>
          <dgm:presOf/>
          <dgm:constrLst>
            <dgm:constr type="w" val="1"/>
            <dgm:constr type="h" val="1"/>
          </dgm:constrLst>
          <dgm:ruleLst/>
        </dgm:layoutNode>
        <dgm:layoutNode name="wedge6Tx" moveWith="wedge6">
          <dgm:varLst>
            <dgm:chMax val="0"/>
            <dgm:chPref val="0"/>
            <dgm:bulletEnabled val="1"/>
          </dgm:varLst>
          <dgm:alg type="tx"/>
          <dgm:shape xmlns:r="http://schemas.openxmlformats.org/officeDocument/2006/relationships" type="rect" r:blip="" hideGeom="1">
            <dgm:adjLst/>
          </dgm:shape>
          <dgm:choose name="Name154">
            <dgm:if name="Name155" func="var" arg="dir" op="equ" val="norm">
              <dgm:presOf axis="ch desOrSelf" ptType="node node" st="6 1" cnt="1 0"/>
            </dgm:if>
            <dgm:else name="Name156">
              <dgm:choose name="Name157">
                <dgm:if name="Name158" axis="ch" ptType="node" func="cnt" op="equ" val="6">
                  <dgm:presOf axis="ch desOrSelf" ptType="node node" st="1 1" cnt="1 0"/>
                </dgm:if>
                <dgm:else name="Name159">
                  <dgm:presOf axis="ch desOrSelf" ptType="node node" st="2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60"/>
    </dgm:choose>
    <dgm:choose name="Name161">
      <dgm:if name="Name162" axis="ch" ptType="node" func="cnt" op="gte" val="7">
        <dgm:layoutNode name="wedge7">
          <dgm:alg type="sp"/>
          <dgm:shape xmlns:r="http://schemas.openxmlformats.org/officeDocument/2006/relationships" type="pie" r:blip="">
            <dgm:adjLst>
              <dgm:adj idx="1" val="218.5714"/>
              <dgm:adj idx="2" val="270"/>
            </dgm:adjLst>
          </dgm:shape>
          <dgm:choose name="Name163">
            <dgm:if name="Name164" func="var" arg="dir" op="equ" val="norm">
              <dgm:presOf axis="ch desOrSelf" ptType="node node" st="7 1" cnt="1 0"/>
            </dgm:if>
            <dgm:else name="Name165">
              <dgm:presOf axis="ch desOrSelf" ptType="node node" st="1 1" cnt="1 0"/>
            </dgm:else>
          </dgm:choose>
          <dgm:constrLst/>
          <dgm:ruleLst/>
        </dgm:layoutNode>
        <dgm:layoutNode name="dummy7a" moveWith="wedge7">
          <dgm:alg type="sp"/>
          <dgm:shape xmlns:r="http://schemas.openxmlformats.org/officeDocument/2006/relationships" r:blip="">
            <dgm:adjLst/>
          </dgm:shape>
          <dgm:presOf/>
          <dgm:constrLst>
            <dgm:constr type="w" val="1"/>
            <dgm:constr type="h" val="1"/>
          </dgm:constrLst>
          <dgm:ruleLst/>
        </dgm:layoutNode>
        <dgm:layoutNode name="dummy7b" moveWith="wedge7">
          <dgm:alg type="sp"/>
          <dgm:shape xmlns:r="http://schemas.openxmlformats.org/officeDocument/2006/relationships" r:blip="">
            <dgm:adjLst/>
          </dgm:shape>
          <dgm:presOf/>
          <dgm:constrLst>
            <dgm:constr type="w" val="1"/>
            <dgm:constr type="h" val="1"/>
          </dgm:constrLst>
          <dgm:ruleLst/>
        </dgm:layoutNode>
        <dgm:layoutNode name="wedge7Tx" moveWith="wedge7">
          <dgm:varLst>
            <dgm:chMax val="0"/>
            <dgm:chPref val="0"/>
            <dgm:bulletEnabled val="1"/>
          </dgm:varLst>
          <dgm:alg type="tx"/>
          <dgm:shape xmlns:r="http://schemas.openxmlformats.org/officeDocument/2006/relationships" type="rect" r:blip="" hideGeom="1">
            <dgm:adjLst/>
          </dgm:shape>
          <dgm:choose name="Name166">
            <dgm:if name="Name167" func="var" arg="dir" op="equ" val="norm">
              <dgm:presOf axis="ch desOrSelf" ptType="node node" st="7 1" cnt="1 0"/>
            </dgm:if>
            <dgm:else name="Name168">
              <dgm:presOf axis="ch desOrSelf" ptType="node node" st="1 1" cnt="1 0"/>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69"/>
    </dgm:choose>
    <dgm:choose name="Name170">
      <dgm:if name="Name171" axis="ch" ptType="node" func="cnt" op="equ" val="1">
        <dgm:forEach name="Name172" axis="ch" ptType="sibTrans" hideLastTrans="0" cnt="1">
          <dgm:layoutNode name="arrowWedge1single" styleLbl="fgSibTrans2D1">
            <dgm:choose name="Name173">
              <dgm:if name="Name174" func="var" arg="dir" op="equ" val="norm">
                <dgm:alg type="conn">
                  <dgm:param type="connRout" val="longCurve"/>
                  <dgm:param type="srcNode" val="dummy1a"/>
                  <dgm:param type="dstNode" val="dummy1b"/>
                  <dgm:param type="begPts" val="tL"/>
                  <dgm:param type="endPts" val="tR"/>
                  <dgm:param type="begSty" val="arr"/>
                  <dgm:param type="endSty" val="noArr"/>
                </dgm:alg>
              </dgm:if>
              <dgm:else name="Name175">
                <dgm:alg type="conn">
                  <dgm:param type="connRout" val="longCurve"/>
                  <dgm:param type="srcNode" val="dummy1a"/>
                  <dgm:param type="dstNode" val="dummy1b"/>
                  <dgm:param type="begPts" val="tL"/>
                  <dgm:param type="endPts" val="tR"/>
                  <dgm:param type="begSty" val="noArr"/>
                  <dgm:param type="endSty" val="arr"/>
                </dgm:alg>
              </dgm:else>
            </dgm:choose>
            <dgm:shape xmlns:r="http://schemas.openxmlformats.org/officeDocument/2006/relationships" type="conn" r:blip="">
              <dgm:adjLst/>
            </dgm:shape>
            <dgm:presOf/>
            <dgm:constrLst>
              <dgm:constr type="w" val="1"/>
              <dgm:constr type="begPad"/>
              <dgm:constr type="endPad"/>
            </dgm:constrLst>
            <dgm:ruleLst/>
          </dgm:layoutNode>
        </dgm:forEach>
      </dgm:if>
      <dgm:if name="Name176" axis="ch" ptType="node" func="cnt" op="gte" val="2">
        <dgm:forEach name="Name177" axis="ch" ptType="sibTrans" hideLastTrans="0" cnt="1">
          <dgm:layoutNode name="arrowWedge1" styleLbl="fgSibTrans2D1">
            <dgm:choose name="Name178">
              <dgm:if name="Name179" func="var" arg="dir" op="equ" val="norm">
                <dgm:alg type="conn">
                  <dgm:param type="connRout" val="curve"/>
                  <dgm:param type="srcNode" val="dummy1a"/>
                  <dgm:param type="dstNode" val="dummy1b"/>
                  <dgm:param type="begPts" val="tL"/>
                  <dgm:param type="endPts" val="tL"/>
                  <dgm:param type="begSty" val="noArr"/>
                  <dgm:param type="endSty" val="arr"/>
                </dgm:alg>
              </dgm:if>
              <dgm:else name="Name180">
                <dgm:alg type="conn">
                  <dgm:param type="connRout" val="curve"/>
                  <dgm:param type="srcNode" val="dummy1a"/>
                  <dgm:param type="dstNode" val="dummy1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if>
      <dgm:else name="Name181"/>
    </dgm:choose>
    <dgm:forEach name="Name182" axis="ch" ptType="sibTrans" hideLastTrans="0" st="2" cnt="1">
      <dgm:layoutNode name="arrowWedge2" styleLbl="fgSibTrans2D1">
        <dgm:choose name="Name183">
          <dgm:if name="Name184" func="var" arg="dir" op="equ" val="norm">
            <dgm:alg type="conn">
              <dgm:param type="connRout" val="curve"/>
              <dgm:param type="srcNode" val="dummy2a"/>
              <dgm:param type="dstNode" val="dummy2b"/>
              <dgm:param type="begPts" val="tL"/>
              <dgm:param type="endPts" val="tL"/>
              <dgm:param type="begSty" val="noArr"/>
              <dgm:param type="endSty" val="arr"/>
            </dgm:alg>
          </dgm:if>
          <dgm:else name="Name185">
            <dgm:alg type="conn">
              <dgm:param type="connRout" val="curve"/>
              <dgm:param type="srcNode" val="dummy2a"/>
              <dgm:param type="dstNode" val="dummy2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86" axis="ch" ptType="sibTrans" hideLastTrans="0" st="3" cnt="1">
      <dgm:layoutNode name="arrowWedge3" styleLbl="fgSibTrans2D1">
        <dgm:choose name="Name187">
          <dgm:if name="Name188" func="var" arg="dir" op="equ" val="norm">
            <dgm:alg type="conn">
              <dgm:param type="connRout" val="curve"/>
              <dgm:param type="srcNode" val="dummy3a"/>
              <dgm:param type="dstNode" val="dummy3b"/>
              <dgm:param type="begPts" val="tL"/>
              <dgm:param type="endPts" val="tL"/>
              <dgm:param type="begSty" val="noArr"/>
              <dgm:param type="endSty" val="arr"/>
            </dgm:alg>
          </dgm:if>
          <dgm:else name="Name189">
            <dgm:alg type="conn">
              <dgm:param type="connRout" val="curve"/>
              <dgm:param type="srcNode" val="dummy3a"/>
              <dgm:param type="dstNode" val="dummy3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90" axis="ch" ptType="sibTrans" hideLastTrans="0" st="4" cnt="1">
      <dgm:layoutNode name="arrowWedge4" styleLbl="fgSibTrans2D1">
        <dgm:choose name="Name191">
          <dgm:if name="Name192" func="var" arg="dir" op="equ" val="norm">
            <dgm:alg type="conn">
              <dgm:param type="connRout" val="curve"/>
              <dgm:param type="srcNode" val="dummy4a"/>
              <dgm:param type="dstNode" val="dummy4b"/>
              <dgm:param type="begPts" val="tL"/>
              <dgm:param type="endPts" val="tL"/>
              <dgm:param type="begSty" val="noArr"/>
              <dgm:param type="endSty" val="arr"/>
            </dgm:alg>
          </dgm:if>
          <dgm:else name="Name193">
            <dgm:alg type="conn">
              <dgm:param type="connRout" val="curve"/>
              <dgm:param type="srcNode" val="dummy4a"/>
              <dgm:param type="dstNode" val="dummy4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94" axis="ch" ptType="sibTrans" hideLastTrans="0" st="5" cnt="1">
      <dgm:layoutNode name="arrowWedge5" styleLbl="fgSibTrans2D1">
        <dgm:choose name="Name195">
          <dgm:if name="Name196" func="var" arg="dir" op="equ" val="norm">
            <dgm:alg type="conn">
              <dgm:param type="connRout" val="curve"/>
              <dgm:param type="srcNode" val="dummy5a"/>
              <dgm:param type="dstNode" val="dummy5b"/>
              <dgm:param type="begPts" val="tL"/>
              <dgm:param type="endPts" val="tL"/>
              <dgm:param type="begSty" val="noArr"/>
              <dgm:param type="endSty" val="arr"/>
            </dgm:alg>
          </dgm:if>
          <dgm:else name="Name197">
            <dgm:alg type="conn">
              <dgm:param type="connRout" val="curve"/>
              <dgm:param type="srcNode" val="dummy5a"/>
              <dgm:param type="dstNode" val="dummy5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98" axis="ch" ptType="sibTrans" hideLastTrans="0" st="6" cnt="1">
      <dgm:layoutNode name="arrowWedge6" styleLbl="fgSibTrans2D1">
        <dgm:choose name="Name199">
          <dgm:if name="Name200" func="var" arg="dir" op="equ" val="norm">
            <dgm:alg type="conn">
              <dgm:param type="connRout" val="curve"/>
              <dgm:param type="srcNode" val="dummy6a"/>
              <dgm:param type="dstNode" val="dummy6b"/>
              <dgm:param type="begPts" val="tL"/>
              <dgm:param type="endPts" val="tL"/>
              <dgm:param type="begSty" val="noArr"/>
              <dgm:param type="endSty" val="arr"/>
            </dgm:alg>
          </dgm:if>
          <dgm:else name="Name201">
            <dgm:alg type="conn">
              <dgm:param type="connRout" val="curve"/>
              <dgm:param type="srcNode" val="dummy6a"/>
              <dgm:param type="dstNode" val="dummy6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202" axis="ch" ptType="sibTrans" hideLastTrans="0" st="7" cnt="1">
      <dgm:layoutNode name="arrowWedge7" styleLbl="fgSibTrans2D1">
        <dgm:choose name="Name203">
          <dgm:if name="Name204" func="var" arg="dir" op="equ" val="norm">
            <dgm:alg type="conn">
              <dgm:param type="connRout" val="curve"/>
              <dgm:param type="srcNode" val="dummy7a"/>
              <dgm:param type="dstNode" val="dummy7b"/>
              <dgm:param type="begPts" val="tL"/>
              <dgm:param type="endPts" val="tL"/>
              <dgm:param type="begSty" val="noArr"/>
              <dgm:param type="endSty" val="arr"/>
            </dgm:alg>
          </dgm:if>
          <dgm:else name="Name205">
            <dgm:alg type="conn">
              <dgm:param type="connRout" val="curve"/>
              <dgm:param type="srcNode" val="dummy7a"/>
              <dgm:param type="dstNode" val="dummy7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layoutNode>
</dgm:layoutDef>
</file>

<file path=ppt/diagrams/layout2.xml><?xml version="1.0" encoding="utf-8"?>
<dgm:layoutDef xmlns:dgm="http://schemas.openxmlformats.org/drawingml/2006/diagram" xmlns:a="http://schemas.openxmlformats.org/drawingml/2006/main" uniqueId="urn:microsoft.com/office/officeart/2005/8/layout/cycle2">
  <dgm:title val=""/>
  <dgm:desc val=""/>
  <dgm:catLst>
    <dgm:cat type="cycle" pri="1000"/>
    <dgm:cat type="convert" pri="10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choose name="Name2">
          <dgm:if name="Name3" axis="ch" ptType="node" func="cnt" op="gt" val="2">
            <dgm:alg type="cycle">
              <dgm:param type="stAng" val="0"/>
              <dgm:param type="spanAng" val="360"/>
            </dgm:alg>
          </dgm:if>
          <dgm:else name="Name4">
            <dgm:alg type="cycle">
              <dgm:param type="stAng" val="-90"/>
              <dgm:param type="spanAng" val="360"/>
            </dgm:alg>
          </dgm:else>
        </dgm:choose>
      </dgm:if>
      <dgm:else name="Name5">
        <dgm:choose name="Name6">
          <dgm:if name="Name7" axis="ch" ptType="node" func="cnt" op="gt" val="2">
            <dgm:alg type="cycle">
              <dgm:param type="stAng" val="0"/>
              <dgm:param type="spanAng" val="-360"/>
            </dgm:alg>
          </dgm:if>
          <dgm:else name="Name8">
            <dgm:alg type="cycle">
              <dgm:param type="stAng" val="90"/>
              <dgm:param type="spanAng" val="-360"/>
            </dgm:alg>
          </dgm:else>
        </dgm:choose>
      </dgm:else>
    </dgm:choose>
    <dgm:shape xmlns:r="http://schemas.openxmlformats.org/officeDocument/2006/relationships" r:blip="">
      <dgm:adjLst/>
    </dgm:shape>
    <dgm:presOf/>
    <dgm:constrLst>
      <dgm:constr type="w" for="ch" ptType="node" refType="w"/>
      <dgm:constr type="w" for="ch" ptType="sibTrans" refType="w" refFor="ch" refPtType="node" op="equ" fact="0.25"/>
      <dgm:constr type="sibSp" refType="w" refFor="ch" refPtType="node" fact="0.5"/>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lMarg" refType="primFontSz" fact="0.1"/>
          <dgm:constr type="rMarg" refType="primFontSz" fact="0.1"/>
          <dgm:constr type="tMarg" refType="primFontSz" fact="0.1"/>
          <dgm:constr type="bMarg" refType="primFontSz" fact="0.1"/>
        </dgm:constrLst>
        <dgm:ruleLst>
          <dgm:rule type="primFontSz" val="5" fact="NaN" max="NaN"/>
        </dgm:ruleLst>
      </dgm:layoutNode>
      <dgm:choose name="Name9">
        <dgm:if name="Name10" axis="par ch" ptType="doc node" func="cnt" op="gt" val="1">
          <dgm:forEach name="sibTransForEach" axis="followSib" ptType="sibTrans" hideLastTrans="0" cnt="1">
            <dgm:layoutNode name="sibTrans">
              <dgm:choose name="Name11">
                <dgm:if name="Name12" axis="par ch" ptType="doc node" func="cnt" op="lt" val="3">
                  <dgm:alg type="conn">
                    <dgm:param type="begPts" val="radial"/>
                    <dgm:param type="endPts" val="radial"/>
                  </dgm:alg>
                </dgm:if>
                <dgm:else name="Name13">
                  <dgm:alg type="conn">
                    <dgm:param type="begPts" val="auto"/>
                    <dgm:param type="endPts" val="auto"/>
                  </dgm:alg>
                </dgm:else>
              </dgm:choose>
              <dgm:shape xmlns:r="http://schemas.openxmlformats.org/officeDocument/2006/relationships" type="conn" r:blip="">
                <dgm:adjLst/>
              </dgm:shape>
              <dgm:presOf axis="self"/>
              <dgm:constrLst>
                <dgm:constr type="h" refType="w" fact="1.35"/>
                <dgm:constr type="connDist"/>
                <dgm:constr type="w" for="ch" refType="connDist" fact="0.45"/>
                <dgm:constr type="h" for="ch" refType="h"/>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if>
        <dgm:else name="Name14"/>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0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ltNode1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revTxLt">
    <dgm:scene3d>
      <a:camera prst="orthographicFront"/>
      <a:lightRig rig="threePt" dir="t"/>
    </dgm:scene3d>
    <dgm:sp3d/>
    <dgm:txPr/>
    <dgm:style>
      <a:lnRef idx="0">
        <a:scrgbClr r="0" g="0" b="0"/>
      </a:lnRef>
      <a:fillRef idx="0">
        <a:scrgbClr r="0" g="0" b="0"/>
      </a:fillRef>
      <a:effectRef idx="0">
        <a:scrgbClr r="0" g="0" b="0"/>
      </a:effectRef>
      <a:fontRef idx="minor">
        <a:schemeClr val="lt1"/>
      </a:fontRef>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1"/>
            <a:ext cx="3077059" cy="513630"/>
          </a:xfrm>
          <a:prstGeom prst="rect">
            <a:avLst/>
          </a:prstGeom>
          <a:noFill/>
          <a:ln>
            <a:noFill/>
          </a:ln>
        </p:spPr>
        <p:txBody>
          <a:bodyPr spcFirstLastPara="1" wrap="square" lIns="86825" tIns="43400" rIns="86825" bIns="43400" anchor="t" anchorCtr="0">
            <a:noAutofit/>
          </a:bodyPr>
          <a:lstStyle>
            <a:lvl1pPr marR="0" lvl="0" algn="l" rtl="0">
              <a:spcBef>
                <a:spcPts val="0"/>
              </a:spcBef>
              <a:spcAft>
                <a:spcPts val="0"/>
              </a:spcAft>
              <a:buSzPts val="1400"/>
              <a:buNone/>
              <a:defRPr sz="11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dirty="0"/>
          </a:p>
        </p:txBody>
      </p:sp>
      <p:sp>
        <p:nvSpPr>
          <p:cNvPr id="4" name="Google Shape;4;n"/>
          <p:cNvSpPr txBox="1">
            <a:spLocks noGrp="1"/>
          </p:cNvSpPr>
          <p:nvPr>
            <p:ph type="dt" idx="10"/>
          </p:nvPr>
        </p:nvSpPr>
        <p:spPr>
          <a:xfrm>
            <a:off x="4020751" y="1"/>
            <a:ext cx="3077059" cy="513630"/>
          </a:xfrm>
          <a:prstGeom prst="rect">
            <a:avLst/>
          </a:prstGeom>
          <a:noFill/>
          <a:ln>
            <a:noFill/>
          </a:ln>
        </p:spPr>
        <p:txBody>
          <a:bodyPr spcFirstLastPara="1" wrap="square" lIns="86825" tIns="43400" rIns="86825" bIns="43400" anchor="t" anchorCtr="0">
            <a:noAutofit/>
          </a:bodyPr>
          <a:lstStyle>
            <a:lvl1pPr marR="0" lvl="0" algn="r" rtl="0">
              <a:spcBef>
                <a:spcPts val="0"/>
              </a:spcBef>
              <a:spcAft>
                <a:spcPts val="0"/>
              </a:spcAft>
              <a:buSzPts val="1400"/>
              <a:buNone/>
              <a:defRPr sz="11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dirty="0"/>
          </a:p>
        </p:txBody>
      </p:sp>
      <p:sp>
        <p:nvSpPr>
          <p:cNvPr id="5" name="Google Shape;5;n"/>
          <p:cNvSpPr>
            <a:spLocks noGrp="1" noRot="1" noChangeAspect="1"/>
          </p:cNvSpPr>
          <p:nvPr>
            <p:ph type="sldImg" idx="3"/>
          </p:nvPr>
        </p:nvSpPr>
        <p:spPr>
          <a:xfrm>
            <a:off x="479425" y="1279525"/>
            <a:ext cx="6140450" cy="34544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709632" y="4925075"/>
            <a:ext cx="5680036" cy="4030021"/>
          </a:xfrm>
          <a:prstGeom prst="rect">
            <a:avLst/>
          </a:prstGeom>
          <a:noFill/>
          <a:ln>
            <a:noFill/>
          </a:ln>
        </p:spPr>
        <p:txBody>
          <a:bodyPr spcFirstLastPara="1" wrap="square" lIns="86825" tIns="43400" rIns="86825" bIns="434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9720983"/>
            <a:ext cx="3077059" cy="513630"/>
          </a:xfrm>
          <a:prstGeom prst="rect">
            <a:avLst/>
          </a:prstGeom>
          <a:noFill/>
          <a:ln>
            <a:noFill/>
          </a:ln>
        </p:spPr>
        <p:txBody>
          <a:bodyPr spcFirstLastPara="1" wrap="square" lIns="86825" tIns="43400" rIns="86825" bIns="43400" anchor="b" anchorCtr="0">
            <a:noAutofit/>
          </a:bodyPr>
          <a:lstStyle>
            <a:lvl1pPr marR="0" lvl="0" algn="l" rtl="0">
              <a:spcBef>
                <a:spcPts val="0"/>
              </a:spcBef>
              <a:spcAft>
                <a:spcPts val="0"/>
              </a:spcAft>
              <a:buSzPts val="1400"/>
              <a:buNone/>
              <a:defRPr sz="11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dirty="0"/>
          </a:p>
        </p:txBody>
      </p:sp>
      <p:sp>
        <p:nvSpPr>
          <p:cNvPr id="8" name="Google Shape;8;n"/>
          <p:cNvSpPr txBox="1">
            <a:spLocks noGrp="1"/>
          </p:cNvSpPr>
          <p:nvPr>
            <p:ph type="sldNum" idx="12"/>
          </p:nvPr>
        </p:nvSpPr>
        <p:spPr>
          <a:xfrm>
            <a:off x="4020751" y="9720983"/>
            <a:ext cx="3077059" cy="513630"/>
          </a:xfrm>
          <a:prstGeom prst="rect">
            <a:avLst/>
          </a:prstGeom>
          <a:noFill/>
          <a:ln>
            <a:noFill/>
          </a:ln>
        </p:spPr>
        <p:txBody>
          <a:bodyPr spcFirstLastPara="1" wrap="square" lIns="86825" tIns="43400" rIns="86825" bIns="43400" anchor="b" anchorCtr="0">
            <a:noAutofit/>
          </a:bodyPr>
          <a:lstStyle/>
          <a:p>
            <a:pPr marL="0" marR="0" lvl="0" indent="0" algn="r" rtl="0">
              <a:spcBef>
                <a:spcPts val="0"/>
              </a:spcBef>
              <a:spcAft>
                <a:spcPts val="0"/>
              </a:spcAft>
              <a:buNone/>
            </a:pPr>
            <a:fld id="{00000000-1234-1234-1234-123412341234}" type="slidenum">
              <a:rPr lang="en-GB" sz="1100" b="0" i="0" u="none" strike="noStrike" cap="none">
                <a:solidFill>
                  <a:schemeClr val="dk1"/>
                </a:solidFill>
                <a:latin typeface="Calibri"/>
                <a:ea typeface="Calibri"/>
                <a:cs typeface="Calibri"/>
                <a:sym typeface="Calibri"/>
              </a:rPr>
              <a:t>‹#›</a:t>
            </a:fld>
            <a:endParaRPr sz="1100" b="0" i="0" u="none" strike="noStrike" cap="none" dirty="0">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So how do we evaluate performance in the workplace and what factors are important?</a:t>
            </a:r>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GB" sz="1100" b="0" i="0" u="none" strike="noStrike" cap="none" smtClean="0">
                <a:solidFill>
                  <a:schemeClr val="dk1"/>
                </a:solidFill>
                <a:latin typeface="Calibri"/>
                <a:ea typeface="Calibri"/>
                <a:cs typeface="Calibri"/>
                <a:sym typeface="Calibri"/>
              </a:rPr>
              <a:t>17</a:t>
            </a:fld>
            <a:endParaRPr lang="en-GB" sz="1100" b="0" i="0" u="none" strike="noStrike" cap="none" dirty="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60474597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FAA1D51C-AD7D-44A6-B69F-818CB724FE91}" type="slidenum">
              <a:rPr kumimoji="0" lang="en-GB" sz="1800" b="0" i="0" u="none" strike="noStrike" kern="1200" cap="none" spc="0" normalizeH="0" baseline="0" noProof="0" smtClean="0">
                <a:ln>
                  <a:noFill/>
                </a:ln>
                <a:solidFill>
                  <a:srgbClr val="000000"/>
                </a:solidFill>
                <a:effectLst/>
                <a:uLnTx/>
                <a:uFillTx/>
                <a:latin typeface="Arial"/>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24</a:t>
            </a:fld>
            <a:endParaRPr kumimoji="0" lang="en-GB" sz="1800" b="0" i="0" u="none" strike="noStrike" kern="1200" cap="none" spc="0" normalizeH="0" baseline="0" noProof="0" dirty="0">
              <a:ln>
                <a:noFill/>
              </a:ln>
              <a:solidFill>
                <a:srgbClr val="000000"/>
              </a:solidFill>
              <a:effectLst/>
              <a:uLnTx/>
              <a:uFillTx/>
              <a:latin typeface="Arial"/>
              <a:ea typeface="+mn-ea"/>
              <a:cs typeface="+mn-cs"/>
            </a:endParaRPr>
          </a:p>
        </p:txBody>
      </p:sp>
    </p:spTree>
    <p:extLst>
      <p:ext uri="{BB962C8B-B14F-4D97-AF65-F5344CB8AC3E}">
        <p14:creationId xmlns:p14="http://schemas.microsoft.com/office/powerpoint/2010/main" val="268738981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GB" dirty="0">
              <a:solidFill>
                <a:schemeClr val="tx1"/>
              </a:solidFill>
            </a:endParaRPr>
          </a:p>
          <a:p>
            <a:endParaRPr lang="en-GB" dirty="0"/>
          </a:p>
          <a:p>
            <a:endParaRPr lang="en-GB" dirty="0"/>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FAA1D51C-AD7D-44A6-B69F-818CB724FE91}"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32</a:t>
            </a:fld>
            <a:endParaRPr kumimoji="0" lang="en-GB"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3585543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AA1D51C-AD7D-44A6-B69F-818CB724FE91}" type="slidenum">
              <a:rPr lang="en-GB" smtClean="0"/>
              <a:t>46</a:t>
            </a:fld>
            <a:endParaRPr lang="en-GB" dirty="0"/>
          </a:p>
        </p:txBody>
      </p:sp>
    </p:spTree>
    <p:extLst>
      <p:ext uri="{BB962C8B-B14F-4D97-AF65-F5344CB8AC3E}">
        <p14:creationId xmlns:p14="http://schemas.microsoft.com/office/powerpoint/2010/main" val="81921778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
        <p:cNvGrpSpPr/>
        <p:nvPr/>
      </p:nvGrpSpPr>
      <p:grpSpPr>
        <a:xfrm>
          <a:off x="0" y="0"/>
          <a:ext cx="0" cy="0"/>
          <a:chOff x="0" y="0"/>
          <a:chExt cx="0" cy="0"/>
        </a:xfrm>
      </p:grpSpPr>
      <p:sp>
        <p:nvSpPr>
          <p:cNvPr id="126" name="Google Shape;126;p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27" name="Google Shape;127;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algn="l" fontAlgn="base"/>
            <a:endParaRPr lang="en-GB" dirty="0"/>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GB" sz="1100" b="0" i="0" u="none" strike="noStrike" cap="none" smtClean="0">
                <a:solidFill>
                  <a:schemeClr val="dk1"/>
                </a:solidFill>
                <a:latin typeface="Calibri"/>
                <a:ea typeface="Calibri"/>
                <a:cs typeface="Calibri"/>
                <a:sym typeface="Calibri"/>
              </a:rPr>
              <a:t>65</a:t>
            </a:fld>
            <a:endParaRPr lang="en-GB" sz="1100" b="0" i="0" u="none" strike="noStrike" cap="none" dirty="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81252430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dirty="0"/>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uk-UA" smtClean="0"/>
              <a:t>‹#›</a:t>
            </a:fld>
            <a:endParaRPr lang="uk-UA" dirty="0">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945360722"/>
      </p:ext>
    </p:extLst>
  </p:cSld>
  <p:clrMapOvr>
    <a:masterClrMapping/>
  </p:clrMapOvr>
  <p:hf sldNum="0" hdr="0" ftr="0" dt="0"/>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000"/>
            </a:lvl1pPr>
          </a:lstStyle>
          <a:p>
            <a:r>
              <a:rPr lang="en-GB"/>
              <a:t>Click to edit Master title style</a:t>
            </a:r>
            <a:endParaRPr lang="en-US" dirty="0"/>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pPr marL="0" lvl="0" indent="0" algn="l" rtl="0">
              <a:spcBef>
                <a:spcPts val="0"/>
              </a:spcBef>
              <a:spcAft>
                <a:spcPts val="0"/>
              </a:spcAft>
              <a:buNone/>
            </a:pPr>
            <a:fld id="{00000000-1234-1234-1234-123412341234}" type="slidenum">
              <a:rPr lang="uk-UA" smtClean="0"/>
              <a:t>‹#›</a:t>
            </a:fld>
            <a:endParaRPr lang="uk-UA" dirty="0"/>
          </a:p>
        </p:txBody>
      </p:sp>
    </p:spTree>
    <p:extLst>
      <p:ext uri="{BB962C8B-B14F-4D97-AF65-F5344CB8AC3E}">
        <p14:creationId xmlns:p14="http://schemas.microsoft.com/office/powerpoint/2010/main" val="13712776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uk-UA" smtClean="0"/>
              <a:t>‹#›</a:t>
            </a:fld>
            <a:endParaRPr lang="uk-UA" dirty="0">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429268896"/>
      </p:ext>
    </p:extLst>
  </p:cSld>
  <p:clrMapOvr>
    <a:masterClrMapping/>
  </p:clrMapOvr>
  <p:hf sldNum="0" hdr="0" ftr="0" dt="0"/>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Date Placeholder 4"/>
          <p:cNvSpPr>
            <a:spLocks noGrp="1"/>
          </p:cNvSpPr>
          <p:nvPr>
            <p:ph type="dt" sz="half" idx="10"/>
          </p:nvPr>
        </p:nvSpPr>
        <p:spPr/>
        <p:txBody>
          <a:bodyPr/>
          <a:lstStyle/>
          <a:p>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uk-UA" smtClean="0"/>
              <a:t>‹#›</a:t>
            </a:fld>
            <a:endParaRPr lang="uk-UA" dirty="0">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44928710"/>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GB"/>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Date Placeholder 6"/>
          <p:cNvSpPr>
            <a:spLocks noGrp="1"/>
          </p:cNvSpPr>
          <p:nvPr>
            <p:ph type="dt" sz="half" idx="10"/>
          </p:nvPr>
        </p:nvSpPr>
        <p:spPr/>
        <p:txBody>
          <a:bodyPr/>
          <a:lstStyle/>
          <a:p>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uk-UA" smtClean="0"/>
              <a:t>‹#›</a:t>
            </a:fld>
            <a:endParaRPr lang="uk-UA" dirty="0">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446873783"/>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Date Placeholder 2"/>
          <p:cNvSpPr>
            <a:spLocks noGrp="1"/>
          </p:cNvSpPr>
          <p:nvPr>
            <p:ph type="dt" sz="half" idx="10"/>
          </p:nvPr>
        </p:nvSpPr>
        <p:spPr/>
        <p:txBody>
          <a:bodyPr/>
          <a:lstStyle/>
          <a:p>
            <a:fld id="{87DE6118-2437-4B30-8E3C-4D2BE6020583}" type="datetimeFigureOut">
              <a:rPr lang="en-US" smtClean="0"/>
              <a:t>10/18/2026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9E57DC2-970A-4B3E-BB1C-7A09969E49DF}" type="slidenum">
              <a:rPr lang="en-US" smtClean="0"/>
              <a:t>‹#›</a:t>
            </a:fld>
            <a:endParaRPr lang="en-US" dirty="0"/>
          </a:p>
        </p:txBody>
      </p:sp>
    </p:spTree>
    <p:extLst>
      <p:ext uri="{BB962C8B-B14F-4D97-AF65-F5344CB8AC3E}">
        <p14:creationId xmlns:p14="http://schemas.microsoft.com/office/powerpoint/2010/main" val="9567247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uk-UA" smtClean="0"/>
              <a:t>‹#›</a:t>
            </a:fld>
            <a:endParaRPr lang="uk-UA" dirty="0">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523471007"/>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uk-UA" smtClean="0"/>
              <a:t>‹#›</a:t>
            </a:fld>
            <a:endParaRPr lang="uk-UA" dirty="0">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3382379050"/>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dirty="0"/>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uk-UA" smtClean="0"/>
              <a:t>‹#›</a:t>
            </a:fld>
            <a:endParaRPr lang="uk-UA" dirty="0">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780671784"/>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uk-UA" smtClean="0"/>
              <a:t>‹#›</a:t>
            </a:fld>
            <a:endParaRPr lang="uk-UA" dirty="0">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1226947234"/>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GB"/>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uk-UA" smtClean="0"/>
              <a:t>‹#›</a:t>
            </a:fld>
            <a:endParaRPr lang="uk-UA" dirty="0">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102563012"/>
      </p:ext>
    </p:extLst>
  </p:cSld>
  <p:clrMapOvr>
    <a:masterClrMapping/>
  </p:clrMapOvr>
  <p:hf sldNum="0" hdr="0" ftr="0" dt="0"/>
  <p:extLst>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endParaRPr lang="en-US"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pPr marL="0" lvl="0" indent="0" algn="r" rtl="0">
              <a:spcBef>
                <a:spcPts val="0"/>
              </a:spcBef>
              <a:spcAft>
                <a:spcPts val="0"/>
              </a:spcAft>
              <a:buNone/>
            </a:pPr>
            <a:fld id="{00000000-1234-1234-1234-123412341234}" type="slidenum">
              <a:rPr lang="uk-UA" smtClean="0"/>
              <a:t>‹#›</a:t>
            </a:fld>
            <a:endParaRPr lang="uk-UA" dirty="0">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1269035461"/>
      </p:ext>
    </p:extLst>
  </p:cSld>
  <p:clrMap bg1="lt1" tx1="dk1" bg2="lt2" tx2="dk2" accent1="accent1" accent2="accent2" accent3="accent3" accent4="accent4" accent5="accent5" accent6="accent6" hlink="hlink" folHlink="folHlink"/>
  <p:sldLayoutIdLst>
    <p:sldLayoutId id="2147484197" r:id="rId1"/>
    <p:sldLayoutId id="2147484198" r:id="rId2"/>
    <p:sldLayoutId id="2147484199" r:id="rId3"/>
    <p:sldLayoutId id="2147484200" r:id="rId4"/>
    <p:sldLayoutId id="2147484201" r:id="rId5"/>
    <p:sldLayoutId id="2147484202" r:id="rId6"/>
    <p:sldLayoutId id="2147484203" r:id="rId7"/>
    <p:sldLayoutId id="2147484204" r:id="rId8"/>
    <p:sldLayoutId id="2147484205" r:id="rId9"/>
    <p:sldLayoutId id="2147484206" r:id="rId10"/>
    <p:sldLayoutId id="2147484207" r:id="rId11"/>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6.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8.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2.svg"/><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image" Target="../media/image12.svg"/><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3.png"/><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17.jp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6.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6.xml"/></Relationships>
</file>

<file path=ppt/slides/_rels/slide50.xml.rels><?xml version="1.0" encoding="UTF-8" standalone="yes"?>
<Relationships xmlns="http://schemas.openxmlformats.org/package/2006/relationships"><Relationship Id="rId2" Type="http://schemas.openxmlformats.org/officeDocument/2006/relationships/image" Target="../media/image20.emf"/><Relationship Id="rId1" Type="http://schemas.openxmlformats.org/officeDocument/2006/relationships/slideLayout" Target="../slideLayouts/slideLayout6.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6.xml"/></Relationships>
</file>

<file path=ppt/slides/_rels/slide56.xml.rels><?xml version="1.0" encoding="UTF-8" standalone="yes"?>
<Relationships xmlns="http://schemas.openxmlformats.org/package/2006/relationships"><Relationship Id="rId2" Type="http://schemas.openxmlformats.org/officeDocument/2006/relationships/hyperlink" Target="https://www.washingtonpost.com/video/national/on-leadership/accenture-ceo-on-rewarding-and-motivating-millennials--on-leadership/2015/07/23/734a532c-30b5-11e5-a879-213078d03dd3_video.html" TargetMode="Externa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hyperlink" Target="https://www.personneltoday.com/hr/author/jofaragher/" TargetMode="Externa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5.xml.rels><?xml version="1.0" encoding="UTF-8" standalone="yes"?>
<Relationships xmlns="http://schemas.openxmlformats.org/package/2006/relationships"><Relationship Id="rId3" Type="http://schemas.openxmlformats.org/officeDocument/2006/relationships/image" Target="../media/image24.jpg"/><Relationship Id="rId7" Type="http://schemas.openxmlformats.org/officeDocument/2006/relationships/hyperlink" Target="https://creativecommons.org/licenses/by/3.0/" TargetMode="External"/><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hyperlink" Target="https://www.youtube.com/watch?v=oy-UZYDPvSs" TargetMode="External"/><Relationship Id="rId5" Type="http://schemas.openxmlformats.org/officeDocument/2006/relationships/hyperlink" Target="https://www.personneltoday.com/hr/uber-robo-firing-fine/#:~:text=A%20court%20in%20Amsterdam%20has,from%20the%20UK%20and%20Portugal" TargetMode="External"/><Relationship Id="rId4" Type="http://schemas.openxmlformats.org/officeDocument/2006/relationships/hyperlink" Target="https://www.flickr.com/photos/stockcatalog/40834812504" TargetMode="Externa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9547DE-C0CD-907D-332E-DAC53F4DE84A}"/>
              </a:ext>
            </a:extLst>
          </p:cNvPr>
          <p:cNvSpPr>
            <a:spLocks noGrp="1"/>
          </p:cNvSpPr>
          <p:nvPr>
            <p:ph type="ctrTitle"/>
          </p:nvPr>
        </p:nvSpPr>
        <p:spPr/>
        <p:txBody>
          <a:bodyPr>
            <a:normAutofit/>
          </a:bodyPr>
          <a:lstStyle/>
          <a:p>
            <a:r>
              <a:rPr lang="en-GB" sz="5400" dirty="0"/>
              <a:t>Performance Management</a:t>
            </a:r>
          </a:p>
        </p:txBody>
      </p:sp>
      <p:sp>
        <p:nvSpPr>
          <p:cNvPr id="3" name="Subtitle 2">
            <a:extLst>
              <a:ext uri="{FF2B5EF4-FFF2-40B4-BE49-F238E27FC236}">
                <a16:creationId xmlns:a16="http://schemas.microsoft.com/office/drawing/2014/main" id="{8B198D4E-55BB-6A3F-EA77-FFE907813C91}"/>
              </a:ext>
            </a:extLst>
          </p:cNvPr>
          <p:cNvSpPr>
            <a:spLocks noGrp="1"/>
          </p:cNvSpPr>
          <p:nvPr>
            <p:ph type="subTitle" idx="1"/>
          </p:nvPr>
        </p:nvSpPr>
        <p:spPr>
          <a:xfrm>
            <a:off x="1524000" y="3906838"/>
            <a:ext cx="9144000" cy="1655762"/>
          </a:xfrm>
        </p:spPr>
        <p:txBody>
          <a:bodyPr>
            <a:noAutofit/>
          </a:bodyPr>
          <a:lstStyle/>
          <a:p>
            <a:r>
              <a:rPr lang="en-GB" sz="3200" dirty="0"/>
              <a:t>MGT650 Managing People in Organisations</a:t>
            </a:r>
          </a:p>
          <a:p>
            <a:endParaRPr lang="en-GB" sz="3200" dirty="0"/>
          </a:p>
          <a:p>
            <a:r>
              <a:rPr lang="en-GB" sz="3200" dirty="0"/>
              <a:t>Dr John P. Wilson  </a:t>
            </a:r>
          </a:p>
          <a:p>
            <a:endParaRPr lang="en-GB" sz="3200" dirty="0"/>
          </a:p>
          <a:p>
            <a:r>
              <a:rPr lang="en-GB" sz="3200" dirty="0"/>
              <a:t>Material also from Dr Sally Wright.</a:t>
            </a:r>
          </a:p>
        </p:txBody>
      </p:sp>
      <p:pic>
        <p:nvPicPr>
          <p:cNvPr id="5" name="Picture 4">
            <a:extLst>
              <a:ext uri="{FF2B5EF4-FFF2-40B4-BE49-F238E27FC236}">
                <a16:creationId xmlns:a16="http://schemas.microsoft.com/office/drawing/2014/main" id="{A8744226-F4D8-3B22-F63B-95C55F6C5884}"/>
              </a:ext>
            </a:extLst>
          </p:cNvPr>
          <p:cNvPicPr>
            <a:picLocks noChangeAspect="1"/>
          </p:cNvPicPr>
          <p:nvPr/>
        </p:nvPicPr>
        <p:blipFill>
          <a:blip r:embed="rId2"/>
          <a:stretch>
            <a:fillRect/>
          </a:stretch>
        </p:blipFill>
        <p:spPr>
          <a:xfrm>
            <a:off x="467039" y="407951"/>
            <a:ext cx="5423179" cy="1428823"/>
          </a:xfrm>
          <a:prstGeom prst="rect">
            <a:avLst/>
          </a:prstGeom>
        </p:spPr>
      </p:pic>
    </p:spTree>
    <p:extLst>
      <p:ext uri="{BB962C8B-B14F-4D97-AF65-F5344CB8AC3E}">
        <p14:creationId xmlns:p14="http://schemas.microsoft.com/office/powerpoint/2010/main" val="17291824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useBgFill="1">
        <p:nvSpPr>
          <p:cNvPr id="10" name="Rectangle 9">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Rectangle 13">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Rectangle 15">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Rectangle 19">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a:xfrm>
            <a:off x="466722" y="586855"/>
            <a:ext cx="3201366" cy="3387497"/>
          </a:xfrm>
        </p:spPr>
        <p:txBody>
          <a:bodyPr anchor="b">
            <a:normAutofit/>
          </a:bodyPr>
          <a:lstStyle/>
          <a:p>
            <a:pPr algn="r"/>
            <a:r>
              <a:rPr lang="en-GB" sz="4000" dirty="0">
                <a:solidFill>
                  <a:srgbClr val="FFFFFF"/>
                </a:solidFill>
              </a:rPr>
              <a:t>Learning Objectives</a:t>
            </a:r>
            <a:endParaRPr lang="en-US" sz="4000" dirty="0">
              <a:solidFill>
                <a:srgbClr val="FFFFFF"/>
              </a:solidFill>
            </a:endParaRPr>
          </a:p>
        </p:txBody>
      </p:sp>
      <p:sp>
        <p:nvSpPr>
          <p:cNvPr id="3" name="Content Placeholder 2"/>
          <p:cNvSpPr>
            <a:spLocks noGrp="1"/>
          </p:cNvSpPr>
          <p:nvPr>
            <p:ph idx="1"/>
          </p:nvPr>
        </p:nvSpPr>
        <p:spPr>
          <a:xfrm>
            <a:off x="4504549" y="397566"/>
            <a:ext cx="7356148" cy="6334538"/>
          </a:xfrm>
        </p:spPr>
        <p:txBody>
          <a:bodyPr anchor="ctr">
            <a:normAutofit/>
          </a:bodyPr>
          <a:lstStyle/>
          <a:p>
            <a:pPr marL="571500" indent="-457200">
              <a:lnSpc>
                <a:spcPct val="150000"/>
              </a:lnSpc>
            </a:pPr>
            <a:r>
              <a:rPr lang="en-GB" sz="2200" dirty="0"/>
              <a:t>National Performance and Indicators </a:t>
            </a:r>
          </a:p>
          <a:p>
            <a:pPr marL="571500" indent="-457200">
              <a:lnSpc>
                <a:spcPct val="150000"/>
              </a:lnSpc>
            </a:pPr>
            <a:r>
              <a:rPr lang="en-GB" sz="2200" dirty="0"/>
              <a:t>Gain a comprehensive understanding of performance management, including its key objectives and functions within an organisation.</a:t>
            </a:r>
          </a:p>
          <a:p>
            <a:pPr marL="571500" indent="-457200">
              <a:lnSpc>
                <a:spcPct val="150000"/>
              </a:lnSpc>
            </a:pPr>
            <a:r>
              <a:rPr lang="en-GB" sz="2200" dirty="0"/>
              <a:t>Provide a detailed overview of the stages involved in the performance management cycle and their significance.</a:t>
            </a:r>
          </a:p>
          <a:p>
            <a:pPr marL="571500" indent="-457200">
              <a:lnSpc>
                <a:spcPct val="150000"/>
              </a:lnSpc>
            </a:pPr>
            <a:r>
              <a:rPr lang="en-GB" sz="2200" dirty="0"/>
              <a:t>Focus on the role of performance appraisals within the broader context of performance management.</a:t>
            </a:r>
          </a:p>
          <a:p>
            <a:pPr marL="571500" indent="-457200">
              <a:lnSpc>
                <a:spcPct val="150000"/>
              </a:lnSpc>
            </a:pPr>
            <a:r>
              <a:rPr lang="en-GB" sz="2200" dirty="0"/>
              <a:t>Explore innovative approaches that extend beyond traditional performance appraisals.</a:t>
            </a:r>
          </a:p>
          <a:p>
            <a:pPr marL="571500" indent="-457200"/>
            <a:endParaRPr lang="en-GB" dirty="0"/>
          </a:p>
        </p:txBody>
      </p:sp>
    </p:spTree>
    <p:extLst>
      <p:ext uri="{BB962C8B-B14F-4D97-AF65-F5344CB8AC3E}">
        <p14:creationId xmlns:p14="http://schemas.microsoft.com/office/powerpoint/2010/main" val="5985807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13288" y="162731"/>
            <a:ext cx="8610600" cy="1293028"/>
          </a:xfrm>
        </p:spPr>
        <p:txBody>
          <a:bodyPr/>
          <a:lstStyle/>
          <a:p>
            <a:pPr algn="l"/>
            <a:r>
              <a:rPr lang="en-US" dirty="0"/>
              <a:t>Key reading</a:t>
            </a:r>
          </a:p>
        </p:txBody>
      </p:sp>
      <p:sp>
        <p:nvSpPr>
          <p:cNvPr id="3" name="Content Placeholder 2"/>
          <p:cNvSpPr>
            <a:spLocks noGrp="1"/>
          </p:cNvSpPr>
          <p:nvPr>
            <p:ph idx="1"/>
          </p:nvPr>
        </p:nvSpPr>
        <p:spPr>
          <a:xfrm>
            <a:off x="338379" y="1292625"/>
            <a:ext cx="11515241" cy="5303790"/>
          </a:xfrm>
        </p:spPr>
        <p:txBody>
          <a:bodyPr>
            <a:normAutofit/>
          </a:bodyPr>
          <a:lstStyle/>
          <a:p>
            <a:pPr marL="0" indent="0">
              <a:lnSpc>
                <a:spcPct val="150000"/>
              </a:lnSpc>
              <a:buNone/>
            </a:pPr>
            <a:r>
              <a:rPr lang="en-US" sz="2000" dirty="0"/>
              <a:t>Please read </a:t>
            </a:r>
            <a:r>
              <a:rPr lang="en-US" sz="2000" u="sng" dirty="0"/>
              <a:t>one</a:t>
            </a:r>
            <a:r>
              <a:rPr lang="en-US" sz="2000" dirty="0"/>
              <a:t> of the two following chapters</a:t>
            </a:r>
          </a:p>
          <a:p>
            <a:pPr>
              <a:lnSpc>
                <a:spcPct val="150000"/>
              </a:lnSpc>
            </a:pPr>
            <a:r>
              <a:rPr lang="en-US" sz="2000" dirty="0"/>
              <a:t>Chapter 7 (Performance Appraisal) in Wilkinson, A., Redman, T. and Dundon, T. (2017) Contemporary human resource management : text and cases. Fifth edition. Harlow, England: Pearson.</a:t>
            </a:r>
          </a:p>
          <a:p>
            <a:pPr>
              <a:lnSpc>
                <a:spcPct val="150000"/>
              </a:lnSpc>
            </a:pPr>
            <a:r>
              <a:rPr lang="en-US" sz="2000" dirty="0"/>
              <a:t>Chapter 4 (Assessing Performance at Work) in Arnold, J. et al. (2020) Work psychology: understanding human behaviour in the workplace. 7th edition. Harlow, England: Pearson.</a:t>
            </a:r>
          </a:p>
          <a:p>
            <a:pPr marL="0" indent="0">
              <a:buNone/>
            </a:pPr>
            <a:endParaRPr lang="en-US" sz="2000" dirty="0"/>
          </a:p>
          <a:p>
            <a:pPr marL="0" indent="0">
              <a:lnSpc>
                <a:spcPct val="150000"/>
              </a:lnSpc>
              <a:buNone/>
            </a:pPr>
            <a:r>
              <a:rPr lang="en-US" sz="2000" dirty="0"/>
              <a:t>You also need to read the journal article below for the tutorial on this topic:</a:t>
            </a:r>
          </a:p>
          <a:p>
            <a:pPr>
              <a:lnSpc>
                <a:spcPct val="150000"/>
              </a:lnSpc>
            </a:pPr>
            <a:r>
              <a:rPr lang="en-US" sz="2000" dirty="0"/>
              <a:t>Podsakoff, N. P., Whiting, S. W., Podsakoff, P. M., &amp; Blume, B. D. (2009). Individual-and organizational-level consequences of organizational citizenship behaviors: A meta-analysis. Journal of applied Psychology, 94(1), 122.</a:t>
            </a:r>
          </a:p>
        </p:txBody>
      </p:sp>
    </p:spTree>
    <p:extLst>
      <p:ext uri="{BB962C8B-B14F-4D97-AF65-F5344CB8AC3E}">
        <p14:creationId xmlns:p14="http://schemas.microsoft.com/office/powerpoint/2010/main" val="48370701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What is the Value of Higher Education?</a:t>
            </a:r>
          </a:p>
        </p:txBody>
      </p:sp>
      <p:pic>
        <p:nvPicPr>
          <p:cNvPr id="5" name="Picture 4"/>
          <p:cNvPicPr>
            <a:picLocks noChangeAspect="1"/>
          </p:cNvPicPr>
          <p:nvPr/>
        </p:nvPicPr>
        <p:blipFill>
          <a:blip r:embed="rId2"/>
          <a:stretch>
            <a:fillRect/>
          </a:stretch>
        </p:blipFill>
        <p:spPr>
          <a:xfrm>
            <a:off x="1559497" y="1394972"/>
            <a:ext cx="7028471" cy="4884192"/>
          </a:xfrm>
          <a:prstGeom prst="rect">
            <a:avLst/>
          </a:prstGeom>
        </p:spPr>
      </p:pic>
      <p:sp>
        <p:nvSpPr>
          <p:cNvPr id="6" name="TextBox 5"/>
          <p:cNvSpPr txBox="1"/>
          <p:nvPr/>
        </p:nvSpPr>
        <p:spPr>
          <a:xfrm>
            <a:off x="1631504" y="6288147"/>
            <a:ext cx="8724248" cy="338554"/>
          </a:xfrm>
          <a:prstGeom prst="rect">
            <a:avLst/>
          </a:prstGeom>
          <a:noFill/>
        </p:spPr>
        <p:txBody>
          <a:bodyPr wrap="none" rtlCol="0">
            <a:spAutoFit/>
          </a:bodyPr>
          <a:lstStyle/>
          <a:p>
            <a:r>
              <a:rPr lang="en-GB" sz="1600" dirty="0"/>
              <a:t>US Bureau of </a:t>
            </a:r>
            <a:r>
              <a:rPr lang="en-GB" sz="1600" dirty="0" err="1"/>
              <a:t>Labor</a:t>
            </a:r>
            <a:r>
              <a:rPr lang="en-GB" sz="1600" dirty="0"/>
              <a:t> Statistics: https://www.bls.gov/emp/chart-unemployment-earnings-education.htm</a:t>
            </a:r>
          </a:p>
        </p:txBody>
      </p:sp>
      <p:sp>
        <p:nvSpPr>
          <p:cNvPr id="7" name="TextBox 6"/>
          <p:cNvSpPr txBox="1"/>
          <p:nvPr/>
        </p:nvSpPr>
        <p:spPr>
          <a:xfrm>
            <a:off x="9484387" y="2092379"/>
            <a:ext cx="2232248" cy="3046988"/>
          </a:xfrm>
          <a:prstGeom prst="rect">
            <a:avLst/>
          </a:prstGeom>
          <a:solidFill>
            <a:srgbClr val="FFFF00"/>
          </a:solidFill>
        </p:spPr>
        <p:txBody>
          <a:bodyPr wrap="square" rtlCol="0">
            <a:spAutoFit/>
          </a:bodyPr>
          <a:lstStyle/>
          <a:p>
            <a:r>
              <a:rPr lang="en-GB" sz="2400" dirty="0"/>
              <a:t>Are you paid more because you have a degree certificate or because you will be more productive?</a:t>
            </a:r>
          </a:p>
        </p:txBody>
      </p:sp>
    </p:spTree>
    <p:extLst>
      <p:ext uri="{BB962C8B-B14F-4D97-AF65-F5344CB8AC3E}">
        <p14:creationId xmlns:p14="http://schemas.microsoft.com/office/powerpoint/2010/main" val="363686730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7A3E08-FA82-FF63-94F7-59FEE0A2FD3A}"/>
              </a:ext>
            </a:extLst>
          </p:cNvPr>
          <p:cNvSpPr>
            <a:spLocks noGrp="1"/>
          </p:cNvSpPr>
          <p:nvPr>
            <p:ph type="title"/>
          </p:nvPr>
        </p:nvSpPr>
        <p:spPr/>
        <p:txBody>
          <a:bodyPr/>
          <a:lstStyle/>
          <a:p>
            <a:r>
              <a:rPr lang="en-GB" dirty="0"/>
              <a:t>The Performance Equation</a:t>
            </a:r>
          </a:p>
        </p:txBody>
      </p:sp>
      <p:sp>
        <p:nvSpPr>
          <p:cNvPr id="3" name="TextBox 2">
            <a:extLst>
              <a:ext uri="{FF2B5EF4-FFF2-40B4-BE49-F238E27FC236}">
                <a16:creationId xmlns:a16="http://schemas.microsoft.com/office/drawing/2014/main" id="{3028A12F-9E82-EDBC-59E6-05CB192D25FA}"/>
              </a:ext>
            </a:extLst>
          </p:cNvPr>
          <p:cNvSpPr txBox="1"/>
          <p:nvPr/>
        </p:nvSpPr>
        <p:spPr>
          <a:xfrm>
            <a:off x="2754085" y="3276991"/>
            <a:ext cx="6962612" cy="646331"/>
          </a:xfrm>
          <a:prstGeom prst="rect">
            <a:avLst/>
          </a:prstGeom>
          <a:noFill/>
        </p:spPr>
        <p:txBody>
          <a:bodyPr wrap="none" rtlCol="0">
            <a:spAutoFit/>
          </a:bodyPr>
          <a:lstStyle/>
          <a:p>
            <a:r>
              <a:rPr lang="en-GB" sz="3600" dirty="0"/>
              <a:t>Performance = Motivation X Ability</a:t>
            </a:r>
          </a:p>
        </p:txBody>
      </p:sp>
    </p:spTree>
    <p:extLst>
      <p:ext uri="{BB962C8B-B14F-4D97-AF65-F5344CB8AC3E}">
        <p14:creationId xmlns:p14="http://schemas.microsoft.com/office/powerpoint/2010/main" val="423140998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C261F3-4684-606C-04C5-280B61B90542}"/>
              </a:ext>
            </a:extLst>
          </p:cNvPr>
          <p:cNvSpPr>
            <a:spLocks noGrp="1"/>
          </p:cNvSpPr>
          <p:nvPr>
            <p:ph type="title"/>
          </p:nvPr>
        </p:nvSpPr>
        <p:spPr/>
        <p:txBody>
          <a:bodyPr/>
          <a:lstStyle/>
          <a:p>
            <a:r>
              <a:rPr lang="en-GB" dirty="0"/>
              <a:t>The 1% Strategy – Marginal Gains</a:t>
            </a:r>
          </a:p>
        </p:txBody>
      </p:sp>
      <p:sp>
        <p:nvSpPr>
          <p:cNvPr id="4" name="TextBox 3">
            <a:extLst>
              <a:ext uri="{FF2B5EF4-FFF2-40B4-BE49-F238E27FC236}">
                <a16:creationId xmlns:a16="http://schemas.microsoft.com/office/drawing/2014/main" id="{03E57424-3AD1-84AC-50A4-78167C4C23F6}"/>
              </a:ext>
            </a:extLst>
          </p:cNvPr>
          <p:cNvSpPr txBox="1"/>
          <p:nvPr/>
        </p:nvSpPr>
        <p:spPr>
          <a:xfrm>
            <a:off x="3048000" y="6308209"/>
            <a:ext cx="6096000" cy="369332"/>
          </a:xfrm>
          <a:prstGeom prst="rect">
            <a:avLst/>
          </a:prstGeom>
          <a:noFill/>
        </p:spPr>
        <p:txBody>
          <a:bodyPr wrap="square">
            <a:spAutoFit/>
          </a:bodyPr>
          <a:lstStyle/>
          <a:p>
            <a:r>
              <a:rPr lang="en-GB" dirty="0"/>
              <a:t>https://www.youtube.com/watch?v=DWSuHPQId4c</a:t>
            </a:r>
          </a:p>
        </p:txBody>
      </p:sp>
      <p:pic>
        <p:nvPicPr>
          <p:cNvPr id="6" name="Picture 5">
            <a:extLst>
              <a:ext uri="{FF2B5EF4-FFF2-40B4-BE49-F238E27FC236}">
                <a16:creationId xmlns:a16="http://schemas.microsoft.com/office/drawing/2014/main" id="{481D53F8-1683-8D0B-3D3A-8C41028CB349}"/>
              </a:ext>
            </a:extLst>
          </p:cNvPr>
          <p:cNvPicPr>
            <a:picLocks noChangeAspect="1"/>
          </p:cNvPicPr>
          <p:nvPr/>
        </p:nvPicPr>
        <p:blipFill>
          <a:blip r:embed="rId2"/>
          <a:stretch>
            <a:fillRect/>
          </a:stretch>
        </p:blipFill>
        <p:spPr>
          <a:xfrm>
            <a:off x="1321934" y="1461551"/>
            <a:ext cx="9548132" cy="4651458"/>
          </a:xfrm>
          <a:prstGeom prst="rect">
            <a:avLst/>
          </a:prstGeom>
        </p:spPr>
      </p:pic>
    </p:spTree>
    <p:extLst>
      <p:ext uri="{BB962C8B-B14F-4D97-AF65-F5344CB8AC3E}">
        <p14:creationId xmlns:p14="http://schemas.microsoft.com/office/powerpoint/2010/main" val="143312180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113564-6436-D498-FF7B-321732FDB622}"/>
              </a:ext>
            </a:extLst>
          </p:cNvPr>
          <p:cNvSpPr>
            <a:spLocks noGrp="1"/>
          </p:cNvSpPr>
          <p:nvPr>
            <p:ph type="title"/>
          </p:nvPr>
        </p:nvSpPr>
        <p:spPr/>
        <p:txBody>
          <a:bodyPr/>
          <a:lstStyle/>
          <a:p>
            <a:r>
              <a:rPr lang="en-GB" dirty="0"/>
              <a:t>The Grow Model </a:t>
            </a:r>
          </a:p>
        </p:txBody>
      </p:sp>
      <p:graphicFrame>
        <p:nvGraphicFramePr>
          <p:cNvPr id="3" name="Diagram 2">
            <a:extLst>
              <a:ext uri="{FF2B5EF4-FFF2-40B4-BE49-F238E27FC236}">
                <a16:creationId xmlns:a16="http://schemas.microsoft.com/office/drawing/2014/main" id="{591601AF-A13F-E991-7CCE-A5129243F774}"/>
              </a:ext>
            </a:extLst>
          </p:cNvPr>
          <p:cNvGraphicFramePr/>
          <p:nvPr>
            <p:extLst>
              <p:ext uri="{D42A27DB-BD31-4B8C-83A1-F6EECF244321}">
                <p14:modId xmlns:p14="http://schemas.microsoft.com/office/powerpoint/2010/main" val="155983506"/>
              </p:ext>
            </p:extLst>
          </p:nvPr>
        </p:nvGraphicFramePr>
        <p:xfrm>
          <a:off x="2032000" y="719666"/>
          <a:ext cx="8128000" cy="541866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9323998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799856" y="274638"/>
            <a:ext cx="5410944" cy="1143000"/>
          </a:xfrm>
        </p:spPr>
        <p:txBody>
          <a:bodyPr/>
          <a:lstStyle/>
          <a:p>
            <a:r>
              <a:rPr lang="en-GB" dirty="0"/>
              <a:t>Productivity</a:t>
            </a:r>
          </a:p>
        </p:txBody>
      </p:sp>
      <p:sp>
        <p:nvSpPr>
          <p:cNvPr id="3" name="Rectangle 2"/>
          <p:cNvSpPr/>
          <p:nvPr/>
        </p:nvSpPr>
        <p:spPr>
          <a:xfrm>
            <a:off x="552761" y="2655850"/>
            <a:ext cx="10945506" cy="2985433"/>
          </a:xfrm>
          <a:prstGeom prst="rect">
            <a:avLst/>
          </a:prstGeom>
        </p:spPr>
        <p:txBody>
          <a:bodyPr wrap="square">
            <a:spAutoFit/>
          </a:bodyPr>
          <a:lstStyle/>
          <a:p>
            <a:r>
              <a:rPr lang="en-GB" sz="2800" dirty="0"/>
              <a:t>[Productivity] “must in every nation be regulated by two different circumstances; first by the skill, dexterity, and judgment with which its labour is generally applied; and, secondly, by the proportion between the number of those who are employed in useful labour, and that of those who are not so employed...”</a:t>
            </a:r>
          </a:p>
          <a:p>
            <a:endParaRPr lang="en-GB" sz="2800" dirty="0"/>
          </a:p>
          <a:p>
            <a:r>
              <a:rPr lang="en-GB" sz="2000" dirty="0"/>
              <a:t>Adam Smith ‘</a:t>
            </a:r>
            <a:r>
              <a:rPr lang="en-GB" sz="2000" i="1" dirty="0"/>
              <a:t>An Inquiry into the Nature and Causes of the Wealth of Nations’ </a:t>
            </a:r>
            <a:r>
              <a:rPr lang="en-GB" sz="2000" dirty="0"/>
              <a:t>(1776/1904: I.I.I–I.I.3) </a:t>
            </a:r>
          </a:p>
        </p:txBody>
      </p:sp>
      <p:pic>
        <p:nvPicPr>
          <p:cNvPr id="22530" name="Picture 2" descr="https://wiki.uchicago.edu/download/attachments/54231678/adam+smith.jpg?version=1&amp;modificationDate=128624591200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2465" y="126328"/>
            <a:ext cx="1815345" cy="221383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0090618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Productivity</a:t>
            </a:r>
          </a:p>
        </p:txBody>
      </p:sp>
      <p:sp>
        <p:nvSpPr>
          <p:cNvPr id="3" name="Rectangle 2"/>
          <p:cNvSpPr/>
          <p:nvPr/>
        </p:nvSpPr>
        <p:spPr>
          <a:xfrm>
            <a:off x="378372" y="2745172"/>
            <a:ext cx="11113565" cy="1938992"/>
          </a:xfrm>
          <a:prstGeom prst="rect">
            <a:avLst/>
          </a:prstGeom>
        </p:spPr>
        <p:txBody>
          <a:bodyPr wrap="square">
            <a:spAutoFit/>
          </a:bodyPr>
          <a:lstStyle/>
          <a:p>
            <a:r>
              <a:rPr lang="en-GB" sz="2400" dirty="0"/>
              <a:t>UK Commission for Employment and Skills (2010: 3) stated:</a:t>
            </a:r>
          </a:p>
          <a:p>
            <a:endParaRPr lang="en-GB" sz="2400" dirty="0"/>
          </a:p>
          <a:p>
            <a:r>
              <a:rPr lang="en-GB" sz="2400" dirty="0"/>
              <a:t>“Prosperity ultimately depends on (</a:t>
            </a:r>
            <a:r>
              <a:rPr lang="en-GB" sz="2400" dirty="0" err="1"/>
              <a:t>i</a:t>
            </a:r>
            <a:r>
              <a:rPr lang="en-GB" sz="2400" dirty="0"/>
              <a:t>) the number of people in work (itself a function of the ‘employment rate’ and the number of people in the potential workforce); and (ii) the value that they produce when in work – the ‘productivity rate’.”</a:t>
            </a:r>
          </a:p>
        </p:txBody>
      </p:sp>
      <p:sp>
        <p:nvSpPr>
          <p:cNvPr id="4" name="TextBox 3">
            <a:extLst>
              <a:ext uri="{FF2B5EF4-FFF2-40B4-BE49-F238E27FC236}">
                <a16:creationId xmlns:a16="http://schemas.microsoft.com/office/drawing/2014/main" id="{C7A04008-F3A2-43BE-E5D5-388CDD43F5FD}"/>
              </a:ext>
            </a:extLst>
          </p:cNvPr>
          <p:cNvSpPr txBox="1"/>
          <p:nvPr/>
        </p:nvSpPr>
        <p:spPr>
          <a:xfrm>
            <a:off x="378372" y="5738648"/>
            <a:ext cx="10975429" cy="646331"/>
          </a:xfrm>
          <a:prstGeom prst="rect">
            <a:avLst/>
          </a:prstGeom>
          <a:noFill/>
        </p:spPr>
        <p:txBody>
          <a:bodyPr wrap="square" rtlCol="0">
            <a:spAutoFit/>
          </a:bodyPr>
          <a:lstStyle/>
          <a:p>
            <a:r>
              <a:rPr lang="en-GB" dirty="0"/>
              <a:t>UK Commission for Employment and Skills (2010) The 2010 Report: Ambition 2020: World Class Skills and Jobs for the UK, Wath-upon-Dearne: UKCES.</a:t>
            </a:r>
          </a:p>
        </p:txBody>
      </p:sp>
    </p:spTree>
    <p:extLst>
      <p:ext uri="{BB962C8B-B14F-4D97-AF65-F5344CB8AC3E}">
        <p14:creationId xmlns:p14="http://schemas.microsoft.com/office/powerpoint/2010/main" val="380726445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itle 1"/>
          <p:cNvSpPr>
            <a:spLocks noGrp="1"/>
          </p:cNvSpPr>
          <p:nvPr>
            <p:ph type="title"/>
          </p:nvPr>
        </p:nvSpPr>
        <p:spPr/>
        <p:txBody>
          <a:bodyPr/>
          <a:lstStyle/>
          <a:p>
            <a:r>
              <a:rPr lang="en-GB" altLang="en-US" dirty="0"/>
              <a:t>Productivity</a:t>
            </a:r>
          </a:p>
        </p:txBody>
      </p:sp>
      <p:pic>
        <p:nvPicPr>
          <p:cNvPr id="5124" name="Picture 3"/>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8596662" y="462245"/>
            <a:ext cx="2256395" cy="21484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extBox 1"/>
          <p:cNvSpPr txBox="1"/>
          <p:nvPr/>
        </p:nvSpPr>
        <p:spPr>
          <a:xfrm>
            <a:off x="704193" y="3447540"/>
            <a:ext cx="11098923" cy="2000548"/>
          </a:xfrm>
          <a:prstGeom prst="rect">
            <a:avLst/>
          </a:prstGeom>
          <a:noFill/>
        </p:spPr>
        <p:txBody>
          <a:bodyPr wrap="square" rtlCol="0">
            <a:spAutoFit/>
          </a:bodyPr>
          <a:lstStyle/>
          <a:p>
            <a:pPr marL="0" lvl="1">
              <a:spcBef>
                <a:spcPct val="0"/>
              </a:spcBef>
            </a:pPr>
            <a:r>
              <a:rPr lang="en-GB" altLang="en-US" sz="2800" dirty="0">
                <a:solidFill>
                  <a:srgbClr val="000000"/>
                </a:solidFill>
                <a:latin typeface="Calibri" panose="020F0502020204030204" pitchFamily="34" charset="0"/>
              </a:rPr>
              <a:t>“Productivity isn’t everything, but in the long run it is almost everything. A country’s ability to improve its standard of living over time depends almost entirely on its ability to raise its output per worker.” </a:t>
            </a:r>
          </a:p>
          <a:p>
            <a:pPr marL="0" lvl="1">
              <a:spcBef>
                <a:spcPct val="0"/>
              </a:spcBef>
            </a:pPr>
            <a:endParaRPr lang="en-GB" altLang="en-US" sz="2400" dirty="0">
              <a:solidFill>
                <a:srgbClr val="000000"/>
              </a:solidFill>
              <a:latin typeface="Calibri" panose="020F0502020204030204" pitchFamily="34" charset="0"/>
            </a:endParaRPr>
          </a:p>
          <a:p>
            <a:pPr>
              <a:spcBef>
                <a:spcPct val="0"/>
              </a:spcBef>
            </a:pPr>
            <a:r>
              <a:rPr lang="en-GB" sz="1600" dirty="0"/>
              <a:t>Krugman, P. (1999: 11). The Age of Diminishing Expectations. </a:t>
            </a:r>
            <a:r>
              <a:rPr lang="en-GB" sz="1600" i="1" dirty="0"/>
              <a:t>Washington, DC,</a:t>
            </a:r>
            <a:r>
              <a:rPr lang="en-GB" sz="1600" dirty="0"/>
              <a:t> </a:t>
            </a:r>
            <a:r>
              <a:rPr lang="en-GB" sz="1600" i="1" dirty="0"/>
              <a:t>Washington Post Company. </a:t>
            </a:r>
            <a:endParaRPr lang="en-GB" sz="1600" dirty="0"/>
          </a:p>
        </p:txBody>
      </p:sp>
    </p:spTree>
    <p:extLst>
      <p:ext uri="{BB962C8B-B14F-4D97-AF65-F5344CB8AC3E}">
        <p14:creationId xmlns:p14="http://schemas.microsoft.com/office/powerpoint/2010/main" val="177084221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38F622-09FE-8345-A0FF-EE0B80183B91}"/>
              </a:ext>
            </a:extLst>
          </p:cNvPr>
          <p:cNvSpPr>
            <a:spLocks noGrp="1"/>
          </p:cNvSpPr>
          <p:nvPr>
            <p:ph type="title"/>
          </p:nvPr>
        </p:nvSpPr>
        <p:spPr>
          <a:xfrm>
            <a:off x="3831770" y="365126"/>
            <a:ext cx="7522029" cy="647246"/>
          </a:xfrm>
        </p:spPr>
        <p:txBody>
          <a:bodyPr>
            <a:normAutofit fontScale="90000"/>
          </a:bodyPr>
          <a:lstStyle/>
          <a:p>
            <a:r>
              <a:rPr lang="en-GB" dirty="0"/>
              <a:t>Gross Domestic Product</a:t>
            </a:r>
          </a:p>
        </p:txBody>
      </p:sp>
      <p:sp>
        <p:nvSpPr>
          <p:cNvPr id="3" name="TextBox 2">
            <a:extLst>
              <a:ext uri="{FF2B5EF4-FFF2-40B4-BE49-F238E27FC236}">
                <a16:creationId xmlns:a16="http://schemas.microsoft.com/office/drawing/2014/main" id="{16F0C8F2-58F2-6D54-AA1C-5CE6939FA368}"/>
              </a:ext>
            </a:extLst>
          </p:cNvPr>
          <p:cNvSpPr txBox="1"/>
          <p:nvPr/>
        </p:nvSpPr>
        <p:spPr>
          <a:xfrm>
            <a:off x="609598" y="4754940"/>
            <a:ext cx="11386459" cy="1569660"/>
          </a:xfrm>
          <a:prstGeom prst="rect">
            <a:avLst/>
          </a:prstGeom>
          <a:noFill/>
        </p:spPr>
        <p:txBody>
          <a:bodyPr wrap="square" rtlCol="0">
            <a:spAutoFit/>
          </a:bodyPr>
          <a:lstStyle/>
          <a:p>
            <a:r>
              <a:rPr lang="en-GB" sz="2400" dirty="0"/>
              <a:t>“Gross Domestic Product (GDP) is the most commonly used single measure of a country’s overall economic activity. It represents the total value at constant prices of final goods and services produced within a country during a specified time period, such as one year. (World Economic Outlook, 2006, International Monetary Fund).”</a:t>
            </a:r>
          </a:p>
        </p:txBody>
      </p:sp>
      <p:sp>
        <p:nvSpPr>
          <p:cNvPr id="5" name="TextBox 4">
            <a:extLst>
              <a:ext uri="{FF2B5EF4-FFF2-40B4-BE49-F238E27FC236}">
                <a16:creationId xmlns:a16="http://schemas.microsoft.com/office/drawing/2014/main" id="{A2FD3EA2-E491-673B-29B1-BB86C4296B65}"/>
              </a:ext>
            </a:extLst>
          </p:cNvPr>
          <p:cNvSpPr txBox="1"/>
          <p:nvPr/>
        </p:nvSpPr>
        <p:spPr>
          <a:xfrm>
            <a:off x="1948541" y="6324600"/>
            <a:ext cx="10842171" cy="369332"/>
          </a:xfrm>
          <a:prstGeom prst="rect">
            <a:avLst/>
          </a:prstGeom>
          <a:noFill/>
        </p:spPr>
        <p:txBody>
          <a:bodyPr wrap="square">
            <a:spAutoFit/>
          </a:bodyPr>
          <a:lstStyle/>
          <a:p>
            <a:r>
              <a:rPr lang="en-GB" dirty="0"/>
              <a:t>https://www.imf.org/external/datamapper/NGDP_RPCH@WEO/OEMDC/ADVEC/WEOWORLD</a:t>
            </a:r>
          </a:p>
        </p:txBody>
      </p:sp>
      <p:pic>
        <p:nvPicPr>
          <p:cNvPr id="7" name="Picture 6">
            <a:extLst>
              <a:ext uri="{FF2B5EF4-FFF2-40B4-BE49-F238E27FC236}">
                <a16:creationId xmlns:a16="http://schemas.microsoft.com/office/drawing/2014/main" id="{DAF1A471-6062-BD79-E9A6-81508E647575}"/>
              </a:ext>
            </a:extLst>
          </p:cNvPr>
          <p:cNvPicPr>
            <a:picLocks noChangeAspect="1"/>
          </p:cNvPicPr>
          <p:nvPr/>
        </p:nvPicPr>
        <p:blipFill>
          <a:blip r:embed="rId2"/>
          <a:stretch>
            <a:fillRect/>
          </a:stretch>
        </p:blipFill>
        <p:spPr>
          <a:xfrm>
            <a:off x="1948541" y="968828"/>
            <a:ext cx="8882743" cy="3802227"/>
          </a:xfrm>
          <a:prstGeom prst="rect">
            <a:avLst/>
          </a:prstGeom>
        </p:spPr>
      </p:pic>
    </p:spTree>
    <p:extLst>
      <p:ext uri="{BB962C8B-B14F-4D97-AF65-F5344CB8AC3E}">
        <p14:creationId xmlns:p14="http://schemas.microsoft.com/office/powerpoint/2010/main" val="48706297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0767EC-2ECB-58FF-886E-98FDEE5F822D}"/>
              </a:ext>
            </a:extLst>
          </p:cNvPr>
          <p:cNvSpPr>
            <a:spLocks noGrp="1"/>
          </p:cNvSpPr>
          <p:nvPr>
            <p:ph type="title"/>
          </p:nvPr>
        </p:nvSpPr>
        <p:spPr/>
        <p:txBody>
          <a:bodyPr/>
          <a:lstStyle/>
          <a:p>
            <a:r>
              <a:rPr lang="en-GB" dirty="0"/>
              <a:t>US Declaration of Independence - 1776</a:t>
            </a:r>
          </a:p>
        </p:txBody>
      </p:sp>
      <p:sp>
        <p:nvSpPr>
          <p:cNvPr id="4" name="TextBox 3">
            <a:extLst>
              <a:ext uri="{FF2B5EF4-FFF2-40B4-BE49-F238E27FC236}">
                <a16:creationId xmlns:a16="http://schemas.microsoft.com/office/drawing/2014/main" id="{BA7D6E35-237E-C1F6-687A-070D419FBEAB}"/>
              </a:ext>
            </a:extLst>
          </p:cNvPr>
          <p:cNvSpPr txBox="1"/>
          <p:nvPr/>
        </p:nvSpPr>
        <p:spPr>
          <a:xfrm>
            <a:off x="555171" y="2828836"/>
            <a:ext cx="10798629" cy="2246769"/>
          </a:xfrm>
          <a:prstGeom prst="rect">
            <a:avLst/>
          </a:prstGeom>
          <a:noFill/>
        </p:spPr>
        <p:txBody>
          <a:bodyPr wrap="square">
            <a:spAutoFit/>
          </a:bodyPr>
          <a:lstStyle/>
          <a:p>
            <a:r>
              <a:rPr lang="en-GB" sz="2800" dirty="0"/>
              <a:t>“We hold these truths to be self-evident, that all men are created equal, that they are endowed by their Creator with certain unalienable Rights, that among these are Life, Liberty and </a:t>
            </a:r>
            <a:r>
              <a:rPr lang="en-GB" sz="2800" dirty="0">
                <a:highlight>
                  <a:srgbClr val="FFFF00"/>
                </a:highlight>
              </a:rPr>
              <a:t>the pursuit of Happiness</a:t>
            </a:r>
            <a:r>
              <a:rPr lang="en-GB" sz="2800" dirty="0"/>
              <a:t>.”</a:t>
            </a:r>
          </a:p>
          <a:p>
            <a:r>
              <a:rPr lang="en-GB" sz="2800" dirty="0"/>
              <a:t>					</a:t>
            </a:r>
            <a:r>
              <a:rPr lang="en-GB" sz="2400" dirty="0"/>
              <a:t>Thomas Jefferson &amp; Committee of Five</a:t>
            </a:r>
          </a:p>
        </p:txBody>
      </p:sp>
    </p:spTree>
    <p:extLst>
      <p:ext uri="{BB962C8B-B14F-4D97-AF65-F5344CB8AC3E}">
        <p14:creationId xmlns:p14="http://schemas.microsoft.com/office/powerpoint/2010/main" val="77819209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EEB093-DD03-7E7E-D0CB-79CC532E3233}"/>
              </a:ext>
            </a:extLst>
          </p:cNvPr>
          <p:cNvSpPr>
            <a:spLocks noGrp="1"/>
          </p:cNvSpPr>
          <p:nvPr>
            <p:ph type="title"/>
          </p:nvPr>
        </p:nvSpPr>
        <p:spPr>
          <a:xfrm>
            <a:off x="206836" y="801121"/>
            <a:ext cx="4310743" cy="1325563"/>
          </a:xfrm>
        </p:spPr>
        <p:txBody>
          <a:bodyPr/>
          <a:lstStyle/>
          <a:p>
            <a:r>
              <a:rPr lang="en-GB" dirty="0"/>
              <a:t>OECD: Wellbeing and Beyond GDP</a:t>
            </a:r>
          </a:p>
        </p:txBody>
      </p:sp>
      <p:pic>
        <p:nvPicPr>
          <p:cNvPr id="4" name="Picture 3">
            <a:extLst>
              <a:ext uri="{FF2B5EF4-FFF2-40B4-BE49-F238E27FC236}">
                <a16:creationId xmlns:a16="http://schemas.microsoft.com/office/drawing/2014/main" id="{B588EE57-C38A-607B-2F04-7C1045DF23DF}"/>
              </a:ext>
            </a:extLst>
          </p:cNvPr>
          <p:cNvPicPr>
            <a:picLocks noChangeAspect="1"/>
          </p:cNvPicPr>
          <p:nvPr/>
        </p:nvPicPr>
        <p:blipFill>
          <a:blip r:embed="rId2"/>
          <a:stretch>
            <a:fillRect/>
          </a:stretch>
        </p:blipFill>
        <p:spPr>
          <a:xfrm>
            <a:off x="4659093" y="365125"/>
            <a:ext cx="7457120" cy="5931240"/>
          </a:xfrm>
          <a:prstGeom prst="rect">
            <a:avLst/>
          </a:prstGeom>
        </p:spPr>
      </p:pic>
      <p:sp>
        <p:nvSpPr>
          <p:cNvPr id="6" name="TextBox 5">
            <a:extLst>
              <a:ext uri="{FF2B5EF4-FFF2-40B4-BE49-F238E27FC236}">
                <a16:creationId xmlns:a16="http://schemas.microsoft.com/office/drawing/2014/main" id="{6BBE7980-CC05-C1F7-D401-199EB87D8D6A}"/>
              </a:ext>
            </a:extLst>
          </p:cNvPr>
          <p:cNvSpPr txBox="1"/>
          <p:nvPr/>
        </p:nvSpPr>
        <p:spPr>
          <a:xfrm>
            <a:off x="478971" y="6296365"/>
            <a:ext cx="10994571" cy="369332"/>
          </a:xfrm>
          <a:prstGeom prst="rect">
            <a:avLst/>
          </a:prstGeom>
          <a:noFill/>
        </p:spPr>
        <p:txBody>
          <a:bodyPr wrap="square">
            <a:spAutoFit/>
          </a:bodyPr>
          <a:lstStyle/>
          <a:p>
            <a:r>
              <a:rPr lang="en-GB" dirty="0"/>
              <a:t>https://www.oecd.org/en/topics/policy-issues/well-being-and-beyond-gdp.html#well-being-framework</a:t>
            </a:r>
          </a:p>
        </p:txBody>
      </p:sp>
      <p:sp>
        <p:nvSpPr>
          <p:cNvPr id="7" name="TextBox 6">
            <a:extLst>
              <a:ext uri="{FF2B5EF4-FFF2-40B4-BE49-F238E27FC236}">
                <a16:creationId xmlns:a16="http://schemas.microsoft.com/office/drawing/2014/main" id="{64C35761-19D2-1B6F-A115-2AA820768388}"/>
              </a:ext>
            </a:extLst>
          </p:cNvPr>
          <p:cNvSpPr txBox="1"/>
          <p:nvPr/>
        </p:nvSpPr>
        <p:spPr>
          <a:xfrm>
            <a:off x="272146" y="3004174"/>
            <a:ext cx="4180122" cy="1569660"/>
          </a:xfrm>
          <a:prstGeom prst="rect">
            <a:avLst/>
          </a:prstGeom>
          <a:noFill/>
        </p:spPr>
        <p:txBody>
          <a:bodyPr wrap="square" rtlCol="0">
            <a:spAutoFit/>
          </a:bodyPr>
          <a:lstStyle/>
          <a:p>
            <a:r>
              <a:rPr lang="en-GB" sz="2400" dirty="0"/>
              <a:t>“An economy that helps to improve the well-being of all people, future generations, and the planet.”</a:t>
            </a:r>
          </a:p>
        </p:txBody>
      </p:sp>
    </p:spTree>
    <p:extLst>
      <p:ext uri="{BB962C8B-B14F-4D97-AF65-F5344CB8AC3E}">
        <p14:creationId xmlns:p14="http://schemas.microsoft.com/office/powerpoint/2010/main" val="171401561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48C16B-3DAA-CDB9-45D9-D048A4A58807}"/>
              </a:ext>
            </a:extLst>
          </p:cNvPr>
          <p:cNvSpPr>
            <a:spLocks noGrp="1"/>
          </p:cNvSpPr>
          <p:nvPr>
            <p:ph type="title"/>
          </p:nvPr>
        </p:nvSpPr>
        <p:spPr>
          <a:xfrm>
            <a:off x="205154" y="365125"/>
            <a:ext cx="5222240" cy="1325563"/>
          </a:xfrm>
        </p:spPr>
        <p:txBody>
          <a:bodyPr/>
          <a:lstStyle/>
          <a:p>
            <a:r>
              <a:rPr lang="en-GB" dirty="0"/>
              <a:t>UK Happiness Levels</a:t>
            </a:r>
          </a:p>
        </p:txBody>
      </p:sp>
      <p:pic>
        <p:nvPicPr>
          <p:cNvPr id="4" name="Picture 3">
            <a:extLst>
              <a:ext uri="{FF2B5EF4-FFF2-40B4-BE49-F238E27FC236}">
                <a16:creationId xmlns:a16="http://schemas.microsoft.com/office/drawing/2014/main" id="{7FD7A46A-C35A-432A-C3ED-E9B8E92C1073}"/>
              </a:ext>
            </a:extLst>
          </p:cNvPr>
          <p:cNvPicPr>
            <a:picLocks noChangeAspect="1"/>
          </p:cNvPicPr>
          <p:nvPr/>
        </p:nvPicPr>
        <p:blipFill>
          <a:blip r:embed="rId2"/>
          <a:stretch>
            <a:fillRect/>
          </a:stretch>
        </p:blipFill>
        <p:spPr>
          <a:xfrm>
            <a:off x="5427394" y="625475"/>
            <a:ext cx="6559452" cy="5867400"/>
          </a:xfrm>
          <a:prstGeom prst="rect">
            <a:avLst/>
          </a:prstGeom>
        </p:spPr>
      </p:pic>
      <p:sp>
        <p:nvSpPr>
          <p:cNvPr id="6" name="TextBox 5">
            <a:extLst>
              <a:ext uri="{FF2B5EF4-FFF2-40B4-BE49-F238E27FC236}">
                <a16:creationId xmlns:a16="http://schemas.microsoft.com/office/drawing/2014/main" id="{506D5693-F875-ADEC-F57C-2C22A8F31054}"/>
              </a:ext>
            </a:extLst>
          </p:cNvPr>
          <p:cNvSpPr txBox="1"/>
          <p:nvPr/>
        </p:nvSpPr>
        <p:spPr>
          <a:xfrm>
            <a:off x="446315" y="5846544"/>
            <a:ext cx="4452257" cy="646331"/>
          </a:xfrm>
          <a:prstGeom prst="rect">
            <a:avLst/>
          </a:prstGeom>
          <a:noFill/>
        </p:spPr>
        <p:txBody>
          <a:bodyPr wrap="square">
            <a:spAutoFit/>
          </a:bodyPr>
          <a:lstStyle/>
          <a:p>
            <a:r>
              <a:rPr lang="en-GB" dirty="0"/>
              <a:t>https://www.ons.gov.uk/explore-local-statistics/indicators/wellbeing-happiness</a:t>
            </a:r>
          </a:p>
        </p:txBody>
      </p:sp>
    </p:spTree>
    <p:extLst>
      <p:ext uri="{BB962C8B-B14F-4D97-AF65-F5344CB8AC3E}">
        <p14:creationId xmlns:p14="http://schemas.microsoft.com/office/powerpoint/2010/main" val="59462612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A63061-2219-0EC1-1806-EA0F8924EC24}"/>
              </a:ext>
            </a:extLst>
          </p:cNvPr>
          <p:cNvSpPr>
            <a:spLocks noGrp="1"/>
          </p:cNvSpPr>
          <p:nvPr>
            <p:ph type="title"/>
          </p:nvPr>
        </p:nvSpPr>
        <p:spPr>
          <a:xfrm>
            <a:off x="195943" y="419554"/>
            <a:ext cx="5747657" cy="1325563"/>
          </a:xfrm>
        </p:spPr>
        <p:txBody>
          <a:bodyPr/>
          <a:lstStyle/>
          <a:p>
            <a:r>
              <a:rPr lang="en-GB" dirty="0"/>
              <a:t>World Happiness Report</a:t>
            </a:r>
          </a:p>
        </p:txBody>
      </p:sp>
      <p:pic>
        <p:nvPicPr>
          <p:cNvPr id="4" name="Picture 3">
            <a:extLst>
              <a:ext uri="{FF2B5EF4-FFF2-40B4-BE49-F238E27FC236}">
                <a16:creationId xmlns:a16="http://schemas.microsoft.com/office/drawing/2014/main" id="{BB3871BC-210B-3F64-A701-48391F3074F0}"/>
              </a:ext>
            </a:extLst>
          </p:cNvPr>
          <p:cNvPicPr>
            <a:picLocks noChangeAspect="1"/>
          </p:cNvPicPr>
          <p:nvPr/>
        </p:nvPicPr>
        <p:blipFill>
          <a:blip r:embed="rId2"/>
          <a:stretch>
            <a:fillRect/>
          </a:stretch>
        </p:blipFill>
        <p:spPr>
          <a:xfrm>
            <a:off x="6747452" y="0"/>
            <a:ext cx="5402721" cy="6858000"/>
          </a:xfrm>
          <a:prstGeom prst="rect">
            <a:avLst/>
          </a:prstGeom>
        </p:spPr>
      </p:pic>
      <p:sp>
        <p:nvSpPr>
          <p:cNvPr id="6" name="TextBox 5">
            <a:extLst>
              <a:ext uri="{FF2B5EF4-FFF2-40B4-BE49-F238E27FC236}">
                <a16:creationId xmlns:a16="http://schemas.microsoft.com/office/drawing/2014/main" id="{7D20D71C-0AF5-6AAB-B0D5-E9863EBA9E3A}"/>
              </a:ext>
            </a:extLst>
          </p:cNvPr>
          <p:cNvSpPr txBox="1"/>
          <p:nvPr/>
        </p:nvSpPr>
        <p:spPr>
          <a:xfrm>
            <a:off x="119743" y="6086421"/>
            <a:ext cx="6627709" cy="523220"/>
          </a:xfrm>
          <a:prstGeom prst="rect">
            <a:avLst/>
          </a:prstGeom>
          <a:noFill/>
        </p:spPr>
        <p:txBody>
          <a:bodyPr wrap="square">
            <a:spAutoFit/>
          </a:bodyPr>
          <a:lstStyle/>
          <a:p>
            <a:pPr algn="l"/>
            <a:r>
              <a:rPr lang="en-GB" sz="1400" b="0" i="0" u="none" strike="noStrike" baseline="0" dirty="0">
                <a:latin typeface="Gotham-Book"/>
              </a:rPr>
              <a:t>Helliwell, J. F., Layard, R., Sachs, J. D., </a:t>
            </a:r>
            <a:r>
              <a:rPr lang="nl-NL" sz="1400" b="0" i="0" u="none" strike="noStrike" baseline="0" dirty="0">
                <a:latin typeface="Gotham-Book"/>
              </a:rPr>
              <a:t>De Neve, J.-E., Aknin, L. B., &amp; Wang, S. (Eds.). (2026). </a:t>
            </a:r>
            <a:r>
              <a:rPr lang="en-GB" sz="1400" b="0" i="1" u="none" strike="noStrike" baseline="0" dirty="0">
                <a:latin typeface="Gotham-BookItalic"/>
              </a:rPr>
              <a:t>World Happiness Report 2026. </a:t>
            </a:r>
            <a:r>
              <a:rPr lang="en-GB" sz="1400" b="0" i="0" u="none" strike="noStrike" baseline="0" dirty="0">
                <a:latin typeface="Gotham-Book"/>
              </a:rPr>
              <a:t>University of Oxford: Wellbeing Research Centre.</a:t>
            </a:r>
            <a:endParaRPr lang="en-GB" sz="1400" dirty="0"/>
          </a:p>
        </p:txBody>
      </p:sp>
    </p:spTree>
    <p:extLst>
      <p:ext uri="{BB962C8B-B14F-4D97-AF65-F5344CB8AC3E}">
        <p14:creationId xmlns:p14="http://schemas.microsoft.com/office/powerpoint/2010/main" val="227646997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6690DB-6A43-9C13-C6E0-D436C38E2105}"/>
              </a:ext>
            </a:extLst>
          </p:cNvPr>
          <p:cNvSpPr>
            <a:spLocks noGrp="1"/>
          </p:cNvSpPr>
          <p:nvPr>
            <p:ph type="title"/>
          </p:nvPr>
        </p:nvSpPr>
        <p:spPr>
          <a:xfrm>
            <a:off x="3004457" y="365126"/>
            <a:ext cx="6509658" cy="875846"/>
          </a:xfrm>
        </p:spPr>
        <p:txBody>
          <a:bodyPr/>
          <a:lstStyle/>
          <a:p>
            <a:r>
              <a:rPr lang="en-GB" dirty="0"/>
              <a:t>National Well-being Policies</a:t>
            </a:r>
          </a:p>
        </p:txBody>
      </p:sp>
      <p:pic>
        <p:nvPicPr>
          <p:cNvPr id="6" name="Picture 5">
            <a:extLst>
              <a:ext uri="{FF2B5EF4-FFF2-40B4-BE49-F238E27FC236}">
                <a16:creationId xmlns:a16="http://schemas.microsoft.com/office/drawing/2014/main" id="{B7EB0751-185A-2982-6E64-0CD6A4B67721}"/>
              </a:ext>
            </a:extLst>
          </p:cNvPr>
          <p:cNvPicPr>
            <a:picLocks noChangeAspect="1"/>
          </p:cNvPicPr>
          <p:nvPr/>
        </p:nvPicPr>
        <p:blipFill>
          <a:blip r:embed="rId2"/>
          <a:stretch>
            <a:fillRect/>
          </a:stretch>
        </p:blipFill>
        <p:spPr>
          <a:xfrm>
            <a:off x="1692017" y="1142665"/>
            <a:ext cx="8807966" cy="5067299"/>
          </a:xfrm>
          <a:prstGeom prst="rect">
            <a:avLst/>
          </a:prstGeom>
        </p:spPr>
      </p:pic>
      <p:sp>
        <p:nvSpPr>
          <p:cNvPr id="8" name="TextBox 7">
            <a:extLst>
              <a:ext uri="{FF2B5EF4-FFF2-40B4-BE49-F238E27FC236}">
                <a16:creationId xmlns:a16="http://schemas.microsoft.com/office/drawing/2014/main" id="{8DF3F1F3-B7AB-6708-AFE5-EE1EA8A7B0D4}"/>
              </a:ext>
            </a:extLst>
          </p:cNvPr>
          <p:cNvSpPr txBox="1"/>
          <p:nvPr/>
        </p:nvSpPr>
        <p:spPr>
          <a:xfrm>
            <a:off x="386442" y="6308208"/>
            <a:ext cx="11419116" cy="369332"/>
          </a:xfrm>
          <a:prstGeom prst="rect">
            <a:avLst/>
          </a:prstGeom>
          <a:noFill/>
        </p:spPr>
        <p:txBody>
          <a:bodyPr wrap="square">
            <a:spAutoFit/>
          </a:bodyPr>
          <a:lstStyle/>
          <a:p>
            <a:r>
              <a:rPr lang="en-GB" dirty="0"/>
              <a:t>https://www.oecd.org/en/topics/policy-issues/well-being-and-beyond-gdp.html#well-being-framework</a:t>
            </a:r>
          </a:p>
        </p:txBody>
      </p:sp>
    </p:spTree>
    <p:extLst>
      <p:ext uri="{BB962C8B-B14F-4D97-AF65-F5344CB8AC3E}">
        <p14:creationId xmlns:p14="http://schemas.microsoft.com/office/powerpoint/2010/main" val="55223425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B38E13-CF33-A95E-C3F9-6296E8E50E54}"/>
              </a:ext>
            </a:extLst>
          </p:cNvPr>
          <p:cNvSpPr>
            <a:spLocks noGrp="1"/>
          </p:cNvSpPr>
          <p:nvPr>
            <p:ph type="title"/>
          </p:nvPr>
        </p:nvSpPr>
        <p:spPr>
          <a:xfrm>
            <a:off x="326571" y="365126"/>
            <a:ext cx="11027229" cy="973818"/>
          </a:xfrm>
        </p:spPr>
        <p:txBody>
          <a:bodyPr>
            <a:normAutofit/>
          </a:bodyPr>
          <a:lstStyle/>
          <a:p>
            <a:r>
              <a:rPr lang="en-GB" sz="4000" dirty="0"/>
              <a:t>Bhutan’s Gross Ecosystem Product – Sept. 2026</a:t>
            </a:r>
          </a:p>
        </p:txBody>
      </p:sp>
      <p:pic>
        <p:nvPicPr>
          <p:cNvPr id="4" name="Picture 3">
            <a:extLst>
              <a:ext uri="{FF2B5EF4-FFF2-40B4-BE49-F238E27FC236}">
                <a16:creationId xmlns:a16="http://schemas.microsoft.com/office/drawing/2014/main" id="{43A701C9-CC9A-0340-0D01-7E7C04E1CE72}"/>
              </a:ext>
            </a:extLst>
          </p:cNvPr>
          <p:cNvPicPr>
            <a:picLocks noChangeAspect="1"/>
          </p:cNvPicPr>
          <p:nvPr/>
        </p:nvPicPr>
        <p:blipFill>
          <a:blip r:embed="rId3"/>
          <a:stretch>
            <a:fillRect/>
          </a:stretch>
        </p:blipFill>
        <p:spPr>
          <a:xfrm>
            <a:off x="1730828" y="1320570"/>
            <a:ext cx="8898391" cy="4965715"/>
          </a:xfrm>
          <a:prstGeom prst="rect">
            <a:avLst/>
          </a:prstGeom>
        </p:spPr>
      </p:pic>
      <p:sp>
        <p:nvSpPr>
          <p:cNvPr id="6" name="TextBox 5">
            <a:extLst>
              <a:ext uri="{FF2B5EF4-FFF2-40B4-BE49-F238E27FC236}">
                <a16:creationId xmlns:a16="http://schemas.microsoft.com/office/drawing/2014/main" id="{8BA5C670-114C-C459-992F-52C52C9121FF}"/>
              </a:ext>
            </a:extLst>
          </p:cNvPr>
          <p:cNvSpPr txBox="1"/>
          <p:nvPr/>
        </p:nvSpPr>
        <p:spPr>
          <a:xfrm>
            <a:off x="3309257" y="6405788"/>
            <a:ext cx="6096000" cy="369332"/>
          </a:xfrm>
          <a:prstGeom prst="rect">
            <a:avLst/>
          </a:prstGeom>
          <a:noFill/>
        </p:spPr>
        <p:txBody>
          <a:bodyPr wrap="square">
            <a:spAutoFit/>
          </a:bodyPr>
          <a:lstStyle/>
          <a:p>
            <a:r>
              <a:rPr lang="en-GB" dirty="0"/>
              <a:t>https://www.youtube.com/watch?v=iqJ4qJm6ODQ</a:t>
            </a:r>
          </a:p>
        </p:txBody>
      </p:sp>
    </p:spTree>
    <p:extLst>
      <p:ext uri="{BB962C8B-B14F-4D97-AF65-F5344CB8AC3E}">
        <p14:creationId xmlns:p14="http://schemas.microsoft.com/office/powerpoint/2010/main" val="42428230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20DB5D-216E-03F4-BB5E-4311483ABCEE}"/>
              </a:ext>
            </a:extLst>
          </p:cNvPr>
          <p:cNvSpPr>
            <a:spLocks noGrp="1"/>
          </p:cNvSpPr>
          <p:nvPr>
            <p:ph type="title"/>
          </p:nvPr>
        </p:nvSpPr>
        <p:spPr/>
        <p:txBody>
          <a:bodyPr/>
          <a:lstStyle/>
          <a:p>
            <a:r>
              <a:rPr lang="en-US" dirty="0"/>
              <a:t>Understanding Performance Management</a:t>
            </a:r>
          </a:p>
        </p:txBody>
      </p:sp>
      <p:sp>
        <p:nvSpPr>
          <p:cNvPr id="3" name="Content Placeholder 2">
            <a:extLst>
              <a:ext uri="{FF2B5EF4-FFF2-40B4-BE49-F238E27FC236}">
                <a16:creationId xmlns:a16="http://schemas.microsoft.com/office/drawing/2014/main" id="{F5B55374-9EA5-2A83-4C8A-05653C097D2E}"/>
              </a:ext>
            </a:extLst>
          </p:cNvPr>
          <p:cNvSpPr>
            <a:spLocks noGrp="1"/>
          </p:cNvSpPr>
          <p:nvPr>
            <p:ph idx="1"/>
          </p:nvPr>
        </p:nvSpPr>
        <p:spPr/>
        <p:txBody>
          <a:bodyPr>
            <a:normAutofit/>
          </a:bodyPr>
          <a:lstStyle/>
          <a:p>
            <a:pPr marL="0" indent="0">
              <a:lnSpc>
                <a:spcPct val="150000"/>
              </a:lnSpc>
              <a:buNone/>
            </a:pPr>
            <a:r>
              <a:rPr lang="en-US" dirty="0"/>
              <a:t>Performance management is an </a:t>
            </a:r>
            <a:r>
              <a:rPr lang="en-US" b="1" dirty="0"/>
              <a:t>ongoing process </a:t>
            </a:r>
            <a:r>
              <a:rPr lang="en-US" dirty="0"/>
              <a:t>of aligning individual, team, and organisational objectives to ensure that goals are achieved efficiently and effectively. It involves </a:t>
            </a:r>
            <a:r>
              <a:rPr lang="en-US" b="1" dirty="0"/>
              <a:t>setting targets</a:t>
            </a:r>
            <a:r>
              <a:rPr lang="en-US" dirty="0"/>
              <a:t>, </a:t>
            </a:r>
            <a:r>
              <a:rPr lang="en-US" b="1" dirty="0"/>
              <a:t>monitoring progress</a:t>
            </a:r>
            <a:r>
              <a:rPr lang="en-US" dirty="0"/>
              <a:t>, </a:t>
            </a:r>
            <a:r>
              <a:rPr lang="en-US" b="1" dirty="0"/>
              <a:t>providing feedback</a:t>
            </a:r>
            <a:r>
              <a:rPr lang="en-US" dirty="0"/>
              <a:t>, and </a:t>
            </a:r>
            <a:r>
              <a:rPr lang="en-US" b="1" dirty="0"/>
              <a:t>fostering development</a:t>
            </a:r>
            <a:r>
              <a:rPr lang="en-US" dirty="0"/>
              <a:t> across all levels of the organisation (Armstrong, 2020).</a:t>
            </a:r>
          </a:p>
        </p:txBody>
      </p:sp>
    </p:spTree>
    <p:extLst>
      <p:ext uri="{BB962C8B-B14F-4D97-AF65-F5344CB8AC3E}">
        <p14:creationId xmlns:p14="http://schemas.microsoft.com/office/powerpoint/2010/main" val="383130780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D764E0-E4E3-B3AA-756B-2E60CB685DFA}"/>
              </a:ext>
            </a:extLst>
          </p:cNvPr>
          <p:cNvSpPr>
            <a:spLocks noGrp="1"/>
          </p:cNvSpPr>
          <p:nvPr>
            <p:ph type="title"/>
          </p:nvPr>
        </p:nvSpPr>
        <p:spPr>
          <a:xfrm>
            <a:off x="838200" y="365126"/>
            <a:ext cx="6618514" cy="734332"/>
          </a:xfrm>
        </p:spPr>
        <p:txBody>
          <a:bodyPr/>
          <a:lstStyle/>
          <a:p>
            <a:r>
              <a:rPr lang="en-GB" dirty="0"/>
              <a:t>Performance Management</a:t>
            </a:r>
          </a:p>
        </p:txBody>
      </p:sp>
      <p:pic>
        <p:nvPicPr>
          <p:cNvPr id="4" name="Graphic 3">
            <a:extLst>
              <a:ext uri="{FF2B5EF4-FFF2-40B4-BE49-F238E27FC236}">
                <a16:creationId xmlns:a16="http://schemas.microsoft.com/office/drawing/2014/main" id="{42AA180C-0735-9C3E-8B93-84DC24C2621B}"/>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8829673" y="160567"/>
            <a:ext cx="2970441" cy="1006929"/>
          </a:xfrm>
          <a:prstGeom prst="rect">
            <a:avLst/>
          </a:prstGeom>
        </p:spPr>
      </p:pic>
      <p:sp>
        <p:nvSpPr>
          <p:cNvPr id="6" name="TextBox 5">
            <a:extLst>
              <a:ext uri="{FF2B5EF4-FFF2-40B4-BE49-F238E27FC236}">
                <a16:creationId xmlns:a16="http://schemas.microsoft.com/office/drawing/2014/main" id="{98A2DABD-3520-DA54-0193-15E392C16CF8}"/>
              </a:ext>
            </a:extLst>
          </p:cNvPr>
          <p:cNvSpPr txBox="1"/>
          <p:nvPr/>
        </p:nvSpPr>
        <p:spPr>
          <a:xfrm>
            <a:off x="1817914" y="6297323"/>
            <a:ext cx="9720943" cy="400110"/>
          </a:xfrm>
          <a:prstGeom prst="rect">
            <a:avLst/>
          </a:prstGeom>
          <a:noFill/>
        </p:spPr>
        <p:txBody>
          <a:bodyPr wrap="square">
            <a:spAutoFit/>
          </a:bodyPr>
          <a:lstStyle/>
          <a:p>
            <a:r>
              <a:rPr lang="en-GB" sz="2000" dirty="0"/>
              <a:t>https://www.cipd.org/uk/knowledge/factsheets/performance-factsheet/#one</a:t>
            </a:r>
          </a:p>
        </p:txBody>
      </p:sp>
      <p:sp>
        <p:nvSpPr>
          <p:cNvPr id="8" name="TextBox 7">
            <a:extLst>
              <a:ext uri="{FF2B5EF4-FFF2-40B4-BE49-F238E27FC236}">
                <a16:creationId xmlns:a16="http://schemas.microsoft.com/office/drawing/2014/main" id="{5A03A39D-CFD5-6E2C-E69D-2E0ADE3918A8}"/>
              </a:ext>
            </a:extLst>
          </p:cNvPr>
          <p:cNvSpPr txBox="1"/>
          <p:nvPr/>
        </p:nvSpPr>
        <p:spPr>
          <a:xfrm>
            <a:off x="195943" y="1442617"/>
            <a:ext cx="11843658" cy="4893647"/>
          </a:xfrm>
          <a:prstGeom prst="rect">
            <a:avLst/>
          </a:prstGeom>
          <a:noFill/>
        </p:spPr>
        <p:txBody>
          <a:bodyPr wrap="square">
            <a:spAutoFit/>
          </a:bodyPr>
          <a:lstStyle/>
          <a:p>
            <a:pPr>
              <a:buNone/>
            </a:pPr>
            <a:r>
              <a:rPr lang="en-GB" sz="2400" dirty="0"/>
              <a:t>“‘Performance management’ refers to how organisations maximise the value of their employees. It aims to maintain and improve employees’ performance in line with organisational goals. Rather than a single activity, it's a group of practices that should be approached holistically. </a:t>
            </a:r>
          </a:p>
          <a:p>
            <a:pPr>
              <a:buNone/>
            </a:pPr>
            <a:r>
              <a:rPr lang="en-GB" sz="2400" dirty="0"/>
              <a:t>Performance management typically involves:</a:t>
            </a:r>
          </a:p>
          <a:p>
            <a:pPr marL="342900" lvl="0" indent="-342900">
              <a:buFont typeface="Arial" panose="020B0604020202020204" pitchFamily="34" charset="0"/>
              <a:buChar char="•"/>
            </a:pPr>
            <a:r>
              <a:rPr lang="en-GB" sz="2400" dirty="0"/>
              <a:t>Setting objectives for individuals and teams, aligned to organisational strategy.</a:t>
            </a:r>
          </a:p>
          <a:p>
            <a:pPr marL="342900" lvl="0" indent="-342900">
              <a:buFont typeface="Arial" panose="020B0604020202020204" pitchFamily="34" charset="0"/>
              <a:buChar char="•"/>
            </a:pPr>
            <a:r>
              <a:rPr lang="en-GB" sz="2400" dirty="0"/>
              <a:t>Supporting improved performance across employees, teams and the organisation.</a:t>
            </a:r>
          </a:p>
          <a:p>
            <a:pPr marL="342900" lvl="0" indent="-342900">
              <a:buFont typeface="Arial" panose="020B0604020202020204" pitchFamily="34" charset="0"/>
              <a:buChar char="•"/>
            </a:pPr>
            <a:r>
              <a:rPr lang="en-GB" sz="2400" dirty="0"/>
              <a:t>Holding people accountable by linking performance to reward, career progression and termination of contracts.</a:t>
            </a:r>
          </a:p>
          <a:p>
            <a:pPr>
              <a:buNone/>
            </a:pPr>
            <a:r>
              <a:rPr lang="en-GB" sz="2400" dirty="0"/>
              <a:t>At its best, performance management is a two-way process of regular, open and supportive discussion on progress towards objectives. It brings together many principles that enable good people management practice, including learning and development, performance measurement and organisational development.” </a:t>
            </a:r>
          </a:p>
        </p:txBody>
      </p:sp>
    </p:spTree>
    <p:extLst>
      <p:ext uri="{BB962C8B-B14F-4D97-AF65-F5344CB8AC3E}">
        <p14:creationId xmlns:p14="http://schemas.microsoft.com/office/powerpoint/2010/main" val="315745441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B4C789-1FBE-9D5D-1F3F-3BDE6DA40CA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B188B1D-198C-1CBC-9669-04C334F61ECD}"/>
              </a:ext>
            </a:extLst>
          </p:cNvPr>
          <p:cNvSpPr>
            <a:spLocks noGrp="1"/>
          </p:cNvSpPr>
          <p:nvPr>
            <p:ph type="title"/>
          </p:nvPr>
        </p:nvSpPr>
        <p:spPr>
          <a:xfrm>
            <a:off x="391886" y="365126"/>
            <a:ext cx="7064828" cy="734332"/>
          </a:xfrm>
        </p:spPr>
        <p:txBody>
          <a:bodyPr>
            <a:normAutofit fontScale="90000"/>
          </a:bodyPr>
          <a:lstStyle/>
          <a:p>
            <a:r>
              <a:rPr lang="en-GB" dirty="0"/>
              <a:t>Performance Management Chain </a:t>
            </a:r>
          </a:p>
        </p:txBody>
      </p:sp>
      <p:pic>
        <p:nvPicPr>
          <p:cNvPr id="4" name="Graphic 3">
            <a:extLst>
              <a:ext uri="{FF2B5EF4-FFF2-40B4-BE49-F238E27FC236}">
                <a16:creationId xmlns:a16="http://schemas.microsoft.com/office/drawing/2014/main" id="{F6705DF0-DFEF-623B-C542-C9E1CBDC7EBC}"/>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8829673" y="160567"/>
            <a:ext cx="2970441" cy="1006929"/>
          </a:xfrm>
          <a:prstGeom prst="rect">
            <a:avLst/>
          </a:prstGeom>
        </p:spPr>
      </p:pic>
      <p:sp>
        <p:nvSpPr>
          <p:cNvPr id="6" name="TextBox 5">
            <a:extLst>
              <a:ext uri="{FF2B5EF4-FFF2-40B4-BE49-F238E27FC236}">
                <a16:creationId xmlns:a16="http://schemas.microsoft.com/office/drawing/2014/main" id="{9463A8C8-9020-364E-58D0-59BA370A55B6}"/>
              </a:ext>
            </a:extLst>
          </p:cNvPr>
          <p:cNvSpPr txBox="1"/>
          <p:nvPr/>
        </p:nvSpPr>
        <p:spPr>
          <a:xfrm>
            <a:off x="1904999" y="5989547"/>
            <a:ext cx="9720943" cy="707886"/>
          </a:xfrm>
          <a:prstGeom prst="rect">
            <a:avLst/>
          </a:prstGeom>
          <a:noFill/>
        </p:spPr>
        <p:txBody>
          <a:bodyPr wrap="square">
            <a:spAutoFit/>
          </a:bodyPr>
          <a:lstStyle/>
          <a:p>
            <a:r>
              <a:rPr lang="en-GB" sz="2000" dirty="0"/>
              <a:t>https://www.cipd.org/globalassets/media/knowledge/knowledge-hub/factsheets/pdfs/links-in-the-performance-management-chain.png</a:t>
            </a:r>
          </a:p>
        </p:txBody>
      </p:sp>
      <p:sp>
        <p:nvSpPr>
          <p:cNvPr id="3" name="Rectangle: Rounded Corners 2">
            <a:extLst>
              <a:ext uri="{FF2B5EF4-FFF2-40B4-BE49-F238E27FC236}">
                <a16:creationId xmlns:a16="http://schemas.microsoft.com/office/drawing/2014/main" id="{D814F459-E709-2435-D3CD-54AF6F3B92D2}"/>
              </a:ext>
            </a:extLst>
          </p:cNvPr>
          <p:cNvSpPr/>
          <p:nvPr/>
        </p:nvSpPr>
        <p:spPr>
          <a:xfrm>
            <a:off x="304808" y="2667000"/>
            <a:ext cx="1807028" cy="1121229"/>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000" dirty="0"/>
              <a:t>Past Performance</a:t>
            </a:r>
          </a:p>
        </p:txBody>
      </p:sp>
      <p:sp>
        <p:nvSpPr>
          <p:cNvPr id="7" name="Rectangle: Rounded Corners 6">
            <a:extLst>
              <a:ext uri="{FF2B5EF4-FFF2-40B4-BE49-F238E27FC236}">
                <a16:creationId xmlns:a16="http://schemas.microsoft.com/office/drawing/2014/main" id="{563E9D06-4754-60E7-BDEC-45BB1DFF251A}"/>
              </a:ext>
            </a:extLst>
          </p:cNvPr>
          <p:cNvSpPr/>
          <p:nvPr/>
        </p:nvSpPr>
        <p:spPr>
          <a:xfrm>
            <a:off x="2296890" y="2667000"/>
            <a:ext cx="1807028" cy="1121229"/>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000" dirty="0"/>
              <a:t>Objectives</a:t>
            </a:r>
          </a:p>
        </p:txBody>
      </p:sp>
      <p:sp>
        <p:nvSpPr>
          <p:cNvPr id="10" name="Rectangle: Rounded Corners 9">
            <a:extLst>
              <a:ext uri="{FF2B5EF4-FFF2-40B4-BE49-F238E27FC236}">
                <a16:creationId xmlns:a16="http://schemas.microsoft.com/office/drawing/2014/main" id="{EA623002-F9EF-65B5-F28E-FAC8D05528E0}"/>
              </a:ext>
            </a:extLst>
          </p:cNvPr>
          <p:cNvSpPr/>
          <p:nvPr/>
        </p:nvSpPr>
        <p:spPr>
          <a:xfrm>
            <a:off x="4288972" y="2667000"/>
            <a:ext cx="1807028" cy="1121229"/>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000" dirty="0"/>
              <a:t>Rating</a:t>
            </a:r>
          </a:p>
        </p:txBody>
      </p:sp>
      <p:sp>
        <p:nvSpPr>
          <p:cNvPr id="12" name="Rectangle: Rounded Corners 11">
            <a:extLst>
              <a:ext uri="{FF2B5EF4-FFF2-40B4-BE49-F238E27FC236}">
                <a16:creationId xmlns:a16="http://schemas.microsoft.com/office/drawing/2014/main" id="{9AEC2ECE-F961-0955-4859-57C29511C7D6}"/>
              </a:ext>
            </a:extLst>
          </p:cNvPr>
          <p:cNvSpPr/>
          <p:nvPr/>
        </p:nvSpPr>
        <p:spPr>
          <a:xfrm>
            <a:off x="6281054" y="2667000"/>
            <a:ext cx="1807028" cy="1121229"/>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000" dirty="0"/>
              <a:t>Judgement</a:t>
            </a:r>
          </a:p>
        </p:txBody>
      </p:sp>
      <p:sp>
        <p:nvSpPr>
          <p:cNvPr id="14" name="Rectangle: Rounded Corners 13">
            <a:extLst>
              <a:ext uri="{FF2B5EF4-FFF2-40B4-BE49-F238E27FC236}">
                <a16:creationId xmlns:a16="http://schemas.microsoft.com/office/drawing/2014/main" id="{70B63F5A-F746-F9A7-FE1D-983476D503BE}"/>
              </a:ext>
            </a:extLst>
          </p:cNvPr>
          <p:cNvSpPr/>
          <p:nvPr/>
        </p:nvSpPr>
        <p:spPr>
          <a:xfrm>
            <a:off x="8267700" y="2667000"/>
            <a:ext cx="1807028" cy="1121229"/>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000" dirty="0"/>
              <a:t>Feedback</a:t>
            </a:r>
          </a:p>
        </p:txBody>
      </p:sp>
      <p:sp>
        <p:nvSpPr>
          <p:cNvPr id="16" name="Rectangle: Rounded Corners 15">
            <a:extLst>
              <a:ext uri="{FF2B5EF4-FFF2-40B4-BE49-F238E27FC236}">
                <a16:creationId xmlns:a16="http://schemas.microsoft.com/office/drawing/2014/main" id="{FAD7FDEF-B8FA-CA51-2E97-E193D75A4301}"/>
              </a:ext>
            </a:extLst>
          </p:cNvPr>
          <p:cNvSpPr/>
          <p:nvPr/>
        </p:nvSpPr>
        <p:spPr>
          <a:xfrm>
            <a:off x="10254346" y="2667000"/>
            <a:ext cx="1807028" cy="1121229"/>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000" dirty="0"/>
              <a:t>Future Performance</a:t>
            </a:r>
          </a:p>
        </p:txBody>
      </p:sp>
      <p:sp>
        <p:nvSpPr>
          <p:cNvPr id="5" name="Arrow: Right 4">
            <a:extLst>
              <a:ext uri="{FF2B5EF4-FFF2-40B4-BE49-F238E27FC236}">
                <a16:creationId xmlns:a16="http://schemas.microsoft.com/office/drawing/2014/main" id="{9DA521D6-9772-556E-4143-AD2D03C1D484}"/>
              </a:ext>
            </a:extLst>
          </p:cNvPr>
          <p:cNvSpPr/>
          <p:nvPr/>
        </p:nvSpPr>
        <p:spPr>
          <a:xfrm>
            <a:off x="2117272" y="3142788"/>
            <a:ext cx="174182" cy="163284"/>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Arrow: Right 8">
            <a:extLst>
              <a:ext uri="{FF2B5EF4-FFF2-40B4-BE49-F238E27FC236}">
                <a16:creationId xmlns:a16="http://schemas.microsoft.com/office/drawing/2014/main" id="{5A28BFEE-9203-9190-B368-A707B19FDD4F}"/>
              </a:ext>
            </a:extLst>
          </p:cNvPr>
          <p:cNvSpPr/>
          <p:nvPr/>
        </p:nvSpPr>
        <p:spPr>
          <a:xfrm>
            <a:off x="4112072" y="3145972"/>
            <a:ext cx="174182" cy="163284"/>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Arrow: Right 12">
            <a:extLst>
              <a:ext uri="{FF2B5EF4-FFF2-40B4-BE49-F238E27FC236}">
                <a16:creationId xmlns:a16="http://schemas.microsoft.com/office/drawing/2014/main" id="{DF31B073-A5D9-65CA-2FE5-75D1F61E3DF9}"/>
              </a:ext>
            </a:extLst>
          </p:cNvPr>
          <p:cNvSpPr/>
          <p:nvPr/>
        </p:nvSpPr>
        <p:spPr>
          <a:xfrm>
            <a:off x="6116721" y="3145972"/>
            <a:ext cx="174182" cy="163284"/>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 name="Arrow: Right 16">
            <a:extLst>
              <a:ext uri="{FF2B5EF4-FFF2-40B4-BE49-F238E27FC236}">
                <a16:creationId xmlns:a16="http://schemas.microsoft.com/office/drawing/2014/main" id="{AD2C9395-1EE8-7319-2087-C9223E5F8DEE}"/>
              </a:ext>
            </a:extLst>
          </p:cNvPr>
          <p:cNvSpPr/>
          <p:nvPr/>
        </p:nvSpPr>
        <p:spPr>
          <a:xfrm>
            <a:off x="8108053" y="3142788"/>
            <a:ext cx="174182" cy="163284"/>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9" name="Arrow: Right 18">
            <a:extLst>
              <a:ext uri="{FF2B5EF4-FFF2-40B4-BE49-F238E27FC236}">
                <a16:creationId xmlns:a16="http://schemas.microsoft.com/office/drawing/2014/main" id="{280B49A2-FB37-C24C-A25D-C52854DB579E}"/>
              </a:ext>
            </a:extLst>
          </p:cNvPr>
          <p:cNvSpPr/>
          <p:nvPr/>
        </p:nvSpPr>
        <p:spPr>
          <a:xfrm>
            <a:off x="10080164" y="3142788"/>
            <a:ext cx="174182" cy="163284"/>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414668071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93B304-71E6-8B34-AC6E-F70FCC42F0C9}"/>
              </a:ext>
            </a:extLst>
          </p:cNvPr>
          <p:cNvSpPr>
            <a:spLocks noGrp="1"/>
          </p:cNvSpPr>
          <p:nvPr>
            <p:ph type="title"/>
          </p:nvPr>
        </p:nvSpPr>
        <p:spPr>
          <a:xfrm>
            <a:off x="141514" y="365125"/>
            <a:ext cx="11212286" cy="788761"/>
          </a:xfrm>
        </p:spPr>
        <p:txBody>
          <a:bodyPr>
            <a:normAutofit/>
          </a:bodyPr>
          <a:lstStyle/>
          <a:p>
            <a:r>
              <a:rPr lang="en-GB" sz="4000" dirty="0"/>
              <a:t>Factors Affecting the Performance Management Cycle</a:t>
            </a:r>
          </a:p>
        </p:txBody>
      </p:sp>
      <p:pic>
        <p:nvPicPr>
          <p:cNvPr id="4" name="Picture 3">
            <a:extLst>
              <a:ext uri="{FF2B5EF4-FFF2-40B4-BE49-F238E27FC236}">
                <a16:creationId xmlns:a16="http://schemas.microsoft.com/office/drawing/2014/main" id="{ED3041E0-C846-DF27-21B9-1CB13309D02A}"/>
              </a:ext>
            </a:extLst>
          </p:cNvPr>
          <p:cNvPicPr>
            <a:picLocks noChangeAspect="1"/>
          </p:cNvPicPr>
          <p:nvPr/>
        </p:nvPicPr>
        <p:blipFill>
          <a:blip r:embed="rId2"/>
          <a:stretch>
            <a:fillRect/>
          </a:stretch>
        </p:blipFill>
        <p:spPr>
          <a:xfrm>
            <a:off x="700418" y="1273630"/>
            <a:ext cx="10860216" cy="5488812"/>
          </a:xfrm>
          <a:prstGeom prst="rect">
            <a:avLst/>
          </a:prstGeom>
        </p:spPr>
      </p:pic>
      <p:sp>
        <p:nvSpPr>
          <p:cNvPr id="6" name="TextBox 5">
            <a:extLst>
              <a:ext uri="{FF2B5EF4-FFF2-40B4-BE49-F238E27FC236}">
                <a16:creationId xmlns:a16="http://schemas.microsoft.com/office/drawing/2014/main" id="{553C44BA-8850-341F-3411-116C9F8155CF}"/>
              </a:ext>
            </a:extLst>
          </p:cNvPr>
          <p:cNvSpPr txBox="1"/>
          <p:nvPr/>
        </p:nvSpPr>
        <p:spPr>
          <a:xfrm>
            <a:off x="4005943" y="6161842"/>
            <a:ext cx="8066314" cy="646331"/>
          </a:xfrm>
          <a:prstGeom prst="rect">
            <a:avLst/>
          </a:prstGeom>
          <a:noFill/>
        </p:spPr>
        <p:txBody>
          <a:bodyPr wrap="square">
            <a:spAutoFit/>
          </a:bodyPr>
          <a:lstStyle/>
          <a:p>
            <a:r>
              <a:rPr lang="en-GB" dirty="0"/>
              <a:t>https://www.cipd.org/globalassets/media/knowledge/knowledge-hub/factsheets/pdfs/factors-affecting-the-performance-management-cycle.png</a:t>
            </a:r>
          </a:p>
        </p:txBody>
      </p:sp>
      <p:pic>
        <p:nvPicPr>
          <p:cNvPr id="5" name="Graphic 4">
            <a:extLst>
              <a:ext uri="{FF2B5EF4-FFF2-40B4-BE49-F238E27FC236}">
                <a16:creationId xmlns:a16="http://schemas.microsoft.com/office/drawing/2014/main" id="{22E6882E-2855-DF82-205A-645F108CBE0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036629" y="1074424"/>
            <a:ext cx="2035628" cy="690043"/>
          </a:xfrm>
          <a:prstGeom prst="rect">
            <a:avLst/>
          </a:prstGeom>
        </p:spPr>
      </p:pic>
    </p:spTree>
    <p:extLst>
      <p:ext uri="{BB962C8B-B14F-4D97-AF65-F5344CB8AC3E}">
        <p14:creationId xmlns:p14="http://schemas.microsoft.com/office/powerpoint/2010/main" val="183954153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879679-5D50-CC7D-47CA-4D44EF6569E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8892A34-047D-7ACC-BEB3-06D0E425FD7F}"/>
              </a:ext>
            </a:extLst>
          </p:cNvPr>
          <p:cNvSpPr>
            <a:spLocks noGrp="1"/>
          </p:cNvSpPr>
          <p:nvPr>
            <p:ph type="title"/>
          </p:nvPr>
        </p:nvSpPr>
        <p:spPr>
          <a:xfrm>
            <a:off x="469557" y="247135"/>
            <a:ext cx="10515600" cy="1325563"/>
          </a:xfrm>
        </p:spPr>
        <p:txBody>
          <a:bodyPr/>
          <a:lstStyle/>
          <a:p>
            <a:r>
              <a:rPr lang="en-US" dirty="0"/>
              <a:t>Purpose of Performance Management</a:t>
            </a:r>
          </a:p>
        </p:txBody>
      </p:sp>
      <p:sp>
        <p:nvSpPr>
          <p:cNvPr id="3" name="Content Placeholder 2">
            <a:extLst>
              <a:ext uri="{FF2B5EF4-FFF2-40B4-BE49-F238E27FC236}">
                <a16:creationId xmlns:a16="http://schemas.microsoft.com/office/drawing/2014/main" id="{4D59AB8E-C75D-8EDD-059C-31BD2128E9FB}"/>
              </a:ext>
            </a:extLst>
          </p:cNvPr>
          <p:cNvSpPr>
            <a:spLocks noGrp="1"/>
          </p:cNvSpPr>
          <p:nvPr>
            <p:ph idx="1"/>
          </p:nvPr>
        </p:nvSpPr>
        <p:spPr>
          <a:xfrm>
            <a:off x="469557" y="1408670"/>
            <a:ext cx="11430000" cy="5202195"/>
          </a:xfrm>
        </p:spPr>
        <p:txBody>
          <a:bodyPr>
            <a:normAutofit/>
          </a:bodyPr>
          <a:lstStyle/>
          <a:p>
            <a:pPr marL="0" indent="0">
              <a:buNone/>
            </a:pPr>
            <a:r>
              <a:rPr lang="en-US" sz="2933" dirty="0">
                <a:latin typeface="Aptos" panose="020B0004020202020204" pitchFamily="34" charset="0"/>
              </a:rPr>
              <a:t>Marchington et al (2021: 264-65) says a performance management and development system should:</a:t>
            </a:r>
          </a:p>
          <a:p>
            <a:pPr marL="838190" lvl="2" indent="-380990"/>
            <a:r>
              <a:rPr lang="en-US" sz="2800" dirty="0">
                <a:latin typeface="Aptos" panose="020B0004020202020204" pitchFamily="34" charset="0"/>
              </a:rPr>
              <a:t>Communicate the organization’s vision and objectives to all staff</a:t>
            </a:r>
          </a:p>
          <a:p>
            <a:pPr marL="838190" lvl="2" indent="-380990"/>
            <a:r>
              <a:rPr lang="en-US" sz="2800" dirty="0">
                <a:latin typeface="Aptos" panose="020B0004020202020204" pitchFamily="34" charset="0"/>
              </a:rPr>
              <a:t>Set departmental and individual performance targets linked to organizational objectives</a:t>
            </a:r>
          </a:p>
          <a:p>
            <a:pPr marL="838190" lvl="2" indent="-380990"/>
            <a:r>
              <a:rPr lang="en-US" sz="2800" dirty="0">
                <a:latin typeface="Aptos" panose="020B0004020202020204" pitchFamily="34" charset="0"/>
              </a:rPr>
              <a:t>Use formal review procedures to communicate performance requirements</a:t>
            </a:r>
          </a:p>
          <a:p>
            <a:pPr marL="838190" lvl="2" indent="-380990"/>
            <a:r>
              <a:rPr lang="en-US" sz="2800" dirty="0">
                <a:latin typeface="Aptos" panose="020B0004020202020204" pitchFamily="34" charset="0"/>
              </a:rPr>
              <a:t>Conduct formal review of progress</a:t>
            </a:r>
          </a:p>
          <a:p>
            <a:pPr marL="838190" lvl="2" indent="-380990"/>
            <a:r>
              <a:rPr lang="en-US" sz="2800" dirty="0">
                <a:latin typeface="Aptos" panose="020B0004020202020204" pitchFamily="34" charset="0"/>
              </a:rPr>
              <a:t>Use the review process to identify training, development and reward outcomes</a:t>
            </a:r>
          </a:p>
          <a:p>
            <a:pPr marL="838190" lvl="2" indent="-380990"/>
            <a:r>
              <a:rPr lang="en-US" sz="2800" dirty="0">
                <a:latin typeface="Aptos" panose="020B0004020202020204" pitchFamily="34" charset="0"/>
              </a:rPr>
              <a:t>Evaluates the whole process</a:t>
            </a:r>
            <a:endParaRPr lang="en-US" sz="2800" dirty="0"/>
          </a:p>
        </p:txBody>
      </p:sp>
    </p:spTree>
    <p:extLst>
      <p:ext uri="{BB962C8B-B14F-4D97-AF65-F5344CB8AC3E}">
        <p14:creationId xmlns:p14="http://schemas.microsoft.com/office/powerpoint/2010/main" val="379004016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E72ED8-384D-E0BF-3146-DF4DB766895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2230AC8-623D-4B37-D0F6-B0E11314AF4E}"/>
              </a:ext>
            </a:extLst>
          </p:cNvPr>
          <p:cNvSpPr>
            <a:spLocks noGrp="1"/>
          </p:cNvSpPr>
          <p:nvPr>
            <p:ph type="title"/>
          </p:nvPr>
        </p:nvSpPr>
        <p:spPr>
          <a:xfrm>
            <a:off x="1240971" y="247135"/>
            <a:ext cx="9744186" cy="1325563"/>
          </a:xfrm>
        </p:spPr>
        <p:txBody>
          <a:bodyPr/>
          <a:lstStyle/>
          <a:p>
            <a:r>
              <a:rPr lang="en-US" dirty="0"/>
              <a:t>‘Hard’ vs ‘Soft’ approaches to Performance Management</a:t>
            </a:r>
          </a:p>
        </p:txBody>
      </p:sp>
      <p:sp>
        <p:nvSpPr>
          <p:cNvPr id="3" name="Content Placeholder 2">
            <a:extLst>
              <a:ext uri="{FF2B5EF4-FFF2-40B4-BE49-F238E27FC236}">
                <a16:creationId xmlns:a16="http://schemas.microsoft.com/office/drawing/2014/main" id="{C5EE2111-BEED-BACC-CA3F-EFF23B8FD5EC}"/>
              </a:ext>
            </a:extLst>
          </p:cNvPr>
          <p:cNvSpPr>
            <a:spLocks noGrp="1"/>
          </p:cNvSpPr>
          <p:nvPr>
            <p:ph idx="1"/>
          </p:nvPr>
        </p:nvSpPr>
        <p:spPr>
          <a:xfrm>
            <a:off x="1099457" y="1839686"/>
            <a:ext cx="10341429" cy="4771179"/>
          </a:xfrm>
        </p:spPr>
        <p:txBody>
          <a:bodyPr>
            <a:normAutofit lnSpcReduction="10000"/>
          </a:bodyPr>
          <a:lstStyle/>
          <a:p>
            <a:pPr marL="0" indent="0">
              <a:buNone/>
            </a:pPr>
            <a:r>
              <a:rPr lang="en-GB" sz="3200" dirty="0">
                <a:latin typeface="Aptos" panose="020B0004020202020204" pitchFamily="34" charset="0"/>
              </a:rPr>
              <a:t>Managing individual performance has traditionally centred on assessing performance and linking good performance to rewards</a:t>
            </a:r>
          </a:p>
          <a:p>
            <a:endParaRPr lang="en-GB" sz="3200" b="1" i="1" dirty="0">
              <a:latin typeface="Aptos" panose="020B0004020202020204" pitchFamily="34" charset="0"/>
            </a:endParaRPr>
          </a:p>
          <a:p>
            <a:pPr marL="342891" indent="-342891"/>
            <a:r>
              <a:rPr lang="en-GB" sz="3200" b="1" i="1" dirty="0">
                <a:latin typeface="Aptos" panose="020B0004020202020204" pitchFamily="34" charset="0"/>
              </a:rPr>
              <a:t>Hard</a:t>
            </a:r>
            <a:r>
              <a:rPr lang="en-GB" sz="3200" dirty="0">
                <a:latin typeface="Aptos" panose="020B0004020202020204" pitchFamily="34" charset="0"/>
              </a:rPr>
              <a:t> performance management: organisational targets, measurements and metrics applied at an individual level</a:t>
            </a:r>
          </a:p>
          <a:p>
            <a:pPr marL="342891" indent="-342891"/>
            <a:r>
              <a:rPr lang="en-GB" sz="3200" b="1" i="1" dirty="0">
                <a:latin typeface="Aptos" panose="020B0004020202020204" pitchFamily="34" charset="0"/>
              </a:rPr>
              <a:t>Softer </a:t>
            </a:r>
            <a:r>
              <a:rPr lang="en-GB" sz="3200" dirty="0">
                <a:latin typeface="Aptos" panose="020B0004020202020204" pitchFamily="34" charset="0"/>
              </a:rPr>
              <a:t>approach is more developmental and motivational, and involves making an effort to better link the individual and the organisation</a:t>
            </a:r>
            <a:endParaRPr lang="en-US" dirty="0"/>
          </a:p>
        </p:txBody>
      </p:sp>
    </p:spTree>
    <p:extLst>
      <p:ext uri="{BB962C8B-B14F-4D97-AF65-F5344CB8AC3E}">
        <p14:creationId xmlns:p14="http://schemas.microsoft.com/office/powerpoint/2010/main" val="142747542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27879" y="240867"/>
            <a:ext cx="10178323" cy="791507"/>
          </a:xfrm>
        </p:spPr>
        <p:txBody>
          <a:bodyPr>
            <a:normAutofit fontScale="90000"/>
          </a:bodyPr>
          <a:lstStyle/>
          <a:p>
            <a:pPr algn="l"/>
            <a:r>
              <a:rPr lang="en-GB" dirty="0"/>
              <a:t>Performance Management and Development Process</a:t>
            </a:r>
          </a:p>
        </p:txBody>
      </p:sp>
      <p:graphicFrame>
        <p:nvGraphicFramePr>
          <p:cNvPr id="5" name="Content Placeholder 4">
            <a:extLst>
              <a:ext uri="{FF2B5EF4-FFF2-40B4-BE49-F238E27FC236}">
                <a16:creationId xmlns:a16="http://schemas.microsoft.com/office/drawing/2014/main" id="{2D53DCFE-C6BC-8711-9E8B-FAB830C382BB}"/>
              </a:ext>
            </a:extLst>
          </p:cNvPr>
          <p:cNvGraphicFramePr>
            <a:graphicFrameLocks noGrp="1"/>
          </p:cNvGraphicFramePr>
          <p:nvPr>
            <p:ph idx="1"/>
          </p:nvPr>
        </p:nvGraphicFramePr>
        <p:xfrm>
          <a:off x="595901" y="791111"/>
          <a:ext cx="11096091" cy="566273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Oval 3">
            <a:extLst>
              <a:ext uri="{FF2B5EF4-FFF2-40B4-BE49-F238E27FC236}">
                <a16:creationId xmlns:a16="http://schemas.microsoft.com/office/drawing/2014/main" id="{A87D9576-419C-27AD-8123-384B4773959D}"/>
              </a:ext>
            </a:extLst>
          </p:cNvPr>
          <p:cNvSpPr/>
          <p:nvPr/>
        </p:nvSpPr>
        <p:spPr>
          <a:xfrm>
            <a:off x="5230831" y="3450484"/>
            <a:ext cx="1640440" cy="1070147"/>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457189"/>
            <a:r>
              <a:rPr lang="en-GB" sz="2000" b="1" dirty="0">
                <a:solidFill>
                  <a:prstClr val="white"/>
                </a:solidFill>
                <a:latin typeface="Aptos" panose="02110004020202020204"/>
              </a:rPr>
              <a:t>PM&amp;D</a:t>
            </a:r>
          </a:p>
        </p:txBody>
      </p:sp>
      <p:sp>
        <p:nvSpPr>
          <p:cNvPr id="6" name="Arrow: Up-Down 5">
            <a:extLst>
              <a:ext uri="{FF2B5EF4-FFF2-40B4-BE49-F238E27FC236}">
                <a16:creationId xmlns:a16="http://schemas.microsoft.com/office/drawing/2014/main" id="{5AE9C21A-1121-5F94-6C1E-B4CD37DAB0B1}"/>
              </a:ext>
            </a:extLst>
          </p:cNvPr>
          <p:cNvSpPr/>
          <p:nvPr/>
        </p:nvSpPr>
        <p:spPr>
          <a:xfrm>
            <a:off x="5938463" y="2606796"/>
            <a:ext cx="246580" cy="704403"/>
          </a:xfrm>
          <a:prstGeom prst="up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457189"/>
            <a:endParaRPr lang="en-GB">
              <a:solidFill>
                <a:prstClr val="white"/>
              </a:solidFill>
              <a:latin typeface="Aptos" panose="02110004020202020204"/>
            </a:endParaRPr>
          </a:p>
        </p:txBody>
      </p:sp>
      <p:sp>
        <p:nvSpPr>
          <p:cNvPr id="12" name="Arrow: Left-Right 11">
            <a:extLst>
              <a:ext uri="{FF2B5EF4-FFF2-40B4-BE49-F238E27FC236}">
                <a16:creationId xmlns:a16="http://schemas.microsoft.com/office/drawing/2014/main" id="{AFFE5AA9-1579-3892-2C6B-2E0128FD44F3}"/>
              </a:ext>
            </a:extLst>
          </p:cNvPr>
          <p:cNvSpPr/>
          <p:nvPr/>
        </p:nvSpPr>
        <p:spPr>
          <a:xfrm rot="1767779">
            <a:off x="4574870" y="3405315"/>
            <a:ext cx="678095" cy="265229"/>
          </a:xfrm>
          <a:prstGeom prst="lef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457189"/>
            <a:endParaRPr lang="en-GB">
              <a:solidFill>
                <a:prstClr val="white"/>
              </a:solidFill>
              <a:latin typeface="Aptos" panose="02110004020202020204"/>
            </a:endParaRPr>
          </a:p>
        </p:txBody>
      </p:sp>
      <p:sp>
        <p:nvSpPr>
          <p:cNvPr id="14" name="Arrow: Left-Right 13">
            <a:extLst>
              <a:ext uri="{FF2B5EF4-FFF2-40B4-BE49-F238E27FC236}">
                <a16:creationId xmlns:a16="http://schemas.microsoft.com/office/drawing/2014/main" id="{F0B44E4D-34DE-D98F-2CF8-DDC441945473}"/>
              </a:ext>
            </a:extLst>
          </p:cNvPr>
          <p:cNvSpPr/>
          <p:nvPr/>
        </p:nvSpPr>
        <p:spPr>
          <a:xfrm rot="19732317">
            <a:off x="4956818" y="4485711"/>
            <a:ext cx="678095" cy="282172"/>
          </a:xfrm>
          <a:prstGeom prst="lef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457189"/>
            <a:endParaRPr lang="en-GB">
              <a:solidFill>
                <a:prstClr val="white"/>
              </a:solidFill>
              <a:latin typeface="Aptos" panose="02110004020202020204"/>
            </a:endParaRPr>
          </a:p>
        </p:txBody>
      </p:sp>
      <p:sp>
        <p:nvSpPr>
          <p:cNvPr id="15" name="Arrow: Left-Right 14">
            <a:extLst>
              <a:ext uri="{FF2B5EF4-FFF2-40B4-BE49-F238E27FC236}">
                <a16:creationId xmlns:a16="http://schemas.microsoft.com/office/drawing/2014/main" id="{1D6B9622-2773-6F96-1388-AAB17AB62516}"/>
              </a:ext>
            </a:extLst>
          </p:cNvPr>
          <p:cNvSpPr/>
          <p:nvPr/>
        </p:nvSpPr>
        <p:spPr>
          <a:xfrm rot="1993517">
            <a:off x="6658383" y="4442726"/>
            <a:ext cx="678095" cy="285575"/>
          </a:xfrm>
          <a:prstGeom prst="lef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457189"/>
            <a:endParaRPr lang="en-GB">
              <a:solidFill>
                <a:prstClr val="white"/>
              </a:solidFill>
              <a:latin typeface="Aptos" panose="02110004020202020204"/>
            </a:endParaRPr>
          </a:p>
        </p:txBody>
      </p:sp>
      <p:sp>
        <p:nvSpPr>
          <p:cNvPr id="16" name="Arrow: Left-Right 15">
            <a:extLst>
              <a:ext uri="{FF2B5EF4-FFF2-40B4-BE49-F238E27FC236}">
                <a16:creationId xmlns:a16="http://schemas.microsoft.com/office/drawing/2014/main" id="{A1C9C588-3C2E-25CE-964F-8DF3F7E8AFE9}"/>
              </a:ext>
            </a:extLst>
          </p:cNvPr>
          <p:cNvSpPr/>
          <p:nvPr/>
        </p:nvSpPr>
        <p:spPr>
          <a:xfrm rot="19493507">
            <a:off x="6710512" y="3311974"/>
            <a:ext cx="781037" cy="311967"/>
          </a:xfrm>
          <a:prstGeom prst="lef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457189"/>
            <a:endParaRPr lang="en-GB">
              <a:solidFill>
                <a:prstClr val="white"/>
              </a:solidFill>
              <a:latin typeface="Aptos" panose="02110004020202020204"/>
            </a:endParaRPr>
          </a:p>
        </p:txBody>
      </p:sp>
      <p:sp>
        <p:nvSpPr>
          <p:cNvPr id="17" name="TextBox 16">
            <a:extLst>
              <a:ext uri="{FF2B5EF4-FFF2-40B4-BE49-F238E27FC236}">
                <a16:creationId xmlns:a16="http://schemas.microsoft.com/office/drawing/2014/main" id="{DC7F82E5-C094-2E1B-B18A-45A9BD1C7A83}"/>
              </a:ext>
            </a:extLst>
          </p:cNvPr>
          <p:cNvSpPr txBox="1"/>
          <p:nvPr/>
        </p:nvSpPr>
        <p:spPr>
          <a:xfrm>
            <a:off x="8931350" y="5722708"/>
            <a:ext cx="3041036" cy="461665"/>
          </a:xfrm>
          <a:prstGeom prst="rect">
            <a:avLst/>
          </a:prstGeom>
          <a:noFill/>
        </p:spPr>
        <p:txBody>
          <a:bodyPr wrap="square" rtlCol="0">
            <a:spAutoFit/>
          </a:bodyPr>
          <a:lstStyle/>
          <a:p>
            <a:pPr defTabSz="457189"/>
            <a:r>
              <a:rPr lang="en-GB" sz="1200" dirty="0">
                <a:solidFill>
                  <a:prstClr val="black"/>
                </a:solidFill>
                <a:latin typeface="Aptos" panose="02110004020202020204"/>
              </a:rPr>
              <a:t>Source: Figure 8.1. Marchington et al. (2021: 265)</a:t>
            </a:r>
          </a:p>
        </p:txBody>
      </p:sp>
      <p:sp>
        <p:nvSpPr>
          <p:cNvPr id="18" name="TextBox 17">
            <a:extLst>
              <a:ext uri="{FF2B5EF4-FFF2-40B4-BE49-F238E27FC236}">
                <a16:creationId xmlns:a16="http://schemas.microsoft.com/office/drawing/2014/main" id="{65FE3B74-BE96-351E-2CF8-C03D4ABCFE69}"/>
              </a:ext>
            </a:extLst>
          </p:cNvPr>
          <p:cNvSpPr txBox="1"/>
          <p:nvPr/>
        </p:nvSpPr>
        <p:spPr>
          <a:xfrm>
            <a:off x="9329057" y="931733"/>
            <a:ext cx="1777308" cy="1015663"/>
          </a:xfrm>
          <a:prstGeom prst="rect">
            <a:avLst/>
          </a:prstGeom>
          <a:noFill/>
        </p:spPr>
        <p:txBody>
          <a:bodyPr wrap="square" rtlCol="0">
            <a:spAutoFit/>
          </a:bodyPr>
          <a:lstStyle/>
          <a:p>
            <a:pPr defTabSz="457189"/>
            <a:r>
              <a:rPr lang="en-GB" sz="2000" b="1" dirty="0">
                <a:solidFill>
                  <a:srgbClr val="FF0000"/>
                </a:solidFill>
                <a:latin typeface="Aptos" panose="02110004020202020204"/>
              </a:rPr>
              <a:t>Role of line manager is important</a:t>
            </a:r>
          </a:p>
        </p:txBody>
      </p:sp>
    </p:spTree>
    <p:extLst>
      <p:ext uri="{BB962C8B-B14F-4D97-AF65-F5344CB8AC3E}">
        <p14:creationId xmlns:p14="http://schemas.microsoft.com/office/powerpoint/2010/main" val="342385188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0F1784-FE0E-5829-7B32-85ADF36796B0}"/>
              </a:ext>
            </a:extLst>
          </p:cNvPr>
          <p:cNvSpPr>
            <a:spLocks noGrp="1"/>
          </p:cNvSpPr>
          <p:nvPr>
            <p:ph type="title"/>
          </p:nvPr>
        </p:nvSpPr>
        <p:spPr>
          <a:xfrm>
            <a:off x="2200939" y="66375"/>
            <a:ext cx="8784217" cy="720428"/>
          </a:xfrm>
        </p:spPr>
        <p:txBody>
          <a:bodyPr/>
          <a:lstStyle/>
          <a:p>
            <a:r>
              <a:rPr lang="en-US" dirty="0"/>
              <a:t>Levels of Performance Management</a:t>
            </a:r>
          </a:p>
        </p:txBody>
      </p:sp>
      <p:sp>
        <p:nvSpPr>
          <p:cNvPr id="3" name="Content Placeholder 2">
            <a:extLst>
              <a:ext uri="{FF2B5EF4-FFF2-40B4-BE49-F238E27FC236}">
                <a16:creationId xmlns:a16="http://schemas.microsoft.com/office/drawing/2014/main" id="{2FD8AC5D-7E2E-63C0-7ACB-5D1238F49D3E}"/>
              </a:ext>
            </a:extLst>
          </p:cNvPr>
          <p:cNvSpPr>
            <a:spLocks noGrp="1"/>
          </p:cNvSpPr>
          <p:nvPr>
            <p:ph idx="1"/>
          </p:nvPr>
        </p:nvSpPr>
        <p:spPr>
          <a:xfrm>
            <a:off x="381000" y="1482767"/>
            <a:ext cx="11430000" cy="5202195"/>
          </a:xfrm>
        </p:spPr>
        <p:txBody>
          <a:bodyPr>
            <a:normAutofit fontScale="62500" lnSpcReduction="20000"/>
          </a:bodyPr>
          <a:lstStyle/>
          <a:p>
            <a:pPr marL="0" indent="0">
              <a:lnSpc>
                <a:spcPct val="140000"/>
              </a:lnSpc>
              <a:buNone/>
            </a:pPr>
            <a:r>
              <a:rPr lang="en-US" b="1" dirty="0"/>
              <a:t>Individual Level </a:t>
            </a:r>
            <a:r>
              <a:rPr lang="en-US" dirty="0"/>
              <a:t>- Focuses on managing the performance of employees through goal setting, feedback, and development. Aims to ensure employee objectives align with organisational goals. </a:t>
            </a:r>
          </a:p>
          <a:p>
            <a:pPr lvl="1">
              <a:lnSpc>
                <a:spcPct val="140000"/>
              </a:lnSpc>
            </a:pPr>
            <a:r>
              <a:rPr lang="en-US" dirty="0"/>
              <a:t>Personal development plans</a:t>
            </a:r>
          </a:p>
          <a:p>
            <a:pPr lvl="1">
              <a:lnSpc>
                <a:spcPct val="140000"/>
              </a:lnSpc>
            </a:pPr>
            <a:r>
              <a:rPr lang="en-US" dirty="0"/>
              <a:t>Performance reviews/appraisals</a:t>
            </a:r>
          </a:p>
          <a:p>
            <a:pPr lvl="1">
              <a:lnSpc>
                <a:spcPct val="140000"/>
              </a:lnSpc>
            </a:pPr>
            <a:r>
              <a:rPr lang="en-US" dirty="0"/>
              <a:t>Individual feedback and coaching</a:t>
            </a:r>
          </a:p>
          <a:p>
            <a:pPr marL="0" indent="0">
              <a:lnSpc>
                <a:spcPct val="140000"/>
              </a:lnSpc>
              <a:buNone/>
            </a:pPr>
            <a:r>
              <a:rPr lang="en-US" b="1" dirty="0"/>
              <a:t>Team/Group Level </a:t>
            </a:r>
            <a:r>
              <a:rPr lang="en-US" dirty="0"/>
              <a:t>- Oversees the collective performance of teams and/or departments and ensures team goals are met. </a:t>
            </a:r>
          </a:p>
          <a:p>
            <a:pPr lvl="1">
              <a:lnSpc>
                <a:spcPct val="140000"/>
              </a:lnSpc>
            </a:pPr>
            <a:r>
              <a:rPr lang="en-US" dirty="0"/>
              <a:t>Team goal setting</a:t>
            </a:r>
          </a:p>
          <a:p>
            <a:pPr lvl="1">
              <a:lnSpc>
                <a:spcPct val="140000"/>
              </a:lnSpc>
            </a:pPr>
            <a:r>
              <a:rPr lang="en-US" dirty="0"/>
              <a:t>Group performance evaluations</a:t>
            </a:r>
          </a:p>
          <a:p>
            <a:pPr lvl="1">
              <a:lnSpc>
                <a:spcPct val="140000"/>
              </a:lnSpc>
            </a:pPr>
            <a:r>
              <a:rPr lang="en-US" dirty="0"/>
              <a:t>Collaboration/team-building activities</a:t>
            </a:r>
          </a:p>
          <a:p>
            <a:pPr marL="0" indent="0">
              <a:lnSpc>
                <a:spcPct val="140000"/>
              </a:lnSpc>
              <a:buNone/>
            </a:pPr>
            <a:r>
              <a:rPr lang="en-US" b="1" dirty="0"/>
              <a:t>Organisational Level </a:t>
            </a:r>
            <a:r>
              <a:rPr lang="en-US" dirty="0"/>
              <a:t>- Focuses on overall organisational performance and strategic objectives. Aligns departments and teams toward shared long-term goals. </a:t>
            </a:r>
          </a:p>
          <a:p>
            <a:pPr lvl="1">
              <a:lnSpc>
                <a:spcPct val="140000"/>
              </a:lnSpc>
            </a:pPr>
            <a:r>
              <a:rPr lang="en-US" dirty="0"/>
              <a:t>Strategic planning</a:t>
            </a:r>
          </a:p>
          <a:p>
            <a:pPr lvl="1">
              <a:lnSpc>
                <a:spcPct val="140000"/>
              </a:lnSpc>
            </a:pPr>
            <a:r>
              <a:rPr lang="en-US" dirty="0"/>
              <a:t>Organisational performance metrics (KPIs)</a:t>
            </a:r>
          </a:p>
        </p:txBody>
      </p:sp>
      <p:sp>
        <p:nvSpPr>
          <p:cNvPr id="5" name="TextBox 4">
            <a:extLst>
              <a:ext uri="{FF2B5EF4-FFF2-40B4-BE49-F238E27FC236}">
                <a16:creationId xmlns:a16="http://schemas.microsoft.com/office/drawing/2014/main" id="{4C9679AD-A6CA-FAFD-7F96-6EC47A718CD9}"/>
              </a:ext>
            </a:extLst>
          </p:cNvPr>
          <p:cNvSpPr txBox="1"/>
          <p:nvPr/>
        </p:nvSpPr>
        <p:spPr>
          <a:xfrm>
            <a:off x="925033" y="762339"/>
            <a:ext cx="10717618" cy="646331"/>
          </a:xfrm>
          <a:prstGeom prst="rect">
            <a:avLst/>
          </a:prstGeom>
          <a:noFill/>
        </p:spPr>
        <p:txBody>
          <a:bodyPr wrap="square">
            <a:spAutoFit/>
          </a:bodyPr>
          <a:lstStyle/>
          <a:p>
            <a:r>
              <a:rPr lang="en-GB" sz="1800" b="1" u="none" strike="noStrike" dirty="0">
                <a:effectLst/>
                <a:latin typeface="+mn-lt"/>
              </a:rPr>
              <a:t>"94% of troubles and possibilities for improvement belong to the system (responsibility of management), 6% special."</a:t>
            </a:r>
            <a:r>
              <a:rPr lang="en-GB" dirty="0"/>
              <a:t> Deming, </a:t>
            </a:r>
            <a:r>
              <a:rPr lang="en-GB" i="1" dirty="0"/>
              <a:t>Out of the Crisis</a:t>
            </a:r>
            <a:endParaRPr lang="en-GB" dirty="0"/>
          </a:p>
        </p:txBody>
      </p:sp>
    </p:spTree>
    <p:extLst>
      <p:ext uri="{BB962C8B-B14F-4D97-AF65-F5344CB8AC3E}">
        <p14:creationId xmlns:p14="http://schemas.microsoft.com/office/powerpoint/2010/main" val="230838082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FD5BDB-17AC-4188-B1F3-F40A06066871}"/>
              </a:ext>
            </a:extLst>
          </p:cNvPr>
          <p:cNvSpPr>
            <a:spLocks noGrp="1"/>
          </p:cNvSpPr>
          <p:nvPr>
            <p:ph type="title"/>
          </p:nvPr>
        </p:nvSpPr>
        <p:spPr>
          <a:xfrm>
            <a:off x="481912" y="178785"/>
            <a:ext cx="10515600" cy="1325563"/>
          </a:xfrm>
        </p:spPr>
        <p:txBody>
          <a:bodyPr/>
          <a:lstStyle/>
          <a:p>
            <a:r>
              <a:rPr lang="en-US" dirty="0"/>
              <a:t>CIPD – Performance Management </a:t>
            </a:r>
          </a:p>
        </p:txBody>
      </p:sp>
      <p:sp>
        <p:nvSpPr>
          <p:cNvPr id="3" name="Content Placeholder 2">
            <a:extLst>
              <a:ext uri="{FF2B5EF4-FFF2-40B4-BE49-F238E27FC236}">
                <a16:creationId xmlns:a16="http://schemas.microsoft.com/office/drawing/2014/main" id="{095BAB4C-F5FF-221B-9905-3C583E780C17}"/>
              </a:ext>
            </a:extLst>
          </p:cNvPr>
          <p:cNvSpPr>
            <a:spLocks noGrp="1"/>
          </p:cNvSpPr>
          <p:nvPr>
            <p:ph idx="1"/>
          </p:nvPr>
        </p:nvSpPr>
        <p:spPr>
          <a:xfrm>
            <a:off x="481912" y="1504348"/>
            <a:ext cx="11468787" cy="5191037"/>
          </a:xfrm>
        </p:spPr>
        <p:txBody>
          <a:bodyPr>
            <a:normAutofit fontScale="55000" lnSpcReduction="20000"/>
          </a:bodyPr>
          <a:lstStyle/>
          <a:p>
            <a:pPr>
              <a:lnSpc>
                <a:spcPct val="160000"/>
              </a:lnSpc>
            </a:pPr>
            <a:r>
              <a:rPr lang="en-US" sz="3600" dirty="0"/>
              <a:t>Surveyed approx. 5000 employees in 2022 in the UK and found:</a:t>
            </a:r>
          </a:p>
          <a:p>
            <a:pPr lvl="1">
              <a:lnSpc>
                <a:spcPct val="160000"/>
              </a:lnSpc>
            </a:pPr>
            <a:r>
              <a:rPr lang="en-US" sz="3300" dirty="0"/>
              <a:t>48% of employees had some basic level performance management in their role (e.g. objectives were set by managers and then performance compared).</a:t>
            </a:r>
          </a:p>
          <a:p>
            <a:pPr lvl="1">
              <a:lnSpc>
                <a:spcPct val="160000"/>
              </a:lnSpc>
            </a:pPr>
            <a:r>
              <a:rPr lang="en-US" sz="3300" dirty="0"/>
              <a:t>28% of employees had systematic PM (e.g. also received feedback from managers and accountability).</a:t>
            </a:r>
          </a:p>
          <a:p>
            <a:pPr lvl="1">
              <a:lnSpc>
                <a:spcPct val="160000"/>
              </a:lnSpc>
            </a:pPr>
            <a:r>
              <a:rPr lang="en-US" sz="3300" dirty="0"/>
              <a:t>The key role of line managers was highlighted.</a:t>
            </a:r>
          </a:p>
          <a:p>
            <a:pPr lvl="1">
              <a:lnSpc>
                <a:spcPct val="160000"/>
              </a:lnSpc>
            </a:pPr>
            <a:r>
              <a:rPr lang="en-US" sz="3300" dirty="0"/>
              <a:t>Those employees who received feedback on their performance were then more likely to rate their managers positively!</a:t>
            </a:r>
          </a:p>
          <a:p>
            <a:pPr lvl="1">
              <a:lnSpc>
                <a:spcPct val="160000"/>
              </a:lnSpc>
            </a:pPr>
            <a:r>
              <a:rPr lang="en-US" sz="3300" dirty="0"/>
              <a:t>21% of employees had their performance linked in some way to their pay.</a:t>
            </a:r>
          </a:p>
          <a:p>
            <a:pPr lvl="1">
              <a:lnSpc>
                <a:spcPct val="160000"/>
              </a:lnSpc>
            </a:pPr>
            <a:r>
              <a:rPr lang="en-US" sz="3300" dirty="0"/>
              <a:t>Systematic performance management positively linked to task performance (those who receive feedback perform better). </a:t>
            </a:r>
          </a:p>
          <a:p>
            <a:pPr lvl="1">
              <a:lnSpc>
                <a:spcPct val="160000"/>
              </a:lnSpc>
            </a:pPr>
            <a:r>
              <a:rPr lang="en-US" sz="3300" dirty="0"/>
              <a:t>PRP (performance related pay) not associated with task performance</a:t>
            </a:r>
          </a:p>
          <a:p>
            <a:pPr marL="457200" lvl="1" indent="0" algn="r">
              <a:lnSpc>
                <a:spcPct val="160000"/>
              </a:lnSpc>
              <a:buNone/>
            </a:pPr>
            <a:r>
              <a:rPr lang="en-US" sz="2500" dirty="0"/>
              <a:t>(CIPD, 2023)</a:t>
            </a:r>
          </a:p>
          <a:p>
            <a:pPr marL="457200" lvl="1" indent="0">
              <a:buNone/>
            </a:pPr>
            <a:endParaRPr lang="en-US" dirty="0"/>
          </a:p>
        </p:txBody>
      </p:sp>
      <p:pic>
        <p:nvPicPr>
          <p:cNvPr id="5" name="Picture 4" descr="This is a picture of the CIPD logo. It is purple letters against a white background with the letters CIPD in capitals">
            <a:extLst>
              <a:ext uri="{FF2B5EF4-FFF2-40B4-BE49-F238E27FC236}">
                <a16:creationId xmlns:a16="http://schemas.microsoft.com/office/drawing/2014/main" id="{612CD9FE-7392-CA90-0AFD-3BD1E1FDBACD}"/>
              </a:ext>
            </a:extLst>
          </p:cNvPr>
          <p:cNvPicPr>
            <a:picLocks noChangeAspect="1"/>
          </p:cNvPicPr>
          <p:nvPr/>
        </p:nvPicPr>
        <p:blipFill>
          <a:blip r:embed="rId2"/>
          <a:stretch>
            <a:fillRect/>
          </a:stretch>
        </p:blipFill>
        <p:spPr>
          <a:xfrm>
            <a:off x="9931400" y="39387"/>
            <a:ext cx="2209800" cy="1231900"/>
          </a:xfrm>
          <a:prstGeom prst="rect">
            <a:avLst/>
          </a:prstGeom>
        </p:spPr>
      </p:pic>
    </p:spTree>
    <p:extLst>
      <p:ext uri="{BB962C8B-B14F-4D97-AF65-F5344CB8AC3E}">
        <p14:creationId xmlns:p14="http://schemas.microsoft.com/office/powerpoint/2010/main" val="384886982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65831C-87D9-ABC5-DE22-28E9D98DE033}"/>
              </a:ext>
            </a:extLst>
          </p:cNvPr>
          <p:cNvSpPr>
            <a:spLocks noGrp="1"/>
          </p:cNvSpPr>
          <p:nvPr>
            <p:ph type="title"/>
          </p:nvPr>
        </p:nvSpPr>
        <p:spPr/>
        <p:txBody>
          <a:bodyPr/>
          <a:lstStyle/>
          <a:p>
            <a:r>
              <a:rPr lang="en-US" dirty="0"/>
              <a:t>Categorizing Performance Management </a:t>
            </a:r>
          </a:p>
        </p:txBody>
      </p:sp>
      <p:sp>
        <p:nvSpPr>
          <p:cNvPr id="3" name="Content Placeholder 2">
            <a:extLst>
              <a:ext uri="{FF2B5EF4-FFF2-40B4-BE49-F238E27FC236}">
                <a16:creationId xmlns:a16="http://schemas.microsoft.com/office/drawing/2014/main" id="{15A90836-90A6-BCFD-406F-137A1C3153CE}"/>
              </a:ext>
            </a:extLst>
          </p:cNvPr>
          <p:cNvSpPr>
            <a:spLocks noGrp="1"/>
          </p:cNvSpPr>
          <p:nvPr>
            <p:ph idx="1"/>
          </p:nvPr>
        </p:nvSpPr>
        <p:spPr>
          <a:xfrm>
            <a:off x="838200" y="1973906"/>
            <a:ext cx="10515600" cy="4351338"/>
          </a:xfrm>
        </p:spPr>
        <p:txBody>
          <a:bodyPr/>
          <a:lstStyle/>
          <a:p>
            <a:pPr>
              <a:lnSpc>
                <a:spcPct val="150000"/>
              </a:lnSpc>
            </a:pPr>
            <a:r>
              <a:rPr lang="en-US" dirty="0"/>
              <a:t>Performance management for </a:t>
            </a:r>
            <a:r>
              <a:rPr lang="en-US" b="1" dirty="0"/>
              <a:t>administrative purposes </a:t>
            </a:r>
            <a:r>
              <a:rPr lang="en-US" dirty="0"/>
              <a:t>– e.g. how to manage, reward, promote, retain and terminate </a:t>
            </a:r>
          </a:p>
          <a:p>
            <a:pPr>
              <a:lnSpc>
                <a:spcPct val="150000"/>
              </a:lnSpc>
            </a:pPr>
            <a:r>
              <a:rPr lang="en-US" dirty="0"/>
              <a:t>Performance management for </a:t>
            </a:r>
            <a:r>
              <a:rPr lang="en-US" b="1" dirty="0"/>
              <a:t>development purposes </a:t>
            </a:r>
            <a:r>
              <a:rPr lang="en-US" dirty="0"/>
              <a:t>– e.g. how and where an organisation needs to build capability </a:t>
            </a:r>
          </a:p>
        </p:txBody>
      </p:sp>
    </p:spTree>
    <p:extLst>
      <p:ext uri="{BB962C8B-B14F-4D97-AF65-F5344CB8AC3E}">
        <p14:creationId xmlns:p14="http://schemas.microsoft.com/office/powerpoint/2010/main" val="215984156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72401" y="181310"/>
            <a:ext cx="8610600" cy="1293028"/>
          </a:xfrm>
        </p:spPr>
        <p:txBody>
          <a:bodyPr/>
          <a:lstStyle/>
          <a:p>
            <a:pPr algn="l"/>
            <a:r>
              <a:rPr lang="en-US" dirty="0"/>
              <a:t>The Performance Management Cycle</a:t>
            </a:r>
          </a:p>
        </p:txBody>
      </p:sp>
      <p:pic>
        <p:nvPicPr>
          <p:cNvPr id="4" name="Picture 3" descr="This is a picture of a diagram called ‘The Performance Management Cycle’. The first stage of the cycle is the planning stage. The second stage is the monitoring stage. The third stage is the review stage. "/>
          <p:cNvPicPr>
            <a:picLocks noChangeAspect="1"/>
          </p:cNvPicPr>
          <p:nvPr/>
        </p:nvPicPr>
        <p:blipFill>
          <a:blip r:embed="rId2">
            <a:biLevel thresh="75000"/>
            <a:extLst>
              <a:ext uri="{BEBA8EAE-BF5A-486C-A8C5-ECC9F3942E4B}">
                <a14:imgProps xmlns:a14="http://schemas.microsoft.com/office/drawing/2010/main">
                  <a14:imgLayer r:embed="rId3">
                    <a14:imgEffect>
                      <a14:saturation sat="0"/>
                    </a14:imgEffect>
                  </a14:imgLayer>
                </a14:imgProps>
              </a:ext>
              <a:ext uri="{28A0092B-C50C-407E-A947-70E740481C1C}">
                <a14:useLocalDpi xmlns:a14="http://schemas.microsoft.com/office/drawing/2010/main" val="0"/>
              </a:ext>
            </a:extLst>
          </a:blip>
          <a:stretch>
            <a:fillRect/>
          </a:stretch>
        </p:blipFill>
        <p:spPr>
          <a:xfrm>
            <a:off x="2026507" y="1313700"/>
            <a:ext cx="8414952" cy="4748414"/>
          </a:xfrm>
          <a:prstGeom prst="rect">
            <a:avLst/>
          </a:prstGeom>
        </p:spPr>
      </p:pic>
      <p:sp>
        <p:nvSpPr>
          <p:cNvPr id="5" name="TextBox 4">
            <a:extLst>
              <a:ext uri="{FF2B5EF4-FFF2-40B4-BE49-F238E27FC236}">
                <a16:creationId xmlns:a16="http://schemas.microsoft.com/office/drawing/2014/main" id="{2C3BCBA6-9AD6-F4F9-0F6A-184D3BA43BF2}"/>
              </a:ext>
            </a:extLst>
          </p:cNvPr>
          <p:cNvSpPr txBox="1"/>
          <p:nvPr/>
        </p:nvSpPr>
        <p:spPr>
          <a:xfrm>
            <a:off x="8155459" y="6203092"/>
            <a:ext cx="2792627" cy="369332"/>
          </a:xfrm>
          <a:prstGeom prst="rect">
            <a:avLst/>
          </a:prstGeom>
          <a:noFill/>
        </p:spPr>
        <p:txBody>
          <a:bodyPr wrap="square" rtlCol="0">
            <a:spAutoFit/>
          </a:bodyPr>
          <a:lstStyle/>
          <a:p>
            <a:r>
              <a:rPr lang="en-US" dirty="0"/>
              <a:t>(Armstrong &amp; Taylor, 2023)</a:t>
            </a:r>
          </a:p>
        </p:txBody>
      </p:sp>
    </p:spTree>
    <p:extLst>
      <p:ext uri="{BB962C8B-B14F-4D97-AF65-F5344CB8AC3E}">
        <p14:creationId xmlns:p14="http://schemas.microsoft.com/office/powerpoint/2010/main" val="161620300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1D9A23-B0B4-9879-6335-B5B8C95A8DEA}"/>
              </a:ext>
            </a:extLst>
          </p:cNvPr>
          <p:cNvSpPr>
            <a:spLocks noGrp="1"/>
          </p:cNvSpPr>
          <p:nvPr>
            <p:ph type="title"/>
          </p:nvPr>
        </p:nvSpPr>
        <p:spPr/>
        <p:txBody>
          <a:bodyPr/>
          <a:lstStyle/>
          <a:p>
            <a:r>
              <a:rPr lang="en-US" dirty="0"/>
              <a:t>Defining Performance &amp; Planning</a:t>
            </a:r>
          </a:p>
        </p:txBody>
      </p:sp>
      <p:sp>
        <p:nvSpPr>
          <p:cNvPr id="3" name="Content Placeholder 2">
            <a:extLst>
              <a:ext uri="{FF2B5EF4-FFF2-40B4-BE49-F238E27FC236}">
                <a16:creationId xmlns:a16="http://schemas.microsoft.com/office/drawing/2014/main" id="{3DB25376-4643-D05E-A16D-C007A51030E7}"/>
              </a:ext>
            </a:extLst>
          </p:cNvPr>
          <p:cNvSpPr>
            <a:spLocks noGrp="1"/>
          </p:cNvSpPr>
          <p:nvPr>
            <p:ph idx="1"/>
          </p:nvPr>
        </p:nvSpPr>
        <p:spPr>
          <a:xfrm>
            <a:off x="691978" y="1825625"/>
            <a:ext cx="10661822" cy="4667250"/>
          </a:xfrm>
        </p:spPr>
        <p:txBody>
          <a:bodyPr>
            <a:normAutofit fontScale="92500" lnSpcReduction="20000"/>
          </a:bodyPr>
          <a:lstStyle/>
          <a:p>
            <a:pPr marL="0" indent="0">
              <a:lnSpc>
                <a:spcPct val="150000"/>
              </a:lnSpc>
              <a:buNone/>
            </a:pPr>
            <a:r>
              <a:rPr lang="en-US" dirty="0"/>
              <a:t>The </a:t>
            </a:r>
            <a:r>
              <a:rPr lang="en-US" b="1" dirty="0"/>
              <a:t>planning</a:t>
            </a:r>
            <a:r>
              <a:rPr lang="en-US" dirty="0"/>
              <a:t> stage involves setting clear and measurable performance goals that are ideally aligned with organisational objectives. This phase establishes expectations and provides a framework for evaluating performance.</a:t>
            </a:r>
          </a:p>
          <a:p>
            <a:pPr marL="0" indent="0">
              <a:lnSpc>
                <a:spcPct val="150000"/>
              </a:lnSpc>
              <a:buNone/>
            </a:pPr>
            <a:r>
              <a:rPr lang="en-US" dirty="0"/>
              <a:t>Key Components:</a:t>
            </a:r>
          </a:p>
          <a:p>
            <a:pPr lvl="1">
              <a:lnSpc>
                <a:spcPct val="150000"/>
              </a:lnSpc>
            </a:pPr>
            <a:r>
              <a:rPr lang="en-US" dirty="0"/>
              <a:t>Expectation Communication: Clearly communicate roles, responsibilities, and performance expectations to employees.</a:t>
            </a:r>
          </a:p>
          <a:p>
            <a:pPr lvl="1">
              <a:lnSpc>
                <a:spcPct val="150000"/>
              </a:lnSpc>
            </a:pPr>
            <a:r>
              <a:rPr lang="en-US" dirty="0"/>
              <a:t>Development Plans: Create individual development plans that support employees in achieving their goals/performance objectives.</a:t>
            </a:r>
          </a:p>
        </p:txBody>
      </p:sp>
    </p:spTree>
    <p:extLst>
      <p:ext uri="{BB962C8B-B14F-4D97-AF65-F5344CB8AC3E}">
        <p14:creationId xmlns:p14="http://schemas.microsoft.com/office/powerpoint/2010/main" val="119930651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2436AE-70EE-D7A3-D05E-3803652EFED8}"/>
              </a:ext>
            </a:extLst>
          </p:cNvPr>
          <p:cNvSpPr>
            <a:spLocks noGrp="1"/>
          </p:cNvSpPr>
          <p:nvPr>
            <p:ph type="title"/>
          </p:nvPr>
        </p:nvSpPr>
        <p:spPr>
          <a:xfrm>
            <a:off x="628135" y="266271"/>
            <a:ext cx="10515600" cy="1325563"/>
          </a:xfrm>
        </p:spPr>
        <p:txBody>
          <a:bodyPr/>
          <a:lstStyle/>
          <a:p>
            <a:r>
              <a:rPr lang="en-US" dirty="0"/>
              <a:t>Monitoring Performance</a:t>
            </a:r>
          </a:p>
        </p:txBody>
      </p:sp>
      <p:sp>
        <p:nvSpPr>
          <p:cNvPr id="3" name="Content Placeholder 2">
            <a:extLst>
              <a:ext uri="{FF2B5EF4-FFF2-40B4-BE49-F238E27FC236}">
                <a16:creationId xmlns:a16="http://schemas.microsoft.com/office/drawing/2014/main" id="{A3C34291-CBB4-BF83-B9F9-8B39D44DF3EA}"/>
              </a:ext>
            </a:extLst>
          </p:cNvPr>
          <p:cNvSpPr>
            <a:spLocks noGrp="1"/>
          </p:cNvSpPr>
          <p:nvPr>
            <p:ph idx="1"/>
          </p:nvPr>
        </p:nvSpPr>
        <p:spPr>
          <a:xfrm>
            <a:off x="628135" y="1482811"/>
            <a:ext cx="10725665" cy="5226908"/>
          </a:xfrm>
        </p:spPr>
        <p:txBody>
          <a:bodyPr>
            <a:normAutofit fontScale="92500" lnSpcReduction="20000"/>
          </a:bodyPr>
          <a:lstStyle/>
          <a:p>
            <a:pPr marL="0" indent="0">
              <a:lnSpc>
                <a:spcPct val="150000"/>
              </a:lnSpc>
              <a:buNone/>
            </a:pPr>
            <a:r>
              <a:rPr lang="en-US" dirty="0"/>
              <a:t>The </a:t>
            </a:r>
            <a:r>
              <a:rPr lang="en-US" b="1" dirty="0"/>
              <a:t>monitoring</a:t>
            </a:r>
            <a:r>
              <a:rPr lang="en-US" dirty="0"/>
              <a:t> stage involves the ongoing observation and assessment of employee performance and progress towards established goals/objectives throughout the performance cycle.</a:t>
            </a:r>
          </a:p>
          <a:p>
            <a:pPr marL="0" indent="0">
              <a:lnSpc>
                <a:spcPct val="150000"/>
              </a:lnSpc>
              <a:buNone/>
            </a:pPr>
            <a:r>
              <a:rPr lang="en-US" dirty="0"/>
              <a:t>Key Components:</a:t>
            </a:r>
          </a:p>
          <a:p>
            <a:pPr lvl="1">
              <a:lnSpc>
                <a:spcPct val="150000"/>
              </a:lnSpc>
            </a:pPr>
            <a:r>
              <a:rPr lang="en-US" dirty="0"/>
              <a:t>Check-Ins: Scheduling meetings to discuss progress, address challenges, and provide support.</a:t>
            </a:r>
          </a:p>
          <a:p>
            <a:pPr lvl="1">
              <a:lnSpc>
                <a:spcPct val="150000"/>
              </a:lnSpc>
            </a:pPr>
            <a:r>
              <a:rPr lang="en-US" dirty="0"/>
              <a:t>Performance Metrics: Utilizing specific metrics and key performance indicators to evaluate performance against goals.</a:t>
            </a:r>
          </a:p>
          <a:p>
            <a:pPr lvl="1">
              <a:lnSpc>
                <a:spcPct val="150000"/>
              </a:lnSpc>
            </a:pPr>
            <a:r>
              <a:rPr lang="en-US" dirty="0"/>
              <a:t>Data Collection: Gather relevant information to assess performance trends and identify areas needing attention.</a:t>
            </a:r>
          </a:p>
        </p:txBody>
      </p:sp>
    </p:spTree>
    <p:extLst>
      <p:ext uri="{BB962C8B-B14F-4D97-AF65-F5344CB8AC3E}">
        <p14:creationId xmlns:p14="http://schemas.microsoft.com/office/powerpoint/2010/main" val="365713247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FD712C-E63F-1591-C3BB-907865914C85}"/>
              </a:ext>
            </a:extLst>
          </p:cNvPr>
          <p:cNvSpPr>
            <a:spLocks noGrp="1"/>
          </p:cNvSpPr>
          <p:nvPr>
            <p:ph type="title"/>
          </p:nvPr>
        </p:nvSpPr>
        <p:spPr>
          <a:xfrm>
            <a:off x="467497" y="192131"/>
            <a:ext cx="10515600" cy="1325563"/>
          </a:xfrm>
        </p:spPr>
        <p:txBody>
          <a:bodyPr/>
          <a:lstStyle/>
          <a:p>
            <a:r>
              <a:rPr lang="en-US" dirty="0"/>
              <a:t>The Performance Review</a:t>
            </a:r>
          </a:p>
        </p:txBody>
      </p:sp>
      <p:sp>
        <p:nvSpPr>
          <p:cNvPr id="3" name="Content Placeholder 2">
            <a:extLst>
              <a:ext uri="{FF2B5EF4-FFF2-40B4-BE49-F238E27FC236}">
                <a16:creationId xmlns:a16="http://schemas.microsoft.com/office/drawing/2014/main" id="{6D3FA496-DF93-7608-3D06-FEF94C960117}"/>
              </a:ext>
            </a:extLst>
          </p:cNvPr>
          <p:cNvSpPr>
            <a:spLocks noGrp="1"/>
          </p:cNvSpPr>
          <p:nvPr>
            <p:ph idx="1"/>
          </p:nvPr>
        </p:nvSpPr>
        <p:spPr>
          <a:xfrm>
            <a:off x="580768" y="1517694"/>
            <a:ext cx="11170508" cy="4975181"/>
          </a:xfrm>
        </p:spPr>
        <p:txBody>
          <a:bodyPr>
            <a:normAutofit/>
          </a:bodyPr>
          <a:lstStyle/>
          <a:p>
            <a:pPr marL="0" indent="0">
              <a:buNone/>
            </a:pPr>
            <a:r>
              <a:rPr lang="en-US" dirty="0"/>
              <a:t>The </a:t>
            </a:r>
            <a:r>
              <a:rPr lang="en-US" b="1" dirty="0"/>
              <a:t>review </a:t>
            </a:r>
            <a:r>
              <a:rPr lang="en-US" dirty="0"/>
              <a:t>stage entails formerly assessing employee performance against established goals and expectations, providing opportunities for feedback and future planning.</a:t>
            </a:r>
          </a:p>
          <a:p>
            <a:pPr marL="0" indent="0">
              <a:buNone/>
            </a:pPr>
            <a:r>
              <a:rPr lang="en-US" dirty="0"/>
              <a:t>Key Components:</a:t>
            </a:r>
          </a:p>
          <a:p>
            <a:pPr lvl="1"/>
            <a:r>
              <a:rPr lang="en-US" dirty="0"/>
              <a:t>Conduct formal evaluations to assess progress toward goals and overall performance.</a:t>
            </a:r>
          </a:p>
          <a:p>
            <a:pPr lvl="1"/>
            <a:r>
              <a:rPr lang="en-US" dirty="0"/>
              <a:t>Offer constructive feedback on performance, highlighting both strengths and areas for improvement.</a:t>
            </a:r>
          </a:p>
          <a:p>
            <a:pPr lvl="1"/>
            <a:r>
              <a:rPr lang="en-US" dirty="0"/>
              <a:t>Discuss developmental needs and adjust goals for the next performance cycle as needed.</a:t>
            </a:r>
          </a:p>
          <a:p>
            <a:pPr marL="457200" lvl="1" indent="0">
              <a:buNone/>
            </a:pPr>
            <a:endParaRPr lang="en-US" b="1" dirty="0"/>
          </a:p>
          <a:p>
            <a:pPr marL="0" indent="0">
              <a:buNone/>
            </a:pPr>
            <a:r>
              <a:rPr lang="en-US" dirty="0"/>
              <a:t>This review often takes the form of a performance appraisal!</a:t>
            </a:r>
          </a:p>
        </p:txBody>
      </p:sp>
    </p:spTree>
    <p:extLst>
      <p:ext uri="{BB962C8B-B14F-4D97-AF65-F5344CB8AC3E}">
        <p14:creationId xmlns:p14="http://schemas.microsoft.com/office/powerpoint/2010/main" val="44601697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02771" y="350716"/>
            <a:ext cx="11027229" cy="1293028"/>
          </a:xfrm>
        </p:spPr>
        <p:txBody>
          <a:bodyPr/>
          <a:lstStyle/>
          <a:p>
            <a:pPr algn="l"/>
            <a:r>
              <a:rPr lang="en-GB" dirty="0"/>
              <a:t>What is a performance appraisal?</a:t>
            </a:r>
          </a:p>
        </p:txBody>
      </p:sp>
      <p:sp>
        <p:nvSpPr>
          <p:cNvPr id="3" name="Content Placeholder 2"/>
          <p:cNvSpPr>
            <a:spLocks noGrp="1"/>
          </p:cNvSpPr>
          <p:nvPr>
            <p:ph idx="1"/>
          </p:nvPr>
        </p:nvSpPr>
        <p:spPr>
          <a:xfrm>
            <a:off x="402771" y="1445741"/>
            <a:ext cx="11027229" cy="5029200"/>
          </a:xfrm>
        </p:spPr>
        <p:txBody>
          <a:bodyPr>
            <a:normAutofit fontScale="85000" lnSpcReduction="10000"/>
          </a:bodyPr>
          <a:lstStyle/>
          <a:p>
            <a:pPr marL="0" indent="0">
              <a:lnSpc>
                <a:spcPct val="150000"/>
              </a:lnSpc>
              <a:buNone/>
            </a:pPr>
            <a:r>
              <a:rPr lang="en-GB" dirty="0"/>
              <a:t>A performance appraisal is a formalised process designed to assess and evaluate employee performance against established criteria and objectives.</a:t>
            </a:r>
          </a:p>
          <a:p>
            <a:pPr>
              <a:lnSpc>
                <a:spcPct val="150000"/>
              </a:lnSpc>
            </a:pPr>
            <a:r>
              <a:rPr lang="en-GB" dirty="0"/>
              <a:t>Common HR practice: One of the most widely used practices in both public and private sectors to enhance workforce effectiveness.</a:t>
            </a:r>
          </a:p>
          <a:p>
            <a:pPr>
              <a:lnSpc>
                <a:spcPct val="150000"/>
              </a:lnSpc>
            </a:pPr>
            <a:r>
              <a:rPr lang="en-GB" dirty="0"/>
              <a:t>Can range from simple evaluations to more complex systems.</a:t>
            </a:r>
          </a:p>
          <a:p>
            <a:pPr>
              <a:lnSpc>
                <a:spcPct val="150000"/>
              </a:lnSpc>
            </a:pPr>
            <a:r>
              <a:rPr lang="en-GB" dirty="0"/>
              <a:t>Integration with Performance Management Systems: Can function as a stand-alone process or be incorporated into a comprehensive performance management system, promoting alignment and continuous improvement</a:t>
            </a:r>
            <a:endParaRPr lang="en-GB" dirty="0">
              <a:solidFill>
                <a:schemeClr val="tx1"/>
              </a:solidFill>
            </a:endParaRPr>
          </a:p>
        </p:txBody>
      </p:sp>
    </p:spTree>
    <p:extLst>
      <p:ext uri="{BB962C8B-B14F-4D97-AF65-F5344CB8AC3E}">
        <p14:creationId xmlns:p14="http://schemas.microsoft.com/office/powerpoint/2010/main" val="341502183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0A3C11-4FFD-1B89-DDDA-8825EF2A770B}"/>
              </a:ext>
            </a:extLst>
          </p:cNvPr>
          <p:cNvSpPr>
            <a:spLocks noGrp="1"/>
          </p:cNvSpPr>
          <p:nvPr>
            <p:ph type="title"/>
          </p:nvPr>
        </p:nvSpPr>
        <p:spPr>
          <a:xfrm>
            <a:off x="444843" y="365125"/>
            <a:ext cx="11491784" cy="1325563"/>
          </a:xfrm>
        </p:spPr>
        <p:txBody>
          <a:bodyPr>
            <a:normAutofit/>
          </a:bodyPr>
          <a:lstStyle/>
          <a:p>
            <a:r>
              <a:rPr lang="en-US" sz="3600" dirty="0"/>
              <a:t>Conducting Performance Appraisals: Methods &amp; Approaches</a:t>
            </a:r>
          </a:p>
        </p:txBody>
      </p:sp>
      <p:sp>
        <p:nvSpPr>
          <p:cNvPr id="3" name="Content Placeholder 2">
            <a:extLst>
              <a:ext uri="{FF2B5EF4-FFF2-40B4-BE49-F238E27FC236}">
                <a16:creationId xmlns:a16="http://schemas.microsoft.com/office/drawing/2014/main" id="{1472A291-1E24-92F7-4CA8-4756917D5FFA}"/>
              </a:ext>
            </a:extLst>
          </p:cNvPr>
          <p:cNvSpPr>
            <a:spLocks noGrp="1"/>
          </p:cNvSpPr>
          <p:nvPr>
            <p:ph idx="1"/>
          </p:nvPr>
        </p:nvSpPr>
        <p:spPr>
          <a:xfrm>
            <a:off x="444843" y="1825625"/>
            <a:ext cx="11491784" cy="4847024"/>
          </a:xfrm>
        </p:spPr>
        <p:txBody>
          <a:bodyPr>
            <a:normAutofit fontScale="85000" lnSpcReduction="10000"/>
          </a:bodyPr>
          <a:lstStyle/>
          <a:p>
            <a:pPr>
              <a:lnSpc>
                <a:spcPct val="160000"/>
              </a:lnSpc>
            </a:pPr>
            <a:r>
              <a:rPr lang="en-US" sz="2400" b="1" dirty="0"/>
              <a:t>Diverse Methodologies </a:t>
            </a:r>
            <a:r>
              <a:rPr lang="en-US" sz="2400" dirty="0"/>
              <a:t>- Performance appraisals can utilize a variety of methods, ranging from basic ranking systems to more sophisticated approaches such as objective, standards-based, and competency-based evaluations, as well as complex behaviour-anchored rating scales.</a:t>
            </a:r>
          </a:p>
          <a:p>
            <a:pPr>
              <a:lnSpc>
                <a:spcPct val="160000"/>
              </a:lnSpc>
            </a:pPr>
            <a:r>
              <a:rPr lang="en-US" sz="2400" b="1" dirty="0"/>
              <a:t>Influencing Factors </a:t>
            </a:r>
            <a:r>
              <a:rPr lang="en-US" sz="2400" dirty="0"/>
              <a:t>- The design of an organisation’s appraisal system may reflect its managerial philosophy, approach to HRM, available resources, and possession of expertise.</a:t>
            </a:r>
          </a:p>
          <a:p>
            <a:pPr>
              <a:lnSpc>
                <a:spcPct val="160000"/>
              </a:lnSpc>
            </a:pPr>
            <a:r>
              <a:rPr lang="en-US" sz="2400" b="1" dirty="0"/>
              <a:t>Smaller Organisations</a:t>
            </a:r>
            <a:r>
              <a:rPr lang="en-US" sz="2400" dirty="0"/>
              <a:t>: Could be more likely to implement simpler ranking and rating methods due to limited resources.</a:t>
            </a:r>
          </a:p>
          <a:p>
            <a:pPr>
              <a:lnSpc>
                <a:spcPct val="160000"/>
              </a:lnSpc>
            </a:pPr>
            <a:r>
              <a:rPr lang="en-US" sz="2400" b="1" dirty="0"/>
              <a:t>Larger Organisations</a:t>
            </a:r>
            <a:r>
              <a:rPr lang="en-US" sz="2400" dirty="0"/>
              <a:t>: May employ more intricate appraisal systems that accommodate a broader range of evaluation criteria and standards.</a:t>
            </a:r>
          </a:p>
        </p:txBody>
      </p:sp>
    </p:spTree>
    <p:extLst>
      <p:ext uri="{BB962C8B-B14F-4D97-AF65-F5344CB8AC3E}">
        <p14:creationId xmlns:p14="http://schemas.microsoft.com/office/powerpoint/2010/main" val="133937664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BBDE6C-5882-05E5-BA2A-65CE3AEA7FB7}"/>
              </a:ext>
            </a:extLst>
          </p:cNvPr>
          <p:cNvSpPr>
            <a:spLocks noGrp="1"/>
          </p:cNvSpPr>
          <p:nvPr>
            <p:ph type="title"/>
          </p:nvPr>
        </p:nvSpPr>
        <p:spPr/>
        <p:txBody>
          <a:bodyPr/>
          <a:lstStyle/>
          <a:p>
            <a:r>
              <a:rPr lang="en-GB" dirty="0"/>
              <a:t>9-Box Grid</a:t>
            </a:r>
          </a:p>
        </p:txBody>
      </p:sp>
      <p:sp>
        <p:nvSpPr>
          <p:cNvPr id="3" name="Rectangle: Rounded Corners 2">
            <a:extLst>
              <a:ext uri="{FF2B5EF4-FFF2-40B4-BE49-F238E27FC236}">
                <a16:creationId xmlns:a16="http://schemas.microsoft.com/office/drawing/2014/main" id="{974CD6AD-1736-4D1B-9E15-633F02EA85E2}"/>
              </a:ext>
            </a:extLst>
          </p:cNvPr>
          <p:cNvSpPr/>
          <p:nvPr/>
        </p:nvSpPr>
        <p:spPr>
          <a:xfrm>
            <a:off x="5627917" y="240502"/>
            <a:ext cx="1730829" cy="1746704"/>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Develop</a:t>
            </a:r>
          </a:p>
        </p:txBody>
      </p:sp>
      <p:sp>
        <p:nvSpPr>
          <p:cNvPr id="5" name="Rectangle: Rounded Corners 4">
            <a:extLst>
              <a:ext uri="{FF2B5EF4-FFF2-40B4-BE49-F238E27FC236}">
                <a16:creationId xmlns:a16="http://schemas.microsoft.com/office/drawing/2014/main" id="{54E812B7-7FBE-CC89-B2FF-2F8221FEF78C}"/>
              </a:ext>
            </a:extLst>
          </p:cNvPr>
          <p:cNvSpPr/>
          <p:nvPr/>
        </p:nvSpPr>
        <p:spPr>
          <a:xfrm>
            <a:off x="9748156" y="4316622"/>
            <a:ext cx="1730829" cy="1746704"/>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Trusted Professional</a:t>
            </a:r>
          </a:p>
        </p:txBody>
      </p:sp>
      <p:sp>
        <p:nvSpPr>
          <p:cNvPr id="7" name="Rectangle: Rounded Corners 6">
            <a:extLst>
              <a:ext uri="{FF2B5EF4-FFF2-40B4-BE49-F238E27FC236}">
                <a16:creationId xmlns:a16="http://schemas.microsoft.com/office/drawing/2014/main" id="{3AE2CF85-690F-84EB-E0F0-14143AEA112A}"/>
              </a:ext>
            </a:extLst>
          </p:cNvPr>
          <p:cNvSpPr/>
          <p:nvPr/>
        </p:nvSpPr>
        <p:spPr>
          <a:xfrm>
            <a:off x="7734306" y="4316622"/>
            <a:ext cx="1730829" cy="1746704"/>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Observe / Effective</a:t>
            </a:r>
          </a:p>
        </p:txBody>
      </p:sp>
      <p:sp>
        <p:nvSpPr>
          <p:cNvPr id="9" name="Rectangle: Rounded Corners 8">
            <a:extLst>
              <a:ext uri="{FF2B5EF4-FFF2-40B4-BE49-F238E27FC236}">
                <a16:creationId xmlns:a16="http://schemas.microsoft.com/office/drawing/2014/main" id="{945CD422-B2D1-F6E7-A8C9-E0ABD9E9BDA3}"/>
              </a:ext>
            </a:extLst>
          </p:cNvPr>
          <p:cNvSpPr/>
          <p:nvPr/>
        </p:nvSpPr>
        <p:spPr>
          <a:xfrm>
            <a:off x="5627917" y="4316622"/>
            <a:ext cx="1730829" cy="1746704"/>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Observe / Terminate</a:t>
            </a:r>
          </a:p>
        </p:txBody>
      </p:sp>
      <p:sp>
        <p:nvSpPr>
          <p:cNvPr id="11" name="Rectangle: Rounded Corners 10">
            <a:extLst>
              <a:ext uri="{FF2B5EF4-FFF2-40B4-BE49-F238E27FC236}">
                <a16:creationId xmlns:a16="http://schemas.microsoft.com/office/drawing/2014/main" id="{F28C42A8-52F4-288F-63DE-A14A5B8CF342}"/>
              </a:ext>
            </a:extLst>
          </p:cNvPr>
          <p:cNvSpPr/>
          <p:nvPr/>
        </p:nvSpPr>
        <p:spPr>
          <a:xfrm>
            <a:off x="9748156" y="2294891"/>
            <a:ext cx="1730829" cy="1746704"/>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Stretch / Develop</a:t>
            </a:r>
          </a:p>
        </p:txBody>
      </p:sp>
      <p:sp>
        <p:nvSpPr>
          <p:cNvPr id="13" name="Rectangle: Rounded Corners 12">
            <a:extLst>
              <a:ext uri="{FF2B5EF4-FFF2-40B4-BE49-F238E27FC236}">
                <a16:creationId xmlns:a16="http://schemas.microsoft.com/office/drawing/2014/main" id="{C94E37FE-F84E-B0D8-F337-844FCD90EC27}"/>
              </a:ext>
            </a:extLst>
          </p:cNvPr>
          <p:cNvSpPr/>
          <p:nvPr/>
        </p:nvSpPr>
        <p:spPr>
          <a:xfrm>
            <a:off x="7723418" y="2294891"/>
            <a:ext cx="1730829" cy="1746704"/>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Core</a:t>
            </a:r>
          </a:p>
        </p:txBody>
      </p:sp>
      <p:sp>
        <p:nvSpPr>
          <p:cNvPr id="15" name="Rectangle: Rounded Corners 14">
            <a:extLst>
              <a:ext uri="{FF2B5EF4-FFF2-40B4-BE49-F238E27FC236}">
                <a16:creationId xmlns:a16="http://schemas.microsoft.com/office/drawing/2014/main" id="{A9E8A791-2160-21D2-FCE8-13A1C27893E4}"/>
              </a:ext>
            </a:extLst>
          </p:cNvPr>
          <p:cNvSpPr/>
          <p:nvPr/>
        </p:nvSpPr>
        <p:spPr>
          <a:xfrm>
            <a:off x="5627917" y="2294891"/>
            <a:ext cx="1730829" cy="1746704"/>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Observe - Dilemma</a:t>
            </a:r>
          </a:p>
        </p:txBody>
      </p:sp>
      <p:sp>
        <p:nvSpPr>
          <p:cNvPr id="17" name="Rectangle: Rounded Corners 16">
            <a:extLst>
              <a:ext uri="{FF2B5EF4-FFF2-40B4-BE49-F238E27FC236}">
                <a16:creationId xmlns:a16="http://schemas.microsoft.com/office/drawing/2014/main" id="{1C2884EE-562D-062E-5E1B-586F0A2E7E66}"/>
              </a:ext>
            </a:extLst>
          </p:cNvPr>
          <p:cNvSpPr/>
          <p:nvPr/>
        </p:nvSpPr>
        <p:spPr>
          <a:xfrm>
            <a:off x="7685321" y="240502"/>
            <a:ext cx="1730829" cy="1746704"/>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Develop / Stretch</a:t>
            </a:r>
          </a:p>
        </p:txBody>
      </p:sp>
      <p:sp>
        <p:nvSpPr>
          <p:cNvPr id="19" name="Rectangle: Rounded Corners 18">
            <a:extLst>
              <a:ext uri="{FF2B5EF4-FFF2-40B4-BE49-F238E27FC236}">
                <a16:creationId xmlns:a16="http://schemas.microsoft.com/office/drawing/2014/main" id="{FEEA7867-E757-C1A2-49ED-34386790AF9D}"/>
              </a:ext>
            </a:extLst>
          </p:cNvPr>
          <p:cNvSpPr/>
          <p:nvPr/>
        </p:nvSpPr>
        <p:spPr>
          <a:xfrm>
            <a:off x="9748156" y="223607"/>
            <a:ext cx="1730829" cy="1746704"/>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Stretch</a:t>
            </a:r>
          </a:p>
        </p:txBody>
      </p:sp>
      <p:sp>
        <p:nvSpPr>
          <p:cNvPr id="20" name="Arrow: Right 19">
            <a:extLst>
              <a:ext uri="{FF2B5EF4-FFF2-40B4-BE49-F238E27FC236}">
                <a16:creationId xmlns:a16="http://schemas.microsoft.com/office/drawing/2014/main" id="{253FB617-D3CD-D4D9-7500-BA43170046DF}"/>
              </a:ext>
            </a:extLst>
          </p:cNvPr>
          <p:cNvSpPr/>
          <p:nvPr/>
        </p:nvSpPr>
        <p:spPr>
          <a:xfrm rot="16200000">
            <a:off x="2411559" y="2888794"/>
            <a:ext cx="5423076" cy="797376"/>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POTENTIAL</a:t>
            </a:r>
          </a:p>
        </p:txBody>
      </p:sp>
      <p:sp>
        <p:nvSpPr>
          <p:cNvPr id="25" name="Arrow: Right 24">
            <a:extLst>
              <a:ext uri="{FF2B5EF4-FFF2-40B4-BE49-F238E27FC236}">
                <a16:creationId xmlns:a16="http://schemas.microsoft.com/office/drawing/2014/main" id="{A096376F-A9BD-42F1-3248-7E4C828F6BB0}"/>
              </a:ext>
            </a:extLst>
          </p:cNvPr>
          <p:cNvSpPr/>
          <p:nvPr/>
        </p:nvSpPr>
        <p:spPr>
          <a:xfrm>
            <a:off x="5915397" y="6033443"/>
            <a:ext cx="5423076" cy="797376"/>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PERFORMANCE ASSESSMENT</a:t>
            </a:r>
          </a:p>
        </p:txBody>
      </p:sp>
      <p:sp>
        <p:nvSpPr>
          <p:cNvPr id="26" name="TextBox 25">
            <a:extLst>
              <a:ext uri="{FF2B5EF4-FFF2-40B4-BE49-F238E27FC236}">
                <a16:creationId xmlns:a16="http://schemas.microsoft.com/office/drawing/2014/main" id="{7F67FF09-890B-99E4-016B-1F716FD99299}"/>
              </a:ext>
            </a:extLst>
          </p:cNvPr>
          <p:cNvSpPr txBox="1"/>
          <p:nvPr/>
        </p:nvSpPr>
        <p:spPr>
          <a:xfrm>
            <a:off x="152400" y="2294891"/>
            <a:ext cx="4465877" cy="4154984"/>
          </a:xfrm>
          <a:prstGeom prst="rect">
            <a:avLst/>
          </a:prstGeom>
          <a:noFill/>
        </p:spPr>
        <p:txBody>
          <a:bodyPr wrap="square" rtlCol="0">
            <a:spAutoFit/>
          </a:bodyPr>
          <a:lstStyle/>
          <a:p>
            <a:r>
              <a:rPr lang="en-GB" sz="2400" dirty="0"/>
              <a:t>The 9-box grid enables you to categorize employees into nine groups using performance and potential. It can be used in performance review meetings to provide constructive feedback.</a:t>
            </a:r>
          </a:p>
          <a:p>
            <a:endParaRPr lang="en-GB" sz="2400" dirty="0"/>
          </a:p>
          <a:p>
            <a:r>
              <a:rPr lang="en-GB" sz="2400" dirty="0"/>
              <a:t>Where would you place yourself?</a:t>
            </a:r>
          </a:p>
          <a:p>
            <a:endParaRPr lang="en-GB" sz="2400" dirty="0"/>
          </a:p>
          <a:p>
            <a:r>
              <a:rPr lang="en-GB" sz="2400" dirty="0"/>
              <a:t>Discuss with a classmate(s)</a:t>
            </a:r>
          </a:p>
        </p:txBody>
      </p:sp>
    </p:spTree>
    <p:extLst>
      <p:ext uri="{BB962C8B-B14F-4D97-AF65-F5344CB8AC3E}">
        <p14:creationId xmlns:p14="http://schemas.microsoft.com/office/powerpoint/2010/main" val="137791501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C5DA73-6BAD-A3E5-2B28-1D4EC79598E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C7F10D1-81EF-6AF2-9C50-634828EF730C}"/>
              </a:ext>
            </a:extLst>
          </p:cNvPr>
          <p:cNvSpPr>
            <a:spLocks noGrp="1"/>
          </p:cNvSpPr>
          <p:nvPr>
            <p:ph type="title"/>
          </p:nvPr>
        </p:nvSpPr>
        <p:spPr>
          <a:xfrm>
            <a:off x="370368" y="418287"/>
            <a:ext cx="3489252" cy="1325563"/>
          </a:xfrm>
        </p:spPr>
        <p:txBody>
          <a:bodyPr>
            <a:normAutofit fontScale="90000"/>
          </a:bodyPr>
          <a:lstStyle/>
          <a:p>
            <a:r>
              <a:rPr lang="en-GB" dirty="0"/>
              <a:t>Stacked or Forced Ranking</a:t>
            </a:r>
          </a:p>
        </p:txBody>
      </p:sp>
      <p:pic>
        <p:nvPicPr>
          <p:cNvPr id="6" name="Picture 5">
            <a:extLst>
              <a:ext uri="{FF2B5EF4-FFF2-40B4-BE49-F238E27FC236}">
                <a16:creationId xmlns:a16="http://schemas.microsoft.com/office/drawing/2014/main" id="{6CD29C30-1E72-368D-6AAD-BBD7A3338FF6}"/>
              </a:ext>
            </a:extLst>
          </p:cNvPr>
          <p:cNvPicPr>
            <a:picLocks noChangeAspect="1"/>
          </p:cNvPicPr>
          <p:nvPr/>
        </p:nvPicPr>
        <p:blipFill>
          <a:blip r:embed="rId2"/>
          <a:stretch>
            <a:fillRect/>
          </a:stretch>
        </p:blipFill>
        <p:spPr>
          <a:xfrm>
            <a:off x="3859620" y="560044"/>
            <a:ext cx="8169572" cy="5947091"/>
          </a:xfrm>
          <a:prstGeom prst="rect">
            <a:avLst/>
          </a:prstGeom>
        </p:spPr>
      </p:pic>
      <p:sp>
        <p:nvSpPr>
          <p:cNvPr id="7" name="TextBox 6">
            <a:extLst>
              <a:ext uri="{FF2B5EF4-FFF2-40B4-BE49-F238E27FC236}">
                <a16:creationId xmlns:a16="http://schemas.microsoft.com/office/drawing/2014/main" id="{2D3E405F-B672-D12B-0459-289D5953AAE6}"/>
              </a:ext>
            </a:extLst>
          </p:cNvPr>
          <p:cNvSpPr txBox="1"/>
          <p:nvPr/>
        </p:nvSpPr>
        <p:spPr>
          <a:xfrm>
            <a:off x="162808" y="2867382"/>
            <a:ext cx="5116033" cy="2246769"/>
          </a:xfrm>
          <a:prstGeom prst="rect">
            <a:avLst/>
          </a:prstGeom>
          <a:noFill/>
        </p:spPr>
        <p:txBody>
          <a:bodyPr wrap="square" rtlCol="0">
            <a:spAutoFit/>
          </a:bodyPr>
          <a:lstStyle/>
          <a:p>
            <a:r>
              <a:rPr lang="en-GB" sz="2800" dirty="0"/>
              <a:t>Stacked or forced ranking involves ranking employees against each other rather than against specified individual performance targets.</a:t>
            </a:r>
          </a:p>
        </p:txBody>
      </p:sp>
    </p:spTree>
    <p:extLst>
      <p:ext uri="{BB962C8B-B14F-4D97-AF65-F5344CB8AC3E}">
        <p14:creationId xmlns:p14="http://schemas.microsoft.com/office/powerpoint/2010/main" val="401110262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C675F7-10D6-EACD-FD86-1FEFE7DBACF1}"/>
              </a:ext>
            </a:extLst>
          </p:cNvPr>
          <p:cNvSpPr>
            <a:spLocks noGrp="1"/>
          </p:cNvSpPr>
          <p:nvPr>
            <p:ph type="title"/>
          </p:nvPr>
        </p:nvSpPr>
        <p:spPr>
          <a:xfrm>
            <a:off x="370367" y="418287"/>
            <a:ext cx="6668386" cy="761927"/>
          </a:xfrm>
        </p:spPr>
        <p:txBody>
          <a:bodyPr/>
          <a:lstStyle/>
          <a:p>
            <a:r>
              <a:rPr lang="en-GB" dirty="0"/>
              <a:t>Stacked or Forced Ranking</a:t>
            </a:r>
          </a:p>
        </p:txBody>
      </p:sp>
      <p:pic>
        <p:nvPicPr>
          <p:cNvPr id="6" name="Picture 5">
            <a:extLst>
              <a:ext uri="{FF2B5EF4-FFF2-40B4-BE49-F238E27FC236}">
                <a16:creationId xmlns:a16="http://schemas.microsoft.com/office/drawing/2014/main" id="{8711D17B-37FC-C20E-8703-5A7CC4E78D9B}"/>
              </a:ext>
            </a:extLst>
          </p:cNvPr>
          <p:cNvPicPr>
            <a:picLocks noChangeAspect="1"/>
          </p:cNvPicPr>
          <p:nvPr/>
        </p:nvPicPr>
        <p:blipFill>
          <a:blip r:embed="rId2"/>
          <a:stretch>
            <a:fillRect/>
          </a:stretch>
        </p:blipFill>
        <p:spPr>
          <a:xfrm>
            <a:off x="8569842" y="127588"/>
            <a:ext cx="3417487" cy="2487781"/>
          </a:xfrm>
          <a:prstGeom prst="rect">
            <a:avLst/>
          </a:prstGeom>
        </p:spPr>
      </p:pic>
      <p:sp>
        <p:nvSpPr>
          <p:cNvPr id="7" name="TextBox 6">
            <a:extLst>
              <a:ext uri="{FF2B5EF4-FFF2-40B4-BE49-F238E27FC236}">
                <a16:creationId xmlns:a16="http://schemas.microsoft.com/office/drawing/2014/main" id="{87736E32-A58D-EBA5-4967-2EFF5E6FF696}"/>
              </a:ext>
            </a:extLst>
          </p:cNvPr>
          <p:cNvSpPr txBox="1"/>
          <p:nvPr/>
        </p:nvSpPr>
        <p:spPr>
          <a:xfrm>
            <a:off x="311001" y="1307804"/>
            <a:ext cx="11676328" cy="4524315"/>
          </a:xfrm>
          <a:prstGeom prst="rect">
            <a:avLst/>
          </a:prstGeom>
          <a:noFill/>
        </p:spPr>
        <p:txBody>
          <a:bodyPr wrap="square" rtlCol="0">
            <a:spAutoFit/>
          </a:bodyPr>
          <a:lstStyle/>
          <a:p>
            <a:r>
              <a:rPr lang="en-GB" sz="2400" dirty="0"/>
              <a:t>General Electric, under Jack Welch, classed employees as: </a:t>
            </a:r>
          </a:p>
          <a:p>
            <a:r>
              <a:rPr lang="en-GB" sz="2400" dirty="0"/>
              <a:t>20% Most productive</a:t>
            </a:r>
          </a:p>
          <a:p>
            <a:r>
              <a:rPr lang="en-GB" sz="2400" dirty="0"/>
              <a:t>70% Adequate</a:t>
            </a:r>
          </a:p>
          <a:p>
            <a:r>
              <a:rPr lang="en-GB" sz="2400" dirty="0"/>
              <a:t>10% Fired each year.</a:t>
            </a:r>
          </a:p>
          <a:p>
            <a:r>
              <a:rPr lang="en-GB" sz="2400" dirty="0"/>
              <a:t>When Welch left forced ranking stopped but it didn’t prevent GE’s massive decline.</a:t>
            </a:r>
          </a:p>
          <a:p>
            <a:endParaRPr lang="en-GB" sz="2400" dirty="0"/>
          </a:p>
          <a:p>
            <a:r>
              <a:rPr lang="en-GB" sz="2400" dirty="0"/>
              <a:t>In 2013, Microsoft abandoned forced ranking because: </a:t>
            </a:r>
          </a:p>
          <a:p>
            <a:r>
              <a:rPr lang="en-GB" sz="2400" dirty="0"/>
              <a:t>“The fact is, rank-and-yank systems just don’t work. They tank employee morale. They create misdirected uncertainty and anxiety. They misdirect the spirit of competition so that one competes with the people on one's team rather than against the teams in other companies. They foster hiring and surrounding yourself with B and C players. They lead to information hoarding, finger pointing, backstabbing, and downright deceit.”  </a:t>
            </a:r>
          </a:p>
        </p:txBody>
      </p:sp>
      <p:sp>
        <p:nvSpPr>
          <p:cNvPr id="9" name="TextBox 8">
            <a:extLst>
              <a:ext uri="{FF2B5EF4-FFF2-40B4-BE49-F238E27FC236}">
                <a16:creationId xmlns:a16="http://schemas.microsoft.com/office/drawing/2014/main" id="{6FBE4E91-5FAB-E14F-1568-591007E36B11}"/>
              </a:ext>
            </a:extLst>
          </p:cNvPr>
          <p:cNvSpPr txBox="1"/>
          <p:nvPr/>
        </p:nvSpPr>
        <p:spPr>
          <a:xfrm>
            <a:off x="5889557" y="6116547"/>
            <a:ext cx="6097772" cy="646331"/>
          </a:xfrm>
          <a:prstGeom prst="rect">
            <a:avLst/>
          </a:prstGeom>
          <a:noFill/>
        </p:spPr>
        <p:txBody>
          <a:bodyPr wrap="square">
            <a:spAutoFit/>
          </a:bodyPr>
          <a:lstStyle/>
          <a:p>
            <a:r>
              <a:rPr lang="en-GB" dirty="0"/>
              <a:t>https://www.forbes.com/sites/forbesleadershipforum/2013/11/13/heres-to-the-death-of-microsofts-rank-and-yank/</a:t>
            </a:r>
          </a:p>
        </p:txBody>
      </p:sp>
    </p:spTree>
    <p:extLst>
      <p:ext uri="{BB962C8B-B14F-4D97-AF65-F5344CB8AC3E}">
        <p14:creationId xmlns:p14="http://schemas.microsoft.com/office/powerpoint/2010/main" val="287331594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8370BE-D124-1B8C-A4B6-DED4BDA63DC7}"/>
              </a:ext>
            </a:extLst>
          </p:cNvPr>
          <p:cNvSpPr>
            <a:spLocks noGrp="1"/>
          </p:cNvSpPr>
          <p:nvPr>
            <p:ph type="title"/>
          </p:nvPr>
        </p:nvSpPr>
        <p:spPr>
          <a:xfrm>
            <a:off x="503583" y="232603"/>
            <a:ext cx="10515600" cy="1325563"/>
          </a:xfrm>
        </p:spPr>
        <p:txBody>
          <a:bodyPr/>
          <a:lstStyle/>
          <a:p>
            <a:r>
              <a:rPr lang="en-US" dirty="0"/>
              <a:t>Behaviourally Anchored Rating Scales (BARS)</a:t>
            </a:r>
          </a:p>
        </p:txBody>
      </p:sp>
      <p:sp>
        <p:nvSpPr>
          <p:cNvPr id="3" name="Content Placeholder 2">
            <a:extLst>
              <a:ext uri="{FF2B5EF4-FFF2-40B4-BE49-F238E27FC236}">
                <a16:creationId xmlns:a16="http://schemas.microsoft.com/office/drawing/2014/main" id="{1452F1C6-C890-0A73-205A-EA0E9DE542F4}"/>
              </a:ext>
            </a:extLst>
          </p:cNvPr>
          <p:cNvSpPr>
            <a:spLocks noGrp="1"/>
          </p:cNvSpPr>
          <p:nvPr>
            <p:ph idx="1"/>
          </p:nvPr>
        </p:nvSpPr>
        <p:spPr>
          <a:xfrm>
            <a:off x="503583" y="1825625"/>
            <a:ext cx="11304104" cy="4667250"/>
          </a:xfrm>
        </p:spPr>
        <p:txBody>
          <a:bodyPr>
            <a:normAutofit fontScale="77500" lnSpcReduction="20000"/>
          </a:bodyPr>
          <a:lstStyle/>
          <a:p>
            <a:pPr>
              <a:lnSpc>
                <a:spcPct val="160000"/>
              </a:lnSpc>
            </a:pPr>
            <a:r>
              <a:rPr lang="en-US" b="1" dirty="0"/>
              <a:t>Behaviorally Anchored Rating Scales (BARS) </a:t>
            </a:r>
            <a:r>
              <a:rPr lang="en-US" dirty="0"/>
              <a:t>are a performance appraisal method that combines qualitative and quantitative assessments by linking specific behaviours to defined performance levels.</a:t>
            </a:r>
          </a:p>
          <a:p>
            <a:pPr>
              <a:lnSpc>
                <a:spcPct val="160000"/>
              </a:lnSpc>
            </a:pPr>
            <a:r>
              <a:rPr lang="en-US" b="1" dirty="0"/>
              <a:t>Behavioral Descriptors: </a:t>
            </a:r>
            <a:r>
              <a:rPr lang="en-US" dirty="0"/>
              <a:t>Each performance level is anchored by specific examples of behaviour, making it easier for evaluators to assess performance consistently.</a:t>
            </a:r>
          </a:p>
          <a:p>
            <a:pPr>
              <a:lnSpc>
                <a:spcPct val="160000"/>
              </a:lnSpc>
            </a:pPr>
            <a:r>
              <a:rPr lang="en-US" b="1" dirty="0"/>
              <a:t>Clear Standards: </a:t>
            </a:r>
            <a:r>
              <a:rPr lang="en-US" dirty="0"/>
              <a:t>BARS provide clear expectations for performance, reducing ambiguity and enhancing fairness in evaluations.</a:t>
            </a:r>
          </a:p>
          <a:p>
            <a:pPr>
              <a:lnSpc>
                <a:spcPct val="160000"/>
              </a:lnSpc>
            </a:pPr>
            <a:r>
              <a:rPr lang="en-US" b="1" dirty="0"/>
              <a:t>Objectivity:</a:t>
            </a:r>
            <a:r>
              <a:rPr lang="en-US" dirty="0"/>
              <a:t> By focusing on observable behaviours rather than subjective opinions, BARS can help minimize biases in the appraisal process.</a:t>
            </a:r>
          </a:p>
        </p:txBody>
      </p:sp>
    </p:spTree>
    <p:extLst>
      <p:ext uri="{BB962C8B-B14F-4D97-AF65-F5344CB8AC3E}">
        <p14:creationId xmlns:p14="http://schemas.microsoft.com/office/powerpoint/2010/main" val="7030968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0D1584-9478-F3AB-E056-22F6FE338317}"/>
              </a:ext>
            </a:extLst>
          </p:cNvPr>
          <p:cNvSpPr>
            <a:spLocks noGrp="1"/>
          </p:cNvSpPr>
          <p:nvPr>
            <p:ph type="title"/>
          </p:nvPr>
        </p:nvSpPr>
        <p:spPr/>
        <p:txBody>
          <a:bodyPr/>
          <a:lstStyle/>
          <a:p>
            <a:r>
              <a:rPr lang="en-US" dirty="0"/>
              <a:t>Behaviour Observation Scales (BOS)</a:t>
            </a:r>
          </a:p>
        </p:txBody>
      </p:sp>
      <p:sp>
        <p:nvSpPr>
          <p:cNvPr id="3" name="Content Placeholder 2">
            <a:extLst>
              <a:ext uri="{FF2B5EF4-FFF2-40B4-BE49-F238E27FC236}">
                <a16:creationId xmlns:a16="http://schemas.microsoft.com/office/drawing/2014/main" id="{25076C9E-B01D-2854-402A-D3F634F821EC}"/>
              </a:ext>
            </a:extLst>
          </p:cNvPr>
          <p:cNvSpPr>
            <a:spLocks noGrp="1"/>
          </p:cNvSpPr>
          <p:nvPr>
            <p:ph idx="1"/>
          </p:nvPr>
        </p:nvSpPr>
        <p:spPr>
          <a:xfrm>
            <a:off x="569843" y="1825624"/>
            <a:ext cx="10783957" cy="4575175"/>
          </a:xfrm>
        </p:spPr>
        <p:txBody>
          <a:bodyPr>
            <a:normAutofit fontScale="70000" lnSpcReduction="20000"/>
          </a:bodyPr>
          <a:lstStyle/>
          <a:p>
            <a:pPr>
              <a:lnSpc>
                <a:spcPct val="160000"/>
              </a:lnSpc>
            </a:pPr>
            <a:r>
              <a:rPr lang="en-US" b="1" dirty="0"/>
              <a:t>Behavior Observation Scales (BOS) </a:t>
            </a:r>
            <a:r>
              <a:rPr lang="en-US" dirty="0"/>
              <a:t>are a performance appraisal method that focuses on the frequency of specific behaviours demonstrated by employees in their roles.</a:t>
            </a:r>
          </a:p>
          <a:p>
            <a:pPr>
              <a:lnSpc>
                <a:spcPct val="160000"/>
              </a:lnSpc>
            </a:pPr>
            <a:r>
              <a:rPr lang="en-US" b="1" dirty="0"/>
              <a:t>Behavior Frequency Ratings: </a:t>
            </a:r>
            <a:r>
              <a:rPr lang="en-US" dirty="0"/>
              <a:t>Employees are evaluated based on how often they exhibit certain desired behaviors, providing a quantitative measure of performance.</a:t>
            </a:r>
          </a:p>
          <a:p>
            <a:pPr>
              <a:lnSpc>
                <a:spcPct val="160000"/>
              </a:lnSpc>
            </a:pPr>
            <a:r>
              <a:rPr lang="en-US" b="1" dirty="0"/>
              <a:t>Observable Actions: </a:t>
            </a:r>
            <a:r>
              <a:rPr lang="en-US" dirty="0"/>
              <a:t>The assessment emphasizes observable actions rather than outcomes, making it easier to assess performance in real-time.</a:t>
            </a:r>
          </a:p>
          <a:p>
            <a:pPr>
              <a:lnSpc>
                <a:spcPct val="160000"/>
              </a:lnSpc>
            </a:pPr>
            <a:r>
              <a:rPr lang="en-US" b="1" dirty="0"/>
              <a:t>Comprehensive Feedback</a:t>
            </a:r>
            <a:r>
              <a:rPr lang="en-US" dirty="0"/>
              <a:t>: BOS encourages ongoing feedback by tracking performance over time. </a:t>
            </a:r>
          </a:p>
        </p:txBody>
      </p:sp>
    </p:spTree>
    <p:extLst>
      <p:ext uri="{BB962C8B-B14F-4D97-AF65-F5344CB8AC3E}">
        <p14:creationId xmlns:p14="http://schemas.microsoft.com/office/powerpoint/2010/main" val="88836284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489BE8-E781-978F-2E0B-7C1515FA21DB}"/>
              </a:ext>
            </a:extLst>
          </p:cNvPr>
          <p:cNvSpPr>
            <a:spLocks noGrp="1"/>
          </p:cNvSpPr>
          <p:nvPr>
            <p:ph type="title"/>
          </p:nvPr>
        </p:nvSpPr>
        <p:spPr/>
        <p:txBody>
          <a:bodyPr/>
          <a:lstStyle/>
          <a:p>
            <a:r>
              <a:rPr lang="en-US" dirty="0"/>
              <a:t>Critiquing Traditional PA Methods</a:t>
            </a:r>
          </a:p>
        </p:txBody>
      </p:sp>
      <p:sp>
        <p:nvSpPr>
          <p:cNvPr id="3" name="Content Placeholder 2">
            <a:extLst>
              <a:ext uri="{FF2B5EF4-FFF2-40B4-BE49-F238E27FC236}">
                <a16:creationId xmlns:a16="http://schemas.microsoft.com/office/drawing/2014/main" id="{9F4D7B41-0602-F8EE-5B2D-D79141C4D159}"/>
              </a:ext>
            </a:extLst>
          </p:cNvPr>
          <p:cNvSpPr>
            <a:spLocks noGrp="1"/>
          </p:cNvSpPr>
          <p:nvPr>
            <p:ph idx="1"/>
          </p:nvPr>
        </p:nvSpPr>
        <p:spPr/>
        <p:txBody>
          <a:bodyPr/>
          <a:lstStyle/>
          <a:p>
            <a:r>
              <a:rPr lang="en-US" dirty="0"/>
              <a:t>Simple Ranking</a:t>
            </a:r>
          </a:p>
          <a:p>
            <a:pPr lvl="1"/>
            <a:r>
              <a:rPr lang="en-US" dirty="0"/>
              <a:t>Simple ranking methods offer no insight into why one employee performs better than another. They also do not really provide actionable feedback for improvement. </a:t>
            </a:r>
          </a:p>
          <a:p>
            <a:r>
              <a:rPr lang="en-US" dirty="0"/>
              <a:t>BARS </a:t>
            </a:r>
          </a:p>
          <a:p>
            <a:pPr lvl="1"/>
            <a:r>
              <a:rPr lang="en-US" dirty="0"/>
              <a:t>Can be quite time consuming to develop. Require regular updating to stay relevant to a role (DeNisi &amp; Smith, 2014).</a:t>
            </a:r>
          </a:p>
          <a:p>
            <a:r>
              <a:rPr lang="en-US" dirty="0"/>
              <a:t>BOS </a:t>
            </a:r>
          </a:p>
          <a:p>
            <a:pPr lvl="1"/>
            <a:r>
              <a:rPr lang="en-US" dirty="0"/>
              <a:t>Emphasis on quantity of displayed behaviours rather than quality (Pulakos, 2009). Can place a high burden on managers, can lead to rater fatigue (DeNisi &amp; Pritchard, 2006). </a:t>
            </a:r>
          </a:p>
          <a:p>
            <a:pPr lvl="1"/>
            <a:endParaRPr lang="en-US" dirty="0"/>
          </a:p>
        </p:txBody>
      </p:sp>
    </p:spTree>
    <p:extLst>
      <p:ext uri="{BB962C8B-B14F-4D97-AF65-F5344CB8AC3E}">
        <p14:creationId xmlns:p14="http://schemas.microsoft.com/office/powerpoint/2010/main" val="192542608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0C9747-692D-09F0-A5FD-E29C4B13162E}"/>
              </a:ext>
            </a:extLst>
          </p:cNvPr>
          <p:cNvSpPr>
            <a:spLocks noGrp="1"/>
          </p:cNvSpPr>
          <p:nvPr>
            <p:ph type="title"/>
          </p:nvPr>
        </p:nvSpPr>
        <p:spPr>
          <a:xfrm>
            <a:off x="469557" y="192501"/>
            <a:ext cx="10884243" cy="1325563"/>
          </a:xfrm>
        </p:spPr>
        <p:txBody>
          <a:bodyPr>
            <a:normAutofit/>
          </a:bodyPr>
          <a:lstStyle/>
          <a:p>
            <a:r>
              <a:rPr lang="en-US" sz="4000" dirty="0"/>
              <a:t>More General Criticisms of Performance Appraisals </a:t>
            </a:r>
          </a:p>
        </p:txBody>
      </p:sp>
      <p:sp>
        <p:nvSpPr>
          <p:cNvPr id="3" name="Content Placeholder 2">
            <a:extLst>
              <a:ext uri="{FF2B5EF4-FFF2-40B4-BE49-F238E27FC236}">
                <a16:creationId xmlns:a16="http://schemas.microsoft.com/office/drawing/2014/main" id="{643BDA34-C60D-9E15-F103-91D5EF8F7FFC}"/>
              </a:ext>
            </a:extLst>
          </p:cNvPr>
          <p:cNvSpPr>
            <a:spLocks noGrp="1"/>
          </p:cNvSpPr>
          <p:nvPr>
            <p:ph idx="1"/>
          </p:nvPr>
        </p:nvSpPr>
        <p:spPr>
          <a:xfrm>
            <a:off x="469557" y="1484243"/>
            <a:ext cx="11364634" cy="5008632"/>
          </a:xfrm>
        </p:spPr>
        <p:txBody>
          <a:bodyPr>
            <a:normAutofit fontScale="92500"/>
          </a:bodyPr>
          <a:lstStyle/>
          <a:p>
            <a:pPr>
              <a:lnSpc>
                <a:spcPct val="150000"/>
              </a:lnSpc>
            </a:pPr>
            <a:r>
              <a:rPr lang="en-US" sz="2400" b="1" dirty="0"/>
              <a:t>Employees don’t seem to like them </a:t>
            </a:r>
            <a:r>
              <a:rPr lang="en-US" sz="2400" dirty="0"/>
              <a:t>- regardless of whether they receive positive or negative feedback about their performance (Manni, 2002).</a:t>
            </a:r>
          </a:p>
          <a:p>
            <a:pPr>
              <a:lnSpc>
                <a:spcPct val="150000"/>
              </a:lnSpc>
            </a:pPr>
            <a:r>
              <a:rPr lang="en-US" sz="2400" dirty="0"/>
              <a:t>There are can be </a:t>
            </a:r>
            <a:r>
              <a:rPr lang="en-US" sz="2400" b="1" dirty="0"/>
              <a:t>inconsistencies with ratings </a:t>
            </a:r>
            <a:r>
              <a:rPr lang="en-US" sz="2400" dirty="0"/>
              <a:t>– research has consistently highlighted validity and reliability issues with ranking methods (Viswesveran et al, 1996). </a:t>
            </a:r>
          </a:p>
          <a:p>
            <a:pPr>
              <a:lnSpc>
                <a:spcPct val="150000"/>
              </a:lnSpc>
            </a:pPr>
            <a:r>
              <a:rPr lang="en-US" sz="2400" dirty="0"/>
              <a:t>They are </a:t>
            </a:r>
            <a:r>
              <a:rPr lang="en-US" sz="2400" b="1" dirty="0"/>
              <a:t>vulnerable to subjectivity and bias </a:t>
            </a:r>
            <a:r>
              <a:rPr lang="en-US" sz="2400" dirty="0"/>
              <a:t>(DeNisi &amp; Murphy, 2021) – remember some of the cognitive biases that we explored in the recruitment and selection lecture – they could also be relevant when evaluating performance. </a:t>
            </a:r>
          </a:p>
          <a:p>
            <a:pPr>
              <a:lnSpc>
                <a:spcPct val="150000"/>
              </a:lnSpc>
            </a:pPr>
            <a:r>
              <a:rPr lang="en-US" sz="2400" b="1" dirty="0"/>
              <a:t>Retrospective focus </a:t>
            </a:r>
            <a:r>
              <a:rPr lang="en-US" sz="2400" dirty="0"/>
              <a:t>- The focus on the past rather than the future can be developmentally unhelpful (Cappelli &amp; Tavis, 2016). </a:t>
            </a:r>
          </a:p>
          <a:p>
            <a:endParaRPr lang="en-US" dirty="0"/>
          </a:p>
        </p:txBody>
      </p:sp>
    </p:spTree>
    <p:extLst>
      <p:ext uri="{BB962C8B-B14F-4D97-AF65-F5344CB8AC3E}">
        <p14:creationId xmlns:p14="http://schemas.microsoft.com/office/powerpoint/2010/main" val="99142415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A62B50-829B-8A6C-6BCF-804DB40C1867}"/>
              </a:ext>
            </a:extLst>
          </p:cNvPr>
          <p:cNvSpPr>
            <a:spLocks noGrp="1"/>
          </p:cNvSpPr>
          <p:nvPr>
            <p:ph type="title"/>
          </p:nvPr>
        </p:nvSpPr>
        <p:spPr>
          <a:xfrm>
            <a:off x="347869" y="404881"/>
            <a:ext cx="11314044" cy="1325563"/>
          </a:xfrm>
        </p:spPr>
        <p:txBody>
          <a:bodyPr>
            <a:normAutofit/>
          </a:bodyPr>
          <a:lstStyle/>
          <a:p>
            <a:r>
              <a:rPr lang="en-US" sz="4000" dirty="0"/>
              <a:t>The Politicalization of Performance Appraisal</a:t>
            </a:r>
          </a:p>
        </p:txBody>
      </p:sp>
      <p:sp>
        <p:nvSpPr>
          <p:cNvPr id="3" name="Content Placeholder 2">
            <a:extLst>
              <a:ext uri="{FF2B5EF4-FFF2-40B4-BE49-F238E27FC236}">
                <a16:creationId xmlns:a16="http://schemas.microsoft.com/office/drawing/2014/main" id="{CDA48D9A-A104-718E-18EC-2E10825EA7C7}"/>
              </a:ext>
            </a:extLst>
          </p:cNvPr>
          <p:cNvSpPr>
            <a:spLocks noGrp="1"/>
          </p:cNvSpPr>
          <p:nvPr>
            <p:ph idx="1"/>
          </p:nvPr>
        </p:nvSpPr>
        <p:spPr>
          <a:xfrm>
            <a:off x="530087" y="1730444"/>
            <a:ext cx="10515600" cy="4351338"/>
          </a:xfrm>
        </p:spPr>
        <p:txBody>
          <a:bodyPr>
            <a:normAutofit fontScale="85000" lnSpcReduction="20000"/>
          </a:bodyPr>
          <a:lstStyle/>
          <a:p>
            <a:pPr>
              <a:lnSpc>
                <a:spcPct val="150000"/>
              </a:lnSpc>
            </a:pPr>
            <a:r>
              <a:rPr lang="en-US" dirty="0"/>
              <a:t>While performance appraisals aim to highlight top performers, they don’t always achieve this effectively.</a:t>
            </a:r>
          </a:p>
          <a:p>
            <a:pPr>
              <a:lnSpc>
                <a:spcPct val="150000"/>
              </a:lnSpc>
            </a:pPr>
            <a:r>
              <a:rPr lang="en-US" b="1" dirty="0"/>
              <a:t>Supervisor Relationships</a:t>
            </a:r>
            <a:r>
              <a:rPr lang="en-US" dirty="0"/>
              <a:t>: Employee performance ratings can be heavily influenced by the quality of their relationship with their supervisor.</a:t>
            </a:r>
          </a:p>
          <a:p>
            <a:pPr>
              <a:lnSpc>
                <a:spcPct val="150000"/>
              </a:lnSpc>
            </a:pPr>
            <a:r>
              <a:rPr lang="en-US" dirty="0"/>
              <a:t>Some supervisors are overly harsh or lenient, which can impact employee satisfaction and increase turnover (Poon, 2004).</a:t>
            </a:r>
          </a:p>
          <a:p>
            <a:pPr>
              <a:lnSpc>
                <a:spcPct val="150000"/>
              </a:lnSpc>
            </a:pPr>
            <a:r>
              <a:rPr lang="en-US" b="1" dirty="0"/>
              <a:t>Favoritism:</a:t>
            </a:r>
            <a:r>
              <a:rPr lang="en-US" dirty="0"/>
              <a:t> Employees liked by supervisors tend to receive higher performance ratings, regardless of actual performance (Sutton et al, 2013).</a:t>
            </a:r>
          </a:p>
        </p:txBody>
      </p:sp>
    </p:spTree>
    <p:extLst>
      <p:ext uri="{BB962C8B-B14F-4D97-AF65-F5344CB8AC3E}">
        <p14:creationId xmlns:p14="http://schemas.microsoft.com/office/powerpoint/2010/main" val="400018760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6D74E2-BB31-AAC4-3F78-3835549B0FB5}"/>
              </a:ext>
            </a:extLst>
          </p:cNvPr>
          <p:cNvSpPr>
            <a:spLocks noGrp="1"/>
          </p:cNvSpPr>
          <p:nvPr>
            <p:ph type="title"/>
          </p:nvPr>
        </p:nvSpPr>
        <p:spPr/>
        <p:txBody>
          <a:bodyPr>
            <a:normAutofit/>
          </a:bodyPr>
          <a:lstStyle/>
          <a:p>
            <a:r>
              <a:rPr lang="en-US" sz="4000" dirty="0"/>
              <a:t>The Politicalization of Performance Appraisal</a:t>
            </a:r>
          </a:p>
        </p:txBody>
      </p:sp>
      <p:sp>
        <p:nvSpPr>
          <p:cNvPr id="3" name="Content Placeholder 2">
            <a:extLst>
              <a:ext uri="{FF2B5EF4-FFF2-40B4-BE49-F238E27FC236}">
                <a16:creationId xmlns:a16="http://schemas.microsoft.com/office/drawing/2014/main" id="{8D5D6C97-A915-072F-F50B-76831D16FD56}"/>
              </a:ext>
            </a:extLst>
          </p:cNvPr>
          <p:cNvSpPr>
            <a:spLocks noGrp="1"/>
          </p:cNvSpPr>
          <p:nvPr>
            <p:ph idx="1"/>
          </p:nvPr>
        </p:nvSpPr>
        <p:spPr>
          <a:xfrm>
            <a:off x="424069" y="1470991"/>
            <a:ext cx="11357113" cy="5141844"/>
          </a:xfrm>
        </p:spPr>
        <p:txBody>
          <a:bodyPr>
            <a:normAutofit/>
          </a:bodyPr>
          <a:lstStyle/>
          <a:p>
            <a:pPr>
              <a:lnSpc>
                <a:spcPct val="150000"/>
              </a:lnSpc>
            </a:pPr>
            <a:r>
              <a:rPr lang="en-US" sz="2400" dirty="0"/>
              <a:t>Employees may engage in behaviours to influence their manager, termed ‘impression management’ (Wayne &amp; Lidden, 1995). </a:t>
            </a:r>
          </a:p>
          <a:p>
            <a:pPr lvl="1">
              <a:lnSpc>
                <a:spcPct val="150000"/>
              </a:lnSpc>
            </a:pPr>
            <a:r>
              <a:rPr lang="en-US" sz="1800" dirty="0"/>
              <a:t>Self promotion – the highlighting and embellishing of accomplishments </a:t>
            </a:r>
          </a:p>
          <a:p>
            <a:pPr lvl="1">
              <a:lnSpc>
                <a:spcPct val="150000"/>
              </a:lnSpc>
            </a:pPr>
            <a:r>
              <a:rPr lang="en-US" sz="1800" dirty="0"/>
              <a:t>Ingratiation – doing favours and using flattery</a:t>
            </a:r>
          </a:p>
          <a:p>
            <a:pPr lvl="1">
              <a:lnSpc>
                <a:spcPct val="150000"/>
              </a:lnSpc>
            </a:pPr>
            <a:r>
              <a:rPr lang="en-US" sz="1800" dirty="0"/>
              <a:t>Intimidation – acting threateningly or intimidating </a:t>
            </a:r>
          </a:p>
          <a:p>
            <a:pPr lvl="1">
              <a:lnSpc>
                <a:spcPct val="150000"/>
              </a:lnSpc>
            </a:pPr>
            <a:r>
              <a:rPr lang="en-US" sz="1800" dirty="0"/>
              <a:t>Supplication – highlighting shortcomings to be seen as needy</a:t>
            </a:r>
          </a:p>
          <a:p>
            <a:pPr lvl="1">
              <a:lnSpc>
                <a:spcPct val="150000"/>
              </a:lnSpc>
            </a:pPr>
            <a:r>
              <a:rPr lang="en-US" sz="1800" dirty="0"/>
              <a:t>Exemplification – going above and beyond to be seen as a role model </a:t>
            </a:r>
          </a:p>
          <a:p>
            <a:pPr>
              <a:lnSpc>
                <a:spcPct val="150000"/>
              </a:lnSpc>
            </a:pPr>
            <a:r>
              <a:rPr lang="en-US" sz="2400" dirty="0"/>
              <a:t>Ingratiation found to have a positive influence on performance rating, while self promotion has a negative impact (Higgins et al, 2003). </a:t>
            </a:r>
          </a:p>
          <a:p>
            <a:endParaRPr lang="en-US" dirty="0"/>
          </a:p>
        </p:txBody>
      </p:sp>
    </p:spTree>
    <p:extLst>
      <p:ext uri="{BB962C8B-B14F-4D97-AF65-F5344CB8AC3E}">
        <p14:creationId xmlns:p14="http://schemas.microsoft.com/office/powerpoint/2010/main" val="276612363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68CBB5-13A9-18B6-51E1-638609E4D395}"/>
              </a:ext>
            </a:extLst>
          </p:cNvPr>
          <p:cNvSpPr>
            <a:spLocks noGrp="1"/>
          </p:cNvSpPr>
          <p:nvPr>
            <p:ph type="title"/>
          </p:nvPr>
        </p:nvSpPr>
        <p:spPr>
          <a:xfrm>
            <a:off x="455133" y="236537"/>
            <a:ext cx="10515600" cy="1325563"/>
          </a:xfrm>
        </p:spPr>
        <p:txBody>
          <a:bodyPr/>
          <a:lstStyle/>
          <a:p>
            <a:r>
              <a:rPr lang="en-US" dirty="0"/>
              <a:t>Organisation Citizenship Behaviour (OCB)</a:t>
            </a:r>
          </a:p>
        </p:txBody>
      </p:sp>
      <p:sp>
        <p:nvSpPr>
          <p:cNvPr id="3" name="Content Placeholder 2">
            <a:extLst>
              <a:ext uri="{FF2B5EF4-FFF2-40B4-BE49-F238E27FC236}">
                <a16:creationId xmlns:a16="http://schemas.microsoft.com/office/drawing/2014/main" id="{8C19ABEC-1AD3-3F22-5DA9-C624F82ACBBD}"/>
              </a:ext>
            </a:extLst>
          </p:cNvPr>
          <p:cNvSpPr>
            <a:spLocks noGrp="1"/>
          </p:cNvSpPr>
          <p:nvPr>
            <p:ph idx="1"/>
          </p:nvPr>
        </p:nvSpPr>
        <p:spPr>
          <a:xfrm>
            <a:off x="387350" y="1320502"/>
            <a:ext cx="11690350" cy="5473700"/>
          </a:xfrm>
        </p:spPr>
        <p:txBody>
          <a:bodyPr>
            <a:normAutofit fontScale="70000" lnSpcReduction="20000"/>
          </a:bodyPr>
          <a:lstStyle/>
          <a:p>
            <a:pPr>
              <a:lnSpc>
                <a:spcPct val="160000"/>
              </a:lnSpc>
            </a:pPr>
            <a:r>
              <a:rPr lang="en-US" sz="3400" dirty="0"/>
              <a:t>Voluntary action not requested by managers or listed as performance objectives, but identified as important in helping the workplace a better environment:</a:t>
            </a:r>
          </a:p>
          <a:p>
            <a:pPr lvl="1">
              <a:lnSpc>
                <a:spcPct val="160000"/>
              </a:lnSpc>
            </a:pPr>
            <a:r>
              <a:rPr lang="en-US" sz="2600" dirty="0"/>
              <a:t>General courtesy</a:t>
            </a:r>
          </a:p>
          <a:p>
            <a:pPr lvl="1">
              <a:lnSpc>
                <a:spcPct val="160000"/>
              </a:lnSpc>
            </a:pPr>
            <a:r>
              <a:rPr lang="en-US" sz="2600" dirty="0"/>
              <a:t>Helping team-members when they are struggling</a:t>
            </a:r>
          </a:p>
          <a:p>
            <a:pPr lvl="1">
              <a:lnSpc>
                <a:spcPct val="160000"/>
              </a:lnSpc>
            </a:pPr>
            <a:r>
              <a:rPr lang="en-US" sz="2600" dirty="0"/>
              <a:t>Taking care of organisational property and adhering to informal rules</a:t>
            </a:r>
          </a:p>
          <a:p>
            <a:pPr>
              <a:lnSpc>
                <a:spcPct val="160000"/>
              </a:lnSpc>
            </a:pPr>
            <a:r>
              <a:rPr lang="en-US" sz="3400" dirty="0"/>
              <a:t>Meta-analysis by Podsakoff et al (2009) found OCB related to ratings of performance, productivity and the allocation of rewards. </a:t>
            </a:r>
          </a:p>
          <a:p>
            <a:pPr>
              <a:lnSpc>
                <a:spcPct val="160000"/>
              </a:lnSpc>
            </a:pPr>
            <a:r>
              <a:rPr lang="en-US" sz="3400" dirty="0"/>
              <a:t>Collectivist cultures may value OCB over individual work performance (Misha and Roch, 2017).</a:t>
            </a:r>
          </a:p>
          <a:p>
            <a:pPr>
              <a:lnSpc>
                <a:spcPct val="160000"/>
              </a:lnSpc>
            </a:pPr>
            <a:r>
              <a:rPr lang="en-US" sz="3400" dirty="0"/>
              <a:t>Concerns around burnout and invisible labour (Podsakoff et al, 2009). </a:t>
            </a:r>
          </a:p>
          <a:p>
            <a:endParaRPr lang="en-US" dirty="0"/>
          </a:p>
          <a:p>
            <a:pPr lvl="1"/>
            <a:endParaRPr lang="en-US" dirty="0"/>
          </a:p>
          <a:p>
            <a:pPr marL="0" indent="0">
              <a:buNone/>
            </a:pPr>
            <a:endParaRPr lang="en-US" dirty="0"/>
          </a:p>
        </p:txBody>
      </p:sp>
    </p:spTree>
    <p:extLst>
      <p:ext uri="{BB962C8B-B14F-4D97-AF65-F5344CB8AC3E}">
        <p14:creationId xmlns:p14="http://schemas.microsoft.com/office/powerpoint/2010/main" val="213964675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C49FD0-047E-D885-AD85-47FF129EE3B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22C2318-4D79-E80C-9F55-63F55B8B384D}"/>
              </a:ext>
            </a:extLst>
          </p:cNvPr>
          <p:cNvSpPr>
            <a:spLocks noGrp="1"/>
          </p:cNvSpPr>
          <p:nvPr>
            <p:ph type="title"/>
          </p:nvPr>
        </p:nvSpPr>
        <p:spPr>
          <a:xfrm>
            <a:off x="444843" y="365125"/>
            <a:ext cx="11491784" cy="1325563"/>
          </a:xfrm>
        </p:spPr>
        <p:txBody>
          <a:bodyPr>
            <a:normAutofit/>
          </a:bodyPr>
          <a:lstStyle/>
          <a:p>
            <a:pPr algn="ctr"/>
            <a:r>
              <a:rPr lang="en-US" sz="4000" dirty="0"/>
              <a:t>Who should rate performance?</a:t>
            </a:r>
          </a:p>
        </p:txBody>
      </p:sp>
      <p:pic>
        <p:nvPicPr>
          <p:cNvPr id="5" name="Picture 4" descr="Man wearing white shirt and yellow sweater">
            <a:extLst>
              <a:ext uri="{FF2B5EF4-FFF2-40B4-BE49-F238E27FC236}">
                <a16:creationId xmlns:a16="http://schemas.microsoft.com/office/drawing/2014/main" id="{653AC4BD-8B65-FA4F-418B-6A7D79FE802C}"/>
              </a:ext>
            </a:extLst>
          </p:cNvPr>
          <p:cNvPicPr>
            <a:picLocks noChangeAspect="1"/>
          </p:cNvPicPr>
          <p:nvPr/>
        </p:nvPicPr>
        <p:blipFill>
          <a:blip r:embed="rId2"/>
          <a:srcRect l="7766" r="9014" b="-2"/>
          <a:stretch/>
        </p:blipFill>
        <p:spPr>
          <a:xfrm>
            <a:off x="3754082" y="1466353"/>
            <a:ext cx="4683836" cy="3756929"/>
          </a:xfrm>
          <a:prstGeom prst="rect">
            <a:avLst/>
          </a:prstGeom>
          <a:noFill/>
          <a:ln>
            <a:noFill/>
          </a:ln>
        </p:spPr>
      </p:pic>
    </p:spTree>
    <p:extLst>
      <p:ext uri="{BB962C8B-B14F-4D97-AF65-F5344CB8AC3E}">
        <p14:creationId xmlns:p14="http://schemas.microsoft.com/office/powerpoint/2010/main" val="288788019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09A31F-2365-460B-DFEB-48D1EFFD287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808C86C-F935-3041-757D-4747AF07DF44}"/>
              </a:ext>
            </a:extLst>
          </p:cNvPr>
          <p:cNvSpPr>
            <a:spLocks noGrp="1"/>
          </p:cNvSpPr>
          <p:nvPr>
            <p:ph type="title"/>
          </p:nvPr>
        </p:nvSpPr>
        <p:spPr>
          <a:xfrm>
            <a:off x="444843" y="365125"/>
            <a:ext cx="11491784" cy="1325563"/>
          </a:xfrm>
        </p:spPr>
        <p:txBody>
          <a:bodyPr>
            <a:normAutofit/>
          </a:bodyPr>
          <a:lstStyle/>
          <a:p>
            <a:r>
              <a:rPr lang="en-US" sz="3600" dirty="0"/>
              <a:t>Who should rate performance?</a:t>
            </a:r>
          </a:p>
        </p:txBody>
      </p:sp>
      <p:sp>
        <p:nvSpPr>
          <p:cNvPr id="3" name="Content Placeholder 2">
            <a:extLst>
              <a:ext uri="{FF2B5EF4-FFF2-40B4-BE49-F238E27FC236}">
                <a16:creationId xmlns:a16="http://schemas.microsoft.com/office/drawing/2014/main" id="{AE3C63B2-7F63-B9D8-1E52-4F04B929409C}"/>
              </a:ext>
            </a:extLst>
          </p:cNvPr>
          <p:cNvSpPr>
            <a:spLocks noGrp="1"/>
          </p:cNvSpPr>
          <p:nvPr>
            <p:ph idx="1"/>
          </p:nvPr>
        </p:nvSpPr>
        <p:spPr>
          <a:xfrm>
            <a:off x="444843" y="1825625"/>
            <a:ext cx="11491784" cy="4847024"/>
          </a:xfrm>
        </p:spPr>
        <p:txBody>
          <a:bodyPr>
            <a:normAutofit lnSpcReduction="10000"/>
          </a:bodyPr>
          <a:lstStyle/>
          <a:p>
            <a:pPr>
              <a:spcAft>
                <a:spcPts val="800"/>
              </a:spcAft>
            </a:pPr>
            <a:r>
              <a:rPr lang="en-GB" sz="2400" dirty="0">
                <a:latin typeface="Aptos" panose="020B0004020202020204" pitchFamily="34" charset="0"/>
              </a:rPr>
              <a:t>Fundamentally, the person who rates an employee’s performance ‘should have the opportunity to observe employees’ performance over the assessment period’ (</a:t>
            </a:r>
            <a:r>
              <a:rPr lang="en-GB" sz="2400" dirty="0" err="1">
                <a:latin typeface="Aptos" panose="020B0004020202020204" pitchFamily="34" charset="0"/>
              </a:rPr>
              <a:t>Sillup</a:t>
            </a:r>
            <a:r>
              <a:rPr lang="en-GB" sz="2400" dirty="0">
                <a:latin typeface="Aptos" panose="020B0004020202020204" pitchFamily="34" charset="0"/>
              </a:rPr>
              <a:t> &amp; </a:t>
            </a:r>
            <a:r>
              <a:rPr lang="en-GB" sz="2400" dirty="0" err="1">
                <a:latin typeface="Aptos" panose="020B0004020202020204" pitchFamily="34" charset="0"/>
              </a:rPr>
              <a:t>Klimberg</a:t>
            </a:r>
            <a:r>
              <a:rPr lang="en-GB" sz="2400" dirty="0">
                <a:latin typeface="Aptos" panose="020B0004020202020204" pitchFamily="34" charset="0"/>
              </a:rPr>
              <a:t>, 2010: 42)</a:t>
            </a:r>
          </a:p>
          <a:p>
            <a:pPr>
              <a:spcAft>
                <a:spcPts val="800"/>
              </a:spcAft>
            </a:pPr>
            <a:r>
              <a:rPr lang="en-GB" sz="2400" dirty="0">
                <a:latin typeface="Aptos" panose="020B0004020202020204" pitchFamily="34" charset="0"/>
              </a:rPr>
              <a:t>There are </a:t>
            </a:r>
            <a:r>
              <a:rPr lang="en-GB" sz="2400" b="1" dirty="0">
                <a:latin typeface="Aptos" panose="020B0004020202020204" pitchFamily="34" charset="0"/>
              </a:rPr>
              <a:t>multiple possible raters of performance</a:t>
            </a:r>
            <a:r>
              <a:rPr lang="en-GB" sz="2400" dirty="0">
                <a:latin typeface="Aptos" panose="020B0004020202020204" pitchFamily="34" charset="0"/>
              </a:rPr>
              <a:t>:</a:t>
            </a:r>
          </a:p>
          <a:p>
            <a:pPr marL="457200" lvl="8" indent="-457200">
              <a:buFont typeface="Wingdings" panose="05000000000000000000" pitchFamily="2" charset="2"/>
              <a:buChar char="v"/>
            </a:pPr>
            <a:r>
              <a:rPr lang="en-GB" sz="2400" dirty="0">
                <a:latin typeface="Aptos" panose="020B0004020202020204" pitchFamily="34" charset="0"/>
              </a:rPr>
              <a:t>Immediate/line managers</a:t>
            </a:r>
          </a:p>
          <a:p>
            <a:pPr marL="457200" lvl="7" indent="-457200">
              <a:buFont typeface="Wingdings" panose="05000000000000000000" pitchFamily="2" charset="2"/>
              <a:buChar char="v"/>
            </a:pPr>
            <a:r>
              <a:rPr lang="en-GB" sz="2400" dirty="0">
                <a:latin typeface="Aptos" panose="020B0004020202020204" pitchFamily="34" charset="0"/>
              </a:rPr>
              <a:t>Peers/co-workers</a:t>
            </a:r>
          </a:p>
          <a:p>
            <a:pPr marL="457200" lvl="7" indent="-457200">
              <a:buFont typeface="Wingdings" panose="05000000000000000000" pitchFamily="2" charset="2"/>
              <a:buChar char="v"/>
            </a:pPr>
            <a:r>
              <a:rPr lang="en-GB" sz="2400" dirty="0">
                <a:latin typeface="Aptos" panose="020B0004020202020204" pitchFamily="34" charset="0"/>
              </a:rPr>
              <a:t>Direct reports</a:t>
            </a:r>
          </a:p>
          <a:p>
            <a:pPr marL="457200" lvl="7" indent="-457200">
              <a:buFont typeface="Wingdings" panose="05000000000000000000" pitchFamily="2" charset="2"/>
              <a:buChar char="v"/>
            </a:pPr>
            <a:r>
              <a:rPr lang="en-GB" sz="2400" dirty="0">
                <a:latin typeface="Aptos" panose="020B0004020202020204" pitchFamily="34" charset="0"/>
              </a:rPr>
              <a:t>Self-appraisal</a:t>
            </a:r>
          </a:p>
          <a:p>
            <a:pPr marL="457200" lvl="7" indent="-457200">
              <a:buFont typeface="Wingdings" panose="05000000000000000000" pitchFamily="2" charset="2"/>
              <a:buChar char="v"/>
            </a:pPr>
            <a:r>
              <a:rPr lang="en-GB" sz="2400" dirty="0">
                <a:latin typeface="Aptos" panose="020B0004020202020204" pitchFamily="34" charset="0"/>
              </a:rPr>
              <a:t>Customers/clients</a:t>
            </a:r>
          </a:p>
          <a:p>
            <a:pPr>
              <a:spcAft>
                <a:spcPts val="800"/>
              </a:spcAft>
            </a:pPr>
            <a:r>
              <a:rPr lang="en-GB" sz="2400" dirty="0">
                <a:latin typeface="Aptos" panose="020B0004020202020204" pitchFamily="34" charset="0"/>
              </a:rPr>
              <a:t>Some research suggests that </a:t>
            </a:r>
            <a:r>
              <a:rPr lang="en-GB" sz="2400" b="1" dirty="0">
                <a:latin typeface="Aptos" panose="020B0004020202020204" pitchFamily="34" charset="0"/>
              </a:rPr>
              <a:t>data from multiple sources are desirable </a:t>
            </a:r>
            <a:r>
              <a:rPr lang="en-GB" sz="2400" dirty="0">
                <a:latin typeface="Aptos" panose="020B0004020202020204" pitchFamily="34" charset="0"/>
              </a:rPr>
              <a:t>because they give a more holistic picture about an employee’s performance, may reduce bias and reduce the chance of ethical concerns</a:t>
            </a:r>
          </a:p>
          <a:p>
            <a:pPr>
              <a:lnSpc>
                <a:spcPct val="160000"/>
              </a:lnSpc>
            </a:pPr>
            <a:endParaRPr lang="en-US" sz="2400" dirty="0"/>
          </a:p>
        </p:txBody>
      </p:sp>
    </p:spTree>
    <p:extLst>
      <p:ext uri="{BB962C8B-B14F-4D97-AF65-F5344CB8AC3E}">
        <p14:creationId xmlns:p14="http://schemas.microsoft.com/office/powerpoint/2010/main" val="231551621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11629" y="602852"/>
            <a:ext cx="10994571" cy="1293028"/>
          </a:xfrm>
        </p:spPr>
        <p:txBody>
          <a:bodyPr>
            <a:normAutofit/>
          </a:bodyPr>
          <a:lstStyle/>
          <a:p>
            <a:pPr algn="l"/>
            <a:r>
              <a:rPr lang="en-GB" sz="4000" dirty="0"/>
              <a:t>Alternative Appraisal Methods</a:t>
            </a:r>
          </a:p>
        </p:txBody>
      </p:sp>
      <p:sp>
        <p:nvSpPr>
          <p:cNvPr id="3" name="Content Placeholder 2"/>
          <p:cNvSpPr>
            <a:spLocks noGrp="1"/>
          </p:cNvSpPr>
          <p:nvPr>
            <p:ph idx="1"/>
          </p:nvPr>
        </p:nvSpPr>
        <p:spPr>
          <a:xfrm>
            <a:off x="511629" y="1895880"/>
            <a:ext cx="10994571" cy="4310284"/>
          </a:xfrm>
        </p:spPr>
        <p:txBody>
          <a:bodyPr>
            <a:normAutofit/>
          </a:bodyPr>
          <a:lstStyle/>
          <a:p>
            <a:pPr>
              <a:lnSpc>
                <a:spcPct val="150000"/>
              </a:lnSpc>
            </a:pPr>
            <a:r>
              <a:rPr lang="en-GB" sz="2800" dirty="0">
                <a:solidFill>
                  <a:schemeClr val="tx1"/>
                </a:solidFill>
              </a:rPr>
              <a:t>Upward appraisal</a:t>
            </a:r>
          </a:p>
          <a:p>
            <a:pPr>
              <a:lnSpc>
                <a:spcPct val="150000"/>
              </a:lnSpc>
            </a:pPr>
            <a:r>
              <a:rPr lang="en-GB" sz="2800" dirty="0">
                <a:solidFill>
                  <a:schemeClr val="tx1"/>
                </a:solidFill>
              </a:rPr>
              <a:t>360-degree or multisource feedback</a:t>
            </a:r>
          </a:p>
          <a:p>
            <a:pPr>
              <a:lnSpc>
                <a:spcPct val="150000"/>
              </a:lnSpc>
            </a:pPr>
            <a:r>
              <a:rPr lang="en-GB" sz="2800" dirty="0">
                <a:solidFill>
                  <a:schemeClr val="tx1"/>
                </a:solidFill>
              </a:rPr>
              <a:t>Customer appraisal</a:t>
            </a:r>
          </a:p>
          <a:p>
            <a:pPr>
              <a:lnSpc>
                <a:spcPct val="150000"/>
              </a:lnSpc>
            </a:pPr>
            <a:r>
              <a:rPr lang="en-GB" sz="2800" dirty="0">
                <a:solidFill>
                  <a:schemeClr val="tx1"/>
                </a:solidFill>
              </a:rPr>
              <a:t>Team based appraisal</a:t>
            </a:r>
          </a:p>
          <a:p>
            <a:pPr marL="0" indent="0">
              <a:buNone/>
            </a:pPr>
            <a:endParaRPr lang="en-GB" dirty="0"/>
          </a:p>
          <a:p>
            <a:pPr marL="0" indent="0">
              <a:buNone/>
            </a:pPr>
            <a:endParaRPr lang="en-GB" dirty="0"/>
          </a:p>
          <a:p>
            <a:pPr marL="0" indent="0">
              <a:buNone/>
            </a:pPr>
            <a:endParaRPr lang="en-GB" dirty="0"/>
          </a:p>
          <a:p>
            <a:pPr marL="0" indent="0">
              <a:buNone/>
            </a:pPr>
            <a:endParaRPr lang="en-GB" dirty="0"/>
          </a:p>
          <a:p>
            <a:pPr marL="0" indent="0">
              <a:buNone/>
            </a:pPr>
            <a:endParaRPr lang="en-GB" dirty="0"/>
          </a:p>
        </p:txBody>
      </p:sp>
      <p:pic>
        <p:nvPicPr>
          <p:cNvPr id="3074" name="Picture 2">
            <a:extLst>
              <a:ext uri="{FF2B5EF4-FFF2-40B4-BE49-F238E27FC236}">
                <a16:creationId xmlns:a16="http://schemas.microsoft.com/office/drawing/2014/main" id="{9EC5A86D-9A37-BC75-27FD-11CC1AE48CE4}"/>
              </a:ext>
              <a:ext uri="{C183D7F6-B498-43B3-948B-1728B52AA6E4}">
                <adec:decorative xmlns:adec="http://schemas.microsoft.com/office/drawing/2017/decorative" val="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40700" y="2474291"/>
            <a:ext cx="3365500" cy="2413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767637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360- degree Feedback</a:t>
            </a:r>
          </a:p>
        </p:txBody>
      </p:sp>
      <p:sp>
        <p:nvSpPr>
          <p:cNvPr id="3" name="Rectangle 2"/>
          <p:cNvSpPr/>
          <p:nvPr/>
        </p:nvSpPr>
        <p:spPr>
          <a:xfrm>
            <a:off x="353122" y="1824765"/>
            <a:ext cx="11485755" cy="4154984"/>
          </a:xfrm>
          <a:prstGeom prst="rect">
            <a:avLst/>
          </a:prstGeom>
        </p:spPr>
        <p:txBody>
          <a:bodyPr wrap="square">
            <a:spAutoFit/>
          </a:bodyPr>
          <a:lstStyle/>
          <a:p>
            <a:r>
              <a:rPr lang="en-GB" sz="2400" dirty="0"/>
              <a:t>“Feedback from others is a good way to try and see yourself through another person’s eyes. It can be difficult to hear messages that aren’t congruent with your own views but this can be very powerful. Many universities’ Learning and Development Departments will have access to activities such as 360 degree feedback mechanisms. You answer a set of questions about you and your behaviour, likes and dislikes at work for example, and then you identify a number of colleagues to do the same. </a:t>
            </a:r>
          </a:p>
          <a:p>
            <a:endParaRPr lang="en-GB" sz="2400" dirty="0"/>
          </a:p>
          <a:p>
            <a:r>
              <a:rPr lang="en-GB" sz="2400" dirty="0"/>
              <a:t>The key here is to use both the obvious colleagues such as your line manager but also the not so obvious ones – whose opinion do you really value? Who isn’t automatically going to give you ‘excellent’ in each area? Who will really spend time thinking and being honest?” (Gander, 2014: 100).</a:t>
            </a:r>
          </a:p>
        </p:txBody>
      </p:sp>
      <p:sp>
        <p:nvSpPr>
          <p:cNvPr id="4" name="Rectangle 3"/>
          <p:cNvSpPr/>
          <p:nvPr/>
        </p:nvSpPr>
        <p:spPr>
          <a:xfrm>
            <a:off x="568712" y="6369568"/>
            <a:ext cx="11270165" cy="307777"/>
          </a:xfrm>
          <a:prstGeom prst="rect">
            <a:avLst/>
          </a:prstGeom>
        </p:spPr>
        <p:txBody>
          <a:bodyPr wrap="square">
            <a:spAutoFit/>
          </a:bodyPr>
          <a:lstStyle/>
          <a:p>
            <a:r>
              <a:rPr lang="en-GB" sz="1400" dirty="0"/>
              <a:t>Gander, M. (2014). Managing your personal brand. </a:t>
            </a:r>
            <a:r>
              <a:rPr lang="en-GB" sz="1400" i="1" dirty="0"/>
              <a:t>Perspectives: Policy and Practice in Higher Education</a:t>
            </a:r>
            <a:r>
              <a:rPr lang="en-GB" sz="1400" dirty="0"/>
              <a:t>, </a:t>
            </a:r>
            <a:r>
              <a:rPr lang="en-GB" sz="1400" i="1" dirty="0"/>
              <a:t>18</a:t>
            </a:r>
            <a:r>
              <a:rPr lang="en-GB" sz="1400" dirty="0"/>
              <a:t>(3), 99-102.</a:t>
            </a:r>
          </a:p>
        </p:txBody>
      </p:sp>
      <p:pic>
        <p:nvPicPr>
          <p:cNvPr id="5" name="Picture 4"/>
          <p:cNvPicPr>
            <a:picLocks noChangeAspect="1"/>
          </p:cNvPicPr>
          <p:nvPr/>
        </p:nvPicPr>
        <p:blipFill>
          <a:blip r:embed="rId2"/>
          <a:stretch>
            <a:fillRect/>
          </a:stretch>
        </p:blipFill>
        <p:spPr>
          <a:xfrm>
            <a:off x="8886825" y="103981"/>
            <a:ext cx="2466975" cy="1847850"/>
          </a:xfrm>
          <a:prstGeom prst="rect">
            <a:avLst/>
          </a:prstGeom>
        </p:spPr>
      </p:pic>
    </p:spTree>
    <p:extLst>
      <p:ext uri="{BB962C8B-B14F-4D97-AF65-F5344CB8AC3E}">
        <p14:creationId xmlns:p14="http://schemas.microsoft.com/office/powerpoint/2010/main" val="99462609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671938"/>
          </a:xfrm>
        </p:spPr>
        <p:txBody>
          <a:bodyPr>
            <a:normAutofit fontScale="90000"/>
          </a:bodyPr>
          <a:lstStyle/>
          <a:p>
            <a:r>
              <a:rPr lang="en-GB" dirty="0"/>
              <a:t>360-degree Feedback</a:t>
            </a:r>
          </a:p>
        </p:txBody>
      </p:sp>
      <p:sp>
        <p:nvSpPr>
          <p:cNvPr id="3" name="TextBox 2"/>
          <p:cNvSpPr txBox="1"/>
          <p:nvPr/>
        </p:nvSpPr>
        <p:spPr>
          <a:xfrm>
            <a:off x="423747" y="959005"/>
            <a:ext cx="11545229" cy="4893647"/>
          </a:xfrm>
          <a:prstGeom prst="rect">
            <a:avLst/>
          </a:prstGeom>
          <a:noFill/>
        </p:spPr>
        <p:txBody>
          <a:bodyPr wrap="square" rtlCol="0">
            <a:spAutoFit/>
          </a:bodyPr>
          <a:lstStyle/>
          <a:p>
            <a:r>
              <a:rPr lang="en-GB" sz="2400" dirty="0"/>
              <a:t>360-degree feedback can be used for developmental purposes, and performance management / appraisal purposes. The two purposes are different and </a:t>
            </a:r>
            <a:r>
              <a:rPr lang="en-GB" sz="2400" u="sng" dirty="0"/>
              <a:t>should not be linked together or they will compromise their distinct purposes</a:t>
            </a:r>
            <a:r>
              <a:rPr lang="en-GB" sz="2400" dirty="0"/>
              <a:t>.</a:t>
            </a:r>
          </a:p>
          <a:p>
            <a:endParaRPr lang="en-GB" sz="2400" dirty="0"/>
          </a:p>
          <a:p>
            <a:r>
              <a:rPr lang="en-GB" sz="2400" dirty="0"/>
              <a:t>360-degree or multi-source feedback was applied in WW2 by the German military to assess the performance of soldiers using supervisors, peers and subordinates. It informed pay and promotion. During the 1950s, Esso introduced this approach and it has grown steadily since then. </a:t>
            </a:r>
          </a:p>
          <a:p>
            <a:endParaRPr lang="en-GB" sz="2400" dirty="0"/>
          </a:p>
          <a:p>
            <a:r>
              <a:rPr lang="en-GB" sz="2400" dirty="0"/>
              <a:t>With the changes in the relationship between the organisation and the employee, “Companies don’t develop managers anymore; managers develop themselves. Companies no longer promise employment; they promise employability.” (Hollenbeck in Bracken et al,  1997: iii)</a:t>
            </a:r>
          </a:p>
        </p:txBody>
      </p:sp>
      <p:sp>
        <p:nvSpPr>
          <p:cNvPr id="4" name="Rectangle 3"/>
          <p:cNvSpPr/>
          <p:nvPr/>
        </p:nvSpPr>
        <p:spPr>
          <a:xfrm>
            <a:off x="423748" y="6169532"/>
            <a:ext cx="11545228" cy="523220"/>
          </a:xfrm>
          <a:prstGeom prst="rect">
            <a:avLst/>
          </a:prstGeom>
        </p:spPr>
        <p:txBody>
          <a:bodyPr wrap="square">
            <a:spAutoFit/>
          </a:bodyPr>
          <a:lstStyle/>
          <a:p>
            <a:r>
              <a:rPr lang="en-GB" sz="1400" dirty="0"/>
              <a:t>Hollenbeck, G.P. Foreword in  Bracken, D. W., Dalton, M., </a:t>
            </a:r>
            <a:r>
              <a:rPr lang="en-GB" sz="1400" dirty="0" err="1"/>
              <a:t>Jako</a:t>
            </a:r>
            <a:r>
              <a:rPr lang="en-GB" sz="1400" dirty="0"/>
              <a:t>, R.A., McCauley, C. D. and </a:t>
            </a:r>
            <a:r>
              <a:rPr lang="en-GB" sz="1400" dirty="0" err="1"/>
              <a:t>Pollman</a:t>
            </a:r>
            <a:r>
              <a:rPr lang="en-GB" sz="1400" dirty="0"/>
              <a:t>, V.A. (1997). </a:t>
            </a:r>
            <a:r>
              <a:rPr lang="en-GB" sz="1400" i="1" dirty="0"/>
              <a:t>Should 360-degree Feedback Be Only Used For Developmental Purposes?</a:t>
            </a:r>
            <a:r>
              <a:rPr lang="en-GB" sz="1400" dirty="0"/>
              <a:t>. Greensboro, NC, </a:t>
            </a:r>
            <a:r>
              <a:rPr lang="en-GB" sz="1400" dirty="0" err="1"/>
              <a:t>Center</a:t>
            </a:r>
            <a:r>
              <a:rPr lang="en-GB" sz="1400" dirty="0"/>
              <a:t> for Creative Leadership.</a:t>
            </a:r>
          </a:p>
        </p:txBody>
      </p:sp>
    </p:spTree>
    <p:extLst>
      <p:ext uri="{BB962C8B-B14F-4D97-AF65-F5344CB8AC3E}">
        <p14:creationId xmlns:p14="http://schemas.microsoft.com/office/powerpoint/2010/main" val="404043002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59385"/>
            <a:ext cx="10515600" cy="1325563"/>
          </a:xfrm>
        </p:spPr>
        <p:txBody>
          <a:bodyPr/>
          <a:lstStyle/>
          <a:p>
            <a:r>
              <a:rPr lang="en-GB" dirty="0"/>
              <a:t>90, 180, 270, 360, 540, 720 degree feedback</a:t>
            </a:r>
          </a:p>
        </p:txBody>
      </p:sp>
      <p:sp>
        <p:nvSpPr>
          <p:cNvPr id="3" name="TextBox 2"/>
          <p:cNvSpPr txBox="1"/>
          <p:nvPr/>
        </p:nvSpPr>
        <p:spPr>
          <a:xfrm>
            <a:off x="190965" y="1553528"/>
            <a:ext cx="11431742" cy="4893647"/>
          </a:xfrm>
          <a:prstGeom prst="rect">
            <a:avLst/>
          </a:prstGeom>
          <a:noFill/>
        </p:spPr>
        <p:txBody>
          <a:bodyPr wrap="square" rtlCol="0">
            <a:spAutoFit/>
          </a:bodyPr>
          <a:lstStyle/>
          <a:p>
            <a:r>
              <a:rPr lang="en-GB" sz="2400" dirty="0"/>
              <a:t>90-degree feedback: appraiser gives feedback to </a:t>
            </a:r>
            <a:r>
              <a:rPr lang="en-GB" sz="2400" dirty="0" err="1"/>
              <a:t>appraisee</a:t>
            </a:r>
            <a:endParaRPr lang="en-GB" sz="2400" dirty="0"/>
          </a:p>
          <a:p>
            <a:endParaRPr lang="en-GB" sz="2400" dirty="0"/>
          </a:p>
          <a:p>
            <a:r>
              <a:rPr lang="en-GB" sz="2400" dirty="0"/>
              <a:t>180-degree feedback: </a:t>
            </a:r>
            <a:r>
              <a:rPr lang="en-GB" sz="2400" dirty="0" err="1"/>
              <a:t>Appraisee</a:t>
            </a:r>
            <a:r>
              <a:rPr lang="en-GB" sz="2400" dirty="0"/>
              <a:t> evaluates self as well as appraiser</a:t>
            </a:r>
          </a:p>
          <a:p>
            <a:endParaRPr lang="en-GB" sz="2400" dirty="0"/>
          </a:p>
          <a:p>
            <a:r>
              <a:rPr lang="en-GB" sz="2400" dirty="0"/>
              <a:t>270-degree feedback: Appraiser, appraise + peers </a:t>
            </a:r>
            <a:r>
              <a:rPr lang="en-GB" sz="2400" b="1" dirty="0"/>
              <a:t>or</a:t>
            </a:r>
            <a:r>
              <a:rPr lang="en-GB" sz="2400" dirty="0"/>
              <a:t> subordinates</a:t>
            </a:r>
          </a:p>
          <a:p>
            <a:endParaRPr lang="en-GB" sz="2400" dirty="0"/>
          </a:p>
          <a:p>
            <a:r>
              <a:rPr lang="en-GB" sz="2400" dirty="0"/>
              <a:t>360-degree feedback: Appraiser, </a:t>
            </a:r>
            <a:r>
              <a:rPr lang="en-GB" sz="2400" dirty="0" err="1"/>
              <a:t>appraisee</a:t>
            </a:r>
            <a:r>
              <a:rPr lang="en-GB" sz="2400" dirty="0"/>
              <a:t>, peers </a:t>
            </a:r>
            <a:r>
              <a:rPr lang="en-GB" sz="2400" b="1" dirty="0"/>
              <a:t>and</a:t>
            </a:r>
            <a:r>
              <a:rPr lang="en-GB" sz="2400" dirty="0"/>
              <a:t> subordinates</a:t>
            </a:r>
          </a:p>
          <a:p>
            <a:endParaRPr lang="en-GB" sz="2400" dirty="0"/>
          </a:p>
          <a:p>
            <a:r>
              <a:rPr lang="en-GB" sz="2400" dirty="0"/>
              <a:t>540-degree feedback: Appraiser, </a:t>
            </a:r>
            <a:r>
              <a:rPr lang="en-GB" sz="2400" dirty="0" err="1"/>
              <a:t>appraisee</a:t>
            </a:r>
            <a:r>
              <a:rPr lang="en-GB" sz="2400" dirty="0"/>
              <a:t>, peers, subordinates, and customers / stakeholders</a:t>
            </a:r>
          </a:p>
          <a:p>
            <a:endParaRPr lang="en-GB" sz="2400" dirty="0"/>
          </a:p>
          <a:p>
            <a:r>
              <a:rPr lang="en-GB" sz="2400" dirty="0"/>
              <a:t>720-degree feedback: 2 X 360-degree feedback – after time results are compared with earlier appraisal.</a:t>
            </a:r>
          </a:p>
        </p:txBody>
      </p:sp>
      <p:pic>
        <p:nvPicPr>
          <p:cNvPr id="4" name="Picture 3"/>
          <p:cNvPicPr>
            <a:picLocks noChangeAspect="1"/>
          </p:cNvPicPr>
          <p:nvPr/>
        </p:nvPicPr>
        <p:blipFill>
          <a:blip r:embed="rId2"/>
          <a:stretch>
            <a:fillRect/>
          </a:stretch>
        </p:blipFill>
        <p:spPr>
          <a:xfrm>
            <a:off x="9155732" y="1690688"/>
            <a:ext cx="2466975" cy="1847850"/>
          </a:xfrm>
          <a:prstGeom prst="rect">
            <a:avLst/>
          </a:prstGeom>
        </p:spPr>
      </p:pic>
    </p:spTree>
    <p:extLst>
      <p:ext uri="{BB962C8B-B14F-4D97-AF65-F5344CB8AC3E}">
        <p14:creationId xmlns:p14="http://schemas.microsoft.com/office/powerpoint/2010/main" val="119067227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743585"/>
          </a:xfrm>
        </p:spPr>
        <p:txBody>
          <a:bodyPr/>
          <a:lstStyle/>
          <a:p>
            <a:r>
              <a:rPr lang="en-GB" dirty="0"/>
              <a:t>27 Questions About 360-degree Feedback</a:t>
            </a:r>
          </a:p>
        </p:txBody>
      </p:sp>
      <p:pic>
        <p:nvPicPr>
          <p:cNvPr id="4" name="Picture 3"/>
          <p:cNvPicPr>
            <a:picLocks noChangeAspect="1"/>
          </p:cNvPicPr>
          <p:nvPr/>
        </p:nvPicPr>
        <p:blipFill>
          <a:blip r:embed="rId2"/>
          <a:stretch>
            <a:fillRect/>
          </a:stretch>
        </p:blipFill>
        <p:spPr>
          <a:xfrm rot="5400000">
            <a:off x="3767090" y="-2206926"/>
            <a:ext cx="4827336" cy="11458609"/>
          </a:xfrm>
          <a:prstGeom prst="rect">
            <a:avLst/>
          </a:prstGeom>
        </p:spPr>
      </p:pic>
      <p:sp>
        <p:nvSpPr>
          <p:cNvPr id="5" name="Rectangle 4"/>
          <p:cNvSpPr/>
          <p:nvPr/>
        </p:nvSpPr>
        <p:spPr>
          <a:xfrm>
            <a:off x="451453" y="6211669"/>
            <a:ext cx="11458610" cy="523220"/>
          </a:xfrm>
          <a:prstGeom prst="rect">
            <a:avLst/>
          </a:prstGeom>
        </p:spPr>
        <p:txBody>
          <a:bodyPr wrap="square">
            <a:spAutoFit/>
          </a:bodyPr>
          <a:lstStyle/>
          <a:p>
            <a:r>
              <a:rPr lang="en-GB" sz="1400" dirty="0" err="1"/>
              <a:t>Morgeson</a:t>
            </a:r>
            <a:r>
              <a:rPr lang="en-GB" sz="1400" dirty="0"/>
              <a:t>, F. P., Mumford, T. V., &amp; Campion, M. A. (2005). Coming Full Circle: Using Research and Practice to Address 27 Questions About 360-Degree Feedback Programs. </a:t>
            </a:r>
            <a:r>
              <a:rPr lang="en-GB" sz="1400" i="1" dirty="0"/>
              <a:t>Consulting Psychology Journal: Practice and Research</a:t>
            </a:r>
            <a:r>
              <a:rPr lang="en-GB" sz="1400" dirty="0"/>
              <a:t>, </a:t>
            </a:r>
            <a:r>
              <a:rPr lang="en-GB" sz="1400" i="1" dirty="0"/>
              <a:t>57</a:t>
            </a:r>
            <a:r>
              <a:rPr lang="en-GB" sz="1400" dirty="0"/>
              <a:t>(3), 196.</a:t>
            </a:r>
          </a:p>
        </p:txBody>
      </p:sp>
    </p:spTree>
    <p:extLst>
      <p:ext uri="{BB962C8B-B14F-4D97-AF65-F5344CB8AC3E}">
        <p14:creationId xmlns:p14="http://schemas.microsoft.com/office/powerpoint/2010/main" val="234594484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6267E6-FE99-3FA7-3084-ED4366C47837}"/>
              </a:ext>
            </a:extLst>
          </p:cNvPr>
          <p:cNvSpPr>
            <a:spLocks noGrp="1"/>
          </p:cNvSpPr>
          <p:nvPr>
            <p:ph type="title"/>
          </p:nvPr>
        </p:nvSpPr>
        <p:spPr>
          <a:xfrm>
            <a:off x="490330" y="178905"/>
            <a:ext cx="10515600" cy="1325563"/>
          </a:xfrm>
        </p:spPr>
        <p:txBody>
          <a:bodyPr/>
          <a:lstStyle/>
          <a:p>
            <a:r>
              <a:rPr lang="en-US" dirty="0"/>
              <a:t>Feedforward Appraisal  </a:t>
            </a:r>
          </a:p>
        </p:txBody>
      </p:sp>
      <p:sp>
        <p:nvSpPr>
          <p:cNvPr id="3" name="Content Placeholder 2">
            <a:extLst>
              <a:ext uri="{FF2B5EF4-FFF2-40B4-BE49-F238E27FC236}">
                <a16:creationId xmlns:a16="http://schemas.microsoft.com/office/drawing/2014/main" id="{4BC8F132-BE51-AED4-B7B5-04E595A6973C}"/>
              </a:ext>
            </a:extLst>
          </p:cNvPr>
          <p:cNvSpPr>
            <a:spLocks noGrp="1"/>
          </p:cNvSpPr>
          <p:nvPr>
            <p:ph idx="1"/>
          </p:nvPr>
        </p:nvSpPr>
        <p:spPr>
          <a:xfrm>
            <a:off x="490330" y="1504468"/>
            <a:ext cx="11396870" cy="5174627"/>
          </a:xfrm>
        </p:spPr>
        <p:txBody>
          <a:bodyPr>
            <a:normAutofit fontScale="77500" lnSpcReduction="20000"/>
          </a:bodyPr>
          <a:lstStyle/>
          <a:p>
            <a:pPr>
              <a:lnSpc>
                <a:spcPct val="150000"/>
              </a:lnSpc>
            </a:pPr>
            <a:r>
              <a:rPr lang="en-US" dirty="0"/>
              <a:t>A proactive approach </a:t>
            </a:r>
            <a:r>
              <a:rPr lang="en-US" b="1" dirty="0"/>
              <a:t>focusing on future performance </a:t>
            </a:r>
            <a:r>
              <a:rPr lang="en-US" dirty="0"/>
              <a:t>and development rather than past performance (e.g. aims to help employees identify areas for improvement).</a:t>
            </a:r>
          </a:p>
          <a:p>
            <a:pPr>
              <a:lnSpc>
                <a:spcPct val="150000"/>
              </a:lnSpc>
            </a:pPr>
            <a:r>
              <a:rPr lang="en-US" dirty="0"/>
              <a:t>Emphasizes learning and potential, shifting the focus from </a:t>
            </a:r>
            <a:r>
              <a:rPr lang="en-US" b="1" dirty="0"/>
              <a:t>evaluation to development</a:t>
            </a:r>
            <a:r>
              <a:rPr lang="en-US" dirty="0"/>
              <a:t>.</a:t>
            </a:r>
          </a:p>
          <a:p>
            <a:pPr>
              <a:lnSpc>
                <a:spcPct val="150000"/>
              </a:lnSpc>
            </a:pPr>
            <a:r>
              <a:rPr lang="en-US" b="1" dirty="0"/>
              <a:t>Encourages dialogue </a:t>
            </a:r>
            <a:r>
              <a:rPr lang="en-US" dirty="0"/>
              <a:t>between managers and employees about how they can achieve future goals.</a:t>
            </a:r>
          </a:p>
          <a:p>
            <a:pPr>
              <a:lnSpc>
                <a:spcPct val="150000"/>
              </a:lnSpc>
            </a:pPr>
            <a:r>
              <a:rPr lang="en-US" dirty="0"/>
              <a:t>Positive feedback can be motivating for employees. They discuss what can be improved, rather than dwelling on past failures.</a:t>
            </a:r>
          </a:p>
          <a:p>
            <a:pPr>
              <a:lnSpc>
                <a:spcPct val="150000"/>
              </a:lnSpc>
            </a:pPr>
            <a:r>
              <a:rPr lang="en-US" b="1" dirty="0"/>
              <a:t>Continuous development</a:t>
            </a:r>
            <a:r>
              <a:rPr lang="en-US" dirty="0"/>
              <a:t>: Can create a culture of learning and ongoing feedback.</a:t>
            </a:r>
          </a:p>
          <a:p>
            <a:endParaRPr lang="en-US" dirty="0"/>
          </a:p>
          <a:p>
            <a:endParaRPr lang="en-US" dirty="0"/>
          </a:p>
          <a:p>
            <a:endParaRPr lang="en-US" dirty="0"/>
          </a:p>
        </p:txBody>
      </p:sp>
    </p:spTree>
    <p:extLst>
      <p:ext uri="{BB962C8B-B14F-4D97-AF65-F5344CB8AC3E}">
        <p14:creationId xmlns:p14="http://schemas.microsoft.com/office/powerpoint/2010/main" val="150725259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ED0157-12CB-6217-C1F2-9E0D7DD8B912}"/>
              </a:ext>
            </a:extLst>
          </p:cNvPr>
          <p:cNvSpPr>
            <a:spLocks noGrp="1"/>
          </p:cNvSpPr>
          <p:nvPr>
            <p:ph type="title"/>
          </p:nvPr>
        </p:nvSpPr>
        <p:spPr/>
        <p:txBody>
          <a:bodyPr/>
          <a:lstStyle/>
          <a:p>
            <a:r>
              <a:rPr lang="en-US" dirty="0"/>
              <a:t>Customer Appraisal</a:t>
            </a:r>
          </a:p>
        </p:txBody>
      </p:sp>
      <p:sp>
        <p:nvSpPr>
          <p:cNvPr id="3" name="Content Placeholder 2">
            <a:extLst>
              <a:ext uri="{FF2B5EF4-FFF2-40B4-BE49-F238E27FC236}">
                <a16:creationId xmlns:a16="http://schemas.microsoft.com/office/drawing/2014/main" id="{0F93B286-081F-2043-374D-9EA39ECDCD00}"/>
              </a:ext>
            </a:extLst>
          </p:cNvPr>
          <p:cNvSpPr>
            <a:spLocks noGrp="1"/>
          </p:cNvSpPr>
          <p:nvPr>
            <p:ph idx="1"/>
          </p:nvPr>
        </p:nvSpPr>
        <p:spPr/>
        <p:txBody>
          <a:bodyPr>
            <a:normAutofit fontScale="92500" lnSpcReduction="20000"/>
          </a:bodyPr>
          <a:lstStyle/>
          <a:p>
            <a:pPr>
              <a:lnSpc>
                <a:spcPct val="150000"/>
              </a:lnSpc>
            </a:pPr>
            <a:r>
              <a:rPr lang="en-US" dirty="0"/>
              <a:t>Performance feedback directly from customers.</a:t>
            </a:r>
          </a:p>
          <a:p>
            <a:pPr>
              <a:lnSpc>
                <a:spcPct val="150000"/>
              </a:lnSpc>
            </a:pPr>
            <a:r>
              <a:rPr lang="en-US" dirty="0"/>
              <a:t>Measures how well employees meet customer expectations.</a:t>
            </a:r>
          </a:p>
          <a:p>
            <a:pPr>
              <a:lnSpc>
                <a:spcPct val="150000"/>
              </a:lnSpc>
            </a:pPr>
            <a:r>
              <a:rPr lang="en-US" dirty="0"/>
              <a:t>Customer-centric: aligns employee actions with customer satisfaction.</a:t>
            </a:r>
          </a:p>
          <a:p>
            <a:pPr>
              <a:lnSpc>
                <a:spcPct val="150000"/>
              </a:lnSpc>
            </a:pPr>
            <a:r>
              <a:rPr lang="en-US" dirty="0"/>
              <a:t>Actionable insights: Can provide real-time feedback for improving service quality.</a:t>
            </a:r>
          </a:p>
          <a:p>
            <a:pPr>
              <a:lnSpc>
                <a:spcPct val="150000"/>
              </a:lnSpc>
            </a:pPr>
            <a:r>
              <a:rPr lang="en-US" dirty="0"/>
              <a:t>External perspective: Could reduces bias in evaluations.</a:t>
            </a:r>
          </a:p>
          <a:p>
            <a:pPr>
              <a:lnSpc>
                <a:spcPct val="150000"/>
              </a:lnSpc>
            </a:pPr>
            <a:r>
              <a:rPr lang="en-US" dirty="0"/>
              <a:t>Improve relationships with customers</a:t>
            </a:r>
          </a:p>
        </p:txBody>
      </p:sp>
      <p:pic>
        <p:nvPicPr>
          <p:cNvPr id="5122" name="Picture 2">
            <a:extLst>
              <a:ext uri="{FF2B5EF4-FFF2-40B4-BE49-F238E27FC236}">
                <a16:creationId xmlns:a16="http://schemas.microsoft.com/office/drawing/2014/main" id="{461944C0-4143-081A-7D4C-DF507580E5F0}"/>
              </a:ext>
              <a:ext uri="{C183D7F6-B498-43B3-948B-1728B52AA6E4}">
                <adec:decorative xmlns:adec="http://schemas.microsoft.com/office/drawing/2017/decorative" val="1"/>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10417"/>
          <a:stretch/>
        </p:blipFill>
        <p:spPr bwMode="auto">
          <a:xfrm>
            <a:off x="8661400" y="114300"/>
            <a:ext cx="3327400" cy="2184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1354764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128"/>
        <p:cNvGrpSpPr/>
        <p:nvPr/>
      </p:nvGrpSpPr>
      <p:grpSpPr>
        <a:xfrm>
          <a:off x="0" y="0"/>
          <a:ext cx="0" cy="0"/>
          <a:chOff x="0" y="0"/>
          <a:chExt cx="0" cy="0"/>
        </a:xfrm>
      </p:grpSpPr>
      <p:sp>
        <p:nvSpPr>
          <p:cNvPr id="129" name="Google Shape;129;p19"/>
          <p:cNvSpPr txBox="1">
            <a:spLocks noGrp="1"/>
          </p:cNvSpPr>
          <p:nvPr>
            <p:ph type="title"/>
          </p:nvPr>
        </p:nvSpPr>
        <p:spPr>
          <a:xfrm>
            <a:off x="835487" y="340884"/>
            <a:ext cx="9827097" cy="1325563"/>
          </a:xfrm>
          <a:prstGeom prst="rect">
            <a:avLst/>
          </a:prstGeom>
          <a:noFill/>
          <a:ln>
            <a:noFill/>
          </a:ln>
        </p:spPr>
        <p:txBody>
          <a:bodyPr spcFirstLastPara="1" vert="horz" wrap="square" lIns="113919" tIns="56944" rIns="113919" bIns="56944" rtlCol="0" anchor="ctr" anchorCtr="0">
            <a:normAutofit/>
          </a:bodyPr>
          <a:lstStyle/>
          <a:p>
            <a:pPr>
              <a:spcBef>
                <a:spcPts val="0"/>
              </a:spcBef>
              <a:buClr>
                <a:schemeClr val="dk1"/>
              </a:buClr>
              <a:buSzPts val="3600"/>
            </a:pPr>
            <a:r>
              <a:rPr lang="en-US" sz="4486" dirty="0"/>
              <a:t>Team Appraisal</a:t>
            </a:r>
            <a:endParaRPr dirty="0"/>
          </a:p>
        </p:txBody>
      </p:sp>
      <p:sp>
        <p:nvSpPr>
          <p:cNvPr id="4" name="Google Shape;124;p18"/>
          <p:cNvSpPr txBox="1">
            <a:spLocks noGrp="1"/>
          </p:cNvSpPr>
          <p:nvPr>
            <p:ph type="body" idx="1"/>
          </p:nvPr>
        </p:nvSpPr>
        <p:spPr>
          <a:xfrm>
            <a:off x="835487" y="1666448"/>
            <a:ext cx="10642235" cy="4781922"/>
          </a:xfrm>
          <a:prstGeom prst="rect">
            <a:avLst/>
          </a:prstGeom>
          <a:noFill/>
          <a:ln>
            <a:noFill/>
          </a:ln>
        </p:spPr>
        <p:txBody>
          <a:bodyPr spcFirstLastPara="1" vert="horz" wrap="square" lIns="113919" tIns="56944" rIns="113919" bIns="56944" rtlCol="0" anchor="t" anchorCtr="0">
            <a:normAutofit fontScale="92500" lnSpcReduction="20000"/>
          </a:bodyPr>
          <a:lstStyle/>
          <a:p>
            <a:pPr>
              <a:lnSpc>
                <a:spcPct val="150000"/>
              </a:lnSpc>
              <a:spcBef>
                <a:spcPts val="0"/>
              </a:spcBef>
              <a:buClr>
                <a:schemeClr val="dk1"/>
              </a:buClr>
              <a:buSzPts val="2100"/>
            </a:pPr>
            <a:r>
              <a:rPr lang="en-GB" sz="2741" dirty="0"/>
              <a:t>Organisations are increasingly dividing workforces into teams. </a:t>
            </a:r>
          </a:p>
          <a:p>
            <a:pPr>
              <a:lnSpc>
                <a:spcPct val="150000"/>
              </a:lnSpc>
              <a:spcBef>
                <a:spcPts val="0"/>
              </a:spcBef>
              <a:buClr>
                <a:schemeClr val="dk1"/>
              </a:buClr>
              <a:buSzPts val="2100"/>
            </a:pPr>
            <a:r>
              <a:rPr lang="en-GB" sz="2741" dirty="0"/>
              <a:t>However, there remains debate about how to evaluate the performance of teams. </a:t>
            </a:r>
          </a:p>
          <a:p>
            <a:pPr>
              <a:lnSpc>
                <a:spcPct val="150000"/>
              </a:lnSpc>
              <a:spcBef>
                <a:spcPts val="0"/>
              </a:spcBef>
              <a:buClr>
                <a:schemeClr val="dk1"/>
              </a:buClr>
              <a:buSzPts val="2100"/>
            </a:pPr>
            <a:r>
              <a:rPr lang="en-GB" sz="2741" dirty="0"/>
              <a:t>Team-level appraisals may provide teams with information regarding any problems/issues within the team and allows teams to develop their capabilities. </a:t>
            </a:r>
          </a:p>
          <a:p>
            <a:pPr>
              <a:lnSpc>
                <a:spcPct val="150000"/>
              </a:lnSpc>
              <a:spcBef>
                <a:spcPts val="0"/>
              </a:spcBef>
              <a:buClr>
                <a:schemeClr val="dk1"/>
              </a:buClr>
              <a:buSzPts val="2100"/>
            </a:pPr>
            <a:r>
              <a:rPr lang="en-GB" sz="2741" dirty="0"/>
              <a:t>Can focus on ‘hard’ targets such as collective productivity, sales volume or customer complaints, or softer measures such as the quality of interactions between team members (OCB?). </a:t>
            </a:r>
          </a:p>
          <a:p>
            <a:pPr marL="996925" lvl="1">
              <a:spcBef>
                <a:spcPts val="0"/>
              </a:spcBef>
              <a:buSzPts val="2100"/>
            </a:pPr>
            <a:endParaRPr lang="en-GB" dirty="0"/>
          </a:p>
          <a:p>
            <a:pPr marL="996925" lvl="1">
              <a:spcBef>
                <a:spcPts val="0"/>
              </a:spcBef>
              <a:buSzPts val="2100"/>
            </a:pPr>
            <a:endParaRPr dirty="0"/>
          </a:p>
          <a:p>
            <a:pPr marL="213627" indent="-47473">
              <a:spcBef>
                <a:spcPts val="935"/>
              </a:spcBef>
              <a:buClr>
                <a:schemeClr val="dk1"/>
              </a:buClr>
              <a:buSzPts val="2100"/>
              <a:buNone/>
            </a:pPr>
            <a:endParaRPr dirty="0"/>
          </a:p>
        </p:txBody>
      </p:sp>
      <p:pic>
        <p:nvPicPr>
          <p:cNvPr id="2" name="Picture 1">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8674709" y="0"/>
            <a:ext cx="3517291" cy="1602323"/>
          </a:xfrm>
          <a:prstGeom prst="rect">
            <a:avLst/>
          </a:prstGeom>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0E30439A-8A5B-46EC-8283-9B6B031D40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a:extLst>
              <a:ext uri="{FF2B5EF4-FFF2-40B4-BE49-F238E27FC236}">
                <a16:creationId xmlns:a16="http://schemas.microsoft.com/office/drawing/2014/main" id="{5CEAD642-85CF-4750-8432-7C80C901F0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27"/>
            <a:ext cx="12192001" cy="6858000"/>
          </a:xfrm>
          <a:prstGeom prst="rect">
            <a:avLst/>
          </a:prstGeom>
          <a:gradFill>
            <a:gsLst>
              <a:gs pos="0">
                <a:srgbClr val="000000"/>
              </a:gs>
              <a:gs pos="100000">
                <a:schemeClr val="accent1">
                  <a:lumMod val="75000"/>
                </a:schemeClr>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Rectangle 10">
            <a:extLst>
              <a:ext uri="{FF2B5EF4-FFF2-40B4-BE49-F238E27FC236}">
                <a16:creationId xmlns:a16="http://schemas.microsoft.com/office/drawing/2014/main" id="{FA33EEAE-15D5-4119-8C1E-89D943F911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455521" y="-1720"/>
            <a:ext cx="11750040" cy="6840685"/>
          </a:xfrm>
          <a:prstGeom prst="rect">
            <a:avLst/>
          </a:prstGeom>
          <a:gradFill>
            <a:gsLst>
              <a:gs pos="21000">
                <a:schemeClr val="accent1">
                  <a:lumMod val="50000"/>
                  <a:alpha val="61000"/>
                </a:schemeClr>
              </a:gs>
              <a:gs pos="100000">
                <a:schemeClr val="accent1">
                  <a:alpha val="0"/>
                </a:schemeClr>
              </a:gs>
            </a:gsLst>
            <a:lin ang="21594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730D8B3B-9B80-4025-B934-26DC7D7CD2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06054" y="-1291"/>
            <a:ext cx="3608179" cy="6858864"/>
          </a:xfrm>
          <a:prstGeom prst="rect">
            <a:avLst/>
          </a:prstGeom>
          <a:gradFill>
            <a:gsLst>
              <a:gs pos="0">
                <a:schemeClr val="accent1">
                  <a:lumMod val="75000"/>
                  <a:alpha val="0"/>
                </a:schemeClr>
              </a:gs>
              <a:gs pos="99000">
                <a:srgbClr val="000000">
                  <a:alpha val="41000"/>
                </a:srgbClr>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Oval 14">
            <a:extLst>
              <a:ext uri="{FF2B5EF4-FFF2-40B4-BE49-F238E27FC236}">
                <a16:creationId xmlns:a16="http://schemas.microsoft.com/office/drawing/2014/main" id="{B5A1B09C-1565-46F8-B70F-621C5EB48A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5274173">
            <a:off x="6059728" y="779270"/>
            <a:ext cx="4967533" cy="4988390"/>
          </a:xfrm>
          <a:prstGeom prst="ellipse">
            <a:avLst/>
          </a:prstGeom>
          <a:gradFill>
            <a:gsLst>
              <a:gs pos="0">
                <a:schemeClr val="accent1">
                  <a:alpha val="24000"/>
                </a:schemeClr>
              </a:gs>
              <a:gs pos="79000">
                <a:schemeClr val="accent1">
                  <a:lumMod val="60000"/>
                  <a:lumOff val="40000"/>
                  <a:alpha val="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751E88A4-F8F6-2F91-06D9-ECCD3561F8BC}"/>
              </a:ext>
            </a:extLst>
          </p:cNvPr>
          <p:cNvSpPr>
            <a:spLocks noGrp="1"/>
          </p:cNvSpPr>
          <p:nvPr>
            <p:ph type="title"/>
          </p:nvPr>
        </p:nvSpPr>
        <p:spPr>
          <a:xfrm>
            <a:off x="1386865" y="818984"/>
            <a:ext cx="9228126" cy="3268520"/>
          </a:xfrm>
        </p:spPr>
        <p:txBody>
          <a:bodyPr vert="horz" lIns="91440" tIns="45720" rIns="91440" bIns="45720" rtlCol="0" anchor="b">
            <a:normAutofit/>
          </a:bodyPr>
          <a:lstStyle/>
          <a:p>
            <a:r>
              <a:rPr lang="en-US" sz="4800" kern="1200" dirty="0">
                <a:solidFill>
                  <a:srgbClr val="FFFFFF"/>
                </a:solidFill>
                <a:latin typeface="+mj-lt"/>
                <a:ea typeface="+mj-ea"/>
                <a:cs typeface="+mj-cs"/>
              </a:rPr>
              <a:t>Moving away from annual appraisals………</a:t>
            </a:r>
          </a:p>
        </p:txBody>
      </p:sp>
      <p:sp>
        <p:nvSpPr>
          <p:cNvPr id="17" name="Rectangle 16">
            <a:extLst>
              <a:ext uri="{FF2B5EF4-FFF2-40B4-BE49-F238E27FC236}">
                <a16:creationId xmlns:a16="http://schemas.microsoft.com/office/drawing/2014/main" id="{8C516CC8-80AC-446C-A56E-9F54B72104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6314" y="4480038"/>
            <a:ext cx="12179371" cy="2377962"/>
          </a:xfrm>
          <a:prstGeom prst="rect">
            <a:avLst/>
          </a:prstGeom>
          <a:gradFill>
            <a:gsLst>
              <a:gs pos="0">
                <a:schemeClr val="accent1">
                  <a:lumMod val="75000"/>
                  <a:alpha val="50000"/>
                </a:schemeClr>
              </a:gs>
              <a:gs pos="99000">
                <a:srgbClr val="000000">
                  <a:alpha val="34000"/>
                </a:srgb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Rectangle 18">
            <a:extLst>
              <a:ext uri="{FF2B5EF4-FFF2-40B4-BE49-F238E27FC236}">
                <a16:creationId xmlns:a16="http://schemas.microsoft.com/office/drawing/2014/main" id="{53947E58-F088-49F1-A3D1-DEA690192E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6967085" y="1632660"/>
            <a:ext cx="6857572" cy="3592258"/>
          </a:xfrm>
          <a:prstGeom prst="rect">
            <a:avLst/>
          </a:prstGeom>
          <a:gradFill>
            <a:gsLst>
              <a:gs pos="0">
                <a:schemeClr val="accent1">
                  <a:lumMod val="75000"/>
                  <a:alpha val="50000"/>
                </a:schemeClr>
              </a:gs>
              <a:gs pos="99000">
                <a:srgbClr val="000000">
                  <a:alpha val="0"/>
                </a:srgb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96723710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71293" y="197858"/>
            <a:ext cx="10515600" cy="954976"/>
          </a:xfrm>
        </p:spPr>
        <p:txBody>
          <a:bodyPr/>
          <a:lstStyle/>
          <a:p>
            <a:r>
              <a:rPr lang="en-GB" dirty="0"/>
              <a:t>New Year Resolutions</a:t>
            </a:r>
          </a:p>
        </p:txBody>
      </p:sp>
      <p:sp>
        <p:nvSpPr>
          <p:cNvPr id="3" name="TextBox 2"/>
          <p:cNvSpPr txBox="1"/>
          <p:nvPr/>
        </p:nvSpPr>
        <p:spPr>
          <a:xfrm>
            <a:off x="133815" y="1126273"/>
            <a:ext cx="3214085" cy="5632311"/>
          </a:xfrm>
          <a:prstGeom prst="rect">
            <a:avLst/>
          </a:prstGeom>
          <a:noFill/>
        </p:spPr>
        <p:txBody>
          <a:bodyPr wrap="none" rtlCol="0">
            <a:spAutoFit/>
          </a:bodyPr>
          <a:lstStyle/>
          <a:p>
            <a:r>
              <a:rPr lang="en-GB" sz="2400" dirty="0"/>
              <a:t>Physical Health</a:t>
            </a:r>
          </a:p>
          <a:p>
            <a:r>
              <a:rPr lang="en-GB" sz="2400" dirty="0"/>
              <a:t>Weight Loss</a:t>
            </a:r>
          </a:p>
          <a:p>
            <a:r>
              <a:rPr lang="en-GB" sz="2400" dirty="0"/>
              <a:t>Eating</a:t>
            </a:r>
          </a:p>
          <a:p>
            <a:r>
              <a:rPr lang="en-GB" sz="2400" dirty="0"/>
              <a:t>Self-improvement</a:t>
            </a:r>
          </a:p>
          <a:p>
            <a:r>
              <a:rPr lang="en-GB" sz="2400" dirty="0"/>
              <a:t>Mental health and sleep</a:t>
            </a:r>
          </a:p>
          <a:p>
            <a:r>
              <a:rPr lang="en-GB" sz="2400" dirty="0"/>
              <a:t>Work and studies</a:t>
            </a:r>
          </a:p>
          <a:p>
            <a:r>
              <a:rPr lang="en-GB" sz="2400" dirty="0"/>
              <a:t>Tobacco</a:t>
            </a:r>
          </a:p>
          <a:p>
            <a:r>
              <a:rPr lang="en-GB" sz="2400" dirty="0"/>
              <a:t>Consumption</a:t>
            </a:r>
          </a:p>
          <a:p>
            <a:r>
              <a:rPr lang="en-GB" sz="2400" dirty="0"/>
              <a:t>Personal finance</a:t>
            </a:r>
          </a:p>
          <a:p>
            <a:r>
              <a:rPr lang="en-GB" sz="2400" dirty="0"/>
              <a:t>Drinking</a:t>
            </a:r>
          </a:p>
          <a:p>
            <a:r>
              <a:rPr lang="en-GB" sz="2400" dirty="0"/>
              <a:t>Friends and family</a:t>
            </a:r>
          </a:p>
          <a:p>
            <a:r>
              <a:rPr lang="en-GB" sz="2400" dirty="0"/>
              <a:t>Home environment</a:t>
            </a:r>
          </a:p>
          <a:p>
            <a:r>
              <a:rPr lang="en-GB" sz="2400" dirty="0"/>
              <a:t>Hobbies</a:t>
            </a:r>
          </a:p>
          <a:p>
            <a:r>
              <a:rPr lang="en-GB" sz="2400" dirty="0"/>
              <a:t>Engagement</a:t>
            </a:r>
          </a:p>
          <a:p>
            <a:r>
              <a:rPr lang="en-GB" sz="2400" dirty="0"/>
              <a:t>Love</a:t>
            </a:r>
          </a:p>
        </p:txBody>
      </p:sp>
      <p:sp>
        <p:nvSpPr>
          <p:cNvPr id="4" name="Rectangle 3"/>
          <p:cNvSpPr/>
          <p:nvPr/>
        </p:nvSpPr>
        <p:spPr>
          <a:xfrm>
            <a:off x="2671065" y="6271720"/>
            <a:ext cx="9969189" cy="523220"/>
          </a:xfrm>
          <a:prstGeom prst="rect">
            <a:avLst/>
          </a:prstGeom>
        </p:spPr>
        <p:txBody>
          <a:bodyPr wrap="square">
            <a:spAutoFit/>
          </a:bodyPr>
          <a:lstStyle/>
          <a:p>
            <a:r>
              <a:rPr lang="en-GB" sz="1400" dirty="0" err="1"/>
              <a:t>Oscarsson</a:t>
            </a:r>
            <a:r>
              <a:rPr lang="en-GB" sz="1400" dirty="0"/>
              <a:t>, M., </a:t>
            </a:r>
            <a:r>
              <a:rPr lang="en-GB" sz="1400" dirty="0" err="1"/>
              <a:t>Carlbring</a:t>
            </a:r>
            <a:r>
              <a:rPr lang="en-GB" sz="1400" dirty="0"/>
              <a:t>, P., </a:t>
            </a:r>
            <a:r>
              <a:rPr lang="en-GB" sz="1400" dirty="0" err="1"/>
              <a:t>Andersson</a:t>
            </a:r>
            <a:r>
              <a:rPr lang="en-GB" sz="1400" dirty="0"/>
              <a:t>, G., &amp; </a:t>
            </a:r>
            <a:r>
              <a:rPr lang="en-GB" sz="1400" dirty="0" err="1"/>
              <a:t>Rozental</a:t>
            </a:r>
            <a:r>
              <a:rPr lang="en-GB" sz="1400" dirty="0"/>
              <a:t>, A. (2020). A large-scale experiment on New Year’s resolutions: Approach-oriented goals are more successful than avoidance-oriented goals. </a:t>
            </a:r>
            <a:r>
              <a:rPr lang="en-GB" sz="1400" i="1" dirty="0" err="1"/>
              <a:t>Plos</a:t>
            </a:r>
            <a:r>
              <a:rPr lang="en-GB" sz="1400" i="1" dirty="0"/>
              <a:t> one</a:t>
            </a:r>
            <a:r>
              <a:rPr lang="en-GB" sz="1400" dirty="0"/>
              <a:t>, </a:t>
            </a:r>
            <a:r>
              <a:rPr lang="en-GB" sz="1400" i="1" dirty="0"/>
              <a:t>15</a:t>
            </a:r>
            <a:r>
              <a:rPr lang="en-GB" sz="1400" dirty="0"/>
              <a:t>(12), e0234097.</a:t>
            </a:r>
          </a:p>
        </p:txBody>
      </p:sp>
      <p:sp>
        <p:nvSpPr>
          <p:cNvPr id="5" name="Rectangle 4"/>
          <p:cNvSpPr/>
          <p:nvPr/>
        </p:nvSpPr>
        <p:spPr>
          <a:xfrm>
            <a:off x="3136571" y="1249190"/>
            <a:ext cx="9013389" cy="2308324"/>
          </a:xfrm>
          <a:prstGeom prst="rect">
            <a:avLst/>
          </a:prstGeom>
        </p:spPr>
        <p:txBody>
          <a:bodyPr wrap="square">
            <a:spAutoFit/>
          </a:bodyPr>
          <a:lstStyle/>
          <a:p>
            <a:r>
              <a:rPr lang="en-GB" sz="2400" dirty="0">
                <a:latin typeface="MinionPro-Regular"/>
              </a:rPr>
              <a:t>“Readiness to change was related to positive outcomes” compared to those who did not make a resolution.</a:t>
            </a:r>
          </a:p>
          <a:p>
            <a:r>
              <a:rPr lang="en-GB" sz="2400" dirty="0">
                <a:latin typeface="MinionPro-Regular"/>
              </a:rPr>
              <a:t>Support had a significant impact on achieving a resolution.</a:t>
            </a:r>
          </a:p>
          <a:p>
            <a:r>
              <a:rPr lang="en-GB" sz="2400" dirty="0">
                <a:latin typeface="MinionPro-Regular"/>
              </a:rPr>
              <a:t>Of 1,062 participants, “58.9% considered themselves successful, compared to 47.1% of participants who set avoidance-oriented resolutions.”</a:t>
            </a:r>
            <a:endParaRPr lang="en-GB" sz="2400" dirty="0"/>
          </a:p>
        </p:txBody>
      </p:sp>
      <p:pic>
        <p:nvPicPr>
          <p:cNvPr id="6" name="Picture 5"/>
          <p:cNvPicPr>
            <a:picLocks noChangeAspect="1"/>
          </p:cNvPicPr>
          <p:nvPr/>
        </p:nvPicPr>
        <p:blipFill>
          <a:blip r:embed="rId2"/>
          <a:stretch>
            <a:fillRect/>
          </a:stretch>
        </p:blipFill>
        <p:spPr>
          <a:xfrm>
            <a:off x="3289740" y="3724226"/>
            <a:ext cx="8045402" cy="2451138"/>
          </a:xfrm>
          <a:prstGeom prst="rect">
            <a:avLst/>
          </a:prstGeom>
        </p:spPr>
      </p:pic>
    </p:spTree>
    <p:extLst>
      <p:ext uri="{BB962C8B-B14F-4D97-AF65-F5344CB8AC3E}">
        <p14:creationId xmlns:p14="http://schemas.microsoft.com/office/powerpoint/2010/main" val="194699841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13657" y="764373"/>
            <a:ext cx="11408229" cy="1293028"/>
          </a:xfrm>
        </p:spPr>
        <p:txBody>
          <a:bodyPr>
            <a:normAutofit/>
          </a:bodyPr>
          <a:lstStyle/>
          <a:p>
            <a:pPr algn="l"/>
            <a:r>
              <a:rPr lang="en-US" sz="3600" b="1" dirty="0"/>
              <a:t>Performance Management - developing trends……</a:t>
            </a:r>
          </a:p>
        </p:txBody>
      </p:sp>
      <p:sp>
        <p:nvSpPr>
          <p:cNvPr id="3" name="Content Placeholder 2"/>
          <p:cNvSpPr>
            <a:spLocks noGrp="1"/>
          </p:cNvSpPr>
          <p:nvPr>
            <p:ph idx="1"/>
          </p:nvPr>
        </p:nvSpPr>
        <p:spPr/>
        <p:txBody>
          <a:bodyPr/>
          <a:lstStyle/>
          <a:p>
            <a:r>
              <a:rPr lang="en-US" sz="3600" dirty="0">
                <a:hlinkClick r:id="rId2">
                  <a:extLst>
                    <a:ext uri="{A12FA001-AC4F-418D-AE19-62706E023703}">
                      <ahyp:hlinkClr xmlns:ahyp="http://schemas.microsoft.com/office/drawing/2018/hyperlinkcolor" val="tx"/>
                    </a:ext>
                  </a:extLst>
                </a:hlinkClick>
              </a:rPr>
              <a:t>https://www.washingtonpost.com/video/national/on-leadership/accenture-ceo-on-rewarding-and-motivating-millennials--on-leadership/2015/07/23/734a532c-30b5-11e5-a879-213078d03dd3_video.html</a:t>
            </a:r>
            <a:endParaRPr lang="en-US" sz="3600" dirty="0"/>
          </a:p>
          <a:p>
            <a:endParaRPr lang="en-US" dirty="0"/>
          </a:p>
        </p:txBody>
      </p:sp>
    </p:spTree>
    <p:extLst>
      <p:ext uri="{BB962C8B-B14F-4D97-AF65-F5344CB8AC3E}">
        <p14:creationId xmlns:p14="http://schemas.microsoft.com/office/powerpoint/2010/main" val="538943471"/>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7798C7-A5CD-2659-85C8-180BDBF9904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B214257-3CFA-B981-F063-6B35D440663A}"/>
              </a:ext>
            </a:extLst>
          </p:cNvPr>
          <p:cNvSpPr>
            <a:spLocks noGrp="1"/>
          </p:cNvSpPr>
          <p:nvPr>
            <p:ph type="title"/>
          </p:nvPr>
        </p:nvSpPr>
        <p:spPr/>
        <p:txBody>
          <a:bodyPr/>
          <a:lstStyle/>
          <a:p>
            <a:r>
              <a:rPr lang="en-US" dirty="0"/>
              <a:t>Continuous Performance Management</a:t>
            </a:r>
          </a:p>
        </p:txBody>
      </p:sp>
      <p:sp>
        <p:nvSpPr>
          <p:cNvPr id="3" name="Content Placeholder 2">
            <a:extLst>
              <a:ext uri="{FF2B5EF4-FFF2-40B4-BE49-F238E27FC236}">
                <a16:creationId xmlns:a16="http://schemas.microsoft.com/office/drawing/2014/main" id="{8A843930-1B56-E366-DBED-1FD1EA026DEF}"/>
              </a:ext>
            </a:extLst>
          </p:cNvPr>
          <p:cNvSpPr>
            <a:spLocks noGrp="1"/>
          </p:cNvSpPr>
          <p:nvPr>
            <p:ph idx="1"/>
          </p:nvPr>
        </p:nvSpPr>
        <p:spPr>
          <a:xfrm>
            <a:off x="450574" y="1690688"/>
            <a:ext cx="11436626" cy="4802187"/>
          </a:xfrm>
        </p:spPr>
        <p:txBody>
          <a:bodyPr>
            <a:normAutofit/>
          </a:bodyPr>
          <a:lstStyle/>
          <a:p>
            <a:pPr>
              <a:lnSpc>
                <a:spcPct val="170000"/>
              </a:lnSpc>
            </a:pPr>
            <a:r>
              <a:rPr lang="en-US" sz="1800" dirty="0"/>
              <a:t>CPM is an </a:t>
            </a:r>
            <a:r>
              <a:rPr lang="en-US" sz="1800" b="1" dirty="0"/>
              <a:t>ongoing process of regular feedback and check-ins between </a:t>
            </a:r>
            <a:r>
              <a:rPr lang="en-US" sz="1800" dirty="0"/>
              <a:t>employees and managers. </a:t>
            </a:r>
          </a:p>
          <a:p>
            <a:pPr>
              <a:lnSpc>
                <a:spcPct val="170000"/>
              </a:lnSpc>
            </a:pPr>
            <a:r>
              <a:rPr lang="en-US" sz="1800" dirty="0"/>
              <a:t>It focuses on </a:t>
            </a:r>
            <a:r>
              <a:rPr lang="en-US" sz="1800" b="1" dirty="0"/>
              <a:t>real-time development and goal adjustment </a:t>
            </a:r>
            <a:r>
              <a:rPr lang="en-US" sz="1800" dirty="0"/>
              <a:t>throughout the year </a:t>
            </a:r>
            <a:r>
              <a:rPr lang="en-US" sz="1800" b="1" dirty="0"/>
              <a:t>rather than a one-time review</a:t>
            </a:r>
            <a:r>
              <a:rPr lang="en-US" sz="1800" dirty="0"/>
              <a:t>.</a:t>
            </a:r>
          </a:p>
          <a:p>
            <a:pPr>
              <a:lnSpc>
                <a:spcPct val="170000"/>
              </a:lnSpc>
            </a:pPr>
            <a:r>
              <a:rPr lang="en-US" sz="1800" b="1" dirty="0"/>
              <a:t>Development Focus</a:t>
            </a:r>
            <a:r>
              <a:rPr lang="en-US" sz="1800" dirty="0"/>
              <a:t>: Prioritizes coaching and skill-building over just evaluation.</a:t>
            </a:r>
          </a:p>
          <a:p>
            <a:pPr>
              <a:lnSpc>
                <a:spcPct val="170000"/>
              </a:lnSpc>
            </a:pPr>
            <a:r>
              <a:rPr lang="en-US" sz="1800" b="1" dirty="0"/>
              <a:t>Agility</a:t>
            </a:r>
            <a:r>
              <a:rPr lang="en-US" sz="1800" dirty="0"/>
              <a:t>: Goals can be updated in response to changing organisational needs or individual progress.</a:t>
            </a:r>
          </a:p>
          <a:p>
            <a:pPr>
              <a:lnSpc>
                <a:spcPct val="170000"/>
              </a:lnSpc>
            </a:pPr>
            <a:r>
              <a:rPr lang="en-US" sz="1800" dirty="0"/>
              <a:t>CPM </a:t>
            </a:r>
            <a:r>
              <a:rPr lang="en-US" sz="1800" b="1" dirty="0"/>
              <a:t>promotes active employee participation </a:t>
            </a:r>
            <a:r>
              <a:rPr lang="en-US" sz="1800" dirty="0"/>
              <a:t>in their own development, while traditional appraisals are usually more top-down.</a:t>
            </a:r>
          </a:p>
          <a:p>
            <a:pPr>
              <a:lnSpc>
                <a:spcPct val="170000"/>
              </a:lnSpc>
            </a:pPr>
            <a:r>
              <a:rPr lang="en-US" sz="1800" dirty="0"/>
              <a:t>Appraisals often emphasize evaluation and past performance, while CPM is </a:t>
            </a:r>
            <a:r>
              <a:rPr lang="en-US" sz="1800" b="1" dirty="0"/>
              <a:t>future-focused, prioritizing growth and development.</a:t>
            </a:r>
          </a:p>
        </p:txBody>
      </p:sp>
    </p:spTree>
    <p:extLst>
      <p:ext uri="{BB962C8B-B14F-4D97-AF65-F5344CB8AC3E}">
        <p14:creationId xmlns:p14="http://schemas.microsoft.com/office/powerpoint/2010/main" val="2126120233"/>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83BBA5-9B7F-7BD3-88E7-353B5C2737B9}"/>
              </a:ext>
            </a:extLst>
          </p:cNvPr>
          <p:cNvSpPr>
            <a:spLocks noGrp="1"/>
          </p:cNvSpPr>
          <p:nvPr>
            <p:ph type="title"/>
          </p:nvPr>
        </p:nvSpPr>
        <p:spPr/>
        <p:txBody>
          <a:bodyPr/>
          <a:lstStyle/>
          <a:p>
            <a:r>
              <a:rPr lang="en-US" dirty="0"/>
              <a:t>Performance Management at Deloitte</a:t>
            </a:r>
          </a:p>
        </p:txBody>
      </p:sp>
      <p:sp>
        <p:nvSpPr>
          <p:cNvPr id="3" name="Content Placeholder 2">
            <a:extLst>
              <a:ext uri="{FF2B5EF4-FFF2-40B4-BE49-F238E27FC236}">
                <a16:creationId xmlns:a16="http://schemas.microsoft.com/office/drawing/2014/main" id="{D41AEE93-67CD-C461-CDE4-148DD3D445B4}"/>
              </a:ext>
            </a:extLst>
          </p:cNvPr>
          <p:cNvSpPr>
            <a:spLocks noGrp="1"/>
          </p:cNvSpPr>
          <p:nvPr>
            <p:ph idx="1"/>
          </p:nvPr>
        </p:nvSpPr>
        <p:spPr>
          <a:xfrm>
            <a:off x="450574" y="1690688"/>
            <a:ext cx="11436626" cy="4802187"/>
          </a:xfrm>
        </p:spPr>
        <p:txBody>
          <a:bodyPr>
            <a:normAutofit/>
          </a:bodyPr>
          <a:lstStyle/>
          <a:p>
            <a:r>
              <a:rPr lang="en-US" sz="1800" b="1" dirty="0"/>
              <a:t>Buckingham &amp; Goodhall (2015) </a:t>
            </a:r>
            <a:r>
              <a:rPr lang="en-US" sz="1800" dirty="0"/>
              <a:t>‘Reinventing Performance Management’ </a:t>
            </a:r>
            <a:r>
              <a:rPr lang="en-US" sz="1800" b="1" i="1" dirty="0"/>
              <a:t>Harvard Business Review </a:t>
            </a:r>
            <a:r>
              <a:rPr lang="en-US" sz="1800" dirty="0"/>
              <a:t>April 2015, pp. 40-50</a:t>
            </a:r>
          </a:p>
          <a:p>
            <a:pPr marL="285750" indent="-285750"/>
            <a:endParaRPr lang="en-GB" sz="1800" dirty="0"/>
          </a:p>
          <a:p>
            <a:pPr marL="285750" indent="-285750"/>
            <a:r>
              <a:rPr lang="en-GB" sz="1800" b="1" dirty="0"/>
              <a:t>Deloitte</a:t>
            </a:r>
            <a:r>
              <a:rPr lang="en-GB" sz="1800" dirty="0"/>
              <a:t> decided its current performance management system (PMS) was not working, and was not aligned with the organisation’s objectives</a:t>
            </a:r>
          </a:p>
          <a:p>
            <a:pPr marL="285750" indent="-285750"/>
            <a:r>
              <a:rPr lang="en-GB" sz="1800" dirty="0"/>
              <a:t>A survey of Deloitte executives found </a:t>
            </a:r>
            <a:r>
              <a:rPr lang="en-GB" sz="1800" b="1" dirty="0"/>
              <a:t>58% did not believe their current approach to performance management was driving neither employee engagement nor high performance</a:t>
            </a:r>
          </a:p>
          <a:p>
            <a:pPr marL="285750" indent="-285750"/>
            <a:r>
              <a:rPr lang="en-GB" sz="1800" dirty="0"/>
              <a:t>They found that assessing an employee’s skills produced </a:t>
            </a:r>
            <a:r>
              <a:rPr lang="en-GB" sz="1800" b="1" dirty="0"/>
              <a:t>inconsistent data </a:t>
            </a:r>
            <a:r>
              <a:rPr lang="en-GB" sz="1800" dirty="0"/>
              <a:t>(variance in ratings largely due to individual rater’s perceptions)</a:t>
            </a:r>
          </a:p>
          <a:p>
            <a:pPr marL="285750" indent="-285750"/>
            <a:r>
              <a:rPr lang="en-GB" sz="1800" dirty="0"/>
              <a:t>They found that completing forms, holding performance review meetings, and creating the ratings </a:t>
            </a:r>
            <a:r>
              <a:rPr lang="en-GB" sz="1800" b="1" dirty="0"/>
              <a:t>took close to 2 million hours a year!</a:t>
            </a:r>
          </a:p>
          <a:p>
            <a:pPr marL="285750" indent="-285750"/>
            <a:r>
              <a:rPr lang="en-GB" sz="1800" dirty="0"/>
              <a:t>They wanted </a:t>
            </a:r>
            <a:r>
              <a:rPr lang="en-GB" sz="1800" b="1" dirty="0"/>
              <a:t>to shift from a focus on the past to a focus on the present</a:t>
            </a:r>
          </a:p>
          <a:p>
            <a:pPr marL="285750" indent="-285750"/>
            <a:r>
              <a:rPr lang="en-GB" sz="1800" dirty="0"/>
              <a:t>They wanted to design a </a:t>
            </a:r>
            <a:r>
              <a:rPr lang="en-GB" sz="1800" b="1" dirty="0"/>
              <a:t>simple, agile, one-size-fits-all system</a:t>
            </a:r>
            <a:r>
              <a:rPr lang="en-GB" sz="1800" dirty="0"/>
              <a:t>, and constant learning, underpinned by a new way of collecting reliable performance data</a:t>
            </a:r>
          </a:p>
          <a:p>
            <a:pPr>
              <a:lnSpc>
                <a:spcPct val="170000"/>
              </a:lnSpc>
            </a:pPr>
            <a:endParaRPr lang="en-US" sz="1800" dirty="0"/>
          </a:p>
        </p:txBody>
      </p:sp>
    </p:spTree>
    <p:extLst>
      <p:ext uri="{BB962C8B-B14F-4D97-AF65-F5344CB8AC3E}">
        <p14:creationId xmlns:p14="http://schemas.microsoft.com/office/powerpoint/2010/main" val="4227804172"/>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txBox="1">
            <a:spLocks noGrp="1" noChangeArrowheads="1"/>
          </p:cNvSpPr>
          <p:nvPr>
            <p:ph type="title" idx="4294967295"/>
          </p:nvPr>
        </p:nvSpPr>
        <p:spPr bwMode="auto">
          <a:xfrm>
            <a:off x="572493" y="238539"/>
            <a:ext cx="11018520" cy="1361263"/>
          </a:xfrm>
          <a:prstGeom prst="rect">
            <a:avLst/>
          </a:prstGeom>
          <a:noFill/>
          <a:ln>
            <a:noFill/>
            <a:prstDash/>
          </a:ln>
          <a:effectLst/>
        </p:spPr>
        <p:txBody>
          <a:bodyPr rot="0" spcFirstLastPara="0" vertOverflow="overflow" horzOverflow="overflow" vert="horz" wrap="square" lIns="91440" tIns="45720" rIns="91440" bIns="45720" numCol="1" spcCol="0" rtlCol="0" fromWordArt="0" anchor="b" anchorCtr="0" forceAA="0" compatLnSpc="1">
            <a:prstTxWarp prst="textNoShape">
              <a:avLst/>
            </a:prstTxWarp>
            <a:normAutofit fontScale="90000"/>
          </a:bodyPr>
          <a:lstStyle>
            <a:lvl1pPr algn="l" rtl="0" eaLnBrk="1" fontAlgn="base" hangingPunct="1">
              <a:lnSpc>
                <a:spcPct val="83000"/>
              </a:lnSpc>
              <a:spcBef>
                <a:spcPct val="0"/>
              </a:spcBef>
              <a:spcAft>
                <a:spcPct val="0"/>
              </a:spcAft>
              <a:defRPr sz="5400">
                <a:solidFill>
                  <a:srgbClr val="2A196F"/>
                </a:solidFill>
                <a:latin typeface="+mj-lt"/>
                <a:ea typeface="+mj-ea"/>
                <a:cs typeface="+mj-cs"/>
              </a:defRPr>
            </a:lvl1pPr>
            <a:lvl2pPr algn="l" rtl="0" eaLnBrk="1" fontAlgn="base" hangingPunct="1">
              <a:lnSpc>
                <a:spcPct val="83000"/>
              </a:lnSpc>
              <a:spcBef>
                <a:spcPct val="0"/>
              </a:spcBef>
              <a:spcAft>
                <a:spcPct val="0"/>
              </a:spcAft>
              <a:defRPr sz="4400">
                <a:solidFill>
                  <a:srgbClr val="2A196F"/>
                </a:solidFill>
                <a:latin typeface="TUOS Stephenson" pitchFamily="-128" charset="0"/>
              </a:defRPr>
            </a:lvl2pPr>
            <a:lvl3pPr algn="l" rtl="0" eaLnBrk="1" fontAlgn="base" hangingPunct="1">
              <a:lnSpc>
                <a:spcPct val="83000"/>
              </a:lnSpc>
              <a:spcBef>
                <a:spcPct val="0"/>
              </a:spcBef>
              <a:spcAft>
                <a:spcPct val="0"/>
              </a:spcAft>
              <a:defRPr sz="4400">
                <a:solidFill>
                  <a:srgbClr val="2A196F"/>
                </a:solidFill>
                <a:latin typeface="TUOS Stephenson" pitchFamily="-128" charset="0"/>
              </a:defRPr>
            </a:lvl3pPr>
            <a:lvl4pPr algn="l" rtl="0" eaLnBrk="1" fontAlgn="base" hangingPunct="1">
              <a:lnSpc>
                <a:spcPct val="83000"/>
              </a:lnSpc>
              <a:spcBef>
                <a:spcPct val="0"/>
              </a:spcBef>
              <a:spcAft>
                <a:spcPct val="0"/>
              </a:spcAft>
              <a:defRPr sz="4400">
                <a:solidFill>
                  <a:srgbClr val="2A196F"/>
                </a:solidFill>
                <a:latin typeface="TUOS Stephenson" pitchFamily="-128" charset="0"/>
              </a:defRPr>
            </a:lvl4pPr>
            <a:lvl5pPr algn="l" rtl="0" eaLnBrk="1" fontAlgn="base" hangingPunct="1">
              <a:lnSpc>
                <a:spcPct val="83000"/>
              </a:lnSpc>
              <a:spcBef>
                <a:spcPct val="0"/>
              </a:spcBef>
              <a:spcAft>
                <a:spcPct val="0"/>
              </a:spcAft>
              <a:defRPr sz="4400">
                <a:solidFill>
                  <a:srgbClr val="2A196F"/>
                </a:solidFill>
                <a:latin typeface="TUOS Stephenson" pitchFamily="-128" charset="0"/>
              </a:defRPr>
            </a:lvl5pPr>
            <a:lvl6pPr marL="457200" algn="l" rtl="0" eaLnBrk="1" fontAlgn="base" hangingPunct="1">
              <a:lnSpc>
                <a:spcPct val="83000"/>
              </a:lnSpc>
              <a:spcBef>
                <a:spcPct val="0"/>
              </a:spcBef>
              <a:spcAft>
                <a:spcPct val="0"/>
              </a:spcAft>
              <a:defRPr sz="4400">
                <a:solidFill>
                  <a:srgbClr val="2A196F"/>
                </a:solidFill>
                <a:latin typeface="TUOS Stephenson" pitchFamily="-128" charset="0"/>
              </a:defRPr>
            </a:lvl6pPr>
            <a:lvl7pPr marL="914400" algn="l" rtl="0" eaLnBrk="1" fontAlgn="base" hangingPunct="1">
              <a:lnSpc>
                <a:spcPct val="83000"/>
              </a:lnSpc>
              <a:spcBef>
                <a:spcPct val="0"/>
              </a:spcBef>
              <a:spcAft>
                <a:spcPct val="0"/>
              </a:spcAft>
              <a:defRPr sz="4400">
                <a:solidFill>
                  <a:srgbClr val="2A196F"/>
                </a:solidFill>
                <a:latin typeface="TUOS Stephenson" pitchFamily="-128" charset="0"/>
              </a:defRPr>
            </a:lvl7pPr>
            <a:lvl8pPr marL="1371600" algn="l" rtl="0" eaLnBrk="1" fontAlgn="base" hangingPunct="1">
              <a:lnSpc>
                <a:spcPct val="83000"/>
              </a:lnSpc>
              <a:spcBef>
                <a:spcPct val="0"/>
              </a:spcBef>
              <a:spcAft>
                <a:spcPct val="0"/>
              </a:spcAft>
              <a:defRPr sz="4400">
                <a:solidFill>
                  <a:srgbClr val="2A196F"/>
                </a:solidFill>
                <a:latin typeface="TUOS Stephenson" pitchFamily="-128" charset="0"/>
              </a:defRPr>
            </a:lvl8pPr>
            <a:lvl9pPr marL="1828800" algn="l" rtl="0" eaLnBrk="1" fontAlgn="base" hangingPunct="1">
              <a:lnSpc>
                <a:spcPct val="83000"/>
              </a:lnSpc>
              <a:spcBef>
                <a:spcPct val="0"/>
              </a:spcBef>
              <a:spcAft>
                <a:spcPct val="0"/>
              </a:spcAft>
              <a:defRPr sz="4400">
                <a:solidFill>
                  <a:srgbClr val="2A196F"/>
                </a:solidFill>
                <a:latin typeface="TUOS Stephenson" pitchFamily="-128" charset="0"/>
              </a:defRPr>
            </a:lvl9pPr>
          </a:lstStyle>
          <a:p>
            <a:pPr marL="0" marR="0" lvl="0" indent="0" algn="l" defTabSz="914400" rtl="0" eaLnBrk="1" fontAlgn="base" latinLnBrk="0" hangingPunct="1">
              <a:lnSpc>
                <a:spcPct val="90000"/>
              </a:lnSpc>
              <a:spcBef>
                <a:spcPct val="0"/>
              </a:spcBef>
              <a:spcAft>
                <a:spcPts val="600"/>
              </a:spcAft>
              <a:buClrTx/>
              <a:buSzTx/>
              <a:buFontTx/>
              <a:buNone/>
              <a:tabLst/>
              <a:defRPr/>
            </a:pPr>
            <a:r>
              <a:rPr lang="en-US" b="1" dirty="0">
                <a:solidFill>
                  <a:schemeClr val="tx1"/>
                </a:solidFill>
              </a:rPr>
              <a:t>Performance Management at Deloitte</a:t>
            </a:r>
            <a:endParaRPr kumimoji="0" lang="en-US" sz="5400" b="1" i="0" u="none" strike="noStrike" kern="1200" cap="none" spc="0" normalizeH="0" baseline="0" noProof="0" dirty="0">
              <a:ln>
                <a:noFill/>
              </a:ln>
              <a:solidFill>
                <a:schemeClr val="tx1"/>
              </a:solidFill>
              <a:effectLst/>
              <a:uLnTx/>
              <a:uFillTx/>
              <a:latin typeface="+mj-lt"/>
              <a:ea typeface="+mj-ea"/>
              <a:cs typeface="+mj-cs"/>
            </a:endParaRPr>
          </a:p>
        </p:txBody>
      </p:sp>
      <p:sp>
        <p:nvSpPr>
          <p:cNvPr id="3" name="TextBox 2">
            <a:extLst>
              <a:ext uri="{FF2B5EF4-FFF2-40B4-BE49-F238E27FC236}">
                <a16:creationId xmlns:a16="http://schemas.microsoft.com/office/drawing/2014/main" id="{DC8509A0-BC3A-1B62-0AA6-D63CE5B077D5}"/>
              </a:ext>
            </a:extLst>
          </p:cNvPr>
          <p:cNvSpPr txBox="1"/>
          <p:nvPr/>
        </p:nvSpPr>
        <p:spPr>
          <a:xfrm>
            <a:off x="572492" y="1847088"/>
            <a:ext cx="10110376" cy="4343400"/>
          </a:xfrm>
          <a:prstGeom prst="rect">
            <a:avLst/>
          </a:prstGeom>
        </p:spPr>
        <p:txBody>
          <a:bodyPr vert="horz" lIns="91440" tIns="45720" rIns="91440" bIns="45720" rtlCol="0" anchor="t">
            <a:noAutofit/>
          </a:bodyPr>
          <a:lstStyle/>
          <a:p>
            <a:pPr marL="514350" indent="-228600">
              <a:lnSpc>
                <a:spcPct val="120000"/>
              </a:lnSpc>
              <a:spcAft>
                <a:spcPts val="600"/>
              </a:spcAft>
              <a:buClr>
                <a:srgbClr val="800000"/>
              </a:buClr>
              <a:buSzPct val="79000"/>
              <a:buFont typeface="Arial" panose="020B0604020202020204" pitchFamily="34" charset="0"/>
              <a:buChar char="•"/>
            </a:pPr>
            <a:endParaRPr lang="en-US" dirty="0"/>
          </a:p>
          <a:p>
            <a:pPr marL="514350" indent="-228600">
              <a:lnSpc>
                <a:spcPct val="120000"/>
              </a:lnSpc>
              <a:spcAft>
                <a:spcPts val="600"/>
              </a:spcAft>
              <a:buClr>
                <a:srgbClr val="800000"/>
              </a:buClr>
              <a:buSzPct val="79000"/>
              <a:buFont typeface="Arial" panose="020B0604020202020204" pitchFamily="34" charset="0"/>
              <a:buChar char="•"/>
            </a:pPr>
            <a:endParaRPr lang="en-US" dirty="0"/>
          </a:p>
        </p:txBody>
      </p:sp>
      <p:sp>
        <p:nvSpPr>
          <p:cNvPr id="6" name="TextBox 5">
            <a:extLst>
              <a:ext uri="{FF2B5EF4-FFF2-40B4-BE49-F238E27FC236}">
                <a16:creationId xmlns:a16="http://schemas.microsoft.com/office/drawing/2014/main" id="{EC70BC50-0D1C-5A4C-813D-88E2E49A0F82}"/>
              </a:ext>
            </a:extLst>
          </p:cNvPr>
          <p:cNvSpPr txBox="1"/>
          <p:nvPr/>
        </p:nvSpPr>
        <p:spPr>
          <a:xfrm>
            <a:off x="9777984" y="-5318"/>
            <a:ext cx="2340864" cy="307777"/>
          </a:xfrm>
          <a:prstGeom prst="rect">
            <a:avLst/>
          </a:prstGeom>
          <a:noFill/>
        </p:spPr>
        <p:txBody>
          <a:bodyPr wrap="square" rtlCol="0">
            <a:spAutoFit/>
          </a:bodyPr>
          <a:lstStyle/>
          <a:p>
            <a:pPr algn="r">
              <a:spcAft>
                <a:spcPts val="600"/>
              </a:spcAft>
            </a:pPr>
            <a:r>
              <a:rPr lang="en-US" sz="1400" b="1" dirty="0"/>
              <a:t>MGT6060</a:t>
            </a:r>
          </a:p>
        </p:txBody>
      </p:sp>
      <p:graphicFrame>
        <p:nvGraphicFramePr>
          <p:cNvPr id="2" name="Table 4">
            <a:extLst>
              <a:ext uri="{FF2B5EF4-FFF2-40B4-BE49-F238E27FC236}">
                <a16:creationId xmlns:a16="http://schemas.microsoft.com/office/drawing/2014/main" id="{D1C82566-9764-E47C-3634-C5961AD82AF6}"/>
              </a:ext>
            </a:extLst>
          </p:cNvPr>
          <p:cNvGraphicFramePr>
            <a:graphicFrameLocks noGrp="1"/>
          </p:cNvGraphicFramePr>
          <p:nvPr/>
        </p:nvGraphicFramePr>
        <p:xfrm>
          <a:off x="1092819" y="2033293"/>
          <a:ext cx="9980341" cy="4304451"/>
        </p:xfrm>
        <a:graphic>
          <a:graphicData uri="http://schemas.openxmlformats.org/drawingml/2006/table">
            <a:tbl>
              <a:tblPr firstRow="1" bandRow="1">
                <a:tableStyleId>{5C22544A-7EE6-4342-B048-85BDC9FD1C3A}</a:tableStyleId>
              </a:tblPr>
              <a:tblGrid>
                <a:gridCol w="3273617">
                  <a:extLst>
                    <a:ext uri="{9D8B030D-6E8A-4147-A177-3AD203B41FA5}">
                      <a16:colId xmlns:a16="http://schemas.microsoft.com/office/drawing/2014/main" val="2784032192"/>
                    </a:ext>
                  </a:extLst>
                </a:gridCol>
                <a:gridCol w="3353362">
                  <a:extLst>
                    <a:ext uri="{9D8B030D-6E8A-4147-A177-3AD203B41FA5}">
                      <a16:colId xmlns:a16="http://schemas.microsoft.com/office/drawing/2014/main" val="3109466031"/>
                    </a:ext>
                  </a:extLst>
                </a:gridCol>
                <a:gridCol w="3353362">
                  <a:extLst>
                    <a:ext uri="{9D8B030D-6E8A-4147-A177-3AD203B41FA5}">
                      <a16:colId xmlns:a16="http://schemas.microsoft.com/office/drawing/2014/main" val="2307714453"/>
                    </a:ext>
                  </a:extLst>
                </a:gridCol>
              </a:tblGrid>
              <a:tr h="859300">
                <a:tc>
                  <a:txBody>
                    <a:bodyPr/>
                    <a:lstStyle/>
                    <a:p>
                      <a:r>
                        <a:rPr lang="en-GB" dirty="0"/>
                        <a:t>The Problem</a:t>
                      </a:r>
                    </a:p>
                  </a:txBody>
                  <a:tcPr/>
                </a:tc>
                <a:tc>
                  <a:txBody>
                    <a:bodyPr/>
                    <a:lstStyle/>
                    <a:p>
                      <a:r>
                        <a:rPr lang="en-GB" dirty="0"/>
                        <a:t>The Goal</a:t>
                      </a:r>
                    </a:p>
                  </a:txBody>
                  <a:tcPr/>
                </a:tc>
                <a:tc>
                  <a:txBody>
                    <a:bodyPr/>
                    <a:lstStyle/>
                    <a:p>
                      <a:r>
                        <a:rPr lang="en-GB" dirty="0"/>
                        <a:t>The Solution</a:t>
                      </a:r>
                    </a:p>
                  </a:txBody>
                  <a:tcPr/>
                </a:tc>
                <a:extLst>
                  <a:ext uri="{0D108BD9-81ED-4DB2-BD59-A6C34878D82A}">
                    <a16:rowId xmlns:a16="http://schemas.microsoft.com/office/drawing/2014/main" val="1722284840"/>
                  </a:ext>
                </a:extLst>
              </a:tr>
              <a:tr h="344515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800" dirty="0">
                          <a:solidFill>
                            <a:schemeClr val="tx1"/>
                          </a:solidFill>
                        </a:rPr>
                        <a:t>Employees, their managers and even HR departments question conventional wisdom of performance management, including its reliance on cascading objectives, backwards looking assessments, once-a-year rankings and reviews, and 360-degree feedback tools</a:t>
                      </a:r>
                    </a:p>
                    <a:p>
                      <a:endParaRPr lang="en-GB"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800" dirty="0">
                          <a:solidFill>
                            <a:schemeClr val="tx1"/>
                          </a:solidFill>
                        </a:rPr>
                        <a:t>Deloitte resolved to design a system that would fairly recognise varying performance, have a clear view into performance anytime, and boost performance in the future</a:t>
                      </a:r>
                    </a:p>
                    <a:p>
                      <a:endParaRPr lang="en-GB"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800" dirty="0">
                          <a:solidFill>
                            <a:schemeClr val="tx1"/>
                          </a:solidFill>
                        </a:rPr>
                        <a:t>Deloitte’s new approach separates compensation decisions from day-to-day performance management, produces better insight through quarterly or per-project ‘performance snapshots’ and relies on weekly check-ins with managers to keep performance on course</a:t>
                      </a:r>
                    </a:p>
                    <a:p>
                      <a:endParaRPr lang="en-GB" dirty="0"/>
                    </a:p>
                  </a:txBody>
                  <a:tcPr/>
                </a:tc>
                <a:extLst>
                  <a:ext uri="{0D108BD9-81ED-4DB2-BD59-A6C34878D82A}">
                    <a16:rowId xmlns:a16="http://schemas.microsoft.com/office/drawing/2014/main" val="4280935700"/>
                  </a:ext>
                </a:extLst>
              </a:tr>
            </a:tbl>
          </a:graphicData>
        </a:graphic>
      </p:graphicFrame>
    </p:spTree>
    <p:extLst>
      <p:ext uri="{BB962C8B-B14F-4D97-AF65-F5344CB8AC3E}">
        <p14:creationId xmlns:p14="http://schemas.microsoft.com/office/powerpoint/2010/main" val="3348094"/>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txBox="1">
            <a:spLocks noGrp="1" noChangeArrowheads="1"/>
          </p:cNvSpPr>
          <p:nvPr>
            <p:ph type="title" idx="4294967295"/>
          </p:nvPr>
        </p:nvSpPr>
        <p:spPr bwMode="auto">
          <a:xfrm>
            <a:off x="572493" y="238539"/>
            <a:ext cx="11018520" cy="1361263"/>
          </a:xfrm>
          <a:prstGeom prst="rect">
            <a:avLst/>
          </a:prstGeom>
          <a:noFill/>
          <a:ln>
            <a:noFill/>
            <a:prstDash/>
          </a:ln>
          <a:effectLst/>
        </p:spPr>
        <p:txBody>
          <a:bodyPr rot="0" spcFirstLastPara="0" vertOverflow="overflow" horzOverflow="overflow" vert="horz" wrap="square" lIns="91440" tIns="45720" rIns="91440" bIns="45720" numCol="1" spcCol="0" rtlCol="0" fromWordArt="0" anchor="b" anchorCtr="0" forceAA="0" compatLnSpc="1">
            <a:prstTxWarp prst="textNoShape">
              <a:avLst/>
            </a:prstTxWarp>
            <a:normAutofit fontScale="90000"/>
          </a:bodyPr>
          <a:lstStyle>
            <a:lvl1pPr algn="l" rtl="0" eaLnBrk="1" fontAlgn="base" hangingPunct="1">
              <a:lnSpc>
                <a:spcPct val="83000"/>
              </a:lnSpc>
              <a:spcBef>
                <a:spcPct val="0"/>
              </a:spcBef>
              <a:spcAft>
                <a:spcPct val="0"/>
              </a:spcAft>
              <a:defRPr sz="5400">
                <a:solidFill>
                  <a:srgbClr val="2A196F"/>
                </a:solidFill>
                <a:latin typeface="+mj-lt"/>
                <a:ea typeface="+mj-ea"/>
                <a:cs typeface="+mj-cs"/>
              </a:defRPr>
            </a:lvl1pPr>
            <a:lvl2pPr algn="l" rtl="0" eaLnBrk="1" fontAlgn="base" hangingPunct="1">
              <a:lnSpc>
                <a:spcPct val="83000"/>
              </a:lnSpc>
              <a:spcBef>
                <a:spcPct val="0"/>
              </a:spcBef>
              <a:spcAft>
                <a:spcPct val="0"/>
              </a:spcAft>
              <a:defRPr sz="4400">
                <a:solidFill>
                  <a:srgbClr val="2A196F"/>
                </a:solidFill>
                <a:latin typeface="TUOS Stephenson" pitchFamily="-128" charset="0"/>
              </a:defRPr>
            </a:lvl2pPr>
            <a:lvl3pPr algn="l" rtl="0" eaLnBrk="1" fontAlgn="base" hangingPunct="1">
              <a:lnSpc>
                <a:spcPct val="83000"/>
              </a:lnSpc>
              <a:spcBef>
                <a:spcPct val="0"/>
              </a:spcBef>
              <a:spcAft>
                <a:spcPct val="0"/>
              </a:spcAft>
              <a:defRPr sz="4400">
                <a:solidFill>
                  <a:srgbClr val="2A196F"/>
                </a:solidFill>
                <a:latin typeface="TUOS Stephenson" pitchFamily="-128" charset="0"/>
              </a:defRPr>
            </a:lvl3pPr>
            <a:lvl4pPr algn="l" rtl="0" eaLnBrk="1" fontAlgn="base" hangingPunct="1">
              <a:lnSpc>
                <a:spcPct val="83000"/>
              </a:lnSpc>
              <a:spcBef>
                <a:spcPct val="0"/>
              </a:spcBef>
              <a:spcAft>
                <a:spcPct val="0"/>
              </a:spcAft>
              <a:defRPr sz="4400">
                <a:solidFill>
                  <a:srgbClr val="2A196F"/>
                </a:solidFill>
                <a:latin typeface="TUOS Stephenson" pitchFamily="-128" charset="0"/>
              </a:defRPr>
            </a:lvl4pPr>
            <a:lvl5pPr algn="l" rtl="0" eaLnBrk="1" fontAlgn="base" hangingPunct="1">
              <a:lnSpc>
                <a:spcPct val="83000"/>
              </a:lnSpc>
              <a:spcBef>
                <a:spcPct val="0"/>
              </a:spcBef>
              <a:spcAft>
                <a:spcPct val="0"/>
              </a:spcAft>
              <a:defRPr sz="4400">
                <a:solidFill>
                  <a:srgbClr val="2A196F"/>
                </a:solidFill>
                <a:latin typeface="TUOS Stephenson" pitchFamily="-128" charset="0"/>
              </a:defRPr>
            </a:lvl5pPr>
            <a:lvl6pPr marL="457200" algn="l" rtl="0" eaLnBrk="1" fontAlgn="base" hangingPunct="1">
              <a:lnSpc>
                <a:spcPct val="83000"/>
              </a:lnSpc>
              <a:spcBef>
                <a:spcPct val="0"/>
              </a:spcBef>
              <a:spcAft>
                <a:spcPct val="0"/>
              </a:spcAft>
              <a:defRPr sz="4400">
                <a:solidFill>
                  <a:srgbClr val="2A196F"/>
                </a:solidFill>
                <a:latin typeface="TUOS Stephenson" pitchFamily="-128" charset="0"/>
              </a:defRPr>
            </a:lvl6pPr>
            <a:lvl7pPr marL="914400" algn="l" rtl="0" eaLnBrk="1" fontAlgn="base" hangingPunct="1">
              <a:lnSpc>
                <a:spcPct val="83000"/>
              </a:lnSpc>
              <a:spcBef>
                <a:spcPct val="0"/>
              </a:spcBef>
              <a:spcAft>
                <a:spcPct val="0"/>
              </a:spcAft>
              <a:defRPr sz="4400">
                <a:solidFill>
                  <a:srgbClr val="2A196F"/>
                </a:solidFill>
                <a:latin typeface="TUOS Stephenson" pitchFamily="-128" charset="0"/>
              </a:defRPr>
            </a:lvl7pPr>
            <a:lvl8pPr marL="1371600" algn="l" rtl="0" eaLnBrk="1" fontAlgn="base" hangingPunct="1">
              <a:lnSpc>
                <a:spcPct val="83000"/>
              </a:lnSpc>
              <a:spcBef>
                <a:spcPct val="0"/>
              </a:spcBef>
              <a:spcAft>
                <a:spcPct val="0"/>
              </a:spcAft>
              <a:defRPr sz="4400">
                <a:solidFill>
                  <a:srgbClr val="2A196F"/>
                </a:solidFill>
                <a:latin typeface="TUOS Stephenson" pitchFamily="-128" charset="0"/>
              </a:defRPr>
            </a:lvl8pPr>
            <a:lvl9pPr marL="1828800" algn="l" rtl="0" eaLnBrk="1" fontAlgn="base" hangingPunct="1">
              <a:lnSpc>
                <a:spcPct val="83000"/>
              </a:lnSpc>
              <a:spcBef>
                <a:spcPct val="0"/>
              </a:spcBef>
              <a:spcAft>
                <a:spcPct val="0"/>
              </a:spcAft>
              <a:defRPr sz="4400">
                <a:solidFill>
                  <a:srgbClr val="2A196F"/>
                </a:solidFill>
                <a:latin typeface="TUOS Stephenson" pitchFamily="-128" charset="0"/>
              </a:defRPr>
            </a:lvl9pPr>
          </a:lstStyle>
          <a:p>
            <a:pPr marL="0" marR="0" lvl="0" indent="0" algn="l" defTabSz="914400" rtl="0" eaLnBrk="1" fontAlgn="base" latinLnBrk="0" hangingPunct="1">
              <a:lnSpc>
                <a:spcPct val="90000"/>
              </a:lnSpc>
              <a:spcBef>
                <a:spcPct val="0"/>
              </a:spcBef>
              <a:spcAft>
                <a:spcPts val="600"/>
              </a:spcAft>
              <a:buClrTx/>
              <a:buSzTx/>
              <a:buFontTx/>
              <a:buNone/>
              <a:tabLst/>
              <a:defRPr/>
            </a:pPr>
            <a:r>
              <a:rPr lang="en-US" b="1" dirty="0">
                <a:solidFill>
                  <a:schemeClr val="tx1"/>
                </a:solidFill>
              </a:rPr>
              <a:t>Performance Management at Deloitte</a:t>
            </a:r>
            <a:endParaRPr kumimoji="0" lang="en-US" sz="5400" b="1" i="0" u="none" strike="noStrike" kern="1200" cap="none" spc="0" normalizeH="0" baseline="0" noProof="0" dirty="0">
              <a:ln>
                <a:noFill/>
              </a:ln>
              <a:solidFill>
                <a:schemeClr val="tx1"/>
              </a:solidFill>
              <a:effectLst/>
              <a:uLnTx/>
              <a:uFillTx/>
              <a:latin typeface="+mj-lt"/>
              <a:ea typeface="+mj-ea"/>
              <a:cs typeface="+mj-cs"/>
            </a:endParaRPr>
          </a:p>
        </p:txBody>
      </p:sp>
      <p:sp>
        <p:nvSpPr>
          <p:cNvPr id="3" name="TextBox 2">
            <a:extLst>
              <a:ext uri="{FF2B5EF4-FFF2-40B4-BE49-F238E27FC236}">
                <a16:creationId xmlns:a16="http://schemas.microsoft.com/office/drawing/2014/main" id="{DC8509A0-BC3A-1B62-0AA6-D63CE5B077D5}"/>
              </a:ext>
            </a:extLst>
          </p:cNvPr>
          <p:cNvSpPr txBox="1"/>
          <p:nvPr/>
        </p:nvSpPr>
        <p:spPr>
          <a:xfrm>
            <a:off x="572492" y="1847087"/>
            <a:ext cx="10110376" cy="4772373"/>
          </a:xfrm>
          <a:prstGeom prst="rect">
            <a:avLst/>
          </a:prstGeom>
        </p:spPr>
        <p:txBody>
          <a:bodyPr vert="horz" lIns="91440" tIns="45720" rIns="91440" bIns="45720" rtlCol="0" anchor="t">
            <a:noAutofit/>
          </a:bodyPr>
          <a:lstStyle/>
          <a:p>
            <a:pPr marL="342900" indent="-342900">
              <a:buFont typeface="Arial" panose="020B0604020202020204" pitchFamily="34" charset="0"/>
              <a:buChar char="•"/>
            </a:pPr>
            <a:r>
              <a:rPr lang="en-GB" sz="2400" b="1" dirty="0"/>
              <a:t>At the end of every project </a:t>
            </a:r>
            <a:r>
              <a:rPr lang="en-GB" sz="2400" dirty="0"/>
              <a:t>(or once every quarter for long-term projects) they decided to ask team leaders to respond to </a:t>
            </a:r>
            <a:r>
              <a:rPr lang="en-GB" sz="2400" b="1" dirty="0"/>
              <a:t>4 future-focussed statements about each team member</a:t>
            </a:r>
            <a:r>
              <a:rPr lang="en-GB" sz="2400" dirty="0"/>
              <a:t> – a ‘</a:t>
            </a:r>
            <a:r>
              <a:rPr lang="en-GB" sz="2400" b="1" i="1" dirty="0"/>
              <a:t>performance snapshot</a:t>
            </a:r>
            <a:r>
              <a:rPr lang="en-GB" sz="2400" i="1" dirty="0"/>
              <a:t>’:</a:t>
            </a:r>
          </a:p>
          <a:p>
            <a:pPr marL="914400" lvl="1" indent="-457200">
              <a:buFont typeface="+mj-lt"/>
              <a:buAutoNum type="arabicPeriod"/>
            </a:pPr>
            <a:r>
              <a:rPr lang="en-GB" sz="2200" dirty="0"/>
              <a:t>‘Given what I know of this person’s performance, and if it were my money, I would award this person the highest possible compensation increase and bonus’ (5-point scale from “strongly agree” to “strongly disagree”)</a:t>
            </a:r>
          </a:p>
          <a:p>
            <a:pPr marL="914400" lvl="1" indent="-457200">
              <a:buFont typeface="+mj-lt"/>
              <a:buAutoNum type="arabicPeriod"/>
            </a:pPr>
            <a:r>
              <a:rPr lang="en-GB" sz="2200" dirty="0"/>
              <a:t>‘Given what I know about this person’s performance, I would always want them on my team’ (same 5-point scale as above)</a:t>
            </a:r>
          </a:p>
          <a:p>
            <a:pPr marL="914400" lvl="1" indent="-457200">
              <a:buFont typeface="+mj-lt"/>
              <a:buAutoNum type="arabicPeriod"/>
            </a:pPr>
            <a:r>
              <a:rPr lang="en-GB" sz="2200" dirty="0"/>
              <a:t>‘This person is at risk of low performance’ (yes/no)</a:t>
            </a:r>
          </a:p>
          <a:p>
            <a:pPr marL="914400" lvl="1" indent="-457200">
              <a:buFont typeface="+mj-lt"/>
              <a:buAutoNum type="arabicPeriod"/>
            </a:pPr>
            <a:r>
              <a:rPr lang="en-GB" sz="2200" dirty="0"/>
              <a:t>This person is ready for promotion today’ (yes/no)</a:t>
            </a:r>
          </a:p>
          <a:p>
            <a:pPr marL="342900" indent="-342900">
              <a:buFont typeface="Arial" panose="020B0604020202020204" pitchFamily="34" charset="0"/>
              <a:buChar char="•"/>
            </a:pPr>
            <a:r>
              <a:rPr lang="en-GB" sz="2400" dirty="0"/>
              <a:t>Every team leader checks with each team member </a:t>
            </a:r>
            <a:r>
              <a:rPr lang="en-GB" sz="2400" b="1" dirty="0"/>
              <a:t>once a week </a:t>
            </a:r>
            <a:r>
              <a:rPr lang="en-GB" sz="2400" dirty="0"/>
              <a:t>about near-term work. </a:t>
            </a:r>
          </a:p>
          <a:p>
            <a:pPr marL="342900" indent="-342900">
              <a:buFont typeface="Arial" panose="020B0604020202020204" pitchFamily="34" charset="0"/>
              <a:buChar char="•"/>
            </a:pPr>
            <a:r>
              <a:rPr lang="en-GB" sz="2400" dirty="0"/>
              <a:t>Self-assessment tool used to identify strengths/weaknesses.</a:t>
            </a:r>
          </a:p>
          <a:p>
            <a:pPr marL="514350" indent="-228600">
              <a:lnSpc>
                <a:spcPct val="120000"/>
              </a:lnSpc>
              <a:spcAft>
                <a:spcPts val="600"/>
              </a:spcAft>
              <a:buClr>
                <a:srgbClr val="800000"/>
              </a:buClr>
              <a:buSzPct val="79000"/>
              <a:buFont typeface="Arial" panose="020B0604020202020204" pitchFamily="34" charset="0"/>
              <a:buChar char="•"/>
            </a:pPr>
            <a:endParaRPr lang="en-US" dirty="0"/>
          </a:p>
        </p:txBody>
      </p:sp>
      <p:sp>
        <p:nvSpPr>
          <p:cNvPr id="6" name="TextBox 5">
            <a:extLst>
              <a:ext uri="{FF2B5EF4-FFF2-40B4-BE49-F238E27FC236}">
                <a16:creationId xmlns:a16="http://schemas.microsoft.com/office/drawing/2014/main" id="{EC70BC50-0D1C-5A4C-813D-88E2E49A0F82}"/>
              </a:ext>
            </a:extLst>
          </p:cNvPr>
          <p:cNvSpPr txBox="1"/>
          <p:nvPr/>
        </p:nvSpPr>
        <p:spPr>
          <a:xfrm>
            <a:off x="9777984" y="-5318"/>
            <a:ext cx="2340864" cy="307777"/>
          </a:xfrm>
          <a:prstGeom prst="rect">
            <a:avLst/>
          </a:prstGeom>
          <a:noFill/>
        </p:spPr>
        <p:txBody>
          <a:bodyPr wrap="square" rtlCol="0">
            <a:spAutoFit/>
          </a:bodyPr>
          <a:lstStyle/>
          <a:p>
            <a:pPr algn="r">
              <a:spcAft>
                <a:spcPts val="600"/>
              </a:spcAft>
            </a:pPr>
            <a:r>
              <a:rPr lang="en-US" sz="1400" b="1" dirty="0"/>
              <a:t>MGT6060</a:t>
            </a:r>
          </a:p>
        </p:txBody>
      </p:sp>
    </p:spTree>
    <p:extLst>
      <p:ext uri="{BB962C8B-B14F-4D97-AF65-F5344CB8AC3E}">
        <p14:creationId xmlns:p14="http://schemas.microsoft.com/office/powerpoint/2010/main" val="1342070647"/>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87B889-3593-4721-AB91-3148AECC15F1}"/>
              </a:ext>
            </a:extLst>
          </p:cNvPr>
          <p:cNvSpPr>
            <a:spLocks noGrp="1"/>
          </p:cNvSpPr>
          <p:nvPr>
            <p:ph type="title"/>
          </p:nvPr>
        </p:nvSpPr>
        <p:spPr>
          <a:xfrm>
            <a:off x="546100" y="200025"/>
            <a:ext cx="10515600" cy="1325563"/>
          </a:xfrm>
        </p:spPr>
        <p:txBody>
          <a:bodyPr/>
          <a:lstStyle/>
          <a:p>
            <a:r>
              <a:rPr lang="en-US" dirty="0"/>
              <a:t>Performance Leadership</a:t>
            </a:r>
          </a:p>
        </p:txBody>
      </p:sp>
      <p:sp>
        <p:nvSpPr>
          <p:cNvPr id="3" name="Content Placeholder 2">
            <a:extLst>
              <a:ext uri="{FF2B5EF4-FFF2-40B4-BE49-F238E27FC236}">
                <a16:creationId xmlns:a16="http://schemas.microsoft.com/office/drawing/2014/main" id="{A2310EBB-4112-F9BA-C51C-8FB084C28C3A}"/>
              </a:ext>
            </a:extLst>
          </p:cNvPr>
          <p:cNvSpPr>
            <a:spLocks noGrp="1"/>
          </p:cNvSpPr>
          <p:nvPr>
            <p:ph idx="1"/>
          </p:nvPr>
        </p:nvSpPr>
        <p:spPr>
          <a:xfrm>
            <a:off x="266700" y="1525588"/>
            <a:ext cx="11734800" cy="5332412"/>
          </a:xfrm>
        </p:spPr>
        <p:txBody>
          <a:bodyPr>
            <a:normAutofit fontScale="92500" lnSpcReduction="10000"/>
          </a:bodyPr>
          <a:lstStyle/>
          <a:p>
            <a:pPr>
              <a:lnSpc>
                <a:spcPct val="160000"/>
              </a:lnSpc>
            </a:pPr>
            <a:r>
              <a:rPr lang="en-US" sz="2400" dirty="0"/>
              <a:t>Performance leadership involves enhancing employee performance by motivating, inspiring, and providing guidance, while also supporting their well-being and skill development.</a:t>
            </a:r>
          </a:p>
          <a:p>
            <a:pPr>
              <a:lnSpc>
                <a:spcPct val="160000"/>
              </a:lnSpc>
            </a:pPr>
            <a:r>
              <a:rPr lang="en-US" sz="2400" dirty="0"/>
              <a:t>Effective Performance Leaders:</a:t>
            </a:r>
          </a:p>
          <a:p>
            <a:pPr lvl="1">
              <a:lnSpc>
                <a:spcPct val="160000"/>
              </a:lnSpc>
            </a:pPr>
            <a:r>
              <a:rPr lang="en-US" sz="1800" b="1" dirty="0"/>
              <a:t>Set Clear Goals and Direction</a:t>
            </a:r>
            <a:r>
              <a:rPr lang="en-US" sz="1800" dirty="0"/>
              <a:t>: Ensure employees know what tasks to prioritize and where to focus their efforts.</a:t>
            </a:r>
          </a:p>
          <a:p>
            <a:pPr lvl="1">
              <a:lnSpc>
                <a:spcPct val="160000"/>
              </a:lnSpc>
            </a:pPr>
            <a:r>
              <a:rPr lang="en-US" sz="1800" b="1" dirty="0"/>
              <a:t>Provide Necessary Resources</a:t>
            </a:r>
            <a:r>
              <a:rPr lang="en-US" sz="1800" dirty="0"/>
              <a:t>: Equip employees with the tools, training, and support they need to succeed in their roles.</a:t>
            </a:r>
          </a:p>
          <a:p>
            <a:pPr lvl="1">
              <a:lnSpc>
                <a:spcPct val="160000"/>
              </a:lnSpc>
            </a:pPr>
            <a:r>
              <a:rPr lang="en-US" sz="1800" b="1" dirty="0"/>
              <a:t>Inspire and Motivate</a:t>
            </a:r>
            <a:r>
              <a:rPr lang="en-US" sz="1800" dirty="0"/>
              <a:t>: Foster enthusiasm and commitment by creating a positive, engaging work environment.</a:t>
            </a:r>
          </a:p>
          <a:p>
            <a:pPr lvl="1">
              <a:lnSpc>
                <a:spcPct val="160000"/>
              </a:lnSpc>
            </a:pPr>
            <a:r>
              <a:rPr lang="en-US" sz="1800" b="1" dirty="0"/>
              <a:t>Develop Skills and Capabilities</a:t>
            </a:r>
            <a:r>
              <a:rPr lang="en-US" sz="1800" dirty="0"/>
              <a:t>: Encourage continuous learning and personal development.</a:t>
            </a:r>
          </a:p>
          <a:p>
            <a:pPr lvl="1">
              <a:lnSpc>
                <a:spcPct val="160000"/>
              </a:lnSpc>
            </a:pPr>
            <a:r>
              <a:rPr lang="en-US" sz="1800" b="1" dirty="0"/>
              <a:t>Track Progress and Give Feedback</a:t>
            </a:r>
            <a:r>
              <a:rPr lang="en-US" sz="1800" dirty="0"/>
              <a:t>: Regularly monitor employee performance and provide constructive, timely feedback to help them improve.</a:t>
            </a:r>
          </a:p>
          <a:p>
            <a:pPr marL="457200" lvl="1" indent="0" algn="r">
              <a:lnSpc>
                <a:spcPct val="160000"/>
              </a:lnSpc>
              <a:buNone/>
            </a:pPr>
            <a:r>
              <a:rPr lang="en-US" sz="1800" dirty="0"/>
              <a:t>(Armstrong </a:t>
            </a:r>
            <a:r>
              <a:rPr lang="en-US" sz="1600" dirty="0"/>
              <a:t>&amp; Taylor, 2023)</a:t>
            </a:r>
          </a:p>
        </p:txBody>
      </p:sp>
    </p:spTree>
    <p:extLst>
      <p:ext uri="{BB962C8B-B14F-4D97-AF65-F5344CB8AC3E}">
        <p14:creationId xmlns:p14="http://schemas.microsoft.com/office/powerpoint/2010/main" val="3936283143"/>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45A29C-A93A-2E8C-D627-B666F1143D8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66B318B-4FD2-7430-BC5A-55ABFB7DAB41}"/>
              </a:ext>
            </a:extLst>
          </p:cNvPr>
          <p:cNvSpPr>
            <a:spLocks noGrp="1"/>
          </p:cNvSpPr>
          <p:nvPr>
            <p:ph type="title"/>
          </p:nvPr>
        </p:nvSpPr>
        <p:spPr>
          <a:xfrm>
            <a:off x="546100" y="200025"/>
            <a:ext cx="10515600" cy="1325563"/>
          </a:xfrm>
        </p:spPr>
        <p:txBody>
          <a:bodyPr/>
          <a:lstStyle/>
          <a:p>
            <a:r>
              <a:rPr lang="en-US" dirty="0"/>
              <a:t>Performance management by algorithm</a:t>
            </a:r>
          </a:p>
        </p:txBody>
      </p:sp>
      <p:sp>
        <p:nvSpPr>
          <p:cNvPr id="3" name="Content Placeholder 2">
            <a:extLst>
              <a:ext uri="{FF2B5EF4-FFF2-40B4-BE49-F238E27FC236}">
                <a16:creationId xmlns:a16="http://schemas.microsoft.com/office/drawing/2014/main" id="{F6193D9B-8095-2B3B-2D5B-8D48FF1F0CE4}"/>
              </a:ext>
            </a:extLst>
          </p:cNvPr>
          <p:cNvSpPr>
            <a:spLocks noGrp="1"/>
          </p:cNvSpPr>
          <p:nvPr>
            <p:ph idx="1"/>
          </p:nvPr>
        </p:nvSpPr>
        <p:spPr>
          <a:xfrm>
            <a:off x="266700" y="1525588"/>
            <a:ext cx="11734800" cy="5332412"/>
          </a:xfrm>
        </p:spPr>
        <p:txBody>
          <a:bodyPr>
            <a:normAutofit lnSpcReduction="10000"/>
          </a:bodyPr>
          <a:lstStyle/>
          <a:p>
            <a:pPr marL="380990" indent="-380990"/>
            <a:r>
              <a:rPr lang="en-GB" sz="2400" dirty="0">
                <a:solidFill>
                  <a:srgbClr val="2A2A2A"/>
                </a:solidFill>
              </a:rPr>
              <a:t>The emergence of </a:t>
            </a:r>
            <a:r>
              <a:rPr lang="en-GB" sz="2400" b="1" dirty="0">
                <a:solidFill>
                  <a:srgbClr val="2A2A2A"/>
                </a:solidFill>
              </a:rPr>
              <a:t>platform work </a:t>
            </a:r>
            <a:r>
              <a:rPr lang="en-GB" sz="2400" dirty="0">
                <a:solidFill>
                  <a:srgbClr val="2A2A2A"/>
                </a:solidFill>
              </a:rPr>
              <a:t>(sometimes called the ‘gig economy’) and the rise in remote work/working from home/hybrid working raises concerns over the future of performance management</a:t>
            </a:r>
          </a:p>
          <a:p>
            <a:pPr marL="380990" indent="-380990"/>
            <a:r>
              <a:rPr lang="en-GB" sz="2400" dirty="0">
                <a:solidFill>
                  <a:srgbClr val="2A2A2A"/>
                </a:solidFill>
              </a:rPr>
              <a:t>Technology-enabled remote monitoring practices, including AI-driven workplace surveillance and automated algorithmic dismissal can be used to collect employee data through the working day, which, in some cases, is being used to evaluate and rate performance. </a:t>
            </a:r>
          </a:p>
          <a:p>
            <a:pPr marL="380990" indent="-380990"/>
            <a:r>
              <a:rPr lang="en-GB" sz="2400" dirty="0">
                <a:solidFill>
                  <a:srgbClr val="2A2A2A"/>
                </a:solidFill>
              </a:rPr>
              <a:t>Data collected, stored, analysed may include biometrics, text messages, telephone calls, entry/exit/movement sensors, online footprints, GPS position tracking, and key strokes</a:t>
            </a:r>
          </a:p>
          <a:p>
            <a:pPr marL="380990" indent="-380990"/>
            <a:r>
              <a:rPr lang="en-GB" sz="2400" dirty="0">
                <a:solidFill>
                  <a:srgbClr val="2A2A2A"/>
                </a:solidFill>
              </a:rPr>
              <a:t>In-built bias in the algorithms used to make performance decisions may lead to unfairness and discrimination (others suggest bias may be reduced).</a:t>
            </a:r>
          </a:p>
          <a:p>
            <a:pPr algn="r"/>
            <a:r>
              <a:rPr lang="en-GB" sz="2400" dirty="0">
                <a:solidFill>
                  <a:srgbClr val="2A2A2A"/>
                </a:solidFill>
              </a:rPr>
              <a:t>See </a:t>
            </a:r>
            <a:r>
              <a:rPr lang="en-GB" sz="2400" b="1" dirty="0"/>
              <a:t>Uber fined after ‘</a:t>
            </a:r>
            <a:r>
              <a:rPr lang="en-GB" sz="2400" b="1" dirty="0" err="1"/>
              <a:t>robo</a:t>
            </a:r>
            <a:r>
              <a:rPr lang="en-GB" sz="2400" b="1" dirty="0"/>
              <a:t>-firing</a:t>
            </a:r>
            <a:r>
              <a:rPr lang="en-GB" sz="2400" b="1" dirty="0">
                <a:solidFill>
                  <a:srgbClr val="FFFFFF"/>
                </a:solidFill>
              </a:rPr>
              <a:t>’ drivers</a:t>
            </a:r>
          </a:p>
          <a:p>
            <a:pPr algn="r"/>
            <a:r>
              <a:rPr lang="en-GB" sz="2400" dirty="0">
                <a:solidFill>
                  <a:srgbClr val="000000"/>
                </a:solidFill>
              </a:rPr>
              <a:t>by </a:t>
            </a:r>
            <a:r>
              <a:rPr lang="en-GB" sz="2400" dirty="0">
                <a:solidFill>
                  <a:srgbClr val="000000"/>
                </a:solidFill>
                <a:hlinkClick r:id="rId2"/>
              </a:rPr>
              <a:t>Jo Faragher</a:t>
            </a:r>
            <a:r>
              <a:rPr lang="en-GB" sz="2400" dirty="0">
                <a:solidFill>
                  <a:srgbClr val="313131"/>
                </a:solidFill>
              </a:rPr>
              <a:t> </a:t>
            </a:r>
            <a:r>
              <a:rPr lang="en-GB" sz="2400" dirty="0">
                <a:solidFill>
                  <a:srgbClr val="000000"/>
                </a:solidFill>
              </a:rPr>
              <a:t>6 Oct 2023</a:t>
            </a:r>
            <a:endParaRPr lang="en-GB" sz="2400" dirty="0">
              <a:solidFill>
                <a:srgbClr val="313131"/>
              </a:solidFill>
            </a:endParaRPr>
          </a:p>
        </p:txBody>
      </p:sp>
    </p:spTree>
    <p:extLst>
      <p:ext uri="{BB962C8B-B14F-4D97-AF65-F5344CB8AC3E}">
        <p14:creationId xmlns:p14="http://schemas.microsoft.com/office/powerpoint/2010/main" val="3868931859"/>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5B8772-E9C1-B67F-F280-47E1591C8BD0}"/>
              </a:ext>
            </a:extLst>
          </p:cNvPr>
          <p:cNvSpPr>
            <a:spLocks noGrp="1"/>
          </p:cNvSpPr>
          <p:nvPr>
            <p:ph type="title"/>
          </p:nvPr>
        </p:nvSpPr>
        <p:spPr/>
        <p:txBody>
          <a:bodyPr/>
          <a:lstStyle/>
          <a:p>
            <a:r>
              <a:rPr lang="en-GB" dirty="0"/>
              <a:t>Individual Workplace Metrics</a:t>
            </a:r>
          </a:p>
        </p:txBody>
      </p:sp>
      <p:sp>
        <p:nvSpPr>
          <p:cNvPr id="3" name="TextBox 2">
            <a:extLst>
              <a:ext uri="{FF2B5EF4-FFF2-40B4-BE49-F238E27FC236}">
                <a16:creationId xmlns:a16="http://schemas.microsoft.com/office/drawing/2014/main" id="{4CD1DE6B-4B9F-92AB-D3CF-6A5D58CC1658}"/>
              </a:ext>
            </a:extLst>
          </p:cNvPr>
          <p:cNvSpPr txBox="1"/>
          <p:nvPr/>
        </p:nvSpPr>
        <p:spPr>
          <a:xfrm>
            <a:off x="3859619" y="1881963"/>
            <a:ext cx="4139146" cy="3970318"/>
          </a:xfrm>
          <a:prstGeom prst="rect">
            <a:avLst/>
          </a:prstGeom>
          <a:noFill/>
        </p:spPr>
        <p:txBody>
          <a:bodyPr wrap="none" rtlCol="0">
            <a:spAutoFit/>
          </a:bodyPr>
          <a:lstStyle/>
          <a:p>
            <a:r>
              <a:rPr lang="en-GB" sz="2800" dirty="0"/>
              <a:t>Output / hour</a:t>
            </a:r>
          </a:p>
          <a:p>
            <a:endParaRPr lang="en-GB" sz="2800" dirty="0"/>
          </a:p>
          <a:p>
            <a:r>
              <a:rPr lang="en-GB" sz="2800" dirty="0"/>
              <a:t>Task completion rate</a:t>
            </a:r>
          </a:p>
          <a:p>
            <a:endParaRPr lang="en-GB" sz="2800" dirty="0"/>
          </a:p>
          <a:p>
            <a:r>
              <a:rPr lang="en-GB" sz="2800" dirty="0"/>
              <a:t>Quality score</a:t>
            </a:r>
          </a:p>
          <a:p>
            <a:endParaRPr lang="en-GB" sz="2800" dirty="0"/>
          </a:p>
          <a:p>
            <a:r>
              <a:rPr lang="en-GB" sz="2800" dirty="0"/>
              <a:t>Absenteeism</a:t>
            </a:r>
          </a:p>
          <a:p>
            <a:endParaRPr lang="en-GB" sz="2800" dirty="0"/>
          </a:p>
          <a:p>
            <a:r>
              <a:rPr lang="en-GB" sz="2800" dirty="0"/>
              <a:t>Support of colleagues etc</a:t>
            </a:r>
          </a:p>
        </p:txBody>
      </p:sp>
    </p:spTree>
    <p:extLst>
      <p:ext uri="{BB962C8B-B14F-4D97-AF65-F5344CB8AC3E}">
        <p14:creationId xmlns:p14="http://schemas.microsoft.com/office/powerpoint/2010/main" val="2332370778"/>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EE965F-6F5E-4867-5688-594D855E4280}"/>
              </a:ext>
            </a:extLst>
          </p:cNvPr>
          <p:cNvSpPr>
            <a:spLocks noGrp="1"/>
          </p:cNvSpPr>
          <p:nvPr>
            <p:ph type="title"/>
          </p:nvPr>
        </p:nvSpPr>
        <p:spPr>
          <a:xfrm>
            <a:off x="2998381" y="120576"/>
            <a:ext cx="6390168" cy="1325563"/>
          </a:xfrm>
        </p:spPr>
        <p:txBody>
          <a:bodyPr>
            <a:normAutofit/>
          </a:bodyPr>
          <a:lstStyle/>
          <a:p>
            <a:r>
              <a:rPr lang="en-GB" sz="4000" dirty="0"/>
              <a:t>Surveillance in the Workplace</a:t>
            </a:r>
          </a:p>
        </p:txBody>
      </p:sp>
      <p:sp>
        <p:nvSpPr>
          <p:cNvPr id="3" name="TextBox 2">
            <a:extLst>
              <a:ext uri="{FF2B5EF4-FFF2-40B4-BE49-F238E27FC236}">
                <a16:creationId xmlns:a16="http://schemas.microsoft.com/office/drawing/2014/main" id="{70A02D86-F6B3-E43C-FCB4-A0C647055536}"/>
              </a:ext>
            </a:extLst>
          </p:cNvPr>
          <p:cNvSpPr txBox="1"/>
          <p:nvPr/>
        </p:nvSpPr>
        <p:spPr>
          <a:xfrm>
            <a:off x="1881964" y="1360968"/>
            <a:ext cx="3220305" cy="5262979"/>
          </a:xfrm>
          <a:prstGeom prst="rect">
            <a:avLst/>
          </a:prstGeom>
          <a:noFill/>
        </p:spPr>
        <p:txBody>
          <a:bodyPr wrap="none" rtlCol="0">
            <a:spAutoFit/>
          </a:bodyPr>
          <a:lstStyle/>
          <a:p>
            <a:r>
              <a:rPr lang="en-GB" sz="2400" b="1" dirty="0"/>
              <a:t>Physical Tracking</a:t>
            </a:r>
          </a:p>
          <a:p>
            <a:r>
              <a:rPr lang="en-GB" sz="2400" dirty="0"/>
              <a:t>Video surveillance</a:t>
            </a:r>
          </a:p>
          <a:p>
            <a:r>
              <a:rPr lang="en-GB" sz="2400" dirty="0"/>
              <a:t>GPS trackers</a:t>
            </a:r>
          </a:p>
          <a:p>
            <a:endParaRPr lang="en-GB" sz="2400" dirty="0"/>
          </a:p>
          <a:p>
            <a:r>
              <a:rPr lang="en-GB" sz="2400" b="1" dirty="0"/>
              <a:t>Telephone and Audio</a:t>
            </a:r>
          </a:p>
          <a:p>
            <a:r>
              <a:rPr lang="en-GB" sz="2400" dirty="0"/>
              <a:t>Call logs and recording</a:t>
            </a:r>
          </a:p>
          <a:p>
            <a:endParaRPr lang="en-GB" sz="2400" dirty="0"/>
          </a:p>
          <a:p>
            <a:r>
              <a:rPr lang="en-GB" sz="2400" b="1" dirty="0"/>
              <a:t>Digital Tracking</a:t>
            </a:r>
          </a:p>
          <a:p>
            <a:r>
              <a:rPr lang="en-GB" sz="2400" dirty="0"/>
              <a:t>Keystroke logs</a:t>
            </a:r>
          </a:p>
          <a:p>
            <a:r>
              <a:rPr lang="en-GB" sz="2400" dirty="0"/>
              <a:t>Screen monitoring</a:t>
            </a:r>
          </a:p>
          <a:p>
            <a:r>
              <a:rPr lang="en-GB" sz="2400" dirty="0"/>
              <a:t>Webcam / microphone</a:t>
            </a:r>
          </a:p>
          <a:p>
            <a:endParaRPr lang="en-GB" sz="2400" dirty="0"/>
          </a:p>
          <a:p>
            <a:r>
              <a:rPr lang="en-GB" sz="2400" b="1" dirty="0"/>
              <a:t>AI Analytics</a:t>
            </a:r>
            <a:endParaRPr lang="en-GB" sz="2400" dirty="0"/>
          </a:p>
          <a:p>
            <a:r>
              <a:rPr lang="en-GB" sz="2400" dirty="0"/>
              <a:t>AI assessment </a:t>
            </a:r>
          </a:p>
        </p:txBody>
      </p:sp>
      <p:sp>
        <p:nvSpPr>
          <p:cNvPr id="5" name="TextBox 4">
            <a:extLst>
              <a:ext uri="{FF2B5EF4-FFF2-40B4-BE49-F238E27FC236}">
                <a16:creationId xmlns:a16="http://schemas.microsoft.com/office/drawing/2014/main" id="{60B7D421-3B74-B7B8-7769-8643B99B4A6A}"/>
              </a:ext>
            </a:extLst>
          </p:cNvPr>
          <p:cNvSpPr txBox="1"/>
          <p:nvPr/>
        </p:nvSpPr>
        <p:spPr>
          <a:xfrm>
            <a:off x="6193465" y="1360968"/>
            <a:ext cx="5542221" cy="4031873"/>
          </a:xfrm>
          <a:prstGeom prst="rect">
            <a:avLst/>
          </a:prstGeom>
          <a:noFill/>
        </p:spPr>
        <p:txBody>
          <a:bodyPr wrap="square">
            <a:spAutoFit/>
          </a:bodyPr>
          <a:lstStyle/>
          <a:p>
            <a:pPr>
              <a:buNone/>
            </a:pPr>
            <a:r>
              <a:rPr lang="en-GB" sz="2400" dirty="0"/>
              <a:t>“Employers must explain the amount of monitoring clearly in the staff handbook or contract. They should tell workers:</a:t>
            </a:r>
          </a:p>
          <a:p>
            <a:pPr marL="342900" lvl="0" indent="-342900">
              <a:buFont typeface="Arial" panose="020B0604020202020204" pitchFamily="34" charset="0"/>
              <a:buChar char="•"/>
            </a:pPr>
            <a:r>
              <a:rPr lang="en-GB" sz="2400" dirty="0"/>
              <a:t>if they’re being monitored</a:t>
            </a:r>
          </a:p>
          <a:p>
            <a:pPr marL="342900" lvl="0" indent="-342900">
              <a:buFont typeface="Arial" panose="020B0604020202020204" pitchFamily="34" charset="0"/>
              <a:buChar char="•"/>
            </a:pPr>
            <a:r>
              <a:rPr lang="en-GB" sz="2400" dirty="0"/>
              <a:t>what counts as a reasonable number of personal emails and phone calls</a:t>
            </a:r>
          </a:p>
          <a:p>
            <a:pPr marL="342900" lvl="0" indent="-342900">
              <a:buFont typeface="Arial" panose="020B0604020202020204" pitchFamily="34" charset="0"/>
              <a:buChar char="•"/>
            </a:pPr>
            <a:r>
              <a:rPr lang="en-GB" sz="2400" dirty="0"/>
              <a:t>if personal emails and calls are not allowed”</a:t>
            </a:r>
          </a:p>
          <a:p>
            <a:pPr marL="342900" lvl="0" indent="-342900">
              <a:buFont typeface="Arial" panose="020B0604020202020204" pitchFamily="34" charset="0"/>
              <a:buChar char="•"/>
            </a:pPr>
            <a:endParaRPr lang="en-GB" sz="2400" dirty="0"/>
          </a:p>
          <a:p>
            <a:pPr lvl="0"/>
            <a:r>
              <a:rPr lang="en-GB" sz="2000" dirty="0"/>
              <a:t>https://www.gov.uk/monitoring-work-workers-rights/email-cctv-and-other-monitoring</a:t>
            </a:r>
          </a:p>
        </p:txBody>
      </p:sp>
    </p:spTree>
    <p:extLst>
      <p:ext uri="{BB962C8B-B14F-4D97-AF65-F5344CB8AC3E}">
        <p14:creationId xmlns:p14="http://schemas.microsoft.com/office/powerpoint/2010/main" val="3502046583"/>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0" y="203459"/>
            <a:ext cx="5780567" cy="668411"/>
          </a:xfrm>
        </p:spPr>
        <p:txBody>
          <a:bodyPr anchor="b">
            <a:normAutofit/>
          </a:bodyPr>
          <a:lstStyle/>
          <a:p>
            <a:r>
              <a:rPr lang="en-GB" sz="3600" b="1" dirty="0"/>
              <a:t>Uber fined after ‘</a:t>
            </a:r>
            <a:r>
              <a:rPr lang="en-GB" sz="3600" b="1" dirty="0" err="1"/>
              <a:t>robo</a:t>
            </a:r>
            <a:r>
              <a:rPr lang="en-GB" sz="3600" b="1" dirty="0"/>
              <a:t>-firing’</a:t>
            </a:r>
            <a:endParaRPr lang="en-US" sz="3600" dirty="0"/>
          </a:p>
        </p:txBody>
      </p:sp>
      <p:pic>
        <p:nvPicPr>
          <p:cNvPr id="7" name="Picture 6" descr="A person holding a phone&#10;&#10;Description automatically generated">
            <a:extLst>
              <a:ext uri="{FF2B5EF4-FFF2-40B4-BE49-F238E27FC236}">
                <a16:creationId xmlns:a16="http://schemas.microsoft.com/office/drawing/2014/main" id="{014F9610-A245-58A2-8335-12CC737394FD}"/>
              </a:ext>
            </a:extLst>
          </p:cNvPr>
          <p:cNvPicPr>
            <a:picLocks noChangeAspect="1"/>
          </p:cNvPicPr>
          <p:nvPr/>
        </p:nvPicPr>
        <p:blipFill>
          <a:blip r:embed="rId3">
            <a:extLst>
              <a:ext uri="{837473B0-CC2E-450A-ABE3-18F120FF3D39}">
                <a1611:picAttrSrcUrl xmlns:a1611="http://schemas.microsoft.com/office/drawing/2016/11/main" r:id="rId4"/>
              </a:ext>
            </a:extLst>
          </a:blip>
          <a:srcRect l="23492" r="17159" b="-2"/>
          <a:stretch/>
        </p:blipFill>
        <p:spPr>
          <a:xfrm>
            <a:off x="3" y="1588"/>
            <a:ext cx="5411969" cy="6856413"/>
          </a:xfrm>
          <a:custGeom>
            <a:avLst/>
            <a:gdLst/>
            <a:ahLst/>
            <a:cxnLst/>
            <a:rect l="l" t="t" r="r" b="b"/>
            <a:pathLst>
              <a:path w="6649908" h="6856413">
                <a:moveTo>
                  <a:pt x="0" y="0"/>
                </a:moveTo>
                <a:lnTo>
                  <a:pt x="6559859" y="0"/>
                </a:lnTo>
                <a:lnTo>
                  <a:pt x="6572145" y="79394"/>
                </a:lnTo>
                <a:cubicBezTo>
                  <a:pt x="6857782" y="2230562"/>
                  <a:pt x="6243159" y="4473353"/>
                  <a:pt x="6528796" y="6624522"/>
                </a:cubicBezTo>
                <a:lnTo>
                  <a:pt x="6564680" y="6856413"/>
                </a:lnTo>
                <a:lnTo>
                  <a:pt x="0" y="6856413"/>
                </a:lnTo>
                <a:close/>
              </a:path>
            </a:pathLst>
          </a:custGeom>
        </p:spPr>
      </p:pic>
      <p:sp>
        <p:nvSpPr>
          <p:cNvPr id="4" name="Content Placeholder 3">
            <a:extLst>
              <a:ext uri="{FF2B5EF4-FFF2-40B4-BE49-F238E27FC236}">
                <a16:creationId xmlns:a16="http://schemas.microsoft.com/office/drawing/2014/main" id="{FEBD7157-9284-5D03-44DE-376B06BC2FC5}"/>
              </a:ext>
            </a:extLst>
          </p:cNvPr>
          <p:cNvSpPr>
            <a:spLocks noGrp="1"/>
          </p:cNvSpPr>
          <p:nvPr>
            <p:ph idx="1"/>
          </p:nvPr>
        </p:nvSpPr>
        <p:spPr>
          <a:xfrm>
            <a:off x="5411975" y="1031359"/>
            <a:ext cx="6719775" cy="5371798"/>
          </a:xfrm>
        </p:spPr>
        <p:txBody>
          <a:bodyPr>
            <a:normAutofit lnSpcReduction="10000"/>
          </a:bodyPr>
          <a:lstStyle/>
          <a:p>
            <a:pPr>
              <a:spcAft>
                <a:spcPts val="800"/>
              </a:spcAft>
            </a:pPr>
            <a:r>
              <a:rPr lang="en-GB" sz="2000" kern="100" dirty="0">
                <a:latin typeface="Aptos" panose="020B0004020202020204" pitchFamily="34" charset="0"/>
                <a:ea typeface="DengXian" panose="02010600030101010101" pitchFamily="2" charset="-122"/>
                <a:cs typeface="Arial" panose="020B0604020202020204" pitchFamily="34" charset="0"/>
              </a:rPr>
              <a:t>In April 2023, a court in Amsterdam in The Netherlands fined Uber €584,000 when an algorithm made the decision to dismiss two drivers from the UK and Portugal. </a:t>
            </a:r>
          </a:p>
          <a:p>
            <a:pPr>
              <a:spcAft>
                <a:spcPts val="800"/>
              </a:spcAft>
            </a:pPr>
            <a:r>
              <a:rPr lang="en-GB" sz="2000" kern="100" dirty="0">
                <a:latin typeface="Aptos" panose="020B0004020202020204" pitchFamily="34" charset="0"/>
                <a:ea typeface="DengXian" panose="02010600030101010101" pitchFamily="2" charset="-122"/>
                <a:cs typeface="Arial" panose="020B0604020202020204" pitchFamily="34" charset="0"/>
              </a:rPr>
              <a:t>The court ordered Uber to provide </a:t>
            </a:r>
            <a:r>
              <a:rPr lang="en-GB" sz="2000" b="1" kern="100" dirty="0">
                <a:latin typeface="Aptos" panose="020B0004020202020204" pitchFamily="34" charset="0"/>
                <a:ea typeface="DengXian" panose="02010600030101010101" pitchFamily="2" charset="-122"/>
                <a:cs typeface="Arial" panose="020B0604020202020204" pitchFamily="34" charset="0"/>
              </a:rPr>
              <a:t>transparency</a:t>
            </a:r>
            <a:r>
              <a:rPr lang="en-GB" sz="2000" kern="100" dirty="0">
                <a:latin typeface="Aptos" panose="020B0004020202020204" pitchFamily="34" charset="0"/>
                <a:ea typeface="DengXian" panose="02010600030101010101" pitchFamily="2" charset="-122"/>
                <a:cs typeface="Arial" panose="020B0604020202020204" pitchFamily="34" charset="0"/>
              </a:rPr>
              <a:t> in how it used automation to make decisions to workers.</a:t>
            </a:r>
          </a:p>
          <a:p>
            <a:pPr>
              <a:spcAft>
                <a:spcPts val="800"/>
              </a:spcAft>
            </a:pPr>
            <a:r>
              <a:rPr lang="en-GB" sz="2000" kern="100" dirty="0">
                <a:latin typeface="Aptos" panose="020B0004020202020204" pitchFamily="34" charset="0"/>
                <a:ea typeface="DengXian" panose="02010600030101010101" pitchFamily="2" charset="-122"/>
                <a:cs typeface="Arial" panose="020B0604020202020204" pitchFamily="34" charset="0"/>
              </a:rPr>
              <a:t>Uber said drivers’ accounts were flagged due to very specific circumstances, and the decisions were reviewed by human teams but the Judge said the human review of the ‘</a:t>
            </a:r>
            <a:r>
              <a:rPr lang="en-GB" sz="2000" b="1" kern="100" dirty="0" err="1">
                <a:latin typeface="Aptos" panose="020B0004020202020204" pitchFamily="34" charset="0"/>
                <a:ea typeface="DengXian" panose="02010600030101010101" pitchFamily="2" charset="-122"/>
                <a:cs typeface="Arial" panose="020B0604020202020204" pitchFamily="34" charset="0"/>
              </a:rPr>
              <a:t>robo</a:t>
            </a:r>
            <a:r>
              <a:rPr lang="en-GB" sz="2000" b="1" kern="100" dirty="0">
                <a:latin typeface="Aptos" panose="020B0004020202020204" pitchFamily="34" charset="0"/>
                <a:ea typeface="DengXian" panose="02010600030101010101" pitchFamily="2" charset="-122"/>
                <a:cs typeface="Arial" panose="020B0604020202020204" pitchFamily="34" charset="0"/>
              </a:rPr>
              <a:t>-firing’ decision was nothing more than a “symbolic act</a:t>
            </a:r>
            <a:r>
              <a:rPr lang="en-GB" sz="2000" kern="100" dirty="0">
                <a:latin typeface="Aptos" panose="020B0004020202020204" pitchFamily="34" charset="0"/>
                <a:ea typeface="DengXian" panose="02010600030101010101" pitchFamily="2" charset="-122"/>
                <a:cs typeface="Arial" panose="020B0604020202020204" pitchFamily="34" charset="0"/>
              </a:rPr>
              <a:t>”.</a:t>
            </a:r>
            <a:endParaRPr lang="en-GB" sz="1100" dirty="0"/>
          </a:p>
          <a:p>
            <a:pPr marL="0" indent="0">
              <a:buNone/>
            </a:pPr>
            <a:r>
              <a:rPr lang="en-GB" sz="1200" i="1" dirty="0"/>
              <a:t>Personnel Today</a:t>
            </a:r>
            <a:r>
              <a:rPr lang="en-GB" sz="1200" dirty="0"/>
              <a:t>. 6 October 2023. Available at: </a:t>
            </a:r>
            <a:r>
              <a:rPr lang="en-GB" sz="1200" dirty="0">
                <a:hlinkClick r:id="rId5"/>
              </a:rPr>
              <a:t>https://www.personneltoday.com/hr/uber-robo-firing-fine/#:~:text=A%20court%20in%20Amsterdam%20has,from%20the%20UK%20and%20Portugal</a:t>
            </a:r>
            <a:endParaRPr lang="en-GB" sz="1200" dirty="0"/>
          </a:p>
          <a:p>
            <a:pPr marL="0" indent="0">
              <a:buNone/>
            </a:pPr>
            <a:endParaRPr lang="en-GB" sz="1200" b="1" dirty="0">
              <a:hlinkClick r:id="rId6"/>
            </a:endParaRPr>
          </a:p>
          <a:p>
            <a:pPr marL="0" indent="0">
              <a:buNone/>
            </a:pPr>
            <a:r>
              <a:rPr lang="en-GB" sz="2400" dirty="0"/>
              <a:t>California’s </a:t>
            </a:r>
            <a:r>
              <a:rPr lang="en-GB" sz="2400" i="1" dirty="0"/>
              <a:t>No Robo Bosses Act</a:t>
            </a:r>
            <a:r>
              <a:rPr lang="en-GB" sz="2400" dirty="0"/>
              <a:t> (September 2026), bans employers from relying solely on automated AI systems to fire or discipline workers without human corroboration and written notice. </a:t>
            </a:r>
            <a:endParaRPr lang="en-GB" sz="2400" b="1" dirty="0">
              <a:hlinkClick r:id="rId6"/>
            </a:endParaRPr>
          </a:p>
          <a:p>
            <a:pPr marL="0" indent="0">
              <a:buNone/>
            </a:pPr>
            <a:endParaRPr lang="en-GB" sz="1200" b="1" dirty="0">
              <a:hlinkClick r:id="rId6"/>
            </a:endParaRPr>
          </a:p>
          <a:p>
            <a:pPr marL="0" indent="0">
              <a:buNone/>
            </a:pPr>
            <a:endParaRPr lang="en-GB" sz="1200" b="1" dirty="0">
              <a:hlinkClick r:id="rId6"/>
            </a:endParaRPr>
          </a:p>
        </p:txBody>
      </p:sp>
      <p:sp>
        <p:nvSpPr>
          <p:cNvPr id="8" name="TextBox 7">
            <a:extLst>
              <a:ext uri="{FF2B5EF4-FFF2-40B4-BE49-F238E27FC236}">
                <a16:creationId xmlns:a16="http://schemas.microsoft.com/office/drawing/2014/main" id="{2BCDD0DB-AD20-86A4-1334-346F9819C00C}"/>
              </a:ext>
            </a:extLst>
          </p:cNvPr>
          <p:cNvSpPr txBox="1"/>
          <p:nvPr/>
        </p:nvSpPr>
        <p:spPr>
          <a:xfrm>
            <a:off x="197684" y="6403157"/>
            <a:ext cx="2297424" cy="200055"/>
          </a:xfrm>
          <a:prstGeom prst="rect">
            <a:avLst/>
          </a:prstGeom>
          <a:solidFill>
            <a:srgbClr val="000000"/>
          </a:solidFill>
        </p:spPr>
        <p:txBody>
          <a:bodyPr wrap="none" rtlCol="0">
            <a:spAutoFit/>
          </a:bodyPr>
          <a:lstStyle/>
          <a:p>
            <a:pPr algn="r">
              <a:spcAft>
                <a:spcPts val="600"/>
              </a:spcAft>
            </a:pPr>
            <a:r>
              <a:rPr lang="en-GB" sz="700" dirty="0">
                <a:solidFill>
                  <a:srgbClr val="FFFFFF"/>
                </a:solidFill>
                <a:hlinkClick r:id="rId4" tooltip="https://www.flickr.com/photos/stockcatalog/40834812504">
                  <a:extLst>
                    <a:ext uri="{A12FA001-AC4F-418D-AE19-62706E023703}">
                      <ahyp:hlinkClr xmlns:ahyp="http://schemas.microsoft.com/office/drawing/2018/hyperlinkcolor" val="tx"/>
                    </a:ext>
                  </a:extLst>
                </a:hlinkClick>
              </a:rPr>
              <a:t>This Photo</a:t>
            </a:r>
            <a:r>
              <a:rPr lang="en-GB" sz="700" dirty="0">
                <a:solidFill>
                  <a:srgbClr val="FFFFFF"/>
                </a:solidFill>
              </a:rPr>
              <a:t> by Unknown Author is licensed under </a:t>
            </a:r>
            <a:r>
              <a:rPr lang="en-GB" sz="700" dirty="0">
                <a:solidFill>
                  <a:srgbClr val="FFFFFF"/>
                </a:solidFill>
                <a:hlinkClick r:id="rId7" tooltip="https://creativecommons.org/licenses/by/3.0/">
                  <a:extLst>
                    <a:ext uri="{A12FA001-AC4F-418D-AE19-62706E023703}">
                      <ahyp:hlinkClr xmlns:ahyp="http://schemas.microsoft.com/office/drawing/2018/hyperlinkcolor" val="tx"/>
                    </a:ext>
                  </a:extLst>
                </a:hlinkClick>
              </a:rPr>
              <a:t>CC BY</a:t>
            </a:r>
            <a:endParaRPr lang="en-GB" sz="700" dirty="0">
              <a:solidFill>
                <a:srgbClr val="FFFFFF"/>
              </a:solidFill>
            </a:endParaRPr>
          </a:p>
        </p:txBody>
      </p:sp>
    </p:spTree>
    <p:extLst>
      <p:ext uri="{BB962C8B-B14F-4D97-AF65-F5344CB8AC3E}">
        <p14:creationId xmlns:p14="http://schemas.microsoft.com/office/powerpoint/2010/main" val="4160964498"/>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EE52EF-9206-63F5-E8A7-E7739B400E0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DDFD0FD-CA40-915D-52B8-98ED82401803}"/>
              </a:ext>
            </a:extLst>
          </p:cNvPr>
          <p:cNvSpPr>
            <a:spLocks noGrp="1"/>
          </p:cNvSpPr>
          <p:nvPr>
            <p:ph type="title"/>
          </p:nvPr>
        </p:nvSpPr>
        <p:spPr>
          <a:xfrm>
            <a:off x="546100" y="200025"/>
            <a:ext cx="10515600" cy="1325563"/>
          </a:xfrm>
        </p:spPr>
        <p:txBody>
          <a:bodyPr/>
          <a:lstStyle/>
          <a:p>
            <a:r>
              <a:rPr lang="en-US" dirty="0"/>
              <a:t>CIPD Insights in Performance Management </a:t>
            </a:r>
          </a:p>
        </p:txBody>
      </p:sp>
      <p:sp>
        <p:nvSpPr>
          <p:cNvPr id="3" name="Content Placeholder 2">
            <a:extLst>
              <a:ext uri="{FF2B5EF4-FFF2-40B4-BE49-F238E27FC236}">
                <a16:creationId xmlns:a16="http://schemas.microsoft.com/office/drawing/2014/main" id="{EAF9D0BB-87C3-D7E4-A616-1CEDBBA2F5A7}"/>
              </a:ext>
            </a:extLst>
          </p:cNvPr>
          <p:cNvSpPr>
            <a:spLocks noGrp="1"/>
          </p:cNvSpPr>
          <p:nvPr>
            <p:ph idx="1"/>
          </p:nvPr>
        </p:nvSpPr>
        <p:spPr>
          <a:xfrm>
            <a:off x="1130300" y="2166257"/>
            <a:ext cx="9755414" cy="3548744"/>
          </a:xfrm>
        </p:spPr>
        <p:txBody>
          <a:bodyPr>
            <a:normAutofit/>
          </a:bodyPr>
          <a:lstStyle/>
          <a:p>
            <a:pPr marL="0" indent="0" algn="ctr">
              <a:lnSpc>
                <a:spcPct val="160000"/>
              </a:lnSpc>
              <a:buNone/>
            </a:pPr>
            <a:r>
              <a:rPr lang="en-US" sz="2400" dirty="0">
                <a:hlinkClick r:id="" action="ppaction://noaction"/>
              </a:rPr>
              <a:t>https://www.youtube.com/watch?v=PSfvZrLOtWE</a:t>
            </a:r>
            <a:endParaRPr lang="en-US" sz="2400" dirty="0"/>
          </a:p>
          <a:p>
            <a:pPr marL="0" indent="0">
              <a:lnSpc>
                <a:spcPct val="160000"/>
              </a:lnSpc>
              <a:buNone/>
            </a:pPr>
            <a:endParaRPr lang="en-US" sz="1600" dirty="0"/>
          </a:p>
        </p:txBody>
      </p:sp>
    </p:spTree>
    <p:extLst>
      <p:ext uri="{BB962C8B-B14F-4D97-AF65-F5344CB8AC3E}">
        <p14:creationId xmlns:p14="http://schemas.microsoft.com/office/powerpoint/2010/main" val="87813233"/>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useBgFill="1">
        <p:nvSpPr>
          <p:cNvPr id="10" name="Rectangle 9">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Rectangle 13">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Rectangle 15">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Rectangle 19">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10732D55-C107-478B-96D4-69338D59C221}"/>
              </a:ext>
            </a:extLst>
          </p:cNvPr>
          <p:cNvSpPr>
            <a:spLocks noGrp="1"/>
          </p:cNvSpPr>
          <p:nvPr>
            <p:ph type="title"/>
          </p:nvPr>
        </p:nvSpPr>
        <p:spPr>
          <a:xfrm>
            <a:off x="466722" y="586855"/>
            <a:ext cx="3201366" cy="3387497"/>
          </a:xfrm>
        </p:spPr>
        <p:txBody>
          <a:bodyPr anchor="b">
            <a:normAutofit/>
          </a:bodyPr>
          <a:lstStyle/>
          <a:p>
            <a:pPr algn="r"/>
            <a:r>
              <a:rPr lang="en-GB" sz="4000" dirty="0">
                <a:solidFill>
                  <a:srgbClr val="FFFFFF"/>
                </a:solidFill>
              </a:rPr>
              <a:t>Lecture Summary</a:t>
            </a:r>
          </a:p>
        </p:txBody>
      </p:sp>
      <p:sp>
        <p:nvSpPr>
          <p:cNvPr id="3" name="Text Placeholder 2">
            <a:extLst>
              <a:ext uri="{FF2B5EF4-FFF2-40B4-BE49-F238E27FC236}">
                <a16:creationId xmlns:a16="http://schemas.microsoft.com/office/drawing/2014/main" id="{7324DCA5-3174-42EC-87DA-47009083C0FA}"/>
              </a:ext>
            </a:extLst>
          </p:cNvPr>
          <p:cNvSpPr>
            <a:spLocks noGrp="1"/>
          </p:cNvSpPr>
          <p:nvPr>
            <p:ph idx="1"/>
          </p:nvPr>
        </p:nvSpPr>
        <p:spPr>
          <a:xfrm>
            <a:off x="4367695" y="649480"/>
            <a:ext cx="7544905" cy="5865620"/>
          </a:xfrm>
        </p:spPr>
        <p:txBody>
          <a:bodyPr anchor="ctr">
            <a:normAutofit lnSpcReduction="10000"/>
          </a:bodyPr>
          <a:lstStyle/>
          <a:p>
            <a:pPr>
              <a:lnSpc>
                <a:spcPct val="150000"/>
              </a:lnSpc>
            </a:pPr>
            <a:r>
              <a:rPr lang="en-GB" sz="1900" dirty="0"/>
              <a:t>In this lecture, we explored the concept of performance management, examining its core objectives and functions within organisations. </a:t>
            </a:r>
          </a:p>
          <a:p>
            <a:pPr>
              <a:lnSpc>
                <a:spcPct val="150000"/>
              </a:lnSpc>
            </a:pPr>
            <a:r>
              <a:rPr lang="en-GB" sz="1900" dirty="0"/>
              <a:t>We provided an overview of the performance management cycle, emphasizing the importance of each stage. </a:t>
            </a:r>
          </a:p>
          <a:p>
            <a:pPr>
              <a:lnSpc>
                <a:spcPct val="150000"/>
              </a:lnSpc>
            </a:pPr>
            <a:r>
              <a:rPr lang="en-GB" sz="1900" dirty="0"/>
              <a:t>We focused in depth on the role of performance appraisals and how they fit within the broader performance management framework. </a:t>
            </a:r>
          </a:p>
          <a:p>
            <a:pPr>
              <a:lnSpc>
                <a:spcPct val="150000"/>
              </a:lnSpc>
            </a:pPr>
            <a:r>
              <a:rPr lang="en-GB" sz="1900" dirty="0"/>
              <a:t>We explored frequent criticisms of performance appraisals, particularly how they can become politicized and fail to account for certain types of employee behaviours.</a:t>
            </a:r>
          </a:p>
          <a:p>
            <a:pPr>
              <a:lnSpc>
                <a:spcPct val="150000"/>
              </a:lnSpc>
            </a:pPr>
            <a:r>
              <a:rPr lang="en-GB" sz="1900" dirty="0"/>
              <a:t>Finally, we examined evolving approaches that move beyond the traditional appraisal methods, offering new perspectives on how performance can be effectively managed.</a:t>
            </a:r>
          </a:p>
        </p:txBody>
      </p:sp>
    </p:spTree>
    <p:extLst>
      <p:ext uri="{BB962C8B-B14F-4D97-AF65-F5344CB8AC3E}">
        <p14:creationId xmlns:p14="http://schemas.microsoft.com/office/powerpoint/2010/main" val="1182962788"/>
      </p:ext>
    </p:extLst>
  </p:cSld>
  <p:clrMapOvr>
    <a:masterClrMapping/>
  </p:clrMapOvr>
</p:sld>
</file>

<file path=ppt/theme/theme1.xml><?xml version="1.0" encoding="utf-8"?>
<a:theme xmlns:a="http://schemas.openxmlformats.org/drawingml/2006/main" name="Office Theme">
  <a:themeElements>
    <a:clrScheme name="Blue">
      <a:dk1>
        <a:sysClr val="windowText" lastClr="000000"/>
      </a:dk1>
      <a:lt1>
        <a:sysClr val="window" lastClr="FFFFFF"/>
      </a:lt1>
      <a:dk2>
        <a:srgbClr val="17406D"/>
      </a:dk2>
      <a:lt2>
        <a:srgbClr val="DBEF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97E0A228-C590-4D20-B05F-A6BF04A05448}"/>
    </a:ext>
  </a:ext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Office Theme</Template>
  <TotalTime>24752</TotalTime>
  <Words>5220</Words>
  <Application>Microsoft Office PowerPoint</Application>
  <PresentationFormat>Widescreen</PresentationFormat>
  <Paragraphs>419</Paragraphs>
  <Slides>67</Slides>
  <Notes>6</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67</vt:i4>
      </vt:variant>
    </vt:vector>
  </HeadingPairs>
  <TitlesOfParts>
    <vt:vector size="77" baseType="lpstr">
      <vt:lpstr>Gotham-Book</vt:lpstr>
      <vt:lpstr>Gotham-BookItalic</vt:lpstr>
      <vt:lpstr>MinionPro-Regular</vt:lpstr>
      <vt:lpstr>Aptos</vt:lpstr>
      <vt:lpstr>Aptos Display</vt:lpstr>
      <vt:lpstr>Arial</vt:lpstr>
      <vt:lpstr>Calibri</vt:lpstr>
      <vt:lpstr>Times New Roman</vt:lpstr>
      <vt:lpstr>Wingdings</vt:lpstr>
      <vt:lpstr>Office Theme</vt:lpstr>
      <vt:lpstr>Performance Management</vt:lpstr>
      <vt:lpstr>Learning Objectives</vt:lpstr>
      <vt:lpstr>Key reading</vt:lpstr>
      <vt:lpstr>What is the Value of Higher Education?</vt:lpstr>
      <vt:lpstr>The Performance Equation</vt:lpstr>
      <vt:lpstr>The 1% Strategy – Marginal Gains</vt:lpstr>
      <vt:lpstr>The Grow Model </vt:lpstr>
      <vt:lpstr>Productivity</vt:lpstr>
      <vt:lpstr>Productivity</vt:lpstr>
      <vt:lpstr>Productivity</vt:lpstr>
      <vt:lpstr>Gross Domestic Product</vt:lpstr>
      <vt:lpstr>US Declaration of Independence - 1776</vt:lpstr>
      <vt:lpstr>OECD: Wellbeing and Beyond GDP</vt:lpstr>
      <vt:lpstr>UK Happiness Levels</vt:lpstr>
      <vt:lpstr>World Happiness Report</vt:lpstr>
      <vt:lpstr>National Well-being Policies</vt:lpstr>
      <vt:lpstr>Bhutan’s Gross Ecosystem Product – Sept. 2026</vt:lpstr>
      <vt:lpstr>Understanding Performance Management</vt:lpstr>
      <vt:lpstr>Performance Management</vt:lpstr>
      <vt:lpstr>Performance Management Chain </vt:lpstr>
      <vt:lpstr>Factors Affecting the Performance Management Cycle</vt:lpstr>
      <vt:lpstr>Purpose of Performance Management</vt:lpstr>
      <vt:lpstr>‘Hard’ vs ‘Soft’ approaches to Performance Management</vt:lpstr>
      <vt:lpstr>Performance Management and Development Process</vt:lpstr>
      <vt:lpstr>Levels of Performance Management</vt:lpstr>
      <vt:lpstr>CIPD – Performance Management </vt:lpstr>
      <vt:lpstr>Categorizing Performance Management </vt:lpstr>
      <vt:lpstr>The Performance Management Cycle</vt:lpstr>
      <vt:lpstr>Defining Performance &amp; Planning</vt:lpstr>
      <vt:lpstr>Monitoring Performance</vt:lpstr>
      <vt:lpstr>The Performance Review</vt:lpstr>
      <vt:lpstr>What is a performance appraisal?</vt:lpstr>
      <vt:lpstr>Conducting Performance Appraisals: Methods &amp; Approaches</vt:lpstr>
      <vt:lpstr>9-Box Grid</vt:lpstr>
      <vt:lpstr>Stacked or Forced Ranking</vt:lpstr>
      <vt:lpstr>Stacked or Forced Ranking</vt:lpstr>
      <vt:lpstr>Behaviourally Anchored Rating Scales (BARS)</vt:lpstr>
      <vt:lpstr>Behaviour Observation Scales (BOS)</vt:lpstr>
      <vt:lpstr>Critiquing Traditional PA Methods</vt:lpstr>
      <vt:lpstr>More General Criticisms of Performance Appraisals </vt:lpstr>
      <vt:lpstr>The Politicalization of Performance Appraisal</vt:lpstr>
      <vt:lpstr>The Politicalization of Performance Appraisal</vt:lpstr>
      <vt:lpstr>Organisation Citizenship Behaviour (OCB)</vt:lpstr>
      <vt:lpstr>Who should rate performance?</vt:lpstr>
      <vt:lpstr>Who should rate performance?</vt:lpstr>
      <vt:lpstr>Alternative Appraisal Methods</vt:lpstr>
      <vt:lpstr>360- degree Feedback</vt:lpstr>
      <vt:lpstr>360-degree Feedback</vt:lpstr>
      <vt:lpstr>90, 180, 270, 360, 540, 720 degree feedback</vt:lpstr>
      <vt:lpstr>27 Questions About 360-degree Feedback</vt:lpstr>
      <vt:lpstr>Feedforward Appraisal  </vt:lpstr>
      <vt:lpstr>Customer Appraisal</vt:lpstr>
      <vt:lpstr>Team Appraisal</vt:lpstr>
      <vt:lpstr>Moving away from annual appraisals………</vt:lpstr>
      <vt:lpstr>New Year Resolutions</vt:lpstr>
      <vt:lpstr>Performance Management - developing trends……</vt:lpstr>
      <vt:lpstr>Continuous Performance Management</vt:lpstr>
      <vt:lpstr>Performance Management at Deloitte</vt:lpstr>
      <vt:lpstr>Performance Management at Deloitte</vt:lpstr>
      <vt:lpstr>Performance Management at Deloitte</vt:lpstr>
      <vt:lpstr>Performance Leadership</vt:lpstr>
      <vt:lpstr>Performance management by algorithm</vt:lpstr>
      <vt:lpstr>Individual Workplace Metrics</vt:lpstr>
      <vt:lpstr>Surveillance in the Workplace</vt:lpstr>
      <vt:lpstr>Uber fined after ‘robo-firing’</vt:lpstr>
      <vt:lpstr>CIPD Insights in Performance Management </vt:lpstr>
      <vt:lpstr>Lecture Summary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3. Recruitment and Selection</dc:title>
  <dc:creator>Carole Elliott</dc:creator>
  <cp:lastModifiedBy>John Wilson</cp:lastModifiedBy>
  <cp:revision>220</cp:revision>
  <dcterms:created xsi:type="dcterms:W3CDTF">2021-02-08T15:31:36Z</dcterms:created>
  <dcterms:modified xsi:type="dcterms:W3CDTF">2026-10-18T12:25:07Z</dcterms:modified>
</cp:coreProperties>
</file>