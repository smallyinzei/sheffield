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196" r:id="rId1"/>
  </p:sldMasterIdLst>
  <p:notesMasterIdLst>
    <p:notesMasterId r:id="rId43"/>
  </p:notesMasterIdLst>
  <p:sldIdLst>
    <p:sldId id="338" r:id="rId2"/>
    <p:sldId id="314" r:id="rId3"/>
    <p:sldId id="273" r:id="rId4"/>
    <p:sldId id="294" r:id="rId5"/>
    <p:sldId id="499" r:id="rId6"/>
    <p:sldId id="489" r:id="rId7"/>
    <p:sldId id="497" r:id="rId8"/>
    <p:sldId id="501" r:id="rId9"/>
    <p:sldId id="502" r:id="rId10"/>
    <p:sldId id="500" r:id="rId11"/>
    <p:sldId id="503" r:id="rId12"/>
    <p:sldId id="504" r:id="rId13"/>
    <p:sldId id="297" r:id="rId14"/>
    <p:sldId id="491" r:id="rId15"/>
    <p:sldId id="302" r:id="rId16"/>
    <p:sldId id="301" r:id="rId17"/>
    <p:sldId id="505" r:id="rId18"/>
    <p:sldId id="506" r:id="rId19"/>
    <p:sldId id="263" r:id="rId20"/>
    <p:sldId id="298" r:id="rId21"/>
    <p:sldId id="303" r:id="rId22"/>
    <p:sldId id="341" r:id="rId23"/>
    <p:sldId id="309" r:id="rId24"/>
    <p:sldId id="495" r:id="rId25"/>
    <p:sldId id="278" r:id="rId26"/>
    <p:sldId id="494" r:id="rId27"/>
    <p:sldId id="299" r:id="rId28"/>
    <p:sldId id="308" r:id="rId29"/>
    <p:sldId id="493" r:id="rId30"/>
    <p:sldId id="488" r:id="rId31"/>
    <p:sldId id="508" r:id="rId32"/>
    <p:sldId id="291" r:id="rId33"/>
    <p:sldId id="304" r:id="rId34"/>
    <p:sldId id="490" r:id="rId35"/>
    <p:sldId id="498" r:id="rId36"/>
    <p:sldId id="492" r:id="rId37"/>
    <p:sldId id="507" r:id="rId38"/>
    <p:sldId id="509" r:id="rId39"/>
    <p:sldId id="292" r:id="rId40"/>
    <p:sldId id="307" r:id="rId41"/>
    <p:sldId id="316" r:id="rId42"/>
  </p:sldIdLst>
  <p:sldSz cx="12192000" cy="68580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F71782A-EAB5-BD4F-B844-53D7843A5836}">
          <p14:sldIdLst>
            <p14:sldId id="338"/>
            <p14:sldId id="314"/>
            <p14:sldId id="273"/>
            <p14:sldId id="294"/>
            <p14:sldId id="499"/>
            <p14:sldId id="489"/>
            <p14:sldId id="497"/>
            <p14:sldId id="501"/>
            <p14:sldId id="502"/>
            <p14:sldId id="500"/>
            <p14:sldId id="503"/>
            <p14:sldId id="504"/>
            <p14:sldId id="297"/>
            <p14:sldId id="491"/>
            <p14:sldId id="302"/>
            <p14:sldId id="301"/>
            <p14:sldId id="505"/>
            <p14:sldId id="506"/>
            <p14:sldId id="263"/>
            <p14:sldId id="298"/>
            <p14:sldId id="303"/>
            <p14:sldId id="341"/>
            <p14:sldId id="309"/>
            <p14:sldId id="495"/>
            <p14:sldId id="278"/>
            <p14:sldId id="494"/>
            <p14:sldId id="299"/>
            <p14:sldId id="308"/>
            <p14:sldId id="493"/>
            <p14:sldId id="488"/>
            <p14:sldId id="508"/>
            <p14:sldId id="291"/>
            <p14:sldId id="304"/>
            <p14:sldId id="490"/>
            <p14:sldId id="498"/>
            <p14:sldId id="492"/>
            <p14:sldId id="507"/>
            <p14:sldId id="509"/>
            <p14:sldId id="292"/>
            <p14:sldId id="307"/>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1922B7-5B1D-4B4C-8D8B-0434D8701D13}">
  <a:tblStyle styleId="{A61922B7-5B1D-4B4C-8D8B-0434D8701D1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41F2A4-3312-473D-BDC1-C575FF68CF4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1"/>
    <p:restoredTop sz="93262"/>
  </p:normalViewPr>
  <p:slideViewPr>
    <p:cSldViewPr snapToGrid="0">
      <p:cViewPr varScale="1">
        <p:scale>
          <a:sx n="105" d="100"/>
          <a:sy n="105" d="100"/>
        </p:scale>
        <p:origin x="10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4.svg"/><Relationship Id="rId4" Type="http://schemas.openxmlformats.org/officeDocument/2006/relationships/image" Target="../media/image2.svg"/></Relationships>
</file>

<file path=ppt/diagrams/_rels/data8.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4" Type="http://schemas.openxmlformats.org/officeDocument/2006/relationships/image" Target="../media/image52.svg"/></Relationships>
</file>

<file path=ppt/diagrams/_rels/data10.xml.rels><?xml version="1.0" encoding="UTF-8" standalone="yes"?>
<Relationships xmlns="http://schemas.openxmlformats.org/package/2006/relationships"><Relationship Id="rId2" Type="http://schemas.openxmlformats.org/officeDocument/2006/relationships/image" Target="../media/image61.svg"/><Relationship Id="rId1" Type="http://schemas.openxmlformats.org/officeDocument/2006/relationships/image" Target="../media/image6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4.svg"/><Relationship Id="rId4" Type="http://schemas.openxmlformats.org/officeDocument/2006/relationships/image" Target="../media/image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4" Type="http://schemas.openxmlformats.org/officeDocument/2006/relationships/image" Target="../media/image52.svg"/></Relationships>
</file>

<file path=ppt/diagrams/_rels/drawing10.xml.rels><?xml version="1.0" encoding="UTF-8" standalone="yes"?>
<Relationships xmlns="http://schemas.openxmlformats.org/package/2006/relationships"><Relationship Id="rId2" Type="http://schemas.openxmlformats.org/officeDocument/2006/relationships/image" Target="../media/image61.svg"/><Relationship Id="rId1" Type="http://schemas.openxmlformats.org/officeDocument/2006/relationships/image" Target="../media/image6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6AA0F3-640C-4EE5-B2CA-EFBDD9E1985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FFD79FB-9909-4F3E-9311-6C696263E716}">
      <dgm:prSet/>
      <dgm:spPr/>
      <dgm:t>
        <a:bodyPr/>
        <a:lstStyle/>
        <a:p>
          <a:pPr>
            <a:lnSpc>
              <a:spcPct val="100000"/>
            </a:lnSpc>
          </a:pPr>
          <a:r>
            <a:rPr lang="en-GB"/>
            <a:t>Motivation is the driving force behind why employees choose to engage in tasks, how much effort they put into their work, and how long they sustain that effort.</a:t>
          </a:r>
          <a:endParaRPr lang="en-US"/>
        </a:p>
      </dgm:t>
    </dgm:pt>
    <dgm:pt modelId="{D1635E57-A8D5-4A9D-B525-0D6821ECCF69}" type="parTrans" cxnId="{B87D9D7E-52F3-4439-82D6-706D47B926A4}">
      <dgm:prSet/>
      <dgm:spPr/>
      <dgm:t>
        <a:bodyPr/>
        <a:lstStyle/>
        <a:p>
          <a:endParaRPr lang="en-US"/>
        </a:p>
      </dgm:t>
    </dgm:pt>
    <dgm:pt modelId="{82E433D9-79DD-419E-A067-99781DE5A998}" type="sibTrans" cxnId="{B87D9D7E-52F3-4439-82D6-706D47B926A4}">
      <dgm:prSet/>
      <dgm:spPr/>
      <dgm:t>
        <a:bodyPr/>
        <a:lstStyle/>
        <a:p>
          <a:endParaRPr lang="en-US"/>
        </a:p>
      </dgm:t>
    </dgm:pt>
    <dgm:pt modelId="{67D1C08C-17BB-4E5A-ADA0-B32014B73C36}">
      <dgm:prSet/>
      <dgm:spPr/>
      <dgm:t>
        <a:bodyPr/>
        <a:lstStyle/>
        <a:p>
          <a:pPr>
            <a:lnSpc>
              <a:spcPct val="100000"/>
            </a:lnSpc>
          </a:pPr>
          <a:r>
            <a:rPr lang="en-GB"/>
            <a:t>According to Locke and Latham (2004), motivation stems from:</a:t>
          </a:r>
          <a:endParaRPr lang="en-US"/>
        </a:p>
      </dgm:t>
    </dgm:pt>
    <dgm:pt modelId="{9FCF1D4A-3215-4F2A-B6D6-43A2B5CF1FD5}" type="parTrans" cxnId="{26C9E3DD-D502-48D7-AB8D-0981FA4AFDA1}">
      <dgm:prSet/>
      <dgm:spPr/>
      <dgm:t>
        <a:bodyPr/>
        <a:lstStyle/>
        <a:p>
          <a:endParaRPr lang="en-US"/>
        </a:p>
      </dgm:t>
    </dgm:pt>
    <dgm:pt modelId="{89000EDA-0225-464E-84D7-A9171C83DAAD}" type="sibTrans" cxnId="{26C9E3DD-D502-48D7-AB8D-0981FA4AFDA1}">
      <dgm:prSet/>
      <dgm:spPr/>
      <dgm:t>
        <a:bodyPr/>
        <a:lstStyle/>
        <a:p>
          <a:endParaRPr lang="en-US"/>
        </a:p>
      </dgm:t>
    </dgm:pt>
    <dgm:pt modelId="{4958415D-AEC1-41A9-BA6D-178EF5306014}">
      <dgm:prSet/>
      <dgm:spPr/>
      <dgm:t>
        <a:bodyPr/>
        <a:lstStyle/>
        <a:p>
          <a:pPr>
            <a:lnSpc>
              <a:spcPct val="100000"/>
            </a:lnSpc>
          </a:pPr>
          <a:r>
            <a:rPr lang="en-GB"/>
            <a:t>Internal factors that </a:t>
          </a:r>
          <a:r>
            <a:rPr lang="en-GB" b="1"/>
            <a:t>impel</a:t>
          </a:r>
          <a:r>
            <a:rPr lang="en-GB"/>
            <a:t> individuals to act.</a:t>
          </a:r>
          <a:endParaRPr lang="en-US"/>
        </a:p>
      </dgm:t>
    </dgm:pt>
    <dgm:pt modelId="{2F4DC61D-A4BF-4739-A186-94BBE551E799}" type="parTrans" cxnId="{7991EB4C-4DB2-4B90-972B-8F182445199C}">
      <dgm:prSet/>
      <dgm:spPr/>
      <dgm:t>
        <a:bodyPr/>
        <a:lstStyle/>
        <a:p>
          <a:endParaRPr lang="en-US"/>
        </a:p>
      </dgm:t>
    </dgm:pt>
    <dgm:pt modelId="{E266CC12-D6F1-4834-9EB9-733567FC4604}" type="sibTrans" cxnId="{7991EB4C-4DB2-4B90-972B-8F182445199C}">
      <dgm:prSet/>
      <dgm:spPr/>
      <dgm:t>
        <a:bodyPr/>
        <a:lstStyle/>
        <a:p>
          <a:endParaRPr lang="en-US"/>
        </a:p>
      </dgm:t>
    </dgm:pt>
    <dgm:pt modelId="{7BE63949-B445-466F-87E2-DFD8D42EF4C6}">
      <dgm:prSet/>
      <dgm:spPr/>
      <dgm:t>
        <a:bodyPr/>
        <a:lstStyle/>
        <a:p>
          <a:pPr>
            <a:lnSpc>
              <a:spcPct val="100000"/>
            </a:lnSpc>
          </a:pPr>
          <a:r>
            <a:rPr lang="en-GB"/>
            <a:t>External factors that provide </a:t>
          </a:r>
          <a:r>
            <a:rPr lang="en-GB" b="1"/>
            <a:t>incentives</a:t>
          </a:r>
          <a:r>
            <a:rPr lang="en-GB"/>
            <a:t> to take action.</a:t>
          </a:r>
          <a:endParaRPr lang="en-US"/>
        </a:p>
      </dgm:t>
    </dgm:pt>
    <dgm:pt modelId="{92FF9C8F-7B5B-46F4-8971-41CB80447D65}" type="parTrans" cxnId="{6D11ACA5-850E-4D9C-AA71-2403B2E839BB}">
      <dgm:prSet/>
      <dgm:spPr/>
      <dgm:t>
        <a:bodyPr/>
        <a:lstStyle/>
        <a:p>
          <a:endParaRPr lang="en-US"/>
        </a:p>
      </dgm:t>
    </dgm:pt>
    <dgm:pt modelId="{E837AEBE-B5D9-4868-8BD2-1D05DE4DCFA8}" type="sibTrans" cxnId="{6D11ACA5-850E-4D9C-AA71-2403B2E839BB}">
      <dgm:prSet/>
      <dgm:spPr/>
      <dgm:t>
        <a:bodyPr/>
        <a:lstStyle/>
        <a:p>
          <a:endParaRPr lang="en-US"/>
        </a:p>
      </dgm:t>
    </dgm:pt>
    <dgm:pt modelId="{0A45CC8F-AFB9-466A-A353-E6DCCF77292D}">
      <dgm:prSet/>
      <dgm:spPr/>
      <dgm:t>
        <a:bodyPr/>
        <a:lstStyle/>
        <a:p>
          <a:pPr>
            <a:lnSpc>
              <a:spcPct val="100000"/>
            </a:lnSpc>
          </a:pPr>
          <a:r>
            <a:rPr lang="en-GB"/>
            <a:t>Motivation can be broken down into three key elements:</a:t>
          </a:r>
          <a:endParaRPr lang="en-US"/>
        </a:p>
      </dgm:t>
    </dgm:pt>
    <dgm:pt modelId="{6C6D4EDC-0992-4669-AB02-D7649DE075B8}" type="parTrans" cxnId="{C4FE7F53-2FE7-454E-80A9-7B1DF21D6BE6}">
      <dgm:prSet/>
      <dgm:spPr/>
      <dgm:t>
        <a:bodyPr/>
        <a:lstStyle/>
        <a:p>
          <a:endParaRPr lang="en-US"/>
        </a:p>
      </dgm:t>
    </dgm:pt>
    <dgm:pt modelId="{0662897E-83BC-485A-B046-7B3A0CD0ADCB}" type="sibTrans" cxnId="{C4FE7F53-2FE7-454E-80A9-7B1DF21D6BE6}">
      <dgm:prSet/>
      <dgm:spPr/>
      <dgm:t>
        <a:bodyPr/>
        <a:lstStyle/>
        <a:p>
          <a:endParaRPr lang="en-US"/>
        </a:p>
      </dgm:t>
    </dgm:pt>
    <dgm:pt modelId="{16B44743-FFF8-4662-847D-D28BB7339554}">
      <dgm:prSet/>
      <dgm:spPr/>
      <dgm:t>
        <a:bodyPr/>
        <a:lstStyle/>
        <a:p>
          <a:pPr>
            <a:lnSpc>
              <a:spcPct val="100000"/>
            </a:lnSpc>
          </a:pPr>
          <a:r>
            <a:rPr lang="en-GB" b="1"/>
            <a:t>Direction</a:t>
          </a:r>
          <a:r>
            <a:rPr lang="en-GB"/>
            <a:t>: What an employee chooses to focus on (the goal or task).</a:t>
          </a:r>
          <a:endParaRPr lang="en-US"/>
        </a:p>
      </dgm:t>
    </dgm:pt>
    <dgm:pt modelId="{34E71D7F-8F63-47BB-A2DC-EC3684218CEC}" type="parTrans" cxnId="{46206B70-B3A4-484A-9384-E1A2C85F28AC}">
      <dgm:prSet/>
      <dgm:spPr/>
      <dgm:t>
        <a:bodyPr/>
        <a:lstStyle/>
        <a:p>
          <a:endParaRPr lang="en-US"/>
        </a:p>
      </dgm:t>
    </dgm:pt>
    <dgm:pt modelId="{F70082BF-9DE0-4D02-915D-037C17B5035F}" type="sibTrans" cxnId="{46206B70-B3A4-484A-9384-E1A2C85F28AC}">
      <dgm:prSet/>
      <dgm:spPr/>
      <dgm:t>
        <a:bodyPr/>
        <a:lstStyle/>
        <a:p>
          <a:endParaRPr lang="en-US"/>
        </a:p>
      </dgm:t>
    </dgm:pt>
    <dgm:pt modelId="{E87714FB-6AB0-408C-AF22-75BDB84725B3}">
      <dgm:prSet/>
      <dgm:spPr/>
      <dgm:t>
        <a:bodyPr/>
        <a:lstStyle/>
        <a:p>
          <a:pPr>
            <a:lnSpc>
              <a:spcPct val="100000"/>
            </a:lnSpc>
          </a:pPr>
          <a:r>
            <a:rPr lang="en-GB" b="1"/>
            <a:t>Effort</a:t>
          </a:r>
          <a:r>
            <a:rPr lang="en-GB"/>
            <a:t>: The intensity of energy they invest in their work.</a:t>
          </a:r>
          <a:endParaRPr lang="en-US"/>
        </a:p>
      </dgm:t>
    </dgm:pt>
    <dgm:pt modelId="{FFC76D30-ABAD-4D48-8293-6CCB6B092191}" type="parTrans" cxnId="{AE3EB46F-7EED-4B56-918A-82364AE002ED}">
      <dgm:prSet/>
      <dgm:spPr/>
      <dgm:t>
        <a:bodyPr/>
        <a:lstStyle/>
        <a:p>
          <a:endParaRPr lang="en-US"/>
        </a:p>
      </dgm:t>
    </dgm:pt>
    <dgm:pt modelId="{C93F187C-D761-4821-9CCB-C8367A3CD5BF}" type="sibTrans" cxnId="{AE3EB46F-7EED-4B56-918A-82364AE002ED}">
      <dgm:prSet/>
      <dgm:spPr/>
      <dgm:t>
        <a:bodyPr/>
        <a:lstStyle/>
        <a:p>
          <a:endParaRPr lang="en-US"/>
        </a:p>
      </dgm:t>
    </dgm:pt>
    <dgm:pt modelId="{57886276-F8CF-46B0-A972-160FA34DBB99}">
      <dgm:prSet/>
      <dgm:spPr/>
      <dgm:t>
        <a:bodyPr/>
        <a:lstStyle/>
        <a:p>
          <a:pPr>
            <a:lnSpc>
              <a:spcPct val="100000"/>
            </a:lnSpc>
          </a:pPr>
          <a:r>
            <a:rPr lang="en-GB" b="1"/>
            <a:t>Persistence</a:t>
          </a:r>
          <a:r>
            <a:rPr lang="en-GB"/>
            <a:t>: The length of time they maintain this effort toward their goal.</a:t>
          </a:r>
          <a:endParaRPr lang="en-US"/>
        </a:p>
      </dgm:t>
    </dgm:pt>
    <dgm:pt modelId="{3C7F30F8-6FE2-4BC6-BC9C-0BD820059E32}" type="parTrans" cxnId="{485D6B2B-E60F-4B8E-81AC-01F38F5A700F}">
      <dgm:prSet/>
      <dgm:spPr/>
      <dgm:t>
        <a:bodyPr/>
        <a:lstStyle/>
        <a:p>
          <a:endParaRPr lang="en-US"/>
        </a:p>
      </dgm:t>
    </dgm:pt>
    <dgm:pt modelId="{C647EDCA-1B27-4114-A06D-390751A42093}" type="sibTrans" cxnId="{485D6B2B-E60F-4B8E-81AC-01F38F5A700F}">
      <dgm:prSet/>
      <dgm:spPr/>
      <dgm:t>
        <a:bodyPr/>
        <a:lstStyle/>
        <a:p>
          <a:endParaRPr lang="en-US"/>
        </a:p>
      </dgm:t>
    </dgm:pt>
    <dgm:pt modelId="{393B0853-FBC1-4BB4-9CBC-4989EFCB9F39}" type="pres">
      <dgm:prSet presAssocID="{856AA0F3-640C-4EE5-B2CA-EFBDD9E1985D}" presName="root" presStyleCnt="0">
        <dgm:presLayoutVars>
          <dgm:dir/>
          <dgm:resizeHandles val="exact"/>
        </dgm:presLayoutVars>
      </dgm:prSet>
      <dgm:spPr/>
    </dgm:pt>
    <dgm:pt modelId="{F8CB2659-D46A-43EA-839F-EBF2B394B8F2}" type="pres">
      <dgm:prSet presAssocID="{4FFD79FB-9909-4F3E-9311-6C696263E716}" presName="compNode" presStyleCnt="0"/>
      <dgm:spPr/>
    </dgm:pt>
    <dgm:pt modelId="{12664BB6-821D-4D94-9876-6F9FCC67980E}" type="pres">
      <dgm:prSet presAssocID="{4FFD79FB-9909-4F3E-9311-6C696263E716}" presName="bgRect" presStyleLbl="bgShp" presStyleIdx="0" presStyleCnt="3"/>
      <dgm:spPr/>
    </dgm:pt>
    <dgm:pt modelId="{2C192BA9-4B99-41DE-8144-7C37BCF0E468}" type="pres">
      <dgm:prSet presAssocID="{4FFD79FB-9909-4F3E-9311-6C696263E71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d with Gears"/>
        </a:ext>
      </dgm:extLst>
    </dgm:pt>
    <dgm:pt modelId="{8C3447BE-63E2-4467-B864-7197B66B047E}" type="pres">
      <dgm:prSet presAssocID="{4FFD79FB-9909-4F3E-9311-6C696263E716}" presName="spaceRect" presStyleCnt="0"/>
      <dgm:spPr/>
    </dgm:pt>
    <dgm:pt modelId="{CB1461E0-B1E7-42A3-92ED-5328389AC4C1}" type="pres">
      <dgm:prSet presAssocID="{4FFD79FB-9909-4F3E-9311-6C696263E716}" presName="parTx" presStyleLbl="revTx" presStyleIdx="0" presStyleCnt="5">
        <dgm:presLayoutVars>
          <dgm:chMax val="0"/>
          <dgm:chPref val="0"/>
        </dgm:presLayoutVars>
      </dgm:prSet>
      <dgm:spPr/>
    </dgm:pt>
    <dgm:pt modelId="{6EBB59FC-7F28-459D-8BE7-79A0536E536E}" type="pres">
      <dgm:prSet presAssocID="{82E433D9-79DD-419E-A067-99781DE5A998}" presName="sibTrans" presStyleCnt="0"/>
      <dgm:spPr/>
    </dgm:pt>
    <dgm:pt modelId="{DCE3DB4D-B260-4B6A-90F5-AC429E30B212}" type="pres">
      <dgm:prSet presAssocID="{67D1C08C-17BB-4E5A-ADA0-B32014B73C36}" presName="compNode" presStyleCnt="0"/>
      <dgm:spPr/>
    </dgm:pt>
    <dgm:pt modelId="{0303F5FD-E377-45AD-856E-3F5FDED9BA02}" type="pres">
      <dgm:prSet presAssocID="{67D1C08C-17BB-4E5A-ADA0-B32014B73C36}" presName="bgRect" presStyleLbl="bgShp" presStyleIdx="1" presStyleCnt="3"/>
      <dgm:spPr/>
    </dgm:pt>
    <dgm:pt modelId="{10999FD8-F597-485E-AB2D-4F9A29DBEDDB}" type="pres">
      <dgm:prSet presAssocID="{67D1C08C-17BB-4E5A-ADA0-B32014B73C3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nections"/>
        </a:ext>
      </dgm:extLst>
    </dgm:pt>
    <dgm:pt modelId="{74AE3ACD-1A0C-4697-A0B1-A6C2DDB5166B}" type="pres">
      <dgm:prSet presAssocID="{67D1C08C-17BB-4E5A-ADA0-B32014B73C36}" presName="spaceRect" presStyleCnt="0"/>
      <dgm:spPr/>
    </dgm:pt>
    <dgm:pt modelId="{A65762CA-D9B8-4E94-B1BD-148EB0DAD005}" type="pres">
      <dgm:prSet presAssocID="{67D1C08C-17BB-4E5A-ADA0-B32014B73C36}" presName="parTx" presStyleLbl="revTx" presStyleIdx="1" presStyleCnt="5">
        <dgm:presLayoutVars>
          <dgm:chMax val="0"/>
          <dgm:chPref val="0"/>
        </dgm:presLayoutVars>
      </dgm:prSet>
      <dgm:spPr/>
    </dgm:pt>
    <dgm:pt modelId="{A0B8B87A-D79A-41F9-8E56-960BF5E850AB}" type="pres">
      <dgm:prSet presAssocID="{67D1C08C-17BB-4E5A-ADA0-B32014B73C36}" presName="desTx" presStyleLbl="revTx" presStyleIdx="2" presStyleCnt="5">
        <dgm:presLayoutVars/>
      </dgm:prSet>
      <dgm:spPr/>
    </dgm:pt>
    <dgm:pt modelId="{678D3199-7643-41C9-BB34-B68CB264C36E}" type="pres">
      <dgm:prSet presAssocID="{89000EDA-0225-464E-84D7-A9171C83DAAD}" presName="sibTrans" presStyleCnt="0"/>
      <dgm:spPr/>
    </dgm:pt>
    <dgm:pt modelId="{AAAA01B5-0D30-44CD-B8CF-EA49D2962A72}" type="pres">
      <dgm:prSet presAssocID="{0A45CC8F-AFB9-466A-A353-E6DCCF77292D}" presName="compNode" presStyleCnt="0"/>
      <dgm:spPr/>
    </dgm:pt>
    <dgm:pt modelId="{2D68D7B9-C215-44B7-BB1D-39F531464D79}" type="pres">
      <dgm:prSet presAssocID="{0A45CC8F-AFB9-466A-A353-E6DCCF77292D}" presName="bgRect" presStyleLbl="bgShp" presStyleIdx="2" presStyleCnt="3"/>
      <dgm:spPr/>
    </dgm:pt>
    <dgm:pt modelId="{E1903295-D021-4DF6-9F6B-29CD8031A45C}" type="pres">
      <dgm:prSet presAssocID="{0A45CC8F-AFB9-466A-A353-E6DCCF77292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llseye"/>
        </a:ext>
      </dgm:extLst>
    </dgm:pt>
    <dgm:pt modelId="{079FEB19-8A7D-4E3F-957E-3B0901D0C2B9}" type="pres">
      <dgm:prSet presAssocID="{0A45CC8F-AFB9-466A-A353-E6DCCF77292D}" presName="spaceRect" presStyleCnt="0"/>
      <dgm:spPr/>
    </dgm:pt>
    <dgm:pt modelId="{A0F47B28-1F53-4070-912A-7A9219D68125}" type="pres">
      <dgm:prSet presAssocID="{0A45CC8F-AFB9-466A-A353-E6DCCF77292D}" presName="parTx" presStyleLbl="revTx" presStyleIdx="3" presStyleCnt="5">
        <dgm:presLayoutVars>
          <dgm:chMax val="0"/>
          <dgm:chPref val="0"/>
        </dgm:presLayoutVars>
      </dgm:prSet>
      <dgm:spPr/>
    </dgm:pt>
    <dgm:pt modelId="{ED50D39D-7761-4BCF-A37C-27ED0EAB1D2F}" type="pres">
      <dgm:prSet presAssocID="{0A45CC8F-AFB9-466A-A353-E6DCCF77292D}" presName="desTx" presStyleLbl="revTx" presStyleIdx="4" presStyleCnt="5">
        <dgm:presLayoutVars/>
      </dgm:prSet>
      <dgm:spPr/>
    </dgm:pt>
  </dgm:ptLst>
  <dgm:cxnLst>
    <dgm:cxn modelId="{2CA1252B-0E83-4013-BD0A-D94A27D0012B}" type="presOf" srcId="{4958415D-AEC1-41A9-BA6D-178EF5306014}" destId="{A0B8B87A-D79A-41F9-8E56-960BF5E850AB}" srcOrd="0" destOrd="0" presId="urn:microsoft.com/office/officeart/2018/2/layout/IconVerticalSolidList"/>
    <dgm:cxn modelId="{485D6B2B-E60F-4B8E-81AC-01F38F5A700F}" srcId="{0A45CC8F-AFB9-466A-A353-E6DCCF77292D}" destId="{57886276-F8CF-46B0-A972-160FA34DBB99}" srcOrd="2" destOrd="0" parTransId="{3C7F30F8-6FE2-4BC6-BC9C-0BD820059E32}" sibTransId="{C647EDCA-1B27-4114-A06D-390751A42093}"/>
    <dgm:cxn modelId="{ED498233-87C9-43FE-907E-E97137ABC300}" type="presOf" srcId="{16B44743-FFF8-4662-847D-D28BB7339554}" destId="{ED50D39D-7761-4BCF-A37C-27ED0EAB1D2F}" srcOrd="0" destOrd="0" presId="urn:microsoft.com/office/officeart/2018/2/layout/IconVerticalSolidList"/>
    <dgm:cxn modelId="{8A8ED234-1AE2-48D3-950F-45798027B1B2}" type="presOf" srcId="{7BE63949-B445-466F-87E2-DFD8D42EF4C6}" destId="{A0B8B87A-D79A-41F9-8E56-960BF5E850AB}" srcOrd="0" destOrd="1" presId="urn:microsoft.com/office/officeart/2018/2/layout/IconVerticalSolidList"/>
    <dgm:cxn modelId="{798F4344-1723-4476-AF87-A4F89C5A50E0}" type="presOf" srcId="{E87714FB-6AB0-408C-AF22-75BDB84725B3}" destId="{ED50D39D-7761-4BCF-A37C-27ED0EAB1D2F}" srcOrd="0" destOrd="1" presId="urn:microsoft.com/office/officeart/2018/2/layout/IconVerticalSolidList"/>
    <dgm:cxn modelId="{7991EB4C-4DB2-4B90-972B-8F182445199C}" srcId="{67D1C08C-17BB-4E5A-ADA0-B32014B73C36}" destId="{4958415D-AEC1-41A9-BA6D-178EF5306014}" srcOrd="0" destOrd="0" parTransId="{2F4DC61D-A4BF-4739-A186-94BBE551E799}" sibTransId="{E266CC12-D6F1-4834-9EB9-733567FC4604}"/>
    <dgm:cxn modelId="{C4FE7F53-2FE7-454E-80A9-7B1DF21D6BE6}" srcId="{856AA0F3-640C-4EE5-B2CA-EFBDD9E1985D}" destId="{0A45CC8F-AFB9-466A-A353-E6DCCF77292D}" srcOrd="2" destOrd="0" parTransId="{6C6D4EDC-0992-4669-AB02-D7649DE075B8}" sibTransId="{0662897E-83BC-485A-B046-7B3A0CD0ADCB}"/>
    <dgm:cxn modelId="{AE3EB46F-7EED-4B56-918A-82364AE002ED}" srcId="{0A45CC8F-AFB9-466A-A353-E6DCCF77292D}" destId="{E87714FB-6AB0-408C-AF22-75BDB84725B3}" srcOrd="1" destOrd="0" parTransId="{FFC76D30-ABAD-4D48-8293-6CCB6B092191}" sibTransId="{C93F187C-D761-4821-9CCB-C8367A3CD5BF}"/>
    <dgm:cxn modelId="{46206B70-B3A4-484A-9384-E1A2C85F28AC}" srcId="{0A45CC8F-AFB9-466A-A353-E6DCCF77292D}" destId="{16B44743-FFF8-4662-847D-D28BB7339554}" srcOrd="0" destOrd="0" parTransId="{34E71D7F-8F63-47BB-A2DC-EC3684218CEC}" sibTransId="{F70082BF-9DE0-4D02-915D-037C17B5035F}"/>
    <dgm:cxn modelId="{B87D9D7E-52F3-4439-82D6-706D47B926A4}" srcId="{856AA0F3-640C-4EE5-B2CA-EFBDD9E1985D}" destId="{4FFD79FB-9909-4F3E-9311-6C696263E716}" srcOrd="0" destOrd="0" parTransId="{D1635E57-A8D5-4A9D-B525-0D6821ECCF69}" sibTransId="{82E433D9-79DD-419E-A067-99781DE5A998}"/>
    <dgm:cxn modelId="{7CE1868E-64D4-4410-B57C-CE8767382BDA}" type="presOf" srcId="{57886276-F8CF-46B0-A972-160FA34DBB99}" destId="{ED50D39D-7761-4BCF-A37C-27ED0EAB1D2F}" srcOrd="0" destOrd="2" presId="urn:microsoft.com/office/officeart/2018/2/layout/IconVerticalSolidList"/>
    <dgm:cxn modelId="{42CE90A3-1981-482F-83D8-AEF8A1FE7FF6}" type="presOf" srcId="{856AA0F3-640C-4EE5-B2CA-EFBDD9E1985D}" destId="{393B0853-FBC1-4BB4-9CBC-4989EFCB9F39}" srcOrd="0" destOrd="0" presId="urn:microsoft.com/office/officeart/2018/2/layout/IconVerticalSolidList"/>
    <dgm:cxn modelId="{6D11ACA5-850E-4D9C-AA71-2403B2E839BB}" srcId="{67D1C08C-17BB-4E5A-ADA0-B32014B73C36}" destId="{7BE63949-B445-466F-87E2-DFD8D42EF4C6}" srcOrd="1" destOrd="0" parTransId="{92FF9C8F-7B5B-46F4-8971-41CB80447D65}" sibTransId="{E837AEBE-B5D9-4868-8BD2-1D05DE4DCFA8}"/>
    <dgm:cxn modelId="{8914E0A7-F725-41C7-8B79-A56D35BC0F71}" type="presOf" srcId="{0A45CC8F-AFB9-466A-A353-E6DCCF77292D}" destId="{A0F47B28-1F53-4070-912A-7A9219D68125}" srcOrd="0" destOrd="0" presId="urn:microsoft.com/office/officeart/2018/2/layout/IconVerticalSolidList"/>
    <dgm:cxn modelId="{644361BA-FF86-4425-87ED-BE0624009EF9}" type="presOf" srcId="{4FFD79FB-9909-4F3E-9311-6C696263E716}" destId="{CB1461E0-B1E7-42A3-92ED-5328389AC4C1}" srcOrd="0" destOrd="0" presId="urn:microsoft.com/office/officeart/2018/2/layout/IconVerticalSolidList"/>
    <dgm:cxn modelId="{26C9E3DD-D502-48D7-AB8D-0981FA4AFDA1}" srcId="{856AA0F3-640C-4EE5-B2CA-EFBDD9E1985D}" destId="{67D1C08C-17BB-4E5A-ADA0-B32014B73C36}" srcOrd="1" destOrd="0" parTransId="{9FCF1D4A-3215-4F2A-B6D6-43A2B5CF1FD5}" sibTransId="{89000EDA-0225-464E-84D7-A9171C83DAAD}"/>
    <dgm:cxn modelId="{DD00F5E5-9EC1-4686-A0B5-A4D26ED255AB}" type="presOf" srcId="{67D1C08C-17BB-4E5A-ADA0-B32014B73C36}" destId="{A65762CA-D9B8-4E94-B1BD-148EB0DAD005}" srcOrd="0" destOrd="0" presId="urn:microsoft.com/office/officeart/2018/2/layout/IconVerticalSolidList"/>
    <dgm:cxn modelId="{831C1836-5980-423E-A7E2-58369A312225}" type="presParOf" srcId="{393B0853-FBC1-4BB4-9CBC-4989EFCB9F39}" destId="{F8CB2659-D46A-43EA-839F-EBF2B394B8F2}" srcOrd="0" destOrd="0" presId="urn:microsoft.com/office/officeart/2018/2/layout/IconVerticalSolidList"/>
    <dgm:cxn modelId="{98133526-FC05-4684-A840-5233B61C8352}" type="presParOf" srcId="{F8CB2659-D46A-43EA-839F-EBF2B394B8F2}" destId="{12664BB6-821D-4D94-9876-6F9FCC67980E}" srcOrd="0" destOrd="0" presId="urn:microsoft.com/office/officeart/2018/2/layout/IconVerticalSolidList"/>
    <dgm:cxn modelId="{F10C3CCD-DAA9-4494-A85F-511F84AB1C26}" type="presParOf" srcId="{F8CB2659-D46A-43EA-839F-EBF2B394B8F2}" destId="{2C192BA9-4B99-41DE-8144-7C37BCF0E468}" srcOrd="1" destOrd="0" presId="urn:microsoft.com/office/officeart/2018/2/layout/IconVerticalSolidList"/>
    <dgm:cxn modelId="{DDCFA5E7-3C96-4F34-85B1-77C3636D3929}" type="presParOf" srcId="{F8CB2659-D46A-43EA-839F-EBF2B394B8F2}" destId="{8C3447BE-63E2-4467-B864-7197B66B047E}" srcOrd="2" destOrd="0" presId="urn:microsoft.com/office/officeart/2018/2/layout/IconVerticalSolidList"/>
    <dgm:cxn modelId="{6636AC28-5BCF-4A62-9C19-BB0BBCF718C3}" type="presParOf" srcId="{F8CB2659-D46A-43EA-839F-EBF2B394B8F2}" destId="{CB1461E0-B1E7-42A3-92ED-5328389AC4C1}" srcOrd="3" destOrd="0" presId="urn:microsoft.com/office/officeart/2018/2/layout/IconVerticalSolidList"/>
    <dgm:cxn modelId="{2208F1B3-333E-45B2-AA1F-342F9B3493A8}" type="presParOf" srcId="{393B0853-FBC1-4BB4-9CBC-4989EFCB9F39}" destId="{6EBB59FC-7F28-459D-8BE7-79A0536E536E}" srcOrd="1" destOrd="0" presId="urn:microsoft.com/office/officeart/2018/2/layout/IconVerticalSolidList"/>
    <dgm:cxn modelId="{FAA0139D-1341-4061-84CB-1D1E4F5DE0BF}" type="presParOf" srcId="{393B0853-FBC1-4BB4-9CBC-4989EFCB9F39}" destId="{DCE3DB4D-B260-4B6A-90F5-AC429E30B212}" srcOrd="2" destOrd="0" presId="urn:microsoft.com/office/officeart/2018/2/layout/IconVerticalSolidList"/>
    <dgm:cxn modelId="{0027C2CE-761E-4846-8B27-0A5A97F68E4F}" type="presParOf" srcId="{DCE3DB4D-B260-4B6A-90F5-AC429E30B212}" destId="{0303F5FD-E377-45AD-856E-3F5FDED9BA02}" srcOrd="0" destOrd="0" presId="urn:microsoft.com/office/officeart/2018/2/layout/IconVerticalSolidList"/>
    <dgm:cxn modelId="{0371F4B1-D8ED-478C-AFFC-2D71E5F6097D}" type="presParOf" srcId="{DCE3DB4D-B260-4B6A-90F5-AC429E30B212}" destId="{10999FD8-F597-485E-AB2D-4F9A29DBEDDB}" srcOrd="1" destOrd="0" presId="urn:microsoft.com/office/officeart/2018/2/layout/IconVerticalSolidList"/>
    <dgm:cxn modelId="{9FEF2257-87AD-469F-93C3-A9BA25A3355F}" type="presParOf" srcId="{DCE3DB4D-B260-4B6A-90F5-AC429E30B212}" destId="{74AE3ACD-1A0C-4697-A0B1-A6C2DDB5166B}" srcOrd="2" destOrd="0" presId="urn:microsoft.com/office/officeart/2018/2/layout/IconVerticalSolidList"/>
    <dgm:cxn modelId="{1B748A58-9469-4C79-9E91-0401A057BC77}" type="presParOf" srcId="{DCE3DB4D-B260-4B6A-90F5-AC429E30B212}" destId="{A65762CA-D9B8-4E94-B1BD-148EB0DAD005}" srcOrd="3" destOrd="0" presId="urn:microsoft.com/office/officeart/2018/2/layout/IconVerticalSolidList"/>
    <dgm:cxn modelId="{3DA8B338-D1AE-4414-BC6B-D049A97357E0}" type="presParOf" srcId="{DCE3DB4D-B260-4B6A-90F5-AC429E30B212}" destId="{A0B8B87A-D79A-41F9-8E56-960BF5E850AB}" srcOrd="4" destOrd="0" presId="urn:microsoft.com/office/officeart/2018/2/layout/IconVerticalSolidList"/>
    <dgm:cxn modelId="{E4A686A8-4DBE-4CAA-8353-93F803EFC122}" type="presParOf" srcId="{393B0853-FBC1-4BB4-9CBC-4989EFCB9F39}" destId="{678D3199-7643-41C9-BB34-B68CB264C36E}" srcOrd="3" destOrd="0" presId="urn:microsoft.com/office/officeart/2018/2/layout/IconVerticalSolidList"/>
    <dgm:cxn modelId="{D2626595-FC25-4CE0-A4A6-365AD76CAD37}" type="presParOf" srcId="{393B0853-FBC1-4BB4-9CBC-4989EFCB9F39}" destId="{AAAA01B5-0D30-44CD-B8CF-EA49D2962A72}" srcOrd="4" destOrd="0" presId="urn:microsoft.com/office/officeart/2018/2/layout/IconVerticalSolidList"/>
    <dgm:cxn modelId="{AF222CC5-ABA3-4EBC-B815-3F64CB591288}" type="presParOf" srcId="{AAAA01B5-0D30-44CD-B8CF-EA49D2962A72}" destId="{2D68D7B9-C215-44B7-BB1D-39F531464D79}" srcOrd="0" destOrd="0" presId="urn:microsoft.com/office/officeart/2018/2/layout/IconVerticalSolidList"/>
    <dgm:cxn modelId="{BCECA271-5ABE-4E99-A27E-ABB0FE37F802}" type="presParOf" srcId="{AAAA01B5-0D30-44CD-B8CF-EA49D2962A72}" destId="{E1903295-D021-4DF6-9F6B-29CD8031A45C}" srcOrd="1" destOrd="0" presId="urn:microsoft.com/office/officeart/2018/2/layout/IconVerticalSolidList"/>
    <dgm:cxn modelId="{27E9CAF6-33D7-412C-BF68-0C31BC76C1EF}" type="presParOf" srcId="{AAAA01B5-0D30-44CD-B8CF-EA49D2962A72}" destId="{079FEB19-8A7D-4E3F-957E-3B0901D0C2B9}" srcOrd="2" destOrd="0" presId="urn:microsoft.com/office/officeart/2018/2/layout/IconVerticalSolidList"/>
    <dgm:cxn modelId="{E365A3AA-804A-43F1-AD7F-5846E8DED344}" type="presParOf" srcId="{AAAA01B5-0D30-44CD-B8CF-EA49D2962A72}" destId="{A0F47B28-1F53-4070-912A-7A9219D68125}" srcOrd="3" destOrd="0" presId="urn:microsoft.com/office/officeart/2018/2/layout/IconVerticalSolidList"/>
    <dgm:cxn modelId="{D5BBE471-3FC5-4803-AC6D-4DA8385EB37F}" type="presParOf" srcId="{AAAA01B5-0D30-44CD-B8CF-EA49D2962A72}" destId="{ED50D39D-7761-4BCF-A37C-27ED0EAB1D2F}"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56C3A1-5ACF-4F17-A577-9693DF98AEFC}"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5FB77514-BAA8-4D4C-A365-993882237959}">
      <dgm:prSet/>
      <dgm:spPr/>
      <dgm:t>
        <a:bodyPr/>
        <a:lstStyle/>
        <a:p>
          <a:r>
            <a:rPr lang="en-US"/>
            <a:t>Intrinsic Motivation (Internal)</a:t>
          </a:r>
        </a:p>
      </dgm:t>
    </dgm:pt>
    <dgm:pt modelId="{EA2BA31A-F6CD-4252-8024-7ED5112D79B9}" type="parTrans" cxnId="{A4BBD74C-896F-4CCD-8061-40169742773E}">
      <dgm:prSet/>
      <dgm:spPr/>
      <dgm:t>
        <a:bodyPr/>
        <a:lstStyle/>
        <a:p>
          <a:endParaRPr lang="en-US"/>
        </a:p>
      </dgm:t>
    </dgm:pt>
    <dgm:pt modelId="{38B8653F-D5F6-4A24-BFB0-D01919F5A4E3}" type="sibTrans" cxnId="{A4BBD74C-896F-4CCD-8061-40169742773E}">
      <dgm:prSet/>
      <dgm:spPr/>
      <dgm:t>
        <a:bodyPr/>
        <a:lstStyle/>
        <a:p>
          <a:endParaRPr lang="en-US"/>
        </a:p>
      </dgm:t>
    </dgm:pt>
    <dgm:pt modelId="{5C2CADC0-249A-4B93-ADA0-36451DAE87A4}">
      <dgm:prSet/>
      <dgm:spPr/>
      <dgm:t>
        <a:bodyPr/>
        <a:lstStyle/>
        <a:p>
          <a:r>
            <a:rPr lang="en-US"/>
            <a:t>Motivated by internal satisfaction. Completing tasks because they are interesting, fulfilling, or enjoyable.</a:t>
          </a:r>
        </a:p>
      </dgm:t>
    </dgm:pt>
    <dgm:pt modelId="{54DD107D-A657-4AE7-BAED-8D236BC0BC2B}" type="parTrans" cxnId="{F1FE0F76-D57F-4F9B-87BF-359BD0BCA3D7}">
      <dgm:prSet/>
      <dgm:spPr/>
      <dgm:t>
        <a:bodyPr/>
        <a:lstStyle/>
        <a:p>
          <a:endParaRPr lang="en-US"/>
        </a:p>
      </dgm:t>
    </dgm:pt>
    <dgm:pt modelId="{530346FF-64B4-4351-87ED-49705F1772D0}" type="sibTrans" cxnId="{F1FE0F76-D57F-4F9B-87BF-359BD0BCA3D7}">
      <dgm:prSet/>
      <dgm:spPr/>
      <dgm:t>
        <a:bodyPr/>
        <a:lstStyle/>
        <a:p>
          <a:endParaRPr lang="en-US"/>
        </a:p>
      </dgm:t>
    </dgm:pt>
    <dgm:pt modelId="{EBF40F03-775E-4D74-B0F7-832FCB9C2272}">
      <dgm:prSet/>
      <dgm:spPr/>
      <dgm:t>
        <a:bodyPr/>
        <a:lstStyle/>
        <a:p>
          <a:r>
            <a:rPr lang="en-US"/>
            <a:t>Example: Employees work hard on a project because it aligns with their interests or values.</a:t>
          </a:r>
        </a:p>
      </dgm:t>
    </dgm:pt>
    <dgm:pt modelId="{37EC3782-4226-4DE7-AD49-60E07111DB13}" type="parTrans" cxnId="{75C477B8-6725-4D90-8AD1-1B7FA06603AF}">
      <dgm:prSet/>
      <dgm:spPr/>
      <dgm:t>
        <a:bodyPr/>
        <a:lstStyle/>
        <a:p>
          <a:endParaRPr lang="en-US"/>
        </a:p>
      </dgm:t>
    </dgm:pt>
    <dgm:pt modelId="{7734019A-F1A7-49B1-9119-372CA771400B}" type="sibTrans" cxnId="{75C477B8-6725-4D90-8AD1-1B7FA06603AF}">
      <dgm:prSet/>
      <dgm:spPr/>
      <dgm:t>
        <a:bodyPr/>
        <a:lstStyle/>
        <a:p>
          <a:endParaRPr lang="en-US"/>
        </a:p>
      </dgm:t>
    </dgm:pt>
    <dgm:pt modelId="{530054E5-BAF3-4DB4-936F-1CB0C78B2E16}">
      <dgm:prSet/>
      <dgm:spPr/>
      <dgm:t>
        <a:bodyPr/>
        <a:lstStyle/>
        <a:p>
          <a:r>
            <a:rPr lang="en-US"/>
            <a:t>Extrinsic Motivation (External)</a:t>
          </a:r>
        </a:p>
      </dgm:t>
    </dgm:pt>
    <dgm:pt modelId="{CB1EDA0C-99A7-4FC7-AB00-1D8830E1AC76}" type="parTrans" cxnId="{19F0C898-9063-4087-9CFC-40868EC897A6}">
      <dgm:prSet/>
      <dgm:spPr/>
      <dgm:t>
        <a:bodyPr/>
        <a:lstStyle/>
        <a:p>
          <a:endParaRPr lang="en-US"/>
        </a:p>
      </dgm:t>
    </dgm:pt>
    <dgm:pt modelId="{BF2D399B-8A0C-4E22-93A5-B644A5F98F36}" type="sibTrans" cxnId="{19F0C898-9063-4087-9CFC-40868EC897A6}">
      <dgm:prSet/>
      <dgm:spPr/>
      <dgm:t>
        <a:bodyPr/>
        <a:lstStyle/>
        <a:p>
          <a:endParaRPr lang="en-US"/>
        </a:p>
      </dgm:t>
    </dgm:pt>
    <dgm:pt modelId="{7344E620-6626-45AB-A05E-2DB495473255}">
      <dgm:prSet/>
      <dgm:spPr/>
      <dgm:t>
        <a:bodyPr/>
        <a:lstStyle/>
        <a:p>
          <a:r>
            <a:rPr lang="en-US"/>
            <a:t>Motivated by external sources. Complete tasks to earn rewards, gain recognition, or avoid negative consequences.</a:t>
          </a:r>
        </a:p>
      </dgm:t>
    </dgm:pt>
    <dgm:pt modelId="{ECCEE14F-2576-4F88-A94D-0E9C7D0B36C9}" type="parTrans" cxnId="{640A2C94-0500-4897-8B4D-614FB85E76E4}">
      <dgm:prSet/>
      <dgm:spPr/>
      <dgm:t>
        <a:bodyPr/>
        <a:lstStyle/>
        <a:p>
          <a:endParaRPr lang="en-US"/>
        </a:p>
      </dgm:t>
    </dgm:pt>
    <dgm:pt modelId="{29DCEE9B-BA3C-4BC9-9FD2-D487AA1F10B9}" type="sibTrans" cxnId="{640A2C94-0500-4897-8B4D-614FB85E76E4}">
      <dgm:prSet/>
      <dgm:spPr/>
      <dgm:t>
        <a:bodyPr/>
        <a:lstStyle/>
        <a:p>
          <a:endParaRPr lang="en-US"/>
        </a:p>
      </dgm:t>
    </dgm:pt>
    <dgm:pt modelId="{8C770F61-B7A0-414E-BCAE-CECD3C0CDBBD}">
      <dgm:prSet/>
      <dgm:spPr/>
      <dgm:t>
        <a:bodyPr/>
        <a:lstStyle/>
        <a:p>
          <a:r>
            <a:rPr lang="en-US"/>
            <a:t>Example: Employees focus on their tasks to earn bonuses, praise, or avoid reprimands.</a:t>
          </a:r>
        </a:p>
      </dgm:t>
    </dgm:pt>
    <dgm:pt modelId="{4D169FB9-FE66-455D-B1F3-DACE988A5931}" type="parTrans" cxnId="{A1D76275-5C99-4E35-98D6-6175A8E690DB}">
      <dgm:prSet/>
      <dgm:spPr/>
      <dgm:t>
        <a:bodyPr/>
        <a:lstStyle/>
        <a:p>
          <a:endParaRPr lang="en-US"/>
        </a:p>
      </dgm:t>
    </dgm:pt>
    <dgm:pt modelId="{7786FF56-B3D8-4CF5-BA44-E72CCE845844}" type="sibTrans" cxnId="{A1D76275-5C99-4E35-98D6-6175A8E690DB}">
      <dgm:prSet/>
      <dgm:spPr/>
      <dgm:t>
        <a:bodyPr/>
        <a:lstStyle/>
        <a:p>
          <a:endParaRPr lang="en-US"/>
        </a:p>
      </dgm:t>
    </dgm:pt>
    <dgm:pt modelId="{2245E313-42D2-4548-A655-B58E311BBBB3}">
      <dgm:prSet/>
      <dgm:spPr/>
      <dgm:t>
        <a:bodyPr/>
        <a:lstStyle/>
        <a:p>
          <a:r>
            <a:rPr lang="en-US"/>
            <a:t>Reflection Point - How can managers harness both types of motivation? Think of strategies to tap into employees’ natural interests (intrinsic) while also offering external recognition (extrinsic) to keep them motivated.</a:t>
          </a:r>
        </a:p>
      </dgm:t>
    </dgm:pt>
    <dgm:pt modelId="{7C2B6112-80AB-4C4A-BD92-97FDA2433B67}" type="parTrans" cxnId="{3A802A46-C4F0-4970-921A-5D7DED0D0DEB}">
      <dgm:prSet/>
      <dgm:spPr/>
      <dgm:t>
        <a:bodyPr/>
        <a:lstStyle/>
        <a:p>
          <a:endParaRPr lang="en-US"/>
        </a:p>
      </dgm:t>
    </dgm:pt>
    <dgm:pt modelId="{500052E0-AF35-4F10-9449-C237583E9CA5}" type="sibTrans" cxnId="{3A802A46-C4F0-4970-921A-5D7DED0D0DEB}">
      <dgm:prSet/>
      <dgm:spPr/>
      <dgm:t>
        <a:bodyPr/>
        <a:lstStyle/>
        <a:p>
          <a:endParaRPr lang="en-US"/>
        </a:p>
      </dgm:t>
    </dgm:pt>
    <dgm:pt modelId="{1C3C3A40-5588-6C46-9403-44D23ABD6417}" type="pres">
      <dgm:prSet presAssocID="{2356C3A1-5ACF-4F17-A577-9693DF98AEFC}" presName="outerComposite" presStyleCnt="0">
        <dgm:presLayoutVars>
          <dgm:chMax val="5"/>
          <dgm:dir/>
          <dgm:resizeHandles val="exact"/>
        </dgm:presLayoutVars>
      </dgm:prSet>
      <dgm:spPr/>
    </dgm:pt>
    <dgm:pt modelId="{8B9B5F68-F0D9-754B-8CFB-F538B597A3DF}" type="pres">
      <dgm:prSet presAssocID="{2356C3A1-5ACF-4F17-A577-9693DF98AEFC}" presName="dummyMaxCanvas" presStyleCnt="0">
        <dgm:presLayoutVars/>
      </dgm:prSet>
      <dgm:spPr/>
    </dgm:pt>
    <dgm:pt modelId="{E464EB91-61E1-464C-BE2C-8F6D639D76C4}" type="pres">
      <dgm:prSet presAssocID="{2356C3A1-5ACF-4F17-A577-9693DF98AEFC}" presName="ThreeNodes_1" presStyleLbl="node1" presStyleIdx="0" presStyleCnt="3">
        <dgm:presLayoutVars>
          <dgm:bulletEnabled val="1"/>
        </dgm:presLayoutVars>
      </dgm:prSet>
      <dgm:spPr/>
    </dgm:pt>
    <dgm:pt modelId="{1B7DC7C6-EFD1-D64A-8652-B80B47D8FF4E}" type="pres">
      <dgm:prSet presAssocID="{2356C3A1-5ACF-4F17-A577-9693DF98AEFC}" presName="ThreeNodes_2" presStyleLbl="node1" presStyleIdx="1" presStyleCnt="3">
        <dgm:presLayoutVars>
          <dgm:bulletEnabled val="1"/>
        </dgm:presLayoutVars>
      </dgm:prSet>
      <dgm:spPr/>
    </dgm:pt>
    <dgm:pt modelId="{EAB58E7F-B3AD-5947-9314-6F13B3ED8E14}" type="pres">
      <dgm:prSet presAssocID="{2356C3A1-5ACF-4F17-A577-9693DF98AEFC}" presName="ThreeNodes_3" presStyleLbl="node1" presStyleIdx="2" presStyleCnt="3">
        <dgm:presLayoutVars>
          <dgm:bulletEnabled val="1"/>
        </dgm:presLayoutVars>
      </dgm:prSet>
      <dgm:spPr/>
    </dgm:pt>
    <dgm:pt modelId="{7CD08E21-FC6C-8A4C-8EEA-F3CB3812EC86}" type="pres">
      <dgm:prSet presAssocID="{2356C3A1-5ACF-4F17-A577-9693DF98AEFC}" presName="ThreeConn_1-2" presStyleLbl="fgAccFollowNode1" presStyleIdx="0" presStyleCnt="2">
        <dgm:presLayoutVars>
          <dgm:bulletEnabled val="1"/>
        </dgm:presLayoutVars>
      </dgm:prSet>
      <dgm:spPr/>
    </dgm:pt>
    <dgm:pt modelId="{668923E4-6036-784D-BB46-093ABCF7F2CA}" type="pres">
      <dgm:prSet presAssocID="{2356C3A1-5ACF-4F17-A577-9693DF98AEFC}" presName="ThreeConn_2-3" presStyleLbl="fgAccFollowNode1" presStyleIdx="1" presStyleCnt="2">
        <dgm:presLayoutVars>
          <dgm:bulletEnabled val="1"/>
        </dgm:presLayoutVars>
      </dgm:prSet>
      <dgm:spPr/>
    </dgm:pt>
    <dgm:pt modelId="{BEE8C375-F738-F74D-870C-892CA02805D3}" type="pres">
      <dgm:prSet presAssocID="{2356C3A1-5ACF-4F17-A577-9693DF98AEFC}" presName="ThreeNodes_1_text" presStyleLbl="node1" presStyleIdx="2" presStyleCnt="3">
        <dgm:presLayoutVars>
          <dgm:bulletEnabled val="1"/>
        </dgm:presLayoutVars>
      </dgm:prSet>
      <dgm:spPr/>
    </dgm:pt>
    <dgm:pt modelId="{81057E29-3B41-4B48-84ED-FC8284ACEE58}" type="pres">
      <dgm:prSet presAssocID="{2356C3A1-5ACF-4F17-A577-9693DF98AEFC}" presName="ThreeNodes_2_text" presStyleLbl="node1" presStyleIdx="2" presStyleCnt="3">
        <dgm:presLayoutVars>
          <dgm:bulletEnabled val="1"/>
        </dgm:presLayoutVars>
      </dgm:prSet>
      <dgm:spPr/>
    </dgm:pt>
    <dgm:pt modelId="{C6BC72BD-488B-C24F-8FFA-121FFFBD8744}" type="pres">
      <dgm:prSet presAssocID="{2356C3A1-5ACF-4F17-A577-9693DF98AEFC}" presName="ThreeNodes_3_text" presStyleLbl="node1" presStyleIdx="2" presStyleCnt="3">
        <dgm:presLayoutVars>
          <dgm:bulletEnabled val="1"/>
        </dgm:presLayoutVars>
      </dgm:prSet>
      <dgm:spPr/>
    </dgm:pt>
  </dgm:ptLst>
  <dgm:cxnLst>
    <dgm:cxn modelId="{C7314702-7DD9-8D43-A12B-BE05568D6171}" type="presOf" srcId="{530054E5-BAF3-4DB4-936F-1CB0C78B2E16}" destId="{81057E29-3B41-4B48-84ED-FC8284ACEE58}" srcOrd="1" destOrd="0" presId="urn:microsoft.com/office/officeart/2005/8/layout/vProcess5"/>
    <dgm:cxn modelId="{EA91730C-8C0D-924D-9E8E-90219EC931C1}" type="presOf" srcId="{5C2CADC0-249A-4B93-ADA0-36451DAE87A4}" destId="{E464EB91-61E1-464C-BE2C-8F6D639D76C4}" srcOrd="0" destOrd="1" presId="urn:microsoft.com/office/officeart/2005/8/layout/vProcess5"/>
    <dgm:cxn modelId="{EBEA4513-94FE-D148-8110-55866E4C9603}" type="presOf" srcId="{2245E313-42D2-4548-A655-B58E311BBBB3}" destId="{EAB58E7F-B3AD-5947-9314-6F13B3ED8E14}" srcOrd="0" destOrd="0" presId="urn:microsoft.com/office/officeart/2005/8/layout/vProcess5"/>
    <dgm:cxn modelId="{14152E1D-CA59-654E-8C38-5909F50E33F2}" type="presOf" srcId="{5FB77514-BAA8-4D4C-A365-993882237959}" destId="{BEE8C375-F738-F74D-870C-892CA02805D3}" srcOrd="1" destOrd="0" presId="urn:microsoft.com/office/officeart/2005/8/layout/vProcess5"/>
    <dgm:cxn modelId="{0CD8981D-D655-1644-9D20-91322AD23D4B}" type="presOf" srcId="{BF2D399B-8A0C-4E22-93A5-B644A5F98F36}" destId="{668923E4-6036-784D-BB46-093ABCF7F2CA}" srcOrd="0" destOrd="0" presId="urn:microsoft.com/office/officeart/2005/8/layout/vProcess5"/>
    <dgm:cxn modelId="{52D6452A-C0D6-A240-9E04-326D1B5C0570}" type="presOf" srcId="{2356C3A1-5ACF-4F17-A577-9693DF98AEFC}" destId="{1C3C3A40-5588-6C46-9403-44D23ABD6417}" srcOrd="0" destOrd="0" presId="urn:microsoft.com/office/officeart/2005/8/layout/vProcess5"/>
    <dgm:cxn modelId="{3A802A46-C4F0-4970-921A-5D7DED0D0DEB}" srcId="{2356C3A1-5ACF-4F17-A577-9693DF98AEFC}" destId="{2245E313-42D2-4548-A655-B58E311BBBB3}" srcOrd="2" destOrd="0" parTransId="{7C2B6112-80AB-4C4A-BD92-97FDA2433B67}" sibTransId="{500052E0-AF35-4F10-9449-C237583E9CA5}"/>
    <dgm:cxn modelId="{A4BBD74C-896F-4CCD-8061-40169742773E}" srcId="{2356C3A1-5ACF-4F17-A577-9693DF98AEFC}" destId="{5FB77514-BAA8-4D4C-A365-993882237959}" srcOrd="0" destOrd="0" parTransId="{EA2BA31A-F6CD-4252-8024-7ED5112D79B9}" sibTransId="{38B8653F-D5F6-4A24-BFB0-D01919F5A4E3}"/>
    <dgm:cxn modelId="{02445B53-9357-0C42-BE6B-851F39301A7C}" type="presOf" srcId="{7344E620-6626-45AB-A05E-2DB495473255}" destId="{1B7DC7C6-EFD1-D64A-8652-B80B47D8FF4E}" srcOrd="0" destOrd="1" presId="urn:microsoft.com/office/officeart/2005/8/layout/vProcess5"/>
    <dgm:cxn modelId="{9A4D7E53-9D92-8946-922E-8CD9A4294705}" type="presOf" srcId="{530054E5-BAF3-4DB4-936F-1CB0C78B2E16}" destId="{1B7DC7C6-EFD1-D64A-8652-B80B47D8FF4E}" srcOrd="0" destOrd="0" presId="urn:microsoft.com/office/officeart/2005/8/layout/vProcess5"/>
    <dgm:cxn modelId="{676BA255-F053-D940-85E7-C3CABEC98D04}" type="presOf" srcId="{5FB77514-BAA8-4D4C-A365-993882237959}" destId="{E464EB91-61E1-464C-BE2C-8F6D639D76C4}" srcOrd="0" destOrd="0" presId="urn:microsoft.com/office/officeart/2005/8/layout/vProcess5"/>
    <dgm:cxn modelId="{A1D76275-5C99-4E35-98D6-6175A8E690DB}" srcId="{530054E5-BAF3-4DB4-936F-1CB0C78B2E16}" destId="{8C770F61-B7A0-414E-BCAE-CECD3C0CDBBD}" srcOrd="1" destOrd="0" parTransId="{4D169FB9-FE66-455D-B1F3-DACE988A5931}" sibTransId="{7786FF56-B3D8-4CF5-BA44-E72CCE845844}"/>
    <dgm:cxn modelId="{F1FE0F76-D57F-4F9B-87BF-359BD0BCA3D7}" srcId="{5FB77514-BAA8-4D4C-A365-993882237959}" destId="{5C2CADC0-249A-4B93-ADA0-36451DAE87A4}" srcOrd="0" destOrd="0" parTransId="{54DD107D-A657-4AE7-BAED-8D236BC0BC2B}" sibTransId="{530346FF-64B4-4351-87ED-49705F1772D0}"/>
    <dgm:cxn modelId="{D9B7118B-E937-F243-99B0-C6CAE13E21C8}" type="presOf" srcId="{2245E313-42D2-4548-A655-B58E311BBBB3}" destId="{C6BC72BD-488B-C24F-8FFA-121FFFBD8744}" srcOrd="1" destOrd="0" presId="urn:microsoft.com/office/officeart/2005/8/layout/vProcess5"/>
    <dgm:cxn modelId="{640A2C94-0500-4897-8B4D-614FB85E76E4}" srcId="{530054E5-BAF3-4DB4-936F-1CB0C78B2E16}" destId="{7344E620-6626-45AB-A05E-2DB495473255}" srcOrd="0" destOrd="0" parTransId="{ECCEE14F-2576-4F88-A94D-0E9C7D0B36C9}" sibTransId="{29DCEE9B-BA3C-4BC9-9FD2-D487AA1F10B9}"/>
    <dgm:cxn modelId="{19F0C898-9063-4087-9CFC-40868EC897A6}" srcId="{2356C3A1-5ACF-4F17-A577-9693DF98AEFC}" destId="{530054E5-BAF3-4DB4-936F-1CB0C78B2E16}" srcOrd="1" destOrd="0" parTransId="{CB1EDA0C-99A7-4FC7-AB00-1D8830E1AC76}" sibTransId="{BF2D399B-8A0C-4E22-93A5-B644A5F98F36}"/>
    <dgm:cxn modelId="{DC347EB3-0DBE-4C45-B198-8E50FCE86710}" type="presOf" srcId="{7344E620-6626-45AB-A05E-2DB495473255}" destId="{81057E29-3B41-4B48-84ED-FC8284ACEE58}" srcOrd="1" destOrd="1" presId="urn:microsoft.com/office/officeart/2005/8/layout/vProcess5"/>
    <dgm:cxn modelId="{B4AA6DB8-6A8D-6C40-824B-57B58F2B7BF0}" type="presOf" srcId="{8C770F61-B7A0-414E-BCAE-CECD3C0CDBBD}" destId="{81057E29-3B41-4B48-84ED-FC8284ACEE58}" srcOrd="1" destOrd="2" presId="urn:microsoft.com/office/officeart/2005/8/layout/vProcess5"/>
    <dgm:cxn modelId="{75C477B8-6725-4D90-8AD1-1B7FA06603AF}" srcId="{5FB77514-BAA8-4D4C-A365-993882237959}" destId="{EBF40F03-775E-4D74-B0F7-832FCB9C2272}" srcOrd="1" destOrd="0" parTransId="{37EC3782-4226-4DE7-AD49-60E07111DB13}" sibTransId="{7734019A-F1A7-49B1-9119-372CA771400B}"/>
    <dgm:cxn modelId="{1C1D85B8-85A2-934C-85D0-24ED165DD21B}" type="presOf" srcId="{5C2CADC0-249A-4B93-ADA0-36451DAE87A4}" destId="{BEE8C375-F738-F74D-870C-892CA02805D3}" srcOrd="1" destOrd="1" presId="urn:microsoft.com/office/officeart/2005/8/layout/vProcess5"/>
    <dgm:cxn modelId="{1EF834CA-D32E-5848-A934-854D37F92F00}" type="presOf" srcId="{EBF40F03-775E-4D74-B0F7-832FCB9C2272}" destId="{BEE8C375-F738-F74D-870C-892CA02805D3}" srcOrd="1" destOrd="2" presId="urn:microsoft.com/office/officeart/2005/8/layout/vProcess5"/>
    <dgm:cxn modelId="{E6FA3DCC-59B4-9F40-951C-AA089E1B852F}" type="presOf" srcId="{38B8653F-D5F6-4A24-BFB0-D01919F5A4E3}" destId="{7CD08E21-FC6C-8A4C-8EEA-F3CB3812EC86}" srcOrd="0" destOrd="0" presId="urn:microsoft.com/office/officeart/2005/8/layout/vProcess5"/>
    <dgm:cxn modelId="{22E483D6-C60A-4D4E-B1F9-23424C11E33E}" type="presOf" srcId="{8C770F61-B7A0-414E-BCAE-CECD3C0CDBBD}" destId="{1B7DC7C6-EFD1-D64A-8652-B80B47D8FF4E}" srcOrd="0" destOrd="2" presId="urn:microsoft.com/office/officeart/2005/8/layout/vProcess5"/>
    <dgm:cxn modelId="{89206DEE-3009-1842-8BA1-1BBD6A4400C0}" type="presOf" srcId="{EBF40F03-775E-4D74-B0F7-832FCB9C2272}" destId="{E464EB91-61E1-464C-BE2C-8F6D639D76C4}" srcOrd="0" destOrd="2" presId="urn:microsoft.com/office/officeart/2005/8/layout/vProcess5"/>
    <dgm:cxn modelId="{A785BDA0-5E3B-C142-9234-7BF285BF1078}" type="presParOf" srcId="{1C3C3A40-5588-6C46-9403-44D23ABD6417}" destId="{8B9B5F68-F0D9-754B-8CFB-F538B597A3DF}" srcOrd="0" destOrd="0" presId="urn:microsoft.com/office/officeart/2005/8/layout/vProcess5"/>
    <dgm:cxn modelId="{539D60A5-49D0-7649-9DC6-5CFF1365AB2A}" type="presParOf" srcId="{1C3C3A40-5588-6C46-9403-44D23ABD6417}" destId="{E464EB91-61E1-464C-BE2C-8F6D639D76C4}" srcOrd="1" destOrd="0" presId="urn:microsoft.com/office/officeart/2005/8/layout/vProcess5"/>
    <dgm:cxn modelId="{75FE2760-BD4D-C349-AFE2-4BFA519A961B}" type="presParOf" srcId="{1C3C3A40-5588-6C46-9403-44D23ABD6417}" destId="{1B7DC7C6-EFD1-D64A-8652-B80B47D8FF4E}" srcOrd="2" destOrd="0" presId="urn:microsoft.com/office/officeart/2005/8/layout/vProcess5"/>
    <dgm:cxn modelId="{FB4418EE-C4D2-3040-A52C-1771029DE2F0}" type="presParOf" srcId="{1C3C3A40-5588-6C46-9403-44D23ABD6417}" destId="{EAB58E7F-B3AD-5947-9314-6F13B3ED8E14}" srcOrd="3" destOrd="0" presId="urn:microsoft.com/office/officeart/2005/8/layout/vProcess5"/>
    <dgm:cxn modelId="{E1B77E38-A38C-A641-9775-F54D87E158D5}" type="presParOf" srcId="{1C3C3A40-5588-6C46-9403-44D23ABD6417}" destId="{7CD08E21-FC6C-8A4C-8EEA-F3CB3812EC86}" srcOrd="4" destOrd="0" presId="urn:microsoft.com/office/officeart/2005/8/layout/vProcess5"/>
    <dgm:cxn modelId="{679FC49F-D0D8-9940-9C39-1FBED2DD43C8}" type="presParOf" srcId="{1C3C3A40-5588-6C46-9403-44D23ABD6417}" destId="{668923E4-6036-784D-BB46-093ABCF7F2CA}" srcOrd="5" destOrd="0" presId="urn:microsoft.com/office/officeart/2005/8/layout/vProcess5"/>
    <dgm:cxn modelId="{991DF5A2-6037-914C-A73F-6D85F0569D09}" type="presParOf" srcId="{1C3C3A40-5588-6C46-9403-44D23ABD6417}" destId="{BEE8C375-F738-F74D-870C-892CA02805D3}" srcOrd="6" destOrd="0" presId="urn:microsoft.com/office/officeart/2005/8/layout/vProcess5"/>
    <dgm:cxn modelId="{1E472102-2CB7-9444-9D1F-731AC24A5BDE}" type="presParOf" srcId="{1C3C3A40-5588-6C46-9403-44D23ABD6417}" destId="{81057E29-3B41-4B48-84ED-FC8284ACEE58}" srcOrd="7" destOrd="0" presId="urn:microsoft.com/office/officeart/2005/8/layout/vProcess5"/>
    <dgm:cxn modelId="{575EBB25-988E-1746-995D-341C81B6BD62}" type="presParOf" srcId="{1C3C3A40-5588-6C46-9403-44D23ABD6417}" destId="{C6BC72BD-488B-C24F-8FFA-121FFFBD874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8B7119-3DAC-4077-9FBB-EA07C1C23D6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BEDFB1-DD29-455C-A9C2-5A9E82B6C18A}">
      <dgm:prSet/>
      <dgm:spPr/>
      <dgm:t>
        <a:bodyPr/>
        <a:lstStyle/>
        <a:p>
          <a:pPr>
            <a:lnSpc>
              <a:spcPct val="100000"/>
            </a:lnSpc>
          </a:pPr>
          <a:r>
            <a:rPr lang="en-US" dirty="0"/>
            <a:t>Other Performance Factors: Motivation is just one piece of the puzzle. Skills, abilities, and attitudes such as </a:t>
          </a:r>
          <a:r>
            <a:rPr lang="en-US" dirty="0" err="1"/>
            <a:t>organisational</a:t>
          </a:r>
          <a:r>
            <a:rPr lang="en-US" dirty="0"/>
            <a:t> commitment and job satisfaction are also critical for performance.</a:t>
          </a:r>
        </a:p>
      </dgm:t>
    </dgm:pt>
    <dgm:pt modelId="{B094AB2D-5A4A-4049-8046-6F3D8EF1E0C3}" type="parTrans" cxnId="{E0D3C296-CB2F-49C4-9121-E53FB7A945FE}">
      <dgm:prSet/>
      <dgm:spPr/>
      <dgm:t>
        <a:bodyPr/>
        <a:lstStyle/>
        <a:p>
          <a:endParaRPr lang="en-US"/>
        </a:p>
      </dgm:t>
    </dgm:pt>
    <dgm:pt modelId="{30D51A4D-D1F6-41CA-B177-4A2C9A886786}" type="sibTrans" cxnId="{E0D3C296-CB2F-49C4-9121-E53FB7A945FE}">
      <dgm:prSet/>
      <dgm:spPr/>
      <dgm:t>
        <a:bodyPr/>
        <a:lstStyle/>
        <a:p>
          <a:endParaRPr lang="en-US"/>
        </a:p>
      </dgm:t>
    </dgm:pt>
    <dgm:pt modelId="{25B86ECA-FEDF-4949-93CE-5391FB2A1A43}">
      <dgm:prSet/>
      <dgm:spPr/>
      <dgm:t>
        <a:bodyPr/>
        <a:lstStyle/>
        <a:p>
          <a:pPr>
            <a:lnSpc>
              <a:spcPct val="100000"/>
            </a:lnSpc>
          </a:pPr>
          <a:r>
            <a:rPr lang="en-US"/>
            <a:t>Importance of Motivation: Motivating employees to put in their best effort is crucial for organizational success.</a:t>
          </a:r>
        </a:p>
      </dgm:t>
    </dgm:pt>
    <dgm:pt modelId="{6CA0916F-88FC-49A0-A6C9-98D63A047FC4}" type="parTrans" cxnId="{C13770CB-5FEE-4E5A-9946-BC26297D6406}">
      <dgm:prSet/>
      <dgm:spPr/>
      <dgm:t>
        <a:bodyPr/>
        <a:lstStyle/>
        <a:p>
          <a:endParaRPr lang="en-US"/>
        </a:p>
      </dgm:t>
    </dgm:pt>
    <dgm:pt modelId="{730FC73F-8B48-4A46-B0BC-032993CED0C6}" type="sibTrans" cxnId="{C13770CB-5FEE-4E5A-9946-BC26297D6406}">
      <dgm:prSet/>
      <dgm:spPr/>
      <dgm:t>
        <a:bodyPr/>
        <a:lstStyle/>
        <a:p>
          <a:endParaRPr lang="en-US"/>
        </a:p>
      </dgm:t>
    </dgm:pt>
    <dgm:pt modelId="{142948A0-DEEC-4759-A275-8BF2C83C69DC}">
      <dgm:prSet/>
      <dgm:spPr/>
      <dgm:t>
        <a:bodyPr/>
        <a:lstStyle/>
        <a:p>
          <a:pPr>
            <a:lnSpc>
              <a:spcPct val="100000"/>
            </a:lnSpc>
          </a:pPr>
          <a:r>
            <a:rPr lang="en-US" dirty="0"/>
            <a:t>Employment Contract: While a contract defines salary, benefits, and hours worked, it doesn't specify how much effort or commitment an employee will invest in the role.</a:t>
          </a:r>
        </a:p>
      </dgm:t>
    </dgm:pt>
    <dgm:pt modelId="{1DA56164-83F0-4554-8020-F34436F17BCD}" type="parTrans" cxnId="{22F06F61-7CAB-4E2B-A489-EAFE64D84A14}">
      <dgm:prSet/>
      <dgm:spPr/>
      <dgm:t>
        <a:bodyPr/>
        <a:lstStyle/>
        <a:p>
          <a:endParaRPr lang="en-US"/>
        </a:p>
      </dgm:t>
    </dgm:pt>
    <dgm:pt modelId="{FE9CC2D9-AA26-41DE-86FF-2DA236F05276}" type="sibTrans" cxnId="{22F06F61-7CAB-4E2B-A489-EAFE64D84A14}">
      <dgm:prSet/>
      <dgm:spPr/>
      <dgm:t>
        <a:bodyPr/>
        <a:lstStyle/>
        <a:p>
          <a:endParaRPr lang="en-US"/>
        </a:p>
      </dgm:t>
    </dgm:pt>
    <dgm:pt modelId="{4B2B2C34-7B04-4126-A208-915F02F8F7C0}">
      <dgm:prSet/>
      <dgm:spPr/>
      <dgm:t>
        <a:bodyPr/>
        <a:lstStyle/>
        <a:p>
          <a:pPr>
            <a:lnSpc>
              <a:spcPct val="100000"/>
            </a:lnSpc>
          </a:pPr>
          <a:r>
            <a:rPr lang="en-US"/>
            <a:t>Manager's Role in Motivation: To drive performance improvements, managers need to understand motivation, which influences how employees behave and respond at work (Pritchard &amp; Ashwood, 2008).</a:t>
          </a:r>
        </a:p>
      </dgm:t>
    </dgm:pt>
    <dgm:pt modelId="{8A986048-D84D-4E45-B429-25F5847D9CBE}" type="parTrans" cxnId="{B769E52F-3374-4F67-96E4-40ACFD5E74C8}">
      <dgm:prSet/>
      <dgm:spPr/>
      <dgm:t>
        <a:bodyPr/>
        <a:lstStyle/>
        <a:p>
          <a:endParaRPr lang="en-US"/>
        </a:p>
      </dgm:t>
    </dgm:pt>
    <dgm:pt modelId="{009FB866-88EC-470F-B355-3DE65BFABE72}" type="sibTrans" cxnId="{B769E52F-3374-4F67-96E4-40ACFD5E74C8}">
      <dgm:prSet/>
      <dgm:spPr/>
      <dgm:t>
        <a:bodyPr/>
        <a:lstStyle/>
        <a:p>
          <a:endParaRPr lang="en-US"/>
        </a:p>
      </dgm:t>
    </dgm:pt>
    <dgm:pt modelId="{48CDBEB8-E841-4D55-91AC-E70DB8055E46}">
      <dgm:prSet/>
      <dgm:spPr/>
      <dgm:t>
        <a:bodyPr/>
        <a:lstStyle/>
        <a:p>
          <a:pPr>
            <a:lnSpc>
              <a:spcPct val="100000"/>
            </a:lnSpc>
          </a:pPr>
          <a:r>
            <a:rPr lang="en-US"/>
            <a:t>Employee Autonomy: Employees ultimately </a:t>
          </a:r>
          <a:r>
            <a:rPr lang="en-US" b="1"/>
            <a:t>control</a:t>
          </a:r>
          <a:r>
            <a:rPr lang="en-US"/>
            <a:t> whether they work, how hard, and how effectively they perform (Druker, 1993).</a:t>
          </a:r>
        </a:p>
      </dgm:t>
    </dgm:pt>
    <dgm:pt modelId="{F19EBDA9-0429-4FF2-AAB7-5C65DF6F3821}" type="parTrans" cxnId="{EBB1AFF7-38FF-483F-8213-6251414ACCA8}">
      <dgm:prSet/>
      <dgm:spPr/>
      <dgm:t>
        <a:bodyPr/>
        <a:lstStyle/>
        <a:p>
          <a:endParaRPr lang="en-US"/>
        </a:p>
      </dgm:t>
    </dgm:pt>
    <dgm:pt modelId="{17B4F104-6802-4D6F-BBA5-46C21807683A}" type="sibTrans" cxnId="{EBB1AFF7-38FF-483F-8213-6251414ACCA8}">
      <dgm:prSet/>
      <dgm:spPr/>
      <dgm:t>
        <a:bodyPr/>
        <a:lstStyle/>
        <a:p>
          <a:endParaRPr lang="en-US"/>
        </a:p>
      </dgm:t>
    </dgm:pt>
    <dgm:pt modelId="{DD590DDC-D8E7-477C-9518-CF7280CF35BC}" type="pres">
      <dgm:prSet presAssocID="{E38B7119-3DAC-4077-9FBB-EA07C1C23D6C}" presName="root" presStyleCnt="0">
        <dgm:presLayoutVars>
          <dgm:dir/>
          <dgm:resizeHandles val="exact"/>
        </dgm:presLayoutVars>
      </dgm:prSet>
      <dgm:spPr/>
    </dgm:pt>
    <dgm:pt modelId="{887B013C-9871-476B-9A44-E21AD7B3C6BB}" type="pres">
      <dgm:prSet presAssocID="{05BEDFB1-DD29-455C-A9C2-5A9E82B6C18A}" presName="compNode" presStyleCnt="0"/>
      <dgm:spPr/>
    </dgm:pt>
    <dgm:pt modelId="{438072CD-6832-4D7B-98A8-91224DA8A945}" type="pres">
      <dgm:prSet presAssocID="{05BEDFB1-DD29-455C-A9C2-5A9E82B6C18A}" presName="bgRect" presStyleLbl="bgShp" presStyleIdx="0" presStyleCnt="5"/>
      <dgm:spPr/>
    </dgm:pt>
    <dgm:pt modelId="{4B702767-3BA5-4E7E-8AB3-379CA1C44C68}" type="pres">
      <dgm:prSet presAssocID="{05BEDFB1-DD29-455C-A9C2-5A9E82B6C18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uzzle"/>
        </a:ext>
      </dgm:extLst>
    </dgm:pt>
    <dgm:pt modelId="{49AF4CD1-3E8A-40E1-9BCC-CD8CB800F689}" type="pres">
      <dgm:prSet presAssocID="{05BEDFB1-DD29-455C-A9C2-5A9E82B6C18A}" presName="spaceRect" presStyleCnt="0"/>
      <dgm:spPr/>
    </dgm:pt>
    <dgm:pt modelId="{5704A3BE-0D83-46DF-8A41-8F85A8DC8672}" type="pres">
      <dgm:prSet presAssocID="{05BEDFB1-DD29-455C-A9C2-5A9E82B6C18A}" presName="parTx" presStyleLbl="revTx" presStyleIdx="0" presStyleCnt="5">
        <dgm:presLayoutVars>
          <dgm:chMax val="0"/>
          <dgm:chPref val="0"/>
        </dgm:presLayoutVars>
      </dgm:prSet>
      <dgm:spPr/>
    </dgm:pt>
    <dgm:pt modelId="{31C59742-6880-4CBA-A387-DB9DF165775E}" type="pres">
      <dgm:prSet presAssocID="{30D51A4D-D1F6-41CA-B177-4A2C9A886786}" presName="sibTrans" presStyleCnt="0"/>
      <dgm:spPr/>
    </dgm:pt>
    <dgm:pt modelId="{C03996ED-AF5A-4FAC-9689-21D2596B786A}" type="pres">
      <dgm:prSet presAssocID="{25B86ECA-FEDF-4949-93CE-5391FB2A1A43}" presName="compNode" presStyleCnt="0"/>
      <dgm:spPr/>
    </dgm:pt>
    <dgm:pt modelId="{54D9C56D-E0A3-40D7-A3F9-7F1E816C0691}" type="pres">
      <dgm:prSet presAssocID="{25B86ECA-FEDF-4949-93CE-5391FB2A1A43}" presName="bgRect" presStyleLbl="bgShp" presStyleIdx="1" presStyleCnt="5"/>
      <dgm:spPr/>
    </dgm:pt>
    <dgm:pt modelId="{3A1A0AA3-1BD5-4E7F-8C38-F7DC4195A676}" type="pres">
      <dgm:prSet presAssocID="{25B86ECA-FEDF-4949-93CE-5391FB2A1A4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roup Success"/>
        </a:ext>
      </dgm:extLst>
    </dgm:pt>
    <dgm:pt modelId="{A2B48A4B-2240-44DB-86AE-59632DED5838}" type="pres">
      <dgm:prSet presAssocID="{25B86ECA-FEDF-4949-93CE-5391FB2A1A43}" presName="spaceRect" presStyleCnt="0"/>
      <dgm:spPr/>
    </dgm:pt>
    <dgm:pt modelId="{E6354CF1-F1A0-4AE0-8CD5-ACEBE3ED9E13}" type="pres">
      <dgm:prSet presAssocID="{25B86ECA-FEDF-4949-93CE-5391FB2A1A43}" presName="parTx" presStyleLbl="revTx" presStyleIdx="1" presStyleCnt="5">
        <dgm:presLayoutVars>
          <dgm:chMax val="0"/>
          <dgm:chPref val="0"/>
        </dgm:presLayoutVars>
      </dgm:prSet>
      <dgm:spPr/>
    </dgm:pt>
    <dgm:pt modelId="{30BF5985-7944-427A-8BF2-85A44254E8C1}" type="pres">
      <dgm:prSet presAssocID="{730FC73F-8B48-4A46-B0BC-032993CED0C6}" presName="sibTrans" presStyleCnt="0"/>
      <dgm:spPr/>
    </dgm:pt>
    <dgm:pt modelId="{930F8BDB-1A6A-4F14-B5E9-D67F96370F5E}" type="pres">
      <dgm:prSet presAssocID="{142948A0-DEEC-4759-A275-8BF2C83C69DC}" presName="compNode" presStyleCnt="0"/>
      <dgm:spPr/>
    </dgm:pt>
    <dgm:pt modelId="{BCE21B67-2A7C-466A-8EE7-811F969F2DA3}" type="pres">
      <dgm:prSet presAssocID="{142948A0-DEEC-4759-A275-8BF2C83C69DC}" presName="bgRect" presStyleLbl="bgShp" presStyleIdx="2" presStyleCnt="5"/>
      <dgm:spPr/>
    </dgm:pt>
    <dgm:pt modelId="{D97DF169-8149-448F-97E7-E5E27C42A603}" type="pres">
      <dgm:prSet presAssocID="{142948A0-DEEC-4759-A275-8BF2C83C69D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andshake"/>
        </a:ext>
      </dgm:extLst>
    </dgm:pt>
    <dgm:pt modelId="{BD6E8D71-56A0-4F6D-8046-64CEBCE2D701}" type="pres">
      <dgm:prSet presAssocID="{142948A0-DEEC-4759-A275-8BF2C83C69DC}" presName="spaceRect" presStyleCnt="0"/>
      <dgm:spPr/>
    </dgm:pt>
    <dgm:pt modelId="{2B5D732A-733B-43B8-B58F-CB1BD87AF3E4}" type="pres">
      <dgm:prSet presAssocID="{142948A0-DEEC-4759-A275-8BF2C83C69DC}" presName="parTx" presStyleLbl="revTx" presStyleIdx="2" presStyleCnt="5">
        <dgm:presLayoutVars>
          <dgm:chMax val="0"/>
          <dgm:chPref val="0"/>
        </dgm:presLayoutVars>
      </dgm:prSet>
      <dgm:spPr/>
    </dgm:pt>
    <dgm:pt modelId="{19ADD35A-FBBE-4B1E-BC20-0B812267C7D4}" type="pres">
      <dgm:prSet presAssocID="{FE9CC2D9-AA26-41DE-86FF-2DA236F05276}" presName="sibTrans" presStyleCnt="0"/>
      <dgm:spPr/>
    </dgm:pt>
    <dgm:pt modelId="{C3B4A2E9-2248-49C0-99C7-5D819A813CE4}" type="pres">
      <dgm:prSet presAssocID="{4B2B2C34-7B04-4126-A208-915F02F8F7C0}" presName="compNode" presStyleCnt="0"/>
      <dgm:spPr/>
    </dgm:pt>
    <dgm:pt modelId="{BB3A4860-9BDA-4578-A2FD-D7A3F3623833}" type="pres">
      <dgm:prSet presAssocID="{4B2B2C34-7B04-4126-A208-915F02F8F7C0}" presName="bgRect" presStyleLbl="bgShp" presStyleIdx="3" presStyleCnt="5"/>
      <dgm:spPr/>
    </dgm:pt>
    <dgm:pt modelId="{41A5CD4E-ADB6-4921-836D-444EF5806F0A}" type="pres">
      <dgm:prSet presAssocID="{4B2B2C34-7B04-4126-A208-915F02F8F7C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97DB4506-B4FD-4681-8E64-AD15B7DB84FC}" type="pres">
      <dgm:prSet presAssocID="{4B2B2C34-7B04-4126-A208-915F02F8F7C0}" presName="spaceRect" presStyleCnt="0"/>
      <dgm:spPr/>
    </dgm:pt>
    <dgm:pt modelId="{5DF23746-B15B-47FB-B91B-7BBE4B707226}" type="pres">
      <dgm:prSet presAssocID="{4B2B2C34-7B04-4126-A208-915F02F8F7C0}" presName="parTx" presStyleLbl="revTx" presStyleIdx="3" presStyleCnt="5">
        <dgm:presLayoutVars>
          <dgm:chMax val="0"/>
          <dgm:chPref val="0"/>
        </dgm:presLayoutVars>
      </dgm:prSet>
      <dgm:spPr/>
    </dgm:pt>
    <dgm:pt modelId="{F6AB230D-40DD-4DEF-B8CB-CD010C9FB4A1}" type="pres">
      <dgm:prSet presAssocID="{009FB866-88EC-470F-B355-3DE65BFABE72}" presName="sibTrans" presStyleCnt="0"/>
      <dgm:spPr/>
    </dgm:pt>
    <dgm:pt modelId="{8ADE6667-1F3F-41DC-AAD1-D751685AD60B}" type="pres">
      <dgm:prSet presAssocID="{48CDBEB8-E841-4D55-91AC-E70DB8055E46}" presName="compNode" presStyleCnt="0"/>
      <dgm:spPr/>
    </dgm:pt>
    <dgm:pt modelId="{8705E840-162A-4293-ADD3-18376B3ADBD2}" type="pres">
      <dgm:prSet presAssocID="{48CDBEB8-E841-4D55-91AC-E70DB8055E46}" presName="bgRect" presStyleLbl="bgShp" presStyleIdx="4" presStyleCnt="5"/>
      <dgm:spPr/>
    </dgm:pt>
    <dgm:pt modelId="{E9ADB18E-015F-4C58-BFE0-577664DF3C97}" type="pres">
      <dgm:prSet presAssocID="{48CDBEB8-E841-4D55-91AC-E70DB8055E4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heers"/>
        </a:ext>
      </dgm:extLst>
    </dgm:pt>
    <dgm:pt modelId="{DA07C7B1-DE6B-493F-B36B-618D95A291F4}" type="pres">
      <dgm:prSet presAssocID="{48CDBEB8-E841-4D55-91AC-E70DB8055E46}" presName="spaceRect" presStyleCnt="0"/>
      <dgm:spPr/>
    </dgm:pt>
    <dgm:pt modelId="{6867B9AD-EE87-407A-8117-47E240A54A7C}" type="pres">
      <dgm:prSet presAssocID="{48CDBEB8-E841-4D55-91AC-E70DB8055E46}" presName="parTx" presStyleLbl="revTx" presStyleIdx="4" presStyleCnt="5">
        <dgm:presLayoutVars>
          <dgm:chMax val="0"/>
          <dgm:chPref val="0"/>
        </dgm:presLayoutVars>
      </dgm:prSet>
      <dgm:spPr/>
    </dgm:pt>
  </dgm:ptLst>
  <dgm:cxnLst>
    <dgm:cxn modelId="{52E1F40A-F517-42C1-B24B-4B1C16016F4E}" type="presOf" srcId="{25B86ECA-FEDF-4949-93CE-5391FB2A1A43}" destId="{E6354CF1-F1A0-4AE0-8CD5-ACEBE3ED9E13}" srcOrd="0" destOrd="0" presId="urn:microsoft.com/office/officeart/2018/2/layout/IconVerticalSolidList"/>
    <dgm:cxn modelId="{B769E52F-3374-4F67-96E4-40ACFD5E74C8}" srcId="{E38B7119-3DAC-4077-9FBB-EA07C1C23D6C}" destId="{4B2B2C34-7B04-4126-A208-915F02F8F7C0}" srcOrd="3" destOrd="0" parTransId="{8A986048-D84D-4E45-B429-25F5847D9CBE}" sibTransId="{009FB866-88EC-470F-B355-3DE65BFABE72}"/>
    <dgm:cxn modelId="{22F06F61-7CAB-4E2B-A489-EAFE64D84A14}" srcId="{E38B7119-3DAC-4077-9FBB-EA07C1C23D6C}" destId="{142948A0-DEEC-4759-A275-8BF2C83C69DC}" srcOrd="2" destOrd="0" parTransId="{1DA56164-83F0-4554-8020-F34436F17BCD}" sibTransId="{FE9CC2D9-AA26-41DE-86FF-2DA236F05276}"/>
    <dgm:cxn modelId="{3220D970-C952-4EE2-80B9-FC2CD2A46241}" type="presOf" srcId="{48CDBEB8-E841-4D55-91AC-E70DB8055E46}" destId="{6867B9AD-EE87-407A-8117-47E240A54A7C}" srcOrd="0" destOrd="0" presId="urn:microsoft.com/office/officeart/2018/2/layout/IconVerticalSolidList"/>
    <dgm:cxn modelId="{D513238B-D0E6-48C9-8CB3-A4BDE0050561}" type="presOf" srcId="{4B2B2C34-7B04-4126-A208-915F02F8F7C0}" destId="{5DF23746-B15B-47FB-B91B-7BBE4B707226}" srcOrd="0" destOrd="0" presId="urn:microsoft.com/office/officeart/2018/2/layout/IconVerticalSolidList"/>
    <dgm:cxn modelId="{E0D3C296-CB2F-49C4-9121-E53FB7A945FE}" srcId="{E38B7119-3DAC-4077-9FBB-EA07C1C23D6C}" destId="{05BEDFB1-DD29-455C-A9C2-5A9E82B6C18A}" srcOrd="0" destOrd="0" parTransId="{B094AB2D-5A4A-4049-8046-6F3D8EF1E0C3}" sibTransId="{30D51A4D-D1F6-41CA-B177-4A2C9A886786}"/>
    <dgm:cxn modelId="{C13770CB-5FEE-4E5A-9946-BC26297D6406}" srcId="{E38B7119-3DAC-4077-9FBB-EA07C1C23D6C}" destId="{25B86ECA-FEDF-4949-93CE-5391FB2A1A43}" srcOrd="1" destOrd="0" parTransId="{6CA0916F-88FC-49A0-A6C9-98D63A047FC4}" sibTransId="{730FC73F-8B48-4A46-B0BC-032993CED0C6}"/>
    <dgm:cxn modelId="{110264E1-E7DF-4397-9FF4-206DE10C960D}" type="presOf" srcId="{E38B7119-3DAC-4077-9FBB-EA07C1C23D6C}" destId="{DD590DDC-D8E7-477C-9518-CF7280CF35BC}" srcOrd="0" destOrd="0" presId="urn:microsoft.com/office/officeart/2018/2/layout/IconVerticalSolidList"/>
    <dgm:cxn modelId="{6EE8C4ED-C8AF-4FD2-8519-0131C9384F72}" type="presOf" srcId="{05BEDFB1-DD29-455C-A9C2-5A9E82B6C18A}" destId="{5704A3BE-0D83-46DF-8A41-8F85A8DC8672}" srcOrd="0" destOrd="0" presId="urn:microsoft.com/office/officeart/2018/2/layout/IconVerticalSolidList"/>
    <dgm:cxn modelId="{EBB1AFF7-38FF-483F-8213-6251414ACCA8}" srcId="{E38B7119-3DAC-4077-9FBB-EA07C1C23D6C}" destId="{48CDBEB8-E841-4D55-91AC-E70DB8055E46}" srcOrd="4" destOrd="0" parTransId="{F19EBDA9-0429-4FF2-AAB7-5C65DF6F3821}" sibTransId="{17B4F104-6802-4D6F-BBA5-46C21807683A}"/>
    <dgm:cxn modelId="{DA7B49F8-A7E8-4FFC-8507-A9BCC47F72C5}" type="presOf" srcId="{142948A0-DEEC-4759-A275-8BF2C83C69DC}" destId="{2B5D732A-733B-43B8-B58F-CB1BD87AF3E4}" srcOrd="0" destOrd="0" presId="urn:microsoft.com/office/officeart/2018/2/layout/IconVerticalSolidList"/>
    <dgm:cxn modelId="{4E9539AB-5FEF-4ED8-953A-9C881B4CBDA0}" type="presParOf" srcId="{DD590DDC-D8E7-477C-9518-CF7280CF35BC}" destId="{887B013C-9871-476B-9A44-E21AD7B3C6BB}" srcOrd="0" destOrd="0" presId="urn:microsoft.com/office/officeart/2018/2/layout/IconVerticalSolidList"/>
    <dgm:cxn modelId="{EEAC05A1-AE0C-49F2-9B59-C7A3ED9F8116}" type="presParOf" srcId="{887B013C-9871-476B-9A44-E21AD7B3C6BB}" destId="{438072CD-6832-4D7B-98A8-91224DA8A945}" srcOrd="0" destOrd="0" presId="urn:microsoft.com/office/officeart/2018/2/layout/IconVerticalSolidList"/>
    <dgm:cxn modelId="{4456AB11-F589-4747-B53F-2C55A6CF1442}" type="presParOf" srcId="{887B013C-9871-476B-9A44-E21AD7B3C6BB}" destId="{4B702767-3BA5-4E7E-8AB3-379CA1C44C68}" srcOrd="1" destOrd="0" presId="urn:microsoft.com/office/officeart/2018/2/layout/IconVerticalSolidList"/>
    <dgm:cxn modelId="{28535538-3A1F-4C7E-B42B-05B4617362B0}" type="presParOf" srcId="{887B013C-9871-476B-9A44-E21AD7B3C6BB}" destId="{49AF4CD1-3E8A-40E1-9BCC-CD8CB800F689}" srcOrd="2" destOrd="0" presId="urn:microsoft.com/office/officeart/2018/2/layout/IconVerticalSolidList"/>
    <dgm:cxn modelId="{19698F40-92A4-489D-9B54-BB3D3B56C01A}" type="presParOf" srcId="{887B013C-9871-476B-9A44-E21AD7B3C6BB}" destId="{5704A3BE-0D83-46DF-8A41-8F85A8DC8672}" srcOrd="3" destOrd="0" presId="urn:microsoft.com/office/officeart/2018/2/layout/IconVerticalSolidList"/>
    <dgm:cxn modelId="{6EDB655E-FEF5-48B5-B02C-C491E4FB7136}" type="presParOf" srcId="{DD590DDC-D8E7-477C-9518-CF7280CF35BC}" destId="{31C59742-6880-4CBA-A387-DB9DF165775E}" srcOrd="1" destOrd="0" presId="urn:microsoft.com/office/officeart/2018/2/layout/IconVerticalSolidList"/>
    <dgm:cxn modelId="{FDB43C4F-D114-4D27-A44F-1C9B0AD88875}" type="presParOf" srcId="{DD590DDC-D8E7-477C-9518-CF7280CF35BC}" destId="{C03996ED-AF5A-4FAC-9689-21D2596B786A}" srcOrd="2" destOrd="0" presId="urn:microsoft.com/office/officeart/2018/2/layout/IconVerticalSolidList"/>
    <dgm:cxn modelId="{B7757903-0ED5-44F2-B418-14F5DE4EE3AB}" type="presParOf" srcId="{C03996ED-AF5A-4FAC-9689-21D2596B786A}" destId="{54D9C56D-E0A3-40D7-A3F9-7F1E816C0691}" srcOrd="0" destOrd="0" presId="urn:microsoft.com/office/officeart/2018/2/layout/IconVerticalSolidList"/>
    <dgm:cxn modelId="{9AD177F5-9A94-483D-B18C-F52E55570C84}" type="presParOf" srcId="{C03996ED-AF5A-4FAC-9689-21D2596B786A}" destId="{3A1A0AA3-1BD5-4E7F-8C38-F7DC4195A676}" srcOrd="1" destOrd="0" presId="urn:microsoft.com/office/officeart/2018/2/layout/IconVerticalSolidList"/>
    <dgm:cxn modelId="{ABE448E8-B1BC-4DEF-A502-3E623D185D1A}" type="presParOf" srcId="{C03996ED-AF5A-4FAC-9689-21D2596B786A}" destId="{A2B48A4B-2240-44DB-86AE-59632DED5838}" srcOrd="2" destOrd="0" presId="urn:microsoft.com/office/officeart/2018/2/layout/IconVerticalSolidList"/>
    <dgm:cxn modelId="{8A486F4C-ABCC-4925-8465-222F63CF319E}" type="presParOf" srcId="{C03996ED-AF5A-4FAC-9689-21D2596B786A}" destId="{E6354CF1-F1A0-4AE0-8CD5-ACEBE3ED9E13}" srcOrd="3" destOrd="0" presId="urn:microsoft.com/office/officeart/2018/2/layout/IconVerticalSolidList"/>
    <dgm:cxn modelId="{714F6A89-063D-469A-8AA3-534B45F1D40B}" type="presParOf" srcId="{DD590DDC-D8E7-477C-9518-CF7280CF35BC}" destId="{30BF5985-7944-427A-8BF2-85A44254E8C1}" srcOrd="3" destOrd="0" presId="urn:microsoft.com/office/officeart/2018/2/layout/IconVerticalSolidList"/>
    <dgm:cxn modelId="{E6645B60-EA14-478F-8947-6D41ABE2B073}" type="presParOf" srcId="{DD590DDC-D8E7-477C-9518-CF7280CF35BC}" destId="{930F8BDB-1A6A-4F14-B5E9-D67F96370F5E}" srcOrd="4" destOrd="0" presId="urn:microsoft.com/office/officeart/2018/2/layout/IconVerticalSolidList"/>
    <dgm:cxn modelId="{E3021C0B-8F94-4658-9F0E-9F90B4D52A3F}" type="presParOf" srcId="{930F8BDB-1A6A-4F14-B5E9-D67F96370F5E}" destId="{BCE21B67-2A7C-466A-8EE7-811F969F2DA3}" srcOrd="0" destOrd="0" presId="urn:microsoft.com/office/officeart/2018/2/layout/IconVerticalSolidList"/>
    <dgm:cxn modelId="{FC125508-C685-49C4-98A1-795DC589D784}" type="presParOf" srcId="{930F8BDB-1A6A-4F14-B5E9-D67F96370F5E}" destId="{D97DF169-8149-448F-97E7-E5E27C42A603}" srcOrd="1" destOrd="0" presId="urn:microsoft.com/office/officeart/2018/2/layout/IconVerticalSolidList"/>
    <dgm:cxn modelId="{7E622EF1-B59C-491B-BF70-055922C165E7}" type="presParOf" srcId="{930F8BDB-1A6A-4F14-B5E9-D67F96370F5E}" destId="{BD6E8D71-56A0-4F6D-8046-64CEBCE2D701}" srcOrd="2" destOrd="0" presId="urn:microsoft.com/office/officeart/2018/2/layout/IconVerticalSolidList"/>
    <dgm:cxn modelId="{2F49D025-918E-467A-AE44-8494141A8091}" type="presParOf" srcId="{930F8BDB-1A6A-4F14-B5E9-D67F96370F5E}" destId="{2B5D732A-733B-43B8-B58F-CB1BD87AF3E4}" srcOrd="3" destOrd="0" presId="urn:microsoft.com/office/officeart/2018/2/layout/IconVerticalSolidList"/>
    <dgm:cxn modelId="{536FDE89-B887-42D5-8FBC-D118F240EBFB}" type="presParOf" srcId="{DD590DDC-D8E7-477C-9518-CF7280CF35BC}" destId="{19ADD35A-FBBE-4B1E-BC20-0B812267C7D4}" srcOrd="5" destOrd="0" presId="urn:microsoft.com/office/officeart/2018/2/layout/IconVerticalSolidList"/>
    <dgm:cxn modelId="{D63EC32F-FA2E-4A0F-A18A-FFAC50A62A60}" type="presParOf" srcId="{DD590DDC-D8E7-477C-9518-CF7280CF35BC}" destId="{C3B4A2E9-2248-49C0-99C7-5D819A813CE4}" srcOrd="6" destOrd="0" presId="urn:microsoft.com/office/officeart/2018/2/layout/IconVerticalSolidList"/>
    <dgm:cxn modelId="{896B64AD-E659-46A3-B5C3-00BB292DD239}" type="presParOf" srcId="{C3B4A2E9-2248-49C0-99C7-5D819A813CE4}" destId="{BB3A4860-9BDA-4578-A2FD-D7A3F3623833}" srcOrd="0" destOrd="0" presId="urn:microsoft.com/office/officeart/2018/2/layout/IconVerticalSolidList"/>
    <dgm:cxn modelId="{B94905FB-3794-422D-8030-0C53A4D187AB}" type="presParOf" srcId="{C3B4A2E9-2248-49C0-99C7-5D819A813CE4}" destId="{41A5CD4E-ADB6-4921-836D-444EF5806F0A}" srcOrd="1" destOrd="0" presId="urn:microsoft.com/office/officeart/2018/2/layout/IconVerticalSolidList"/>
    <dgm:cxn modelId="{E5D8220A-A525-489B-84A7-8024E6E98BDC}" type="presParOf" srcId="{C3B4A2E9-2248-49C0-99C7-5D819A813CE4}" destId="{97DB4506-B4FD-4681-8E64-AD15B7DB84FC}" srcOrd="2" destOrd="0" presId="urn:microsoft.com/office/officeart/2018/2/layout/IconVerticalSolidList"/>
    <dgm:cxn modelId="{01C1A7BB-41FC-48C7-98C4-2BB575CC1FD8}" type="presParOf" srcId="{C3B4A2E9-2248-49C0-99C7-5D819A813CE4}" destId="{5DF23746-B15B-47FB-B91B-7BBE4B707226}" srcOrd="3" destOrd="0" presId="urn:microsoft.com/office/officeart/2018/2/layout/IconVerticalSolidList"/>
    <dgm:cxn modelId="{31C23CBE-4F77-48D8-85CE-53BF28B8EE53}" type="presParOf" srcId="{DD590DDC-D8E7-477C-9518-CF7280CF35BC}" destId="{F6AB230D-40DD-4DEF-B8CB-CD010C9FB4A1}" srcOrd="7" destOrd="0" presId="urn:microsoft.com/office/officeart/2018/2/layout/IconVerticalSolidList"/>
    <dgm:cxn modelId="{A352C323-F867-459F-8DF3-DE223543A3A8}" type="presParOf" srcId="{DD590DDC-D8E7-477C-9518-CF7280CF35BC}" destId="{8ADE6667-1F3F-41DC-AAD1-D751685AD60B}" srcOrd="8" destOrd="0" presId="urn:microsoft.com/office/officeart/2018/2/layout/IconVerticalSolidList"/>
    <dgm:cxn modelId="{07E9594D-3353-4F0B-8506-BCCE779D9C7B}" type="presParOf" srcId="{8ADE6667-1F3F-41DC-AAD1-D751685AD60B}" destId="{8705E840-162A-4293-ADD3-18376B3ADBD2}" srcOrd="0" destOrd="0" presId="urn:microsoft.com/office/officeart/2018/2/layout/IconVerticalSolidList"/>
    <dgm:cxn modelId="{A58B5183-0B2F-4D0E-80FD-9ECA3AF583C1}" type="presParOf" srcId="{8ADE6667-1F3F-41DC-AAD1-D751685AD60B}" destId="{E9ADB18E-015F-4C58-BFE0-577664DF3C97}" srcOrd="1" destOrd="0" presId="urn:microsoft.com/office/officeart/2018/2/layout/IconVerticalSolidList"/>
    <dgm:cxn modelId="{51BABF0E-84D7-4C0A-9F99-36A1C4E2BD4F}" type="presParOf" srcId="{8ADE6667-1F3F-41DC-AAD1-D751685AD60B}" destId="{DA07C7B1-DE6B-493F-B36B-618D95A291F4}" srcOrd="2" destOrd="0" presId="urn:microsoft.com/office/officeart/2018/2/layout/IconVerticalSolidList"/>
    <dgm:cxn modelId="{45979130-19D3-49C9-A1AD-B7F316CF63F1}" type="presParOf" srcId="{8ADE6667-1F3F-41DC-AAD1-D751685AD60B}" destId="{6867B9AD-EE87-407A-8117-47E240A54A7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4BB574-90F3-4043-83E5-AE9744693D0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31036E8-C432-4F9D-B77D-4D0AD8CA0E0C}">
      <dgm:prSet/>
      <dgm:spPr/>
      <dgm:t>
        <a:bodyPr/>
        <a:lstStyle/>
        <a:p>
          <a:r>
            <a:rPr lang="en-US"/>
            <a:t>1) Behavioural control</a:t>
          </a:r>
        </a:p>
      </dgm:t>
    </dgm:pt>
    <dgm:pt modelId="{12EB822F-E3A2-4810-BF48-CD11FCE10250}" type="parTrans" cxnId="{ED8C66FC-84E8-4190-B3B0-3297F61C1690}">
      <dgm:prSet/>
      <dgm:spPr/>
      <dgm:t>
        <a:bodyPr/>
        <a:lstStyle/>
        <a:p>
          <a:endParaRPr lang="en-US"/>
        </a:p>
      </dgm:t>
    </dgm:pt>
    <dgm:pt modelId="{1AF79E06-DAFC-4678-AB48-CFF9F40A71F9}" type="sibTrans" cxnId="{ED8C66FC-84E8-4190-B3B0-3297F61C1690}">
      <dgm:prSet/>
      <dgm:spPr/>
      <dgm:t>
        <a:bodyPr/>
        <a:lstStyle/>
        <a:p>
          <a:endParaRPr lang="en-US"/>
        </a:p>
      </dgm:t>
    </dgm:pt>
    <dgm:pt modelId="{59E38F74-69EC-4386-8BD5-08E46995372F}">
      <dgm:prSet/>
      <dgm:spPr/>
      <dgm:t>
        <a:bodyPr/>
        <a:lstStyle/>
        <a:p>
          <a:r>
            <a:rPr lang="en-US"/>
            <a:t>2) Output control</a:t>
          </a:r>
        </a:p>
      </dgm:t>
    </dgm:pt>
    <dgm:pt modelId="{8E6D16D6-8B78-4288-B6CE-1BA757A14707}" type="parTrans" cxnId="{CD1A1ADF-91A9-46B2-A033-8FFFA545EF5F}">
      <dgm:prSet/>
      <dgm:spPr/>
      <dgm:t>
        <a:bodyPr/>
        <a:lstStyle/>
        <a:p>
          <a:endParaRPr lang="en-US"/>
        </a:p>
      </dgm:t>
    </dgm:pt>
    <dgm:pt modelId="{78AE066E-CC0E-46C9-BE65-30D510D23A75}" type="sibTrans" cxnId="{CD1A1ADF-91A9-46B2-A033-8FFFA545EF5F}">
      <dgm:prSet/>
      <dgm:spPr/>
      <dgm:t>
        <a:bodyPr/>
        <a:lstStyle/>
        <a:p>
          <a:endParaRPr lang="en-US"/>
        </a:p>
      </dgm:t>
    </dgm:pt>
    <dgm:pt modelId="{8620BDBE-BD6F-4178-BDF8-C2EB8B4489FE}">
      <dgm:prSet/>
      <dgm:spPr/>
      <dgm:t>
        <a:bodyPr/>
        <a:lstStyle/>
        <a:p>
          <a:r>
            <a:rPr lang="en-US"/>
            <a:t>3) Clan or Normative control control</a:t>
          </a:r>
        </a:p>
      </dgm:t>
    </dgm:pt>
    <dgm:pt modelId="{0DC4027F-73F0-4C65-A622-56599F98508E}" type="parTrans" cxnId="{43280EE5-736A-45F6-B1DE-2A95C40A5ACD}">
      <dgm:prSet/>
      <dgm:spPr/>
      <dgm:t>
        <a:bodyPr/>
        <a:lstStyle/>
        <a:p>
          <a:endParaRPr lang="en-US"/>
        </a:p>
      </dgm:t>
    </dgm:pt>
    <dgm:pt modelId="{44A5FA07-41D9-473B-93CF-AEA5536F4194}" type="sibTrans" cxnId="{43280EE5-736A-45F6-B1DE-2A95C40A5ACD}">
      <dgm:prSet/>
      <dgm:spPr/>
      <dgm:t>
        <a:bodyPr/>
        <a:lstStyle/>
        <a:p>
          <a:endParaRPr lang="en-US"/>
        </a:p>
      </dgm:t>
    </dgm:pt>
    <dgm:pt modelId="{8878AF03-DD64-4040-828C-3708E795D54D}" type="pres">
      <dgm:prSet presAssocID="{264BB574-90F3-4043-83E5-AE9744693D09}" presName="linear" presStyleCnt="0">
        <dgm:presLayoutVars>
          <dgm:animLvl val="lvl"/>
          <dgm:resizeHandles val="exact"/>
        </dgm:presLayoutVars>
      </dgm:prSet>
      <dgm:spPr/>
    </dgm:pt>
    <dgm:pt modelId="{68B9540B-73A4-E441-8AEF-9D076E932844}" type="pres">
      <dgm:prSet presAssocID="{931036E8-C432-4F9D-B77D-4D0AD8CA0E0C}" presName="parentText" presStyleLbl="node1" presStyleIdx="0" presStyleCnt="3">
        <dgm:presLayoutVars>
          <dgm:chMax val="0"/>
          <dgm:bulletEnabled val="1"/>
        </dgm:presLayoutVars>
      </dgm:prSet>
      <dgm:spPr/>
    </dgm:pt>
    <dgm:pt modelId="{97DBFEE6-1F28-4843-A44B-A63FACA5CB1A}" type="pres">
      <dgm:prSet presAssocID="{1AF79E06-DAFC-4678-AB48-CFF9F40A71F9}" presName="spacer" presStyleCnt="0"/>
      <dgm:spPr/>
    </dgm:pt>
    <dgm:pt modelId="{22C83C3E-44A9-814F-A16D-1C4AD3998882}" type="pres">
      <dgm:prSet presAssocID="{59E38F74-69EC-4386-8BD5-08E46995372F}" presName="parentText" presStyleLbl="node1" presStyleIdx="1" presStyleCnt="3">
        <dgm:presLayoutVars>
          <dgm:chMax val="0"/>
          <dgm:bulletEnabled val="1"/>
        </dgm:presLayoutVars>
      </dgm:prSet>
      <dgm:spPr/>
    </dgm:pt>
    <dgm:pt modelId="{F5F583D2-8B34-B248-951B-3ECB31370B61}" type="pres">
      <dgm:prSet presAssocID="{78AE066E-CC0E-46C9-BE65-30D510D23A75}" presName="spacer" presStyleCnt="0"/>
      <dgm:spPr/>
    </dgm:pt>
    <dgm:pt modelId="{BA1DFADC-DFB8-5646-BAC9-09BB1B7A6E18}" type="pres">
      <dgm:prSet presAssocID="{8620BDBE-BD6F-4178-BDF8-C2EB8B4489FE}" presName="parentText" presStyleLbl="node1" presStyleIdx="2" presStyleCnt="3">
        <dgm:presLayoutVars>
          <dgm:chMax val="0"/>
          <dgm:bulletEnabled val="1"/>
        </dgm:presLayoutVars>
      </dgm:prSet>
      <dgm:spPr/>
    </dgm:pt>
  </dgm:ptLst>
  <dgm:cxnLst>
    <dgm:cxn modelId="{33401179-8B96-F542-8F33-B7BA46CB46FB}" type="presOf" srcId="{264BB574-90F3-4043-83E5-AE9744693D09}" destId="{8878AF03-DD64-4040-828C-3708E795D54D}" srcOrd="0" destOrd="0" presId="urn:microsoft.com/office/officeart/2005/8/layout/vList2"/>
    <dgm:cxn modelId="{60B4AFB0-4872-054D-B6EA-B57A2444E8F2}" type="presOf" srcId="{931036E8-C432-4F9D-B77D-4D0AD8CA0E0C}" destId="{68B9540B-73A4-E441-8AEF-9D076E932844}" srcOrd="0" destOrd="0" presId="urn:microsoft.com/office/officeart/2005/8/layout/vList2"/>
    <dgm:cxn modelId="{CD1A1ADF-91A9-46B2-A033-8FFFA545EF5F}" srcId="{264BB574-90F3-4043-83E5-AE9744693D09}" destId="{59E38F74-69EC-4386-8BD5-08E46995372F}" srcOrd="1" destOrd="0" parTransId="{8E6D16D6-8B78-4288-B6CE-1BA757A14707}" sibTransId="{78AE066E-CC0E-46C9-BE65-30D510D23A75}"/>
    <dgm:cxn modelId="{43280EE5-736A-45F6-B1DE-2A95C40A5ACD}" srcId="{264BB574-90F3-4043-83E5-AE9744693D09}" destId="{8620BDBE-BD6F-4178-BDF8-C2EB8B4489FE}" srcOrd="2" destOrd="0" parTransId="{0DC4027F-73F0-4C65-A622-56599F98508E}" sibTransId="{44A5FA07-41D9-473B-93CF-AEA5536F4194}"/>
    <dgm:cxn modelId="{7BDBE1E8-3014-2C47-9BE7-D345543EE4C2}" type="presOf" srcId="{59E38F74-69EC-4386-8BD5-08E46995372F}" destId="{22C83C3E-44A9-814F-A16D-1C4AD3998882}" srcOrd="0" destOrd="0" presId="urn:microsoft.com/office/officeart/2005/8/layout/vList2"/>
    <dgm:cxn modelId="{E2DAAAF3-8A37-B145-89DD-17DDF17DAFFD}" type="presOf" srcId="{8620BDBE-BD6F-4178-BDF8-C2EB8B4489FE}" destId="{BA1DFADC-DFB8-5646-BAC9-09BB1B7A6E18}" srcOrd="0" destOrd="0" presId="urn:microsoft.com/office/officeart/2005/8/layout/vList2"/>
    <dgm:cxn modelId="{ED8C66FC-84E8-4190-B3B0-3297F61C1690}" srcId="{264BB574-90F3-4043-83E5-AE9744693D09}" destId="{931036E8-C432-4F9D-B77D-4D0AD8CA0E0C}" srcOrd="0" destOrd="0" parTransId="{12EB822F-E3A2-4810-BF48-CD11FCE10250}" sibTransId="{1AF79E06-DAFC-4678-AB48-CFF9F40A71F9}"/>
    <dgm:cxn modelId="{9230A55A-FE17-4049-82C5-3696987C437C}" type="presParOf" srcId="{8878AF03-DD64-4040-828C-3708E795D54D}" destId="{68B9540B-73A4-E441-8AEF-9D076E932844}" srcOrd="0" destOrd="0" presId="urn:microsoft.com/office/officeart/2005/8/layout/vList2"/>
    <dgm:cxn modelId="{8149D0AD-6D79-BC4A-B34A-E1E526E6D452}" type="presParOf" srcId="{8878AF03-DD64-4040-828C-3708E795D54D}" destId="{97DBFEE6-1F28-4843-A44B-A63FACA5CB1A}" srcOrd="1" destOrd="0" presId="urn:microsoft.com/office/officeart/2005/8/layout/vList2"/>
    <dgm:cxn modelId="{5BB1C25A-68B9-EA4B-A1C4-3F517F4A44DD}" type="presParOf" srcId="{8878AF03-DD64-4040-828C-3708E795D54D}" destId="{22C83C3E-44A9-814F-A16D-1C4AD3998882}" srcOrd="2" destOrd="0" presId="urn:microsoft.com/office/officeart/2005/8/layout/vList2"/>
    <dgm:cxn modelId="{836D1561-5655-BD4E-9446-ECF14AC70C2A}" type="presParOf" srcId="{8878AF03-DD64-4040-828C-3708E795D54D}" destId="{F5F583D2-8B34-B248-951B-3ECB31370B61}" srcOrd="3" destOrd="0" presId="urn:microsoft.com/office/officeart/2005/8/layout/vList2"/>
    <dgm:cxn modelId="{C2C6E5B9-8569-F248-A4CA-7D0E662229E0}" type="presParOf" srcId="{8878AF03-DD64-4040-828C-3708E795D54D}" destId="{BA1DFADC-DFB8-5646-BAC9-09BB1B7A6E1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3AF999-610B-4212-BCF6-A48C3E8D0A89}"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30677BA3-68A4-4A3C-AEE8-9DA091EC07BB}">
      <dgm:prSet/>
      <dgm:spPr/>
      <dgm:t>
        <a:bodyPr/>
        <a:lstStyle/>
        <a:p>
          <a:r>
            <a:rPr lang="en-US" b="1"/>
            <a:t>Content Theories</a:t>
          </a:r>
          <a:endParaRPr lang="en-US"/>
        </a:p>
      </dgm:t>
    </dgm:pt>
    <dgm:pt modelId="{81A0307C-E75D-4CF7-9D45-09D57B0AAD74}" type="parTrans" cxnId="{702E10F2-788C-4374-A433-C0C315BED640}">
      <dgm:prSet/>
      <dgm:spPr/>
      <dgm:t>
        <a:bodyPr/>
        <a:lstStyle/>
        <a:p>
          <a:endParaRPr lang="en-US"/>
        </a:p>
      </dgm:t>
    </dgm:pt>
    <dgm:pt modelId="{E8E37C5F-70A0-4CE1-8F81-8A6475B0C7ED}" type="sibTrans" cxnId="{702E10F2-788C-4374-A433-C0C315BED640}">
      <dgm:prSet/>
      <dgm:spPr/>
      <dgm:t>
        <a:bodyPr/>
        <a:lstStyle/>
        <a:p>
          <a:endParaRPr lang="en-US"/>
        </a:p>
      </dgm:t>
    </dgm:pt>
    <dgm:pt modelId="{19BFE5AB-40D9-4C17-9837-0E2B7DFD8045}">
      <dgm:prSet/>
      <dgm:spPr/>
      <dgm:t>
        <a:bodyPr/>
        <a:lstStyle/>
        <a:p>
          <a:r>
            <a:rPr lang="en-US"/>
            <a:t>Emphasize the "what" factors that motivate individuals.</a:t>
          </a:r>
        </a:p>
      </dgm:t>
    </dgm:pt>
    <dgm:pt modelId="{F44A42B6-32D9-4A8D-926B-287EF78B7112}" type="parTrans" cxnId="{C3D85395-A2FE-439F-B8F5-A5F2B109EE8C}">
      <dgm:prSet/>
      <dgm:spPr/>
      <dgm:t>
        <a:bodyPr/>
        <a:lstStyle/>
        <a:p>
          <a:endParaRPr lang="en-US"/>
        </a:p>
      </dgm:t>
    </dgm:pt>
    <dgm:pt modelId="{9FDCC6BB-E06B-446D-A852-8DCB9658EFFB}" type="sibTrans" cxnId="{C3D85395-A2FE-439F-B8F5-A5F2B109EE8C}">
      <dgm:prSet/>
      <dgm:spPr/>
      <dgm:t>
        <a:bodyPr/>
        <a:lstStyle/>
        <a:p>
          <a:endParaRPr lang="en-US"/>
        </a:p>
      </dgm:t>
    </dgm:pt>
    <dgm:pt modelId="{79453002-09E3-4158-BC7B-1C78A15C68ED}">
      <dgm:prSet/>
      <dgm:spPr/>
      <dgm:t>
        <a:bodyPr/>
        <a:lstStyle/>
        <a:p>
          <a:r>
            <a:rPr lang="en-US"/>
            <a:t>Concerned with identifying and categorizing human needs.</a:t>
          </a:r>
        </a:p>
      </dgm:t>
    </dgm:pt>
    <dgm:pt modelId="{BF219DD6-172D-4EF7-8ABA-C2DCE16EEA9F}" type="parTrans" cxnId="{43C1E68D-5512-4AD7-B1C5-4DFBE7612DB7}">
      <dgm:prSet/>
      <dgm:spPr/>
      <dgm:t>
        <a:bodyPr/>
        <a:lstStyle/>
        <a:p>
          <a:endParaRPr lang="en-US"/>
        </a:p>
      </dgm:t>
    </dgm:pt>
    <dgm:pt modelId="{0C426E1F-4266-44DA-A6D5-31452D1B1930}" type="sibTrans" cxnId="{43C1E68D-5512-4AD7-B1C5-4DFBE7612DB7}">
      <dgm:prSet/>
      <dgm:spPr/>
      <dgm:t>
        <a:bodyPr/>
        <a:lstStyle/>
        <a:p>
          <a:endParaRPr lang="en-US"/>
        </a:p>
      </dgm:t>
    </dgm:pt>
    <dgm:pt modelId="{A794ACAC-BF7D-496F-B586-98A86E0BB488}">
      <dgm:prSet/>
      <dgm:spPr/>
      <dgm:t>
        <a:bodyPr/>
        <a:lstStyle/>
        <a:p>
          <a:r>
            <a:rPr lang="en-US"/>
            <a:t>Motivation is then driven by fulfilling these specific needs/desires.</a:t>
          </a:r>
        </a:p>
      </dgm:t>
    </dgm:pt>
    <dgm:pt modelId="{10ABCB86-F1C2-4B7F-88CD-196DADCB3FB0}" type="parTrans" cxnId="{A0335B37-C1C4-4B5B-AFB1-FBE769C9308C}">
      <dgm:prSet/>
      <dgm:spPr/>
      <dgm:t>
        <a:bodyPr/>
        <a:lstStyle/>
        <a:p>
          <a:endParaRPr lang="en-US"/>
        </a:p>
      </dgm:t>
    </dgm:pt>
    <dgm:pt modelId="{CC8D321A-A223-49FF-B095-8B9253952999}" type="sibTrans" cxnId="{A0335B37-C1C4-4B5B-AFB1-FBE769C9308C}">
      <dgm:prSet/>
      <dgm:spPr/>
      <dgm:t>
        <a:bodyPr/>
        <a:lstStyle/>
        <a:p>
          <a:endParaRPr lang="en-US"/>
        </a:p>
      </dgm:t>
    </dgm:pt>
    <dgm:pt modelId="{D11B2081-11D5-4500-B8E7-11C07AE9C53C}">
      <dgm:prSet/>
      <dgm:spPr/>
      <dgm:t>
        <a:bodyPr/>
        <a:lstStyle/>
        <a:p>
          <a:r>
            <a:rPr lang="en-US" b="1"/>
            <a:t>Process Theories</a:t>
          </a:r>
          <a:endParaRPr lang="en-US"/>
        </a:p>
      </dgm:t>
    </dgm:pt>
    <dgm:pt modelId="{F0777D12-855B-43AA-B01D-893255A36828}" type="parTrans" cxnId="{C3D33F6B-92DF-44D0-B8DA-C25F89C3D77E}">
      <dgm:prSet/>
      <dgm:spPr/>
      <dgm:t>
        <a:bodyPr/>
        <a:lstStyle/>
        <a:p>
          <a:endParaRPr lang="en-US"/>
        </a:p>
      </dgm:t>
    </dgm:pt>
    <dgm:pt modelId="{C589F3AC-640E-45B1-A439-795D78A07358}" type="sibTrans" cxnId="{C3D33F6B-92DF-44D0-B8DA-C25F89C3D77E}">
      <dgm:prSet/>
      <dgm:spPr/>
      <dgm:t>
        <a:bodyPr/>
        <a:lstStyle/>
        <a:p>
          <a:endParaRPr lang="en-US"/>
        </a:p>
      </dgm:t>
    </dgm:pt>
    <dgm:pt modelId="{A274CEEC-C930-4670-9DAA-D41D0F731AB5}">
      <dgm:prSet/>
      <dgm:spPr/>
      <dgm:t>
        <a:bodyPr/>
        <a:lstStyle/>
        <a:p>
          <a:r>
            <a:rPr lang="en-US"/>
            <a:t>Explores “how” motivation occurs.</a:t>
          </a:r>
        </a:p>
      </dgm:t>
    </dgm:pt>
    <dgm:pt modelId="{18C90D4C-636A-45A9-8FB9-AEA16F1C489D}" type="parTrans" cxnId="{64AFD54A-6258-4603-9FF1-8948D28D597B}">
      <dgm:prSet/>
      <dgm:spPr/>
      <dgm:t>
        <a:bodyPr/>
        <a:lstStyle/>
        <a:p>
          <a:endParaRPr lang="en-US"/>
        </a:p>
      </dgm:t>
    </dgm:pt>
    <dgm:pt modelId="{9BD4F619-9ECD-43FC-9AE3-9C2E4688C75A}" type="sibTrans" cxnId="{64AFD54A-6258-4603-9FF1-8948D28D597B}">
      <dgm:prSet/>
      <dgm:spPr/>
      <dgm:t>
        <a:bodyPr/>
        <a:lstStyle/>
        <a:p>
          <a:endParaRPr lang="en-US"/>
        </a:p>
      </dgm:t>
    </dgm:pt>
    <dgm:pt modelId="{D6EF4325-A031-477F-97EA-7D3397579845}">
      <dgm:prSet/>
      <dgm:spPr/>
      <dgm:t>
        <a:bodyPr/>
        <a:lstStyle/>
        <a:p>
          <a:r>
            <a:rPr lang="en-US"/>
            <a:t>Believe motivation is a cognitive ‘process’ that involves evaluating different factors before deciding how to act.</a:t>
          </a:r>
        </a:p>
      </dgm:t>
    </dgm:pt>
    <dgm:pt modelId="{116D68B8-0628-4EC0-9C3C-566E2B2D2FFE}" type="parTrans" cxnId="{0C012E69-EFFC-4BA2-BA58-FCA8433A3A1D}">
      <dgm:prSet/>
      <dgm:spPr/>
      <dgm:t>
        <a:bodyPr/>
        <a:lstStyle/>
        <a:p>
          <a:endParaRPr lang="en-US"/>
        </a:p>
      </dgm:t>
    </dgm:pt>
    <dgm:pt modelId="{F17FC44E-148C-4811-91D7-8CE95E7C6D78}" type="sibTrans" cxnId="{0C012E69-EFFC-4BA2-BA58-FCA8433A3A1D}">
      <dgm:prSet/>
      <dgm:spPr/>
      <dgm:t>
        <a:bodyPr/>
        <a:lstStyle/>
        <a:p>
          <a:endParaRPr lang="en-US"/>
        </a:p>
      </dgm:t>
    </dgm:pt>
    <dgm:pt modelId="{D2A88089-1669-4878-8500-52CA8705DC87}">
      <dgm:prSet/>
      <dgm:spPr/>
      <dgm:t>
        <a:bodyPr/>
        <a:lstStyle/>
        <a:p>
          <a:r>
            <a:rPr lang="en-US"/>
            <a:t>Explore the thought processes behind choices, efforts, and persistence.</a:t>
          </a:r>
        </a:p>
      </dgm:t>
    </dgm:pt>
    <dgm:pt modelId="{367B27E4-F017-4C69-8715-62EB2B94C919}" type="parTrans" cxnId="{D64EF343-34C6-408E-8F5A-84C685A7E367}">
      <dgm:prSet/>
      <dgm:spPr/>
      <dgm:t>
        <a:bodyPr/>
        <a:lstStyle/>
        <a:p>
          <a:endParaRPr lang="en-US"/>
        </a:p>
      </dgm:t>
    </dgm:pt>
    <dgm:pt modelId="{DC2A0006-8157-4B15-87FF-D2E4987C8754}" type="sibTrans" cxnId="{D64EF343-34C6-408E-8F5A-84C685A7E367}">
      <dgm:prSet/>
      <dgm:spPr/>
      <dgm:t>
        <a:bodyPr/>
        <a:lstStyle/>
        <a:p>
          <a:endParaRPr lang="en-US"/>
        </a:p>
      </dgm:t>
    </dgm:pt>
    <dgm:pt modelId="{7510D300-F10C-CE41-BB50-DE995DE1392E}" type="pres">
      <dgm:prSet presAssocID="{F43AF999-610B-4212-BCF6-A48C3E8D0A89}" presName="diagram" presStyleCnt="0">
        <dgm:presLayoutVars>
          <dgm:dir/>
          <dgm:resizeHandles val="exact"/>
        </dgm:presLayoutVars>
      </dgm:prSet>
      <dgm:spPr/>
    </dgm:pt>
    <dgm:pt modelId="{37A7F3C1-12A0-824A-AA48-359E94E4207A}" type="pres">
      <dgm:prSet presAssocID="{30677BA3-68A4-4A3C-AEE8-9DA091EC07BB}" presName="node" presStyleLbl="node1" presStyleIdx="0" presStyleCnt="2">
        <dgm:presLayoutVars>
          <dgm:bulletEnabled val="1"/>
        </dgm:presLayoutVars>
      </dgm:prSet>
      <dgm:spPr/>
    </dgm:pt>
    <dgm:pt modelId="{230500B9-9343-9548-A6B5-3F759AF96505}" type="pres">
      <dgm:prSet presAssocID="{E8E37C5F-70A0-4CE1-8F81-8A6475B0C7ED}" presName="sibTrans" presStyleCnt="0"/>
      <dgm:spPr/>
    </dgm:pt>
    <dgm:pt modelId="{85F1080F-9D38-9842-AD9E-1ECABFEF8EA5}" type="pres">
      <dgm:prSet presAssocID="{D11B2081-11D5-4500-B8E7-11C07AE9C53C}" presName="node" presStyleLbl="node1" presStyleIdx="1" presStyleCnt="2">
        <dgm:presLayoutVars>
          <dgm:bulletEnabled val="1"/>
        </dgm:presLayoutVars>
      </dgm:prSet>
      <dgm:spPr/>
    </dgm:pt>
  </dgm:ptLst>
  <dgm:cxnLst>
    <dgm:cxn modelId="{0EBC831B-1688-1648-827F-DCCE0CC2E610}" type="presOf" srcId="{F43AF999-610B-4212-BCF6-A48C3E8D0A89}" destId="{7510D300-F10C-CE41-BB50-DE995DE1392E}" srcOrd="0" destOrd="0" presId="urn:microsoft.com/office/officeart/2005/8/layout/default"/>
    <dgm:cxn modelId="{43B2981C-D73F-2549-994B-74189223705F}" type="presOf" srcId="{A794ACAC-BF7D-496F-B586-98A86E0BB488}" destId="{37A7F3C1-12A0-824A-AA48-359E94E4207A}" srcOrd="0" destOrd="3" presId="urn:microsoft.com/office/officeart/2005/8/layout/default"/>
    <dgm:cxn modelId="{A0335B37-C1C4-4B5B-AFB1-FBE769C9308C}" srcId="{30677BA3-68A4-4A3C-AEE8-9DA091EC07BB}" destId="{A794ACAC-BF7D-496F-B586-98A86E0BB488}" srcOrd="2" destOrd="0" parTransId="{10ABCB86-F1C2-4B7F-88CD-196DADCB3FB0}" sibTransId="{CC8D321A-A223-49FF-B095-8B9253952999}"/>
    <dgm:cxn modelId="{FECF833F-E518-EE4F-A567-651313FA74E6}" type="presOf" srcId="{19BFE5AB-40D9-4C17-9837-0E2B7DFD8045}" destId="{37A7F3C1-12A0-824A-AA48-359E94E4207A}" srcOrd="0" destOrd="1" presId="urn:microsoft.com/office/officeart/2005/8/layout/default"/>
    <dgm:cxn modelId="{D64EF343-34C6-408E-8F5A-84C685A7E367}" srcId="{D11B2081-11D5-4500-B8E7-11C07AE9C53C}" destId="{D2A88089-1669-4878-8500-52CA8705DC87}" srcOrd="2" destOrd="0" parTransId="{367B27E4-F017-4C69-8715-62EB2B94C919}" sibTransId="{DC2A0006-8157-4B15-87FF-D2E4987C8754}"/>
    <dgm:cxn modelId="{64AFD54A-6258-4603-9FF1-8948D28D597B}" srcId="{D11B2081-11D5-4500-B8E7-11C07AE9C53C}" destId="{A274CEEC-C930-4670-9DAA-D41D0F731AB5}" srcOrd="0" destOrd="0" parTransId="{18C90D4C-636A-45A9-8FB9-AEA16F1C489D}" sibTransId="{9BD4F619-9ECD-43FC-9AE3-9C2E4688C75A}"/>
    <dgm:cxn modelId="{0C012E69-EFFC-4BA2-BA58-FCA8433A3A1D}" srcId="{D11B2081-11D5-4500-B8E7-11C07AE9C53C}" destId="{D6EF4325-A031-477F-97EA-7D3397579845}" srcOrd="1" destOrd="0" parTransId="{116D68B8-0628-4EC0-9C3C-566E2B2D2FFE}" sibTransId="{F17FC44E-148C-4811-91D7-8CE95E7C6D78}"/>
    <dgm:cxn modelId="{C3D33F6B-92DF-44D0-B8DA-C25F89C3D77E}" srcId="{F43AF999-610B-4212-BCF6-A48C3E8D0A89}" destId="{D11B2081-11D5-4500-B8E7-11C07AE9C53C}" srcOrd="1" destOrd="0" parTransId="{F0777D12-855B-43AA-B01D-893255A36828}" sibTransId="{C589F3AC-640E-45B1-A439-795D78A07358}"/>
    <dgm:cxn modelId="{4DE8D882-1D73-964C-AD30-7A3C9CEC0679}" type="presOf" srcId="{D2A88089-1669-4878-8500-52CA8705DC87}" destId="{85F1080F-9D38-9842-AD9E-1ECABFEF8EA5}" srcOrd="0" destOrd="3" presId="urn:microsoft.com/office/officeart/2005/8/layout/default"/>
    <dgm:cxn modelId="{994E0C8D-0A90-DB41-A978-665ACFAF50CE}" type="presOf" srcId="{D6EF4325-A031-477F-97EA-7D3397579845}" destId="{85F1080F-9D38-9842-AD9E-1ECABFEF8EA5}" srcOrd="0" destOrd="2" presId="urn:microsoft.com/office/officeart/2005/8/layout/default"/>
    <dgm:cxn modelId="{43C1E68D-5512-4AD7-B1C5-4DFBE7612DB7}" srcId="{30677BA3-68A4-4A3C-AEE8-9DA091EC07BB}" destId="{79453002-09E3-4158-BC7B-1C78A15C68ED}" srcOrd="1" destOrd="0" parTransId="{BF219DD6-172D-4EF7-8ABA-C2DCE16EEA9F}" sibTransId="{0C426E1F-4266-44DA-A6D5-31452D1B1930}"/>
    <dgm:cxn modelId="{76678193-11C9-4449-8443-E91E840EFC38}" type="presOf" srcId="{A274CEEC-C930-4670-9DAA-D41D0F731AB5}" destId="{85F1080F-9D38-9842-AD9E-1ECABFEF8EA5}" srcOrd="0" destOrd="1" presId="urn:microsoft.com/office/officeart/2005/8/layout/default"/>
    <dgm:cxn modelId="{C3D85395-A2FE-439F-B8F5-A5F2B109EE8C}" srcId="{30677BA3-68A4-4A3C-AEE8-9DA091EC07BB}" destId="{19BFE5AB-40D9-4C17-9837-0E2B7DFD8045}" srcOrd="0" destOrd="0" parTransId="{F44A42B6-32D9-4A8D-926B-287EF78B7112}" sibTransId="{9FDCC6BB-E06B-446D-A852-8DCB9658EFFB}"/>
    <dgm:cxn modelId="{F5804DA0-2F1A-3D45-B728-3567A0EEE109}" type="presOf" srcId="{79453002-09E3-4158-BC7B-1C78A15C68ED}" destId="{37A7F3C1-12A0-824A-AA48-359E94E4207A}" srcOrd="0" destOrd="2" presId="urn:microsoft.com/office/officeart/2005/8/layout/default"/>
    <dgm:cxn modelId="{216493D4-0893-424A-AA51-A05F29420DC9}" type="presOf" srcId="{D11B2081-11D5-4500-B8E7-11C07AE9C53C}" destId="{85F1080F-9D38-9842-AD9E-1ECABFEF8EA5}" srcOrd="0" destOrd="0" presId="urn:microsoft.com/office/officeart/2005/8/layout/default"/>
    <dgm:cxn modelId="{DA6E69E1-3C14-8F42-8E8E-A5C0904CA1F2}" type="presOf" srcId="{30677BA3-68A4-4A3C-AEE8-9DA091EC07BB}" destId="{37A7F3C1-12A0-824A-AA48-359E94E4207A}" srcOrd="0" destOrd="0" presId="urn:microsoft.com/office/officeart/2005/8/layout/default"/>
    <dgm:cxn modelId="{702E10F2-788C-4374-A433-C0C315BED640}" srcId="{F43AF999-610B-4212-BCF6-A48C3E8D0A89}" destId="{30677BA3-68A4-4A3C-AEE8-9DA091EC07BB}" srcOrd="0" destOrd="0" parTransId="{81A0307C-E75D-4CF7-9D45-09D57B0AAD74}" sibTransId="{E8E37C5F-70A0-4CE1-8F81-8A6475B0C7ED}"/>
    <dgm:cxn modelId="{AAAB7FE6-171F-CA41-9A60-AFFFADAEAA03}" type="presParOf" srcId="{7510D300-F10C-CE41-BB50-DE995DE1392E}" destId="{37A7F3C1-12A0-824A-AA48-359E94E4207A}" srcOrd="0" destOrd="0" presId="urn:microsoft.com/office/officeart/2005/8/layout/default"/>
    <dgm:cxn modelId="{3ADE4114-BDCD-DC4C-BF54-B2A2120DA2F9}" type="presParOf" srcId="{7510D300-F10C-CE41-BB50-DE995DE1392E}" destId="{230500B9-9343-9548-A6B5-3F759AF96505}" srcOrd="1" destOrd="0" presId="urn:microsoft.com/office/officeart/2005/8/layout/default"/>
    <dgm:cxn modelId="{8A02D937-B481-1C4A-9A52-F8D5B431AEB2}" type="presParOf" srcId="{7510D300-F10C-CE41-BB50-DE995DE1392E}" destId="{85F1080F-9D38-9842-AD9E-1ECABFEF8EA5}"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4EA1AD1-EB7B-44EE-A352-7D28341F862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D9B98E6-D09A-424A-ACBC-323630870A04}">
      <dgm:prSet/>
      <dgm:spPr/>
      <dgm:t>
        <a:bodyPr/>
        <a:lstStyle/>
        <a:p>
          <a:r>
            <a:rPr lang="en-US"/>
            <a:t>Job satisfaction and dissatisfaction are not on the same continuum, meaning the absence of dissatisfaction does not automatically result in satisfaction. </a:t>
          </a:r>
        </a:p>
      </dgm:t>
    </dgm:pt>
    <dgm:pt modelId="{F71FD3AB-43F9-4964-A4EF-A8F6DC713FF5}" type="parTrans" cxnId="{93FCF473-DE6F-48BE-BA0A-581890C2DD4D}">
      <dgm:prSet/>
      <dgm:spPr/>
      <dgm:t>
        <a:bodyPr/>
        <a:lstStyle/>
        <a:p>
          <a:endParaRPr lang="en-US"/>
        </a:p>
      </dgm:t>
    </dgm:pt>
    <dgm:pt modelId="{611E5E5E-2B0D-4059-8B51-23228EEDB989}" type="sibTrans" cxnId="{93FCF473-DE6F-48BE-BA0A-581890C2DD4D}">
      <dgm:prSet/>
      <dgm:spPr/>
      <dgm:t>
        <a:bodyPr/>
        <a:lstStyle/>
        <a:p>
          <a:endParaRPr lang="en-US"/>
        </a:p>
      </dgm:t>
    </dgm:pt>
    <dgm:pt modelId="{0615CAA5-B5F1-42A6-9535-D9103C20398B}">
      <dgm:prSet/>
      <dgm:spPr/>
      <dgm:t>
        <a:bodyPr/>
        <a:lstStyle/>
        <a:p>
          <a:r>
            <a:rPr lang="en-US"/>
            <a:t>Influential theory, however, mixed empirical evidence (see Bratton, 2021). Some indication separation between hygiene and motivating factors is not always clear-cut in practice.</a:t>
          </a:r>
        </a:p>
      </dgm:t>
    </dgm:pt>
    <dgm:pt modelId="{12F9FA04-7D7F-47A2-BD43-85E671577943}" type="parTrans" cxnId="{586C521D-77E0-4B36-9A6F-3680BFD1F758}">
      <dgm:prSet/>
      <dgm:spPr/>
      <dgm:t>
        <a:bodyPr/>
        <a:lstStyle/>
        <a:p>
          <a:endParaRPr lang="en-US"/>
        </a:p>
      </dgm:t>
    </dgm:pt>
    <dgm:pt modelId="{052279CF-74C0-4812-929C-38DD9B80DE8A}" type="sibTrans" cxnId="{586C521D-77E0-4B36-9A6F-3680BFD1F758}">
      <dgm:prSet/>
      <dgm:spPr/>
      <dgm:t>
        <a:bodyPr/>
        <a:lstStyle/>
        <a:p>
          <a:endParaRPr lang="en-US"/>
        </a:p>
      </dgm:t>
    </dgm:pt>
    <dgm:pt modelId="{4AEB4068-6626-4AB8-A3BF-7548EACC76D9}">
      <dgm:prSet/>
      <dgm:spPr/>
      <dgm:t>
        <a:bodyPr/>
        <a:lstStyle/>
        <a:p>
          <a:r>
            <a:rPr lang="en-US"/>
            <a:t>Key Point: Improving hygiene factors may reduce dissatisfaction, but to truly enhance motivation and satisfaction, organizations must focus on intrinsic motivators.</a:t>
          </a:r>
        </a:p>
      </dgm:t>
    </dgm:pt>
    <dgm:pt modelId="{A4F890AF-DE4D-46EA-ACDA-6F61A0654ED2}" type="parTrans" cxnId="{183CBC2B-2DEF-449D-BBEB-CB7941AA2643}">
      <dgm:prSet/>
      <dgm:spPr/>
      <dgm:t>
        <a:bodyPr/>
        <a:lstStyle/>
        <a:p>
          <a:endParaRPr lang="en-US"/>
        </a:p>
      </dgm:t>
    </dgm:pt>
    <dgm:pt modelId="{5BA73153-08DA-414C-A1B3-49D9936FC9F6}" type="sibTrans" cxnId="{183CBC2B-2DEF-449D-BBEB-CB7941AA2643}">
      <dgm:prSet/>
      <dgm:spPr/>
      <dgm:t>
        <a:bodyPr/>
        <a:lstStyle/>
        <a:p>
          <a:endParaRPr lang="en-US"/>
        </a:p>
      </dgm:t>
    </dgm:pt>
    <dgm:pt modelId="{8F15A07D-AC10-8A47-8507-BE24C8F23F96}" type="pres">
      <dgm:prSet presAssocID="{74EA1AD1-EB7B-44EE-A352-7D28341F862D}" presName="linear" presStyleCnt="0">
        <dgm:presLayoutVars>
          <dgm:animLvl val="lvl"/>
          <dgm:resizeHandles val="exact"/>
        </dgm:presLayoutVars>
      </dgm:prSet>
      <dgm:spPr/>
    </dgm:pt>
    <dgm:pt modelId="{D68CE2A5-2272-BF48-B17D-337494C80874}" type="pres">
      <dgm:prSet presAssocID="{FD9B98E6-D09A-424A-ACBC-323630870A04}" presName="parentText" presStyleLbl="node1" presStyleIdx="0" presStyleCnt="3">
        <dgm:presLayoutVars>
          <dgm:chMax val="0"/>
          <dgm:bulletEnabled val="1"/>
        </dgm:presLayoutVars>
      </dgm:prSet>
      <dgm:spPr/>
    </dgm:pt>
    <dgm:pt modelId="{0B64CC64-E5AD-AF4D-B1CB-446286E54D04}" type="pres">
      <dgm:prSet presAssocID="{611E5E5E-2B0D-4059-8B51-23228EEDB989}" presName="spacer" presStyleCnt="0"/>
      <dgm:spPr/>
    </dgm:pt>
    <dgm:pt modelId="{64869E41-DCD1-924C-B75E-213D2907BED1}" type="pres">
      <dgm:prSet presAssocID="{0615CAA5-B5F1-42A6-9535-D9103C20398B}" presName="parentText" presStyleLbl="node1" presStyleIdx="1" presStyleCnt="3">
        <dgm:presLayoutVars>
          <dgm:chMax val="0"/>
          <dgm:bulletEnabled val="1"/>
        </dgm:presLayoutVars>
      </dgm:prSet>
      <dgm:spPr/>
    </dgm:pt>
    <dgm:pt modelId="{3E46932F-89A8-C14D-BBBF-7FF9F4F94BDB}" type="pres">
      <dgm:prSet presAssocID="{052279CF-74C0-4812-929C-38DD9B80DE8A}" presName="spacer" presStyleCnt="0"/>
      <dgm:spPr/>
    </dgm:pt>
    <dgm:pt modelId="{DD447B1E-0C01-2348-B148-7882D2BDE8A4}" type="pres">
      <dgm:prSet presAssocID="{4AEB4068-6626-4AB8-A3BF-7548EACC76D9}" presName="parentText" presStyleLbl="node1" presStyleIdx="2" presStyleCnt="3">
        <dgm:presLayoutVars>
          <dgm:chMax val="0"/>
          <dgm:bulletEnabled val="1"/>
        </dgm:presLayoutVars>
      </dgm:prSet>
      <dgm:spPr/>
    </dgm:pt>
  </dgm:ptLst>
  <dgm:cxnLst>
    <dgm:cxn modelId="{586C521D-77E0-4B36-9A6F-3680BFD1F758}" srcId="{74EA1AD1-EB7B-44EE-A352-7D28341F862D}" destId="{0615CAA5-B5F1-42A6-9535-D9103C20398B}" srcOrd="1" destOrd="0" parTransId="{12F9FA04-7D7F-47A2-BD43-85E671577943}" sibTransId="{052279CF-74C0-4812-929C-38DD9B80DE8A}"/>
    <dgm:cxn modelId="{183CBC2B-2DEF-449D-BBEB-CB7941AA2643}" srcId="{74EA1AD1-EB7B-44EE-A352-7D28341F862D}" destId="{4AEB4068-6626-4AB8-A3BF-7548EACC76D9}" srcOrd="2" destOrd="0" parTransId="{A4F890AF-DE4D-46EA-ACDA-6F61A0654ED2}" sibTransId="{5BA73153-08DA-414C-A1B3-49D9936FC9F6}"/>
    <dgm:cxn modelId="{BD159931-970E-A145-9705-CE515D8C01CF}" type="presOf" srcId="{74EA1AD1-EB7B-44EE-A352-7D28341F862D}" destId="{8F15A07D-AC10-8A47-8507-BE24C8F23F96}" srcOrd="0" destOrd="0" presId="urn:microsoft.com/office/officeart/2005/8/layout/vList2"/>
    <dgm:cxn modelId="{93FCF473-DE6F-48BE-BA0A-581890C2DD4D}" srcId="{74EA1AD1-EB7B-44EE-A352-7D28341F862D}" destId="{FD9B98E6-D09A-424A-ACBC-323630870A04}" srcOrd="0" destOrd="0" parTransId="{F71FD3AB-43F9-4964-A4EF-A8F6DC713FF5}" sibTransId="{611E5E5E-2B0D-4059-8B51-23228EEDB989}"/>
    <dgm:cxn modelId="{0B23DAB4-9DFA-9B4C-8DA9-E2B2DB6278FA}" type="presOf" srcId="{0615CAA5-B5F1-42A6-9535-D9103C20398B}" destId="{64869E41-DCD1-924C-B75E-213D2907BED1}" srcOrd="0" destOrd="0" presId="urn:microsoft.com/office/officeart/2005/8/layout/vList2"/>
    <dgm:cxn modelId="{1A35DEBD-AC36-3548-A279-BB4F3DFBFAE9}" type="presOf" srcId="{4AEB4068-6626-4AB8-A3BF-7548EACC76D9}" destId="{DD447B1E-0C01-2348-B148-7882D2BDE8A4}" srcOrd="0" destOrd="0" presId="urn:microsoft.com/office/officeart/2005/8/layout/vList2"/>
    <dgm:cxn modelId="{E63DE6E7-EC92-954D-ADD1-565F2AC98A1C}" type="presOf" srcId="{FD9B98E6-D09A-424A-ACBC-323630870A04}" destId="{D68CE2A5-2272-BF48-B17D-337494C80874}" srcOrd="0" destOrd="0" presId="urn:microsoft.com/office/officeart/2005/8/layout/vList2"/>
    <dgm:cxn modelId="{A35E0F93-AEEA-F349-B199-6FCD817420D7}" type="presParOf" srcId="{8F15A07D-AC10-8A47-8507-BE24C8F23F96}" destId="{D68CE2A5-2272-BF48-B17D-337494C80874}" srcOrd="0" destOrd="0" presId="urn:microsoft.com/office/officeart/2005/8/layout/vList2"/>
    <dgm:cxn modelId="{49204AD5-9D4E-8642-A566-B715D932C105}" type="presParOf" srcId="{8F15A07D-AC10-8A47-8507-BE24C8F23F96}" destId="{0B64CC64-E5AD-AF4D-B1CB-446286E54D04}" srcOrd="1" destOrd="0" presId="urn:microsoft.com/office/officeart/2005/8/layout/vList2"/>
    <dgm:cxn modelId="{62EB74D1-47DE-1143-BFA8-61B75E5DA0CD}" type="presParOf" srcId="{8F15A07D-AC10-8A47-8507-BE24C8F23F96}" destId="{64869E41-DCD1-924C-B75E-213D2907BED1}" srcOrd="2" destOrd="0" presId="urn:microsoft.com/office/officeart/2005/8/layout/vList2"/>
    <dgm:cxn modelId="{8E37CB7D-ECFA-AE45-AD28-75F8C49D599A}" type="presParOf" srcId="{8F15A07D-AC10-8A47-8507-BE24C8F23F96}" destId="{3E46932F-89A8-C14D-BBBF-7FF9F4F94BDB}" srcOrd="3" destOrd="0" presId="urn:microsoft.com/office/officeart/2005/8/layout/vList2"/>
    <dgm:cxn modelId="{26690842-DF9D-A84A-B4BE-8F146017C51B}" type="presParOf" srcId="{8F15A07D-AC10-8A47-8507-BE24C8F23F96}" destId="{DD447B1E-0C01-2348-B148-7882D2BDE8A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D215E4-FD5A-4B84-9C0F-C12DA0217DC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5B6DA8B-4610-4AAE-8A98-228BCD3E1817}">
      <dgm:prSet/>
      <dgm:spPr/>
      <dgm:t>
        <a:bodyPr/>
        <a:lstStyle/>
        <a:p>
          <a:r>
            <a:rPr lang="en-US"/>
            <a:t>Hygiene factors: </a:t>
          </a:r>
        </a:p>
      </dgm:t>
    </dgm:pt>
    <dgm:pt modelId="{C2EA10ED-7299-4454-B13F-FF1670B30479}" type="parTrans" cxnId="{1B1624FE-C57C-4686-BA8E-7AFF10037349}">
      <dgm:prSet/>
      <dgm:spPr/>
      <dgm:t>
        <a:bodyPr/>
        <a:lstStyle/>
        <a:p>
          <a:endParaRPr lang="en-US"/>
        </a:p>
      </dgm:t>
    </dgm:pt>
    <dgm:pt modelId="{EC4CBBB8-5442-416D-B4B7-7E2084181516}" type="sibTrans" cxnId="{1B1624FE-C57C-4686-BA8E-7AFF10037349}">
      <dgm:prSet/>
      <dgm:spPr/>
      <dgm:t>
        <a:bodyPr/>
        <a:lstStyle/>
        <a:p>
          <a:endParaRPr lang="en-US"/>
        </a:p>
      </dgm:t>
    </dgm:pt>
    <dgm:pt modelId="{F25D912A-A97C-4AF7-81E0-668B8C99CFDB}">
      <dgm:prSet/>
      <dgm:spPr/>
      <dgm:t>
        <a:bodyPr/>
        <a:lstStyle/>
        <a:p>
          <a:r>
            <a:rPr lang="en-GB" b="1"/>
            <a:t>Compensation and Benefits:</a:t>
          </a:r>
          <a:r>
            <a:rPr lang="en-GB"/>
            <a:t> Highly competitive salaries, top-tier health insurance, and retirement plans.</a:t>
          </a:r>
          <a:endParaRPr lang="en-US"/>
        </a:p>
      </dgm:t>
    </dgm:pt>
    <dgm:pt modelId="{072A78AE-DBA3-41CE-8A7E-CE84FD235944}" type="parTrans" cxnId="{0AEEAFA2-3099-40E1-A80A-908176C71E28}">
      <dgm:prSet/>
      <dgm:spPr/>
      <dgm:t>
        <a:bodyPr/>
        <a:lstStyle/>
        <a:p>
          <a:endParaRPr lang="en-US"/>
        </a:p>
      </dgm:t>
    </dgm:pt>
    <dgm:pt modelId="{3AE8408A-F541-4D7E-A207-95B532EC88D2}" type="sibTrans" cxnId="{0AEEAFA2-3099-40E1-A80A-908176C71E28}">
      <dgm:prSet/>
      <dgm:spPr/>
      <dgm:t>
        <a:bodyPr/>
        <a:lstStyle/>
        <a:p>
          <a:endParaRPr lang="en-US"/>
        </a:p>
      </dgm:t>
    </dgm:pt>
    <dgm:pt modelId="{2C5DED7D-784F-4088-8856-0C3AB626F6A1}">
      <dgm:prSet/>
      <dgm:spPr/>
      <dgm:t>
        <a:bodyPr/>
        <a:lstStyle/>
        <a:p>
          <a:r>
            <a:rPr lang="en-GB" b="1"/>
            <a:t>Working Conditions:</a:t>
          </a:r>
          <a:r>
            <a:rPr lang="en-GB"/>
            <a:t> Beautiful, ergonomic offices, free gourmet food, on-site gyms, and recreational spaces.</a:t>
          </a:r>
          <a:endParaRPr lang="en-US"/>
        </a:p>
      </dgm:t>
    </dgm:pt>
    <dgm:pt modelId="{84A48ED8-695E-4D48-84F4-4446CAF3360D}" type="parTrans" cxnId="{50E2AE15-AEE4-4C65-8303-972E3B7DD291}">
      <dgm:prSet/>
      <dgm:spPr/>
      <dgm:t>
        <a:bodyPr/>
        <a:lstStyle/>
        <a:p>
          <a:endParaRPr lang="en-US"/>
        </a:p>
      </dgm:t>
    </dgm:pt>
    <dgm:pt modelId="{90E870DF-804C-4AA2-BCEC-F18350C77FE2}" type="sibTrans" cxnId="{50E2AE15-AEE4-4C65-8303-972E3B7DD291}">
      <dgm:prSet/>
      <dgm:spPr/>
      <dgm:t>
        <a:bodyPr/>
        <a:lstStyle/>
        <a:p>
          <a:endParaRPr lang="en-US"/>
        </a:p>
      </dgm:t>
    </dgm:pt>
    <dgm:pt modelId="{B0E0C260-FC8A-4403-B436-55837F8DD4E9}">
      <dgm:prSet/>
      <dgm:spPr/>
      <dgm:t>
        <a:bodyPr/>
        <a:lstStyle/>
        <a:p>
          <a:r>
            <a:rPr lang="en-GB" b="1"/>
            <a:t>Job Security &amp; Company Policy:</a:t>
          </a:r>
          <a:r>
            <a:rPr lang="en-GB"/>
            <a:t> Clear human resource policies and stable employment structures.</a:t>
          </a:r>
          <a:endParaRPr lang="en-US"/>
        </a:p>
      </dgm:t>
    </dgm:pt>
    <dgm:pt modelId="{CCB6B189-C90A-44C9-A7A1-E986C13285B7}" type="parTrans" cxnId="{D20E5262-3314-4E4F-9E1D-AB575756573E}">
      <dgm:prSet/>
      <dgm:spPr/>
      <dgm:t>
        <a:bodyPr/>
        <a:lstStyle/>
        <a:p>
          <a:endParaRPr lang="en-US"/>
        </a:p>
      </dgm:t>
    </dgm:pt>
    <dgm:pt modelId="{664757D8-7BBF-4C2F-B8A5-DCFE0B27BCEC}" type="sibTrans" cxnId="{D20E5262-3314-4E4F-9E1D-AB575756573E}">
      <dgm:prSet/>
      <dgm:spPr/>
      <dgm:t>
        <a:bodyPr/>
        <a:lstStyle/>
        <a:p>
          <a:endParaRPr lang="en-US"/>
        </a:p>
      </dgm:t>
    </dgm:pt>
    <dgm:pt modelId="{66F0B817-55B2-444F-8BB6-3D463AB94717}">
      <dgm:prSet/>
      <dgm:spPr/>
      <dgm:t>
        <a:bodyPr/>
        <a:lstStyle/>
        <a:p>
          <a:r>
            <a:rPr lang="en-GB"/>
            <a:t>Motivating factors</a:t>
          </a:r>
          <a:endParaRPr lang="en-US"/>
        </a:p>
      </dgm:t>
    </dgm:pt>
    <dgm:pt modelId="{C5682352-8B27-47D9-95C4-4B55BE1F6542}" type="parTrans" cxnId="{64A04D8C-BC7E-4F68-BFBE-862AFC79CCF4}">
      <dgm:prSet/>
      <dgm:spPr/>
      <dgm:t>
        <a:bodyPr/>
        <a:lstStyle/>
        <a:p>
          <a:endParaRPr lang="en-US"/>
        </a:p>
      </dgm:t>
    </dgm:pt>
    <dgm:pt modelId="{3C14838B-D297-44EC-B6CF-66BDDEE5C541}" type="sibTrans" cxnId="{64A04D8C-BC7E-4F68-BFBE-862AFC79CCF4}">
      <dgm:prSet/>
      <dgm:spPr/>
      <dgm:t>
        <a:bodyPr/>
        <a:lstStyle/>
        <a:p>
          <a:endParaRPr lang="en-US"/>
        </a:p>
      </dgm:t>
    </dgm:pt>
    <dgm:pt modelId="{676FCE47-FB45-4E4E-B4E8-3FE8E94889AA}">
      <dgm:prSet/>
      <dgm:spPr/>
      <dgm:t>
        <a:bodyPr/>
        <a:lstStyle/>
        <a:p>
          <a:r>
            <a:rPr lang="en-GB" b="1"/>
            <a:t>The "20% Time" Policy:</a:t>
          </a:r>
          <a:r>
            <a:rPr lang="en-GB"/>
            <a:t> Google famously allowed engineers to spend 20% of their work time on projects of their own choosing. This autonomy and freedom led to the creation of massive products like Gmail and Google AdSense.</a:t>
          </a:r>
          <a:endParaRPr lang="en-US"/>
        </a:p>
      </dgm:t>
    </dgm:pt>
    <dgm:pt modelId="{C8A2DB68-2A9C-40FD-BE89-8FD4E7634C36}" type="parTrans" cxnId="{7D1F4D58-0B60-4F47-9ECD-5A267C8A9E63}">
      <dgm:prSet/>
      <dgm:spPr/>
      <dgm:t>
        <a:bodyPr/>
        <a:lstStyle/>
        <a:p>
          <a:endParaRPr lang="en-US"/>
        </a:p>
      </dgm:t>
    </dgm:pt>
    <dgm:pt modelId="{0A2C5E18-6DE0-470E-A2BA-701DA65F5F8F}" type="sibTrans" cxnId="{7D1F4D58-0B60-4F47-9ECD-5A267C8A9E63}">
      <dgm:prSet/>
      <dgm:spPr/>
      <dgm:t>
        <a:bodyPr/>
        <a:lstStyle/>
        <a:p>
          <a:endParaRPr lang="en-US"/>
        </a:p>
      </dgm:t>
    </dgm:pt>
    <dgm:pt modelId="{4BD07499-0D71-4AFD-9A12-387C5149FD92}">
      <dgm:prSet/>
      <dgm:spPr/>
      <dgm:t>
        <a:bodyPr/>
        <a:lstStyle/>
        <a:p>
          <a:r>
            <a:rPr lang="en-GB" b="1"/>
            <a:t>Achievement and Responsibility:</a:t>
          </a:r>
          <a:r>
            <a:rPr lang="en-GB"/>
            <a:t> Employees are given high levels of ownership and responsibility over massive global projects right from the start of their careers.</a:t>
          </a:r>
          <a:endParaRPr lang="en-US"/>
        </a:p>
      </dgm:t>
    </dgm:pt>
    <dgm:pt modelId="{3EB492C4-AF5F-4CF9-930E-CE3B3B35A402}" type="parTrans" cxnId="{350BF912-404B-4059-ADFF-81ADD9E90441}">
      <dgm:prSet/>
      <dgm:spPr/>
      <dgm:t>
        <a:bodyPr/>
        <a:lstStyle/>
        <a:p>
          <a:endParaRPr lang="en-US"/>
        </a:p>
      </dgm:t>
    </dgm:pt>
    <dgm:pt modelId="{E887EA8D-EFF0-4275-8161-BBA59673B7BB}" type="sibTrans" cxnId="{350BF912-404B-4059-ADFF-81ADD9E90441}">
      <dgm:prSet/>
      <dgm:spPr/>
      <dgm:t>
        <a:bodyPr/>
        <a:lstStyle/>
        <a:p>
          <a:endParaRPr lang="en-US"/>
        </a:p>
      </dgm:t>
    </dgm:pt>
    <dgm:pt modelId="{5AB621AD-4ACE-4B85-AD7B-C1D4EBB13ED9}">
      <dgm:prSet/>
      <dgm:spPr/>
      <dgm:t>
        <a:bodyPr/>
        <a:lstStyle/>
        <a:p>
          <a:r>
            <a:rPr lang="en-GB" b="1"/>
            <a:t>Recognition:</a:t>
          </a:r>
          <a:r>
            <a:rPr lang="en-GB"/>
            <a:t> Peer-to-peer recognition programs, innovation awards, and public acknowledgment give employees a deep sense of accomplishment and status.</a:t>
          </a:r>
          <a:endParaRPr lang="en-US"/>
        </a:p>
      </dgm:t>
    </dgm:pt>
    <dgm:pt modelId="{64C0A980-3D57-49C9-913C-ECDC257D118E}" type="parTrans" cxnId="{C7566DC4-97C9-4C8C-9C50-A9EC9F35DFE3}">
      <dgm:prSet/>
      <dgm:spPr/>
      <dgm:t>
        <a:bodyPr/>
        <a:lstStyle/>
        <a:p>
          <a:endParaRPr lang="en-US"/>
        </a:p>
      </dgm:t>
    </dgm:pt>
    <dgm:pt modelId="{A434487E-032C-4601-89B5-97D72BD6093E}" type="sibTrans" cxnId="{C7566DC4-97C9-4C8C-9C50-A9EC9F35DFE3}">
      <dgm:prSet/>
      <dgm:spPr/>
      <dgm:t>
        <a:bodyPr/>
        <a:lstStyle/>
        <a:p>
          <a:endParaRPr lang="en-US"/>
        </a:p>
      </dgm:t>
    </dgm:pt>
    <dgm:pt modelId="{7B006F57-5EF6-5342-9428-5D2ED04323DB}" type="pres">
      <dgm:prSet presAssocID="{80D215E4-FD5A-4B84-9C0F-C12DA0217DC0}" presName="linear" presStyleCnt="0">
        <dgm:presLayoutVars>
          <dgm:animLvl val="lvl"/>
          <dgm:resizeHandles val="exact"/>
        </dgm:presLayoutVars>
      </dgm:prSet>
      <dgm:spPr/>
    </dgm:pt>
    <dgm:pt modelId="{8F2F4683-6230-CC42-B981-CAA59011077A}" type="pres">
      <dgm:prSet presAssocID="{C5B6DA8B-4610-4AAE-8A98-228BCD3E1817}" presName="parentText" presStyleLbl="node1" presStyleIdx="0" presStyleCnt="2">
        <dgm:presLayoutVars>
          <dgm:chMax val="0"/>
          <dgm:bulletEnabled val="1"/>
        </dgm:presLayoutVars>
      </dgm:prSet>
      <dgm:spPr/>
    </dgm:pt>
    <dgm:pt modelId="{8A84B6D4-5307-8640-9589-D4991B90FDB7}" type="pres">
      <dgm:prSet presAssocID="{C5B6DA8B-4610-4AAE-8A98-228BCD3E1817}" presName="childText" presStyleLbl="revTx" presStyleIdx="0" presStyleCnt="2">
        <dgm:presLayoutVars>
          <dgm:bulletEnabled val="1"/>
        </dgm:presLayoutVars>
      </dgm:prSet>
      <dgm:spPr/>
    </dgm:pt>
    <dgm:pt modelId="{4B5F6897-7379-EF48-817B-BC2CB0EA9E9B}" type="pres">
      <dgm:prSet presAssocID="{66F0B817-55B2-444F-8BB6-3D463AB94717}" presName="parentText" presStyleLbl="node1" presStyleIdx="1" presStyleCnt="2">
        <dgm:presLayoutVars>
          <dgm:chMax val="0"/>
          <dgm:bulletEnabled val="1"/>
        </dgm:presLayoutVars>
      </dgm:prSet>
      <dgm:spPr/>
    </dgm:pt>
    <dgm:pt modelId="{0E0C55F5-16E7-B045-BE41-14E6DF289C20}" type="pres">
      <dgm:prSet presAssocID="{66F0B817-55B2-444F-8BB6-3D463AB94717}" presName="childText" presStyleLbl="revTx" presStyleIdx="1" presStyleCnt="2">
        <dgm:presLayoutVars>
          <dgm:bulletEnabled val="1"/>
        </dgm:presLayoutVars>
      </dgm:prSet>
      <dgm:spPr/>
    </dgm:pt>
  </dgm:ptLst>
  <dgm:cxnLst>
    <dgm:cxn modelId="{90CA610B-06DF-FC45-8620-03BF2381DCD5}" type="presOf" srcId="{C5B6DA8B-4610-4AAE-8A98-228BCD3E1817}" destId="{8F2F4683-6230-CC42-B981-CAA59011077A}" srcOrd="0" destOrd="0" presId="urn:microsoft.com/office/officeart/2005/8/layout/vList2"/>
    <dgm:cxn modelId="{27604F12-492C-7542-B22E-3CEB9CA97C60}" type="presOf" srcId="{F25D912A-A97C-4AF7-81E0-668B8C99CFDB}" destId="{8A84B6D4-5307-8640-9589-D4991B90FDB7}" srcOrd="0" destOrd="0" presId="urn:microsoft.com/office/officeart/2005/8/layout/vList2"/>
    <dgm:cxn modelId="{350BF912-404B-4059-ADFF-81ADD9E90441}" srcId="{66F0B817-55B2-444F-8BB6-3D463AB94717}" destId="{4BD07499-0D71-4AFD-9A12-387C5149FD92}" srcOrd="1" destOrd="0" parTransId="{3EB492C4-AF5F-4CF9-930E-CE3B3B35A402}" sibTransId="{E887EA8D-EFF0-4275-8161-BBA59673B7BB}"/>
    <dgm:cxn modelId="{50E2AE15-AEE4-4C65-8303-972E3B7DD291}" srcId="{C5B6DA8B-4610-4AAE-8A98-228BCD3E1817}" destId="{2C5DED7D-784F-4088-8856-0C3AB626F6A1}" srcOrd="1" destOrd="0" parTransId="{84A48ED8-695E-4D48-84F4-4446CAF3360D}" sibTransId="{90E870DF-804C-4AA2-BCEC-F18350C77FE2}"/>
    <dgm:cxn modelId="{C8845C28-D013-6549-94D7-E966C5E831D0}" type="presOf" srcId="{2C5DED7D-784F-4088-8856-0C3AB626F6A1}" destId="{8A84B6D4-5307-8640-9589-D4991B90FDB7}" srcOrd="0" destOrd="1" presId="urn:microsoft.com/office/officeart/2005/8/layout/vList2"/>
    <dgm:cxn modelId="{280CC740-02C9-2448-AF49-F5E83D9B4B73}" type="presOf" srcId="{B0E0C260-FC8A-4403-B436-55837F8DD4E9}" destId="{8A84B6D4-5307-8640-9589-D4991B90FDB7}" srcOrd="0" destOrd="2" presId="urn:microsoft.com/office/officeart/2005/8/layout/vList2"/>
    <dgm:cxn modelId="{79FE2147-77B9-4B42-A0A6-0D8A33020A13}" type="presOf" srcId="{676FCE47-FB45-4E4E-B4E8-3FE8E94889AA}" destId="{0E0C55F5-16E7-B045-BE41-14E6DF289C20}" srcOrd="0" destOrd="0" presId="urn:microsoft.com/office/officeart/2005/8/layout/vList2"/>
    <dgm:cxn modelId="{8064044A-ADB3-DB4A-8071-888843BCB4C9}" type="presOf" srcId="{80D215E4-FD5A-4B84-9C0F-C12DA0217DC0}" destId="{7B006F57-5EF6-5342-9428-5D2ED04323DB}" srcOrd="0" destOrd="0" presId="urn:microsoft.com/office/officeart/2005/8/layout/vList2"/>
    <dgm:cxn modelId="{374C1C4E-5BBE-3C41-8BD0-3D64370D0104}" type="presOf" srcId="{4BD07499-0D71-4AFD-9A12-387C5149FD92}" destId="{0E0C55F5-16E7-B045-BE41-14E6DF289C20}" srcOrd="0" destOrd="1" presId="urn:microsoft.com/office/officeart/2005/8/layout/vList2"/>
    <dgm:cxn modelId="{7D1F4D58-0B60-4F47-9ECD-5A267C8A9E63}" srcId="{66F0B817-55B2-444F-8BB6-3D463AB94717}" destId="{676FCE47-FB45-4E4E-B4E8-3FE8E94889AA}" srcOrd="0" destOrd="0" parTransId="{C8A2DB68-2A9C-40FD-BE89-8FD4E7634C36}" sibTransId="{0A2C5E18-6DE0-470E-A2BA-701DA65F5F8F}"/>
    <dgm:cxn modelId="{D20E5262-3314-4E4F-9E1D-AB575756573E}" srcId="{C5B6DA8B-4610-4AAE-8A98-228BCD3E1817}" destId="{B0E0C260-FC8A-4403-B436-55837F8DD4E9}" srcOrd="2" destOrd="0" parTransId="{CCB6B189-C90A-44C9-A7A1-E986C13285B7}" sibTransId="{664757D8-7BBF-4C2F-B8A5-DCFE0B27BCEC}"/>
    <dgm:cxn modelId="{D187497A-CF59-7D4F-A348-47F7129367CB}" type="presOf" srcId="{66F0B817-55B2-444F-8BB6-3D463AB94717}" destId="{4B5F6897-7379-EF48-817B-BC2CB0EA9E9B}" srcOrd="0" destOrd="0" presId="urn:microsoft.com/office/officeart/2005/8/layout/vList2"/>
    <dgm:cxn modelId="{64A04D8C-BC7E-4F68-BFBE-862AFC79CCF4}" srcId="{80D215E4-FD5A-4B84-9C0F-C12DA0217DC0}" destId="{66F0B817-55B2-444F-8BB6-3D463AB94717}" srcOrd="1" destOrd="0" parTransId="{C5682352-8B27-47D9-95C4-4B55BE1F6542}" sibTransId="{3C14838B-D297-44EC-B6CF-66BDDEE5C541}"/>
    <dgm:cxn modelId="{0AEEAFA2-3099-40E1-A80A-908176C71E28}" srcId="{C5B6DA8B-4610-4AAE-8A98-228BCD3E1817}" destId="{F25D912A-A97C-4AF7-81E0-668B8C99CFDB}" srcOrd="0" destOrd="0" parTransId="{072A78AE-DBA3-41CE-8A7E-CE84FD235944}" sibTransId="{3AE8408A-F541-4D7E-A207-95B532EC88D2}"/>
    <dgm:cxn modelId="{9B393FA7-1385-804B-A2D4-71886829C5B3}" type="presOf" srcId="{5AB621AD-4ACE-4B85-AD7B-C1D4EBB13ED9}" destId="{0E0C55F5-16E7-B045-BE41-14E6DF289C20}" srcOrd="0" destOrd="2" presId="urn:microsoft.com/office/officeart/2005/8/layout/vList2"/>
    <dgm:cxn modelId="{C7566DC4-97C9-4C8C-9C50-A9EC9F35DFE3}" srcId="{66F0B817-55B2-444F-8BB6-3D463AB94717}" destId="{5AB621AD-4ACE-4B85-AD7B-C1D4EBB13ED9}" srcOrd="2" destOrd="0" parTransId="{64C0A980-3D57-49C9-913C-ECDC257D118E}" sibTransId="{A434487E-032C-4601-89B5-97D72BD6093E}"/>
    <dgm:cxn modelId="{1B1624FE-C57C-4686-BA8E-7AFF10037349}" srcId="{80D215E4-FD5A-4B84-9C0F-C12DA0217DC0}" destId="{C5B6DA8B-4610-4AAE-8A98-228BCD3E1817}" srcOrd="0" destOrd="0" parTransId="{C2EA10ED-7299-4454-B13F-FF1670B30479}" sibTransId="{EC4CBBB8-5442-416D-B4B7-7E2084181516}"/>
    <dgm:cxn modelId="{85EF9864-C013-3A44-92A5-0456D27A16C8}" type="presParOf" srcId="{7B006F57-5EF6-5342-9428-5D2ED04323DB}" destId="{8F2F4683-6230-CC42-B981-CAA59011077A}" srcOrd="0" destOrd="0" presId="urn:microsoft.com/office/officeart/2005/8/layout/vList2"/>
    <dgm:cxn modelId="{032D6A91-0D5B-BB45-B164-1895538C3ABD}" type="presParOf" srcId="{7B006F57-5EF6-5342-9428-5D2ED04323DB}" destId="{8A84B6D4-5307-8640-9589-D4991B90FDB7}" srcOrd="1" destOrd="0" presId="urn:microsoft.com/office/officeart/2005/8/layout/vList2"/>
    <dgm:cxn modelId="{E9DEF336-A78C-CF4C-9A2E-42B4B93CFDCA}" type="presParOf" srcId="{7B006F57-5EF6-5342-9428-5D2ED04323DB}" destId="{4B5F6897-7379-EF48-817B-BC2CB0EA9E9B}" srcOrd="2" destOrd="0" presId="urn:microsoft.com/office/officeart/2005/8/layout/vList2"/>
    <dgm:cxn modelId="{EE4CF627-A2F9-614D-93C9-F81A668AADDF}" type="presParOf" srcId="{7B006F57-5EF6-5342-9428-5D2ED04323DB}" destId="{0E0C55F5-16E7-B045-BE41-14E6DF289C2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2B28CE8-A6D5-4E88-92DB-570CEC5878FA}"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BCF28EB-17E3-4E80-95D2-9FBBC6B621DD}">
      <dgm:prSet/>
      <dgm:spPr/>
      <dgm:t>
        <a:bodyPr/>
        <a:lstStyle/>
        <a:p>
          <a:r>
            <a:rPr lang="en-US"/>
            <a:t>Equity judgments are subjective and influenced by individual biases, making ‘fairness’ difficult to measure.</a:t>
          </a:r>
        </a:p>
      </dgm:t>
    </dgm:pt>
    <dgm:pt modelId="{382292CE-C870-40D4-931F-DDF5FA9EA508}" type="parTrans" cxnId="{3E1659E2-D9E5-4358-A12F-3DA7C079DCFE}">
      <dgm:prSet/>
      <dgm:spPr/>
      <dgm:t>
        <a:bodyPr/>
        <a:lstStyle/>
        <a:p>
          <a:endParaRPr lang="en-US"/>
        </a:p>
      </dgm:t>
    </dgm:pt>
    <dgm:pt modelId="{2C53A79B-1E28-4085-907B-7EE464287F02}" type="sibTrans" cxnId="{3E1659E2-D9E5-4358-A12F-3DA7C079DCFE}">
      <dgm:prSet/>
      <dgm:spPr/>
      <dgm:t>
        <a:bodyPr/>
        <a:lstStyle/>
        <a:p>
          <a:endParaRPr lang="en-US"/>
        </a:p>
      </dgm:t>
    </dgm:pt>
    <dgm:pt modelId="{61961989-B83B-4EC7-91D1-8A08FAD94ED3}">
      <dgm:prSet/>
      <dgm:spPr/>
      <dgm:t>
        <a:bodyPr/>
        <a:lstStyle/>
        <a:p>
          <a:r>
            <a:rPr lang="en-US"/>
            <a:t>Focuses too much on monetary rewards and underestimates other key motivators (e.g. recognition).</a:t>
          </a:r>
        </a:p>
      </dgm:t>
    </dgm:pt>
    <dgm:pt modelId="{94307681-3201-4FE3-ABA4-E6EA8DA0BF22}" type="parTrans" cxnId="{F288DE6B-963E-4F03-8A2D-9EF078351CE3}">
      <dgm:prSet/>
      <dgm:spPr/>
      <dgm:t>
        <a:bodyPr/>
        <a:lstStyle/>
        <a:p>
          <a:endParaRPr lang="en-US"/>
        </a:p>
      </dgm:t>
    </dgm:pt>
    <dgm:pt modelId="{A0CBABB6-50B7-4A8E-9949-773614D90E12}" type="sibTrans" cxnId="{F288DE6B-963E-4F03-8A2D-9EF078351CE3}">
      <dgm:prSet/>
      <dgm:spPr/>
      <dgm:t>
        <a:bodyPr/>
        <a:lstStyle/>
        <a:p>
          <a:endParaRPr lang="en-US"/>
        </a:p>
      </dgm:t>
    </dgm:pt>
    <dgm:pt modelId="{4A9F6A22-2682-49B0-84F7-A10EDF259671}">
      <dgm:prSet/>
      <dgm:spPr/>
      <dgm:t>
        <a:bodyPr/>
        <a:lstStyle/>
        <a:p>
          <a:r>
            <a:rPr lang="en-US"/>
            <a:t>Assumes universal notions of fairness, but cultural norms may shape what individuals consider ‘fair’.</a:t>
          </a:r>
        </a:p>
      </dgm:t>
    </dgm:pt>
    <dgm:pt modelId="{F3D68B13-B3EB-4002-A24A-9C56277D70B7}" type="parTrans" cxnId="{EA174278-180E-45E9-AA28-0F1E9EFEB1EA}">
      <dgm:prSet/>
      <dgm:spPr/>
      <dgm:t>
        <a:bodyPr/>
        <a:lstStyle/>
        <a:p>
          <a:endParaRPr lang="en-US"/>
        </a:p>
      </dgm:t>
    </dgm:pt>
    <dgm:pt modelId="{5CFACAD2-2E4F-4659-BCCD-E16285C16B26}" type="sibTrans" cxnId="{EA174278-180E-45E9-AA28-0F1E9EFEB1EA}">
      <dgm:prSet/>
      <dgm:spPr/>
      <dgm:t>
        <a:bodyPr/>
        <a:lstStyle/>
        <a:p>
          <a:endParaRPr lang="en-US"/>
        </a:p>
      </dgm:t>
    </dgm:pt>
    <dgm:pt modelId="{4A85CD1F-8C21-4E7E-9061-B8301C4D3441}">
      <dgm:prSet/>
      <dgm:spPr/>
      <dgm:t>
        <a:bodyPr/>
        <a:lstStyle/>
        <a:p>
          <a:r>
            <a:rPr lang="en-US"/>
            <a:t>Primarily considers individual comparisons and overlooks the impact of group dynamics on perceived equity.</a:t>
          </a:r>
        </a:p>
      </dgm:t>
    </dgm:pt>
    <dgm:pt modelId="{BF93A674-2251-41E8-9DE4-B7C0146FCCDC}" type="parTrans" cxnId="{38036DA4-8B91-4CA1-A8D0-324F4079EC9F}">
      <dgm:prSet/>
      <dgm:spPr/>
      <dgm:t>
        <a:bodyPr/>
        <a:lstStyle/>
        <a:p>
          <a:endParaRPr lang="en-US"/>
        </a:p>
      </dgm:t>
    </dgm:pt>
    <dgm:pt modelId="{AB036E9F-ECC5-4F91-8392-E66AEA369D1E}" type="sibTrans" cxnId="{38036DA4-8B91-4CA1-A8D0-324F4079EC9F}">
      <dgm:prSet/>
      <dgm:spPr/>
      <dgm:t>
        <a:bodyPr/>
        <a:lstStyle/>
        <a:p>
          <a:endParaRPr lang="en-US"/>
        </a:p>
      </dgm:t>
    </dgm:pt>
    <dgm:pt modelId="{9638BE58-C06C-49B3-8C18-DE066486FB1F}" type="pres">
      <dgm:prSet presAssocID="{A2B28CE8-A6D5-4E88-92DB-570CEC5878FA}" presName="root" presStyleCnt="0">
        <dgm:presLayoutVars>
          <dgm:dir/>
          <dgm:resizeHandles val="exact"/>
        </dgm:presLayoutVars>
      </dgm:prSet>
      <dgm:spPr/>
    </dgm:pt>
    <dgm:pt modelId="{7B8BE515-F459-4D18-B1E4-54AF43D7D514}" type="pres">
      <dgm:prSet presAssocID="{A2B28CE8-A6D5-4E88-92DB-570CEC5878FA}" presName="container" presStyleCnt="0">
        <dgm:presLayoutVars>
          <dgm:dir/>
          <dgm:resizeHandles val="exact"/>
        </dgm:presLayoutVars>
      </dgm:prSet>
      <dgm:spPr/>
    </dgm:pt>
    <dgm:pt modelId="{D314DC60-B56F-4083-AE0A-2F20787C5AB6}" type="pres">
      <dgm:prSet presAssocID="{2BCF28EB-17E3-4E80-95D2-9FBBC6B621DD}" presName="compNode" presStyleCnt="0"/>
      <dgm:spPr/>
    </dgm:pt>
    <dgm:pt modelId="{055904FB-46D2-4BDA-9C4B-303F101BE01B}" type="pres">
      <dgm:prSet presAssocID="{2BCF28EB-17E3-4E80-95D2-9FBBC6B621DD}" presName="iconBgRect" presStyleLbl="bgShp" presStyleIdx="0" presStyleCnt="4"/>
      <dgm:spPr/>
    </dgm:pt>
    <dgm:pt modelId="{1B117BE2-487B-4942-9C1A-F0F83EA494BD}" type="pres">
      <dgm:prSet presAssocID="{2BCF28EB-17E3-4E80-95D2-9FBBC6B621D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ales of Justice"/>
        </a:ext>
      </dgm:extLst>
    </dgm:pt>
    <dgm:pt modelId="{54F4805E-40F5-4C56-B787-BEBCA6ED3689}" type="pres">
      <dgm:prSet presAssocID="{2BCF28EB-17E3-4E80-95D2-9FBBC6B621DD}" presName="spaceRect" presStyleCnt="0"/>
      <dgm:spPr/>
    </dgm:pt>
    <dgm:pt modelId="{925FAA15-622E-4151-9E01-782A94BA4C44}" type="pres">
      <dgm:prSet presAssocID="{2BCF28EB-17E3-4E80-95D2-9FBBC6B621DD}" presName="textRect" presStyleLbl="revTx" presStyleIdx="0" presStyleCnt="4">
        <dgm:presLayoutVars>
          <dgm:chMax val="1"/>
          <dgm:chPref val="1"/>
        </dgm:presLayoutVars>
      </dgm:prSet>
      <dgm:spPr/>
    </dgm:pt>
    <dgm:pt modelId="{F4E7216D-874B-42C8-9BD3-3A645C2C4A1A}" type="pres">
      <dgm:prSet presAssocID="{2C53A79B-1E28-4085-907B-7EE464287F02}" presName="sibTrans" presStyleLbl="sibTrans2D1" presStyleIdx="0" presStyleCnt="0"/>
      <dgm:spPr/>
    </dgm:pt>
    <dgm:pt modelId="{3A740095-D141-4A83-BDEC-ED88E821760F}" type="pres">
      <dgm:prSet presAssocID="{61961989-B83B-4EC7-91D1-8A08FAD94ED3}" presName="compNode" presStyleCnt="0"/>
      <dgm:spPr/>
    </dgm:pt>
    <dgm:pt modelId="{B60B04D1-7E74-446A-ACC8-3ED94464BC50}" type="pres">
      <dgm:prSet presAssocID="{61961989-B83B-4EC7-91D1-8A08FAD94ED3}" presName="iconBgRect" presStyleLbl="bgShp" presStyleIdx="1" presStyleCnt="4"/>
      <dgm:spPr/>
    </dgm:pt>
    <dgm:pt modelId="{7E012A01-F6B5-4754-BA9F-F0FCDBECD787}" type="pres">
      <dgm:prSet presAssocID="{61961989-B83B-4EC7-91D1-8A08FAD94ED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al"/>
        </a:ext>
      </dgm:extLst>
    </dgm:pt>
    <dgm:pt modelId="{A755EEED-04CE-4E80-81B7-C2CA49425EA6}" type="pres">
      <dgm:prSet presAssocID="{61961989-B83B-4EC7-91D1-8A08FAD94ED3}" presName="spaceRect" presStyleCnt="0"/>
      <dgm:spPr/>
    </dgm:pt>
    <dgm:pt modelId="{583BA267-B39C-4AB8-89AD-51091084AF5D}" type="pres">
      <dgm:prSet presAssocID="{61961989-B83B-4EC7-91D1-8A08FAD94ED3}" presName="textRect" presStyleLbl="revTx" presStyleIdx="1" presStyleCnt="4">
        <dgm:presLayoutVars>
          <dgm:chMax val="1"/>
          <dgm:chPref val="1"/>
        </dgm:presLayoutVars>
      </dgm:prSet>
      <dgm:spPr/>
    </dgm:pt>
    <dgm:pt modelId="{0C50AB29-2382-4678-80C6-9B908E6898CF}" type="pres">
      <dgm:prSet presAssocID="{A0CBABB6-50B7-4A8E-9949-773614D90E12}" presName="sibTrans" presStyleLbl="sibTrans2D1" presStyleIdx="0" presStyleCnt="0"/>
      <dgm:spPr/>
    </dgm:pt>
    <dgm:pt modelId="{DA0560A7-D622-480B-92B1-BD9B7A708526}" type="pres">
      <dgm:prSet presAssocID="{4A9F6A22-2682-49B0-84F7-A10EDF259671}" presName="compNode" presStyleCnt="0"/>
      <dgm:spPr/>
    </dgm:pt>
    <dgm:pt modelId="{52E2FCDB-0595-45F8-A06F-AF218AC04884}" type="pres">
      <dgm:prSet presAssocID="{4A9F6A22-2682-49B0-84F7-A10EDF259671}" presName="iconBgRect" presStyleLbl="bgShp" presStyleIdx="2" presStyleCnt="4"/>
      <dgm:spPr/>
    </dgm:pt>
    <dgm:pt modelId="{FD6FF46A-2499-4829-A983-F916AA618BAC}" type="pres">
      <dgm:prSet presAssocID="{4A9F6A22-2682-49B0-84F7-A10EDF25967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ustomer Review"/>
        </a:ext>
      </dgm:extLst>
    </dgm:pt>
    <dgm:pt modelId="{A864AA3B-5CCF-4243-887C-E5F6B1C26BF1}" type="pres">
      <dgm:prSet presAssocID="{4A9F6A22-2682-49B0-84F7-A10EDF259671}" presName="spaceRect" presStyleCnt="0"/>
      <dgm:spPr/>
    </dgm:pt>
    <dgm:pt modelId="{BB523880-1ED4-45A5-96DF-4036AB398850}" type="pres">
      <dgm:prSet presAssocID="{4A9F6A22-2682-49B0-84F7-A10EDF259671}" presName="textRect" presStyleLbl="revTx" presStyleIdx="2" presStyleCnt="4">
        <dgm:presLayoutVars>
          <dgm:chMax val="1"/>
          <dgm:chPref val="1"/>
        </dgm:presLayoutVars>
      </dgm:prSet>
      <dgm:spPr/>
    </dgm:pt>
    <dgm:pt modelId="{2DB09AFC-D378-43BF-98D2-C7B5D394E08C}" type="pres">
      <dgm:prSet presAssocID="{5CFACAD2-2E4F-4659-BCCD-E16285C16B26}" presName="sibTrans" presStyleLbl="sibTrans2D1" presStyleIdx="0" presStyleCnt="0"/>
      <dgm:spPr/>
    </dgm:pt>
    <dgm:pt modelId="{68EA9A15-17E2-4BE0-AC1A-4E88AFDA5D44}" type="pres">
      <dgm:prSet presAssocID="{4A85CD1F-8C21-4E7E-9061-B8301C4D3441}" presName="compNode" presStyleCnt="0"/>
      <dgm:spPr/>
    </dgm:pt>
    <dgm:pt modelId="{27B4BEE8-0F82-4BDD-8BC3-97B420FB9798}" type="pres">
      <dgm:prSet presAssocID="{4A85CD1F-8C21-4E7E-9061-B8301C4D3441}" presName="iconBgRect" presStyleLbl="bgShp" presStyleIdx="3" presStyleCnt="4"/>
      <dgm:spPr/>
    </dgm:pt>
    <dgm:pt modelId="{F86639B7-36D6-49C2-A4B6-D2813E351264}" type="pres">
      <dgm:prSet presAssocID="{4A85CD1F-8C21-4E7E-9061-B8301C4D344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C07972C2-77A8-4A52-8226-AD8A10439893}" type="pres">
      <dgm:prSet presAssocID="{4A85CD1F-8C21-4E7E-9061-B8301C4D3441}" presName="spaceRect" presStyleCnt="0"/>
      <dgm:spPr/>
    </dgm:pt>
    <dgm:pt modelId="{A3791F56-A803-4C08-8966-143109DF4AB7}" type="pres">
      <dgm:prSet presAssocID="{4A85CD1F-8C21-4E7E-9061-B8301C4D3441}" presName="textRect" presStyleLbl="revTx" presStyleIdx="3" presStyleCnt="4">
        <dgm:presLayoutVars>
          <dgm:chMax val="1"/>
          <dgm:chPref val="1"/>
        </dgm:presLayoutVars>
      </dgm:prSet>
      <dgm:spPr/>
    </dgm:pt>
  </dgm:ptLst>
  <dgm:cxnLst>
    <dgm:cxn modelId="{DDAFE613-6E2B-45D2-A86A-64768AD39BD2}" type="presOf" srcId="{4A9F6A22-2682-49B0-84F7-A10EDF259671}" destId="{BB523880-1ED4-45A5-96DF-4036AB398850}" srcOrd="0" destOrd="0" presId="urn:microsoft.com/office/officeart/2018/2/layout/IconCircleList"/>
    <dgm:cxn modelId="{FF3F8948-BAAD-4EFB-9D26-67D4ABF1C15D}" type="presOf" srcId="{4A85CD1F-8C21-4E7E-9061-B8301C4D3441}" destId="{A3791F56-A803-4C08-8966-143109DF4AB7}" srcOrd="0" destOrd="0" presId="urn:microsoft.com/office/officeart/2018/2/layout/IconCircleList"/>
    <dgm:cxn modelId="{4EC85955-5863-40B3-90F5-BA50062C55D0}" type="presOf" srcId="{61961989-B83B-4EC7-91D1-8A08FAD94ED3}" destId="{583BA267-B39C-4AB8-89AD-51091084AF5D}" srcOrd="0" destOrd="0" presId="urn:microsoft.com/office/officeart/2018/2/layout/IconCircleList"/>
    <dgm:cxn modelId="{8BCC3568-7638-4593-A5A4-A674D5A50160}" type="presOf" srcId="{A2B28CE8-A6D5-4E88-92DB-570CEC5878FA}" destId="{9638BE58-C06C-49B3-8C18-DE066486FB1F}" srcOrd="0" destOrd="0" presId="urn:microsoft.com/office/officeart/2018/2/layout/IconCircleList"/>
    <dgm:cxn modelId="{F288DE6B-963E-4F03-8A2D-9EF078351CE3}" srcId="{A2B28CE8-A6D5-4E88-92DB-570CEC5878FA}" destId="{61961989-B83B-4EC7-91D1-8A08FAD94ED3}" srcOrd="1" destOrd="0" parTransId="{94307681-3201-4FE3-ABA4-E6EA8DA0BF22}" sibTransId="{A0CBABB6-50B7-4A8E-9949-773614D90E12}"/>
    <dgm:cxn modelId="{EA174278-180E-45E9-AA28-0F1E9EFEB1EA}" srcId="{A2B28CE8-A6D5-4E88-92DB-570CEC5878FA}" destId="{4A9F6A22-2682-49B0-84F7-A10EDF259671}" srcOrd="2" destOrd="0" parTransId="{F3D68B13-B3EB-4002-A24A-9C56277D70B7}" sibTransId="{5CFACAD2-2E4F-4659-BCCD-E16285C16B26}"/>
    <dgm:cxn modelId="{0D390585-8DBA-4434-89C4-9614B0B435CE}" type="presOf" srcId="{2C53A79B-1E28-4085-907B-7EE464287F02}" destId="{F4E7216D-874B-42C8-9BD3-3A645C2C4A1A}" srcOrd="0" destOrd="0" presId="urn:microsoft.com/office/officeart/2018/2/layout/IconCircleList"/>
    <dgm:cxn modelId="{1A767592-E353-4A6B-96A9-57C47F92E510}" type="presOf" srcId="{A0CBABB6-50B7-4A8E-9949-773614D90E12}" destId="{0C50AB29-2382-4678-80C6-9B908E6898CF}" srcOrd="0" destOrd="0" presId="urn:microsoft.com/office/officeart/2018/2/layout/IconCircleList"/>
    <dgm:cxn modelId="{7403249D-840C-4D9C-BC64-F4465BF5C0AA}" type="presOf" srcId="{2BCF28EB-17E3-4E80-95D2-9FBBC6B621DD}" destId="{925FAA15-622E-4151-9E01-782A94BA4C44}" srcOrd="0" destOrd="0" presId="urn:microsoft.com/office/officeart/2018/2/layout/IconCircleList"/>
    <dgm:cxn modelId="{38036DA4-8B91-4CA1-A8D0-324F4079EC9F}" srcId="{A2B28CE8-A6D5-4E88-92DB-570CEC5878FA}" destId="{4A85CD1F-8C21-4E7E-9061-B8301C4D3441}" srcOrd="3" destOrd="0" parTransId="{BF93A674-2251-41E8-9DE4-B7C0146FCCDC}" sibTransId="{AB036E9F-ECC5-4F91-8392-E66AEA369D1E}"/>
    <dgm:cxn modelId="{F00B4DB2-80CB-459A-B3F5-B4150D0DCF27}" type="presOf" srcId="{5CFACAD2-2E4F-4659-BCCD-E16285C16B26}" destId="{2DB09AFC-D378-43BF-98D2-C7B5D394E08C}" srcOrd="0" destOrd="0" presId="urn:microsoft.com/office/officeart/2018/2/layout/IconCircleList"/>
    <dgm:cxn modelId="{3E1659E2-D9E5-4358-A12F-3DA7C079DCFE}" srcId="{A2B28CE8-A6D5-4E88-92DB-570CEC5878FA}" destId="{2BCF28EB-17E3-4E80-95D2-9FBBC6B621DD}" srcOrd="0" destOrd="0" parTransId="{382292CE-C870-40D4-931F-DDF5FA9EA508}" sibTransId="{2C53A79B-1E28-4085-907B-7EE464287F02}"/>
    <dgm:cxn modelId="{D2E30536-D6C5-4EC2-A337-8C50AB32ED6F}" type="presParOf" srcId="{9638BE58-C06C-49B3-8C18-DE066486FB1F}" destId="{7B8BE515-F459-4D18-B1E4-54AF43D7D514}" srcOrd="0" destOrd="0" presId="urn:microsoft.com/office/officeart/2018/2/layout/IconCircleList"/>
    <dgm:cxn modelId="{B3417E30-EF2C-4285-B764-78B480CE102B}" type="presParOf" srcId="{7B8BE515-F459-4D18-B1E4-54AF43D7D514}" destId="{D314DC60-B56F-4083-AE0A-2F20787C5AB6}" srcOrd="0" destOrd="0" presId="urn:microsoft.com/office/officeart/2018/2/layout/IconCircleList"/>
    <dgm:cxn modelId="{7043FD53-2D0E-4EDE-8F80-655D2FD524F6}" type="presParOf" srcId="{D314DC60-B56F-4083-AE0A-2F20787C5AB6}" destId="{055904FB-46D2-4BDA-9C4B-303F101BE01B}" srcOrd="0" destOrd="0" presId="urn:microsoft.com/office/officeart/2018/2/layout/IconCircleList"/>
    <dgm:cxn modelId="{AD022CC7-ADC4-4970-A74C-8357711B8B6A}" type="presParOf" srcId="{D314DC60-B56F-4083-AE0A-2F20787C5AB6}" destId="{1B117BE2-487B-4942-9C1A-F0F83EA494BD}" srcOrd="1" destOrd="0" presId="urn:microsoft.com/office/officeart/2018/2/layout/IconCircleList"/>
    <dgm:cxn modelId="{409BE6EC-9BEF-422C-B35A-DDE0A17E866E}" type="presParOf" srcId="{D314DC60-B56F-4083-AE0A-2F20787C5AB6}" destId="{54F4805E-40F5-4C56-B787-BEBCA6ED3689}" srcOrd="2" destOrd="0" presId="urn:microsoft.com/office/officeart/2018/2/layout/IconCircleList"/>
    <dgm:cxn modelId="{28C26D79-2CF7-450E-84FB-87A2D3FC08C7}" type="presParOf" srcId="{D314DC60-B56F-4083-AE0A-2F20787C5AB6}" destId="{925FAA15-622E-4151-9E01-782A94BA4C44}" srcOrd="3" destOrd="0" presId="urn:microsoft.com/office/officeart/2018/2/layout/IconCircleList"/>
    <dgm:cxn modelId="{480E3867-3F0B-4011-A84D-B1EDC8FEF5F2}" type="presParOf" srcId="{7B8BE515-F459-4D18-B1E4-54AF43D7D514}" destId="{F4E7216D-874B-42C8-9BD3-3A645C2C4A1A}" srcOrd="1" destOrd="0" presId="urn:microsoft.com/office/officeart/2018/2/layout/IconCircleList"/>
    <dgm:cxn modelId="{4CFD5B2A-F27D-4CC5-9E6F-8A60408C0440}" type="presParOf" srcId="{7B8BE515-F459-4D18-B1E4-54AF43D7D514}" destId="{3A740095-D141-4A83-BDEC-ED88E821760F}" srcOrd="2" destOrd="0" presId="urn:microsoft.com/office/officeart/2018/2/layout/IconCircleList"/>
    <dgm:cxn modelId="{A9A4A614-FFB5-4822-AE69-D7F567FEDFF3}" type="presParOf" srcId="{3A740095-D141-4A83-BDEC-ED88E821760F}" destId="{B60B04D1-7E74-446A-ACC8-3ED94464BC50}" srcOrd="0" destOrd="0" presId="urn:microsoft.com/office/officeart/2018/2/layout/IconCircleList"/>
    <dgm:cxn modelId="{686E3F65-415B-41C0-85B0-0C43A650D5DD}" type="presParOf" srcId="{3A740095-D141-4A83-BDEC-ED88E821760F}" destId="{7E012A01-F6B5-4754-BA9F-F0FCDBECD787}" srcOrd="1" destOrd="0" presId="urn:microsoft.com/office/officeart/2018/2/layout/IconCircleList"/>
    <dgm:cxn modelId="{21ED28D1-CF81-404E-BF05-C4A98B59A87F}" type="presParOf" srcId="{3A740095-D141-4A83-BDEC-ED88E821760F}" destId="{A755EEED-04CE-4E80-81B7-C2CA49425EA6}" srcOrd="2" destOrd="0" presId="urn:microsoft.com/office/officeart/2018/2/layout/IconCircleList"/>
    <dgm:cxn modelId="{65FCE891-3288-4859-BB16-12246BBF25BF}" type="presParOf" srcId="{3A740095-D141-4A83-BDEC-ED88E821760F}" destId="{583BA267-B39C-4AB8-89AD-51091084AF5D}" srcOrd="3" destOrd="0" presId="urn:microsoft.com/office/officeart/2018/2/layout/IconCircleList"/>
    <dgm:cxn modelId="{4DCDB42F-BFCC-4610-8997-B1011EB28F15}" type="presParOf" srcId="{7B8BE515-F459-4D18-B1E4-54AF43D7D514}" destId="{0C50AB29-2382-4678-80C6-9B908E6898CF}" srcOrd="3" destOrd="0" presId="urn:microsoft.com/office/officeart/2018/2/layout/IconCircleList"/>
    <dgm:cxn modelId="{64373F9C-9779-46C5-BEFD-4ACF650F484C}" type="presParOf" srcId="{7B8BE515-F459-4D18-B1E4-54AF43D7D514}" destId="{DA0560A7-D622-480B-92B1-BD9B7A708526}" srcOrd="4" destOrd="0" presId="urn:microsoft.com/office/officeart/2018/2/layout/IconCircleList"/>
    <dgm:cxn modelId="{37FCB706-D60B-4A70-86BA-9687D160FF4A}" type="presParOf" srcId="{DA0560A7-D622-480B-92B1-BD9B7A708526}" destId="{52E2FCDB-0595-45F8-A06F-AF218AC04884}" srcOrd="0" destOrd="0" presId="urn:microsoft.com/office/officeart/2018/2/layout/IconCircleList"/>
    <dgm:cxn modelId="{11DAA9BC-D5EE-4D0A-B77E-1CAFA54301F4}" type="presParOf" srcId="{DA0560A7-D622-480B-92B1-BD9B7A708526}" destId="{FD6FF46A-2499-4829-A983-F916AA618BAC}" srcOrd="1" destOrd="0" presId="urn:microsoft.com/office/officeart/2018/2/layout/IconCircleList"/>
    <dgm:cxn modelId="{064DBF74-A8E0-4204-8F1C-3B94F6805DE1}" type="presParOf" srcId="{DA0560A7-D622-480B-92B1-BD9B7A708526}" destId="{A864AA3B-5CCF-4243-887C-E5F6B1C26BF1}" srcOrd="2" destOrd="0" presId="urn:microsoft.com/office/officeart/2018/2/layout/IconCircleList"/>
    <dgm:cxn modelId="{A6A2A942-58E1-440B-BC19-58E3BEAE007B}" type="presParOf" srcId="{DA0560A7-D622-480B-92B1-BD9B7A708526}" destId="{BB523880-1ED4-45A5-96DF-4036AB398850}" srcOrd="3" destOrd="0" presId="urn:microsoft.com/office/officeart/2018/2/layout/IconCircleList"/>
    <dgm:cxn modelId="{BE6DA91A-D277-4BD5-8C71-F38C79A056B1}" type="presParOf" srcId="{7B8BE515-F459-4D18-B1E4-54AF43D7D514}" destId="{2DB09AFC-D378-43BF-98D2-C7B5D394E08C}" srcOrd="5" destOrd="0" presId="urn:microsoft.com/office/officeart/2018/2/layout/IconCircleList"/>
    <dgm:cxn modelId="{71D16986-AD0E-4A63-B685-48109956A8A3}" type="presParOf" srcId="{7B8BE515-F459-4D18-B1E4-54AF43D7D514}" destId="{68EA9A15-17E2-4BE0-AC1A-4E88AFDA5D44}" srcOrd="6" destOrd="0" presId="urn:microsoft.com/office/officeart/2018/2/layout/IconCircleList"/>
    <dgm:cxn modelId="{2E920854-93FE-476D-8206-422F86274C26}" type="presParOf" srcId="{68EA9A15-17E2-4BE0-AC1A-4E88AFDA5D44}" destId="{27B4BEE8-0F82-4BDD-8BC3-97B420FB9798}" srcOrd="0" destOrd="0" presId="urn:microsoft.com/office/officeart/2018/2/layout/IconCircleList"/>
    <dgm:cxn modelId="{B7CD3340-59EA-42B2-9CEA-3E13036F3A4B}" type="presParOf" srcId="{68EA9A15-17E2-4BE0-AC1A-4E88AFDA5D44}" destId="{F86639B7-36D6-49C2-A4B6-D2813E351264}" srcOrd="1" destOrd="0" presId="urn:microsoft.com/office/officeart/2018/2/layout/IconCircleList"/>
    <dgm:cxn modelId="{88141F3D-24AA-4AB5-8E24-3DCDABB7B4CA}" type="presParOf" srcId="{68EA9A15-17E2-4BE0-AC1A-4E88AFDA5D44}" destId="{C07972C2-77A8-4A52-8226-AD8A10439893}" srcOrd="2" destOrd="0" presId="urn:microsoft.com/office/officeart/2018/2/layout/IconCircleList"/>
    <dgm:cxn modelId="{AD10732E-EE10-4EC5-B415-A0088B0CAD66}" type="presParOf" srcId="{68EA9A15-17E2-4BE0-AC1A-4E88AFDA5D44}" destId="{A3791F56-A803-4C08-8966-143109DF4AB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50573DC-2320-4CCC-8AC0-DEA09117A03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42DBBEF-7484-4D89-B41B-3F43E289461C}">
      <dgm:prSet/>
      <dgm:spPr/>
      <dgm:t>
        <a:bodyPr/>
        <a:lstStyle/>
        <a:p>
          <a:r>
            <a:rPr lang="en-US"/>
            <a:t>Assumes individuals are rational decision-makers, ignores emotions and unconscious factors.</a:t>
          </a:r>
        </a:p>
      </dgm:t>
    </dgm:pt>
    <dgm:pt modelId="{B143379A-65D2-421C-80A5-3DCA35DA0CE2}" type="parTrans" cxnId="{87658E1F-E763-4A91-AD70-5ADEF303BE38}">
      <dgm:prSet/>
      <dgm:spPr/>
      <dgm:t>
        <a:bodyPr/>
        <a:lstStyle/>
        <a:p>
          <a:endParaRPr lang="en-US"/>
        </a:p>
      </dgm:t>
    </dgm:pt>
    <dgm:pt modelId="{5EACBCDD-0035-4437-86B9-34D36BF29550}" type="sibTrans" cxnId="{87658E1F-E763-4A91-AD70-5ADEF303BE38}">
      <dgm:prSet/>
      <dgm:spPr/>
      <dgm:t>
        <a:bodyPr/>
        <a:lstStyle/>
        <a:p>
          <a:endParaRPr lang="en-US"/>
        </a:p>
      </dgm:t>
    </dgm:pt>
    <dgm:pt modelId="{5F49460A-FBF2-4534-B2E4-CB62E36926D7}">
      <dgm:prSet/>
      <dgm:spPr/>
      <dgm:t>
        <a:bodyPr/>
        <a:lstStyle/>
        <a:p>
          <a:r>
            <a:rPr lang="en-US"/>
            <a:t>Expectancy, instrumentality, and valence are highly subjective and differ greatly among employees.</a:t>
          </a:r>
        </a:p>
      </dgm:t>
    </dgm:pt>
    <dgm:pt modelId="{BFA3BF8C-0C7E-432E-A515-391004A5688D}" type="parTrans" cxnId="{C28EDA36-225A-43EB-A81C-7292759934C0}">
      <dgm:prSet/>
      <dgm:spPr/>
      <dgm:t>
        <a:bodyPr/>
        <a:lstStyle/>
        <a:p>
          <a:endParaRPr lang="en-US"/>
        </a:p>
      </dgm:t>
    </dgm:pt>
    <dgm:pt modelId="{6C777919-84D5-4C89-BCF4-87605FBD251D}" type="sibTrans" cxnId="{C28EDA36-225A-43EB-A81C-7292759934C0}">
      <dgm:prSet/>
      <dgm:spPr/>
      <dgm:t>
        <a:bodyPr/>
        <a:lstStyle/>
        <a:p>
          <a:endParaRPr lang="en-US"/>
        </a:p>
      </dgm:t>
    </dgm:pt>
    <dgm:pt modelId="{366C920A-3E9E-405C-8536-0D4CD10563C4}">
      <dgm:prSet/>
      <dgm:spPr/>
      <dgm:t>
        <a:bodyPr/>
        <a:lstStyle/>
        <a:p>
          <a:r>
            <a:rPr lang="en-US"/>
            <a:t>Not all rewards are tangible, and intrinsic rewards are often overlooked in the theory.</a:t>
          </a:r>
        </a:p>
      </dgm:t>
    </dgm:pt>
    <dgm:pt modelId="{21E5039D-CE9E-4223-9D9B-4FA8EAE8AFF0}" type="parTrans" cxnId="{96B05E3A-9765-480C-B3EB-753FF6A2A0F4}">
      <dgm:prSet/>
      <dgm:spPr/>
      <dgm:t>
        <a:bodyPr/>
        <a:lstStyle/>
        <a:p>
          <a:endParaRPr lang="en-US"/>
        </a:p>
      </dgm:t>
    </dgm:pt>
    <dgm:pt modelId="{ACF418DA-F625-47E0-9F51-5E2485967EEF}" type="sibTrans" cxnId="{96B05E3A-9765-480C-B3EB-753FF6A2A0F4}">
      <dgm:prSet/>
      <dgm:spPr/>
      <dgm:t>
        <a:bodyPr/>
        <a:lstStyle/>
        <a:p>
          <a:endParaRPr lang="en-US"/>
        </a:p>
      </dgm:t>
    </dgm:pt>
    <dgm:pt modelId="{4BF0A7E2-FA14-438B-9FDC-A8AE4239A3DE}">
      <dgm:prSet/>
      <dgm:spPr/>
      <dgm:t>
        <a:bodyPr/>
        <a:lstStyle/>
        <a:p>
          <a:r>
            <a:rPr lang="en-US"/>
            <a:t>Primarily focuses on individual motivation and neglects social dynamics like teamwork or social influence.</a:t>
          </a:r>
        </a:p>
      </dgm:t>
    </dgm:pt>
    <dgm:pt modelId="{E43FEA8E-0366-444A-B537-748D98263F85}" type="parTrans" cxnId="{4D9BA2C6-C9D0-43FC-9B31-31D26777469A}">
      <dgm:prSet/>
      <dgm:spPr/>
      <dgm:t>
        <a:bodyPr/>
        <a:lstStyle/>
        <a:p>
          <a:endParaRPr lang="en-US"/>
        </a:p>
      </dgm:t>
    </dgm:pt>
    <dgm:pt modelId="{11076916-9E74-4319-B384-399A9DBB4FF9}" type="sibTrans" cxnId="{4D9BA2C6-C9D0-43FC-9B31-31D26777469A}">
      <dgm:prSet/>
      <dgm:spPr/>
      <dgm:t>
        <a:bodyPr/>
        <a:lstStyle/>
        <a:p>
          <a:endParaRPr lang="en-US"/>
        </a:p>
      </dgm:t>
    </dgm:pt>
    <dgm:pt modelId="{395437C7-04BE-BA4E-92AF-DB61E856BF2F}" type="pres">
      <dgm:prSet presAssocID="{050573DC-2320-4CCC-8AC0-DEA09117A038}" presName="linear" presStyleCnt="0">
        <dgm:presLayoutVars>
          <dgm:animLvl val="lvl"/>
          <dgm:resizeHandles val="exact"/>
        </dgm:presLayoutVars>
      </dgm:prSet>
      <dgm:spPr/>
    </dgm:pt>
    <dgm:pt modelId="{9BECCAAF-8ACB-DA45-BD52-87CE64661DE0}" type="pres">
      <dgm:prSet presAssocID="{142DBBEF-7484-4D89-B41B-3F43E289461C}" presName="parentText" presStyleLbl="node1" presStyleIdx="0" presStyleCnt="4">
        <dgm:presLayoutVars>
          <dgm:chMax val="0"/>
          <dgm:bulletEnabled val="1"/>
        </dgm:presLayoutVars>
      </dgm:prSet>
      <dgm:spPr/>
    </dgm:pt>
    <dgm:pt modelId="{BDD1DF17-72A4-4D41-8F02-AD30F1373569}" type="pres">
      <dgm:prSet presAssocID="{5EACBCDD-0035-4437-86B9-34D36BF29550}" presName="spacer" presStyleCnt="0"/>
      <dgm:spPr/>
    </dgm:pt>
    <dgm:pt modelId="{778F189B-7C1B-F94A-846E-A26DAFA717E2}" type="pres">
      <dgm:prSet presAssocID="{5F49460A-FBF2-4534-B2E4-CB62E36926D7}" presName="parentText" presStyleLbl="node1" presStyleIdx="1" presStyleCnt="4">
        <dgm:presLayoutVars>
          <dgm:chMax val="0"/>
          <dgm:bulletEnabled val="1"/>
        </dgm:presLayoutVars>
      </dgm:prSet>
      <dgm:spPr/>
    </dgm:pt>
    <dgm:pt modelId="{8D549EC6-5DEE-1B43-9E4A-B5CAFD92BA30}" type="pres">
      <dgm:prSet presAssocID="{6C777919-84D5-4C89-BCF4-87605FBD251D}" presName="spacer" presStyleCnt="0"/>
      <dgm:spPr/>
    </dgm:pt>
    <dgm:pt modelId="{1684C578-B833-0B4A-AA8C-2F315A6BD3EF}" type="pres">
      <dgm:prSet presAssocID="{366C920A-3E9E-405C-8536-0D4CD10563C4}" presName="parentText" presStyleLbl="node1" presStyleIdx="2" presStyleCnt="4">
        <dgm:presLayoutVars>
          <dgm:chMax val="0"/>
          <dgm:bulletEnabled val="1"/>
        </dgm:presLayoutVars>
      </dgm:prSet>
      <dgm:spPr/>
    </dgm:pt>
    <dgm:pt modelId="{55A3E916-09BB-964E-8797-5872D67E9D9E}" type="pres">
      <dgm:prSet presAssocID="{ACF418DA-F625-47E0-9F51-5E2485967EEF}" presName="spacer" presStyleCnt="0"/>
      <dgm:spPr/>
    </dgm:pt>
    <dgm:pt modelId="{F3CC77CC-C05C-A548-A4F1-C0317E9986FA}" type="pres">
      <dgm:prSet presAssocID="{4BF0A7E2-FA14-438B-9FDC-A8AE4239A3DE}" presName="parentText" presStyleLbl="node1" presStyleIdx="3" presStyleCnt="4">
        <dgm:presLayoutVars>
          <dgm:chMax val="0"/>
          <dgm:bulletEnabled val="1"/>
        </dgm:presLayoutVars>
      </dgm:prSet>
      <dgm:spPr/>
    </dgm:pt>
  </dgm:ptLst>
  <dgm:cxnLst>
    <dgm:cxn modelId="{38ED4208-42C9-DC44-8FC4-574C6572E8B8}" type="presOf" srcId="{366C920A-3E9E-405C-8536-0D4CD10563C4}" destId="{1684C578-B833-0B4A-AA8C-2F315A6BD3EF}" srcOrd="0" destOrd="0" presId="urn:microsoft.com/office/officeart/2005/8/layout/vList2"/>
    <dgm:cxn modelId="{9CB21F0D-C86D-4F4B-98D6-9159442BDCBA}" type="presOf" srcId="{5F49460A-FBF2-4534-B2E4-CB62E36926D7}" destId="{778F189B-7C1B-F94A-846E-A26DAFA717E2}" srcOrd="0" destOrd="0" presId="urn:microsoft.com/office/officeart/2005/8/layout/vList2"/>
    <dgm:cxn modelId="{87658E1F-E763-4A91-AD70-5ADEF303BE38}" srcId="{050573DC-2320-4CCC-8AC0-DEA09117A038}" destId="{142DBBEF-7484-4D89-B41B-3F43E289461C}" srcOrd="0" destOrd="0" parTransId="{B143379A-65D2-421C-80A5-3DCA35DA0CE2}" sibTransId="{5EACBCDD-0035-4437-86B9-34D36BF29550}"/>
    <dgm:cxn modelId="{7151EA35-7A45-9E45-9A83-B4EF532F1CC9}" type="presOf" srcId="{142DBBEF-7484-4D89-B41B-3F43E289461C}" destId="{9BECCAAF-8ACB-DA45-BD52-87CE64661DE0}" srcOrd="0" destOrd="0" presId="urn:microsoft.com/office/officeart/2005/8/layout/vList2"/>
    <dgm:cxn modelId="{C28EDA36-225A-43EB-A81C-7292759934C0}" srcId="{050573DC-2320-4CCC-8AC0-DEA09117A038}" destId="{5F49460A-FBF2-4534-B2E4-CB62E36926D7}" srcOrd="1" destOrd="0" parTransId="{BFA3BF8C-0C7E-432E-A515-391004A5688D}" sibTransId="{6C777919-84D5-4C89-BCF4-87605FBD251D}"/>
    <dgm:cxn modelId="{96B05E3A-9765-480C-B3EB-753FF6A2A0F4}" srcId="{050573DC-2320-4CCC-8AC0-DEA09117A038}" destId="{366C920A-3E9E-405C-8536-0D4CD10563C4}" srcOrd="2" destOrd="0" parTransId="{21E5039D-CE9E-4223-9D9B-4FA8EAE8AFF0}" sibTransId="{ACF418DA-F625-47E0-9F51-5E2485967EEF}"/>
    <dgm:cxn modelId="{8C417790-DEF8-3047-AF3E-29E017493730}" type="presOf" srcId="{050573DC-2320-4CCC-8AC0-DEA09117A038}" destId="{395437C7-04BE-BA4E-92AF-DB61E856BF2F}" srcOrd="0" destOrd="0" presId="urn:microsoft.com/office/officeart/2005/8/layout/vList2"/>
    <dgm:cxn modelId="{4D9BA2C6-C9D0-43FC-9B31-31D26777469A}" srcId="{050573DC-2320-4CCC-8AC0-DEA09117A038}" destId="{4BF0A7E2-FA14-438B-9FDC-A8AE4239A3DE}" srcOrd="3" destOrd="0" parTransId="{E43FEA8E-0366-444A-B537-748D98263F85}" sibTransId="{11076916-9E74-4319-B384-399A9DBB4FF9}"/>
    <dgm:cxn modelId="{14BBA1C8-B4D2-1944-B5AC-1DFA1DA796D6}" type="presOf" srcId="{4BF0A7E2-FA14-438B-9FDC-A8AE4239A3DE}" destId="{F3CC77CC-C05C-A548-A4F1-C0317E9986FA}" srcOrd="0" destOrd="0" presId="urn:microsoft.com/office/officeart/2005/8/layout/vList2"/>
    <dgm:cxn modelId="{99679686-1209-2740-9147-734F11E3BF3F}" type="presParOf" srcId="{395437C7-04BE-BA4E-92AF-DB61E856BF2F}" destId="{9BECCAAF-8ACB-DA45-BD52-87CE64661DE0}" srcOrd="0" destOrd="0" presId="urn:microsoft.com/office/officeart/2005/8/layout/vList2"/>
    <dgm:cxn modelId="{B281438A-D047-254D-A9AC-EDDFBAE25924}" type="presParOf" srcId="{395437C7-04BE-BA4E-92AF-DB61E856BF2F}" destId="{BDD1DF17-72A4-4D41-8F02-AD30F1373569}" srcOrd="1" destOrd="0" presId="urn:microsoft.com/office/officeart/2005/8/layout/vList2"/>
    <dgm:cxn modelId="{DF3A55B3-762E-3C47-BA4B-50248B67E648}" type="presParOf" srcId="{395437C7-04BE-BA4E-92AF-DB61E856BF2F}" destId="{778F189B-7C1B-F94A-846E-A26DAFA717E2}" srcOrd="2" destOrd="0" presId="urn:microsoft.com/office/officeart/2005/8/layout/vList2"/>
    <dgm:cxn modelId="{6EEC3C9E-1F47-E047-8B06-78B381985057}" type="presParOf" srcId="{395437C7-04BE-BA4E-92AF-DB61E856BF2F}" destId="{8D549EC6-5DEE-1B43-9E4A-B5CAFD92BA30}" srcOrd="3" destOrd="0" presId="urn:microsoft.com/office/officeart/2005/8/layout/vList2"/>
    <dgm:cxn modelId="{EB42B77C-4FF2-C542-B24C-3F6049A8C177}" type="presParOf" srcId="{395437C7-04BE-BA4E-92AF-DB61E856BF2F}" destId="{1684C578-B833-0B4A-AA8C-2F315A6BD3EF}" srcOrd="4" destOrd="0" presId="urn:microsoft.com/office/officeart/2005/8/layout/vList2"/>
    <dgm:cxn modelId="{770C5B3C-861E-D24E-B93F-8F92B8A79467}" type="presParOf" srcId="{395437C7-04BE-BA4E-92AF-DB61E856BF2F}" destId="{55A3E916-09BB-964E-8797-5872D67E9D9E}" srcOrd="5" destOrd="0" presId="urn:microsoft.com/office/officeart/2005/8/layout/vList2"/>
    <dgm:cxn modelId="{0C4993F5-9CE8-614C-8FE9-16A251507F26}" type="presParOf" srcId="{395437C7-04BE-BA4E-92AF-DB61E856BF2F}" destId="{F3CC77CC-C05C-A548-A4F1-C0317E9986F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8275CEA-0512-424B-8884-6632B293065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38557D9-40C1-40ED-BC3F-488F0871079C}">
      <dgm:prSet/>
      <dgm:spPr/>
      <dgm:t>
        <a:bodyPr/>
        <a:lstStyle/>
        <a:p>
          <a:pPr>
            <a:defRPr b="1"/>
          </a:pPr>
          <a:r>
            <a:rPr lang="en-US" dirty="0"/>
            <a:t>Reward Packages:</a:t>
          </a:r>
        </a:p>
      </dgm:t>
    </dgm:pt>
    <dgm:pt modelId="{693A7A9E-7A78-42AB-B4DA-508BB16D4176}" type="parTrans" cxnId="{0E756C24-17C2-4D67-86F2-A137524ACB6A}">
      <dgm:prSet/>
      <dgm:spPr/>
      <dgm:t>
        <a:bodyPr/>
        <a:lstStyle/>
        <a:p>
          <a:endParaRPr lang="en-US"/>
        </a:p>
      </dgm:t>
    </dgm:pt>
    <dgm:pt modelId="{DE9B801B-1C25-46BA-9019-E7911085DA96}" type="sibTrans" cxnId="{0E756C24-17C2-4D67-86F2-A137524ACB6A}">
      <dgm:prSet/>
      <dgm:spPr/>
      <dgm:t>
        <a:bodyPr/>
        <a:lstStyle/>
        <a:p>
          <a:endParaRPr lang="en-US"/>
        </a:p>
      </dgm:t>
    </dgm:pt>
    <dgm:pt modelId="{F17ED0D1-BBF2-41AD-B403-4BB029464FF7}">
      <dgm:prSet/>
      <dgm:spPr/>
      <dgm:t>
        <a:bodyPr/>
        <a:lstStyle/>
        <a:p>
          <a:r>
            <a:rPr lang="en-US" sz="1700" dirty="0"/>
            <a:t>Financial Rewards: Salaries, bonuses, incentives. Motivation Link: Directly linked to fulfilling basic needs but may not sustain long-term motivation for all employees.</a:t>
          </a:r>
        </a:p>
      </dgm:t>
    </dgm:pt>
    <dgm:pt modelId="{100F1371-B001-4AEF-A596-991754DEE47D}" type="parTrans" cxnId="{4DF61200-678C-4853-B8BC-C0454F57CD60}">
      <dgm:prSet/>
      <dgm:spPr/>
      <dgm:t>
        <a:bodyPr/>
        <a:lstStyle/>
        <a:p>
          <a:endParaRPr lang="en-US"/>
        </a:p>
      </dgm:t>
    </dgm:pt>
    <dgm:pt modelId="{8E6B3621-BE4D-4497-80D8-A442C63DAB7C}" type="sibTrans" cxnId="{4DF61200-678C-4853-B8BC-C0454F57CD60}">
      <dgm:prSet/>
      <dgm:spPr/>
      <dgm:t>
        <a:bodyPr/>
        <a:lstStyle/>
        <a:p>
          <a:endParaRPr lang="en-US"/>
        </a:p>
      </dgm:t>
    </dgm:pt>
    <dgm:pt modelId="{EDD5835C-62CD-4253-9B66-333DC89BB980}">
      <dgm:prSet/>
      <dgm:spPr/>
      <dgm:t>
        <a:bodyPr/>
        <a:lstStyle/>
        <a:p>
          <a:r>
            <a:rPr lang="en-US" sz="1700" dirty="0"/>
            <a:t>Non-Financial Rewards: Recognition, career development, work-life balance. Motivation link: Often tied to intrinsic motivation, fostering engagement and satisfaction.</a:t>
          </a:r>
        </a:p>
      </dgm:t>
    </dgm:pt>
    <dgm:pt modelId="{02BCABCA-9A3E-4883-B9FA-17C6D2C736B2}" type="parTrans" cxnId="{B1A8386F-DB37-4BF5-BB05-85658BAD7AE4}">
      <dgm:prSet/>
      <dgm:spPr/>
      <dgm:t>
        <a:bodyPr/>
        <a:lstStyle/>
        <a:p>
          <a:endParaRPr lang="en-US"/>
        </a:p>
      </dgm:t>
    </dgm:pt>
    <dgm:pt modelId="{63359343-9D46-4B8D-BC03-46096F3A0D51}" type="sibTrans" cxnId="{B1A8386F-DB37-4BF5-BB05-85658BAD7AE4}">
      <dgm:prSet/>
      <dgm:spPr/>
      <dgm:t>
        <a:bodyPr/>
        <a:lstStyle/>
        <a:p>
          <a:endParaRPr lang="en-US"/>
        </a:p>
      </dgm:t>
    </dgm:pt>
    <dgm:pt modelId="{A0C90361-BCA8-4E7B-998E-38209817A3EF}">
      <dgm:prSet custT="1"/>
      <dgm:spPr/>
      <dgm:t>
        <a:bodyPr/>
        <a:lstStyle/>
        <a:p>
          <a:r>
            <a:rPr lang="en-US" sz="1600" dirty="0"/>
            <a:t>Equity and Fairness: According to Equity Theory, employees are motivated when they perceive rewards as fair in comparison to others.</a:t>
          </a:r>
        </a:p>
      </dgm:t>
    </dgm:pt>
    <dgm:pt modelId="{A55680A8-B58C-4B10-B756-C7010D334DFA}" type="parTrans" cxnId="{C1040EBB-DE1E-4B42-82AE-F87FD489CA7D}">
      <dgm:prSet/>
      <dgm:spPr/>
      <dgm:t>
        <a:bodyPr/>
        <a:lstStyle/>
        <a:p>
          <a:endParaRPr lang="en-US"/>
        </a:p>
      </dgm:t>
    </dgm:pt>
    <dgm:pt modelId="{DF882A66-2776-410A-B855-6B631F12ADE1}" type="sibTrans" cxnId="{C1040EBB-DE1E-4B42-82AE-F87FD489CA7D}">
      <dgm:prSet/>
      <dgm:spPr/>
      <dgm:t>
        <a:bodyPr/>
        <a:lstStyle/>
        <a:p>
          <a:endParaRPr lang="en-US"/>
        </a:p>
      </dgm:t>
    </dgm:pt>
    <dgm:pt modelId="{277A284B-0D68-4944-94F8-9BC1D69E160A}">
      <dgm:prSet/>
      <dgm:spPr/>
      <dgm:t>
        <a:bodyPr/>
        <a:lstStyle/>
        <a:p>
          <a:pPr>
            <a:defRPr b="1"/>
          </a:pPr>
          <a:r>
            <a:rPr lang="en-US"/>
            <a:t>Key points:</a:t>
          </a:r>
        </a:p>
      </dgm:t>
    </dgm:pt>
    <dgm:pt modelId="{5B61C4FE-70EC-49F4-9F21-B8BB4FFDA330}" type="parTrans" cxnId="{570F9029-148C-401C-B618-BE734939AE30}">
      <dgm:prSet/>
      <dgm:spPr/>
      <dgm:t>
        <a:bodyPr/>
        <a:lstStyle/>
        <a:p>
          <a:endParaRPr lang="en-US"/>
        </a:p>
      </dgm:t>
    </dgm:pt>
    <dgm:pt modelId="{5FF58F4A-8B74-47C9-B32C-9535C0142031}" type="sibTrans" cxnId="{570F9029-148C-401C-B618-BE734939AE30}">
      <dgm:prSet/>
      <dgm:spPr/>
      <dgm:t>
        <a:bodyPr/>
        <a:lstStyle/>
        <a:p>
          <a:endParaRPr lang="en-US"/>
        </a:p>
      </dgm:t>
    </dgm:pt>
    <dgm:pt modelId="{32B3D915-BE44-472C-9D37-5A1B364BD1F0}">
      <dgm:prSet/>
      <dgm:spPr/>
      <dgm:t>
        <a:bodyPr/>
        <a:lstStyle/>
        <a:p>
          <a:r>
            <a:rPr lang="en-US"/>
            <a:t>Tailored Reward Packages: Different employees are motivated by different types of rewards (financial, recognition, growth).</a:t>
          </a:r>
        </a:p>
      </dgm:t>
    </dgm:pt>
    <dgm:pt modelId="{7D42FF1F-0164-4475-B241-D4E57C0B05EC}" type="parTrans" cxnId="{E1E94066-5954-4629-BD6B-9BFDF3E265B4}">
      <dgm:prSet/>
      <dgm:spPr/>
      <dgm:t>
        <a:bodyPr/>
        <a:lstStyle/>
        <a:p>
          <a:endParaRPr lang="en-US"/>
        </a:p>
      </dgm:t>
    </dgm:pt>
    <dgm:pt modelId="{F4DCF049-09E8-46A3-8B21-54B82FB8E8D7}" type="sibTrans" cxnId="{E1E94066-5954-4629-BD6B-9BFDF3E265B4}">
      <dgm:prSet/>
      <dgm:spPr/>
      <dgm:t>
        <a:bodyPr/>
        <a:lstStyle/>
        <a:p>
          <a:endParaRPr lang="en-US"/>
        </a:p>
      </dgm:t>
    </dgm:pt>
    <dgm:pt modelId="{61CB5F0F-F186-490A-A017-5AB8456D5332}">
      <dgm:prSet/>
      <dgm:spPr/>
      <dgm:t>
        <a:bodyPr/>
        <a:lstStyle/>
        <a:p>
          <a:r>
            <a:rPr lang="en-US" dirty="0"/>
            <a:t>Balanced Approach: Combining financial and non-financial rewards may be key to sustaining motivation.</a:t>
          </a:r>
        </a:p>
      </dgm:t>
    </dgm:pt>
    <dgm:pt modelId="{1906C7F9-AB93-417A-AEFF-F415D1365ED8}" type="parTrans" cxnId="{D72D410C-9188-4AD9-821A-AAC2DBD1FA87}">
      <dgm:prSet/>
      <dgm:spPr/>
      <dgm:t>
        <a:bodyPr/>
        <a:lstStyle/>
        <a:p>
          <a:endParaRPr lang="en-US"/>
        </a:p>
      </dgm:t>
    </dgm:pt>
    <dgm:pt modelId="{2B5288F6-9A04-4F4F-A2D0-473F4869E131}" type="sibTrans" cxnId="{D72D410C-9188-4AD9-821A-AAC2DBD1FA87}">
      <dgm:prSet/>
      <dgm:spPr/>
      <dgm:t>
        <a:bodyPr/>
        <a:lstStyle/>
        <a:p>
          <a:endParaRPr lang="en-US"/>
        </a:p>
      </dgm:t>
    </dgm:pt>
    <dgm:pt modelId="{4D9D1E63-B289-4452-BA3E-5D93EA654281}">
      <dgm:prSet/>
      <dgm:spPr/>
      <dgm:t>
        <a:bodyPr/>
        <a:lstStyle/>
        <a:p>
          <a:r>
            <a:rPr lang="en-US"/>
            <a:t>Perception Matters: Rewards must be perceived as fair, attainable, and meaningful to truly motivate.</a:t>
          </a:r>
        </a:p>
      </dgm:t>
    </dgm:pt>
    <dgm:pt modelId="{F657AADE-4B9C-4E82-A930-5243A6135911}" type="parTrans" cxnId="{71085D78-A36E-40F8-B3CC-90DAEFEFC206}">
      <dgm:prSet/>
      <dgm:spPr/>
      <dgm:t>
        <a:bodyPr/>
        <a:lstStyle/>
        <a:p>
          <a:endParaRPr lang="en-US"/>
        </a:p>
      </dgm:t>
    </dgm:pt>
    <dgm:pt modelId="{317B2EAC-E5A4-497C-A146-3AD361A3D47F}" type="sibTrans" cxnId="{71085D78-A36E-40F8-B3CC-90DAEFEFC206}">
      <dgm:prSet/>
      <dgm:spPr/>
      <dgm:t>
        <a:bodyPr/>
        <a:lstStyle/>
        <a:p>
          <a:endParaRPr lang="en-US"/>
        </a:p>
      </dgm:t>
    </dgm:pt>
    <dgm:pt modelId="{632AA162-7D1F-4499-AF3E-112BECA01AF7}" type="pres">
      <dgm:prSet presAssocID="{98275CEA-0512-424B-8884-6632B2930653}" presName="root" presStyleCnt="0">
        <dgm:presLayoutVars>
          <dgm:dir/>
          <dgm:resizeHandles val="exact"/>
        </dgm:presLayoutVars>
      </dgm:prSet>
      <dgm:spPr/>
    </dgm:pt>
    <dgm:pt modelId="{62A0DD9E-C658-4837-98EC-E98696664A81}" type="pres">
      <dgm:prSet presAssocID="{438557D9-40C1-40ED-BC3F-488F0871079C}" presName="compNode" presStyleCnt="0"/>
      <dgm:spPr/>
    </dgm:pt>
    <dgm:pt modelId="{FA269F89-268B-4963-AE43-78A8786FE5D6}" type="pres">
      <dgm:prSet presAssocID="{438557D9-40C1-40ED-BC3F-488F0871079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350705FE-69CC-4B63-9526-A992C96B2D5B}" type="pres">
      <dgm:prSet presAssocID="{438557D9-40C1-40ED-BC3F-488F0871079C}" presName="iconSpace" presStyleCnt="0"/>
      <dgm:spPr/>
    </dgm:pt>
    <dgm:pt modelId="{4BBBAE7A-20B2-46AB-BAF8-A75F62A9288B}" type="pres">
      <dgm:prSet presAssocID="{438557D9-40C1-40ED-BC3F-488F0871079C}" presName="parTx" presStyleLbl="revTx" presStyleIdx="0" presStyleCnt="4">
        <dgm:presLayoutVars>
          <dgm:chMax val="0"/>
          <dgm:chPref val="0"/>
        </dgm:presLayoutVars>
      </dgm:prSet>
      <dgm:spPr/>
    </dgm:pt>
    <dgm:pt modelId="{A41B2950-5AD0-4FFE-BA20-088D8AAF87FE}" type="pres">
      <dgm:prSet presAssocID="{438557D9-40C1-40ED-BC3F-488F0871079C}" presName="txSpace" presStyleCnt="0"/>
      <dgm:spPr/>
    </dgm:pt>
    <dgm:pt modelId="{CAC2CD24-8F9E-4824-88DC-ACBB7C4EE712}" type="pres">
      <dgm:prSet presAssocID="{438557D9-40C1-40ED-BC3F-488F0871079C}" presName="desTx" presStyleLbl="revTx" presStyleIdx="1" presStyleCnt="4">
        <dgm:presLayoutVars/>
      </dgm:prSet>
      <dgm:spPr/>
    </dgm:pt>
    <dgm:pt modelId="{DEBC95AD-F27B-4299-B8A5-5616571DD39E}" type="pres">
      <dgm:prSet presAssocID="{DE9B801B-1C25-46BA-9019-E7911085DA96}" presName="sibTrans" presStyleCnt="0"/>
      <dgm:spPr/>
    </dgm:pt>
    <dgm:pt modelId="{C1D60D8E-825F-495A-916F-8832E6C1C05E}" type="pres">
      <dgm:prSet presAssocID="{277A284B-0D68-4944-94F8-9BC1D69E160A}" presName="compNode" presStyleCnt="0"/>
      <dgm:spPr/>
    </dgm:pt>
    <dgm:pt modelId="{26E108D2-DED5-4B7C-87CC-EF6CF617D100}" type="pres">
      <dgm:prSet presAssocID="{277A284B-0D68-4944-94F8-9BC1D69E16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bbon"/>
        </a:ext>
      </dgm:extLst>
    </dgm:pt>
    <dgm:pt modelId="{1BA33055-14A3-4BE7-8AD0-1B8326694F20}" type="pres">
      <dgm:prSet presAssocID="{277A284B-0D68-4944-94F8-9BC1D69E160A}" presName="iconSpace" presStyleCnt="0"/>
      <dgm:spPr/>
    </dgm:pt>
    <dgm:pt modelId="{A44D6150-7899-4461-A6CE-088407C45D77}" type="pres">
      <dgm:prSet presAssocID="{277A284B-0D68-4944-94F8-9BC1D69E160A}" presName="parTx" presStyleLbl="revTx" presStyleIdx="2" presStyleCnt="4">
        <dgm:presLayoutVars>
          <dgm:chMax val="0"/>
          <dgm:chPref val="0"/>
        </dgm:presLayoutVars>
      </dgm:prSet>
      <dgm:spPr/>
    </dgm:pt>
    <dgm:pt modelId="{9E9C57A1-4D2F-4A79-8F12-C56206C62183}" type="pres">
      <dgm:prSet presAssocID="{277A284B-0D68-4944-94F8-9BC1D69E160A}" presName="txSpace" presStyleCnt="0"/>
      <dgm:spPr/>
    </dgm:pt>
    <dgm:pt modelId="{4142F766-4BAC-4F7A-93D2-A0F4EEAF9112}" type="pres">
      <dgm:prSet presAssocID="{277A284B-0D68-4944-94F8-9BC1D69E160A}" presName="desTx" presStyleLbl="revTx" presStyleIdx="3" presStyleCnt="4">
        <dgm:presLayoutVars/>
      </dgm:prSet>
      <dgm:spPr/>
    </dgm:pt>
  </dgm:ptLst>
  <dgm:cxnLst>
    <dgm:cxn modelId="{4DF61200-678C-4853-B8BC-C0454F57CD60}" srcId="{438557D9-40C1-40ED-BC3F-488F0871079C}" destId="{F17ED0D1-BBF2-41AD-B403-4BB029464FF7}" srcOrd="0" destOrd="0" parTransId="{100F1371-B001-4AEF-A596-991754DEE47D}" sibTransId="{8E6B3621-BE4D-4497-80D8-A442C63DAB7C}"/>
    <dgm:cxn modelId="{D72D410C-9188-4AD9-821A-AAC2DBD1FA87}" srcId="{277A284B-0D68-4944-94F8-9BC1D69E160A}" destId="{61CB5F0F-F186-490A-A017-5AB8456D5332}" srcOrd="1" destOrd="0" parTransId="{1906C7F9-AB93-417A-AEFF-F415D1365ED8}" sibTransId="{2B5288F6-9A04-4F4F-A2D0-473F4869E131}"/>
    <dgm:cxn modelId="{083BCD0D-6385-4ADC-8A90-63A5E920167C}" type="presOf" srcId="{61CB5F0F-F186-490A-A017-5AB8456D5332}" destId="{4142F766-4BAC-4F7A-93D2-A0F4EEAF9112}" srcOrd="0" destOrd="1" presId="urn:microsoft.com/office/officeart/2018/5/layout/CenteredIconLabelDescriptionList"/>
    <dgm:cxn modelId="{EFECA516-1AFB-4990-A6FE-92333AA200C1}" type="presOf" srcId="{277A284B-0D68-4944-94F8-9BC1D69E160A}" destId="{A44D6150-7899-4461-A6CE-088407C45D77}" srcOrd="0" destOrd="0" presId="urn:microsoft.com/office/officeart/2018/5/layout/CenteredIconLabelDescriptionList"/>
    <dgm:cxn modelId="{0E756C24-17C2-4D67-86F2-A137524ACB6A}" srcId="{98275CEA-0512-424B-8884-6632B2930653}" destId="{438557D9-40C1-40ED-BC3F-488F0871079C}" srcOrd="0" destOrd="0" parTransId="{693A7A9E-7A78-42AB-B4DA-508BB16D4176}" sibTransId="{DE9B801B-1C25-46BA-9019-E7911085DA96}"/>
    <dgm:cxn modelId="{570F9029-148C-401C-B618-BE734939AE30}" srcId="{98275CEA-0512-424B-8884-6632B2930653}" destId="{277A284B-0D68-4944-94F8-9BC1D69E160A}" srcOrd="1" destOrd="0" parTransId="{5B61C4FE-70EC-49F4-9F21-B8BB4FFDA330}" sibTransId="{5FF58F4A-8B74-47C9-B32C-9535C0142031}"/>
    <dgm:cxn modelId="{5494193D-6D87-452B-82D9-82B88A03144C}" type="presOf" srcId="{438557D9-40C1-40ED-BC3F-488F0871079C}" destId="{4BBBAE7A-20B2-46AB-BAF8-A75F62A9288B}" srcOrd="0" destOrd="0" presId="urn:microsoft.com/office/officeart/2018/5/layout/CenteredIconLabelDescriptionList"/>
    <dgm:cxn modelId="{10209E4A-425E-4A7D-BE61-8FC5EDBFD795}" type="presOf" srcId="{F17ED0D1-BBF2-41AD-B403-4BB029464FF7}" destId="{CAC2CD24-8F9E-4824-88DC-ACBB7C4EE712}" srcOrd="0" destOrd="0" presId="urn:microsoft.com/office/officeart/2018/5/layout/CenteredIconLabelDescriptionList"/>
    <dgm:cxn modelId="{E1E94066-5954-4629-BD6B-9BFDF3E265B4}" srcId="{277A284B-0D68-4944-94F8-9BC1D69E160A}" destId="{32B3D915-BE44-472C-9D37-5A1B364BD1F0}" srcOrd="0" destOrd="0" parTransId="{7D42FF1F-0164-4475-B241-D4E57C0B05EC}" sibTransId="{F4DCF049-09E8-46A3-8B21-54B82FB8E8D7}"/>
    <dgm:cxn modelId="{4526F86C-7780-4B2D-BD90-74F22E114A88}" type="presOf" srcId="{A0C90361-BCA8-4E7B-998E-38209817A3EF}" destId="{CAC2CD24-8F9E-4824-88DC-ACBB7C4EE712}" srcOrd="0" destOrd="2" presId="urn:microsoft.com/office/officeart/2018/5/layout/CenteredIconLabelDescriptionList"/>
    <dgm:cxn modelId="{B1A8386F-DB37-4BF5-BB05-85658BAD7AE4}" srcId="{438557D9-40C1-40ED-BC3F-488F0871079C}" destId="{EDD5835C-62CD-4253-9B66-333DC89BB980}" srcOrd="1" destOrd="0" parTransId="{02BCABCA-9A3E-4883-B9FA-17C6D2C736B2}" sibTransId="{63359343-9D46-4B8D-BC03-46096F3A0D51}"/>
    <dgm:cxn modelId="{45D9D670-6738-4D19-BFA1-D79FAC46F08B}" type="presOf" srcId="{32B3D915-BE44-472C-9D37-5A1B364BD1F0}" destId="{4142F766-4BAC-4F7A-93D2-A0F4EEAF9112}" srcOrd="0" destOrd="0" presId="urn:microsoft.com/office/officeart/2018/5/layout/CenteredIconLabelDescriptionList"/>
    <dgm:cxn modelId="{71085D78-A36E-40F8-B3CC-90DAEFEFC206}" srcId="{277A284B-0D68-4944-94F8-9BC1D69E160A}" destId="{4D9D1E63-B289-4452-BA3E-5D93EA654281}" srcOrd="2" destOrd="0" parTransId="{F657AADE-4B9C-4E82-A930-5243A6135911}" sibTransId="{317B2EAC-E5A4-497C-A146-3AD361A3D47F}"/>
    <dgm:cxn modelId="{B45DDC89-B063-497C-AB25-DF57E2DD345E}" type="presOf" srcId="{EDD5835C-62CD-4253-9B66-333DC89BB980}" destId="{CAC2CD24-8F9E-4824-88DC-ACBB7C4EE712}" srcOrd="0" destOrd="1" presId="urn:microsoft.com/office/officeart/2018/5/layout/CenteredIconLabelDescriptionList"/>
    <dgm:cxn modelId="{CE1E78B0-A572-4F98-A767-2B161098C92B}" type="presOf" srcId="{98275CEA-0512-424B-8884-6632B2930653}" destId="{632AA162-7D1F-4499-AF3E-112BECA01AF7}" srcOrd="0" destOrd="0" presId="urn:microsoft.com/office/officeart/2018/5/layout/CenteredIconLabelDescriptionList"/>
    <dgm:cxn modelId="{C1040EBB-DE1E-4B42-82AE-F87FD489CA7D}" srcId="{438557D9-40C1-40ED-BC3F-488F0871079C}" destId="{A0C90361-BCA8-4E7B-998E-38209817A3EF}" srcOrd="2" destOrd="0" parTransId="{A55680A8-B58C-4B10-B756-C7010D334DFA}" sibTransId="{DF882A66-2776-410A-B855-6B631F12ADE1}"/>
    <dgm:cxn modelId="{7B2140E8-5093-41FF-9FA4-240FAB15911A}" type="presOf" srcId="{4D9D1E63-B289-4452-BA3E-5D93EA654281}" destId="{4142F766-4BAC-4F7A-93D2-A0F4EEAF9112}" srcOrd="0" destOrd="2" presId="urn:microsoft.com/office/officeart/2018/5/layout/CenteredIconLabelDescriptionList"/>
    <dgm:cxn modelId="{D8CBF1E2-5293-47C9-A66C-EB56DDEBB943}" type="presParOf" srcId="{632AA162-7D1F-4499-AF3E-112BECA01AF7}" destId="{62A0DD9E-C658-4837-98EC-E98696664A81}" srcOrd="0" destOrd="0" presId="urn:microsoft.com/office/officeart/2018/5/layout/CenteredIconLabelDescriptionList"/>
    <dgm:cxn modelId="{EFC74F7D-DF19-41F9-B6F3-6583C909C22B}" type="presParOf" srcId="{62A0DD9E-C658-4837-98EC-E98696664A81}" destId="{FA269F89-268B-4963-AE43-78A8786FE5D6}" srcOrd="0" destOrd="0" presId="urn:microsoft.com/office/officeart/2018/5/layout/CenteredIconLabelDescriptionList"/>
    <dgm:cxn modelId="{0E4D8272-B99F-4735-992D-97DB8D3B26C2}" type="presParOf" srcId="{62A0DD9E-C658-4837-98EC-E98696664A81}" destId="{350705FE-69CC-4B63-9526-A992C96B2D5B}" srcOrd="1" destOrd="0" presId="urn:microsoft.com/office/officeart/2018/5/layout/CenteredIconLabelDescriptionList"/>
    <dgm:cxn modelId="{4508678C-F8CE-41FD-A284-7580F4709D4D}" type="presParOf" srcId="{62A0DD9E-C658-4837-98EC-E98696664A81}" destId="{4BBBAE7A-20B2-46AB-BAF8-A75F62A9288B}" srcOrd="2" destOrd="0" presId="urn:microsoft.com/office/officeart/2018/5/layout/CenteredIconLabelDescriptionList"/>
    <dgm:cxn modelId="{FAFC2CEE-1749-4C78-A4EB-5CF4A635BF55}" type="presParOf" srcId="{62A0DD9E-C658-4837-98EC-E98696664A81}" destId="{A41B2950-5AD0-4FFE-BA20-088D8AAF87FE}" srcOrd="3" destOrd="0" presId="urn:microsoft.com/office/officeart/2018/5/layout/CenteredIconLabelDescriptionList"/>
    <dgm:cxn modelId="{1B073448-DAB3-4BBB-80FE-4767721E5AF7}" type="presParOf" srcId="{62A0DD9E-C658-4837-98EC-E98696664A81}" destId="{CAC2CD24-8F9E-4824-88DC-ACBB7C4EE712}" srcOrd="4" destOrd="0" presId="urn:microsoft.com/office/officeart/2018/5/layout/CenteredIconLabelDescriptionList"/>
    <dgm:cxn modelId="{222FE59A-7234-4F71-A315-58BEEA7F3066}" type="presParOf" srcId="{632AA162-7D1F-4499-AF3E-112BECA01AF7}" destId="{DEBC95AD-F27B-4299-B8A5-5616571DD39E}" srcOrd="1" destOrd="0" presId="urn:microsoft.com/office/officeart/2018/5/layout/CenteredIconLabelDescriptionList"/>
    <dgm:cxn modelId="{2148051F-AC87-4B61-8633-C8B8F491C4BF}" type="presParOf" srcId="{632AA162-7D1F-4499-AF3E-112BECA01AF7}" destId="{C1D60D8E-825F-495A-916F-8832E6C1C05E}" srcOrd="2" destOrd="0" presId="urn:microsoft.com/office/officeart/2018/5/layout/CenteredIconLabelDescriptionList"/>
    <dgm:cxn modelId="{D2A2C335-E114-4C5E-88D2-5079E9384C1C}" type="presParOf" srcId="{C1D60D8E-825F-495A-916F-8832E6C1C05E}" destId="{26E108D2-DED5-4B7C-87CC-EF6CF617D100}" srcOrd="0" destOrd="0" presId="urn:microsoft.com/office/officeart/2018/5/layout/CenteredIconLabelDescriptionList"/>
    <dgm:cxn modelId="{53B9BC30-52CD-4B3D-818B-8D6A06C8965B}" type="presParOf" srcId="{C1D60D8E-825F-495A-916F-8832E6C1C05E}" destId="{1BA33055-14A3-4BE7-8AD0-1B8326694F20}" srcOrd="1" destOrd="0" presId="urn:microsoft.com/office/officeart/2018/5/layout/CenteredIconLabelDescriptionList"/>
    <dgm:cxn modelId="{F2D2BEAF-28F3-4B1F-A051-8D890D0505D4}" type="presParOf" srcId="{C1D60D8E-825F-495A-916F-8832E6C1C05E}" destId="{A44D6150-7899-4461-A6CE-088407C45D77}" srcOrd="2" destOrd="0" presId="urn:microsoft.com/office/officeart/2018/5/layout/CenteredIconLabelDescriptionList"/>
    <dgm:cxn modelId="{65C16C2E-090D-448A-B377-4A0A2851C3A8}" type="presParOf" srcId="{C1D60D8E-825F-495A-916F-8832E6C1C05E}" destId="{9E9C57A1-4D2F-4A79-8F12-C56206C62183}" srcOrd="3" destOrd="0" presId="urn:microsoft.com/office/officeart/2018/5/layout/CenteredIconLabelDescriptionList"/>
    <dgm:cxn modelId="{695C6D88-6190-44E0-B9AB-812DDE022F15}" type="presParOf" srcId="{C1D60D8E-825F-495A-916F-8832E6C1C05E}" destId="{4142F766-4BAC-4F7A-93D2-A0F4EEAF9112}"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6F6A5F9-B897-4E2A-AD78-0F638F7DED2F}" type="doc">
      <dgm:prSet loTypeId="urn:microsoft.com/office/officeart/2005/8/layout/vList2" loCatId="list" qsTypeId="urn:microsoft.com/office/officeart/2005/8/quickstyle/simple2" qsCatId="simple" csTypeId="urn:microsoft.com/office/officeart/2005/8/colors/colorful2" csCatId="colorful"/>
      <dgm:spPr/>
      <dgm:t>
        <a:bodyPr/>
        <a:lstStyle/>
        <a:p>
          <a:endParaRPr lang="en-US"/>
        </a:p>
      </dgm:t>
    </dgm:pt>
    <dgm:pt modelId="{E110FADF-A6F8-4CBA-AECA-CD9C40DB3C34}">
      <dgm:prSet/>
      <dgm:spPr/>
      <dgm:t>
        <a:bodyPr/>
        <a:lstStyle/>
        <a:p>
          <a:r>
            <a:rPr lang="en-US"/>
            <a:t>The Job Characteristics Model (JCM), developed by Hackman &amp; Oldham (1976), outlines five key job dimensions that influence motivation and performance.</a:t>
          </a:r>
        </a:p>
      </dgm:t>
    </dgm:pt>
    <dgm:pt modelId="{00DBABA3-BADC-4B6A-A2A3-770CBCDD0ECB}" type="parTrans" cxnId="{377F0063-41B2-4F8D-B46D-07B7897E093D}">
      <dgm:prSet/>
      <dgm:spPr/>
      <dgm:t>
        <a:bodyPr/>
        <a:lstStyle/>
        <a:p>
          <a:endParaRPr lang="en-US"/>
        </a:p>
      </dgm:t>
    </dgm:pt>
    <dgm:pt modelId="{A2394F86-BE9D-47F9-8CBA-DBB55B187184}" type="sibTrans" cxnId="{377F0063-41B2-4F8D-B46D-07B7897E093D}">
      <dgm:prSet/>
      <dgm:spPr/>
      <dgm:t>
        <a:bodyPr/>
        <a:lstStyle/>
        <a:p>
          <a:endParaRPr lang="en-US"/>
        </a:p>
      </dgm:t>
    </dgm:pt>
    <dgm:pt modelId="{8592D2D5-7A07-4A87-A9B3-C3DCC4A2E679}">
      <dgm:prSet/>
      <dgm:spPr/>
      <dgm:t>
        <a:bodyPr/>
        <a:lstStyle/>
        <a:p>
          <a:r>
            <a:rPr lang="en-US"/>
            <a:t>Core Job Dimensions:</a:t>
          </a:r>
        </a:p>
      </dgm:t>
    </dgm:pt>
    <dgm:pt modelId="{DAF0A23E-F97D-4C8F-AF1E-3F0EA4FAD755}" type="parTrans" cxnId="{CC74CC2D-BB5C-45AE-AC5F-45FD2C5A219E}">
      <dgm:prSet/>
      <dgm:spPr/>
      <dgm:t>
        <a:bodyPr/>
        <a:lstStyle/>
        <a:p>
          <a:endParaRPr lang="en-US"/>
        </a:p>
      </dgm:t>
    </dgm:pt>
    <dgm:pt modelId="{2CD801F2-C240-40A5-ACEC-5CFE73E2EAD8}" type="sibTrans" cxnId="{CC74CC2D-BB5C-45AE-AC5F-45FD2C5A219E}">
      <dgm:prSet/>
      <dgm:spPr/>
      <dgm:t>
        <a:bodyPr/>
        <a:lstStyle/>
        <a:p>
          <a:endParaRPr lang="en-US"/>
        </a:p>
      </dgm:t>
    </dgm:pt>
    <dgm:pt modelId="{9372D2B5-43F4-4855-BDC0-7ADC9B263318}">
      <dgm:prSet/>
      <dgm:spPr/>
      <dgm:t>
        <a:bodyPr/>
        <a:lstStyle/>
        <a:p>
          <a:r>
            <a:rPr lang="en-US" b="1"/>
            <a:t>Skill Variety</a:t>
          </a:r>
          <a:r>
            <a:rPr lang="en-US"/>
            <a:t>: The extent to which a job requires a range of different skills and abilities.</a:t>
          </a:r>
        </a:p>
      </dgm:t>
    </dgm:pt>
    <dgm:pt modelId="{0F1CFEF6-9AC7-4D15-B7D6-B8DDB73ED399}" type="parTrans" cxnId="{FAD767B6-6E2D-4D1D-B27D-89B31796D476}">
      <dgm:prSet/>
      <dgm:spPr/>
      <dgm:t>
        <a:bodyPr/>
        <a:lstStyle/>
        <a:p>
          <a:endParaRPr lang="en-US"/>
        </a:p>
      </dgm:t>
    </dgm:pt>
    <dgm:pt modelId="{F75C1459-C874-4898-BE43-DEB14541DB55}" type="sibTrans" cxnId="{FAD767B6-6E2D-4D1D-B27D-89B31796D476}">
      <dgm:prSet/>
      <dgm:spPr/>
      <dgm:t>
        <a:bodyPr/>
        <a:lstStyle/>
        <a:p>
          <a:endParaRPr lang="en-US"/>
        </a:p>
      </dgm:t>
    </dgm:pt>
    <dgm:pt modelId="{78616CC2-AA65-4324-BEC4-CF562E7BDA2E}">
      <dgm:prSet/>
      <dgm:spPr/>
      <dgm:t>
        <a:bodyPr/>
        <a:lstStyle/>
        <a:p>
          <a:r>
            <a:rPr lang="en-US" b="1"/>
            <a:t>Task Identity</a:t>
          </a:r>
          <a:r>
            <a:rPr lang="en-US"/>
            <a:t>: The degree to which a job requires completing a whole, identifiable piece of work from start to finish.</a:t>
          </a:r>
        </a:p>
      </dgm:t>
    </dgm:pt>
    <dgm:pt modelId="{31B2E21F-0BB3-4686-925C-BA863DF14DEC}" type="parTrans" cxnId="{ACD1E9B4-A0C6-4656-9062-D88C2CCBA4ED}">
      <dgm:prSet/>
      <dgm:spPr/>
      <dgm:t>
        <a:bodyPr/>
        <a:lstStyle/>
        <a:p>
          <a:endParaRPr lang="en-US"/>
        </a:p>
      </dgm:t>
    </dgm:pt>
    <dgm:pt modelId="{19454A83-2506-4781-9CE3-8739EB13C994}" type="sibTrans" cxnId="{ACD1E9B4-A0C6-4656-9062-D88C2CCBA4ED}">
      <dgm:prSet/>
      <dgm:spPr/>
      <dgm:t>
        <a:bodyPr/>
        <a:lstStyle/>
        <a:p>
          <a:endParaRPr lang="en-US"/>
        </a:p>
      </dgm:t>
    </dgm:pt>
    <dgm:pt modelId="{A67C7CB1-9B89-4FB6-95CC-BB46439277DB}">
      <dgm:prSet/>
      <dgm:spPr/>
      <dgm:t>
        <a:bodyPr/>
        <a:lstStyle/>
        <a:p>
          <a:r>
            <a:rPr lang="en-US" b="1"/>
            <a:t>Task Significance</a:t>
          </a:r>
          <a:r>
            <a:rPr lang="en-US"/>
            <a:t>: The perceived importance of the job in terms of its impact on others, both inside and outside the organization.</a:t>
          </a:r>
        </a:p>
      </dgm:t>
    </dgm:pt>
    <dgm:pt modelId="{2AFDE00F-7C3B-4E1E-939A-F49C6D83D4FD}" type="parTrans" cxnId="{1DDAD3E6-6681-4EB9-80A0-1C8E61CE1F77}">
      <dgm:prSet/>
      <dgm:spPr/>
      <dgm:t>
        <a:bodyPr/>
        <a:lstStyle/>
        <a:p>
          <a:endParaRPr lang="en-US"/>
        </a:p>
      </dgm:t>
    </dgm:pt>
    <dgm:pt modelId="{EFA4EDEB-1525-46EF-87C8-3722CD0B3E6E}" type="sibTrans" cxnId="{1DDAD3E6-6681-4EB9-80A0-1C8E61CE1F77}">
      <dgm:prSet/>
      <dgm:spPr/>
      <dgm:t>
        <a:bodyPr/>
        <a:lstStyle/>
        <a:p>
          <a:endParaRPr lang="en-US"/>
        </a:p>
      </dgm:t>
    </dgm:pt>
    <dgm:pt modelId="{A0065990-BC25-4F6A-B7CA-4B7BAFB89ADB}">
      <dgm:prSet/>
      <dgm:spPr/>
      <dgm:t>
        <a:bodyPr/>
        <a:lstStyle/>
        <a:p>
          <a:r>
            <a:rPr lang="en-US" b="1"/>
            <a:t>Autonomy</a:t>
          </a:r>
          <a:r>
            <a:rPr lang="en-US"/>
            <a:t>: The level of independence and discretion an employee has in how they perform their tasks.</a:t>
          </a:r>
        </a:p>
      </dgm:t>
    </dgm:pt>
    <dgm:pt modelId="{26F15FBB-E618-4845-B211-0C6A0AB31886}" type="parTrans" cxnId="{431F1AF4-598F-4E64-869B-C41766A3F4C4}">
      <dgm:prSet/>
      <dgm:spPr/>
      <dgm:t>
        <a:bodyPr/>
        <a:lstStyle/>
        <a:p>
          <a:endParaRPr lang="en-US"/>
        </a:p>
      </dgm:t>
    </dgm:pt>
    <dgm:pt modelId="{6DDA9384-671E-455E-8419-C90C38B3B458}" type="sibTrans" cxnId="{431F1AF4-598F-4E64-869B-C41766A3F4C4}">
      <dgm:prSet/>
      <dgm:spPr/>
      <dgm:t>
        <a:bodyPr/>
        <a:lstStyle/>
        <a:p>
          <a:endParaRPr lang="en-US"/>
        </a:p>
      </dgm:t>
    </dgm:pt>
    <dgm:pt modelId="{652E62C6-A89E-4E6B-885A-4A9EC9CBD7C3}">
      <dgm:prSet/>
      <dgm:spPr/>
      <dgm:t>
        <a:bodyPr/>
        <a:lstStyle/>
        <a:p>
          <a:r>
            <a:rPr lang="en-US" b="1"/>
            <a:t>Feedback</a:t>
          </a:r>
          <a:r>
            <a:rPr lang="en-US"/>
            <a:t>: The degree to which an employee receives clear, direct information about their performance.</a:t>
          </a:r>
        </a:p>
      </dgm:t>
    </dgm:pt>
    <dgm:pt modelId="{BA9F0682-0599-46EF-B740-28C21A7390AF}" type="parTrans" cxnId="{5619DF02-7C2F-4898-874F-A13D35D9136A}">
      <dgm:prSet/>
      <dgm:spPr/>
      <dgm:t>
        <a:bodyPr/>
        <a:lstStyle/>
        <a:p>
          <a:endParaRPr lang="en-US"/>
        </a:p>
      </dgm:t>
    </dgm:pt>
    <dgm:pt modelId="{AECD9C57-7EA3-4BCC-9FD8-ED9815E848B4}" type="sibTrans" cxnId="{5619DF02-7C2F-4898-874F-A13D35D9136A}">
      <dgm:prSet/>
      <dgm:spPr/>
      <dgm:t>
        <a:bodyPr/>
        <a:lstStyle/>
        <a:p>
          <a:endParaRPr lang="en-US"/>
        </a:p>
      </dgm:t>
    </dgm:pt>
    <dgm:pt modelId="{183FA581-3F00-9942-98DB-5EA244943FAD}" type="pres">
      <dgm:prSet presAssocID="{F6F6A5F9-B897-4E2A-AD78-0F638F7DED2F}" presName="linear" presStyleCnt="0">
        <dgm:presLayoutVars>
          <dgm:animLvl val="lvl"/>
          <dgm:resizeHandles val="exact"/>
        </dgm:presLayoutVars>
      </dgm:prSet>
      <dgm:spPr/>
    </dgm:pt>
    <dgm:pt modelId="{44474EAD-ECDF-5948-A7CF-2DA0163D995D}" type="pres">
      <dgm:prSet presAssocID="{E110FADF-A6F8-4CBA-AECA-CD9C40DB3C34}" presName="parentText" presStyleLbl="node1" presStyleIdx="0" presStyleCnt="2">
        <dgm:presLayoutVars>
          <dgm:chMax val="0"/>
          <dgm:bulletEnabled val="1"/>
        </dgm:presLayoutVars>
      </dgm:prSet>
      <dgm:spPr/>
    </dgm:pt>
    <dgm:pt modelId="{97EDEC63-CAFA-DF47-A245-A244755BFCBE}" type="pres">
      <dgm:prSet presAssocID="{A2394F86-BE9D-47F9-8CBA-DBB55B187184}" presName="spacer" presStyleCnt="0"/>
      <dgm:spPr/>
    </dgm:pt>
    <dgm:pt modelId="{6057A518-97A1-764B-8C22-B297E9D0B215}" type="pres">
      <dgm:prSet presAssocID="{8592D2D5-7A07-4A87-A9B3-C3DCC4A2E679}" presName="parentText" presStyleLbl="node1" presStyleIdx="1" presStyleCnt="2">
        <dgm:presLayoutVars>
          <dgm:chMax val="0"/>
          <dgm:bulletEnabled val="1"/>
        </dgm:presLayoutVars>
      </dgm:prSet>
      <dgm:spPr/>
    </dgm:pt>
    <dgm:pt modelId="{57BA5316-F491-8B41-A76F-41D2BECBCB37}" type="pres">
      <dgm:prSet presAssocID="{8592D2D5-7A07-4A87-A9B3-C3DCC4A2E679}" presName="childText" presStyleLbl="revTx" presStyleIdx="0" presStyleCnt="1">
        <dgm:presLayoutVars>
          <dgm:bulletEnabled val="1"/>
        </dgm:presLayoutVars>
      </dgm:prSet>
      <dgm:spPr/>
    </dgm:pt>
  </dgm:ptLst>
  <dgm:cxnLst>
    <dgm:cxn modelId="{5619DF02-7C2F-4898-874F-A13D35D9136A}" srcId="{8592D2D5-7A07-4A87-A9B3-C3DCC4A2E679}" destId="{652E62C6-A89E-4E6B-885A-4A9EC9CBD7C3}" srcOrd="4" destOrd="0" parTransId="{BA9F0682-0599-46EF-B740-28C21A7390AF}" sibTransId="{AECD9C57-7EA3-4BCC-9FD8-ED9815E848B4}"/>
    <dgm:cxn modelId="{2AD7FF05-9C8E-BF4E-99EA-BB093A94F076}" type="presOf" srcId="{A0065990-BC25-4F6A-B7CA-4B7BAFB89ADB}" destId="{57BA5316-F491-8B41-A76F-41D2BECBCB37}" srcOrd="0" destOrd="3" presId="urn:microsoft.com/office/officeart/2005/8/layout/vList2"/>
    <dgm:cxn modelId="{CC74CC2D-BB5C-45AE-AC5F-45FD2C5A219E}" srcId="{F6F6A5F9-B897-4E2A-AD78-0F638F7DED2F}" destId="{8592D2D5-7A07-4A87-A9B3-C3DCC4A2E679}" srcOrd="1" destOrd="0" parTransId="{DAF0A23E-F97D-4C8F-AF1E-3F0EA4FAD755}" sibTransId="{2CD801F2-C240-40A5-ACEC-5CFE73E2EAD8}"/>
    <dgm:cxn modelId="{8E39F831-0A8C-CA41-8630-B3FDDE03EE98}" type="presOf" srcId="{9372D2B5-43F4-4855-BDC0-7ADC9B263318}" destId="{57BA5316-F491-8B41-A76F-41D2BECBCB37}" srcOrd="0" destOrd="0" presId="urn:microsoft.com/office/officeart/2005/8/layout/vList2"/>
    <dgm:cxn modelId="{B35B1F35-654C-7D46-9FA5-4914C01D1F54}" type="presOf" srcId="{652E62C6-A89E-4E6B-885A-4A9EC9CBD7C3}" destId="{57BA5316-F491-8B41-A76F-41D2BECBCB37}" srcOrd="0" destOrd="4" presId="urn:microsoft.com/office/officeart/2005/8/layout/vList2"/>
    <dgm:cxn modelId="{1C297347-C41B-4149-9B7C-A69505C13DE8}" type="presOf" srcId="{78616CC2-AA65-4324-BEC4-CF562E7BDA2E}" destId="{57BA5316-F491-8B41-A76F-41D2BECBCB37}" srcOrd="0" destOrd="1" presId="urn:microsoft.com/office/officeart/2005/8/layout/vList2"/>
    <dgm:cxn modelId="{FCD25D61-BF4C-6D46-B985-6E89A80A68AD}" type="presOf" srcId="{E110FADF-A6F8-4CBA-AECA-CD9C40DB3C34}" destId="{44474EAD-ECDF-5948-A7CF-2DA0163D995D}" srcOrd="0" destOrd="0" presId="urn:microsoft.com/office/officeart/2005/8/layout/vList2"/>
    <dgm:cxn modelId="{377F0063-41B2-4F8D-B46D-07B7897E093D}" srcId="{F6F6A5F9-B897-4E2A-AD78-0F638F7DED2F}" destId="{E110FADF-A6F8-4CBA-AECA-CD9C40DB3C34}" srcOrd="0" destOrd="0" parTransId="{00DBABA3-BADC-4B6A-A2A3-770CBCDD0ECB}" sibTransId="{A2394F86-BE9D-47F9-8CBA-DBB55B187184}"/>
    <dgm:cxn modelId="{070FB5A5-6BB2-974F-B443-98879BD9B74F}" type="presOf" srcId="{A67C7CB1-9B89-4FB6-95CC-BB46439277DB}" destId="{57BA5316-F491-8B41-A76F-41D2BECBCB37}" srcOrd="0" destOrd="2" presId="urn:microsoft.com/office/officeart/2005/8/layout/vList2"/>
    <dgm:cxn modelId="{ACD1E9B4-A0C6-4656-9062-D88C2CCBA4ED}" srcId="{8592D2D5-7A07-4A87-A9B3-C3DCC4A2E679}" destId="{78616CC2-AA65-4324-BEC4-CF562E7BDA2E}" srcOrd="1" destOrd="0" parTransId="{31B2E21F-0BB3-4686-925C-BA863DF14DEC}" sibTransId="{19454A83-2506-4781-9CE3-8739EB13C994}"/>
    <dgm:cxn modelId="{FAD767B6-6E2D-4D1D-B27D-89B31796D476}" srcId="{8592D2D5-7A07-4A87-A9B3-C3DCC4A2E679}" destId="{9372D2B5-43F4-4855-BDC0-7ADC9B263318}" srcOrd="0" destOrd="0" parTransId="{0F1CFEF6-9AC7-4D15-B7D6-B8DDB73ED399}" sibTransId="{F75C1459-C874-4898-BE43-DEB14541DB55}"/>
    <dgm:cxn modelId="{333F2EC5-1874-AF46-B84B-31C46A11CEDC}" type="presOf" srcId="{F6F6A5F9-B897-4E2A-AD78-0F638F7DED2F}" destId="{183FA581-3F00-9942-98DB-5EA244943FAD}" srcOrd="0" destOrd="0" presId="urn:microsoft.com/office/officeart/2005/8/layout/vList2"/>
    <dgm:cxn modelId="{185925E5-1834-674E-9884-C9FD9F606758}" type="presOf" srcId="{8592D2D5-7A07-4A87-A9B3-C3DCC4A2E679}" destId="{6057A518-97A1-764B-8C22-B297E9D0B215}" srcOrd="0" destOrd="0" presId="urn:microsoft.com/office/officeart/2005/8/layout/vList2"/>
    <dgm:cxn modelId="{1DDAD3E6-6681-4EB9-80A0-1C8E61CE1F77}" srcId="{8592D2D5-7A07-4A87-A9B3-C3DCC4A2E679}" destId="{A67C7CB1-9B89-4FB6-95CC-BB46439277DB}" srcOrd="2" destOrd="0" parTransId="{2AFDE00F-7C3B-4E1E-939A-F49C6D83D4FD}" sibTransId="{EFA4EDEB-1525-46EF-87C8-3722CD0B3E6E}"/>
    <dgm:cxn modelId="{431F1AF4-598F-4E64-869B-C41766A3F4C4}" srcId="{8592D2D5-7A07-4A87-A9B3-C3DCC4A2E679}" destId="{A0065990-BC25-4F6A-B7CA-4B7BAFB89ADB}" srcOrd="3" destOrd="0" parTransId="{26F15FBB-E618-4845-B211-0C6A0AB31886}" sibTransId="{6DDA9384-671E-455E-8419-C90C38B3B458}"/>
    <dgm:cxn modelId="{88E58865-413D-C147-BE15-783DA2842706}" type="presParOf" srcId="{183FA581-3F00-9942-98DB-5EA244943FAD}" destId="{44474EAD-ECDF-5948-A7CF-2DA0163D995D}" srcOrd="0" destOrd="0" presId="urn:microsoft.com/office/officeart/2005/8/layout/vList2"/>
    <dgm:cxn modelId="{B1089AC1-4F0C-924F-8D66-4A2678F81A56}" type="presParOf" srcId="{183FA581-3F00-9942-98DB-5EA244943FAD}" destId="{97EDEC63-CAFA-DF47-A245-A244755BFCBE}" srcOrd="1" destOrd="0" presId="urn:microsoft.com/office/officeart/2005/8/layout/vList2"/>
    <dgm:cxn modelId="{2BFDFE06-98AB-5043-8819-D1E3B37D8261}" type="presParOf" srcId="{183FA581-3F00-9942-98DB-5EA244943FAD}" destId="{6057A518-97A1-764B-8C22-B297E9D0B215}" srcOrd="2" destOrd="0" presId="urn:microsoft.com/office/officeart/2005/8/layout/vList2"/>
    <dgm:cxn modelId="{234C2131-B914-8042-BE83-CA58DEE8986B}" type="presParOf" srcId="{183FA581-3F00-9942-98DB-5EA244943FAD}" destId="{57BA5316-F491-8B41-A76F-41D2BECBCB3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3F0610F-5E67-4252-BEC1-BAFCCFC48CE8}"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F80AACD-067B-465A-8A29-CA39BAD68D5E}">
      <dgm:prSet/>
      <dgm:spPr/>
      <dgm:t>
        <a:bodyPr/>
        <a:lstStyle/>
        <a:p>
          <a:r>
            <a:rPr lang="en-GB"/>
            <a:t>Organizations strive to cultivate a motivated workforce to drive performance and achieve business goals. However, applying motivation theories in practice presents challenges, as managers often need to adapt to suit the unique needs of their workplace and employees.</a:t>
          </a:r>
          <a:endParaRPr lang="en-US"/>
        </a:p>
      </dgm:t>
    </dgm:pt>
    <dgm:pt modelId="{2DB0EB34-7886-4E3A-8EDA-57DE947AB6CD}" type="parTrans" cxnId="{4373C26C-1E1F-45CA-AF8B-ACD7E2BF4AEE}">
      <dgm:prSet/>
      <dgm:spPr/>
      <dgm:t>
        <a:bodyPr/>
        <a:lstStyle/>
        <a:p>
          <a:endParaRPr lang="en-US"/>
        </a:p>
      </dgm:t>
    </dgm:pt>
    <dgm:pt modelId="{F38957E1-368B-42F7-9575-C707DB7C054C}" type="sibTrans" cxnId="{4373C26C-1E1F-45CA-AF8B-ACD7E2BF4AEE}">
      <dgm:prSet/>
      <dgm:spPr/>
      <dgm:t>
        <a:bodyPr/>
        <a:lstStyle/>
        <a:p>
          <a:endParaRPr lang="en-US"/>
        </a:p>
      </dgm:t>
    </dgm:pt>
    <dgm:pt modelId="{2309AB6E-7BC1-47BC-AD5B-051C6AB250B0}">
      <dgm:prSet/>
      <dgm:spPr/>
      <dgm:t>
        <a:bodyPr/>
        <a:lstStyle/>
        <a:p>
          <a:r>
            <a:rPr lang="en-GB"/>
            <a:t>Each employee has unique needs, preferences, and motivators. A one-size-fits-all approach may not work, as people vary in what they want, need, and value.</a:t>
          </a:r>
          <a:endParaRPr lang="en-US"/>
        </a:p>
      </dgm:t>
    </dgm:pt>
    <dgm:pt modelId="{2C3E8B2F-6415-46DB-AA46-F9BB01EB72F0}" type="parTrans" cxnId="{C200957C-0BEC-49EC-81CC-5164CE321A7C}">
      <dgm:prSet/>
      <dgm:spPr/>
      <dgm:t>
        <a:bodyPr/>
        <a:lstStyle/>
        <a:p>
          <a:endParaRPr lang="en-US"/>
        </a:p>
      </dgm:t>
    </dgm:pt>
    <dgm:pt modelId="{4BDDAD52-D692-4DC1-8499-FF531DEAC861}" type="sibTrans" cxnId="{C200957C-0BEC-49EC-81CC-5164CE321A7C}">
      <dgm:prSet/>
      <dgm:spPr/>
      <dgm:t>
        <a:bodyPr/>
        <a:lstStyle/>
        <a:p>
          <a:endParaRPr lang="en-US"/>
        </a:p>
      </dgm:t>
    </dgm:pt>
    <dgm:pt modelId="{7912C85F-C7BB-4D05-87AE-3443E48FAE22}">
      <dgm:prSet/>
      <dgm:spPr/>
      <dgm:t>
        <a:bodyPr/>
        <a:lstStyle/>
        <a:p>
          <a:r>
            <a:rPr lang="en-GB"/>
            <a:t>Managers must consider factors such as age, gender, race, ethnicity, and disabilities, which shape both life experiences and work dynamics. These elements can significantly affect how individuals respond to motivational strategies.</a:t>
          </a:r>
          <a:endParaRPr lang="en-US"/>
        </a:p>
      </dgm:t>
    </dgm:pt>
    <dgm:pt modelId="{7315B1E4-E159-4DEC-B07A-8BEEE3C6CC1D}" type="parTrans" cxnId="{45FEF6C2-77B5-4807-92FB-F7AC13F96D6A}">
      <dgm:prSet/>
      <dgm:spPr/>
      <dgm:t>
        <a:bodyPr/>
        <a:lstStyle/>
        <a:p>
          <a:endParaRPr lang="en-US"/>
        </a:p>
      </dgm:t>
    </dgm:pt>
    <dgm:pt modelId="{076A8112-D2A7-4F4E-956C-D21D2EBE49E8}" type="sibTrans" cxnId="{45FEF6C2-77B5-4807-92FB-F7AC13F96D6A}">
      <dgm:prSet/>
      <dgm:spPr/>
      <dgm:t>
        <a:bodyPr/>
        <a:lstStyle/>
        <a:p>
          <a:endParaRPr lang="en-US"/>
        </a:p>
      </dgm:t>
    </dgm:pt>
    <dgm:pt modelId="{E68498BE-5E25-4A7B-ABAA-DBDEE2C7AD69}">
      <dgm:prSet/>
      <dgm:spPr/>
      <dgm:t>
        <a:bodyPr/>
        <a:lstStyle/>
        <a:p>
          <a:r>
            <a:rPr lang="en-GB"/>
            <a:t>Creating effective reward packages and job designs that align with motivational needs is essential. Financial and non-financial rewards, as well as the structure and nature of tasks, play a key role in motivation and performance.</a:t>
          </a:r>
          <a:endParaRPr lang="en-US"/>
        </a:p>
      </dgm:t>
    </dgm:pt>
    <dgm:pt modelId="{286C4F84-3F32-47EB-B5FE-74E8264FD639}" type="parTrans" cxnId="{CC416CB2-E256-4A41-816B-687CF03299C6}">
      <dgm:prSet/>
      <dgm:spPr/>
      <dgm:t>
        <a:bodyPr/>
        <a:lstStyle/>
        <a:p>
          <a:endParaRPr lang="en-US"/>
        </a:p>
      </dgm:t>
    </dgm:pt>
    <dgm:pt modelId="{F3C65709-A2B8-4968-9A5E-DC119BB5EA5D}" type="sibTrans" cxnId="{CC416CB2-E256-4A41-816B-687CF03299C6}">
      <dgm:prSet/>
      <dgm:spPr/>
      <dgm:t>
        <a:bodyPr/>
        <a:lstStyle/>
        <a:p>
          <a:endParaRPr lang="en-US"/>
        </a:p>
      </dgm:t>
    </dgm:pt>
    <dgm:pt modelId="{0F4B4E49-47CB-7F4B-8279-A87F4E1C15AA}" type="pres">
      <dgm:prSet presAssocID="{F3F0610F-5E67-4252-BEC1-BAFCCFC48CE8}" presName="linear" presStyleCnt="0">
        <dgm:presLayoutVars>
          <dgm:animLvl val="lvl"/>
          <dgm:resizeHandles val="exact"/>
        </dgm:presLayoutVars>
      </dgm:prSet>
      <dgm:spPr/>
    </dgm:pt>
    <dgm:pt modelId="{1E238DAF-8BD7-8A44-B597-E55761E1641D}" type="pres">
      <dgm:prSet presAssocID="{AF80AACD-067B-465A-8A29-CA39BAD68D5E}" presName="parentText" presStyleLbl="node1" presStyleIdx="0" presStyleCnt="4">
        <dgm:presLayoutVars>
          <dgm:chMax val="0"/>
          <dgm:bulletEnabled val="1"/>
        </dgm:presLayoutVars>
      </dgm:prSet>
      <dgm:spPr/>
    </dgm:pt>
    <dgm:pt modelId="{E168E245-2D87-6D43-B8E0-C047007E6E96}" type="pres">
      <dgm:prSet presAssocID="{F38957E1-368B-42F7-9575-C707DB7C054C}" presName="spacer" presStyleCnt="0"/>
      <dgm:spPr/>
    </dgm:pt>
    <dgm:pt modelId="{300EE7A2-4539-D142-BF99-6B1061ECB874}" type="pres">
      <dgm:prSet presAssocID="{2309AB6E-7BC1-47BC-AD5B-051C6AB250B0}" presName="parentText" presStyleLbl="node1" presStyleIdx="1" presStyleCnt="4">
        <dgm:presLayoutVars>
          <dgm:chMax val="0"/>
          <dgm:bulletEnabled val="1"/>
        </dgm:presLayoutVars>
      </dgm:prSet>
      <dgm:spPr/>
    </dgm:pt>
    <dgm:pt modelId="{F9D2DE59-3402-0547-A71E-35FB9BA20D88}" type="pres">
      <dgm:prSet presAssocID="{4BDDAD52-D692-4DC1-8499-FF531DEAC861}" presName="spacer" presStyleCnt="0"/>
      <dgm:spPr/>
    </dgm:pt>
    <dgm:pt modelId="{5045B197-3A39-AF4B-B804-95FBF5AE0297}" type="pres">
      <dgm:prSet presAssocID="{7912C85F-C7BB-4D05-87AE-3443E48FAE22}" presName="parentText" presStyleLbl="node1" presStyleIdx="2" presStyleCnt="4">
        <dgm:presLayoutVars>
          <dgm:chMax val="0"/>
          <dgm:bulletEnabled val="1"/>
        </dgm:presLayoutVars>
      </dgm:prSet>
      <dgm:spPr/>
    </dgm:pt>
    <dgm:pt modelId="{66620196-490D-9246-A2FE-4BB309B009BF}" type="pres">
      <dgm:prSet presAssocID="{076A8112-D2A7-4F4E-956C-D21D2EBE49E8}" presName="spacer" presStyleCnt="0"/>
      <dgm:spPr/>
    </dgm:pt>
    <dgm:pt modelId="{228524B8-56EF-6746-82F2-17F514176C05}" type="pres">
      <dgm:prSet presAssocID="{E68498BE-5E25-4A7B-ABAA-DBDEE2C7AD69}" presName="parentText" presStyleLbl="node1" presStyleIdx="3" presStyleCnt="4">
        <dgm:presLayoutVars>
          <dgm:chMax val="0"/>
          <dgm:bulletEnabled val="1"/>
        </dgm:presLayoutVars>
      </dgm:prSet>
      <dgm:spPr/>
    </dgm:pt>
  </dgm:ptLst>
  <dgm:cxnLst>
    <dgm:cxn modelId="{70B4E244-881F-BF43-950C-3F9E38762C20}" type="presOf" srcId="{E68498BE-5E25-4A7B-ABAA-DBDEE2C7AD69}" destId="{228524B8-56EF-6746-82F2-17F514176C05}" srcOrd="0" destOrd="0" presId="urn:microsoft.com/office/officeart/2005/8/layout/vList2"/>
    <dgm:cxn modelId="{4373C26C-1E1F-45CA-AF8B-ACD7E2BF4AEE}" srcId="{F3F0610F-5E67-4252-BEC1-BAFCCFC48CE8}" destId="{AF80AACD-067B-465A-8A29-CA39BAD68D5E}" srcOrd="0" destOrd="0" parTransId="{2DB0EB34-7886-4E3A-8EDA-57DE947AB6CD}" sibTransId="{F38957E1-368B-42F7-9575-C707DB7C054C}"/>
    <dgm:cxn modelId="{6C9DB975-71B4-224D-91BD-23186B07601B}" type="presOf" srcId="{AF80AACD-067B-465A-8A29-CA39BAD68D5E}" destId="{1E238DAF-8BD7-8A44-B597-E55761E1641D}" srcOrd="0" destOrd="0" presId="urn:microsoft.com/office/officeart/2005/8/layout/vList2"/>
    <dgm:cxn modelId="{C200957C-0BEC-49EC-81CC-5164CE321A7C}" srcId="{F3F0610F-5E67-4252-BEC1-BAFCCFC48CE8}" destId="{2309AB6E-7BC1-47BC-AD5B-051C6AB250B0}" srcOrd="1" destOrd="0" parTransId="{2C3E8B2F-6415-46DB-AA46-F9BB01EB72F0}" sibTransId="{4BDDAD52-D692-4DC1-8499-FF531DEAC861}"/>
    <dgm:cxn modelId="{651FF391-154F-714A-8ED3-0D02080BE884}" type="presOf" srcId="{7912C85F-C7BB-4D05-87AE-3443E48FAE22}" destId="{5045B197-3A39-AF4B-B804-95FBF5AE0297}" srcOrd="0" destOrd="0" presId="urn:microsoft.com/office/officeart/2005/8/layout/vList2"/>
    <dgm:cxn modelId="{CC416CB2-E256-4A41-816B-687CF03299C6}" srcId="{F3F0610F-5E67-4252-BEC1-BAFCCFC48CE8}" destId="{E68498BE-5E25-4A7B-ABAA-DBDEE2C7AD69}" srcOrd="3" destOrd="0" parTransId="{286C4F84-3F32-47EB-B5FE-74E8264FD639}" sibTransId="{F3C65709-A2B8-4968-9A5E-DC119BB5EA5D}"/>
    <dgm:cxn modelId="{F7B13CB9-EA6D-E140-92D3-C1E3C72596DD}" type="presOf" srcId="{2309AB6E-7BC1-47BC-AD5B-051C6AB250B0}" destId="{300EE7A2-4539-D142-BF99-6B1061ECB874}" srcOrd="0" destOrd="0" presId="urn:microsoft.com/office/officeart/2005/8/layout/vList2"/>
    <dgm:cxn modelId="{45FEF6C2-77B5-4807-92FB-F7AC13F96D6A}" srcId="{F3F0610F-5E67-4252-BEC1-BAFCCFC48CE8}" destId="{7912C85F-C7BB-4D05-87AE-3443E48FAE22}" srcOrd="2" destOrd="0" parTransId="{7315B1E4-E159-4DEC-B07A-8BEEE3C6CC1D}" sibTransId="{076A8112-D2A7-4F4E-956C-D21D2EBE49E8}"/>
    <dgm:cxn modelId="{9E0BE3E7-8A4E-6640-A6A7-34C3051F135F}" type="presOf" srcId="{F3F0610F-5E67-4252-BEC1-BAFCCFC48CE8}" destId="{0F4B4E49-47CB-7F4B-8279-A87F4E1C15AA}" srcOrd="0" destOrd="0" presId="urn:microsoft.com/office/officeart/2005/8/layout/vList2"/>
    <dgm:cxn modelId="{C11B1483-7049-774D-9362-06F14C5DEBB8}" type="presParOf" srcId="{0F4B4E49-47CB-7F4B-8279-A87F4E1C15AA}" destId="{1E238DAF-8BD7-8A44-B597-E55761E1641D}" srcOrd="0" destOrd="0" presId="urn:microsoft.com/office/officeart/2005/8/layout/vList2"/>
    <dgm:cxn modelId="{DC7085CE-7FC4-DE41-834A-CBFFE9592EE3}" type="presParOf" srcId="{0F4B4E49-47CB-7F4B-8279-A87F4E1C15AA}" destId="{E168E245-2D87-6D43-B8E0-C047007E6E96}" srcOrd="1" destOrd="0" presId="urn:microsoft.com/office/officeart/2005/8/layout/vList2"/>
    <dgm:cxn modelId="{32F44C1B-393D-1B4A-8EBE-10764757E24E}" type="presParOf" srcId="{0F4B4E49-47CB-7F4B-8279-A87F4E1C15AA}" destId="{300EE7A2-4539-D142-BF99-6B1061ECB874}" srcOrd="2" destOrd="0" presId="urn:microsoft.com/office/officeart/2005/8/layout/vList2"/>
    <dgm:cxn modelId="{16712C76-AFB8-D048-B3FF-05ED2B19D168}" type="presParOf" srcId="{0F4B4E49-47CB-7F4B-8279-A87F4E1C15AA}" destId="{F9D2DE59-3402-0547-A71E-35FB9BA20D88}" srcOrd="3" destOrd="0" presId="urn:microsoft.com/office/officeart/2005/8/layout/vList2"/>
    <dgm:cxn modelId="{41DC5F30-0EEC-3949-A70E-A95F12197561}" type="presParOf" srcId="{0F4B4E49-47CB-7F4B-8279-A87F4E1C15AA}" destId="{5045B197-3A39-AF4B-B804-95FBF5AE0297}" srcOrd="4" destOrd="0" presId="urn:microsoft.com/office/officeart/2005/8/layout/vList2"/>
    <dgm:cxn modelId="{46997090-997F-7244-AAB0-2DE19DF5052B}" type="presParOf" srcId="{0F4B4E49-47CB-7F4B-8279-A87F4E1C15AA}" destId="{66620196-490D-9246-A2FE-4BB309B009BF}" srcOrd="5" destOrd="0" presId="urn:microsoft.com/office/officeart/2005/8/layout/vList2"/>
    <dgm:cxn modelId="{7758B895-E909-5A48-B3DE-DF6B2D2D111F}" type="presParOf" srcId="{0F4B4E49-47CB-7F4B-8279-A87F4E1C15AA}" destId="{228524B8-56EF-6746-82F2-17F514176C0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664BB6-821D-4D94-9876-6F9FCC67980E}">
      <dsp:nvSpPr>
        <dsp:cNvPr id="0" name=""/>
        <dsp:cNvSpPr/>
      </dsp:nvSpPr>
      <dsp:spPr>
        <a:xfrm>
          <a:off x="0" y="587"/>
          <a:ext cx="11384924" cy="13744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192BA9-4B99-41DE-8144-7C37BCF0E468}">
      <dsp:nvSpPr>
        <dsp:cNvPr id="0" name=""/>
        <dsp:cNvSpPr/>
      </dsp:nvSpPr>
      <dsp:spPr>
        <a:xfrm>
          <a:off x="415783" y="309847"/>
          <a:ext cx="755969" cy="755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1461E0-B1E7-42A3-92ED-5328389AC4C1}">
      <dsp:nvSpPr>
        <dsp:cNvPr id="0" name=""/>
        <dsp:cNvSpPr/>
      </dsp:nvSpPr>
      <dsp:spPr>
        <a:xfrm>
          <a:off x="1587536" y="587"/>
          <a:ext cx="9797387" cy="137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67" tIns="145467" rIns="145467" bIns="145467" numCol="1" spcCol="1270" anchor="ctr" anchorCtr="0">
          <a:noAutofit/>
        </a:bodyPr>
        <a:lstStyle/>
        <a:p>
          <a:pPr marL="0" lvl="0" indent="0" algn="l" defTabSz="1022350">
            <a:lnSpc>
              <a:spcPct val="100000"/>
            </a:lnSpc>
            <a:spcBef>
              <a:spcPct val="0"/>
            </a:spcBef>
            <a:spcAft>
              <a:spcPct val="35000"/>
            </a:spcAft>
            <a:buNone/>
          </a:pPr>
          <a:r>
            <a:rPr lang="en-GB" sz="2300" kern="1200"/>
            <a:t>Motivation is the driving force behind why employees choose to engage in tasks, how much effort they put into their work, and how long they sustain that effort.</a:t>
          </a:r>
          <a:endParaRPr lang="en-US" sz="2300" kern="1200"/>
        </a:p>
      </dsp:txBody>
      <dsp:txXfrm>
        <a:off x="1587536" y="587"/>
        <a:ext cx="9797387" cy="1374490"/>
      </dsp:txXfrm>
    </dsp:sp>
    <dsp:sp modelId="{0303F5FD-E377-45AD-856E-3F5FDED9BA02}">
      <dsp:nvSpPr>
        <dsp:cNvPr id="0" name=""/>
        <dsp:cNvSpPr/>
      </dsp:nvSpPr>
      <dsp:spPr>
        <a:xfrm>
          <a:off x="0" y="1718699"/>
          <a:ext cx="11384924" cy="13744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99FD8-F597-485E-AB2D-4F9A29DBEDDB}">
      <dsp:nvSpPr>
        <dsp:cNvPr id="0" name=""/>
        <dsp:cNvSpPr/>
      </dsp:nvSpPr>
      <dsp:spPr>
        <a:xfrm>
          <a:off x="415783" y="2027960"/>
          <a:ext cx="755969" cy="755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5762CA-D9B8-4E94-B1BD-148EB0DAD005}">
      <dsp:nvSpPr>
        <dsp:cNvPr id="0" name=""/>
        <dsp:cNvSpPr/>
      </dsp:nvSpPr>
      <dsp:spPr>
        <a:xfrm>
          <a:off x="1587536" y="1718699"/>
          <a:ext cx="5123215" cy="137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67" tIns="145467" rIns="145467" bIns="145467" numCol="1" spcCol="1270" anchor="ctr" anchorCtr="0">
          <a:noAutofit/>
        </a:bodyPr>
        <a:lstStyle/>
        <a:p>
          <a:pPr marL="0" lvl="0" indent="0" algn="l" defTabSz="1022350">
            <a:lnSpc>
              <a:spcPct val="100000"/>
            </a:lnSpc>
            <a:spcBef>
              <a:spcPct val="0"/>
            </a:spcBef>
            <a:spcAft>
              <a:spcPct val="35000"/>
            </a:spcAft>
            <a:buNone/>
          </a:pPr>
          <a:r>
            <a:rPr lang="en-GB" sz="2300" kern="1200"/>
            <a:t>According to Locke and Latham (2004), motivation stems from:</a:t>
          </a:r>
          <a:endParaRPr lang="en-US" sz="2300" kern="1200"/>
        </a:p>
      </dsp:txBody>
      <dsp:txXfrm>
        <a:off x="1587536" y="1718699"/>
        <a:ext cx="5123215" cy="1374490"/>
      </dsp:txXfrm>
    </dsp:sp>
    <dsp:sp modelId="{A0B8B87A-D79A-41F9-8E56-960BF5E850AB}">
      <dsp:nvSpPr>
        <dsp:cNvPr id="0" name=""/>
        <dsp:cNvSpPr/>
      </dsp:nvSpPr>
      <dsp:spPr>
        <a:xfrm>
          <a:off x="6710751" y="1718699"/>
          <a:ext cx="4674172" cy="137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67" tIns="145467" rIns="145467" bIns="145467" numCol="1" spcCol="1270" anchor="ctr" anchorCtr="0">
          <a:noAutofit/>
        </a:bodyPr>
        <a:lstStyle/>
        <a:p>
          <a:pPr marL="0" lvl="0" indent="0" algn="l" defTabSz="533400">
            <a:lnSpc>
              <a:spcPct val="100000"/>
            </a:lnSpc>
            <a:spcBef>
              <a:spcPct val="0"/>
            </a:spcBef>
            <a:spcAft>
              <a:spcPct val="35000"/>
            </a:spcAft>
            <a:buNone/>
          </a:pPr>
          <a:r>
            <a:rPr lang="en-GB" sz="1200" kern="1200"/>
            <a:t>Internal factors that </a:t>
          </a:r>
          <a:r>
            <a:rPr lang="en-GB" sz="1200" b="1" kern="1200"/>
            <a:t>impel</a:t>
          </a:r>
          <a:r>
            <a:rPr lang="en-GB" sz="1200" kern="1200"/>
            <a:t> individuals to act.</a:t>
          </a:r>
          <a:endParaRPr lang="en-US" sz="1200" kern="1200"/>
        </a:p>
        <a:p>
          <a:pPr marL="0" lvl="0" indent="0" algn="l" defTabSz="533400">
            <a:lnSpc>
              <a:spcPct val="100000"/>
            </a:lnSpc>
            <a:spcBef>
              <a:spcPct val="0"/>
            </a:spcBef>
            <a:spcAft>
              <a:spcPct val="35000"/>
            </a:spcAft>
            <a:buNone/>
          </a:pPr>
          <a:r>
            <a:rPr lang="en-GB" sz="1200" kern="1200"/>
            <a:t>External factors that provide </a:t>
          </a:r>
          <a:r>
            <a:rPr lang="en-GB" sz="1200" b="1" kern="1200"/>
            <a:t>incentives</a:t>
          </a:r>
          <a:r>
            <a:rPr lang="en-GB" sz="1200" kern="1200"/>
            <a:t> to take action.</a:t>
          </a:r>
          <a:endParaRPr lang="en-US" sz="1200" kern="1200"/>
        </a:p>
      </dsp:txBody>
      <dsp:txXfrm>
        <a:off x="6710751" y="1718699"/>
        <a:ext cx="4674172" cy="1374490"/>
      </dsp:txXfrm>
    </dsp:sp>
    <dsp:sp modelId="{2D68D7B9-C215-44B7-BB1D-39F531464D79}">
      <dsp:nvSpPr>
        <dsp:cNvPr id="0" name=""/>
        <dsp:cNvSpPr/>
      </dsp:nvSpPr>
      <dsp:spPr>
        <a:xfrm>
          <a:off x="0" y="3436812"/>
          <a:ext cx="11384924" cy="13744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903295-D021-4DF6-9F6B-29CD8031A45C}">
      <dsp:nvSpPr>
        <dsp:cNvPr id="0" name=""/>
        <dsp:cNvSpPr/>
      </dsp:nvSpPr>
      <dsp:spPr>
        <a:xfrm>
          <a:off x="415783" y="3746072"/>
          <a:ext cx="755969" cy="75596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F47B28-1F53-4070-912A-7A9219D68125}">
      <dsp:nvSpPr>
        <dsp:cNvPr id="0" name=""/>
        <dsp:cNvSpPr/>
      </dsp:nvSpPr>
      <dsp:spPr>
        <a:xfrm>
          <a:off x="1587536" y="3436812"/>
          <a:ext cx="5123215" cy="137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67" tIns="145467" rIns="145467" bIns="145467" numCol="1" spcCol="1270" anchor="ctr" anchorCtr="0">
          <a:noAutofit/>
        </a:bodyPr>
        <a:lstStyle/>
        <a:p>
          <a:pPr marL="0" lvl="0" indent="0" algn="l" defTabSz="1022350">
            <a:lnSpc>
              <a:spcPct val="100000"/>
            </a:lnSpc>
            <a:spcBef>
              <a:spcPct val="0"/>
            </a:spcBef>
            <a:spcAft>
              <a:spcPct val="35000"/>
            </a:spcAft>
            <a:buNone/>
          </a:pPr>
          <a:r>
            <a:rPr lang="en-GB" sz="2300" kern="1200"/>
            <a:t>Motivation can be broken down into three key elements:</a:t>
          </a:r>
          <a:endParaRPr lang="en-US" sz="2300" kern="1200"/>
        </a:p>
      </dsp:txBody>
      <dsp:txXfrm>
        <a:off x="1587536" y="3436812"/>
        <a:ext cx="5123215" cy="1374490"/>
      </dsp:txXfrm>
    </dsp:sp>
    <dsp:sp modelId="{ED50D39D-7761-4BCF-A37C-27ED0EAB1D2F}">
      <dsp:nvSpPr>
        <dsp:cNvPr id="0" name=""/>
        <dsp:cNvSpPr/>
      </dsp:nvSpPr>
      <dsp:spPr>
        <a:xfrm>
          <a:off x="6710751" y="3436812"/>
          <a:ext cx="4674172" cy="137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67" tIns="145467" rIns="145467" bIns="145467" numCol="1" spcCol="1270" anchor="ctr" anchorCtr="0">
          <a:noAutofit/>
        </a:bodyPr>
        <a:lstStyle/>
        <a:p>
          <a:pPr marL="0" lvl="0" indent="0" algn="l" defTabSz="533400">
            <a:lnSpc>
              <a:spcPct val="100000"/>
            </a:lnSpc>
            <a:spcBef>
              <a:spcPct val="0"/>
            </a:spcBef>
            <a:spcAft>
              <a:spcPct val="35000"/>
            </a:spcAft>
            <a:buNone/>
          </a:pPr>
          <a:r>
            <a:rPr lang="en-GB" sz="1200" b="1" kern="1200"/>
            <a:t>Direction</a:t>
          </a:r>
          <a:r>
            <a:rPr lang="en-GB" sz="1200" kern="1200"/>
            <a:t>: What an employee chooses to focus on (the goal or task).</a:t>
          </a:r>
          <a:endParaRPr lang="en-US" sz="1200" kern="1200"/>
        </a:p>
        <a:p>
          <a:pPr marL="0" lvl="0" indent="0" algn="l" defTabSz="533400">
            <a:lnSpc>
              <a:spcPct val="100000"/>
            </a:lnSpc>
            <a:spcBef>
              <a:spcPct val="0"/>
            </a:spcBef>
            <a:spcAft>
              <a:spcPct val="35000"/>
            </a:spcAft>
            <a:buNone/>
          </a:pPr>
          <a:r>
            <a:rPr lang="en-GB" sz="1200" b="1" kern="1200"/>
            <a:t>Effort</a:t>
          </a:r>
          <a:r>
            <a:rPr lang="en-GB" sz="1200" kern="1200"/>
            <a:t>: The intensity of energy they invest in their work.</a:t>
          </a:r>
          <a:endParaRPr lang="en-US" sz="1200" kern="1200"/>
        </a:p>
        <a:p>
          <a:pPr marL="0" lvl="0" indent="0" algn="l" defTabSz="533400">
            <a:lnSpc>
              <a:spcPct val="100000"/>
            </a:lnSpc>
            <a:spcBef>
              <a:spcPct val="0"/>
            </a:spcBef>
            <a:spcAft>
              <a:spcPct val="35000"/>
            </a:spcAft>
            <a:buNone/>
          </a:pPr>
          <a:r>
            <a:rPr lang="en-GB" sz="1200" b="1" kern="1200"/>
            <a:t>Persistence</a:t>
          </a:r>
          <a:r>
            <a:rPr lang="en-GB" sz="1200" kern="1200"/>
            <a:t>: The length of time they maintain this effort toward their goal.</a:t>
          </a:r>
          <a:endParaRPr lang="en-US" sz="1200" kern="1200"/>
        </a:p>
      </dsp:txBody>
      <dsp:txXfrm>
        <a:off x="6710751" y="3436812"/>
        <a:ext cx="4674172" cy="1374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4EB91-61E1-464C-BE2C-8F6D639D76C4}">
      <dsp:nvSpPr>
        <dsp:cNvPr id="0" name=""/>
        <dsp:cNvSpPr/>
      </dsp:nvSpPr>
      <dsp:spPr>
        <a:xfrm>
          <a:off x="0" y="0"/>
          <a:ext cx="9858674" cy="16639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Intrinsic Motivation (Internal)</a:t>
          </a:r>
        </a:p>
        <a:p>
          <a:pPr marL="171450" lvl="1" indent="-171450" algn="l" defTabSz="711200">
            <a:lnSpc>
              <a:spcPct val="90000"/>
            </a:lnSpc>
            <a:spcBef>
              <a:spcPct val="0"/>
            </a:spcBef>
            <a:spcAft>
              <a:spcPct val="15000"/>
            </a:spcAft>
            <a:buChar char="•"/>
          </a:pPr>
          <a:r>
            <a:rPr lang="en-US" sz="1600" kern="1200"/>
            <a:t>Motivated by internal satisfaction. Completing tasks because they are interesting, fulfilling, or enjoyable.</a:t>
          </a:r>
        </a:p>
        <a:p>
          <a:pPr marL="171450" lvl="1" indent="-171450" algn="l" defTabSz="711200">
            <a:lnSpc>
              <a:spcPct val="90000"/>
            </a:lnSpc>
            <a:spcBef>
              <a:spcPct val="0"/>
            </a:spcBef>
            <a:spcAft>
              <a:spcPct val="15000"/>
            </a:spcAft>
            <a:buChar char="•"/>
          </a:pPr>
          <a:r>
            <a:rPr lang="en-US" sz="1600" kern="1200"/>
            <a:t>Example: Employees work hard on a project because it aligns with their interests or values.</a:t>
          </a:r>
        </a:p>
      </dsp:txBody>
      <dsp:txXfrm>
        <a:off x="48736" y="48736"/>
        <a:ext cx="8063124" cy="1566495"/>
      </dsp:txXfrm>
    </dsp:sp>
    <dsp:sp modelId="{1B7DC7C6-EFD1-D64A-8652-B80B47D8FF4E}">
      <dsp:nvSpPr>
        <dsp:cNvPr id="0" name=""/>
        <dsp:cNvSpPr/>
      </dsp:nvSpPr>
      <dsp:spPr>
        <a:xfrm>
          <a:off x="869883" y="1941295"/>
          <a:ext cx="9858674" cy="16639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Extrinsic Motivation (External)</a:t>
          </a:r>
        </a:p>
        <a:p>
          <a:pPr marL="171450" lvl="1" indent="-171450" algn="l" defTabSz="711200">
            <a:lnSpc>
              <a:spcPct val="90000"/>
            </a:lnSpc>
            <a:spcBef>
              <a:spcPct val="0"/>
            </a:spcBef>
            <a:spcAft>
              <a:spcPct val="15000"/>
            </a:spcAft>
            <a:buChar char="•"/>
          </a:pPr>
          <a:r>
            <a:rPr lang="en-US" sz="1600" kern="1200"/>
            <a:t>Motivated by external sources. Complete tasks to earn rewards, gain recognition, or avoid negative consequences.</a:t>
          </a:r>
        </a:p>
        <a:p>
          <a:pPr marL="171450" lvl="1" indent="-171450" algn="l" defTabSz="711200">
            <a:lnSpc>
              <a:spcPct val="90000"/>
            </a:lnSpc>
            <a:spcBef>
              <a:spcPct val="0"/>
            </a:spcBef>
            <a:spcAft>
              <a:spcPct val="15000"/>
            </a:spcAft>
            <a:buChar char="•"/>
          </a:pPr>
          <a:r>
            <a:rPr lang="en-US" sz="1600" kern="1200"/>
            <a:t>Example: Employees focus on their tasks to earn bonuses, praise, or avoid reprimands.</a:t>
          </a:r>
        </a:p>
      </dsp:txBody>
      <dsp:txXfrm>
        <a:off x="918619" y="1990031"/>
        <a:ext cx="7809740" cy="1566495"/>
      </dsp:txXfrm>
    </dsp:sp>
    <dsp:sp modelId="{EAB58E7F-B3AD-5947-9314-6F13B3ED8E14}">
      <dsp:nvSpPr>
        <dsp:cNvPr id="0" name=""/>
        <dsp:cNvSpPr/>
      </dsp:nvSpPr>
      <dsp:spPr>
        <a:xfrm>
          <a:off x="1739766" y="3882590"/>
          <a:ext cx="9858674" cy="16639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Reflection Point - How can managers harness both types of motivation? Think of strategies to tap into employees’ natural interests (intrinsic) while also offering external recognition (extrinsic) to keep them motivated.</a:t>
          </a:r>
        </a:p>
      </dsp:txBody>
      <dsp:txXfrm>
        <a:off x="1788502" y="3931326"/>
        <a:ext cx="7809740" cy="1566495"/>
      </dsp:txXfrm>
    </dsp:sp>
    <dsp:sp modelId="{7CD08E21-FC6C-8A4C-8EEA-F3CB3812EC86}">
      <dsp:nvSpPr>
        <dsp:cNvPr id="0" name=""/>
        <dsp:cNvSpPr/>
      </dsp:nvSpPr>
      <dsp:spPr>
        <a:xfrm>
          <a:off x="8777096" y="1261841"/>
          <a:ext cx="1081578" cy="1081578"/>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20451" y="1261841"/>
        <a:ext cx="594868" cy="813887"/>
      </dsp:txXfrm>
    </dsp:sp>
    <dsp:sp modelId="{668923E4-6036-784D-BB46-093ABCF7F2CA}">
      <dsp:nvSpPr>
        <dsp:cNvPr id="0" name=""/>
        <dsp:cNvSpPr/>
      </dsp:nvSpPr>
      <dsp:spPr>
        <a:xfrm>
          <a:off x="9646979" y="3192044"/>
          <a:ext cx="1081578" cy="1081578"/>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890334" y="3192044"/>
        <a:ext cx="594868" cy="8138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072CD-6832-4D7B-98A8-91224DA8A945}">
      <dsp:nvSpPr>
        <dsp:cNvPr id="0" name=""/>
        <dsp:cNvSpPr/>
      </dsp:nvSpPr>
      <dsp:spPr>
        <a:xfrm>
          <a:off x="0" y="3715"/>
          <a:ext cx="10944726" cy="7913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702767-3BA5-4E7E-8AB3-379CA1C44C68}">
      <dsp:nvSpPr>
        <dsp:cNvPr id="0" name=""/>
        <dsp:cNvSpPr/>
      </dsp:nvSpPr>
      <dsp:spPr>
        <a:xfrm>
          <a:off x="239389" y="181773"/>
          <a:ext cx="435253" cy="435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04A3BE-0D83-46DF-8A41-8F85A8DC8672}">
      <dsp:nvSpPr>
        <dsp:cNvPr id="0" name=""/>
        <dsp:cNvSpPr/>
      </dsp:nvSpPr>
      <dsp:spPr>
        <a:xfrm>
          <a:off x="914032" y="3715"/>
          <a:ext cx="10030693" cy="791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753" tIns="83753" rIns="83753" bIns="83753" numCol="1" spcCol="1270" anchor="ctr" anchorCtr="0">
          <a:noAutofit/>
        </a:bodyPr>
        <a:lstStyle/>
        <a:p>
          <a:pPr marL="0" lvl="0" indent="0" algn="l" defTabSz="755650">
            <a:lnSpc>
              <a:spcPct val="100000"/>
            </a:lnSpc>
            <a:spcBef>
              <a:spcPct val="0"/>
            </a:spcBef>
            <a:spcAft>
              <a:spcPct val="35000"/>
            </a:spcAft>
            <a:buNone/>
          </a:pPr>
          <a:r>
            <a:rPr lang="en-US" sz="1700" kern="1200" dirty="0"/>
            <a:t>Other Performance Factors: Motivation is just one piece of the puzzle. Skills, abilities, and attitudes such as </a:t>
          </a:r>
          <a:r>
            <a:rPr lang="en-US" sz="1700" kern="1200" dirty="0" err="1"/>
            <a:t>organisational</a:t>
          </a:r>
          <a:r>
            <a:rPr lang="en-US" sz="1700" kern="1200" dirty="0"/>
            <a:t> commitment and job satisfaction are also critical for performance.</a:t>
          </a:r>
        </a:p>
      </dsp:txBody>
      <dsp:txXfrm>
        <a:off x="914032" y="3715"/>
        <a:ext cx="10030693" cy="791369"/>
      </dsp:txXfrm>
    </dsp:sp>
    <dsp:sp modelId="{54D9C56D-E0A3-40D7-A3F9-7F1E816C0691}">
      <dsp:nvSpPr>
        <dsp:cNvPr id="0" name=""/>
        <dsp:cNvSpPr/>
      </dsp:nvSpPr>
      <dsp:spPr>
        <a:xfrm>
          <a:off x="0" y="992927"/>
          <a:ext cx="10944726" cy="7913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A0AA3-1BD5-4E7F-8C38-F7DC4195A676}">
      <dsp:nvSpPr>
        <dsp:cNvPr id="0" name=""/>
        <dsp:cNvSpPr/>
      </dsp:nvSpPr>
      <dsp:spPr>
        <a:xfrm>
          <a:off x="239389" y="1170985"/>
          <a:ext cx="435253" cy="435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354CF1-F1A0-4AE0-8CD5-ACEBE3ED9E13}">
      <dsp:nvSpPr>
        <dsp:cNvPr id="0" name=""/>
        <dsp:cNvSpPr/>
      </dsp:nvSpPr>
      <dsp:spPr>
        <a:xfrm>
          <a:off x="914032" y="992927"/>
          <a:ext cx="10030693" cy="791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753" tIns="83753" rIns="83753" bIns="83753" numCol="1" spcCol="1270" anchor="ctr" anchorCtr="0">
          <a:noAutofit/>
        </a:bodyPr>
        <a:lstStyle/>
        <a:p>
          <a:pPr marL="0" lvl="0" indent="0" algn="l" defTabSz="755650">
            <a:lnSpc>
              <a:spcPct val="100000"/>
            </a:lnSpc>
            <a:spcBef>
              <a:spcPct val="0"/>
            </a:spcBef>
            <a:spcAft>
              <a:spcPct val="35000"/>
            </a:spcAft>
            <a:buNone/>
          </a:pPr>
          <a:r>
            <a:rPr lang="en-US" sz="1700" kern="1200"/>
            <a:t>Importance of Motivation: Motivating employees to put in their best effort is crucial for organizational success.</a:t>
          </a:r>
        </a:p>
      </dsp:txBody>
      <dsp:txXfrm>
        <a:off x="914032" y="992927"/>
        <a:ext cx="10030693" cy="791369"/>
      </dsp:txXfrm>
    </dsp:sp>
    <dsp:sp modelId="{BCE21B67-2A7C-466A-8EE7-811F969F2DA3}">
      <dsp:nvSpPr>
        <dsp:cNvPr id="0" name=""/>
        <dsp:cNvSpPr/>
      </dsp:nvSpPr>
      <dsp:spPr>
        <a:xfrm>
          <a:off x="0" y="1982139"/>
          <a:ext cx="10944726" cy="7913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7DF169-8149-448F-97E7-E5E27C42A603}">
      <dsp:nvSpPr>
        <dsp:cNvPr id="0" name=""/>
        <dsp:cNvSpPr/>
      </dsp:nvSpPr>
      <dsp:spPr>
        <a:xfrm>
          <a:off x="239389" y="2160197"/>
          <a:ext cx="435253" cy="435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5D732A-733B-43B8-B58F-CB1BD87AF3E4}">
      <dsp:nvSpPr>
        <dsp:cNvPr id="0" name=""/>
        <dsp:cNvSpPr/>
      </dsp:nvSpPr>
      <dsp:spPr>
        <a:xfrm>
          <a:off x="914032" y="1982139"/>
          <a:ext cx="10030693" cy="791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753" tIns="83753" rIns="83753" bIns="83753" numCol="1" spcCol="1270" anchor="ctr" anchorCtr="0">
          <a:noAutofit/>
        </a:bodyPr>
        <a:lstStyle/>
        <a:p>
          <a:pPr marL="0" lvl="0" indent="0" algn="l" defTabSz="755650">
            <a:lnSpc>
              <a:spcPct val="100000"/>
            </a:lnSpc>
            <a:spcBef>
              <a:spcPct val="0"/>
            </a:spcBef>
            <a:spcAft>
              <a:spcPct val="35000"/>
            </a:spcAft>
            <a:buNone/>
          </a:pPr>
          <a:r>
            <a:rPr lang="en-US" sz="1700" kern="1200" dirty="0"/>
            <a:t>Employment Contract: While a contract defines salary, benefits, and hours worked, it doesn't specify how much effort or commitment an employee will invest in the role.</a:t>
          </a:r>
        </a:p>
      </dsp:txBody>
      <dsp:txXfrm>
        <a:off x="914032" y="1982139"/>
        <a:ext cx="10030693" cy="791369"/>
      </dsp:txXfrm>
    </dsp:sp>
    <dsp:sp modelId="{BB3A4860-9BDA-4578-A2FD-D7A3F3623833}">
      <dsp:nvSpPr>
        <dsp:cNvPr id="0" name=""/>
        <dsp:cNvSpPr/>
      </dsp:nvSpPr>
      <dsp:spPr>
        <a:xfrm>
          <a:off x="0" y="2971351"/>
          <a:ext cx="10944726" cy="7913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5CD4E-ADB6-4921-836D-444EF5806F0A}">
      <dsp:nvSpPr>
        <dsp:cNvPr id="0" name=""/>
        <dsp:cNvSpPr/>
      </dsp:nvSpPr>
      <dsp:spPr>
        <a:xfrm>
          <a:off x="239389" y="3149409"/>
          <a:ext cx="435253" cy="435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F23746-B15B-47FB-B91B-7BBE4B707226}">
      <dsp:nvSpPr>
        <dsp:cNvPr id="0" name=""/>
        <dsp:cNvSpPr/>
      </dsp:nvSpPr>
      <dsp:spPr>
        <a:xfrm>
          <a:off x="914032" y="2971351"/>
          <a:ext cx="10030693" cy="791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753" tIns="83753" rIns="83753" bIns="83753" numCol="1" spcCol="1270" anchor="ctr" anchorCtr="0">
          <a:noAutofit/>
        </a:bodyPr>
        <a:lstStyle/>
        <a:p>
          <a:pPr marL="0" lvl="0" indent="0" algn="l" defTabSz="755650">
            <a:lnSpc>
              <a:spcPct val="100000"/>
            </a:lnSpc>
            <a:spcBef>
              <a:spcPct val="0"/>
            </a:spcBef>
            <a:spcAft>
              <a:spcPct val="35000"/>
            </a:spcAft>
            <a:buNone/>
          </a:pPr>
          <a:r>
            <a:rPr lang="en-US" sz="1700" kern="1200"/>
            <a:t>Manager's Role in Motivation: To drive performance improvements, managers need to understand motivation, which influences how employees behave and respond at work (Pritchard &amp; Ashwood, 2008).</a:t>
          </a:r>
        </a:p>
      </dsp:txBody>
      <dsp:txXfrm>
        <a:off x="914032" y="2971351"/>
        <a:ext cx="10030693" cy="791369"/>
      </dsp:txXfrm>
    </dsp:sp>
    <dsp:sp modelId="{8705E840-162A-4293-ADD3-18376B3ADBD2}">
      <dsp:nvSpPr>
        <dsp:cNvPr id="0" name=""/>
        <dsp:cNvSpPr/>
      </dsp:nvSpPr>
      <dsp:spPr>
        <a:xfrm>
          <a:off x="0" y="3960563"/>
          <a:ext cx="10944726" cy="7913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ADB18E-015F-4C58-BFE0-577664DF3C97}">
      <dsp:nvSpPr>
        <dsp:cNvPr id="0" name=""/>
        <dsp:cNvSpPr/>
      </dsp:nvSpPr>
      <dsp:spPr>
        <a:xfrm>
          <a:off x="239389" y="4138622"/>
          <a:ext cx="435253" cy="4352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67B9AD-EE87-407A-8117-47E240A54A7C}">
      <dsp:nvSpPr>
        <dsp:cNvPr id="0" name=""/>
        <dsp:cNvSpPr/>
      </dsp:nvSpPr>
      <dsp:spPr>
        <a:xfrm>
          <a:off x="914032" y="3960563"/>
          <a:ext cx="10030693" cy="791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753" tIns="83753" rIns="83753" bIns="83753" numCol="1" spcCol="1270" anchor="ctr" anchorCtr="0">
          <a:noAutofit/>
        </a:bodyPr>
        <a:lstStyle/>
        <a:p>
          <a:pPr marL="0" lvl="0" indent="0" algn="l" defTabSz="755650">
            <a:lnSpc>
              <a:spcPct val="100000"/>
            </a:lnSpc>
            <a:spcBef>
              <a:spcPct val="0"/>
            </a:spcBef>
            <a:spcAft>
              <a:spcPct val="35000"/>
            </a:spcAft>
            <a:buNone/>
          </a:pPr>
          <a:r>
            <a:rPr lang="en-US" sz="1700" kern="1200"/>
            <a:t>Employee Autonomy: Employees ultimately </a:t>
          </a:r>
          <a:r>
            <a:rPr lang="en-US" sz="1700" b="1" kern="1200"/>
            <a:t>control</a:t>
          </a:r>
          <a:r>
            <a:rPr lang="en-US" sz="1700" kern="1200"/>
            <a:t> whether they work, how hard, and how effectively they perform (Druker, 1993).</a:t>
          </a:r>
        </a:p>
      </dsp:txBody>
      <dsp:txXfrm>
        <a:off x="914032" y="3960563"/>
        <a:ext cx="10030693" cy="7913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9540B-73A4-E441-8AEF-9D076E932844}">
      <dsp:nvSpPr>
        <dsp:cNvPr id="0" name=""/>
        <dsp:cNvSpPr/>
      </dsp:nvSpPr>
      <dsp:spPr>
        <a:xfrm>
          <a:off x="0" y="1841"/>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1) Behavioural control</a:t>
          </a:r>
        </a:p>
      </dsp:txBody>
      <dsp:txXfrm>
        <a:off x="38381" y="40222"/>
        <a:ext cx="10438838" cy="709478"/>
      </dsp:txXfrm>
    </dsp:sp>
    <dsp:sp modelId="{22C83C3E-44A9-814F-A16D-1C4AD3998882}">
      <dsp:nvSpPr>
        <dsp:cNvPr id="0" name=""/>
        <dsp:cNvSpPr/>
      </dsp:nvSpPr>
      <dsp:spPr>
        <a:xfrm>
          <a:off x="0" y="880241"/>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2) Output control</a:t>
          </a:r>
        </a:p>
      </dsp:txBody>
      <dsp:txXfrm>
        <a:off x="38381" y="918622"/>
        <a:ext cx="10438838" cy="709478"/>
      </dsp:txXfrm>
    </dsp:sp>
    <dsp:sp modelId="{BA1DFADC-DFB8-5646-BAC9-09BB1B7A6E18}">
      <dsp:nvSpPr>
        <dsp:cNvPr id="0" name=""/>
        <dsp:cNvSpPr/>
      </dsp:nvSpPr>
      <dsp:spPr>
        <a:xfrm>
          <a:off x="0" y="1758641"/>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3) Clan or Normative control control</a:t>
          </a:r>
        </a:p>
      </dsp:txBody>
      <dsp:txXfrm>
        <a:off x="38381" y="1797022"/>
        <a:ext cx="10438838" cy="7094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A7F3C1-12A0-824A-AA48-359E94E4207A}">
      <dsp:nvSpPr>
        <dsp:cNvPr id="0" name=""/>
        <dsp:cNvSpPr/>
      </dsp:nvSpPr>
      <dsp:spPr>
        <a:xfrm>
          <a:off x="1283" y="673807"/>
          <a:ext cx="5006206" cy="300372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Content Theories</a:t>
          </a:r>
          <a:endParaRPr lang="en-US" sz="2700" kern="1200"/>
        </a:p>
        <a:p>
          <a:pPr marL="228600" lvl="1" indent="-228600" algn="l" defTabSz="933450">
            <a:lnSpc>
              <a:spcPct val="90000"/>
            </a:lnSpc>
            <a:spcBef>
              <a:spcPct val="0"/>
            </a:spcBef>
            <a:spcAft>
              <a:spcPct val="15000"/>
            </a:spcAft>
            <a:buChar char="•"/>
          </a:pPr>
          <a:r>
            <a:rPr lang="en-US" sz="2100" kern="1200"/>
            <a:t>Emphasize the "what" factors that motivate individuals.</a:t>
          </a:r>
        </a:p>
        <a:p>
          <a:pPr marL="228600" lvl="1" indent="-228600" algn="l" defTabSz="933450">
            <a:lnSpc>
              <a:spcPct val="90000"/>
            </a:lnSpc>
            <a:spcBef>
              <a:spcPct val="0"/>
            </a:spcBef>
            <a:spcAft>
              <a:spcPct val="15000"/>
            </a:spcAft>
            <a:buChar char="•"/>
          </a:pPr>
          <a:r>
            <a:rPr lang="en-US" sz="2100" kern="1200"/>
            <a:t>Concerned with identifying and categorizing human needs.</a:t>
          </a:r>
        </a:p>
        <a:p>
          <a:pPr marL="228600" lvl="1" indent="-228600" algn="l" defTabSz="933450">
            <a:lnSpc>
              <a:spcPct val="90000"/>
            </a:lnSpc>
            <a:spcBef>
              <a:spcPct val="0"/>
            </a:spcBef>
            <a:spcAft>
              <a:spcPct val="15000"/>
            </a:spcAft>
            <a:buChar char="•"/>
          </a:pPr>
          <a:r>
            <a:rPr lang="en-US" sz="2100" kern="1200"/>
            <a:t>Motivation is then driven by fulfilling these specific needs/desires.</a:t>
          </a:r>
        </a:p>
      </dsp:txBody>
      <dsp:txXfrm>
        <a:off x="1283" y="673807"/>
        <a:ext cx="5006206" cy="3003723"/>
      </dsp:txXfrm>
    </dsp:sp>
    <dsp:sp modelId="{85F1080F-9D38-9842-AD9E-1ECABFEF8EA5}">
      <dsp:nvSpPr>
        <dsp:cNvPr id="0" name=""/>
        <dsp:cNvSpPr/>
      </dsp:nvSpPr>
      <dsp:spPr>
        <a:xfrm>
          <a:off x="5508110" y="673807"/>
          <a:ext cx="5006206" cy="3003723"/>
        </a:xfrm>
        <a:prstGeom prst="rect">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Process Theories</a:t>
          </a:r>
          <a:endParaRPr lang="en-US" sz="2700" kern="1200"/>
        </a:p>
        <a:p>
          <a:pPr marL="228600" lvl="1" indent="-228600" algn="l" defTabSz="933450">
            <a:lnSpc>
              <a:spcPct val="90000"/>
            </a:lnSpc>
            <a:spcBef>
              <a:spcPct val="0"/>
            </a:spcBef>
            <a:spcAft>
              <a:spcPct val="15000"/>
            </a:spcAft>
            <a:buChar char="•"/>
          </a:pPr>
          <a:r>
            <a:rPr lang="en-US" sz="2100" kern="1200"/>
            <a:t>Explores “how” motivation occurs.</a:t>
          </a:r>
        </a:p>
        <a:p>
          <a:pPr marL="228600" lvl="1" indent="-228600" algn="l" defTabSz="933450">
            <a:lnSpc>
              <a:spcPct val="90000"/>
            </a:lnSpc>
            <a:spcBef>
              <a:spcPct val="0"/>
            </a:spcBef>
            <a:spcAft>
              <a:spcPct val="15000"/>
            </a:spcAft>
            <a:buChar char="•"/>
          </a:pPr>
          <a:r>
            <a:rPr lang="en-US" sz="2100" kern="1200"/>
            <a:t>Believe motivation is a cognitive ‘process’ that involves evaluating different factors before deciding how to act.</a:t>
          </a:r>
        </a:p>
        <a:p>
          <a:pPr marL="228600" lvl="1" indent="-228600" algn="l" defTabSz="933450">
            <a:lnSpc>
              <a:spcPct val="90000"/>
            </a:lnSpc>
            <a:spcBef>
              <a:spcPct val="0"/>
            </a:spcBef>
            <a:spcAft>
              <a:spcPct val="15000"/>
            </a:spcAft>
            <a:buChar char="•"/>
          </a:pPr>
          <a:r>
            <a:rPr lang="en-US" sz="2100" kern="1200"/>
            <a:t>Explore the thought processes behind choices, efforts, and persistence.</a:t>
          </a:r>
        </a:p>
      </dsp:txBody>
      <dsp:txXfrm>
        <a:off x="5508110" y="673807"/>
        <a:ext cx="5006206" cy="30037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CE2A5-2272-BF48-B17D-337494C80874}">
      <dsp:nvSpPr>
        <dsp:cNvPr id="0" name=""/>
        <dsp:cNvSpPr/>
      </dsp:nvSpPr>
      <dsp:spPr>
        <a:xfrm>
          <a:off x="0" y="88520"/>
          <a:ext cx="6666833" cy="17128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Job satisfaction and dissatisfaction are not on the same continuum, meaning the absence of dissatisfaction does not automatically result in satisfaction. </a:t>
          </a:r>
        </a:p>
      </dsp:txBody>
      <dsp:txXfrm>
        <a:off x="83616" y="172136"/>
        <a:ext cx="6499601" cy="1545648"/>
      </dsp:txXfrm>
    </dsp:sp>
    <dsp:sp modelId="{64869E41-DCD1-924C-B75E-213D2907BED1}">
      <dsp:nvSpPr>
        <dsp:cNvPr id="0" name=""/>
        <dsp:cNvSpPr/>
      </dsp:nvSpPr>
      <dsp:spPr>
        <a:xfrm>
          <a:off x="0" y="1870520"/>
          <a:ext cx="6666833" cy="1712880"/>
        </a:xfrm>
        <a:prstGeom prst="roundRect">
          <a:avLst/>
        </a:prstGeom>
        <a:gradFill rotWithShape="0">
          <a:gsLst>
            <a:gs pos="0">
              <a:schemeClr val="accent2">
                <a:hueOff val="-419062"/>
                <a:satOff val="-4829"/>
                <a:lumOff val="1079"/>
                <a:alphaOff val="0"/>
                <a:satMod val="103000"/>
                <a:lumMod val="102000"/>
                <a:tint val="94000"/>
              </a:schemeClr>
            </a:gs>
            <a:gs pos="50000">
              <a:schemeClr val="accent2">
                <a:hueOff val="-419062"/>
                <a:satOff val="-4829"/>
                <a:lumOff val="1079"/>
                <a:alphaOff val="0"/>
                <a:satMod val="110000"/>
                <a:lumMod val="100000"/>
                <a:shade val="100000"/>
              </a:schemeClr>
            </a:gs>
            <a:gs pos="100000">
              <a:schemeClr val="accent2">
                <a:hueOff val="-419062"/>
                <a:satOff val="-4829"/>
                <a:lumOff val="107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Influential theory, however, mixed empirical evidence (see Bratton, 2021). Some indication separation between hygiene and motivating factors is not always clear-cut in practice.</a:t>
          </a:r>
        </a:p>
      </dsp:txBody>
      <dsp:txXfrm>
        <a:off x="83616" y="1954136"/>
        <a:ext cx="6499601" cy="1545648"/>
      </dsp:txXfrm>
    </dsp:sp>
    <dsp:sp modelId="{DD447B1E-0C01-2348-B148-7882D2BDE8A4}">
      <dsp:nvSpPr>
        <dsp:cNvPr id="0" name=""/>
        <dsp:cNvSpPr/>
      </dsp:nvSpPr>
      <dsp:spPr>
        <a:xfrm>
          <a:off x="0" y="3652520"/>
          <a:ext cx="6666833" cy="1712880"/>
        </a:xfrm>
        <a:prstGeom prst="roundRect">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Key Point: Improving hygiene factors may reduce dissatisfaction, but to truly enhance motivation and satisfaction, organizations must focus on intrinsic motivators.</a:t>
          </a:r>
        </a:p>
      </dsp:txBody>
      <dsp:txXfrm>
        <a:off x="83616" y="3736136"/>
        <a:ext cx="6499601" cy="15456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2F4683-6230-CC42-B981-CAA59011077A}">
      <dsp:nvSpPr>
        <dsp:cNvPr id="0" name=""/>
        <dsp:cNvSpPr/>
      </dsp:nvSpPr>
      <dsp:spPr>
        <a:xfrm>
          <a:off x="0" y="143693"/>
          <a:ext cx="1051560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Hygiene factors: </a:t>
          </a:r>
        </a:p>
      </dsp:txBody>
      <dsp:txXfrm>
        <a:off x="26387" y="170080"/>
        <a:ext cx="10462826" cy="487766"/>
      </dsp:txXfrm>
    </dsp:sp>
    <dsp:sp modelId="{8A84B6D4-5307-8640-9589-D4991B90FDB7}">
      <dsp:nvSpPr>
        <dsp:cNvPr id="0" name=""/>
        <dsp:cNvSpPr/>
      </dsp:nvSpPr>
      <dsp:spPr>
        <a:xfrm>
          <a:off x="0" y="684234"/>
          <a:ext cx="10515600" cy="1115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GB" sz="1700" b="1" kern="1200"/>
            <a:t>Compensation and Benefits:</a:t>
          </a:r>
          <a:r>
            <a:rPr lang="en-GB" sz="1700" kern="1200"/>
            <a:t> Highly competitive salaries, top-tier health insurance, and retirement plans.</a:t>
          </a:r>
          <a:endParaRPr lang="en-US" sz="1700" kern="1200"/>
        </a:p>
        <a:p>
          <a:pPr marL="171450" lvl="1" indent="-171450" algn="l" defTabSz="755650">
            <a:lnSpc>
              <a:spcPct val="90000"/>
            </a:lnSpc>
            <a:spcBef>
              <a:spcPct val="0"/>
            </a:spcBef>
            <a:spcAft>
              <a:spcPct val="20000"/>
            </a:spcAft>
            <a:buChar char="•"/>
          </a:pPr>
          <a:r>
            <a:rPr lang="en-GB" sz="1700" b="1" kern="1200"/>
            <a:t>Working Conditions:</a:t>
          </a:r>
          <a:r>
            <a:rPr lang="en-GB" sz="1700" kern="1200"/>
            <a:t> Beautiful, ergonomic offices, free gourmet food, on-site gyms, and recreational spaces.</a:t>
          </a:r>
          <a:endParaRPr lang="en-US" sz="1700" kern="1200"/>
        </a:p>
        <a:p>
          <a:pPr marL="171450" lvl="1" indent="-171450" algn="l" defTabSz="755650">
            <a:lnSpc>
              <a:spcPct val="90000"/>
            </a:lnSpc>
            <a:spcBef>
              <a:spcPct val="0"/>
            </a:spcBef>
            <a:spcAft>
              <a:spcPct val="20000"/>
            </a:spcAft>
            <a:buChar char="•"/>
          </a:pPr>
          <a:r>
            <a:rPr lang="en-GB" sz="1700" b="1" kern="1200"/>
            <a:t>Job Security &amp; Company Policy:</a:t>
          </a:r>
          <a:r>
            <a:rPr lang="en-GB" sz="1700" kern="1200"/>
            <a:t> Clear human resource policies and stable employment structures.</a:t>
          </a:r>
          <a:endParaRPr lang="en-US" sz="1700" kern="1200"/>
        </a:p>
      </dsp:txBody>
      <dsp:txXfrm>
        <a:off x="0" y="684234"/>
        <a:ext cx="10515600" cy="1115730"/>
      </dsp:txXfrm>
    </dsp:sp>
    <dsp:sp modelId="{4B5F6897-7379-EF48-817B-BC2CB0EA9E9B}">
      <dsp:nvSpPr>
        <dsp:cNvPr id="0" name=""/>
        <dsp:cNvSpPr/>
      </dsp:nvSpPr>
      <dsp:spPr>
        <a:xfrm>
          <a:off x="0" y="1799964"/>
          <a:ext cx="1051560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Motivating factors</a:t>
          </a:r>
          <a:endParaRPr lang="en-US" sz="2200" kern="1200"/>
        </a:p>
      </dsp:txBody>
      <dsp:txXfrm>
        <a:off x="26387" y="1826351"/>
        <a:ext cx="10462826" cy="487766"/>
      </dsp:txXfrm>
    </dsp:sp>
    <dsp:sp modelId="{0E0C55F5-16E7-B045-BE41-14E6DF289C20}">
      <dsp:nvSpPr>
        <dsp:cNvPr id="0" name=""/>
        <dsp:cNvSpPr/>
      </dsp:nvSpPr>
      <dsp:spPr>
        <a:xfrm>
          <a:off x="0" y="2340504"/>
          <a:ext cx="10515600" cy="1867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GB" sz="1700" b="1" kern="1200"/>
            <a:t>The "20% Time" Policy:</a:t>
          </a:r>
          <a:r>
            <a:rPr lang="en-GB" sz="1700" kern="1200"/>
            <a:t> Google famously allowed engineers to spend 20% of their work time on projects of their own choosing. This autonomy and freedom led to the creation of massive products like Gmail and Google AdSense.</a:t>
          </a:r>
          <a:endParaRPr lang="en-US" sz="1700" kern="1200"/>
        </a:p>
        <a:p>
          <a:pPr marL="171450" lvl="1" indent="-171450" algn="l" defTabSz="755650">
            <a:lnSpc>
              <a:spcPct val="90000"/>
            </a:lnSpc>
            <a:spcBef>
              <a:spcPct val="0"/>
            </a:spcBef>
            <a:spcAft>
              <a:spcPct val="20000"/>
            </a:spcAft>
            <a:buChar char="•"/>
          </a:pPr>
          <a:r>
            <a:rPr lang="en-GB" sz="1700" b="1" kern="1200"/>
            <a:t>Achievement and Responsibility:</a:t>
          </a:r>
          <a:r>
            <a:rPr lang="en-GB" sz="1700" kern="1200"/>
            <a:t> Employees are given high levels of ownership and responsibility over massive global projects right from the start of their careers.</a:t>
          </a:r>
          <a:endParaRPr lang="en-US" sz="1700" kern="1200"/>
        </a:p>
        <a:p>
          <a:pPr marL="171450" lvl="1" indent="-171450" algn="l" defTabSz="755650">
            <a:lnSpc>
              <a:spcPct val="90000"/>
            </a:lnSpc>
            <a:spcBef>
              <a:spcPct val="0"/>
            </a:spcBef>
            <a:spcAft>
              <a:spcPct val="20000"/>
            </a:spcAft>
            <a:buChar char="•"/>
          </a:pPr>
          <a:r>
            <a:rPr lang="en-GB" sz="1700" b="1" kern="1200"/>
            <a:t>Recognition:</a:t>
          </a:r>
          <a:r>
            <a:rPr lang="en-GB" sz="1700" kern="1200"/>
            <a:t> Peer-to-peer recognition programs, innovation awards, and public acknowledgment give employees a deep sense of accomplishment and status.</a:t>
          </a:r>
          <a:endParaRPr lang="en-US" sz="1700" kern="1200"/>
        </a:p>
      </dsp:txBody>
      <dsp:txXfrm>
        <a:off x="0" y="2340504"/>
        <a:ext cx="10515600" cy="18671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904FB-46D2-4BDA-9C4B-303F101BE01B}">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117BE2-487B-4942-9C1A-F0F83EA494BD}">
      <dsp:nvSpPr>
        <dsp:cNvPr id="0" name=""/>
        <dsp:cNvSpPr/>
      </dsp:nvSpPr>
      <dsp:spPr>
        <a:xfrm>
          <a:off x="570337"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5FAA15-622E-4151-9E01-782A94BA4C44}">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Equity judgments are subjective and influenced by individual biases, making ‘fairness’ difficult to measure.</a:t>
          </a:r>
        </a:p>
      </dsp:txBody>
      <dsp:txXfrm>
        <a:off x="1948202" y="368029"/>
        <a:ext cx="3233964" cy="1371985"/>
      </dsp:txXfrm>
    </dsp:sp>
    <dsp:sp modelId="{B60B04D1-7E74-446A-ACC8-3ED94464BC50}">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012A01-F6B5-4754-BA9F-F0FCDBECD787}">
      <dsp:nvSpPr>
        <dsp:cNvPr id="0" name=""/>
        <dsp:cNvSpPr/>
      </dsp:nvSpPr>
      <dsp:spPr>
        <a:xfrm>
          <a:off x="6033778"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3BA267-B39C-4AB8-89AD-51091084AF5D}">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Focuses too much on monetary rewards and underestimates other key motivators (e.g. recognition).</a:t>
          </a:r>
        </a:p>
      </dsp:txBody>
      <dsp:txXfrm>
        <a:off x="7411643" y="368029"/>
        <a:ext cx="3233964" cy="1371985"/>
      </dsp:txXfrm>
    </dsp:sp>
    <dsp:sp modelId="{52E2FCDB-0595-45F8-A06F-AF218AC04884}">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6FF46A-2499-4829-A983-F916AA618BAC}">
      <dsp:nvSpPr>
        <dsp:cNvPr id="0" name=""/>
        <dsp:cNvSpPr/>
      </dsp:nvSpPr>
      <dsp:spPr>
        <a:xfrm>
          <a:off x="570337"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523880-1ED4-45A5-96DF-4036AB398850}">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Assumes universal notions of fairness, but cultural norms may shape what individuals consider ‘fair’.</a:t>
          </a:r>
        </a:p>
      </dsp:txBody>
      <dsp:txXfrm>
        <a:off x="1948202" y="2452790"/>
        <a:ext cx="3233964" cy="1371985"/>
      </dsp:txXfrm>
    </dsp:sp>
    <dsp:sp modelId="{27B4BEE8-0F82-4BDD-8BC3-97B420FB9798}">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6639B7-36D6-49C2-A4B6-D2813E351264}">
      <dsp:nvSpPr>
        <dsp:cNvPr id="0" name=""/>
        <dsp:cNvSpPr/>
      </dsp:nvSpPr>
      <dsp:spPr>
        <a:xfrm>
          <a:off x="6033778"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791F56-A803-4C08-8966-143109DF4AB7}">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Primarily considers individual comparisons and overlooks the impact of group dynamics on perceived equity.</a:t>
          </a:r>
        </a:p>
      </dsp:txBody>
      <dsp:txXfrm>
        <a:off x="7411643" y="2452790"/>
        <a:ext cx="3233964" cy="13719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CCAAF-8ACB-DA45-BD52-87CE64661DE0}">
      <dsp:nvSpPr>
        <dsp:cNvPr id="0" name=""/>
        <dsp:cNvSpPr/>
      </dsp:nvSpPr>
      <dsp:spPr>
        <a:xfrm>
          <a:off x="0" y="13484"/>
          <a:ext cx="6253721" cy="12097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Assumes individuals are rational decision-makers, ignores emotions and unconscious factors.</a:t>
          </a:r>
        </a:p>
      </dsp:txBody>
      <dsp:txXfrm>
        <a:off x="59057" y="72541"/>
        <a:ext cx="6135607" cy="1091666"/>
      </dsp:txXfrm>
    </dsp:sp>
    <dsp:sp modelId="{778F189B-7C1B-F94A-846E-A26DAFA717E2}">
      <dsp:nvSpPr>
        <dsp:cNvPr id="0" name=""/>
        <dsp:cNvSpPr/>
      </dsp:nvSpPr>
      <dsp:spPr>
        <a:xfrm>
          <a:off x="0" y="1286624"/>
          <a:ext cx="6253721" cy="1209780"/>
        </a:xfrm>
        <a:prstGeom prst="roundRect">
          <a:avLst/>
        </a:prstGeom>
        <a:solidFill>
          <a:schemeClr val="accent2">
            <a:hueOff val="-279374"/>
            <a:satOff val="-3219"/>
            <a:lumOff val="72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Expectancy, instrumentality, and valence are highly subjective and differ greatly among employees.</a:t>
          </a:r>
        </a:p>
      </dsp:txBody>
      <dsp:txXfrm>
        <a:off x="59057" y="1345681"/>
        <a:ext cx="6135607" cy="1091666"/>
      </dsp:txXfrm>
    </dsp:sp>
    <dsp:sp modelId="{1684C578-B833-0B4A-AA8C-2F315A6BD3EF}">
      <dsp:nvSpPr>
        <dsp:cNvPr id="0" name=""/>
        <dsp:cNvSpPr/>
      </dsp:nvSpPr>
      <dsp:spPr>
        <a:xfrm>
          <a:off x="0" y="2559765"/>
          <a:ext cx="6253721" cy="1209780"/>
        </a:xfrm>
        <a:prstGeom prst="roundRect">
          <a:avLst/>
        </a:prstGeom>
        <a:solidFill>
          <a:schemeClr val="accent2">
            <a:hueOff val="-558749"/>
            <a:satOff val="-6439"/>
            <a:lumOff val="14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Not all rewards are tangible, and intrinsic rewards are often overlooked in the theory.</a:t>
          </a:r>
        </a:p>
      </dsp:txBody>
      <dsp:txXfrm>
        <a:off x="59057" y="2618822"/>
        <a:ext cx="6135607" cy="1091666"/>
      </dsp:txXfrm>
    </dsp:sp>
    <dsp:sp modelId="{F3CC77CC-C05C-A548-A4F1-C0317E9986FA}">
      <dsp:nvSpPr>
        <dsp:cNvPr id="0" name=""/>
        <dsp:cNvSpPr/>
      </dsp:nvSpPr>
      <dsp:spPr>
        <a:xfrm>
          <a:off x="0" y="3832905"/>
          <a:ext cx="6253721" cy="1209780"/>
        </a:xfrm>
        <a:prstGeom prst="roundRect">
          <a:avLst/>
        </a:prstGeom>
        <a:solidFill>
          <a:schemeClr val="accent2">
            <a:hueOff val="-838123"/>
            <a:satOff val="-9658"/>
            <a:lumOff val="21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Primarily focuses on individual motivation and neglects social dynamics like teamwork or social influence.</a:t>
          </a:r>
        </a:p>
      </dsp:txBody>
      <dsp:txXfrm>
        <a:off x="59057" y="3891962"/>
        <a:ext cx="6135607" cy="109166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269F89-268B-4963-AE43-78A8786FE5D6}">
      <dsp:nvSpPr>
        <dsp:cNvPr id="0" name=""/>
        <dsp:cNvSpPr/>
      </dsp:nvSpPr>
      <dsp:spPr>
        <a:xfrm>
          <a:off x="2176344" y="0"/>
          <a:ext cx="1509048" cy="1220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BBAE7A-20B2-46AB-BAF8-A75F62A9288B}">
      <dsp:nvSpPr>
        <dsp:cNvPr id="0" name=""/>
        <dsp:cNvSpPr/>
      </dsp:nvSpPr>
      <dsp:spPr>
        <a:xfrm>
          <a:off x="775085" y="1366244"/>
          <a:ext cx="4311566" cy="523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dirty="0"/>
            <a:t>Reward Packages:</a:t>
          </a:r>
        </a:p>
      </dsp:txBody>
      <dsp:txXfrm>
        <a:off x="775085" y="1366244"/>
        <a:ext cx="4311566" cy="523098"/>
      </dsp:txXfrm>
    </dsp:sp>
    <dsp:sp modelId="{CAC2CD24-8F9E-4824-88DC-ACBB7C4EE712}">
      <dsp:nvSpPr>
        <dsp:cNvPr id="0" name=""/>
        <dsp:cNvSpPr/>
      </dsp:nvSpPr>
      <dsp:spPr>
        <a:xfrm>
          <a:off x="775085" y="1957101"/>
          <a:ext cx="4311566" cy="223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Financial Rewards: Salaries, bonuses, incentives. Motivation Link: Directly linked to fulfilling basic needs but may not sustain long-term motivation for all employees.</a:t>
          </a:r>
        </a:p>
        <a:p>
          <a:pPr marL="0" lvl="0" indent="0" algn="ctr" defTabSz="755650">
            <a:lnSpc>
              <a:spcPct val="90000"/>
            </a:lnSpc>
            <a:spcBef>
              <a:spcPct val="0"/>
            </a:spcBef>
            <a:spcAft>
              <a:spcPct val="35000"/>
            </a:spcAft>
            <a:buNone/>
          </a:pPr>
          <a:r>
            <a:rPr lang="en-US" sz="1700" kern="1200" dirty="0"/>
            <a:t>Non-Financial Rewards: Recognition, career development, work-life balance. Motivation link: Often tied to intrinsic motivation, fostering engagement and satisfaction.</a:t>
          </a:r>
        </a:p>
        <a:p>
          <a:pPr marL="0" lvl="0" indent="0" algn="ctr" defTabSz="711200">
            <a:lnSpc>
              <a:spcPct val="90000"/>
            </a:lnSpc>
            <a:spcBef>
              <a:spcPct val="0"/>
            </a:spcBef>
            <a:spcAft>
              <a:spcPct val="35000"/>
            </a:spcAft>
            <a:buNone/>
          </a:pPr>
          <a:r>
            <a:rPr lang="en-US" sz="1600" kern="1200" dirty="0"/>
            <a:t>Equity and Fairness: According to Equity Theory, employees are motivated when they perceive rewards as fair in comparison to others.</a:t>
          </a:r>
        </a:p>
      </dsp:txBody>
      <dsp:txXfrm>
        <a:off x="775085" y="1957101"/>
        <a:ext cx="4311566" cy="2235703"/>
      </dsp:txXfrm>
    </dsp:sp>
    <dsp:sp modelId="{26E108D2-DED5-4B7C-87CC-EF6CF617D100}">
      <dsp:nvSpPr>
        <dsp:cNvPr id="0" name=""/>
        <dsp:cNvSpPr/>
      </dsp:nvSpPr>
      <dsp:spPr>
        <a:xfrm>
          <a:off x="7242435" y="0"/>
          <a:ext cx="1509048" cy="1220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4D6150-7899-4461-A6CE-088407C45D77}">
      <dsp:nvSpPr>
        <dsp:cNvPr id="0" name=""/>
        <dsp:cNvSpPr/>
      </dsp:nvSpPr>
      <dsp:spPr>
        <a:xfrm>
          <a:off x="5841176" y="1366244"/>
          <a:ext cx="4311566" cy="523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Key points:</a:t>
          </a:r>
        </a:p>
      </dsp:txBody>
      <dsp:txXfrm>
        <a:off x="5841176" y="1366244"/>
        <a:ext cx="4311566" cy="523098"/>
      </dsp:txXfrm>
    </dsp:sp>
    <dsp:sp modelId="{4142F766-4BAC-4F7A-93D2-A0F4EEAF9112}">
      <dsp:nvSpPr>
        <dsp:cNvPr id="0" name=""/>
        <dsp:cNvSpPr/>
      </dsp:nvSpPr>
      <dsp:spPr>
        <a:xfrm>
          <a:off x="5841176" y="1957101"/>
          <a:ext cx="4311566" cy="223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Tailored Reward Packages: Different employees are motivated by different types of rewards (financial, recognition, growth).</a:t>
          </a:r>
        </a:p>
        <a:p>
          <a:pPr marL="0" lvl="0" indent="0" algn="ctr" defTabSz="755650">
            <a:lnSpc>
              <a:spcPct val="90000"/>
            </a:lnSpc>
            <a:spcBef>
              <a:spcPct val="0"/>
            </a:spcBef>
            <a:spcAft>
              <a:spcPct val="35000"/>
            </a:spcAft>
            <a:buNone/>
          </a:pPr>
          <a:r>
            <a:rPr lang="en-US" sz="1700" kern="1200" dirty="0"/>
            <a:t>Balanced Approach: Combining financial and non-financial rewards may be key to sustaining motivation.</a:t>
          </a:r>
        </a:p>
        <a:p>
          <a:pPr marL="0" lvl="0" indent="0" algn="ctr" defTabSz="755650">
            <a:lnSpc>
              <a:spcPct val="90000"/>
            </a:lnSpc>
            <a:spcBef>
              <a:spcPct val="0"/>
            </a:spcBef>
            <a:spcAft>
              <a:spcPct val="35000"/>
            </a:spcAft>
            <a:buNone/>
          </a:pPr>
          <a:r>
            <a:rPr lang="en-US" sz="1700" kern="1200"/>
            <a:t>Perception Matters: Rewards must be perceived as fair, attainable, and meaningful to truly motivate.</a:t>
          </a:r>
        </a:p>
      </dsp:txBody>
      <dsp:txXfrm>
        <a:off x="5841176" y="1957101"/>
        <a:ext cx="4311566" cy="22357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74EAD-ECDF-5948-A7CF-2DA0163D995D}">
      <dsp:nvSpPr>
        <dsp:cNvPr id="0" name=""/>
        <dsp:cNvSpPr/>
      </dsp:nvSpPr>
      <dsp:spPr>
        <a:xfrm>
          <a:off x="0" y="112969"/>
          <a:ext cx="5324475" cy="8798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Job Characteristics Model (JCM), developed by Hackman &amp; Oldham (1976), outlines five key job dimensions that influence motivation and performance.</a:t>
          </a:r>
        </a:p>
      </dsp:txBody>
      <dsp:txXfrm>
        <a:off x="42950" y="155919"/>
        <a:ext cx="5238575" cy="793940"/>
      </dsp:txXfrm>
    </dsp:sp>
    <dsp:sp modelId="{6057A518-97A1-764B-8C22-B297E9D0B215}">
      <dsp:nvSpPr>
        <dsp:cNvPr id="0" name=""/>
        <dsp:cNvSpPr/>
      </dsp:nvSpPr>
      <dsp:spPr>
        <a:xfrm>
          <a:off x="0" y="1038889"/>
          <a:ext cx="5324475" cy="879840"/>
        </a:xfrm>
        <a:prstGeom prst="roundRect">
          <a:avLst/>
        </a:prstGeom>
        <a:solidFill>
          <a:schemeClr val="accent2">
            <a:hueOff val="-838123"/>
            <a:satOff val="-9658"/>
            <a:lumOff val="215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Core Job Dimensions:</a:t>
          </a:r>
        </a:p>
      </dsp:txBody>
      <dsp:txXfrm>
        <a:off x="42950" y="1081839"/>
        <a:ext cx="5238575" cy="793940"/>
      </dsp:txXfrm>
    </dsp:sp>
    <dsp:sp modelId="{57BA5316-F491-8B41-A76F-41D2BECBCB37}">
      <dsp:nvSpPr>
        <dsp:cNvPr id="0" name=""/>
        <dsp:cNvSpPr/>
      </dsp:nvSpPr>
      <dsp:spPr>
        <a:xfrm>
          <a:off x="0" y="1918729"/>
          <a:ext cx="5324475" cy="1887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52"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1" kern="1200"/>
            <a:t>Skill Variety</a:t>
          </a:r>
          <a:r>
            <a:rPr lang="en-US" sz="1200" kern="1200"/>
            <a:t>: The extent to which a job requires a range of different skills and abilities.</a:t>
          </a:r>
        </a:p>
        <a:p>
          <a:pPr marL="114300" lvl="1" indent="-114300" algn="l" defTabSz="533400">
            <a:lnSpc>
              <a:spcPct val="90000"/>
            </a:lnSpc>
            <a:spcBef>
              <a:spcPct val="0"/>
            </a:spcBef>
            <a:spcAft>
              <a:spcPct val="20000"/>
            </a:spcAft>
            <a:buChar char="•"/>
          </a:pPr>
          <a:r>
            <a:rPr lang="en-US" sz="1200" b="1" kern="1200"/>
            <a:t>Task Identity</a:t>
          </a:r>
          <a:r>
            <a:rPr lang="en-US" sz="1200" kern="1200"/>
            <a:t>: The degree to which a job requires completing a whole, identifiable piece of work from start to finish.</a:t>
          </a:r>
        </a:p>
        <a:p>
          <a:pPr marL="114300" lvl="1" indent="-114300" algn="l" defTabSz="533400">
            <a:lnSpc>
              <a:spcPct val="90000"/>
            </a:lnSpc>
            <a:spcBef>
              <a:spcPct val="0"/>
            </a:spcBef>
            <a:spcAft>
              <a:spcPct val="20000"/>
            </a:spcAft>
            <a:buChar char="•"/>
          </a:pPr>
          <a:r>
            <a:rPr lang="en-US" sz="1200" b="1" kern="1200"/>
            <a:t>Task Significance</a:t>
          </a:r>
          <a:r>
            <a:rPr lang="en-US" sz="1200" kern="1200"/>
            <a:t>: The perceived importance of the job in terms of its impact on others, both inside and outside the organization.</a:t>
          </a:r>
        </a:p>
        <a:p>
          <a:pPr marL="114300" lvl="1" indent="-114300" algn="l" defTabSz="533400">
            <a:lnSpc>
              <a:spcPct val="90000"/>
            </a:lnSpc>
            <a:spcBef>
              <a:spcPct val="0"/>
            </a:spcBef>
            <a:spcAft>
              <a:spcPct val="20000"/>
            </a:spcAft>
            <a:buChar char="•"/>
          </a:pPr>
          <a:r>
            <a:rPr lang="en-US" sz="1200" b="1" kern="1200"/>
            <a:t>Autonomy</a:t>
          </a:r>
          <a:r>
            <a:rPr lang="en-US" sz="1200" kern="1200"/>
            <a:t>: The level of independence and discretion an employee has in how they perform their tasks.</a:t>
          </a:r>
        </a:p>
        <a:p>
          <a:pPr marL="114300" lvl="1" indent="-114300" algn="l" defTabSz="533400">
            <a:lnSpc>
              <a:spcPct val="90000"/>
            </a:lnSpc>
            <a:spcBef>
              <a:spcPct val="0"/>
            </a:spcBef>
            <a:spcAft>
              <a:spcPct val="20000"/>
            </a:spcAft>
            <a:buChar char="•"/>
          </a:pPr>
          <a:r>
            <a:rPr lang="en-US" sz="1200" b="1" kern="1200"/>
            <a:t>Feedback</a:t>
          </a:r>
          <a:r>
            <a:rPr lang="en-US" sz="1200" kern="1200"/>
            <a:t>: The degree to which an employee receives clear, direct information about their performance.</a:t>
          </a:r>
        </a:p>
      </dsp:txBody>
      <dsp:txXfrm>
        <a:off x="0" y="1918729"/>
        <a:ext cx="5324475" cy="18878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38DAF-8BD7-8A44-B597-E55761E1641D}">
      <dsp:nvSpPr>
        <dsp:cNvPr id="0" name=""/>
        <dsp:cNvSpPr/>
      </dsp:nvSpPr>
      <dsp:spPr>
        <a:xfrm>
          <a:off x="0" y="268050"/>
          <a:ext cx="6900512" cy="121328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Organizations strive to cultivate a motivated workforce to drive performance and achieve business goals. However, applying motivation theories in practice presents challenges, as managers often need to adapt to suit the unique needs of their workplace and employees.</a:t>
          </a:r>
          <a:endParaRPr lang="en-US" sz="1700" kern="1200"/>
        </a:p>
      </dsp:txBody>
      <dsp:txXfrm>
        <a:off x="59228" y="327278"/>
        <a:ext cx="6782056" cy="1094833"/>
      </dsp:txXfrm>
    </dsp:sp>
    <dsp:sp modelId="{300EE7A2-4539-D142-BF99-6B1061ECB874}">
      <dsp:nvSpPr>
        <dsp:cNvPr id="0" name=""/>
        <dsp:cNvSpPr/>
      </dsp:nvSpPr>
      <dsp:spPr>
        <a:xfrm>
          <a:off x="0" y="1530300"/>
          <a:ext cx="6900512" cy="1213289"/>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Each employee has unique needs, preferences, and motivators. A one-size-fits-all approach may not work, as people vary in what they want, need, and value.</a:t>
          </a:r>
          <a:endParaRPr lang="en-US" sz="1700" kern="1200"/>
        </a:p>
      </dsp:txBody>
      <dsp:txXfrm>
        <a:off x="59228" y="1589528"/>
        <a:ext cx="6782056" cy="1094833"/>
      </dsp:txXfrm>
    </dsp:sp>
    <dsp:sp modelId="{5045B197-3A39-AF4B-B804-95FBF5AE0297}">
      <dsp:nvSpPr>
        <dsp:cNvPr id="0" name=""/>
        <dsp:cNvSpPr/>
      </dsp:nvSpPr>
      <dsp:spPr>
        <a:xfrm>
          <a:off x="0" y="2792550"/>
          <a:ext cx="6900512" cy="1213289"/>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Managers must consider factors such as age, gender, race, ethnicity, and disabilities, which shape both life experiences and work dynamics. These elements can significantly affect how individuals respond to motivational strategies.</a:t>
          </a:r>
          <a:endParaRPr lang="en-US" sz="1700" kern="1200"/>
        </a:p>
      </dsp:txBody>
      <dsp:txXfrm>
        <a:off x="59228" y="2851778"/>
        <a:ext cx="6782056" cy="1094833"/>
      </dsp:txXfrm>
    </dsp:sp>
    <dsp:sp modelId="{228524B8-56EF-6746-82F2-17F514176C05}">
      <dsp:nvSpPr>
        <dsp:cNvPr id="0" name=""/>
        <dsp:cNvSpPr/>
      </dsp:nvSpPr>
      <dsp:spPr>
        <a:xfrm>
          <a:off x="0" y="4054800"/>
          <a:ext cx="6900512" cy="121328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Creating effective reward packages and job designs that align with motivational needs is essential. Financial and non-financial rewards, as well as the structure and nature of tasks, play a key role in motivation and performance.</a:t>
          </a:r>
          <a:endParaRPr lang="en-US" sz="1700" kern="1200"/>
        </a:p>
      </dsp:txBody>
      <dsp:txXfrm>
        <a:off x="59228" y="4114028"/>
        <a:ext cx="6782056" cy="109483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77059" cy="513630"/>
          </a:xfrm>
          <a:prstGeom prst="rect">
            <a:avLst/>
          </a:prstGeom>
          <a:noFill/>
          <a:ln>
            <a:noFill/>
          </a:ln>
        </p:spPr>
        <p:txBody>
          <a:bodyPr spcFirstLastPara="1" wrap="square" lIns="86825" tIns="43400" rIns="86825" bIns="43400"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020751" y="1"/>
            <a:ext cx="3077059" cy="513630"/>
          </a:xfrm>
          <a:prstGeom prst="rect">
            <a:avLst/>
          </a:prstGeom>
          <a:noFill/>
          <a:ln>
            <a:noFill/>
          </a:ln>
        </p:spPr>
        <p:txBody>
          <a:bodyPr spcFirstLastPara="1" wrap="square" lIns="86825" tIns="43400" rIns="86825" bIns="43400"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32" y="4925075"/>
            <a:ext cx="5680036" cy="4030021"/>
          </a:xfrm>
          <a:prstGeom prst="rect">
            <a:avLst/>
          </a:prstGeom>
          <a:noFill/>
          <a:ln>
            <a:noFill/>
          </a:ln>
        </p:spPr>
        <p:txBody>
          <a:bodyPr spcFirstLastPara="1" wrap="square" lIns="86825" tIns="43400" rIns="86825" bIns="434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0983"/>
            <a:ext cx="3077059" cy="513630"/>
          </a:xfrm>
          <a:prstGeom prst="rect">
            <a:avLst/>
          </a:prstGeom>
          <a:noFill/>
          <a:ln>
            <a:noFill/>
          </a:ln>
        </p:spPr>
        <p:txBody>
          <a:bodyPr spcFirstLastPara="1" wrap="square" lIns="86825" tIns="43400" rIns="86825" bIns="43400"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020751" y="9720983"/>
            <a:ext cx="3077059" cy="513630"/>
          </a:xfrm>
          <a:prstGeom prst="rect">
            <a:avLst/>
          </a:prstGeom>
          <a:noFill/>
          <a:ln>
            <a:noFill/>
          </a:ln>
        </p:spPr>
        <p:txBody>
          <a:bodyPr spcFirstLastPara="1" wrap="square" lIns="86825" tIns="43400" rIns="86825" bIns="43400" anchor="b" anchorCtr="0">
            <a:noAutofit/>
          </a:bodyPr>
          <a:lstStyle/>
          <a:p>
            <a:pPr marL="0" marR="0" lvl="0" indent="0" algn="r" rtl="0">
              <a:spcBef>
                <a:spcPts val="0"/>
              </a:spcBef>
              <a:spcAft>
                <a:spcPts val="0"/>
              </a:spcAft>
              <a:buNone/>
            </a:pPr>
            <a:fld id="{00000000-1234-1234-1234-123412341234}" type="slidenum">
              <a:rPr lang="en-GB" sz="1100" b="0" i="0" u="none" strike="noStrike" cap="none">
                <a:solidFill>
                  <a:schemeClr val="dk1"/>
                </a:solidFill>
                <a:latin typeface="Calibri"/>
                <a:ea typeface="Calibri"/>
                <a:cs typeface="Calibri"/>
                <a:sym typeface="Calibri"/>
              </a:rPr>
              <a:t>‹#›</a:t>
            </a:fld>
            <a:endParaRPr sz="11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Slide Image Placeholder 1">
            <a:extLst>
              <a:ext uri="{FF2B5EF4-FFF2-40B4-BE49-F238E27FC236}">
                <a16:creationId xmlns:a16="http://schemas.microsoft.com/office/drawing/2014/main" id="{924C1156-A18D-EDEF-1BA3-3FA6F8E4E4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8" name="Notes Placeholder 2">
            <a:extLst>
              <a:ext uri="{FF2B5EF4-FFF2-40B4-BE49-F238E27FC236}">
                <a16:creationId xmlns:a16="http://schemas.microsoft.com/office/drawing/2014/main" id="{61EEFE7D-3619-CF44-DC72-7DABAEF9D5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4099" name="Slide Number Placeholder 3">
            <a:extLst>
              <a:ext uri="{FF2B5EF4-FFF2-40B4-BE49-F238E27FC236}">
                <a16:creationId xmlns:a16="http://schemas.microsoft.com/office/drawing/2014/main" id="{08B07006-87B3-9592-30C7-B465BFA531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92D447-32BA-FC4F-8CE8-38FE99979A33}" type="slidenum">
              <a:rPr lang="en-GB" altLang="en-US">
                <a:latin typeface="Arial" panose="020B0604020202020204" pitchFamily="34" charset="0"/>
              </a:rPr>
              <a:pPr>
                <a:spcBef>
                  <a:spcPct val="0"/>
                </a:spcBef>
              </a:pPr>
              <a:t>1</a:t>
            </a:fld>
            <a:endParaRPr lang="en-GB"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18D52D-62B8-484A-A399-780F9727C7ED}" type="slidenum">
              <a:rPr lang="en-GB" smtClean="0"/>
              <a:t>3</a:t>
            </a:fld>
            <a:endParaRPr lang="en-GB" dirty="0"/>
          </a:p>
        </p:txBody>
      </p:sp>
    </p:spTree>
    <p:extLst>
      <p:ext uri="{BB962C8B-B14F-4D97-AF65-F5344CB8AC3E}">
        <p14:creationId xmlns:p14="http://schemas.microsoft.com/office/powerpoint/2010/main" val="22825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18D52D-62B8-484A-A399-780F9727C7ED}" type="slidenum">
              <a:rPr lang="en-GB" smtClean="0"/>
              <a:t>16</a:t>
            </a:fld>
            <a:endParaRPr lang="en-GB" dirty="0"/>
          </a:p>
        </p:txBody>
      </p:sp>
    </p:spTree>
    <p:extLst>
      <p:ext uri="{BB962C8B-B14F-4D97-AF65-F5344CB8AC3E}">
        <p14:creationId xmlns:p14="http://schemas.microsoft.com/office/powerpoint/2010/main" val="1036937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618D52D-62B8-484A-A399-780F9727C7ED}" type="slidenum">
              <a:rPr lang="en-GB" smtClean="0"/>
              <a:t>19</a:t>
            </a:fld>
            <a:endParaRPr lang="en-GB" dirty="0"/>
          </a:p>
        </p:txBody>
      </p:sp>
    </p:spTree>
    <p:extLst>
      <p:ext uri="{BB962C8B-B14F-4D97-AF65-F5344CB8AC3E}">
        <p14:creationId xmlns:p14="http://schemas.microsoft.com/office/powerpoint/2010/main" val="2597390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18D52D-62B8-484A-A399-780F9727C7ED}" type="slidenum">
              <a:rPr lang="en-GB" smtClean="0"/>
              <a:t>20</a:t>
            </a:fld>
            <a:endParaRPr lang="en-GB" dirty="0"/>
          </a:p>
        </p:txBody>
      </p:sp>
    </p:spTree>
    <p:extLst>
      <p:ext uri="{BB962C8B-B14F-4D97-AF65-F5344CB8AC3E}">
        <p14:creationId xmlns:p14="http://schemas.microsoft.com/office/powerpoint/2010/main" val="952258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18D52D-62B8-484A-A399-780F9727C7ED}" type="slidenum">
              <a:rPr lang="en-GB" smtClean="0"/>
              <a:t>23</a:t>
            </a:fld>
            <a:endParaRPr lang="en-GB" dirty="0"/>
          </a:p>
        </p:txBody>
      </p:sp>
    </p:spTree>
    <p:extLst>
      <p:ext uri="{BB962C8B-B14F-4D97-AF65-F5344CB8AC3E}">
        <p14:creationId xmlns:p14="http://schemas.microsoft.com/office/powerpoint/2010/main" val="656096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618D52D-62B8-484A-A399-780F9727C7ED}" type="slidenum">
              <a:rPr lang="en-GB" smtClean="0"/>
              <a:t>25</a:t>
            </a:fld>
            <a:endParaRPr lang="en-GB" dirty="0"/>
          </a:p>
        </p:txBody>
      </p:sp>
    </p:spTree>
    <p:extLst>
      <p:ext uri="{BB962C8B-B14F-4D97-AF65-F5344CB8AC3E}">
        <p14:creationId xmlns:p14="http://schemas.microsoft.com/office/powerpoint/2010/main" val="4291700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18D52D-62B8-484A-A399-780F9727C7ED}" type="slidenum">
              <a:rPr lang="en-GB" smtClean="0"/>
              <a:t>33</a:t>
            </a:fld>
            <a:endParaRPr lang="en-GB" dirty="0"/>
          </a:p>
        </p:txBody>
      </p:sp>
    </p:spTree>
    <p:extLst>
      <p:ext uri="{BB962C8B-B14F-4D97-AF65-F5344CB8AC3E}">
        <p14:creationId xmlns:p14="http://schemas.microsoft.com/office/powerpoint/2010/main" val="255585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618D52D-62B8-484A-A399-780F9727C7ED}" type="slidenum">
              <a:rPr lang="en-GB" smtClean="0"/>
              <a:t>39</a:t>
            </a:fld>
            <a:endParaRPr lang="en-GB" dirty="0"/>
          </a:p>
        </p:txBody>
      </p:sp>
    </p:spTree>
    <p:extLst>
      <p:ext uri="{BB962C8B-B14F-4D97-AF65-F5344CB8AC3E}">
        <p14:creationId xmlns:p14="http://schemas.microsoft.com/office/powerpoint/2010/main" val="708756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360722"/>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uk-UA" smtClean="0"/>
              <a:t>‹#›</a:t>
            </a:fld>
            <a:endParaRPr lang="uk-UA" dirty="0"/>
          </a:p>
        </p:txBody>
      </p:sp>
    </p:spTree>
    <p:extLst>
      <p:ext uri="{BB962C8B-B14F-4D97-AF65-F5344CB8AC3E}">
        <p14:creationId xmlns:p14="http://schemas.microsoft.com/office/powerpoint/2010/main" val="1371277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29268896"/>
      </p:ext>
    </p:extLst>
  </p:cSld>
  <p:clrMapOvr>
    <a:masterClrMapping/>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9287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68737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10/24/26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5672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234710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823790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806717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269472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2563012"/>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69035461"/>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m.a.griffin@Sheffield.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hyperlink" Target="https://app.wooclap.com/events/IPNHCOO/questions/6addfec4aa13a10c60712529" TargetMode="External"/><Relationship Id="rId7"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21.jpeg"/><Relationship Id="rId3" Type="http://schemas.openxmlformats.org/officeDocument/2006/relationships/diagramLayout" Target="../diagrams/layout4.xml"/><Relationship Id="rId7" Type="http://schemas.openxmlformats.org/officeDocument/2006/relationships/image" Target="../media/image15.png"/><Relationship Id="rId12" Type="http://schemas.openxmlformats.org/officeDocument/2006/relationships/image" Target="../media/image20.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image" Target="../media/image19.jpeg"/><Relationship Id="rId5" Type="http://schemas.openxmlformats.org/officeDocument/2006/relationships/diagramColors" Target="../diagrams/colors4.xml"/><Relationship Id="rId10" Type="http://schemas.openxmlformats.org/officeDocument/2006/relationships/image" Target="../media/image18.png"/><Relationship Id="rId4" Type="http://schemas.openxmlformats.org/officeDocument/2006/relationships/diagramQuickStyle" Target="../diagrams/quickStyle4.xml"/><Relationship Id="rId9"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s://www.youtube.com/watch?v=BJWPuiqznhI" TargetMode="Externa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jpeg"/></Relationships>
</file>

<file path=ppt/slides/_rels/slide12.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32.jpeg"/><Relationship Id="rId7" Type="http://schemas.openxmlformats.org/officeDocument/2006/relationships/hyperlink" Target="https://www.ebsco.com/research-starters/history/modern-times-film/" TargetMode="External"/><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hyperlink" Target="https://www.youtube.com/watch?v=ZdvEGPt4s0Y&amp;t=1s" TargetMode="External"/><Relationship Id="rId5" Type="http://schemas.openxmlformats.org/officeDocument/2006/relationships/hyperlink" Target="https://www.youtube.com/watch?v=DfGs2Y5WJ14" TargetMode="Externa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hyperlink" Target="https://www.youtube.com/watch?v=n_Cn8eFo7u8" TargetMode="Externa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9.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jpeg"/></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8xiwyk3ouuI" TargetMode="External"/><Relationship Id="rId2" Type="http://schemas.openxmlformats.org/officeDocument/2006/relationships/hyperlink" Target="https://www.youtube.com/watch?v=6kRgKu3rUcw" TargetMode="External"/><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tiff"/></Relationships>
</file>

<file path=ppt/slides/_rels/slide2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democracytocome.org/covids-hidden-scars-an-academic-art-installa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8.tiff"/><Relationship Id="rId4" Type="http://schemas.openxmlformats.org/officeDocument/2006/relationships/image" Target="../media/image47.jpe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9.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62.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UxeosFrLFH8" TargetMode="External"/><Relationship Id="rId2" Type="http://schemas.openxmlformats.org/officeDocument/2006/relationships/hyperlink" Target="http://www.youtube.com/watch?v=G95v43aHuN8" TargetMode="Externa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D70D3B-7D27-3029-031E-CA48B79E0EAB}"/>
              </a:ext>
            </a:extLst>
          </p:cNvPr>
          <p:cNvSpPr>
            <a:spLocks noGrp="1"/>
          </p:cNvSpPr>
          <p:nvPr>
            <p:ph type="title"/>
          </p:nvPr>
        </p:nvSpPr>
        <p:spPr>
          <a:xfrm>
            <a:off x="818982" y="4241281"/>
            <a:ext cx="4150581" cy="1800165"/>
          </a:xfrm>
        </p:spPr>
        <p:txBody>
          <a:bodyPr anchor="t">
            <a:normAutofit fontScale="90000"/>
          </a:bodyPr>
          <a:lstStyle/>
          <a:p>
            <a:pPr algn="r">
              <a:lnSpc>
                <a:spcPct val="100000"/>
              </a:lnSpc>
              <a:defRPr/>
            </a:pPr>
            <a:r>
              <a:rPr lang="en-GB" altLang="en-US" sz="2200" b="1" dirty="0"/>
              <a:t>MGT650</a:t>
            </a:r>
            <a:br>
              <a:rPr lang="en-GB" altLang="en-US" sz="2200" b="1" dirty="0"/>
            </a:br>
            <a:r>
              <a:rPr lang="en-GB" altLang="en-US" sz="2200" b="1" dirty="0"/>
              <a:t>Managing People in Organisations</a:t>
            </a:r>
            <a:br>
              <a:rPr lang="en-GB" altLang="en-US" sz="2200" b="1" dirty="0"/>
            </a:br>
            <a:r>
              <a:rPr lang="en-GB" altLang="en-US" sz="2200" b="1" dirty="0"/>
              <a:t>October 2026</a:t>
            </a:r>
            <a:br>
              <a:rPr lang="en-GB" altLang="en-US" sz="2200" b="1" dirty="0"/>
            </a:br>
            <a:br>
              <a:rPr lang="en-GB" altLang="en-US" sz="2200" dirty="0"/>
            </a:br>
            <a:endParaRPr lang="en-GB" sz="2200" dirty="0"/>
          </a:p>
        </p:txBody>
      </p:sp>
      <p:pic>
        <p:nvPicPr>
          <p:cNvPr id="4" name="Picture 3" descr="The logo for Sheffield University Management School which is a shield and wording. ">
            <a:extLst>
              <a:ext uri="{FF2B5EF4-FFF2-40B4-BE49-F238E27FC236}">
                <a16:creationId xmlns:a16="http://schemas.microsoft.com/office/drawing/2014/main" id="{4335B2E9-D591-0790-4FAB-C92F3A489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666" y="358183"/>
            <a:ext cx="6539152" cy="1585745"/>
          </a:xfrm>
          <a:prstGeom prst="rect">
            <a:avLst/>
          </a:prstGeom>
        </p:spPr>
      </p:pic>
      <p:sp>
        <p:nvSpPr>
          <p:cNvPr id="3075" name="Content Placeholder 2">
            <a:extLst>
              <a:ext uri="{FF2B5EF4-FFF2-40B4-BE49-F238E27FC236}">
                <a16:creationId xmlns:a16="http://schemas.microsoft.com/office/drawing/2014/main" id="{FCA79E15-BAED-4C41-3DE5-392519107EFD}"/>
              </a:ext>
            </a:extLst>
          </p:cNvPr>
          <p:cNvSpPr>
            <a:spLocks noGrp="1"/>
          </p:cNvSpPr>
          <p:nvPr>
            <p:ph idx="1"/>
          </p:nvPr>
        </p:nvSpPr>
        <p:spPr>
          <a:xfrm>
            <a:off x="5246415" y="4230094"/>
            <a:ext cx="6235268" cy="1800164"/>
          </a:xfrm>
        </p:spPr>
        <p:txBody>
          <a:bodyPr anchor="t">
            <a:normAutofit/>
          </a:bodyPr>
          <a:lstStyle/>
          <a:p>
            <a:pPr marL="0" indent="0">
              <a:buNone/>
            </a:pPr>
            <a:r>
              <a:rPr lang="en-GB" altLang="en-US" sz="2000" dirty="0"/>
              <a:t>Dr Martyn Griffin</a:t>
            </a:r>
          </a:p>
          <a:p>
            <a:pPr marL="0" indent="0">
              <a:buNone/>
            </a:pPr>
            <a:r>
              <a:rPr lang="en-GB" altLang="en-US" sz="2000" dirty="0">
                <a:hlinkClick r:id="rId4"/>
              </a:rPr>
              <a:t>m.a.griffin@Sheffield.ac.uk</a:t>
            </a:r>
            <a:r>
              <a:rPr lang="en-GB" altLang="en-US" sz="2000" dirty="0"/>
              <a:t> </a:t>
            </a:r>
          </a:p>
          <a:p>
            <a:pPr marL="0" indent="0">
              <a:buNone/>
            </a:pPr>
            <a:r>
              <a:rPr lang="en-GB" altLang="en-US" sz="2000" dirty="0"/>
              <a:t>Sheffield University Management School</a:t>
            </a:r>
          </a:p>
          <a:p>
            <a:pPr marL="0" indent="0">
              <a:buNone/>
            </a:pPr>
            <a:endParaRPr lang="en-GB" altLang="en-US" sz="2000" dirty="0"/>
          </a:p>
          <a:p>
            <a:pPr marL="0" indent="0">
              <a:buNone/>
            </a:pPr>
            <a:endParaRPr lang="en-GB" altLang="en-US" sz="2000" dirty="0"/>
          </a:p>
        </p:txBody>
      </p:sp>
      <p:sp>
        <p:nvSpPr>
          <p:cNvPr id="3082" name="Rectangle 308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4" name="Rectangle 308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EE1AB04-E727-0EF1-EF88-0B4E2FA9704E}"/>
              </a:ext>
            </a:extLst>
          </p:cNvPr>
          <p:cNvSpPr txBox="1"/>
          <p:nvPr/>
        </p:nvSpPr>
        <p:spPr>
          <a:xfrm>
            <a:off x="2585180" y="2721114"/>
            <a:ext cx="6422721" cy="707886"/>
          </a:xfrm>
          <a:prstGeom prst="rect">
            <a:avLst/>
          </a:prstGeom>
          <a:noFill/>
        </p:spPr>
        <p:txBody>
          <a:bodyPr wrap="square" rtlCol="0">
            <a:spAutoFit/>
          </a:bodyPr>
          <a:lstStyle/>
          <a:p>
            <a:pPr algn="ctr"/>
            <a:r>
              <a:rPr lang="en-US" sz="4000" b="1" dirty="0"/>
              <a:t>Motivating People at 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rPr>
              <a:t>Learning Objectives</a:t>
            </a:r>
            <a:endParaRPr lang="en-US">
              <a:solidFill>
                <a:srgbClr val="FFFFFF"/>
              </a:solidFill>
            </a:endParaRP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marL="571500" indent="-457200"/>
            <a:r>
              <a:rPr lang="en-GB" sz="2400"/>
              <a:t>Gain insight into various theories that explain workplace motivation.</a:t>
            </a:r>
          </a:p>
          <a:p>
            <a:pPr marL="571500" indent="-457200"/>
            <a:r>
              <a:rPr lang="en-GB" sz="2400"/>
              <a:t>Assess the strengths and limitations of these motivation theories, examining both academic research and practical implications.</a:t>
            </a:r>
          </a:p>
          <a:p>
            <a:pPr marL="571500" indent="-457200"/>
            <a:r>
              <a:rPr lang="en-GB" sz="2400"/>
              <a:t>Learn how to effectively apply motivational theories and concepts in real-world workplace settings.</a:t>
            </a:r>
          </a:p>
          <a:p>
            <a:pPr marL="571500" indent="-457200"/>
            <a:r>
              <a:rPr lang="en-GB" sz="2400"/>
              <a:t>Stay informed about emerging trends and future directions in the study of workplace motivation.</a:t>
            </a:r>
          </a:p>
          <a:p>
            <a:pPr marL="571500" indent="-457200"/>
            <a:r>
              <a:rPr lang="en-GB" sz="2400"/>
              <a:t>Explore the link between motivation, rewards and job design. </a:t>
            </a:r>
          </a:p>
          <a:p>
            <a:pPr marL="571500" indent="-457200"/>
            <a:endParaRPr lang="en-GB" sz="2400"/>
          </a:p>
        </p:txBody>
      </p:sp>
    </p:spTree>
    <p:extLst>
      <p:ext uri="{BB962C8B-B14F-4D97-AF65-F5344CB8AC3E}">
        <p14:creationId xmlns:p14="http://schemas.microsoft.com/office/powerpoint/2010/main" val="59858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886" y="370353"/>
            <a:ext cx="10178322" cy="1492132"/>
          </a:xfrm>
        </p:spPr>
        <p:txBody>
          <a:bodyPr>
            <a:normAutofit/>
          </a:bodyPr>
          <a:lstStyle/>
          <a:p>
            <a:pPr algn="l"/>
            <a:r>
              <a:rPr lang="en-GB" dirty="0"/>
              <a:t>Understanding Motivation</a:t>
            </a:r>
          </a:p>
        </p:txBody>
      </p:sp>
      <p:graphicFrame>
        <p:nvGraphicFramePr>
          <p:cNvPr id="5" name="Content Placeholder 2">
            <a:extLst>
              <a:ext uri="{FF2B5EF4-FFF2-40B4-BE49-F238E27FC236}">
                <a16:creationId xmlns:a16="http://schemas.microsoft.com/office/drawing/2014/main" id="{92CF8143-20E2-2F50-2A46-8E0C056930FF}"/>
              </a:ext>
            </a:extLst>
          </p:cNvPr>
          <p:cNvGraphicFramePr>
            <a:graphicFrameLocks noGrp="1"/>
          </p:cNvGraphicFramePr>
          <p:nvPr>
            <p:ph idx="1"/>
          </p:nvPr>
        </p:nvGraphicFramePr>
        <p:xfrm>
          <a:off x="360608" y="1675757"/>
          <a:ext cx="11384924" cy="48118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3324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4631" y="259217"/>
            <a:ext cx="9372599" cy="932390"/>
          </a:xfrm>
        </p:spPr>
        <p:txBody>
          <a:bodyPr>
            <a:noAutofit/>
          </a:bodyPr>
          <a:lstStyle/>
          <a:p>
            <a:r>
              <a:rPr lang="en-GB" sz="4400" b="0" dirty="0"/>
              <a:t>Intrinsic &amp; Extrinsic Motivation</a:t>
            </a:r>
          </a:p>
        </p:txBody>
      </p:sp>
      <p:graphicFrame>
        <p:nvGraphicFramePr>
          <p:cNvPr id="11" name="Content Placeholder 6">
            <a:extLst>
              <a:ext uri="{FF2B5EF4-FFF2-40B4-BE49-F238E27FC236}">
                <a16:creationId xmlns:a16="http://schemas.microsoft.com/office/drawing/2014/main" id="{5D9D6FF6-6FA6-08A7-EF68-EF75693452D8}"/>
              </a:ext>
            </a:extLst>
          </p:cNvPr>
          <p:cNvGraphicFramePr>
            <a:graphicFrameLocks noGrp="1"/>
          </p:cNvGraphicFramePr>
          <p:nvPr>
            <p:ph sz="half" idx="2"/>
          </p:nvPr>
        </p:nvGraphicFramePr>
        <p:xfrm>
          <a:off x="296779" y="1191607"/>
          <a:ext cx="11598441" cy="55465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0324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3B8867-BA2B-ADEE-0DBB-A167D654FD8E}"/>
              </a:ext>
            </a:extLst>
          </p:cNvPr>
          <p:cNvSpPr>
            <a:spLocks noGrp="1"/>
          </p:cNvSpPr>
          <p:nvPr>
            <p:ph type="title"/>
          </p:nvPr>
        </p:nvSpPr>
        <p:spPr>
          <a:xfrm>
            <a:off x="798257" y="637523"/>
            <a:ext cx="3608896" cy="1690993"/>
          </a:xfrm>
        </p:spPr>
        <p:txBody>
          <a:bodyPr anchor="b">
            <a:normAutofit/>
          </a:bodyPr>
          <a:lstStyle/>
          <a:p>
            <a:r>
              <a:rPr lang="en-US" sz="3600" dirty="0">
                <a:solidFill>
                  <a:srgbClr val="FFFFFF"/>
                </a:solidFill>
              </a:rPr>
              <a:t>My workplace motivation journey...</a:t>
            </a:r>
          </a:p>
        </p:txBody>
      </p:sp>
      <p:pic>
        <p:nvPicPr>
          <p:cNvPr id="7" name="Picture 6">
            <a:extLst>
              <a:ext uri="{FF2B5EF4-FFF2-40B4-BE49-F238E27FC236}">
                <a16:creationId xmlns:a16="http://schemas.microsoft.com/office/drawing/2014/main" id="{DA8A697E-62D1-2D6E-C6E4-C790306265EB}"/>
              </a:ext>
            </a:extLst>
          </p:cNvPr>
          <p:cNvPicPr>
            <a:picLocks noChangeAspect="1"/>
          </p:cNvPicPr>
          <p:nvPr/>
        </p:nvPicPr>
        <p:blipFill>
          <a:blip r:embed="rId2"/>
          <a:srcRect t="394" r="-8" b="10571"/>
          <a:stretch>
            <a:fillRect/>
          </a:stretch>
        </p:blipFill>
        <p:spPr>
          <a:xfrm>
            <a:off x="4968250" y="325905"/>
            <a:ext cx="2249424" cy="2002611"/>
          </a:xfrm>
          <a:prstGeom prst="rect">
            <a:avLst/>
          </a:prstGeom>
        </p:spPr>
      </p:pic>
      <p:sp>
        <p:nvSpPr>
          <p:cNvPr id="3" name="Content Placeholder 2">
            <a:extLst>
              <a:ext uri="{FF2B5EF4-FFF2-40B4-BE49-F238E27FC236}">
                <a16:creationId xmlns:a16="http://schemas.microsoft.com/office/drawing/2014/main" id="{068CCD8C-F00A-1B99-10E3-51155572B257}"/>
              </a:ext>
            </a:extLst>
          </p:cNvPr>
          <p:cNvSpPr>
            <a:spLocks noGrp="1"/>
          </p:cNvSpPr>
          <p:nvPr>
            <p:ph idx="1"/>
          </p:nvPr>
        </p:nvSpPr>
        <p:spPr>
          <a:xfrm>
            <a:off x="798256" y="2474260"/>
            <a:ext cx="3607930" cy="3677158"/>
          </a:xfrm>
        </p:spPr>
        <p:txBody>
          <a:bodyPr>
            <a:normAutofit fontScale="92500" lnSpcReduction="20000"/>
          </a:bodyPr>
          <a:lstStyle/>
          <a:p>
            <a:endParaRPr lang="en-US" sz="1700" dirty="0">
              <a:solidFill>
                <a:srgbClr val="FFFFFF"/>
              </a:solidFill>
            </a:endParaRPr>
          </a:p>
          <a:p>
            <a:endParaRPr lang="en-US" sz="1700" dirty="0">
              <a:solidFill>
                <a:srgbClr val="FFFFFF"/>
              </a:solidFill>
            </a:endParaRPr>
          </a:p>
          <a:p>
            <a:endParaRPr lang="en-US" sz="1700" dirty="0">
              <a:solidFill>
                <a:srgbClr val="FFFFFF"/>
              </a:solidFill>
            </a:endParaRPr>
          </a:p>
          <a:p>
            <a:pPr marL="0" indent="0">
              <a:buNone/>
            </a:pPr>
            <a:endParaRPr lang="en-US" sz="1700" dirty="0">
              <a:solidFill>
                <a:srgbClr val="FFFFFF"/>
              </a:solidFill>
            </a:endParaRPr>
          </a:p>
          <a:p>
            <a:r>
              <a:rPr lang="en-US" sz="1700" dirty="0">
                <a:solidFill>
                  <a:srgbClr val="FFFFFF"/>
                </a:solidFill>
              </a:rPr>
              <a:t>Share your own job/workplace motivation </a:t>
            </a:r>
          </a:p>
          <a:p>
            <a:endParaRPr lang="en-US" sz="1700" dirty="0">
              <a:solidFill>
                <a:srgbClr val="FFFFFF"/>
              </a:solidFill>
            </a:endParaRPr>
          </a:p>
          <a:p>
            <a:endParaRPr lang="en-US" sz="1700" dirty="0">
              <a:solidFill>
                <a:srgbClr val="FFFFFF"/>
              </a:solidFill>
            </a:endParaRPr>
          </a:p>
          <a:p>
            <a:endParaRPr lang="en-US" sz="1700" dirty="0">
              <a:solidFill>
                <a:srgbClr val="FFFFFF"/>
              </a:solidFill>
            </a:endParaRPr>
          </a:p>
          <a:p>
            <a:r>
              <a:rPr lang="en-US" sz="1700" dirty="0">
                <a:solidFill>
                  <a:srgbClr val="FFFFFF"/>
                </a:solidFill>
              </a:rPr>
              <a:t>Share your motivation for HRM course :</a:t>
            </a:r>
          </a:p>
          <a:p>
            <a:pPr marL="0" indent="0">
              <a:buNone/>
            </a:pPr>
            <a:r>
              <a:rPr lang="en-US" sz="1700" dirty="0">
                <a:solidFill>
                  <a:srgbClr val="FFFFFF"/>
                </a:solidFill>
                <a:hlinkClick r:id="rId3"/>
              </a:rPr>
              <a:t>https://app.wooclap.com/events/IPNHCOO/questions/6addfec4aa13a10c60712529</a:t>
            </a:r>
            <a:endParaRPr lang="en-US" sz="1700" dirty="0">
              <a:solidFill>
                <a:srgbClr val="FFFFFF"/>
              </a:solidFill>
            </a:endParaRPr>
          </a:p>
          <a:p>
            <a:endParaRPr lang="en-US" sz="1700" dirty="0">
              <a:solidFill>
                <a:srgbClr val="FFFFFF"/>
              </a:solidFill>
            </a:endParaRPr>
          </a:p>
        </p:txBody>
      </p:sp>
      <p:pic>
        <p:nvPicPr>
          <p:cNvPr id="9" name="Picture 8">
            <a:extLst>
              <a:ext uri="{FF2B5EF4-FFF2-40B4-BE49-F238E27FC236}">
                <a16:creationId xmlns:a16="http://schemas.microsoft.com/office/drawing/2014/main" id="{E09466C2-92CE-29E8-4B35-8004BFBE7357}"/>
              </a:ext>
            </a:extLst>
          </p:cNvPr>
          <p:cNvPicPr>
            <a:picLocks noChangeAspect="1"/>
          </p:cNvPicPr>
          <p:nvPr/>
        </p:nvPicPr>
        <p:blipFill>
          <a:blip r:embed="rId4"/>
          <a:srcRect l="8495" r="8672" b="7"/>
          <a:stretch>
            <a:fillRect/>
          </a:stretch>
        </p:blipFill>
        <p:spPr>
          <a:xfrm>
            <a:off x="4968251" y="2419956"/>
            <a:ext cx="2249424" cy="2002611"/>
          </a:xfrm>
          <a:prstGeom prst="rect">
            <a:avLst/>
          </a:prstGeom>
        </p:spPr>
      </p:pic>
      <p:pic>
        <p:nvPicPr>
          <p:cNvPr id="5" name="Picture 4">
            <a:extLst>
              <a:ext uri="{FF2B5EF4-FFF2-40B4-BE49-F238E27FC236}">
                <a16:creationId xmlns:a16="http://schemas.microsoft.com/office/drawing/2014/main" id="{DEDA6BB5-C59E-EB99-20F1-C97DCC44AA08}"/>
              </a:ext>
            </a:extLst>
          </p:cNvPr>
          <p:cNvPicPr>
            <a:picLocks noChangeAspect="1"/>
          </p:cNvPicPr>
          <p:nvPr/>
        </p:nvPicPr>
        <p:blipFill>
          <a:blip r:embed="rId5"/>
          <a:srcRect l="11797" r="4712" b="3"/>
          <a:stretch>
            <a:fillRect/>
          </a:stretch>
        </p:blipFill>
        <p:spPr>
          <a:xfrm>
            <a:off x="7295203" y="325904"/>
            <a:ext cx="4570677" cy="3065565"/>
          </a:xfrm>
          <a:prstGeom prst="rect">
            <a:avLst/>
          </a:prstGeom>
        </p:spPr>
      </p:pic>
      <p:pic>
        <p:nvPicPr>
          <p:cNvPr id="8" name="Picture 7">
            <a:extLst>
              <a:ext uri="{FF2B5EF4-FFF2-40B4-BE49-F238E27FC236}">
                <a16:creationId xmlns:a16="http://schemas.microsoft.com/office/drawing/2014/main" id="{F4364018-C0D4-FAAB-1DB8-5F56B7038B1C}"/>
              </a:ext>
            </a:extLst>
          </p:cNvPr>
          <p:cNvPicPr>
            <a:picLocks noChangeAspect="1"/>
          </p:cNvPicPr>
          <p:nvPr/>
        </p:nvPicPr>
        <p:blipFill>
          <a:blip r:embed="rId6"/>
          <a:srcRect l="18857" r="6250" b="-9"/>
          <a:stretch>
            <a:fillRect/>
          </a:stretch>
        </p:blipFill>
        <p:spPr>
          <a:xfrm>
            <a:off x="4976656" y="4511800"/>
            <a:ext cx="2249424" cy="2002536"/>
          </a:xfrm>
          <a:prstGeom prst="rect">
            <a:avLst/>
          </a:prstGeom>
        </p:spPr>
      </p:pic>
      <p:pic>
        <p:nvPicPr>
          <p:cNvPr id="6" name="Picture 5">
            <a:extLst>
              <a:ext uri="{FF2B5EF4-FFF2-40B4-BE49-F238E27FC236}">
                <a16:creationId xmlns:a16="http://schemas.microsoft.com/office/drawing/2014/main" id="{7FBCCB66-7CD7-3AD0-A82C-E49FBA9043B2}"/>
              </a:ext>
            </a:extLst>
          </p:cNvPr>
          <p:cNvPicPr>
            <a:picLocks noChangeAspect="1"/>
          </p:cNvPicPr>
          <p:nvPr/>
        </p:nvPicPr>
        <p:blipFill>
          <a:blip r:embed="rId7"/>
          <a:srcRect t="10520" r="-1" b="682"/>
          <a:stretch>
            <a:fillRect/>
          </a:stretch>
        </p:blipFill>
        <p:spPr>
          <a:xfrm>
            <a:off x="7295203" y="3474720"/>
            <a:ext cx="4570677" cy="3053487"/>
          </a:xfrm>
          <a:prstGeom prst="rect">
            <a:avLst/>
          </a:prstGeom>
        </p:spPr>
      </p:pic>
    </p:spTree>
    <p:extLst>
      <p:ext uri="{BB962C8B-B14F-4D97-AF65-F5344CB8AC3E}">
        <p14:creationId xmlns:p14="http://schemas.microsoft.com/office/powerpoint/2010/main" val="39677877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6E74137F-FDA1-B061-7FAA-A282B70B5788}"/>
              </a:ext>
            </a:extLst>
          </p:cNvPr>
          <p:cNvSpPr>
            <a:spLocks noGrp="1"/>
          </p:cNvSpPr>
          <p:nvPr>
            <p:ph type="title"/>
          </p:nvPr>
        </p:nvSpPr>
        <p:spPr>
          <a:xfrm>
            <a:off x="838200" y="365125"/>
            <a:ext cx="10515599" cy="1325563"/>
          </a:xfrm>
        </p:spPr>
        <p:txBody>
          <a:bodyPr>
            <a:normAutofit/>
          </a:bodyPr>
          <a:lstStyle/>
          <a:p>
            <a:r>
              <a:rPr lang="en-US"/>
              <a:t>Employee Potential: HRM Key Focus Areas</a:t>
            </a:r>
          </a:p>
        </p:txBody>
      </p:sp>
      <p:sp>
        <p:nvSpPr>
          <p:cNvPr id="3" name="Content Placeholder 2">
            <a:extLst>
              <a:ext uri="{FF2B5EF4-FFF2-40B4-BE49-F238E27FC236}">
                <a16:creationId xmlns:a16="http://schemas.microsoft.com/office/drawing/2014/main" id="{F1817CF7-0649-0532-08AC-FDF0DBAB5601}"/>
              </a:ext>
            </a:extLst>
          </p:cNvPr>
          <p:cNvSpPr>
            <a:spLocks noGrp="1"/>
          </p:cNvSpPr>
          <p:nvPr>
            <p:ph idx="1"/>
          </p:nvPr>
        </p:nvSpPr>
        <p:spPr>
          <a:xfrm>
            <a:off x="838200" y="1825625"/>
            <a:ext cx="5393361" cy="4351338"/>
          </a:xfrm>
        </p:spPr>
        <p:txBody>
          <a:bodyPr>
            <a:normAutofit/>
          </a:bodyPr>
          <a:lstStyle/>
          <a:p>
            <a:pPr marL="0" indent="0">
              <a:buNone/>
            </a:pPr>
            <a:r>
              <a:rPr lang="en-US" sz="1800" dirty="0"/>
              <a:t>Organisations naturally want to harness the maximum potential from their workers. </a:t>
            </a:r>
            <a:endParaRPr lang="en-US" sz="1800"/>
          </a:p>
          <a:p>
            <a:pPr marL="0" indent="0">
              <a:buNone/>
            </a:pPr>
            <a:r>
              <a:rPr lang="en-US" sz="1800" dirty="0"/>
              <a:t>Key areas they may choose to focus on include:</a:t>
            </a:r>
            <a:endParaRPr lang="en-US" sz="1800"/>
          </a:p>
          <a:p>
            <a:r>
              <a:rPr lang="en-US" sz="1800" dirty="0"/>
              <a:t>Ensuring employees meet or exceed expectations in work output and efficiency.</a:t>
            </a:r>
            <a:endParaRPr lang="en-US" sz="1800"/>
          </a:p>
          <a:p>
            <a:r>
              <a:rPr lang="en-US" sz="1800" dirty="0"/>
              <a:t>Employing people who willingly go beyond their basic job requirements.</a:t>
            </a:r>
            <a:endParaRPr lang="en-US" sz="1800"/>
          </a:p>
          <a:p>
            <a:r>
              <a:rPr lang="en-US" sz="1800" dirty="0"/>
              <a:t>Encouraging employees to foster a good rapport with their coworkers and managers.</a:t>
            </a:r>
            <a:endParaRPr lang="en-US" sz="1800"/>
          </a:p>
          <a:p>
            <a:r>
              <a:rPr lang="en-US" sz="1800" dirty="0"/>
              <a:t>A workforce who are loyal to their organization and show commitment to its success.</a:t>
            </a:r>
            <a:endParaRPr lang="en-US" sz="1800"/>
          </a:p>
          <a:p>
            <a:pPr marL="0" indent="0">
              <a:buNone/>
            </a:pPr>
            <a:r>
              <a:rPr lang="en-US" sz="1800"/>
              <a:t>HRM often focuses on fostering these behaviors to ensure that the organisation reaps the benefits of a motivated workforce!</a:t>
            </a:r>
          </a:p>
        </p:txBody>
      </p:sp>
      <p:sp>
        <p:nvSpPr>
          <p:cNvPr id="14" name="Oval 1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Graphic 6" descr="Business Growth">
            <a:extLst>
              <a:ext uri="{FF2B5EF4-FFF2-40B4-BE49-F238E27FC236}">
                <a16:creationId xmlns:a16="http://schemas.microsoft.com/office/drawing/2014/main" id="{DF9D2F07-86EE-80CA-DA31-084AD6EF72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09962" y="1929820"/>
            <a:ext cx="4221597" cy="4221597"/>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Tree>
    <p:extLst>
      <p:ext uri="{BB962C8B-B14F-4D97-AF65-F5344CB8AC3E}">
        <p14:creationId xmlns:p14="http://schemas.microsoft.com/office/powerpoint/2010/main" val="197182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673A1-4ADB-A740-5C4C-2E3C372287AF}"/>
              </a:ext>
            </a:extLst>
          </p:cNvPr>
          <p:cNvSpPr>
            <a:spLocks noGrp="1"/>
          </p:cNvSpPr>
          <p:nvPr>
            <p:ph type="title"/>
          </p:nvPr>
        </p:nvSpPr>
        <p:spPr/>
        <p:txBody>
          <a:bodyPr/>
          <a:lstStyle/>
          <a:p>
            <a:r>
              <a:rPr lang="en-US" dirty="0"/>
              <a:t>Motivation: Why does it matter?</a:t>
            </a:r>
          </a:p>
        </p:txBody>
      </p:sp>
      <p:graphicFrame>
        <p:nvGraphicFramePr>
          <p:cNvPr id="5" name="Content Placeholder 2">
            <a:extLst>
              <a:ext uri="{FF2B5EF4-FFF2-40B4-BE49-F238E27FC236}">
                <a16:creationId xmlns:a16="http://schemas.microsoft.com/office/drawing/2014/main" id="{4A816239-45EB-0377-27D4-6CF88CD749B6}"/>
              </a:ext>
            </a:extLst>
          </p:cNvPr>
          <p:cNvGraphicFramePr>
            <a:graphicFrameLocks noGrp="1"/>
          </p:cNvGraphicFramePr>
          <p:nvPr>
            <p:ph idx="1"/>
          </p:nvPr>
        </p:nvGraphicFramePr>
        <p:xfrm>
          <a:off x="409074" y="1825624"/>
          <a:ext cx="10944726" cy="4755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7834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AA87-28D1-FEF4-870A-62F15C674DD3}"/>
              </a:ext>
            </a:extLst>
          </p:cNvPr>
          <p:cNvSpPr>
            <a:spLocks noGrp="1"/>
          </p:cNvSpPr>
          <p:nvPr>
            <p:ph type="title"/>
          </p:nvPr>
        </p:nvSpPr>
        <p:spPr/>
        <p:txBody>
          <a:bodyPr/>
          <a:lstStyle/>
          <a:p>
            <a:r>
              <a:rPr lang="en-US" b="1" dirty="0">
                <a:solidFill>
                  <a:schemeClr val="accent4">
                    <a:lumMod val="10000"/>
                  </a:schemeClr>
                </a:solidFill>
              </a:rPr>
              <a:t>Motivation and Organizational Control </a:t>
            </a:r>
            <a:br>
              <a:rPr lang="en-US" b="1" dirty="0">
                <a:solidFill>
                  <a:schemeClr val="accent4">
                    <a:lumMod val="10000"/>
                  </a:schemeClr>
                </a:solidFill>
              </a:rPr>
            </a:br>
            <a:endParaRPr lang="en-US" dirty="0"/>
          </a:p>
        </p:txBody>
      </p:sp>
      <p:graphicFrame>
        <p:nvGraphicFramePr>
          <p:cNvPr id="20" name="Content Placeholder 3">
            <a:extLst>
              <a:ext uri="{FF2B5EF4-FFF2-40B4-BE49-F238E27FC236}">
                <a16:creationId xmlns:a16="http://schemas.microsoft.com/office/drawing/2014/main" id="{913D2712-21A1-75EB-A566-E302F17D82A7}"/>
              </a:ext>
            </a:extLst>
          </p:cNvPr>
          <p:cNvGraphicFramePr>
            <a:graphicFrameLocks noGrp="1"/>
          </p:cNvGraphicFramePr>
          <p:nvPr>
            <p:ph idx="1"/>
          </p:nvPr>
        </p:nvGraphicFramePr>
        <p:xfrm>
          <a:off x="838200" y="1825625"/>
          <a:ext cx="10515600" cy="25467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E0596190-D3C4-4771-EA56-6135994ABA46}"/>
              </a:ext>
            </a:extLst>
          </p:cNvPr>
          <p:cNvPicPr>
            <a:picLocks noChangeAspect="1"/>
          </p:cNvPicPr>
          <p:nvPr/>
        </p:nvPicPr>
        <p:blipFill>
          <a:blip r:embed="rId7"/>
          <a:stretch>
            <a:fillRect/>
          </a:stretch>
        </p:blipFill>
        <p:spPr>
          <a:xfrm>
            <a:off x="140285" y="5140113"/>
            <a:ext cx="1638300" cy="1231900"/>
          </a:xfrm>
          <a:prstGeom prst="rect">
            <a:avLst/>
          </a:prstGeom>
        </p:spPr>
      </p:pic>
      <p:pic>
        <p:nvPicPr>
          <p:cNvPr id="6" name="Picture 5">
            <a:extLst>
              <a:ext uri="{FF2B5EF4-FFF2-40B4-BE49-F238E27FC236}">
                <a16:creationId xmlns:a16="http://schemas.microsoft.com/office/drawing/2014/main" id="{E20C76B4-DBFC-B494-E4B4-A1D0991DF6E2}"/>
              </a:ext>
            </a:extLst>
          </p:cNvPr>
          <p:cNvPicPr>
            <a:picLocks noChangeAspect="1"/>
          </p:cNvPicPr>
          <p:nvPr/>
        </p:nvPicPr>
        <p:blipFill>
          <a:blip r:embed="rId8"/>
          <a:stretch>
            <a:fillRect/>
          </a:stretch>
        </p:blipFill>
        <p:spPr>
          <a:xfrm>
            <a:off x="1778585" y="5140113"/>
            <a:ext cx="1739900" cy="1155700"/>
          </a:xfrm>
          <a:prstGeom prst="rect">
            <a:avLst/>
          </a:prstGeom>
        </p:spPr>
      </p:pic>
      <p:pic>
        <p:nvPicPr>
          <p:cNvPr id="9" name="Picture 8">
            <a:extLst>
              <a:ext uri="{FF2B5EF4-FFF2-40B4-BE49-F238E27FC236}">
                <a16:creationId xmlns:a16="http://schemas.microsoft.com/office/drawing/2014/main" id="{7D32FB98-AD2D-25B7-3D3B-3A500F5A1113}"/>
              </a:ext>
            </a:extLst>
          </p:cNvPr>
          <p:cNvPicPr>
            <a:picLocks noChangeAspect="1"/>
          </p:cNvPicPr>
          <p:nvPr/>
        </p:nvPicPr>
        <p:blipFill>
          <a:blip r:embed="rId9"/>
          <a:stretch>
            <a:fillRect/>
          </a:stretch>
        </p:blipFill>
        <p:spPr>
          <a:xfrm>
            <a:off x="5271085" y="5216313"/>
            <a:ext cx="1879600" cy="1079500"/>
          </a:xfrm>
          <a:prstGeom prst="rect">
            <a:avLst/>
          </a:prstGeom>
        </p:spPr>
      </p:pic>
      <p:pic>
        <p:nvPicPr>
          <p:cNvPr id="12" name="Picture 11">
            <a:extLst>
              <a:ext uri="{FF2B5EF4-FFF2-40B4-BE49-F238E27FC236}">
                <a16:creationId xmlns:a16="http://schemas.microsoft.com/office/drawing/2014/main" id="{44D6248D-31B2-988F-E8E0-8EC64B2C4CBC}"/>
              </a:ext>
            </a:extLst>
          </p:cNvPr>
          <p:cNvPicPr>
            <a:picLocks noChangeAspect="1"/>
          </p:cNvPicPr>
          <p:nvPr/>
        </p:nvPicPr>
        <p:blipFill>
          <a:blip r:embed="rId10"/>
          <a:stretch>
            <a:fillRect/>
          </a:stretch>
        </p:blipFill>
        <p:spPr>
          <a:xfrm>
            <a:off x="7205659" y="5284621"/>
            <a:ext cx="1467858" cy="1011191"/>
          </a:xfrm>
          <a:prstGeom prst="rect">
            <a:avLst/>
          </a:prstGeom>
        </p:spPr>
      </p:pic>
      <p:pic>
        <p:nvPicPr>
          <p:cNvPr id="14" name="Picture 13">
            <a:extLst>
              <a:ext uri="{FF2B5EF4-FFF2-40B4-BE49-F238E27FC236}">
                <a16:creationId xmlns:a16="http://schemas.microsoft.com/office/drawing/2014/main" id="{5E0F5575-93F0-0C7A-D1DC-EFAF66CF26DC}"/>
              </a:ext>
            </a:extLst>
          </p:cNvPr>
          <p:cNvPicPr>
            <a:picLocks noChangeAspect="1"/>
          </p:cNvPicPr>
          <p:nvPr/>
        </p:nvPicPr>
        <p:blipFill>
          <a:blip r:embed="rId11"/>
          <a:stretch>
            <a:fillRect/>
          </a:stretch>
        </p:blipFill>
        <p:spPr>
          <a:xfrm>
            <a:off x="10230736" y="5140113"/>
            <a:ext cx="1714500" cy="1138828"/>
          </a:xfrm>
          <a:prstGeom prst="rect">
            <a:avLst/>
          </a:prstGeom>
        </p:spPr>
      </p:pic>
      <p:pic>
        <p:nvPicPr>
          <p:cNvPr id="15" name="Content Placeholder 5">
            <a:extLst>
              <a:ext uri="{FF2B5EF4-FFF2-40B4-BE49-F238E27FC236}">
                <a16:creationId xmlns:a16="http://schemas.microsoft.com/office/drawing/2014/main" id="{3AD573DE-4620-031F-E31C-B9CB6D49A1FE}"/>
              </a:ext>
            </a:extLst>
          </p:cNvPr>
          <p:cNvPicPr>
            <a:picLocks noChangeAspect="1"/>
          </p:cNvPicPr>
          <p:nvPr/>
        </p:nvPicPr>
        <p:blipFill>
          <a:blip r:embed="rId12"/>
          <a:stretch>
            <a:fillRect/>
          </a:stretch>
        </p:blipFill>
        <p:spPr>
          <a:xfrm>
            <a:off x="3505785" y="5216313"/>
            <a:ext cx="1803400" cy="1117600"/>
          </a:xfrm>
          <a:prstGeom prst="rect">
            <a:avLst/>
          </a:prstGeom>
        </p:spPr>
      </p:pic>
      <p:pic>
        <p:nvPicPr>
          <p:cNvPr id="16" name="Picture 15">
            <a:extLst>
              <a:ext uri="{FF2B5EF4-FFF2-40B4-BE49-F238E27FC236}">
                <a16:creationId xmlns:a16="http://schemas.microsoft.com/office/drawing/2014/main" id="{EA433DBF-89DA-805D-C20F-BA79B7B68953}"/>
              </a:ext>
            </a:extLst>
          </p:cNvPr>
          <p:cNvPicPr>
            <a:picLocks noChangeAspect="1"/>
          </p:cNvPicPr>
          <p:nvPr/>
        </p:nvPicPr>
        <p:blipFill>
          <a:blip r:embed="rId13"/>
          <a:stretch>
            <a:fillRect/>
          </a:stretch>
        </p:blipFill>
        <p:spPr>
          <a:xfrm>
            <a:off x="8658810" y="5419512"/>
            <a:ext cx="1562100" cy="876300"/>
          </a:xfrm>
          <a:prstGeom prst="rect">
            <a:avLst/>
          </a:prstGeom>
        </p:spPr>
      </p:pic>
    </p:spTree>
    <p:extLst>
      <p:ext uri="{BB962C8B-B14F-4D97-AF65-F5344CB8AC3E}">
        <p14:creationId xmlns:p14="http://schemas.microsoft.com/office/powerpoint/2010/main" val="2361700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3F59054-3394-4D87-8BD0-A28DCD47F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F60D4E9-0283-7115-FF68-1FD8CB812FD5}"/>
              </a:ext>
            </a:extLst>
          </p:cNvPr>
          <p:cNvPicPr>
            <a:picLocks noChangeAspect="1"/>
          </p:cNvPicPr>
          <p:nvPr/>
        </p:nvPicPr>
        <p:blipFill>
          <a:blip r:embed="rId2"/>
          <a:srcRect r="3915"/>
          <a:stretch>
            <a:fillRect/>
          </a:stretch>
        </p:blipFill>
        <p:spPr>
          <a:xfrm>
            <a:off x="7381653" y="0"/>
            <a:ext cx="4810347" cy="6857990"/>
          </a:xfrm>
          <a:custGeom>
            <a:avLst/>
            <a:gdLst/>
            <a:ahLst/>
            <a:cxnLst/>
            <a:rect l="l" t="t" r="r" b="b"/>
            <a:pathLst>
              <a:path w="4817171" h="6858000">
                <a:moveTo>
                  <a:pt x="22751" y="0"/>
                </a:moveTo>
                <a:lnTo>
                  <a:pt x="4817171" y="0"/>
                </a:lnTo>
                <a:lnTo>
                  <a:pt x="4817171" y="6858000"/>
                </a:lnTo>
                <a:lnTo>
                  <a:pt x="0" y="6858000"/>
                </a:lnTo>
                <a:lnTo>
                  <a:pt x="6679" y="6845555"/>
                </a:lnTo>
                <a:cubicBezTo>
                  <a:pt x="496584" y="5886487"/>
                  <a:pt x="786702" y="4695963"/>
                  <a:pt x="786702" y="3406233"/>
                </a:cubicBezTo>
                <a:cubicBezTo>
                  <a:pt x="786702" y="2215714"/>
                  <a:pt x="539501" y="1109724"/>
                  <a:pt x="116147" y="192283"/>
                </a:cubicBezTo>
                <a:close/>
              </a:path>
            </a:pathLst>
          </a:custGeom>
        </p:spPr>
      </p:pic>
      <p:pic>
        <p:nvPicPr>
          <p:cNvPr id="5" name="Picture 4">
            <a:extLst>
              <a:ext uri="{FF2B5EF4-FFF2-40B4-BE49-F238E27FC236}">
                <a16:creationId xmlns:a16="http://schemas.microsoft.com/office/drawing/2014/main" id="{B737DA2A-B786-18D9-82E6-09EA8795031D}"/>
              </a:ext>
            </a:extLst>
          </p:cNvPr>
          <p:cNvPicPr>
            <a:picLocks noChangeAspect="1"/>
          </p:cNvPicPr>
          <p:nvPr/>
        </p:nvPicPr>
        <p:blipFill>
          <a:blip r:embed="rId3">
            <a:extLst>
              <a:ext uri="{28A0092B-C50C-407E-A947-70E740481C1C}">
                <a14:useLocalDpi xmlns:a14="http://schemas.microsoft.com/office/drawing/2010/main" val="0"/>
              </a:ext>
            </a:extLst>
          </a:blip>
          <a:srcRect l="6219" r="11805" b="-2"/>
          <a:stretch>
            <a:fillRect/>
          </a:stretch>
        </p:blipFill>
        <p:spPr>
          <a:xfrm>
            <a:off x="3135603" y="54864"/>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4" name="Content Placeholder 4" descr="M16NF007">
            <a:extLst>
              <a:ext uri="{FF2B5EF4-FFF2-40B4-BE49-F238E27FC236}">
                <a16:creationId xmlns:a16="http://schemas.microsoft.com/office/drawing/2014/main" id="{44CAB963-D124-165D-89B0-E54F570D2AA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2915" r="9390" b="-1"/>
          <a:stretch>
            <a:fillRect/>
          </a:stretch>
        </p:blipFill>
        <p:spPr bwMode="auto">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24" name="Freeform: Shape 23">
            <a:extLst>
              <a:ext uri="{FF2B5EF4-FFF2-40B4-BE49-F238E27FC236}">
                <a16:creationId xmlns:a16="http://schemas.microsoft.com/office/drawing/2014/main" id="{2FE0ABA9-CAF1-4816-837D-5F28AAA08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BC8B9C14-70F0-4F42-85FF-0DD3D5A58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C59F6B-F517-9812-A226-E5EA84A53E80}"/>
              </a:ext>
            </a:extLst>
          </p:cNvPr>
          <p:cNvSpPr>
            <a:spLocks noGrp="1"/>
          </p:cNvSpPr>
          <p:nvPr>
            <p:ph type="title"/>
          </p:nvPr>
        </p:nvSpPr>
        <p:spPr>
          <a:xfrm>
            <a:off x="448056" y="685800"/>
            <a:ext cx="2807208" cy="1325563"/>
          </a:xfrm>
        </p:spPr>
        <p:txBody>
          <a:bodyPr>
            <a:normAutofit/>
          </a:bodyPr>
          <a:lstStyle/>
          <a:p>
            <a:r>
              <a:rPr lang="en-GB" sz="2800"/>
              <a:t>Relation to key concepts</a:t>
            </a:r>
            <a:endParaRPr lang="en-US" sz="2800"/>
          </a:p>
        </p:txBody>
      </p:sp>
      <p:sp>
        <p:nvSpPr>
          <p:cNvPr id="28" name="Rectangle 27">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685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67AE70B-4B09-DBD3-36C1-A66303EC3F88}"/>
              </a:ext>
            </a:extLst>
          </p:cNvPr>
          <p:cNvSpPr>
            <a:spLocks noGrp="1"/>
          </p:cNvSpPr>
          <p:nvPr>
            <p:ph idx="1"/>
          </p:nvPr>
        </p:nvSpPr>
        <p:spPr>
          <a:xfrm>
            <a:off x="448056" y="2258568"/>
            <a:ext cx="2807208" cy="3922776"/>
          </a:xfrm>
        </p:spPr>
        <p:txBody>
          <a:bodyPr>
            <a:normAutofit/>
          </a:bodyPr>
          <a:lstStyle/>
          <a:p>
            <a:r>
              <a:rPr lang="en-GB" sz="1700"/>
              <a:t>Craft knowledge and the rise of factories (17</a:t>
            </a:r>
            <a:r>
              <a:rPr lang="en-GB" sz="1700" baseline="30000"/>
              <a:t>th</a:t>
            </a:r>
            <a:r>
              <a:rPr lang="en-GB" sz="1700"/>
              <a:t> to 19</a:t>
            </a:r>
            <a:r>
              <a:rPr lang="en-GB" sz="1700" baseline="30000"/>
              <a:t>th</a:t>
            </a:r>
            <a:r>
              <a:rPr lang="en-GB" sz="1700"/>
              <a:t> century)</a:t>
            </a:r>
          </a:p>
          <a:p>
            <a:r>
              <a:rPr lang="en-GB" sz="1700"/>
              <a:t>Assumption about workers?</a:t>
            </a:r>
          </a:p>
          <a:p>
            <a:r>
              <a:rPr lang="en-GB" sz="1700"/>
              <a:t>One best way of organizing or something messier? </a:t>
            </a:r>
          </a:p>
          <a:p>
            <a:endParaRPr lang="en-US" sz="1700"/>
          </a:p>
        </p:txBody>
      </p:sp>
    </p:spTree>
    <p:extLst>
      <p:ext uri="{BB962C8B-B14F-4D97-AF65-F5344CB8AC3E}">
        <p14:creationId xmlns:p14="http://schemas.microsoft.com/office/powerpoint/2010/main" val="3040199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DF6B93-F3AC-40E0-8651-89582E5E8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027539-FDC1-4BD7-ABD3-2C9688465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153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46EFA5-E6C7-4867-8011-E729148E8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5800"/>
            <a:ext cx="6742953"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495BFD-2DED-0C85-7E71-4D00DBA2F253}"/>
              </a:ext>
            </a:extLst>
          </p:cNvPr>
          <p:cNvSpPr>
            <a:spLocks noGrp="1"/>
          </p:cNvSpPr>
          <p:nvPr>
            <p:ph type="title"/>
          </p:nvPr>
        </p:nvSpPr>
        <p:spPr>
          <a:xfrm>
            <a:off x="1335799" y="1158949"/>
            <a:ext cx="5461225" cy="1118087"/>
          </a:xfrm>
        </p:spPr>
        <p:txBody>
          <a:bodyPr anchor="b">
            <a:normAutofit fontScale="90000"/>
          </a:bodyPr>
          <a:lstStyle/>
          <a:p>
            <a:pPr algn="ctr"/>
            <a:r>
              <a:rPr lang="en-GB" sz="3200" dirty="0">
                <a:solidFill>
                  <a:schemeClr val="tx1">
                    <a:lumMod val="65000"/>
                    <a:lumOff val="35000"/>
                  </a:schemeClr>
                </a:solidFill>
              </a:rPr>
              <a:t>Taylor’s four principles of </a:t>
            </a:r>
            <a:br>
              <a:rPr lang="en-GB" sz="3200" dirty="0">
                <a:solidFill>
                  <a:schemeClr val="tx1">
                    <a:lumMod val="65000"/>
                    <a:lumOff val="35000"/>
                  </a:schemeClr>
                </a:solidFill>
              </a:rPr>
            </a:br>
            <a:r>
              <a:rPr lang="en-GB" sz="3200" dirty="0">
                <a:solidFill>
                  <a:schemeClr val="tx1">
                    <a:lumMod val="65000"/>
                    <a:lumOff val="35000"/>
                  </a:schemeClr>
                </a:solidFill>
              </a:rPr>
              <a:t>scientific management (&amp; motivation)</a:t>
            </a:r>
            <a:endParaRPr lang="en-US" sz="3200" dirty="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404BA3D0-42AC-F5D6-A5A4-4BC6872D4DA0}"/>
              </a:ext>
            </a:extLst>
          </p:cNvPr>
          <p:cNvSpPr>
            <a:spLocks noGrp="1"/>
          </p:cNvSpPr>
          <p:nvPr>
            <p:ph idx="1"/>
          </p:nvPr>
        </p:nvSpPr>
        <p:spPr>
          <a:xfrm>
            <a:off x="1335799" y="2563907"/>
            <a:ext cx="5461225" cy="2976191"/>
          </a:xfrm>
        </p:spPr>
        <p:txBody>
          <a:bodyPr>
            <a:normAutofit/>
          </a:bodyPr>
          <a:lstStyle/>
          <a:p>
            <a:pPr marL="457200" indent="-457200">
              <a:buFont typeface="+mj-lt"/>
              <a:buAutoNum type="arabicPeriod"/>
            </a:pPr>
            <a:r>
              <a:rPr lang="en-GB" sz="1700" dirty="0">
                <a:solidFill>
                  <a:schemeClr val="tx1">
                    <a:lumMod val="65000"/>
                    <a:lumOff val="35000"/>
                  </a:schemeClr>
                </a:solidFill>
              </a:rPr>
              <a:t>Work broken down (&amp; the Gilbreths) </a:t>
            </a:r>
          </a:p>
          <a:p>
            <a:pPr marL="0" indent="0">
              <a:buNone/>
            </a:pPr>
            <a:r>
              <a:rPr lang="en-GB" sz="1700" dirty="0">
                <a:solidFill>
                  <a:schemeClr val="tx1">
                    <a:lumMod val="65000"/>
                    <a:lumOff val="35000"/>
                  </a:schemeClr>
                </a:solidFill>
                <a:hlinkClick r:id="rId2"/>
              </a:rPr>
              <a:t>https://www.youtube.com/watch?v=BJWPuiqznhI</a:t>
            </a:r>
            <a:endParaRPr lang="en-GB" sz="1700" dirty="0">
              <a:solidFill>
                <a:schemeClr val="tx1">
                  <a:lumMod val="65000"/>
                  <a:lumOff val="35000"/>
                </a:schemeClr>
              </a:solidFill>
            </a:endParaRPr>
          </a:p>
          <a:p>
            <a:pPr marL="342900" indent="-342900">
              <a:buFont typeface="+mj-lt"/>
              <a:buAutoNum type="arabicPeriod"/>
            </a:pPr>
            <a:endParaRPr lang="en-GB" sz="1700" dirty="0">
              <a:solidFill>
                <a:schemeClr val="tx1">
                  <a:lumMod val="65000"/>
                  <a:lumOff val="35000"/>
                </a:schemeClr>
              </a:solidFill>
            </a:endParaRPr>
          </a:p>
          <a:p>
            <a:pPr marL="457200" indent="-457200">
              <a:buFont typeface="+mj-lt"/>
              <a:buAutoNum type="arabicPeriod" startAt="2"/>
            </a:pPr>
            <a:r>
              <a:rPr lang="en-GB" sz="1700" dirty="0">
                <a:solidFill>
                  <a:schemeClr val="tx1">
                    <a:lumMod val="65000"/>
                    <a:lumOff val="35000"/>
                  </a:schemeClr>
                </a:solidFill>
              </a:rPr>
              <a:t>Division of work</a:t>
            </a:r>
          </a:p>
          <a:p>
            <a:pPr marL="0" indent="0">
              <a:buNone/>
            </a:pPr>
            <a:endParaRPr lang="en-GB" sz="1700" dirty="0">
              <a:solidFill>
                <a:schemeClr val="tx1">
                  <a:lumMod val="65000"/>
                  <a:lumOff val="35000"/>
                </a:schemeClr>
              </a:solidFill>
            </a:endParaRPr>
          </a:p>
          <a:p>
            <a:pPr marL="0" indent="0">
              <a:buNone/>
            </a:pPr>
            <a:r>
              <a:rPr lang="en-GB" sz="1700" dirty="0">
                <a:solidFill>
                  <a:schemeClr val="tx1">
                    <a:lumMod val="65000"/>
                    <a:lumOff val="35000"/>
                  </a:schemeClr>
                </a:solidFill>
              </a:rPr>
              <a:t>3. Scientific selection</a:t>
            </a:r>
          </a:p>
          <a:p>
            <a:pPr marL="0" indent="0">
              <a:buNone/>
            </a:pPr>
            <a:endParaRPr lang="en-GB" sz="1700" dirty="0">
              <a:solidFill>
                <a:schemeClr val="tx1">
                  <a:lumMod val="65000"/>
                  <a:lumOff val="35000"/>
                </a:schemeClr>
              </a:solidFill>
            </a:endParaRPr>
          </a:p>
          <a:p>
            <a:pPr marL="0" indent="0">
              <a:buNone/>
            </a:pPr>
            <a:r>
              <a:rPr lang="en-GB" sz="1700" dirty="0">
                <a:solidFill>
                  <a:schemeClr val="tx1">
                    <a:lumMod val="65000"/>
                    <a:lumOff val="35000"/>
                  </a:schemeClr>
                </a:solidFill>
              </a:rPr>
              <a:t>4. Co-operation </a:t>
            </a:r>
          </a:p>
          <a:p>
            <a:endParaRPr lang="en-US" sz="1700" dirty="0">
              <a:solidFill>
                <a:schemeClr val="tx1">
                  <a:lumMod val="65000"/>
                  <a:lumOff val="35000"/>
                </a:schemeClr>
              </a:solidFill>
            </a:endParaRPr>
          </a:p>
        </p:txBody>
      </p:sp>
      <p:pic>
        <p:nvPicPr>
          <p:cNvPr id="5" name="Picture 4">
            <a:extLst>
              <a:ext uri="{FF2B5EF4-FFF2-40B4-BE49-F238E27FC236}">
                <a16:creationId xmlns:a16="http://schemas.microsoft.com/office/drawing/2014/main" id="{4952AA60-57B3-86F9-8C38-A11BE0EAAAEF}"/>
              </a:ext>
            </a:extLst>
          </p:cNvPr>
          <p:cNvPicPr>
            <a:picLocks noChangeAspect="1"/>
          </p:cNvPicPr>
          <p:nvPr/>
        </p:nvPicPr>
        <p:blipFill>
          <a:blip r:embed="rId3">
            <a:extLst>
              <a:ext uri="{28A0092B-C50C-407E-A947-70E740481C1C}">
                <a14:useLocalDpi xmlns:a14="http://schemas.microsoft.com/office/drawing/2010/main" val="0"/>
              </a:ext>
            </a:extLst>
          </a:blip>
          <a:srcRect l="494" r="7715" b="-3"/>
          <a:stretch>
            <a:fillRect/>
          </a:stretch>
        </p:blipFill>
        <p:spPr>
          <a:xfrm>
            <a:off x="8779933" y="685798"/>
            <a:ext cx="2726267" cy="2421467"/>
          </a:xfrm>
          <a:prstGeom prst="rect">
            <a:avLst/>
          </a:prstGeom>
        </p:spPr>
      </p:pic>
      <p:pic>
        <p:nvPicPr>
          <p:cNvPr id="4" name="Picture 2" descr="C:\Users\lubsuser\Desktop\Gilbreths.png">
            <a:extLst>
              <a:ext uri="{FF2B5EF4-FFF2-40B4-BE49-F238E27FC236}">
                <a16:creationId xmlns:a16="http://schemas.microsoft.com/office/drawing/2014/main" id="{4008F2AF-2553-1ED1-23E1-D21FB38A9A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9030" r="-4" b="-4"/>
          <a:stretch>
            <a:fillRect/>
          </a:stretch>
        </p:blipFill>
        <p:spPr bwMode="auto">
          <a:xfrm>
            <a:off x="8779933" y="3750732"/>
            <a:ext cx="2726267" cy="2421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80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5E9F7A-B64C-4192-8930-A05D1E23F3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descr="C:\Users\lubsuser\Desktop\ford factory.jpg">
            <a:extLst>
              <a:ext uri="{FF2B5EF4-FFF2-40B4-BE49-F238E27FC236}">
                <a16:creationId xmlns:a16="http://schemas.microsoft.com/office/drawing/2014/main" id="{D77A92FF-AA7D-B7C9-C326-02EF676F1A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5374" r="29525" b="-2"/>
          <a:stretch>
            <a:fillRect/>
          </a:stretch>
        </p:blipFill>
        <p:spPr bwMode="auto">
          <a:xfrm>
            <a:off x="20" y="853"/>
            <a:ext cx="2743179" cy="34175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435E09D-85B7-AE80-1A71-CED1996ABAEE}"/>
              </a:ext>
            </a:extLst>
          </p:cNvPr>
          <p:cNvPicPr>
            <a:picLocks noChangeAspect="1"/>
          </p:cNvPicPr>
          <p:nvPr/>
        </p:nvPicPr>
        <p:blipFill>
          <a:blip r:embed="rId3">
            <a:extLst>
              <a:ext uri="{28A0092B-C50C-407E-A947-70E740481C1C}">
                <a14:useLocalDpi xmlns:a14="http://schemas.microsoft.com/office/drawing/2010/main" val="0"/>
              </a:ext>
            </a:extLst>
          </a:blip>
          <a:srcRect l="14723" r="5539" b="-2"/>
          <a:stretch>
            <a:fillRect/>
          </a:stretch>
        </p:blipFill>
        <p:spPr>
          <a:xfrm>
            <a:off x="20" y="3417677"/>
            <a:ext cx="2743179" cy="3440324"/>
          </a:xfrm>
          <a:prstGeom prst="rect">
            <a:avLst/>
          </a:prstGeom>
        </p:spPr>
      </p:pic>
      <p:sp>
        <p:nvSpPr>
          <p:cNvPr id="15" name="Rectangle 14">
            <a:extLst>
              <a:ext uri="{FF2B5EF4-FFF2-40B4-BE49-F238E27FC236}">
                <a16:creationId xmlns:a16="http://schemas.microsoft.com/office/drawing/2014/main" id="{793EB161-5CFE-4D7E-B34B-06C90F9B1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43200" y="-1"/>
            <a:ext cx="6744336" cy="687718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18147C2-BF02-44AA-81D8-FD7776FAB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5964" y="685799"/>
            <a:ext cx="5358808"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8A9FFD-E5C1-6992-0E1B-108003D63558}"/>
              </a:ext>
            </a:extLst>
          </p:cNvPr>
          <p:cNvSpPr>
            <a:spLocks noGrp="1"/>
          </p:cNvSpPr>
          <p:nvPr>
            <p:ph type="title"/>
          </p:nvPr>
        </p:nvSpPr>
        <p:spPr>
          <a:xfrm>
            <a:off x="4040372" y="1015409"/>
            <a:ext cx="4231758" cy="1125102"/>
          </a:xfrm>
        </p:spPr>
        <p:txBody>
          <a:bodyPr anchor="b">
            <a:normAutofit/>
          </a:bodyPr>
          <a:lstStyle/>
          <a:p>
            <a:pPr algn="ctr"/>
            <a:r>
              <a:rPr lang="en-GB" sz="3200">
                <a:solidFill>
                  <a:schemeClr val="tx1">
                    <a:lumMod val="65000"/>
                    <a:lumOff val="35000"/>
                  </a:schemeClr>
                </a:solidFill>
              </a:rPr>
              <a:t>Control and motivation through Taylorism </a:t>
            </a:r>
            <a:endParaRPr lang="en-US" sz="3200">
              <a:solidFill>
                <a:schemeClr val="tx1">
                  <a:lumMod val="65000"/>
                  <a:lumOff val="35000"/>
                </a:schemeClr>
              </a:solidFill>
            </a:endParaRPr>
          </a:p>
        </p:txBody>
      </p:sp>
      <p:sp>
        <p:nvSpPr>
          <p:cNvPr id="4" name="Content Placeholder 2">
            <a:extLst>
              <a:ext uri="{FF2B5EF4-FFF2-40B4-BE49-F238E27FC236}">
                <a16:creationId xmlns:a16="http://schemas.microsoft.com/office/drawing/2014/main" id="{60F18797-05D5-BD81-2130-A015BAF05AA5}"/>
              </a:ext>
            </a:extLst>
          </p:cNvPr>
          <p:cNvSpPr>
            <a:spLocks noGrp="1"/>
          </p:cNvSpPr>
          <p:nvPr>
            <p:ph idx="1"/>
          </p:nvPr>
        </p:nvSpPr>
        <p:spPr>
          <a:xfrm>
            <a:off x="4040372" y="2427382"/>
            <a:ext cx="4231758" cy="3234456"/>
          </a:xfrm>
        </p:spPr>
        <p:txBody>
          <a:bodyPr>
            <a:normAutofit/>
          </a:bodyPr>
          <a:lstStyle/>
          <a:p>
            <a:pPr marL="457200" indent="-457200">
              <a:buFont typeface="+mj-lt"/>
              <a:buAutoNum type="arabicPeriod"/>
            </a:pPr>
            <a:r>
              <a:rPr lang="en-GB" sz="1700">
                <a:solidFill>
                  <a:schemeClr val="tx1">
                    <a:lumMod val="65000"/>
                    <a:lumOff val="35000"/>
                  </a:schemeClr>
                </a:solidFill>
              </a:rPr>
              <a:t>Standardization</a:t>
            </a:r>
          </a:p>
          <a:p>
            <a:pPr marL="457200" indent="-457200">
              <a:buFont typeface="+mj-lt"/>
              <a:buAutoNum type="arabicPeriod"/>
            </a:pPr>
            <a:r>
              <a:rPr lang="en-GB" sz="1700">
                <a:solidFill>
                  <a:schemeClr val="tx1">
                    <a:lumMod val="65000"/>
                    <a:lumOff val="35000"/>
                  </a:schemeClr>
                </a:solidFill>
              </a:rPr>
              <a:t>Individualization</a:t>
            </a:r>
          </a:p>
          <a:p>
            <a:pPr marL="457200" indent="-457200">
              <a:buFont typeface="+mj-lt"/>
              <a:buAutoNum type="arabicPeriod"/>
            </a:pPr>
            <a:r>
              <a:rPr lang="en-GB" sz="1700">
                <a:solidFill>
                  <a:schemeClr val="tx1">
                    <a:lumMod val="65000"/>
                    <a:lumOff val="35000"/>
                  </a:schemeClr>
                </a:solidFill>
              </a:rPr>
              <a:t>Surveillance</a:t>
            </a:r>
          </a:p>
          <a:p>
            <a:pPr marL="457200" indent="-457200">
              <a:buFont typeface="+mj-lt"/>
              <a:buAutoNum type="arabicPeriod"/>
            </a:pPr>
            <a:r>
              <a:rPr lang="en-GB" sz="1700">
                <a:solidFill>
                  <a:schemeClr val="tx1">
                    <a:lumMod val="65000"/>
                    <a:lumOff val="35000"/>
                  </a:schemeClr>
                </a:solidFill>
              </a:rPr>
              <a:t>Knowledge</a:t>
            </a:r>
          </a:p>
          <a:p>
            <a:pPr marL="457200" indent="-457200">
              <a:buFont typeface="+mj-lt"/>
              <a:buAutoNum type="arabicPeriod"/>
            </a:pPr>
            <a:r>
              <a:rPr lang="en-GB" sz="1700">
                <a:solidFill>
                  <a:schemeClr val="tx1">
                    <a:lumMod val="65000"/>
                    <a:lumOff val="35000"/>
                  </a:schemeClr>
                </a:solidFill>
              </a:rPr>
              <a:t>Skill </a:t>
            </a:r>
          </a:p>
          <a:p>
            <a:pPr marL="0" indent="0">
              <a:buNone/>
            </a:pPr>
            <a:r>
              <a:rPr lang="en-GB" sz="1700" b="1">
                <a:solidFill>
                  <a:schemeClr val="tx1">
                    <a:lumMod val="65000"/>
                    <a:lumOff val="35000"/>
                  </a:schemeClr>
                </a:solidFill>
              </a:rPr>
              <a:t>Main problems with this approach? </a:t>
            </a:r>
            <a:endParaRPr lang="en-GB" sz="1700">
              <a:solidFill>
                <a:schemeClr val="tx1">
                  <a:lumMod val="65000"/>
                  <a:lumOff val="35000"/>
                </a:schemeClr>
              </a:solidFill>
            </a:endParaRPr>
          </a:p>
          <a:p>
            <a:pPr>
              <a:buFont typeface="+mj-lt"/>
              <a:buAutoNum type="alphaLcPeriod"/>
            </a:pPr>
            <a:r>
              <a:rPr lang="en-GB" sz="1700">
                <a:solidFill>
                  <a:schemeClr val="tx1">
                    <a:lumMod val="65000"/>
                    <a:lumOff val="35000"/>
                  </a:schemeClr>
                </a:solidFill>
              </a:rPr>
              <a:t>De-skilling (Braverman, 1974)</a:t>
            </a:r>
          </a:p>
          <a:p>
            <a:pPr>
              <a:buFont typeface="+mj-lt"/>
              <a:buAutoNum type="alphaLcPeriod"/>
            </a:pPr>
            <a:r>
              <a:rPr lang="en-GB" sz="1700">
                <a:solidFill>
                  <a:schemeClr val="tx1">
                    <a:lumMod val="65000"/>
                    <a:lumOff val="35000"/>
                  </a:schemeClr>
                </a:solidFill>
              </a:rPr>
              <a:t>Alienation (Marx, 1867) </a:t>
            </a:r>
          </a:p>
          <a:p>
            <a:pPr>
              <a:buFont typeface="+mj-lt"/>
              <a:buAutoNum type="alphaLcPeriod"/>
            </a:pPr>
            <a:r>
              <a:rPr lang="en-GB" sz="1700">
                <a:solidFill>
                  <a:schemeClr val="tx1">
                    <a:lumMod val="65000"/>
                    <a:lumOff val="35000"/>
                  </a:schemeClr>
                </a:solidFill>
              </a:rPr>
              <a:t>Iron cage of bureaucracy (Weber, 1904)</a:t>
            </a:r>
          </a:p>
          <a:p>
            <a:endParaRPr lang="en-US" sz="1700">
              <a:solidFill>
                <a:schemeClr val="tx1">
                  <a:lumMod val="65000"/>
                  <a:lumOff val="35000"/>
                </a:schemeClr>
              </a:solidFill>
            </a:endParaRPr>
          </a:p>
        </p:txBody>
      </p:sp>
      <p:pic>
        <p:nvPicPr>
          <p:cNvPr id="5" name="Picture 2" descr="C:\Users\lubsuser\Desktop\taylorism - factory.jpg">
            <a:extLst>
              <a:ext uri="{FF2B5EF4-FFF2-40B4-BE49-F238E27FC236}">
                <a16:creationId xmlns:a16="http://schemas.microsoft.com/office/drawing/2014/main" id="{8FE04B57-5F62-5BB1-F74B-86C00B7D6E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697" r="14628" b="-2"/>
          <a:stretch>
            <a:fillRect/>
          </a:stretch>
        </p:blipFill>
        <p:spPr bwMode="auto">
          <a:xfrm>
            <a:off x="9487538" y="10"/>
            <a:ext cx="2704462" cy="341835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lubsuser\Desktop\marx.png">
            <a:extLst>
              <a:ext uri="{FF2B5EF4-FFF2-40B4-BE49-F238E27FC236}">
                <a16:creationId xmlns:a16="http://schemas.microsoft.com/office/drawing/2014/main" id="{585488CC-2704-ABDC-E62F-8F0D07C17E4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r="-2" b="9384"/>
          <a:stretch>
            <a:fillRect/>
          </a:stretch>
        </p:blipFill>
        <p:spPr bwMode="auto">
          <a:xfrm>
            <a:off x="9487536" y="3417676"/>
            <a:ext cx="2704463" cy="344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9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descr="C:\Users\lubsuser\Desktop\modern times .jpg">
            <a:extLst>
              <a:ext uri="{FF2B5EF4-FFF2-40B4-BE49-F238E27FC236}">
                <a16:creationId xmlns:a16="http://schemas.microsoft.com/office/drawing/2014/main" id="{8DF212AF-131B-2B00-8F8A-CD70DDA293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2905" r="5119" b="-2"/>
          <a:stretch>
            <a:fillRect/>
          </a:stretch>
        </p:blipFill>
        <p:spPr bwMode="auto">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C:\Users\lubsuser\Desktop\modern times 4.jpg">
            <a:extLst>
              <a:ext uri="{FF2B5EF4-FFF2-40B4-BE49-F238E27FC236}">
                <a16:creationId xmlns:a16="http://schemas.microsoft.com/office/drawing/2014/main" id="{B1FA8535-E42C-8514-75AB-2C17FEBCD9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6648" r="4894" b="2"/>
          <a:stretch>
            <a:fillRect/>
          </a:stretch>
        </p:blipFill>
        <p:spPr bwMode="auto">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a:noFill/>
          <a:extLst>
            <a:ext uri="{909E8E84-426E-40DD-AFC4-6F175D3DCCD1}">
              <a14:hiddenFill xmlns:a14="http://schemas.microsoft.com/office/drawing/2010/main">
                <a:solidFill>
                  <a:srgbClr val="FFFFFF"/>
                </a:solidFill>
              </a14:hiddenFill>
            </a:ext>
          </a:extLst>
        </p:spPr>
      </p:pic>
      <p:pic>
        <p:nvPicPr>
          <p:cNvPr id="6" name="Picture 2" descr="C:\Users\lubsuser\Desktop\modern times 2.png">
            <a:extLst>
              <a:ext uri="{FF2B5EF4-FFF2-40B4-BE49-F238E27FC236}">
                <a16:creationId xmlns:a16="http://schemas.microsoft.com/office/drawing/2014/main" id="{00CA4FEC-5451-E8FF-4773-DF69C2876A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10607" r="2" b="2"/>
          <a:stretch>
            <a:fillRect/>
          </a:stretch>
        </p:blipFill>
        <p:spPr bwMode="auto">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34" name="Freeform: Shape 18">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20">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1B3220E-FE22-6358-5AFC-7CB6F884EC6D}"/>
              </a:ext>
            </a:extLst>
          </p:cNvPr>
          <p:cNvSpPr>
            <a:spLocks noGrp="1"/>
          </p:cNvSpPr>
          <p:nvPr>
            <p:ph type="title"/>
          </p:nvPr>
        </p:nvSpPr>
        <p:spPr>
          <a:xfrm>
            <a:off x="448056" y="685800"/>
            <a:ext cx="2807208" cy="1325563"/>
          </a:xfrm>
        </p:spPr>
        <p:txBody>
          <a:bodyPr>
            <a:normAutofit fontScale="90000"/>
          </a:bodyPr>
          <a:lstStyle/>
          <a:p>
            <a:br>
              <a:rPr lang="en-GB" sz="3600" kern="0" dirty="0"/>
            </a:br>
            <a:r>
              <a:rPr lang="en-GB" sz="3600" kern="0" dirty="0"/>
              <a:t>An example from film: Modern Times (1936)</a:t>
            </a:r>
            <a:br>
              <a:rPr lang="en-GB" sz="3600" kern="0" dirty="0"/>
            </a:br>
            <a:br>
              <a:rPr lang="en-GB" sz="1100" kern="0" dirty="0"/>
            </a:br>
            <a:r>
              <a:rPr lang="en-GB" sz="1100" kern="0" dirty="0">
                <a:hlinkClick r:id="rId5"/>
              </a:rPr>
              <a:t>https://www.youtube.com/watch?v=DfGs2Y5WJ14</a:t>
            </a:r>
            <a:br>
              <a:rPr lang="en-GB" sz="1100" kern="0" dirty="0"/>
            </a:br>
            <a:r>
              <a:rPr lang="en-GB" sz="1100" kern="0" dirty="0"/>
              <a:t> </a:t>
            </a:r>
            <a:r>
              <a:rPr lang="en-GB" sz="1100" kern="0" dirty="0">
                <a:hlinkClick r:id="rId6"/>
              </a:rPr>
              <a:t>https://www.youtube.com/watch?v=ZdvEGPt4s0Y&amp;t=1s</a:t>
            </a:r>
            <a:endParaRPr lang="en-US" sz="1100" dirty="0"/>
          </a:p>
        </p:txBody>
      </p:sp>
      <p:sp>
        <p:nvSpPr>
          <p:cNvPr id="36" name="Rectangle 35">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0F68E01-8A68-33B1-8EAB-23EC89672787}"/>
              </a:ext>
            </a:extLst>
          </p:cNvPr>
          <p:cNvSpPr>
            <a:spLocks noGrp="1"/>
          </p:cNvSpPr>
          <p:nvPr>
            <p:ph idx="1"/>
          </p:nvPr>
        </p:nvSpPr>
        <p:spPr>
          <a:xfrm>
            <a:off x="366980" y="2935214"/>
            <a:ext cx="2807208" cy="3922776"/>
          </a:xfrm>
        </p:spPr>
        <p:txBody>
          <a:bodyPr>
            <a:normAutofit/>
          </a:bodyPr>
          <a:lstStyle/>
          <a:p>
            <a:pPr marL="0" indent="0">
              <a:buNone/>
            </a:pPr>
            <a:r>
              <a:rPr lang="en-GB" sz="1200" dirty="0"/>
              <a:t>"Modern Times" is a 1936 film directed by and starring Charlie Chaplin, marking his venture into the age of synchronous sound films. The film opens with a striking juxtaposition of sheep being herded and men entering a factory, setting the stage for its central theme: the dehumanizing effects of industrialization. Chaplin's iconic character, the "tramp," works on an assembly line, where the relentless pace of machinery drives him to madness and highlights the indifference of corporate management. The narrative unfolds during the Great Depression, reflecting the struggles of the unemployed and the working class, making it resonate deeply with contemporary audience” (EBSCO, </a:t>
            </a:r>
            <a:r>
              <a:rPr lang="en-GB" sz="1200" dirty="0">
                <a:hlinkClick r:id="rId7"/>
              </a:rPr>
              <a:t>https://www.ebsco.com/research-starters/history/modern-times-film/</a:t>
            </a:r>
            <a:r>
              <a:rPr lang="en-GB" sz="1200" dirty="0"/>
              <a:t>) </a:t>
            </a:r>
            <a:endParaRPr lang="en-US" sz="1200" dirty="0"/>
          </a:p>
        </p:txBody>
      </p:sp>
      <p:pic>
        <p:nvPicPr>
          <p:cNvPr id="5" name="Picture 4" descr="C:\Users\lubsuser\Desktop\modern times 3.jpg">
            <a:extLst>
              <a:ext uri="{FF2B5EF4-FFF2-40B4-BE49-F238E27FC236}">
                <a16:creationId xmlns:a16="http://schemas.microsoft.com/office/drawing/2014/main" id="{100E7303-5019-CECB-468D-58B0B3BE88D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b="5146"/>
          <a:stretch>
            <a:fillRect/>
          </a:stretch>
        </p:blipFill>
        <p:spPr bwMode="auto">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318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Theory X &amp; Theory 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sz="1500"/>
              <a:t>Douglas McGregor, in the 1960s, introduced two contrasting frameworks regarding managerial beliefs about employee behavior (rather than theories of motivation in the traditional sense). </a:t>
            </a:r>
          </a:p>
          <a:p>
            <a:r>
              <a:rPr lang="en-US" sz="1500" b="1"/>
              <a:t>Theory X </a:t>
            </a:r>
            <a:r>
              <a:rPr lang="en-US" sz="1500"/>
              <a:t>argues managers assume employees inherently dislike work, are lazy, avoid responsibility, and need to be coerced or controlled to perform effectively. Leads to an authoritarian management style where close supervision and extrinsic motivators like rewards or punishments are emphasized.</a:t>
            </a:r>
          </a:p>
          <a:p>
            <a:r>
              <a:rPr lang="en-US" sz="1500" b="1"/>
              <a:t>Theory Y </a:t>
            </a:r>
            <a:r>
              <a:rPr lang="en-US" sz="1500"/>
              <a:t>suggests that employees find work enjoyable, seek responsibility, are creative, and can self-direct when given the chance. Promotes a participative management approach, where trust, autonomy, and opportunities for growth are central. Employees are encouraged to take ownership of their tasks, leading to higher levels of intrinsic motivation.</a:t>
            </a:r>
          </a:p>
          <a:p>
            <a:r>
              <a:rPr lang="en-US" sz="1500"/>
              <a:t>Key point is that a manager's beliefs about their employees, whether they lean toward Theory X or Theory Y, likely influence their management style (and the ways in which they attempt to motivate).</a:t>
            </a:r>
          </a:p>
          <a:p>
            <a:r>
              <a:rPr lang="en-US" sz="1500"/>
              <a:t>Reflection: Consider how these underlying beliefs shape the methods managers use to engage and motivate their employees? Do managers' assumptions about their employees' nature limit or enhance the employees' potential?</a:t>
            </a:r>
          </a:p>
          <a:p>
            <a:endParaRPr lang="en-US" sz="1500"/>
          </a:p>
        </p:txBody>
      </p:sp>
    </p:spTree>
    <p:extLst>
      <p:ext uri="{BB962C8B-B14F-4D97-AF65-F5344CB8AC3E}">
        <p14:creationId xmlns:p14="http://schemas.microsoft.com/office/powerpoint/2010/main" val="47858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B510C7-D9AD-CD4A-5043-38A7C9C1FE5A}"/>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F2834A-387B-672D-8E66-72570EF44E6F}"/>
              </a:ext>
            </a:extLst>
          </p:cNvPr>
          <p:cNvSpPr>
            <a:spLocks noGrp="1"/>
          </p:cNvSpPr>
          <p:nvPr>
            <p:ph type="title"/>
          </p:nvPr>
        </p:nvSpPr>
        <p:spPr>
          <a:xfrm>
            <a:off x="838200" y="365125"/>
            <a:ext cx="10515600" cy="1325563"/>
          </a:xfrm>
        </p:spPr>
        <p:txBody>
          <a:bodyPr>
            <a:normAutofit/>
          </a:bodyPr>
          <a:lstStyle/>
          <a:p>
            <a:r>
              <a:rPr lang="en-US" dirty="0"/>
              <a:t>Content Theories Vs Process Theories </a:t>
            </a:r>
          </a:p>
        </p:txBody>
      </p:sp>
      <p:graphicFrame>
        <p:nvGraphicFramePr>
          <p:cNvPr id="5" name="Content Placeholder 2">
            <a:extLst>
              <a:ext uri="{FF2B5EF4-FFF2-40B4-BE49-F238E27FC236}">
                <a16:creationId xmlns:a16="http://schemas.microsoft.com/office/drawing/2014/main" id="{3E204650-4940-0E92-10FD-0BB36F1987D6}"/>
              </a:ext>
            </a:extLst>
          </p:cNvPr>
          <p:cNvGraphicFramePr>
            <a:graphicFrameLocks noGrp="1"/>
          </p:cNvGraphicFramePr>
          <p:nvPr>
            <p:ph idx="1"/>
            <p:extLst>
              <p:ext uri="{D42A27DB-BD31-4B8C-83A1-F6EECF244321}">
                <p14:modId xmlns:p14="http://schemas.microsoft.com/office/powerpoint/2010/main" val="18424835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4132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Arc 1032">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p:cNvSpPr>
            <a:spLocks noGrp="1"/>
          </p:cNvSpPr>
          <p:nvPr>
            <p:ph type="title"/>
          </p:nvPr>
        </p:nvSpPr>
        <p:spPr>
          <a:xfrm>
            <a:off x="838200" y="365125"/>
            <a:ext cx="10515599" cy="1325563"/>
          </a:xfrm>
        </p:spPr>
        <p:txBody>
          <a:bodyPr vert="horz" lIns="91440" tIns="45720" rIns="91440" bIns="45720" rtlCol="0" anchor="ctr">
            <a:normAutofit/>
          </a:bodyPr>
          <a:lstStyle/>
          <a:p>
            <a:r>
              <a:rPr lang="en-US" kern="1200">
                <a:solidFill>
                  <a:schemeClr val="tx1"/>
                </a:solidFill>
                <a:latin typeface="+mj-lt"/>
                <a:ea typeface="+mj-ea"/>
                <a:cs typeface="+mj-cs"/>
              </a:rPr>
              <a:t>Exploring Theories of Motivation</a:t>
            </a:r>
          </a:p>
        </p:txBody>
      </p:sp>
      <p:sp>
        <p:nvSpPr>
          <p:cNvPr id="4" name="Content Placeholder 3"/>
          <p:cNvSpPr>
            <a:spLocks noGrp="1"/>
          </p:cNvSpPr>
          <p:nvPr>
            <p:ph sz="half" idx="2"/>
          </p:nvPr>
        </p:nvSpPr>
        <p:spPr>
          <a:xfrm>
            <a:off x="838200" y="1825625"/>
            <a:ext cx="5393361" cy="4351338"/>
          </a:xfrm>
        </p:spPr>
        <p:txBody>
          <a:bodyPr vert="horz" lIns="91440" tIns="45720" rIns="91440" bIns="45720" rtlCol="0">
            <a:normAutofit/>
          </a:bodyPr>
          <a:lstStyle/>
          <a:p>
            <a:r>
              <a:rPr lang="en-US" dirty="0"/>
              <a:t>Herzberg Two Factor Theory (content)</a:t>
            </a:r>
            <a:endParaRPr lang="en-US"/>
          </a:p>
          <a:p>
            <a:r>
              <a:rPr lang="en-US" dirty="0"/>
              <a:t>Needs based theories (content)</a:t>
            </a:r>
            <a:endParaRPr lang="en-US"/>
          </a:p>
          <a:p>
            <a:r>
              <a:rPr lang="en-US" dirty="0"/>
              <a:t>Equity Theory (content)</a:t>
            </a:r>
            <a:endParaRPr lang="en-US"/>
          </a:p>
          <a:p>
            <a:r>
              <a:rPr lang="en-US" dirty="0"/>
              <a:t>Expectancy Theory (process)</a:t>
            </a:r>
            <a:endParaRPr lang="en-US"/>
          </a:p>
          <a:p>
            <a:r>
              <a:rPr lang="en-US" dirty="0"/>
              <a:t>Goal related theories (process)</a:t>
            </a:r>
            <a:endParaRPr lang="en-US"/>
          </a:p>
          <a:p>
            <a:endParaRPr lang="en-US" dirty="0"/>
          </a:p>
        </p:txBody>
      </p:sp>
      <p:sp>
        <p:nvSpPr>
          <p:cNvPr id="1035" name="Oval 103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AF48567A-950D-CFB8-44B6-D71CFF70EE2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09962" y="3352316"/>
            <a:ext cx="4221597" cy="2799102"/>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317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dirty="0">
                <a:solidFill>
                  <a:schemeClr val="tx1"/>
                </a:solidFill>
                <a:latin typeface="+mj-lt"/>
                <a:ea typeface="+mj-ea"/>
                <a:cs typeface="+mj-cs"/>
              </a:rPr>
              <a:t>Herzberg’s Two Factor Theory</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30936" y="2660904"/>
            <a:ext cx="4818888" cy="3547872"/>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2000" dirty="0"/>
              <a:t>Herzberg's theory suggests that job satisfaction and dissatisfaction arise from two different sets of factors.</a:t>
            </a:r>
          </a:p>
          <a:p>
            <a:pPr marL="285750" indent="-228600" defTabSz="914400">
              <a:lnSpc>
                <a:spcPct val="90000"/>
              </a:lnSpc>
              <a:spcAft>
                <a:spcPts val="600"/>
              </a:spcAft>
              <a:buFont typeface="Arial" panose="020B0604020202020204" pitchFamily="34" charset="0"/>
              <a:buChar char="•"/>
            </a:pPr>
            <a:r>
              <a:rPr lang="en-US" sz="2000" dirty="0"/>
              <a:t>Hygiene Factors: external elements such as salary, working conditions, and job security. Won’t necessarily increase job satisfaction, but absence can lead to dissatisfaction. </a:t>
            </a:r>
          </a:p>
          <a:p>
            <a:pPr marL="285750" indent="-228600" defTabSz="914400">
              <a:lnSpc>
                <a:spcPct val="90000"/>
              </a:lnSpc>
              <a:spcAft>
                <a:spcPts val="600"/>
              </a:spcAft>
              <a:buFont typeface="Arial" panose="020B0604020202020204" pitchFamily="34" charset="0"/>
              <a:buChar char="•"/>
            </a:pPr>
            <a:r>
              <a:rPr lang="en-US" sz="2000" dirty="0"/>
              <a:t>Motivating Factors: intrinsic factors such as recognition and responsibility. Drive employees and foster job satisfaction.</a:t>
            </a:r>
          </a:p>
        </p:txBody>
      </p:sp>
      <p:pic>
        <p:nvPicPr>
          <p:cNvPr id="4" name="Picture 3">
            <a:extLst>
              <a:ext uri="{FF2B5EF4-FFF2-40B4-BE49-F238E27FC236}">
                <a16:creationId xmlns:a16="http://schemas.microsoft.com/office/drawing/2014/main" id="{3FEF29B6-7570-8954-5EF8-7613251E2895}"/>
              </a:ext>
            </a:extLst>
          </p:cNvPr>
          <p:cNvPicPr>
            <a:picLocks noChangeAspect="1"/>
          </p:cNvPicPr>
          <p:nvPr/>
        </p:nvPicPr>
        <p:blipFill>
          <a:blip r:embed="rId3"/>
          <a:stretch>
            <a:fillRect/>
          </a:stretch>
        </p:blipFill>
        <p:spPr>
          <a:xfrm>
            <a:off x="6099048" y="685800"/>
            <a:ext cx="5458968" cy="5486400"/>
          </a:xfrm>
          <a:prstGeom prst="rect">
            <a:avLst/>
          </a:prstGeom>
        </p:spPr>
      </p:pic>
    </p:spTree>
    <p:extLst>
      <p:ext uri="{BB962C8B-B14F-4D97-AF65-F5344CB8AC3E}">
        <p14:creationId xmlns:p14="http://schemas.microsoft.com/office/powerpoint/2010/main" val="1472438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7C98B8-312E-3115-0195-6E82FD72014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Herzberg’s Two Factor Theory</a:t>
            </a:r>
          </a:p>
        </p:txBody>
      </p:sp>
      <p:graphicFrame>
        <p:nvGraphicFramePr>
          <p:cNvPr id="5" name="Content Placeholder 2">
            <a:extLst>
              <a:ext uri="{FF2B5EF4-FFF2-40B4-BE49-F238E27FC236}">
                <a16:creationId xmlns:a16="http://schemas.microsoft.com/office/drawing/2014/main" id="{C5547A95-1D3F-B23A-829F-CA4347D1D4B6}"/>
              </a:ext>
            </a:extLst>
          </p:cNvPr>
          <p:cNvGraphicFramePr>
            <a:graphicFrameLocks noGrp="1"/>
          </p:cNvGraphicFramePr>
          <p:nvPr>
            <p:ph idx="1"/>
            <p:extLst>
              <p:ext uri="{D42A27DB-BD31-4B8C-83A1-F6EECF244321}">
                <p14:modId xmlns:p14="http://schemas.microsoft.com/office/powerpoint/2010/main" val="308697957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9017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44C34-0345-2E83-8211-0EDDABF4F57D}"/>
              </a:ext>
            </a:extLst>
          </p:cNvPr>
          <p:cNvSpPr>
            <a:spLocks noGrp="1"/>
          </p:cNvSpPr>
          <p:nvPr>
            <p:ph type="title"/>
          </p:nvPr>
        </p:nvSpPr>
        <p:spPr/>
        <p:txBody>
          <a:bodyPr>
            <a:normAutofit fontScale="90000"/>
          </a:bodyPr>
          <a:lstStyle/>
          <a:p>
            <a:br>
              <a:rPr lang="en-US" dirty="0"/>
            </a:br>
            <a:r>
              <a:rPr lang="en-US" dirty="0"/>
              <a:t>An Example: Google</a:t>
            </a:r>
            <a:br>
              <a:rPr lang="en-US" dirty="0"/>
            </a:br>
            <a:r>
              <a:rPr lang="en-US" sz="2000" dirty="0">
                <a:hlinkClick r:id="rId2"/>
              </a:rPr>
              <a:t>https://www.youtube.com/watch?v=n_Cn8eFo7u8</a:t>
            </a:r>
            <a:br>
              <a:rPr lang="en-US" dirty="0"/>
            </a:br>
            <a:r>
              <a:rPr lang="en-US" dirty="0"/>
              <a:t> </a:t>
            </a:r>
          </a:p>
        </p:txBody>
      </p:sp>
      <p:graphicFrame>
        <p:nvGraphicFramePr>
          <p:cNvPr id="8" name="Content Placeholder 2">
            <a:extLst>
              <a:ext uri="{FF2B5EF4-FFF2-40B4-BE49-F238E27FC236}">
                <a16:creationId xmlns:a16="http://schemas.microsoft.com/office/drawing/2014/main" id="{76C94635-0DB8-8D09-28F3-40EE53E3157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DCCA9920-C25E-A52C-0C85-74B0905E4792}"/>
              </a:ext>
            </a:extLst>
          </p:cNvPr>
          <p:cNvPicPr>
            <a:picLocks noChangeAspect="1"/>
          </p:cNvPicPr>
          <p:nvPr/>
        </p:nvPicPr>
        <p:blipFill>
          <a:blip r:embed="rId8"/>
          <a:stretch>
            <a:fillRect/>
          </a:stretch>
        </p:blipFill>
        <p:spPr>
          <a:xfrm>
            <a:off x="6353791" y="474414"/>
            <a:ext cx="1680738" cy="876300"/>
          </a:xfrm>
          <a:prstGeom prst="rect">
            <a:avLst/>
          </a:prstGeom>
        </p:spPr>
      </p:pic>
    </p:spTree>
    <p:extLst>
      <p:ext uri="{BB962C8B-B14F-4D97-AF65-F5344CB8AC3E}">
        <p14:creationId xmlns:p14="http://schemas.microsoft.com/office/powerpoint/2010/main" val="362394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is is a visual depiction of Maslow’s Hierarchy of Needs Triange. It is a layered triangle. The bottom of the triangle is physiological needs, the next later is safety and secruity needs, followed by love and belonging needs, next self esteem needs, and finally the top of the triangle are needs to for self-actualisation. "/>
          <p:cNvPicPr>
            <a:picLocks noChangeAspect="1"/>
          </p:cNvPicPr>
          <p:nvPr/>
        </p:nvPicPr>
        <p:blipFill>
          <a:blip r:embed="rId3"/>
          <a:srcRect t="15738"/>
          <a:stretch>
            <a:fillRect/>
          </a:stretch>
        </p:blipFill>
        <p:spPr>
          <a:xfrm>
            <a:off x="4031974" y="-18237"/>
            <a:ext cx="8160026" cy="6875809"/>
          </a:xfrm>
          <a:prstGeom prst="rect">
            <a:avLst/>
          </a:prstGeom>
        </p:spPr>
      </p:pic>
      <p:sp>
        <p:nvSpPr>
          <p:cNvPr id="17" name="Freeform: Shape 16">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534473" y="2950387"/>
            <a:ext cx="3052293" cy="3531403"/>
          </a:xfrm>
        </p:spPr>
        <p:txBody>
          <a:bodyPr vert="horz" lIns="91440" tIns="45720" rIns="91440" bIns="45720" rtlCol="0">
            <a:normAutofit/>
          </a:bodyPr>
          <a:lstStyle/>
          <a:p>
            <a:pPr algn="r"/>
            <a:r>
              <a:rPr lang="en-US" sz="4000" b="1">
                <a:solidFill>
                  <a:srgbClr val="FFFFFF"/>
                </a:solidFill>
              </a:rPr>
              <a:t>Needs based theories</a:t>
            </a:r>
          </a:p>
        </p:txBody>
      </p:sp>
      <p:sp>
        <p:nvSpPr>
          <p:cNvPr id="3" name="Content Placeholder 2"/>
          <p:cNvSpPr>
            <a:spLocks noGrp="1"/>
          </p:cNvSpPr>
          <p:nvPr>
            <p:ph idx="1"/>
          </p:nvPr>
        </p:nvSpPr>
        <p:spPr>
          <a:xfrm>
            <a:off x="777922" y="743803"/>
            <a:ext cx="2808844" cy="1382392"/>
          </a:xfrm>
        </p:spPr>
        <p:txBody>
          <a:bodyPr vert="horz" lIns="91440" tIns="45720" rIns="91440" bIns="45720" rtlCol="0" anchor="b">
            <a:normAutofit/>
          </a:bodyPr>
          <a:lstStyle/>
          <a:p>
            <a:pPr marL="0" indent="0" algn="r">
              <a:buNone/>
            </a:pPr>
            <a:r>
              <a:rPr lang="en-US" sz="2000">
                <a:solidFill>
                  <a:srgbClr val="FFFFFF"/>
                </a:solidFill>
              </a:rPr>
              <a:t>Abraham Maslow’s (1943, 1954) ‘Hierarchy of Needs’</a:t>
            </a:r>
          </a:p>
        </p:txBody>
      </p:sp>
    </p:spTree>
    <p:extLst>
      <p:ext uri="{BB962C8B-B14F-4D97-AF65-F5344CB8AC3E}">
        <p14:creationId xmlns:p14="http://schemas.microsoft.com/office/powerpoint/2010/main" val="2161749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135A26D-9D47-467E-91F1-31149BF0D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65125"/>
            <a:ext cx="5393360" cy="1325563"/>
          </a:xfrm>
        </p:spPr>
        <p:txBody>
          <a:bodyPr>
            <a:normAutofit/>
          </a:bodyPr>
          <a:lstStyle/>
          <a:p>
            <a:r>
              <a:rPr lang="en-US"/>
              <a:t>Maslow – Application in the Workplace</a:t>
            </a:r>
          </a:p>
        </p:txBody>
      </p:sp>
      <p:sp>
        <p:nvSpPr>
          <p:cNvPr id="26" name="Freeform: Shape 15">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19333" y="0"/>
            <a:ext cx="842502" cy="354793"/>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838200" y="1825625"/>
            <a:ext cx="5393361" cy="4351338"/>
          </a:xfrm>
        </p:spPr>
        <p:txBody>
          <a:bodyPr>
            <a:normAutofit/>
          </a:bodyPr>
          <a:lstStyle/>
          <a:p>
            <a:r>
              <a:rPr lang="en-US" sz="1300" b="1"/>
              <a:t>Physiological needs</a:t>
            </a:r>
            <a:r>
              <a:rPr lang="en-US" sz="1300"/>
              <a:t>: ensuring basic comfort through a suitable working environment and regular salary payments.</a:t>
            </a:r>
          </a:p>
          <a:p>
            <a:r>
              <a:rPr lang="en-US" sz="1300" b="1"/>
              <a:t>Safety needs</a:t>
            </a:r>
            <a:r>
              <a:rPr lang="en-US" sz="1300"/>
              <a:t>: sense of security through formal contracts, sickness pay, and adherence to health and safety regulations.</a:t>
            </a:r>
          </a:p>
          <a:p>
            <a:r>
              <a:rPr lang="en-US" sz="1300" b="1"/>
              <a:t>Social/belonging needs</a:t>
            </a:r>
            <a:r>
              <a:rPr lang="en-US" sz="1300"/>
              <a:t>: fostering team spirit and promoting social interaction among colleagues to create a cooperative workplace.</a:t>
            </a:r>
          </a:p>
          <a:p>
            <a:r>
              <a:rPr lang="en-US" sz="1300" b="1"/>
              <a:t>Esteem needs</a:t>
            </a:r>
            <a:r>
              <a:rPr lang="en-US" sz="1300"/>
              <a:t>: boosting self-esteem by offering performance feedback, recognition, and rewards that reinforce employees’ value.</a:t>
            </a:r>
          </a:p>
          <a:p>
            <a:r>
              <a:rPr lang="en-US" sz="1300" b="1"/>
              <a:t>Self-actualization needs</a:t>
            </a:r>
            <a:r>
              <a:rPr lang="en-US" sz="1300"/>
              <a:t>: opportunities for personal and professional growth through career development and challenging tasks that allow individuals to reach their full potential.</a:t>
            </a:r>
          </a:p>
          <a:p>
            <a:r>
              <a:rPr lang="en-US" sz="1300" b="1"/>
              <a:t>Reflection</a:t>
            </a:r>
            <a:r>
              <a:rPr lang="en-US" sz="1300"/>
              <a:t>: Maslow stressed that higher-level needs (like self-esteem or self-actualization) will be difficult to fulfill unless lower-level needs (like safety and physiological needs) are met. How does this theory apply to creating motivating work environments?</a:t>
            </a:r>
          </a:p>
          <a:p>
            <a:r>
              <a:rPr lang="en-US" sz="1300"/>
              <a:t>Critiques based on the Arnold et al (2020) – cultural differences in needs, evidence some people prioritize higher level needs, general lack of empirical support. </a:t>
            </a:r>
          </a:p>
          <a:p>
            <a:endParaRPr lang="en-US" sz="1300"/>
          </a:p>
          <a:p>
            <a:endParaRPr lang="en-US" sz="1300"/>
          </a:p>
        </p:txBody>
      </p:sp>
      <p:sp>
        <p:nvSpPr>
          <p:cNvPr id="27" name="Oval 26">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0791" y="1327365"/>
            <a:ext cx="610857" cy="61085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9">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pic>
        <p:nvPicPr>
          <p:cNvPr id="7" name="Picture 6">
            <a:extLst>
              <a:ext uri="{FF2B5EF4-FFF2-40B4-BE49-F238E27FC236}">
                <a16:creationId xmlns:a16="http://schemas.microsoft.com/office/drawing/2014/main" id="{6A8E594D-3023-6DDB-F05A-9615E7477BEA}"/>
              </a:ext>
            </a:extLst>
          </p:cNvPr>
          <p:cNvPicPr>
            <a:picLocks noChangeAspect="1"/>
          </p:cNvPicPr>
          <p:nvPr/>
        </p:nvPicPr>
        <p:blipFill>
          <a:blip r:embed="rId3"/>
          <a:stretch>
            <a:fillRect/>
          </a:stretch>
        </p:blipFill>
        <p:spPr>
          <a:xfrm>
            <a:off x="6706774" y="2392776"/>
            <a:ext cx="2533422" cy="2533422"/>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pic>
        <p:nvPicPr>
          <p:cNvPr id="9" name="Picture 8">
            <a:extLst>
              <a:ext uri="{FF2B5EF4-FFF2-40B4-BE49-F238E27FC236}">
                <a16:creationId xmlns:a16="http://schemas.microsoft.com/office/drawing/2014/main" id="{14C80F1B-4677-C72A-0CC8-1D047D0ED126}"/>
              </a:ext>
            </a:extLst>
          </p:cNvPr>
          <p:cNvPicPr>
            <a:picLocks noChangeAspect="1"/>
          </p:cNvPicPr>
          <p:nvPr/>
        </p:nvPicPr>
        <p:blipFill>
          <a:blip r:embed="rId4"/>
          <a:stretch>
            <a:fillRect/>
          </a:stretch>
        </p:blipFill>
        <p:spPr>
          <a:xfrm>
            <a:off x="9493418" y="1696804"/>
            <a:ext cx="2533422" cy="2533422"/>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pic>
        <p:nvPicPr>
          <p:cNvPr id="8" name="Picture 7">
            <a:extLst>
              <a:ext uri="{FF2B5EF4-FFF2-40B4-BE49-F238E27FC236}">
                <a16:creationId xmlns:a16="http://schemas.microsoft.com/office/drawing/2014/main" id="{2F95D82E-E86F-362A-4C1C-ADFC76F8FB2E}"/>
              </a:ext>
            </a:extLst>
          </p:cNvPr>
          <p:cNvPicPr>
            <a:picLocks noChangeAspect="1"/>
          </p:cNvPicPr>
          <p:nvPr/>
        </p:nvPicPr>
        <p:blipFill>
          <a:blip r:embed="rId5"/>
          <a:stretch>
            <a:fillRect/>
          </a:stretch>
        </p:blipFill>
        <p:spPr>
          <a:xfrm>
            <a:off x="9493418" y="4230226"/>
            <a:ext cx="2533423" cy="2106441"/>
          </a:xfrm>
          <a:custGeom>
            <a:avLst/>
            <a:gdLst/>
            <a:ahLst/>
            <a:cxnLst/>
            <a:rect l="l" t="t" r="r" b="b"/>
            <a:pathLst>
              <a:path w="3064284" h="3064284">
                <a:moveTo>
                  <a:pt x="166483" y="0"/>
                </a:moveTo>
                <a:lnTo>
                  <a:pt x="2897801" y="0"/>
                </a:lnTo>
                <a:cubicBezTo>
                  <a:pt x="2989747" y="0"/>
                  <a:pt x="3064284" y="74537"/>
                  <a:pt x="3064284" y="166483"/>
                </a:cubicBezTo>
                <a:lnTo>
                  <a:pt x="3064284" y="2897801"/>
                </a:lnTo>
                <a:cubicBezTo>
                  <a:pt x="3064284" y="2989747"/>
                  <a:pt x="2989747" y="3064284"/>
                  <a:pt x="2897801" y="3064284"/>
                </a:cubicBezTo>
                <a:lnTo>
                  <a:pt x="166483" y="3064284"/>
                </a:lnTo>
                <a:cubicBezTo>
                  <a:pt x="74537" y="3064284"/>
                  <a:pt x="0" y="2989747"/>
                  <a:pt x="0" y="2897801"/>
                </a:cubicBezTo>
                <a:lnTo>
                  <a:pt x="0" y="166483"/>
                </a:lnTo>
                <a:cubicBezTo>
                  <a:pt x="0" y="74537"/>
                  <a:pt x="74537" y="0"/>
                  <a:pt x="166483" y="0"/>
                </a:cubicBezTo>
                <a:close/>
              </a:path>
            </a:pathLst>
          </a:custGeom>
        </p:spPr>
      </p:pic>
      <p:sp>
        <p:nvSpPr>
          <p:cNvPr id="29" name="Arc 28">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76147" y="5530635"/>
            <a:ext cx="3939038" cy="3939038"/>
          </a:xfrm>
          <a:prstGeom prst="arc">
            <a:avLst>
              <a:gd name="adj1" fmla="val 16200000"/>
              <a:gd name="adj2" fmla="val 20354996"/>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D1B80E9C-CF8A-440B-B8F5-54BF121BF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6066084"/>
            <a:ext cx="1913062" cy="791916"/>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Picture 4">
            <a:extLst>
              <a:ext uri="{FF2B5EF4-FFF2-40B4-BE49-F238E27FC236}">
                <a16:creationId xmlns:a16="http://schemas.microsoft.com/office/drawing/2014/main" id="{A4873E84-61C5-2D00-80AB-A1F907775BF5}"/>
              </a:ext>
            </a:extLst>
          </p:cNvPr>
          <p:cNvPicPr>
            <a:picLocks noChangeAspect="1"/>
          </p:cNvPicPr>
          <p:nvPr/>
        </p:nvPicPr>
        <p:blipFill>
          <a:blip r:embed="rId6"/>
          <a:stretch>
            <a:fillRect/>
          </a:stretch>
        </p:blipFill>
        <p:spPr>
          <a:xfrm>
            <a:off x="9493418" y="251988"/>
            <a:ext cx="2137835" cy="1425223"/>
          </a:xfrm>
          <a:prstGeom prst="rect">
            <a:avLst/>
          </a:prstGeom>
        </p:spPr>
      </p:pic>
    </p:spTree>
    <p:extLst>
      <p:ext uri="{BB962C8B-B14F-4D97-AF65-F5344CB8AC3E}">
        <p14:creationId xmlns:p14="http://schemas.microsoft.com/office/powerpoint/2010/main" val="2096031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9184"/>
            <a:ext cx="6894576" cy="1783080"/>
          </a:xfrm>
        </p:spPr>
        <p:txBody>
          <a:bodyPr anchor="b">
            <a:normAutofit/>
          </a:bodyPr>
          <a:lstStyle/>
          <a:p>
            <a:r>
              <a:rPr lang="en-US" sz="6100" b="1" dirty="0"/>
              <a:t>Need-based theories</a:t>
            </a:r>
          </a:p>
        </p:txBody>
      </p:sp>
      <p:sp>
        <p:nvSpPr>
          <p:cNvPr id="13"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706624"/>
            <a:ext cx="6894576" cy="3483864"/>
          </a:xfrm>
        </p:spPr>
        <p:txBody>
          <a:bodyPr>
            <a:normAutofit fontScale="92500" lnSpcReduction="10000"/>
          </a:bodyPr>
          <a:lstStyle/>
          <a:p>
            <a:r>
              <a:rPr lang="en-US" sz="1700" dirty="0"/>
              <a:t>Self-Determination Theory (SDT) was developed by Deci &amp; Ryan (1985) to explain intrinsic motivation. It highlights three core psychological needs:</a:t>
            </a:r>
          </a:p>
          <a:p>
            <a:pPr lvl="1"/>
            <a:r>
              <a:rPr lang="en-US" sz="1700" dirty="0"/>
              <a:t>Autonomy: Feeling in control of one's actions.</a:t>
            </a:r>
          </a:p>
          <a:p>
            <a:pPr lvl="1"/>
            <a:r>
              <a:rPr lang="en-US" sz="1700" dirty="0"/>
              <a:t>Competence: The desire to master tasks and achieve success.</a:t>
            </a:r>
          </a:p>
          <a:p>
            <a:pPr lvl="1"/>
            <a:r>
              <a:rPr lang="en-US" sz="1700" dirty="0"/>
              <a:t>Relatedness: The need to connect with others.</a:t>
            </a:r>
          </a:p>
          <a:p>
            <a:r>
              <a:rPr lang="en-US" sz="1700" dirty="0"/>
              <a:t>SDT has been applied in various settings, including workplaces, to enhance intrinsic motivation by fulfilling these needs. However, research has suggested that SDT may have lower predictive power in some situations, making its practical application somewhat limited in certain contexts.</a:t>
            </a:r>
          </a:p>
          <a:p>
            <a:endParaRPr lang="en-US" sz="1700" dirty="0"/>
          </a:p>
          <a:p>
            <a:pPr marL="0" indent="0">
              <a:buNone/>
            </a:pPr>
            <a:r>
              <a:rPr lang="en-US" sz="1700" dirty="0"/>
              <a:t>Atlassian (Ship it 59): </a:t>
            </a:r>
            <a:r>
              <a:rPr lang="en-US" sz="1700" dirty="0">
                <a:hlinkClick r:id="rId2"/>
              </a:rPr>
              <a:t>https://www.youtube.com/watch?v=6kRgKu3rUcw</a:t>
            </a:r>
            <a:endParaRPr lang="en-US" sz="1700" dirty="0"/>
          </a:p>
          <a:p>
            <a:pPr marL="0" indent="0">
              <a:buNone/>
            </a:pPr>
            <a:r>
              <a:rPr lang="en-US" sz="1700" dirty="0">
                <a:hlinkClick r:id="rId3"/>
              </a:rPr>
              <a:t>https://www.youtube.com/watch?v=8xiwyk3ouuI</a:t>
            </a:r>
            <a:endParaRPr lang="en-US" sz="1700" dirty="0"/>
          </a:p>
          <a:p>
            <a:pPr marL="0" indent="0">
              <a:buNone/>
            </a:pPr>
            <a:endParaRPr lang="en-US" sz="1700" dirty="0"/>
          </a:p>
          <a:p>
            <a:pPr marL="0" indent="0">
              <a:buNone/>
            </a:pPr>
            <a:endParaRPr lang="en-US" sz="1700" dirty="0"/>
          </a:p>
        </p:txBody>
      </p:sp>
      <p:pic>
        <p:nvPicPr>
          <p:cNvPr id="6" name="Picture 5">
            <a:extLst>
              <a:ext uri="{C183D7F6-B498-43B3-948B-1728B52AA6E4}">
                <adec:decorative xmlns:adec="http://schemas.microsoft.com/office/drawing/2017/decorative" val="1"/>
              </a:ext>
            </a:extLst>
          </p:cNvPr>
          <p:cNvPicPr>
            <a:picLocks noChangeAspect="1"/>
          </p:cNvPicPr>
          <p:nvPr/>
        </p:nvPicPr>
        <p:blipFill>
          <a:blip r:embed="rId4"/>
          <a:srcRect l="697"/>
          <a:stretch>
            <a:fillRect/>
          </a:stretch>
        </p:blipFill>
        <p:spPr>
          <a:xfrm>
            <a:off x="8156454" y="-7"/>
            <a:ext cx="4035547" cy="4178808"/>
          </a:xfrm>
          <a:custGeom>
            <a:avLst/>
            <a:gdLst/>
            <a:ahLst/>
            <a:cxnLst/>
            <a:rect l="l" t="t" r="r" b="b"/>
            <a:pathLst>
              <a:path w="4035547" h="4178808">
                <a:moveTo>
                  <a:pt x="14988" y="0"/>
                </a:moveTo>
                <a:lnTo>
                  <a:pt x="4035547" y="0"/>
                </a:lnTo>
                <a:lnTo>
                  <a:pt x="4035547" y="4161794"/>
                </a:lnTo>
                <a:lnTo>
                  <a:pt x="3918602" y="4164199"/>
                </a:lnTo>
                <a:cubicBezTo>
                  <a:pt x="3673497" y="4178956"/>
                  <a:pt x="3428120" y="4172295"/>
                  <a:pt x="3183014" y="4175560"/>
                </a:cubicBezTo>
                <a:cubicBezTo>
                  <a:pt x="2855121" y="4180001"/>
                  <a:pt x="2527499" y="4168639"/>
                  <a:pt x="2199742" y="4167595"/>
                </a:cubicBezTo>
                <a:cubicBezTo>
                  <a:pt x="2132562" y="4167334"/>
                  <a:pt x="2065110" y="4170729"/>
                  <a:pt x="1998202" y="4175952"/>
                </a:cubicBezTo>
                <a:cubicBezTo>
                  <a:pt x="1905507" y="4183005"/>
                  <a:pt x="1814033" y="4174124"/>
                  <a:pt x="1722153" y="4165766"/>
                </a:cubicBezTo>
                <a:cubicBezTo>
                  <a:pt x="1611407" y="4155711"/>
                  <a:pt x="1500933" y="4164591"/>
                  <a:pt x="1390867" y="4176214"/>
                </a:cubicBezTo>
                <a:lnTo>
                  <a:pt x="1348076" y="4178808"/>
                </a:lnTo>
                <a:lnTo>
                  <a:pt x="597587" y="4178808"/>
                </a:lnTo>
                <a:lnTo>
                  <a:pt x="507890" y="4175773"/>
                </a:lnTo>
                <a:cubicBezTo>
                  <a:pt x="403218" y="4174810"/>
                  <a:pt x="298546" y="4175691"/>
                  <a:pt x="193840" y="4176214"/>
                </a:cubicBezTo>
                <a:lnTo>
                  <a:pt x="2757" y="4175742"/>
                </a:lnTo>
                <a:lnTo>
                  <a:pt x="2810" y="4034870"/>
                </a:lnTo>
                <a:cubicBezTo>
                  <a:pt x="5629" y="3979851"/>
                  <a:pt x="10539" y="3924896"/>
                  <a:pt x="15416" y="3870068"/>
                </a:cubicBezTo>
                <a:cubicBezTo>
                  <a:pt x="23018" y="3799731"/>
                  <a:pt x="25045" y="3728899"/>
                  <a:pt x="21498" y="3658244"/>
                </a:cubicBezTo>
                <a:cubicBezTo>
                  <a:pt x="17063" y="3602147"/>
                  <a:pt x="10095" y="3546050"/>
                  <a:pt x="8828" y="3489953"/>
                </a:cubicBezTo>
                <a:cubicBezTo>
                  <a:pt x="6548" y="3389688"/>
                  <a:pt x="7434" y="3289424"/>
                  <a:pt x="13262" y="3189160"/>
                </a:cubicBezTo>
                <a:cubicBezTo>
                  <a:pt x="16176" y="3138901"/>
                  <a:pt x="20864" y="3089150"/>
                  <a:pt x="22891" y="3038510"/>
                </a:cubicBezTo>
                <a:cubicBezTo>
                  <a:pt x="24918" y="2987870"/>
                  <a:pt x="28973" y="2936723"/>
                  <a:pt x="17444" y="2887098"/>
                </a:cubicBezTo>
                <a:cubicBezTo>
                  <a:pt x="-2068" y="2802699"/>
                  <a:pt x="12249" y="2718680"/>
                  <a:pt x="16430" y="2634534"/>
                </a:cubicBezTo>
                <a:cubicBezTo>
                  <a:pt x="18964" y="2582244"/>
                  <a:pt x="34168" y="2528685"/>
                  <a:pt x="20738" y="2477919"/>
                </a:cubicBezTo>
                <a:cubicBezTo>
                  <a:pt x="-421" y="2398342"/>
                  <a:pt x="13389" y="2320415"/>
                  <a:pt x="20738" y="2242107"/>
                </a:cubicBezTo>
                <a:cubicBezTo>
                  <a:pt x="29213" y="2168001"/>
                  <a:pt x="27718" y="2093082"/>
                  <a:pt x="16303" y="2019369"/>
                </a:cubicBezTo>
                <a:cubicBezTo>
                  <a:pt x="1986" y="1946239"/>
                  <a:pt x="1986" y="1871028"/>
                  <a:pt x="16303" y="1797899"/>
                </a:cubicBezTo>
                <a:cubicBezTo>
                  <a:pt x="28162" y="1737537"/>
                  <a:pt x="29530" y="1675589"/>
                  <a:pt x="20357" y="1614758"/>
                </a:cubicBezTo>
                <a:cubicBezTo>
                  <a:pt x="14149" y="1571226"/>
                  <a:pt x="3000" y="1527947"/>
                  <a:pt x="1480" y="1484415"/>
                </a:cubicBezTo>
                <a:cubicBezTo>
                  <a:pt x="-1662" y="1393377"/>
                  <a:pt x="200" y="1302238"/>
                  <a:pt x="7055" y="1211417"/>
                </a:cubicBezTo>
                <a:cubicBezTo>
                  <a:pt x="15036" y="1107980"/>
                  <a:pt x="30366" y="1004923"/>
                  <a:pt x="19724" y="900725"/>
                </a:cubicBezTo>
                <a:cubicBezTo>
                  <a:pt x="16050" y="864934"/>
                  <a:pt x="8575" y="829270"/>
                  <a:pt x="7815" y="793353"/>
                </a:cubicBezTo>
                <a:cubicBezTo>
                  <a:pt x="6168" y="726087"/>
                  <a:pt x="5407" y="659710"/>
                  <a:pt x="9208" y="590286"/>
                </a:cubicBezTo>
                <a:cubicBezTo>
                  <a:pt x="13009" y="520863"/>
                  <a:pt x="27452" y="450424"/>
                  <a:pt x="17697" y="382270"/>
                </a:cubicBezTo>
                <a:cubicBezTo>
                  <a:pt x="7941" y="314115"/>
                  <a:pt x="14276" y="247103"/>
                  <a:pt x="20611" y="180218"/>
                </a:cubicBezTo>
                <a:cubicBezTo>
                  <a:pt x="23652" y="148426"/>
                  <a:pt x="25711" y="116982"/>
                  <a:pt x="25156" y="85665"/>
                </a:cubicBezTo>
                <a:close/>
              </a:path>
            </a:pathLst>
          </a:custGeom>
        </p:spPr>
      </p:pic>
      <p:pic>
        <p:nvPicPr>
          <p:cNvPr id="4" name="Picture 3">
            <a:extLst>
              <a:ext uri="{FF2B5EF4-FFF2-40B4-BE49-F238E27FC236}">
                <a16:creationId xmlns:a16="http://schemas.microsoft.com/office/drawing/2014/main" id="{D454B3E6-D71B-0D5A-D3EC-E4B8A032E4D7}"/>
              </a:ext>
            </a:extLst>
          </p:cNvPr>
          <p:cNvPicPr>
            <a:picLocks noChangeAspect="1"/>
          </p:cNvPicPr>
          <p:nvPr/>
        </p:nvPicPr>
        <p:blipFill>
          <a:blip r:embed="rId5"/>
          <a:srcRect t="1867" r="-1" b="2240"/>
          <a:stretch>
            <a:fillRect/>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spTree>
    <p:extLst>
      <p:ext uri="{BB962C8B-B14F-4D97-AF65-F5344CB8AC3E}">
        <p14:creationId xmlns:p14="http://schemas.microsoft.com/office/powerpoint/2010/main" val="1875166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128BC-D6B0-AF8E-EC6C-15EDB7E4896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000" kern="1200" dirty="0">
                <a:solidFill>
                  <a:srgbClr val="FFFFFF"/>
                </a:solidFill>
                <a:latin typeface="+mj-lt"/>
                <a:ea typeface="+mj-ea"/>
                <a:cs typeface="+mj-cs"/>
              </a:rPr>
              <a:t>Break time (10 mins)</a:t>
            </a:r>
            <a:br>
              <a:rPr lang="en-US" sz="2000" kern="1200" dirty="0">
                <a:solidFill>
                  <a:srgbClr val="FFFFFF"/>
                </a:solidFill>
                <a:latin typeface="+mj-lt"/>
                <a:ea typeface="+mj-ea"/>
                <a:cs typeface="+mj-cs"/>
              </a:rPr>
            </a:br>
            <a:br>
              <a:rPr lang="en-US" sz="2000" kern="1200" dirty="0">
                <a:solidFill>
                  <a:srgbClr val="FFFFFF"/>
                </a:solidFill>
                <a:latin typeface="+mj-lt"/>
                <a:ea typeface="+mj-ea"/>
                <a:cs typeface="+mj-cs"/>
              </a:rPr>
            </a:br>
            <a:br>
              <a:rPr lang="en-US" sz="2000" kern="1200" dirty="0">
                <a:solidFill>
                  <a:srgbClr val="FFFFFF"/>
                </a:solidFill>
                <a:latin typeface="+mj-lt"/>
                <a:ea typeface="+mj-ea"/>
                <a:cs typeface="+mj-cs"/>
              </a:rPr>
            </a:b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Next: Process theories of motivation</a:t>
            </a:r>
          </a:p>
        </p:txBody>
      </p:sp>
      <p:pic>
        <p:nvPicPr>
          <p:cNvPr id="3" name="Picture 2">
            <a:extLst>
              <a:ext uri="{FF2B5EF4-FFF2-40B4-BE49-F238E27FC236}">
                <a16:creationId xmlns:a16="http://schemas.microsoft.com/office/drawing/2014/main" id="{8D17C7DE-FEF0-06F2-1B19-FA34E0008430}"/>
              </a:ext>
            </a:extLst>
          </p:cNvPr>
          <p:cNvPicPr>
            <a:picLocks noChangeAspect="1"/>
          </p:cNvPicPr>
          <p:nvPr/>
        </p:nvPicPr>
        <p:blipFill>
          <a:blip r:embed="rId2"/>
          <a:stretch>
            <a:fillRect/>
          </a:stretch>
        </p:blipFill>
        <p:spPr>
          <a:xfrm>
            <a:off x="5491714" y="643466"/>
            <a:ext cx="5351903" cy="5568739"/>
          </a:xfrm>
          <a:prstGeom prst="rect">
            <a:avLst/>
          </a:prstGeom>
        </p:spPr>
      </p:pic>
    </p:spTree>
    <p:extLst>
      <p:ext uri="{BB962C8B-B14F-4D97-AF65-F5344CB8AC3E}">
        <p14:creationId xmlns:p14="http://schemas.microsoft.com/office/powerpoint/2010/main" val="81965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DAA40F-4F28-4316-934E-C55D7C3AA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1">
            <a:extLst>
              <a:ext uri="{FF2B5EF4-FFF2-40B4-BE49-F238E27FC236}">
                <a16:creationId xmlns:a16="http://schemas.microsoft.com/office/drawing/2014/main" id="{F6D467C8-A8E0-468B-B88D-9CEEE37BF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3345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40081" y="329184"/>
            <a:ext cx="6241568" cy="1783080"/>
          </a:xfrm>
        </p:spPr>
        <p:txBody>
          <a:bodyPr anchor="b">
            <a:normAutofit/>
          </a:bodyPr>
          <a:lstStyle/>
          <a:p>
            <a:r>
              <a:rPr lang="en-US" sz="5400" dirty="0">
                <a:solidFill>
                  <a:srgbClr val="FFFFFF"/>
                </a:solidFill>
              </a:rPr>
              <a:t>Equity Theory &amp; Justice Theories</a:t>
            </a:r>
          </a:p>
        </p:txBody>
      </p:sp>
      <p:sp>
        <p:nvSpPr>
          <p:cNvPr id="14" name="sketch line">
            <a:extLst>
              <a:ext uri="{FF2B5EF4-FFF2-40B4-BE49-F238E27FC236}">
                <a16:creationId xmlns:a16="http://schemas.microsoft.com/office/drawing/2014/main" id="{62677C27-4325-4BE2-B2C9-B721DA9E3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2362200"/>
            <a:ext cx="4056549" cy="18288"/>
          </a:xfrm>
          <a:custGeom>
            <a:avLst/>
            <a:gdLst>
              <a:gd name="csX0" fmla="*/ 0 w 4056549"/>
              <a:gd name="csY0" fmla="*/ 0 h 18288"/>
              <a:gd name="csX1" fmla="*/ 676092 w 4056549"/>
              <a:gd name="csY1" fmla="*/ 0 h 18288"/>
              <a:gd name="csX2" fmla="*/ 1271052 w 4056549"/>
              <a:gd name="csY2" fmla="*/ 0 h 18288"/>
              <a:gd name="csX3" fmla="*/ 1947144 w 4056549"/>
              <a:gd name="csY3" fmla="*/ 0 h 18288"/>
              <a:gd name="csX4" fmla="*/ 2501539 w 4056549"/>
              <a:gd name="csY4" fmla="*/ 0 h 18288"/>
              <a:gd name="csX5" fmla="*/ 3137065 w 4056549"/>
              <a:gd name="csY5" fmla="*/ 0 h 18288"/>
              <a:gd name="csX6" fmla="*/ 4056549 w 4056549"/>
              <a:gd name="csY6" fmla="*/ 0 h 18288"/>
              <a:gd name="csX7" fmla="*/ 4056549 w 4056549"/>
              <a:gd name="csY7" fmla="*/ 18288 h 18288"/>
              <a:gd name="csX8" fmla="*/ 3380458 w 4056549"/>
              <a:gd name="csY8" fmla="*/ 18288 h 18288"/>
              <a:gd name="csX9" fmla="*/ 2663801 w 4056549"/>
              <a:gd name="csY9" fmla="*/ 18288 h 18288"/>
              <a:gd name="csX10" fmla="*/ 2068840 w 4056549"/>
              <a:gd name="csY10" fmla="*/ 18288 h 18288"/>
              <a:gd name="csX11" fmla="*/ 1311618 w 4056549"/>
              <a:gd name="csY11" fmla="*/ 18288 h 18288"/>
              <a:gd name="csX12" fmla="*/ 716657 w 4056549"/>
              <a:gd name="csY12" fmla="*/ 18288 h 18288"/>
              <a:gd name="csX13" fmla="*/ 0 w 4056549"/>
              <a:gd name="csY13" fmla="*/ 18288 h 18288"/>
              <a:gd name="csX14" fmla="*/ 0 w 4056549"/>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1" y="2706624"/>
            <a:ext cx="6241568" cy="3483864"/>
          </a:xfrm>
        </p:spPr>
        <p:txBody>
          <a:bodyPr>
            <a:normAutofit lnSpcReduction="10000"/>
          </a:bodyPr>
          <a:lstStyle/>
          <a:p>
            <a:r>
              <a:rPr lang="en-US" sz="1700" dirty="0">
                <a:solidFill>
                  <a:srgbClr val="FFFFFF"/>
                </a:solidFill>
              </a:rPr>
              <a:t>Core Idea: Employees are motivated by perceived fairness of rewards relative to their contribution compared to others.</a:t>
            </a:r>
          </a:p>
          <a:p>
            <a:r>
              <a:rPr lang="en-US" sz="1700" dirty="0">
                <a:solidFill>
                  <a:srgbClr val="FFFFFF"/>
                </a:solidFill>
              </a:rPr>
              <a:t>Types of Justice:</a:t>
            </a:r>
          </a:p>
          <a:p>
            <a:pPr lvl="1"/>
            <a:r>
              <a:rPr lang="en-US" sz="1700" dirty="0">
                <a:solidFill>
                  <a:srgbClr val="FFFFFF"/>
                </a:solidFill>
              </a:rPr>
              <a:t>Distributive Justice: Fairness of outcomes (e.g., equity based on contribution, or equality based on need).</a:t>
            </a:r>
          </a:p>
          <a:p>
            <a:pPr lvl="1"/>
            <a:r>
              <a:rPr lang="en-US" sz="1700" dirty="0">
                <a:solidFill>
                  <a:srgbClr val="FFFFFF"/>
                </a:solidFill>
              </a:rPr>
              <a:t>Procedural Justice: Fair, consistent processes, ethical decisions, and representation.</a:t>
            </a:r>
          </a:p>
          <a:p>
            <a:pPr lvl="1"/>
            <a:r>
              <a:rPr lang="en-US" sz="1700" dirty="0">
                <a:solidFill>
                  <a:srgbClr val="FFFFFF"/>
                </a:solidFill>
              </a:rPr>
              <a:t>Interactional Justice: Respect, dignity, transparency, and honesty in communication.</a:t>
            </a:r>
          </a:p>
          <a:p>
            <a:r>
              <a:rPr lang="en-US" sz="1700" dirty="0">
                <a:solidFill>
                  <a:srgbClr val="FFFFFF"/>
                </a:solidFill>
              </a:rPr>
              <a:t>(See Fortin, 2008 for more details on Justice approaches)</a:t>
            </a:r>
          </a:p>
          <a:p>
            <a:r>
              <a:rPr lang="en-US" sz="1700" dirty="0">
                <a:solidFill>
                  <a:srgbClr val="FFFFFF"/>
                </a:solidFill>
              </a:rPr>
              <a:t>Example: NHS nurses post-pandemic: see </a:t>
            </a:r>
            <a:r>
              <a:rPr lang="en-US" sz="1700" dirty="0">
                <a:solidFill>
                  <a:srgbClr val="FFFFFF"/>
                </a:solidFill>
                <a:hlinkClick r:id="rId3"/>
              </a:rPr>
              <a:t>https://www.democracytocome.org/covids-hidden-scars-an-academic-art-installation/</a:t>
            </a:r>
            <a:endParaRPr lang="en-US" sz="1700" dirty="0">
              <a:solidFill>
                <a:srgbClr val="FFFFFF"/>
              </a:solidFill>
            </a:endParaRPr>
          </a:p>
          <a:p>
            <a:endParaRPr lang="en-US" sz="1700" dirty="0">
              <a:solidFill>
                <a:srgbClr val="FFFFFF"/>
              </a:solidFill>
            </a:endParaRPr>
          </a:p>
          <a:p>
            <a:endParaRPr lang="en-US" sz="1700" dirty="0">
              <a:solidFill>
                <a:srgbClr val="FFFFFF"/>
              </a:solidFill>
            </a:endParaRPr>
          </a:p>
        </p:txBody>
      </p:sp>
      <p:pic>
        <p:nvPicPr>
          <p:cNvPr id="5" name="Picture 4">
            <a:extLst>
              <a:ext uri="{FF2B5EF4-FFF2-40B4-BE49-F238E27FC236}">
                <a16:creationId xmlns:a16="http://schemas.microsoft.com/office/drawing/2014/main" id="{D29BD520-30F8-DAA5-4A5B-A653D07A9D26}"/>
              </a:ext>
            </a:extLst>
          </p:cNvPr>
          <p:cNvPicPr>
            <a:picLocks noChangeAspect="1"/>
          </p:cNvPicPr>
          <p:nvPr/>
        </p:nvPicPr>
        <p:blipFill>
          <a:blip r:embed="rId4"/>
          <a:stretch>
            <a:fillRect/>
          </a:stretch>
        </p:blipFill>
        <p:spPr>
          <a:xfrm>
            <a:off x="8410641" y="329183"/>
            <a:ext cx="2861541" cy="2861541"/>
          </a:xfrm>
          <a:prstGeom prst="rect">
            <a:avLst/>
          </a:prstGeom>
        </p:spPr>
      </p:pic>
      <p:pic>
        <p:nvPicPr>
          <p:cNvPr id="4" name="Picture 3">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318757" y="3429000"/>
            <a:ext cx="3045309" cy="2861541"/>
          </a:xfrm>
          <a:prstGeom prst="rect">
            <a:avLst/>
          </a:prstGeom>
        </p:spPr>
      </p:pic>
    </p:spTree>
    <p:extLst>
      <p:ext uri="{BB962C8B-B14F-4D97-AF65-F5344CB8AC3E}">
        <p14:creationId xmlns:p14="http://schemas.microsoft.com/office/powerpoint/2010/main" val="1979092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C3C2D4-2BBB-05C5-4E19-A55D72F4F120}"/>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Critiquing Justice Theories</a:t>
            </a:r>
          </a:p>
        </p:txBody>
      </p:sp>
      <p:graphicFrame>
        <p:nvGraphicFramePr>
          <p:cNvPr id="21" name="Content Placeholder 2">
            <a:extLst>
              <a:ext uri="{FF2B5EF4-FFF2-40B4-BE49-F238E27FC236}">
                <a16:creationId xmlns:a16="http://schemas.microsoft.com/office/drawing/2014/main" id="{DB588549-290C-CC8F-CB91-1E1B8BA7528E}"/>
              </a:ext>
            </a:extLst>
          </p:cNvPr>
          <p:cNvGraphicFramePr>
            <a:graphicFrameLocks noGrp="1"/>
          </p:cNvGraphicFramePr>
          <p:nvPr>
            <p:ph idx="1"/>
            <p:extLst>
              <p:ext uri="{D42A27DB-BD31-4B8C-83A1-F6EECF244321}">
                <p14:modId xmlns:p14="http://schemas.microsoft.com/office/powerpoint/2010/main" val="6049559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5736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838200" y="448721"/>
            <a:ext cx="4707671" cy="1225650"/>
          </a:xfrm>
        </p:spPr>
        <p:txBody>
          <a:bodyPr anchor="b">
            <a:normAutofit/>
          </a:bodyPr>
          <a:lstStyle/>
          <a:p>
            <a:r>
              <a:rPr lang="en-GB" sz="3800">
                <a:solidFill>
                  <a:schemeClr val="bg1"/>
                </a:solidFill>
              </a:rPr>
              <a:t>Expectancy Theory </a:t>
            </a:r>
            <a:br>
              <a:rPr lang="en-GB" sz="3800">
                <a:solidFill>
                  <a:schemeClr val="bg1"/>
                </a:solidFill>
              </a:rPr>
            </a:br>
            <a:endParaRPr lang="en-GB" sz="380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Content Placeholder 4"/>
          <p:cNvSpPr>
            <a:spLocks noGrp="1"/>
          </p:cNvSpPr>
          <p:nvPr>
            <p:ph idx="1"/>
          </p:nvPr>
        </p:nvSpPr>
        <p:spPr>
          <a:xfrm>
            <a:off x="897769" y="1909192"/>
            <a:ext cx="4586513" cy="3647710"/>
          </a:xfrm>
        </p:spPr>
        <p:txBody>
          <a:bodyPr>
            <a:normAutofit/>
          </a:bodyPr>
          <a:lstStyle/>
          <a:p>
            <a:r>
              <a:rPr lang="en-US" sz="1400">
                <a:solidFill>
                  <a:schemeClr val="bg1"/>
                </a:solidFill>
              </a:rPr>
              <a:t>Proposed by Vroom in 1960s</a:t>
            </a:r>
          </a:p>
          <a:p>
            <a:r>
              <a:rPr lang="en-US" sz="1400">
                <a:solidFill>
                  <a:schemeClr val="bg1"/>
                </a:solidFill>
              </a:rPr>
              <a:t>VIE Framework:</a:t>
            </a:r>
          </a:p>
          <a:p>
            <a:pPr lvl="1"/>
            <a:r>
              <a:rPr lang="en-US" sz="1400">
                <a:solidFill>
                  <a:schemeClr val="bg1"/>
                </a:solidFill>
              </a:rPr>
              <a:t>Expectancy: Confidence in ability to complete the task.</a:t>
            </a:r>
          </a:p>
          <a:p>
            <a:pPr lvl="1"/>
            <a:r>
              <a:rPr lang="en-US" sz="1400">
                <a:solidFill>
                  <a:schemeClr val="bg1"/>
                </a:solidFill>
              </a:rPr>
              <a:t>Instrumentality: Belief that effort will lead to reward.</a:t>
            </a:r>
          </a:p>
          <a:p>
            <a:pPr lvl="1"/>
            <a:r>
              <a:rPr lang="en-US" sz="1400">
                <a:solidFill>
                  <a:schemeClr val="bg1"/>
                </a:solidFill>
              </a:rPr>
              <a:t>Valence: Value placed on the reward.</a:t>
            </a:r>
          </a:p>
          <a:p>
            <a:r>
              <a:rPr lang="en-US" sz="1400">
                <a:solidFill>
                  <a:schemeClr val="bg1"/>
                </a:solidFill>
              </a:rPr>
              <a:t>Statistical Formula: Effort = Expectancy × Instrumentality × Valence</a:t>
            </a:r>
          </a:p>
          <a:p>
            <a:r>
              <a:rPr lang="en-US" sz="1400">
                <a:solidFill>
                  <a:schemeClr val="bg1"/>
                </a:solidFill>
              </a:rPr>
              <a:t>Practical application:</a:t>
            </a:r>
          </a:p>
          <a:p>
            <a:pPr lvl="1"/>
            <a:r>
              <a:rPr lang="en-US" sz="1400">
                <a:solidFill>
                  <a:schemeClr val="bg1"/>
                </a:solidFill>
              </a:rPr>
              <a:t>Ensure employees have the skills to succeed.</a:t>
            </a:r>
          </a:p>
          <a:p>
            <a:pPr lvl="1"/>
            <a:r>
              <a:rPr lang="en-US" sz="1400">
                <a:solidFill>
                  <a:schemeClr val="bg1"/>
                </a:solidFill>
              </a:rPr>
              <a:t>Build trust that effort will lead to rewards.</a:t>
            </a:r>
          </a:p>
          <a:p>
            <a:pPr lvl="1"/>
            <a:r>
              <a:rPr lang="en-US" sz="1400">
                <a:solidFill>
                  <a:schemeClr val="bg1"/>
                </a:solidFill>
              </a:rPr>
              <a:t>Offer meaningful rewards that employees truly value.</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E72BE05-F7DE-F5DF-89DC-3BF5F5152A07}"/>
              </a:ext>
            </a:extLst>
          </p:cNvPr>
          <p:cNvPicPr>
            <a:picLocks noChangeAspect="1"/>
          </p:cNvPicPr>
          <p:nvPr/>
        </p:nvPicPr>
        <p:blipFill>
          <a:blip r:embed="rId3"/>
          <a:stretch>
            <a:fillRect/>
          </a:stretch>
        </p:blipFill>
        <p:spPr>
          <a:xfrm>
            <a:off x="6525453" y="2083195"/>
            <a:ext cx="5666547" cy="2691609"/>
          </a:xfrm>
          <a:prstGeom prst="rect">
            <a:avLst/>
          </a:prstGeom>
        </p:spPr>
      </p:pic>
    </p:spTree>
    <p:extLst>
      <p:ext uri="{BB962C8B-B14F-4D97-AF65-F5344CB8AC3E}">
        <p14:creationId xmlns:p14="http://schemas.microsoft.com/office/powerpoint/2010/main" val="1403618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EF1B346-00E3-6620-27A3-D2F07EBC3999}"/>
              </a:ext>
            </a:extLst>
          </p:cNvPr>
          <p:cNvSpPr>
            <a:spLocks noGrp="1"/>
          </p:cNvSpPr>
          <p:nvPr>
            <p:ph type="title"/>
          </p:nvPr>
        </p:nvSpPr>
        <p:spPr>
          <a:xfrm>
            <a:off x="630936" y="495992"/>
            <a:ext cx="4195140" cy="5638831"/>
          </a:xfrm>
          <a:noFill/>
        </p:spPr>
        <p:txBody>
          <a:bodyPr anchor="ctr">
            <a:normAutofit/>
          </a:bodyPr>
          <a:lstStyle/>
          <a:p>
            <a:r>
              <a:rPr lang="en-US" sz="4800"/>
              <a:t>Critiquing Expectancy Theory</a:t>
            </a:r>
          </a:p>
        </p:txBody>
      </p:sp>
      <p:graphicFrame>
        <p:nvGraphicFramePr>
          <p:cNvPr id="5" name="Content Placeholder 2">
            <a:extLst>
              <a:ext uri="{FF2B5EF4-FFF2-40B4-BE49-F238E27FC236}">
                <a16:creationId xmlns:a16="http://schemas.microsoft.com/office/drawing/2014/main" id="{65E1CB20-67AB-ABB1-2DA8-DE12FF7B72B6}"/>
              </a:ext>
            </a:extLst>
          </p:cNvPr>
          <p:cNvGraphicFramePr>
            <a:graphicFrameLocks noGrp="1"/>
          </p:cNvGraphicFramePr>
          <p:nvPr>
            <p:ph idx="1"/>
            <p:extLst>
              <p:ext uri="{D42A27DB-BD31-4B8C-83A1-F6EECF244321}">
                <p14:modId xmlns:p14="http://schemas.microsoft.com/office/powerpoint/2010/main" val="4062273764"/>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1019735"/>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883"/>
            <a:ext cx="1370098" cy="508993"/>
            <a:chOff x="2267504" y="2540250"/>
            <a:chExt cx="1990951" cy="739640"/>
          </a:xfrm>
          <a:solidFill>
            <a:schemeClr val="bg1"/>
          </a:solidFill>
        </p:grpSpPr>
        <p:sp>
          <p:nvSpPr>
            <p:cNvPr id="30" name="Freeform: Shape 29">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C6050274-04F5-403E-93CD-0F33B9B7E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8200" y="939828"/>
            <a:ext cx="2618796" cy="2388127"/>
            <a:chOff x="1674895" y="1345036"/>
            <a:chExt cx="5428610" cy="4210939"/>
          </a:xfrm>
        </p:grpSpPr>
        <p:sp>
          <p:nvSpPr>
            <p:cNvPr id="34" name="Rectangle 33">
              <a:extLst>
                <a:ext uri="{FF2B5EF4-FFF2-40B4-BE49-F238E27FC236}">
                  <a16:creationId xmlns:a16="http://schemas.microsoft.com/office/drawing/2014/main" id="{E156683D-D795-4D85-846C-9FF61160D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444340D-4FAB-43E4-A02D-436F9ADC3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049" y="801359"/>
            <a:ext cx="2695293" cy="2429060"/>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85049" y="920873"/>
            <a:ext cx="2695293" cy="2190031"/>
          </a:xfrm>
        </p:spPr>
        <p:txBody>
          <a:bodyPr>
            <a:normAutofit/>
          </a:bodyPr>
          <a:lstStyle/>
          <a:p>
            <a:pPr algn="ctr"/>
            <a:r>
              <a:rPr lang="en-US" sz="3200">
                <a:solidFill>
                  <a:schemeClr val="bg1"/>
                </a:solidFill>
              </a:rPr>
              <a:t>Goal Setting Theory</a:t>
            </a:r>
          </a:p>
        </p:txBody>
      </p:sp>
      <p:pic>
        <p:nvPicPr>
          <p:cNvPr id="4" name="Picture 3">
            <a:extLst>
              <a:ext uri="{FF2B5EF4-FFF2-40B4-BE49-F238E27FC236}">
                <a16:creationId xmlns:a16="http://schemas.microsoft.com/office/drawing/2014/main" id="{919580CB-0BC0-3EF3-E9B2-71B6A0790511}"/>
              </a:ext>
            </a:extLst>
          </p:cNvPr>
          <p:cNvPicPr>
            <a:picLocks noChangeAspect="1"/>
          </p:cNvPicPr>
          <p:nvPr/>
        </p:nvPicPr>
        <p:blipFill>
          <a:blip r:embed="rId2"/>
          <a:srcRect r="4" b="9882"/>
          <a:stretch>
            <a:fillRect/>
          </a:stretch>
        </p:blipFill>
        <p:spPr>
          <a:xfrm>
            <a:off x="3642119" y="829701"/>
            <a:ext cx="2695292" cy="2429060"/>
          </a:xfrm>
          <a:prstGeom prst="rect">
            <a:avLst/>
          </a:prstGeom>
        </p:spPr>
      </p:pic>
      <p:pic>
        <p:nvPicPr>
          <p:cNvPr id="6" name="Picture 5">
            <a:extLst>
              <a:ext uri="{FF2B5EF4-FFF2-40B4-BE49-F238E27FC236}">
                <a16:creationId xmlns:a16="http://schemas.microsoft.com/office/drawing/2014/main" id="{F2FB3FC6-DB8C-ED5B-4A49-8B44654C68FE}"/>
              </a:ext>
            </a:extLst>
          </p:cNvPr>
          <p:cNvPicPr>
            <a:picLocks noChangeAspect="1"/>
          </p:cNvPicPr>
          <p:nvPr/>
        </p:nvPicPr>
        <p:blipFill>
          <a:blip r:embed="rId3"/>
          <a:srcRect t="4403" b="6116"/>
          <a:stretch>
            <a:fillRect/>
          </a:stretch>
        </p:blipFill>
        <p:spPr>
          <a:xfrm>
            <a:off x="697254" y="3519604"/>
            <a:ext cx="2714619" cy="2429060"/>
          </a:xfrm>
          <a:prstGeom prst="rect">
            <a:avLst/>
          </a:prstGeom>
        </p:spPr>
      </p:pic>
      <p:grpSp>
        <p:nvGrpSpPr>
          <p:cNvPr id="39"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4463108"/>
            <a:ext cx="849365" cy="849366"/>
            <a:chOff x="5829300" y="3162300"/>
            <a:chExt cx="532256" cy="532257"/>
          </a:xfrm>
          <a:solidFill>
            <a:schemeClr val="accent1">
              <a:lumMod val="60000"/>
              <a:lumOff val="40000"/>
            </a:schemeClr>
          </a:solidFill>
        </p:grpSpPr>
        <p:sp>
          <p:nvSpPr>
            <p:cNvPr id="40" name="Freeform: Shape 39">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pic>
        <p:nvPicPr>
          <p:cNvPr id="5" name="Picture 4" descr="Red toy person in front of two lines of white figures">
            <a:extLst>
              <a:ext uri="{FF2B5EF4-FFF2-40B4-BE49-F238E27FC236}">
                <a16:creationId xmlns:a16="http://schemas.microsoft.com/office/drawing/2014/main" id="{60BC04DA-D061-3625-1170-34C7E99806C8}"/>
              </a:ext>
            </a:extLst>
          </p:cNvPr>
          <p:cNvPicPr>
            <a:picLocks noChangeAspect="1"/>
          </p:cNvPicPr>
          <p:nvPr/>
        </p:nvPicPr>
        <p:blipFill>
          <a:blip r:embed="rId4"/>
          <a:srcRect l="16249" r="12415" b="-4"/>
          <a:stretch>
            <a:fillRect/>
          </a:stretch>
        </p:blipFill>
        <p:spPr>
          <a:xfrm>
            <a:off x="3673653" y="3484243"/>
            <a:ext cx="2675951" cy="2466516"/>
          </a:xfrm>
          <a:prstGeom prst="rect">
            <a:avLst/>
          </a:prstGeom>
        </p:spPr>
      </p:pic>
      <p:sp>
        <p:nvSpPr>
          <p:cNvPr id="3" name="Content Placeholder 2"/>
          <p:cNvSpPr>
            <a:spLocks noGrp="1"/>
          </p:cNvSpPr>
          <p:nvPr>
            <p:ph idx="1"/>
          </p:nvPr>
        </p:nvSpPr>
        <p:spPr>
          <a:xfrm>
            <a:off x="6837594" y="850127"/>
            <a:ext cx="4614447" cy="5049769"/>
          </a:xfrm>
        </p:spPr>
        <p:txBody>
          <a:bodyPr anchor="ctr">
            <a:normAutofit/>
          </a:bodyPr>
          <a:lstStyle/>
          <a:p>
            <a:r>
              <a:rPr lang="en-US" sz="1300">
                <a:solidFill>
                  <a:schemeClr val="bg1"/>
                </a:solidFill>
              </a:rPr>
              <a:t>Key theory developed by Locke and Latham (1990, 2002 ). </a:t>
            </a:r>
          </a:p>
          <a:p>
            <a:r>
              <a:rPr lang="en-US" sz="1300">
                <a:solidFill>
                  <a:schemeClr val="bg1"/>
                </a:solidFill>
              </a:rPr>
              <a:t>A goal is something that a person is attempting to accomplish </a:t>
            </a:r>
          </a:p>
          <a:p>
            <a:r>
              <a:rPr lang="en-US" sz="1300">
                <a:solidFill>
                  <a:schemeClr val="bg1"/>
                </a:solidFill>
              </a:rPr>
              <a:t>SMART Goals: Specific, Measurable, Agreed, Realistic, Time-bound.</a:t>
            </a:r>
          </a:p>
          <a:p>
            <a:r>
              <a:rPr lang="en-US" sz="1300">
                <a:solidFill>
                  <a:schemeClr val="bg1"/>
                </a:solidFill>
              </a:rPr>
              <a:t>Key Moderators of Goal Achievement:</a:t>
            </a:r>
          </a:p>
          <a:p>
            <a:pPr lvl="1"/>
            <a:r>
              <a:rPr lang="en-US" sz="1300">
                <a:solidFill>
                  <a:schemeClr val="bg1"/>
                </a:solidFill>
              </a:rPr>
              <a:t>Commitment: Dedication to achieving the goal.</a:t>
            </a:r>
          </a:p>
          <a:p>
            <a:pPr lvl="1"/>
            <a:r>
              <a:rPr lang="en-US" sz="1300">
                <a:solidFill>
                  <a:schemeClr val="bg1"/>
                </a:solidFill>
              </a:rPr>
              <a:t>Importance: Personal value placed on the goal.</a:t>
            </a:r>
          </a:p>
          <a:p>
            <a:pPr lvl="1"/>
            <a:r>
              <a:rPr lang="en-US" sz="1300">
                <a:solidFill>
                  <a:schemeClr val="bg1"/>
                </a:solidFill>
              </a:rPr>
              <a:t>Self-Efficacy: Belief in one’s ability to succeed.</a:t>
            </a:r>
          </a:p>
          <a:p>
            <a:pPr lvl="1"/>
            <a:r>
              <a:rPr lang="en-US" sz="1300">
                <a:solidFill>
                  <a:schemeClr val="bg1"/>
                </a:solidFill>
              </a:rPr>
              <a:t>Feedback: Regular performance insights.</a:t>
            </a:r>
          </a:p>
          <a:p>
            <a:pPr lvl="1"/>
            <a:r>
              <a:rPr lang="en-US" sz="1300">
                <a:solidFill>
                  <a:schemeClr val="bg1"/>
                </a:solidFill>
              </a:rPr>
              <a:t>Task Complexity: Appropriateness of the goal to the task difficulty.</a:t>
            </a:r>
          </a:p>
          <a:p>
            <a:endParaRPr lang="en-US" sz="1300">
              <a:solidFill>
                <a:schemeClr val="bg1"/>
              </a:solidFill>
            </a:endParaRPr>
          </a:p>
          <a:p>
            <a:endParaRPr lang="en-US" sz="1300">
              <a:solidFill>
                <a:schemeClr val="bg1"/>
              </a:solidFill>
            </a:endParaRPr>
          </a:p>
        </p:txBody>
      </p:sp>
    </p:spTree>
    <p:extLst>
      <p:ext uri="{BB962C8B-B14F-4D97-AF65-F5344CB8AC3E}">
        <p14:creationId xmlns:p14="http://schemas.microsoft.com/office/powerpoint/2010/main" val="1358893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352BBB9-69A8-405C-9209-A9FE217AED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6" name="Oval 15">
              <a:extLst>
                <a:ext uri="{FF2B5EF4-FFF2-40B4-BE49-F238E27FC236}">
                  <a16:creationId xmlns:a16="http://schemas.microsoft.com/office/drawing/2014/main" id="{2BA8247A-9874-4F57-82F4-AEB016E66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30C3CE4-8479-4B6E-9C21-D7B0CD89E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7BCD297-22FC-4ECD-95DC-8581D5E6B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61A25F1-8873-4D98-B8D5-169EA0AC9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B7BCAD9-3EF1-4FCE-AFA0-BD2C545A7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649524-3638-4334-8ED6-539D10DF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630936" y="684915"/>
            <a:ext cx="4651076" cy="1951075"/>
          </a:xfrm>
          <a:noFill/>
        </p:spPr>
        <p:txBody>
          <a:bodyPr>
            <a:normAutofit/>
          </a:bodyPr>
          <a:lstStyle/>
          <a:p>
            <a:r>
              <a:rPr lang="en-US">
                <a:solidFill>
                  <a:schemeClr val="bg1"/>
                </a:solidFill>
              </a:rPr>
              <a:t>Goals as Motivational Forces</a:t>
            </a:r>
          </a:p>
        </p:txBody>
      </p:sp>
      <p:sp>
        <p:nvSpPr>
          <p:cNvPr id="8" name="Content Placeholder 7">
            <a:extLst>
              <a:ext uri="{FF2B5EF4-FFF2-40B4-BE49-F238E27FC236}">
                <a16:creationId xmlns:a16="http://schemas.microsoft.com/office/drawing/2014/main" id="{D9098142-9AFF-48B7-A003-DF91897EC3A4}"/>
              </a:ext>
            </a:extLst>
          </p:cNvPr>
          <p:cNvSpPr>
            <a:spLocks noGrp="1"/>
          </p:cNvSpPr>
          <p:nvPr>
            <p:ph idx="1"/>
          </p:nvPr>
        </p:nvSpPr>
        <p:spPr>
          <a:xfrm>
            <a:off x="5486080" y="684921"/>
            <a:ext cx="5674107" cy="1951087"/>
          </a:xfrm>
          <a:noFill/>
        </p:spPr>
        <p:txBody>
          <a:bodyPr anchor="t">
            <a:normAutofit/>
          </a:bodyPr>
          <a:lstStyle/>
          <a:p>
            <a:endParaRPr lang="en-US" sz="1800">
              <a:solidFill>
                <a:schemeClr val="bg1"/>
              </a:solidFill>
            </a:endParaRPr>
          </a:p>
        </p:txBody>
      </p:sp>
      <p:sp>
        <p:nvSpPr>
          <p:cNvPr id="23" name="Rectangle 22">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6" name="Straight Connector 25">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4" name="Straight Connector 33">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 name="Content Placeholder 3" descr="This is a diagram called Goals as Motivational Forces. It shows key initial factors being how commited and accepting a person is of a goal. This influences their motivation, which in turn influences their performance. It also shows that these things are moderated by how specific the goal in (think SMART goals) and also the person’s ability. "/>
          <p:cNvPicPr>
            <a:picLocks noChangeAspect="1"/>
          </p:cNvPicPr>
          <p:nvPr/>
        </p:nvPicPr>
        <p:blipFill>
          <a:blip r:embed="rId2">
            <a:extLst>
              <a:ext uri="{28A0092B-C50C-407E-A947-70E740481C1C}">
                <a14:useLocalDpi xmlns:a14="http://schemas.microsoft.com/office/drawing/2010/main" val="0"/>
              </a:ext>
            </a:extLst>
          </a:blip>
          <a:srcRect t="8246" r="-1" b="957"/>
          <a:stretch>
            <a:fillRect/>
          </a:stretch>
        </p:blipFill>
        <p:spPr>
          <a:xfrm>
            <a:off x="629638" y="2708781"/>
            <a:ext cx="10848063" cy="3496632"/>
          </a:xfrm>
          <a:prstGeom prst="rect">
            <a:avLst/>
          </a:prstGeom>
        </p:spPr>
      </p:pic>
      <p:grpSp>
        <p:nvGrpSpPr>
          <p:cNvPr id="39" name="Group 38">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2852760"/>
            <a:ext cx="304800" cy="429768"/>
            <a:chOff x="215328" y="-46937"/>
            <a:chExt cx="304800" cy="2773841"/>
          </a:xfrm>
        </p:grpSpPr>
        <p:cxnSp>
          <p:nvCxnSpPr>
            <p:cNvPr id="40" name="Straight Connector 39">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0050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FD54-42B3-396A-D210-04B296953C4F}"/>
              </a:ext>
            </a:extLst>
          </p:cNvPr>
          <p:cNvSpPr>
            <a:spLocks noGrp="1"/>
          </p:cNvSpPr>
          <p:nvPr>
            <p:ph type="title"/>
          </p:nvPr>
        </p:nvSpPr>
        <p:spPr>
          <a:xfrm>
            <a:off x="761803" y="350196"/>
            <a:ext cx="4646904" cy="1624520"/>
          </a:xfrm>
        </p:spPr>
        <p:txBody>
          <a:bodyPr anchor="ctr">
            <a:normAutofit/>
          </a:bodyPr>
          <a:lstStyle/>
          <a:p>
            <a:r>
              <a:rPr lang="en-US" sz="4000"/>
              <a:t>Critiquing Goal based Theories</a:t>
            </a:r>
          </a:p>
        </p:txBody>
      </p:sp>
      <p:sp>
        <p:nvSpPr>
          <p:cNvPr id="3" name="Content Placeholder 2">
            <a:extLst>
              <a:ext uri="{FF2B5EF4-FFF2-40B4-BE49-F238E27FC236}">
                <a16:creationId xmlns:a16="http://schemas.microsoft.com/office/drawing/2014/main" id="{C5D4B1D0-27BB-0A07-7CA1-17966A340121}"/>
              </a:ext>
            </a:extLst>
          </p:cNvPr>
          <p:cNvSpPr>
            <a:spLocks noGrp="1"/>
          </p:cNvSpPr>
          <p:nvPr>
            <p:ph idx="1"/>
          </p:nvPr>
        </p:nvSpPr>
        <p:spPr>
          <a:xfrm>
            <a:off x="761802" y="2743200"/>
            <a:ext cx="4646905" cy="3613149"/>
          </a:xfrm>
        </p:spPr>
        <p:txBody>
          <a:bodyPr anchor="ctr">
            <a:normAutofit/>
          </a:bodyPr>
          <a:lstStyle/>
          <a:p>
            <a:r>
              <a:rPr lang="en-US" sz="1700"/>
              <a:t>Multiple Goals: Employees often juggle many goals, some of which may conflict with each other.</a:t>
            </a:r>
          </a:p>
          <a:p>
            <a:r>
              <a:rPr lang="en-US" sz="1700"/>
              <a:t>Tunnel Vision: Focusing on specific goals can lead to blindness toward other important issues.</a:t>
            </a:r>
          </a:p>
          <a:p>
            <a:r>
              <a:rPr lang="en-US" sz="1700"/>
              <a:t>Competitive Culture: Can foster excessive competition rather than collaboration.</a:t>
            </a:r>
          </a:p>
          <a:p>
            <a:r>
              <a:rPr lang="en-US" sz="1700"/>
              <a:t>Rational vs Emotional: Assumes goal pursuit is purely rational, but emotions also influence decisions.</a:t>
            </a:r>
          </a:p>
          <a:p>
            <a:pPr marL="457200" lvl="1" indent="0">
              <a:buNone/>
            </a:pPr>
            <a:r>
              <a:rPr lang="en-US" sz="1700"/>
              <a:t>(Ordonez et al, 2009)</a:t>
            </a:r>
          </a:p>
          <a:p>
            <a:endParaRPr lang="en-US" sz="1700"/>
          </a:p>
          <a:p>
            <a:endParaRPr lang="en-US" sz="1700"/>
          </a:p>
        </p:txBody>
      </p:sp>
      <p:pic>
        <p:nvPicPr>
          <p:cNvPr id="5" name="Picture 4" descr="One in a crowd">
            <a:extLst>
              <a:ext uri="{FF2B5EF4-FFF2-40B4-BE49-F238E27FC236}">
                <a16:creationId xmlns:a16="http://schemas.microsoft.com/office/drawing/2014/main" id="{3537F1ED-C1D9-E7F4-185A-B4C5DC735434}"/>
              </a:ext>
            </a:extLst>
          </p:cNvPr>
          <p:cNvPicPr>
            <a:picLocks noChangeAspect="1"/>
          </p:cNvPicPr>
          <p:nvPr/>
        </p:nvPicPr>
        <p:blipFill>
          <a:blip r:embed="rId2"/>
          <a:srcRect l="20725" r="12534"/>
          <a:stretch>
            <a:fillRect/>
          </a:stretch>
        </p:blipFill>
        <p:spPr>
          <a:xfrm>
            <a:off x="6096000" y="1"/>
            <a:ext cx="6102825" cy="6858000"/>
          </a:xfrm>
          <a:prstGeom prst="rect">
            <a:avLst/>
          </a:prstGeom>
        </p:spPr>
      </p:pic>
    </p:spTree>
    <p:extLst>
      <p:ext uri="{BB962C8B-B14F-4D97-AF65-F5344CB8AC3E}">
        <p14:creationId xmlns:p14="http://schemas.microsoft.com/office/powerpoint/2010/main" val="3635607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47D6575-0B06-40B2-9D0F-298202F6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c 11">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p:cNvSpPr>
            <a:spLocks noGrp="1"/>
          </p:cNvSpPr>
          <p:nvPr>
            <p:ph type="title"/>
          </p:nvPr>
        </p:nvSpPr>
        <p:spPr>
          <a:xfrm>
            <a:off x="892818" y="1370171"/>
            <a:ext cx="5085580" cy="2387600"/>
          </a:xfrm>
        </p:spPr>
        <p:txBody>
          <a:bodyPr vert="horz" lIns="91440" tIns="45720" rIns="91440" bIns="45720" rtlCol="0" anchor="b">
            <a:normAutofit/>
          </a:bodyPr>
          <a:lstStyle/>
          <a:p>
            <a:r>
              <a:rPr lang="en-US" sz="6000" b="1">
                <a:solidFill>
                  <a:schemeClr val="bg1"/>
                </a:solidFill>
              </a:rPr>
              <a:t>The Future?</a:t>
            </a:r>
            <a:br>
              <a:rPr lang="en-US" sz="6000" b="1">
                <a:solidFill>
                  <a:schemeClr val="bg1"/>
                </a:solidFill>
              </a:rPr>
            </a:br>
            <a:endParaRPr lang="en-US" sz="6000" b="1">
              <a:solidFill>
                <a:schemeClr val="bg1"/>
              </a:solidFill>
            </a:endParaRPr>
          </a:p>
        </p:txBody>
      </p:sp>
      <p:sp>
        <p:nvSpPr>
          <p:cNvPr id="14" name="Oval 13">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This is a picture of a person holding a crystal ball to signifiy looking into the future. "/>
          <p:cNvPicPr>
            <a:picLocks noChangeAspect="1"/>
          </p:cNvPicPr>
          <p:nvPr/>
        </p:nvPicPr>
        <p:blipFill>
          <a:blip r:embed="rId2"/>
          <a:srcRect l="25581" r="22161"/>
          <a:stretch>
            <a:fillRect/>
          </a:stretch>
        </p:blipFill>
        <p:spPr>
          <a:xfrm>
            <a:off x="6520859" y="795510"/>
            <a:ext cx="5137520" cy="5137520"/>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16" name="Rectangle 15">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2154" y="4925384"/>
            <a:ext cx="876704" cy="876704"/>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170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566692-9F0E-B9CF-8FFE-1AF2F3C78032}"/>
              </a:ext>
            </a:extLst>
          </p:cNvPr>
          <p:cNvSpPr>
            <a:spLocks noGrp="1"/>
          </p:cNvSpPr>
          <p:nvPr>
            <p:ph type="title"/>
          </p:nvPr>
        </p:nvSpPr>
        <p:spPr>
          <a:xfrm>
            <a:off x="686834" y="1153572"/>
            <a:ext cx="3200400" cy="4461163"/>
          </a:xfrm>
        </p:spPr>
        <p:txBody>
          <a:bodyPr>
            <a:normAutofit/>
          </a:bodyPr>
          <a:lstStyle/>
          <a:p>
            <a:r>
              <a:rPr lang="en-GB" b="1">
                <a:solidFill>
                  <a:srgbClr val="FFFFFF"/>
                </a:solidFill>
              </a:rPr>
              <a:t>Theory Integration</a:t>
            </a:r>
            <a:br>
              <a:rPr lang="en-GB">
                <a:solidFill>
                  <a:srgbClr val="FFFFFF"/>
                </a:solidFill>
              </a:rPr>
            </a:b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B825208-97FB-D060-884E-E153D7ABDDA4}"/>
              </a:ext>
            </a:extLst>
          </p:cNvPr>
          <p:cNvSpPr>
            <a:spLocks noGrp="1"/>
          </p:cNvSpPr>
          <p:nvPr>
            <p:ph idx="1"/>
          </p:nvPr>
        </p:nvSpPr>
        <p:spPr>
          <a:xfrm>
            <a:off x="4447308" y="591344"/>
            <a:ext cx="6906491" cy="5585619"/>
          </a:xfrm>
        </p:spPr>
        <p:txBody>
          <a:bodyPr anchor="ctr">
            <a:normAutofit/>
          </a:bodyPr>
          <a:lstStyle/>
          <a:p>
            <a:pPr marL="0" indent="0">
              <a:buNone/>
            </a:pPr>
            <a:r>
              <a:rPr lang="en-GB" sz="2400" b="1" dirty="0"/>
              <a:t>Locke &amp; Latham (Academy of Management Review, 2004):</a:t>
            </a:r>
            <a:endParaRPr lang="en-GB" sz="2400" dirty="0"/>
          </a:p>
          <a:p>
            <a:pPr marL="0" indent="0">
              <a:buNone/>
            </a:pPr>
            <a:endParaRPr lang="en-GB" sz="2400" b="1" dirty="0"/>
          </a:p>
          <a:p>
            <a:pPr marL="0" indent="0">
              <a:buNone/>
            </a:pPr>
            <a:r>
              <a:rPr lang="en-GB" sz="2400" b="1" dirty="0"/>
              <a:t>“When beginning to study the plethora of existing work</a:t>
            </a:r>
            <a:r>
              <a:rPr lang="en-GB" sz="2400" dirty="0"/>
              <a:t> </a:t>
            </a:r>
            <a:r>
              <a:rPr lang="en-GB" sz="2400" b="1" dirty="0"/>
              <a:t>motivation theories, one’s reaction is sometimes bewilderment at the enormous variety of concepts and</a:t>
            </a:r>
            <a:r>
              <a:rPr lang="en-GB" sz="2400" dirty="0"/>
              <a:t> </a:t>
            </a:r>
            <a:r>
              <a:rPr lang="en-GB" sz="2400" b="1" dirty="0"/>
              <a:t>approaches. But, if one looks closely, it is evident that, for most part, these theories, though flawed and/or limited in various respects, do not so much contradict one another</a:t>
            </a:r>
            <a:r>
              <a:rPr lang="en-GB" sz="2400" dirty="0"/>
              <a:t> </a:t>
            </a:r>
            <a:r>
              <a:rPr lang="en-GB" sz="2400" b="1" dirty="0"/>
              <a:t>as focus on different aspects of the motivation process.</a:t>
            </a:r>
            <a:r>
              <a:rPr lang="en-GB" sz="2400" dirty="0"/>
              <a:t> </a:t>
            </a:r>
            <a:r>
              <a:rPr lang="en-GB" sz="2400" b="1" dirty="0"/>
              <a:t>Therefore, there is now urgent need to tie these theories</a:t>
            </a:r>
            <a:r>
              <a:rPr lang="en-GB" sz="2400" dirty="0"/>
              <a:t> </a:t>
            </a:r>
            <a:r>
              <a:rPr lang="en-GB" sz="2400" b="1" dirty="0"/>
              <a:t>and processes together into an overall model, insofar as this is possible.”</a:t>
            </a:r>
            <a:endParaRPr lang="en-GB" sz="2400" dirty="0"/>
          </a:p>
          <a:p>
            <a:endParaRPr lang="en-US" sz="2400" dirty="0"/>
          </a:p>
        </p:txBody>
      </p:sp>
    </p:spTree>
    <p:extLst>
      <p:ext uri="{BB962C8B-B14F-4D97-AF65-F5344CB8AC3E}">
        <p14:creationId xmlns:p14="http://schemas.microsoft.com/office/powerpoint/2010/main" val="3475883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rPr>
              <a:t>An Integrated Approach….</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GB" sz="2000"/>
              <a:t>Understanding why people think and act the way they do is complex. Can any single theory capture this complexity entirely? Rather than viewing theories as conflicting, maybe they should be seen as complementary? </a:t>
            </a:r>
          </a:p>
          <a:p>
            <a:r>
              <a:rPr lang="en-GB" sz="2000"/>
              <a:t>An alternative more holistic approach would be to integrate elements from both process and content theories, blending explanations of the "why" (motivational drivers) and "how" (mechanisms through which behaviour is directed and sustained). </a:t>
            </a:r>
          </a:p>
          <a:p>
            <a:pPr marL="0" indent="0">
              <a:buNone/>
            </a:pPr>
            <a:r>
              <a:rPr lang="en-GB" sz="2000"/>
              <a:t>For more information on integrative models see:</a:t>
            </a:r>
          </a:p>
          <a:p>
            <a:pPr marL="0" indent="0">
              <a:buNone/>
            </a:pPr>
            <a:r>
              <a:rPr lang="en-GB" sz="2000"/>
              <a:t>Bratton, J. (2021) Introduction to work and organizational behaviour. (available as e-book)</a:t>
            </a:r>
          </a:p>
          <a:p>
            <a:pPr marL="0" indent="0">
              <a:buNone/>
            </a:pPr>
            <a:r>
              <a:rPr lang="en-GB" sz="2000"/>
              <a:t>Klien, H. J. (1989) An integrated control theory model of work motivation, </a:t>
            </a:r>
            <a:r>
              <a:rPr lang="en-GB" sz="2000" i="1"/>
              <a:t>Academy of Management Review</a:t>
            </a:r>
            <a:r>
              <a:rPr lang="en-GB" sz="2000"/>
              <a:t>, 14 pp. 150-72.</a:t>
            </a:r>
          </a:p>
          <a:p>
            <a:pPr marL="0" indent="0">
              <a:buNone/>
            </a:pPr>
            <a:r>
              <a:rPr lang="en-GB" sz="2000"/>
              <a:t>Arnold et al (2020) Work psychology: Understanding human behaviour in the workplace. Pearson: London.</a:t>
            </a:r>
          </a:p>
        </p:txBody>
      </p:sp>
    </p:spTree>
    <p:extLst>
      <p:ext uri="{BB962C8B-B14F-4D97-AF65-F5344CB8AC3E}">
        <p14:creationId xmlns:p14="http://schemas.microsoft.com/office/powerpoint/2010/main" val="638375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Future Directions: </a:t>
            </a:r>
            <a:br>
              <a:rPr lang="en-US">
                <a:solidFill>
                  <a:srgbClr val="FFFFFF"/>
                </a:solidFill>
              </a:rPr>
            </a:br>
            <a:r>
              <a:rPr lang="en-US">
                <a:solidFill>
                  <a:srgbClr val="FFFFFF"/>
                </a:solidFill>
              </a:rPr>
              <a:t>More employee control = more motivation?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marL="0" indent="0">
              <a:buNone/>
            </a:pPr>
            <a:r>
              <a:rPr lang="en-US" sz="1500" b="1"/>
              <a:t>Proactive Motivation</a:t>
            </a:r>
          </a:p>
          <a:p>
            <a:r>
              <a:rPr lang="en-US" sz="1500"/>
              <a:t>Employees should not only respond to external demands but also be encouraged to take initiative and engage proactively in tasks and challenges. This involves fostering a culture where individuals feel empowered to shape their roles and environment.</a:t>
            </a:r>
          </a:p>
          <a:p>
            <a:pPr marL="0" indent="0">
              <a:buNone/>
            </a:pPr>
            <a:r>
              <a:rPr lang="en-US" sz="1500" b="1"/>
              <a:t>Motivation Across the Lifespan</a:t>
            </a:r>
          </a:p>
          <a:p>
            <a:r>
              <a:rPr lang="en-US" sz="1500"/>
              <a:t>Motivational needs and drivers change over time. It's crucial to understand age-related differences in motivation, as younger employees may be driven by career growth, while older employees might prioritize stability, purpose, or work-life balance.</a:t>
            </a:r>
          </a:p>
          <a:p>
            <a:pPr marL="0" indent="0">
              <a:buNone/>
            </a:pPr>
            <a:r>
              <a:rPr lang="en-US" sz="1500" b="1"/>
              <a:t>Contextual Influences</a:t>
            </a:r>
          </a:p>
          <a:p>
            <a:r>
              <a:rPr lang="en-US" sz="1500"/>
              <a:t>Motivation is not only shaped by personal factors but is also heavily influenced by the surrounding environment, organizational culture, and societal trends. Future research and practice should consider these broader contextual elements when developing motivation strategies.</a:t>
            </a:r>
          </a:p>
          <a:p>
            <a:pPr marL="0" indent="0">
              <a:buNone/>
            </a:pPr>
            <a:r>
              <a:rPr lang="en-US" sz="1500" b="1"/>
              <a:t>Beyond Person-Centric Approaches</a:t>
            </a:r>
          </a:p>
          <a:p>
            <a:r>
              <a:rPr lang="en-US" sz="1500"/>
              <a:t>Traditionally, motivation has focused on individual traits or behaviors. However, future approaches should go beyond person-centric views, considering collective motivation and team dynamics, as well as how organizational systems and policies influence motivation at all levels.</a:t>
            </a:r>
          </a:p>
          <a:p>
            <a:endParaRPr lang="en-US" sz="1500"/>
          </a:p>
        </p:txBody>
      </p:sp>
    </p:spTree>
    <p:extLst>
      <p:ext uri="{BB962C8B-B14F-4D97-AF65-F5344CB8AC3E}">
        <p14:creationId xmlns:p14="http://schemas.microsoft.com/office/powerpoint/2010/main" val="1145499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F07AD-C1E7-CC4E-7670-43D814F52503}"/>
              </a:ext>
            </a:extLst>
          </p:cNvPr>
          <p:cNvSpPr>
            <a:spLocks noGrp="1"/>
          </p:cNvSpPr>
          <p:nvPr>
            <p:ph type="title"/>
          </p:nvPr>
        </p:nvSpPr>
        <p:spPr>
          <a:xfrm>
            <a:off x="686834" y="1153572"/>
            <a:ext cx="3200400" cy="4461163"/>
          </a:xfrm>
        </p:spPr>
        <p:txBody>
          <a:bodyPr>
            <a:normAutofit/>
          </a:bodyPr>
          <a:lstStyle/>
          <a:p>
            <a:r>
              <a:rPr lang="en-US">
                <a:solidFill>
                  <a:srgbClr val="FFFFFF"/>
                </a:solidFill>
              </a:rPr>
              <a:t>Link between financial rewards, motivation &amp; performance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9742E34-FE5B-267B-225C-B0481EB209D8}"/>
              </a:ext>
            </a:extLst>
          </p:cNvPr>
          <p:cNvSpPr>
            <a:spLocks noGrp="1"/>
          </p:cNvSpPr>
          <p:nvPr>
            <p:ph idx="1"/>
          </p:nvPr>
        </p:nvSpPr>
        <p:spPr>
          <a:xfrm>
            <a:off x="4447308" y="591344"/>
            <a:ext cx="6906491" cy="5585619"/>
          </a:xfrm>
        </p:spPr>
        <p:txBody>
          <a:bodyPr anchor="ctr">
            <a:normAutofit/>
          </a:bodyPr>
          <a:lstStyle/>
          <a:p>
            <a:r>
              <a:rPr lang="en-US" sz="1800"/>
              <a:t>Common Assumption: Many managers view financial rewards like pay and bonuses as the primary way to motivate and reward good performance.</a:t>
            </a:r>
          </a:p>
          <a:p>
            <a:r>
              <a:rPr lang="en-US" sz="1800"/>
              <a:t>Theories on Pay: Some motivation theories (e.g. Maslow) emphasize money as a basic need, but Herzberg (1968) argued that while insufficient pay can cause dissatisfaction, financial incentives alone may not drive true motivation.</a:t>
            </a:r>
          </a:p>
          <a:p>
            <a:r>
              <a:rPr lang="en-US" sz="1800"/>
              <a:t>CIPD Review (Cotton et al, 2022): Strong evidence suggests that financial rewards positively impact both motivation and performance in the workplace.</a:t>
            </a:r>
          </a:p>
          <a:p>
            <a:r>
              <a:rPr lang="en-US" sz="1800"/>
              <a:t>Individual Differences: The effect of money as a motivator varies based on personal circumstances—what motivates one employee may not be as powerful for another.</a:t>
            </a:r>
          </a:p>
          <a:p>
            <a:r>
              <a:rPr lang="en-US" sz="1800"/>
              <a:t>Equity Theory Perspective: According to Adam’s Equity Theory, financial rewards must be perceived as fair and equitable to effectively influence motivation. If employees feel under-rewarded compared to others, it can demotivate them.</a:t>
            </a:r>
          </a:p>
          <a:p>
            <a:endParaRPr lang="en-US" sz="1800"/>
          </a:p>
        </p:txBody>
      </p:sp>
    </p:spTree>
    <p:extLst>
      <p:ext uri="{BB962C8B-B14F-4D97-AF65-F5344CB8AC3E}">
        <p14:creationId xmlns:p14="http://schemas.microsoft.com/office/powerpoint/2010/main" val="3846644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7737B4-34F4-308C-9591-DE15C2CA74B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Reward Packages </a:t>
            </a:r>
          </a:p>
        </p:txBody>
      </p:sp>
      <p:graphicFrame>
        <p:nvGraphicFramePr>
          <p:cNvPr id="5" name="Content Placeholder 2">
            <a:extLst>
              <a:ext uri="{FF2B5EF4-FFF2-40B4-BE49-F238E27FC236}">
                <a16:creationId xmlns:a16="http://schemas.microsoft.com/office/drawing/2014/main" id="{DDB112E6-CBB0-BC3B-788F-72D623514983}"/>
              </a:ext>
            </a:extLst>
          </p:cNvPr>
          <p:cNvGraphicFramePr>
            <a:graphicFrameLocks noGrp="1"/>
          </p:cNvGraphicFramePr>
          <p:nvPr>
            <p:ph idx="1"/>
            <p:extLst>
              <p:ext uri="{D42A27DB-BD31-4B8C-83A1-F6EECF244321}">
                <p14:modId xmlns:p14="http://schemas.microsoft.com/office/powerpoint/2010/main" val="1214657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024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211C-8AFD-D8DE-3BB9-0C8CB473FD72}"/>
              </a:ext>
            </a:extLst>
          </p:cNvPr>
          <p:cNvSpPr>
            <a:spLocks noGrp="1"/>
          </p:cNvSpPr>
          <p:nvPr>
            <p:ph type="title"/>
          </p:nvPr>
        </p:nvSpPr>
        <p:spPr>
          <a:xfrm>
            <a:off x="481011" y="327025"/>
            <a:ext cx="5324477" cy="1630363"/>
          </a:xfrm>
        </p:spPr>
        <p:txBody>
          <a:bodyPr anchor="b">
            <a:normAutofit/>
          </a:bodyPr>
          <a:lstStyle/>
          <a:p>
            <a:r>
              <a:rPr lang="en-US" sz="3600"/>
              <a:t>Designing Motivating Jobs </a:t>
            </a:r>
          </a:p>
        </p:txBody>
      </p:sp>
      <p:pic>
        <p:nvPicPr>
          <p:cNvPr id="6" name="Picture 5">
            <a:extLst>
              <a:ext uri="{FF2B5EF4-FFF2-40B4-BE49-F238E27FC236}">
                <a16:creationId xmlns:a16="http://schemas.microsoft.com/office/drawing/2014/main" id="{0CFD3616-2755-8940-F9D8-6A9F310EC9AD}"/>
              </a:ext>
            </a:extLst>
          </p:cNvPr>
          <p:cNvPicPr>
            <a:picLocks noChangeAspect="1"/>
          </p:cNvPicPr>
          <p:nvPr/>
        </p:nvPicPr>
        <p:blipFill>
          <a:blip r:embed="rId2"/>
          <a:srcRect l="12544" r="28889" b="-1"/>
          <a:stretch>
            <a:fillRect/>
          </a:stretch>
        </p:blipFill>
        <p:spPr>
          <a:xfrm>
            <a:off x="5966355" y="1"/>
            <a:ext cx="6225645"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D7BFC672-5A35-F87A-9D17-35C367C72362}"/>
              </a:ext>
            </a:extLst>
          </p:cNvPr>
          <p:cNvGraphicFramePr>
            <a:graphicFrameLocks noGrp="1"/>
          </p:cNvGraphicFramePr>
          <p:nvPr>
            <p:ph idx="1"/>
            <p:extLst>
              <p:ext uri="{D42A27DB-BD31-4B8C-83A1-F6EECF244321}">
                <p14:modId xmlns:p14="http://schemas.microsoft.com/office/powerpoint/2010/main" val="2662722123"/>
              </p:ext>
            </p:extLst>
          </p:nvPr>
        </p:nvGraphicFramePr>
        <p:xfrm>
          <a:off x="481013" y="2286001"/>
          <a:ext cx="5324475"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1075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5762F-9C6D-FA1F-6903-EB3EB14F98D2}"/>
              </a:ext>
            </a:extLst>
          </p:cNvPr>
          <p:cNvSpPr>
            <a:spLocks noGrp="1"/>
          </p:cNvSpPr>
          <p:nvPr>
            <p:ph type="title"/>
          </p:nvPr>
        </p:nvSpPr>
        <p:spPr>
          <a:xfrm>
            <a:off x="838201" y="1641752"/>
            <a:ext cx="4394200" cy="1323439"/>
          </a:xfrm>
        </p:spPr>
        <p:txBody>
          <a:bodyPr>
            <a:normAutofit/>
          </a:bodyPr>
          <a:lstStyle/>
          <a:p>
            <a:r>
              <a:rPr lang="en-GB" sz="2500" b="1">
                <a:solidFill>
                  <a:schemeClr val="bg1"/>
                </a:solidFill>
              </a:rPr>
              <a:t>Job Crafting –</a:t>
            </a:r>
            <a:br>
              <a:rPr lang="en-GB" sz="2500">
                <a:solidFill>
                  <a:schemeClr val="bg1"/>
                </a:solidFill>
              </a:rPr>
            </a:br>
            <a:r>
              <a:rPr lang="en-GB" sz="2500" b="1">
                <a:solidFill>
                  <a:schemeClr val="bg1"/>
                </a:solidFill>
              </a:rPr>
              <a:t>Wrzesniewski &amp; Dutton, 2001</a:t>
            </a:r>
            <a:br>
              <a:rPr lang="en-GB" sz="2500">
                <a:solidFill>
                  <a:schemeClr val="bg1"/>
                </a:solidFill>
              </a:rPr>
            </a:br>
            <a:endParaRPr lang="en-US" sz="2500">
              <a:solidFill>
                <a:schemeClr val="bg1"/>
              </a:solidFill>
            </a:endParaRPr>
          </a:p>
        </p:txBody>
      </p:sp>
      <p:sp>
        <p:nvSpPr>
          <p:cNvPr id="3" name="Content Placeholder 2">
            <a:extLst>
              <a:ext uri="{FF2B5EF4-FFF2-40B4-BE49-F238E27FC236}">
                <a16:creationId xmlns:a16="http://schemas.microsoft.com/office/drawing/2014/main" id="{241E582D-B86E-6CAB-BF4D-8E8618EBC03D}"/>
              </a:ext>
            </a:extLst>
          </p:cNvPr>
          <p:cNvSpPr>
            <a:spLocks noGrp="1"/>
          </p:cNvSpPr>
          <p:nvPr>
            <p:ph idx="1"/>
          </p:nvPr>
        </p:nvSpPr>
        <p:spPr>
          <a:xfrm>
            <a:off x="838201" y="3146400"/>
            <a:ext cx="4394200" cy="2454300"/>
          </a:xfrm>
        </p:spPr>
        <p:txBody>
          <a:bodyPr>
            <a:normAutofit/>
          </a:bodyPr>
          <a:lstStyle/>
          <a:p>
            <a:pPr marL="0" indent="0">
              <a:buNone/>
            </a:pPr>
            <a:r>
              <a:rPr lang="en-GB" sz="1700" b="1">
                <a:solidFill>
                  <a:schemeClr val="bg1">
                    <a:alpha val="80000"/>
                  </a:schemeClr>
                </a:solidFill>
              </a:rPr>
              <a:t>The motivation for job crafting arises from three</a:t>
            </a:r>
            <a:r>
              <a:rPr lang="en-GB" sz="1700">
                <a:solidFill>
                  <a:schemeClr val="bg1">
                    <a:alpha val="80000"/>
                  </a:schemeClr>
                </a:solidFill>
              </a:rPr>
              <a:t> </a:t>
            </a:r>
            <a:r>
              <a:rPr lang="en-GB" sz="1700" b="1">
                <a:solidFill>
                  <a:schemeClr val="bg1">
                    <a:alpha val="80000"/>
                  </a:schemeClr>
                </a:solidFill>
              </a:rPr>
              <a:t>individual needs:</a:t>
            </a:r>
            <a:endParaRPr lang="en-GB" sz="1700">
              <a:solidFill>
                <a:schemeClr val="bg1">
                  <a:alpha val="80000"/>
                </a:schemeClr>
              </a:solidFill>
            </a:endParaRPr>
          </a:p>
          <a:p>
            <a:pPr marL="0" indent="0">
              <a:buNone/>
            </a:pPr>
            <a:endParaRPr lang="en-US" sz="1700">
              <a:solidFill>
                <a:schemeClr val="bg1">
                  <a:alpha val="80000"/>
                </a:schemeClr>
              </a:solidFill>
            </a:endParaRPr>
          </a:p>
          <a:p>
            <a:pPr marL="0" indent="0">
              <a:buNone/>
            </a:pPr>
            <a:r>
              <a:rPr lang="en-GB" sz="1700">
                <a:solidFill>
                  <a:schemeClr val="bg1">
                    <a:alpha val="80000"/>
                  </a:schemeClr>
                </a:solidFill>
              </a:rPr>
              <a:t>1. Need for </a:t>
            </a:r>
            <a:r>
              <a:rPr lang="en-GB" sz="1700" b="1">
                <a:solidFill>
                  <a:schemeClr val="bg1">
                    <a:alpha val="80000"/>
                  </a:schemeClr>
                </a:solidFill>
              </a:rPr>
              <a:t>control</a:t>
            </a:r>
            <a:r>
              <a:rPr lang="en-GB" sz="1700">
                <a:solidFill>
                  <a:schemeClr val="bg1">
                    <a:alpha val="80000"/>
                  </a:schemeClr>
                </a:solidFill>
              </a:rPr>
              <a:t> over job and work meaning</a:t>
            </a:r>
          </a:p>
          <a:p>
            <a:pPr marL="0" indent="0">
              <a:buNone/>
            </a:pPr>
            <a:r>
              <a:rPr lang="en-GB" sz="1700">
                <a:solidFill>
                  <a:schemeClr val="bg1">
                    <a:alpha val="80000"/>
                  </a:schemeClr>
                </a:solidFill>
              </a:rPr>
              <a:t>2. Need for positive </a:t>
            </a:r>
            <a:r>
              <a:rPr lang="en-GB" sz="1700" b="1">
                <a:solidFill>
                  <a:schemeClr val="bg1">
                    <a:alpha val="80000"/>
                  </a:schemeClr>
                </a:solidFill>
              </a:rPr>
              <a:t>self-image</a:t>
            </a:r>
            <a:endParaRPr lang="en-GB" sz="1700">
              <a:solidFill>
                <a:schemeClr val="bg1">
                  <a:alpha val="80000"/>
                </a:schemeClr>
              </a:solidFill>
            </a:endParaRPr>
          </a:p>
          <a:p>
            <a:pPr marL="0" indent="0">
              <a:buNone/>
            </a:pPr>
            <a:r>
              <a:rPr lang="en-GB" sz="1700">
                <a:solidFill>
                  <a:schemeClr val="bg1">
                    <a:alpha val="80000"/>
                  </a:schemeClr>
                </a:solidFill>
              </a:rPr>
              <a:t>3. Need for human </a:t>
            </a:r>
            <a:r>
              <a:rPr lang="en-GB" sz="1700" b="1">
                <a:solidFill>
                  <a:schemeClr val="bg1">
                    <a:alpha val="80000"/>
                  </a:schemeClr>
                </a:solidFill>
              </a:rPr>
              <a:t>connection</a:t>
            </a:r>
            <a:r>
              <a:rPr lang="en-GB" sz="1700">
                <a:solidFill>
                  <a:schemeClr val="bg1">
                    <a:alpha val="80000"/>
                  </a:schemeClr>
                </a:solidFill>
              </a:rPr>
              <a:t> with others</a:t>
            </a:r>
          </a:p>
          <a:p>
            <a:pPr marL="0" indent="0">
              <a:buNone/>
            </a:pPr>
            <a:endParaRPr lang="en-US" sz="1700">
              <a:solidFill>
                <a:schemeClr val="bg1">
                  <a:alpha val="80000"/>
                </a:schemeClr>
              </a:solidFill>
            </a:endParaRPr>
          </a:p>
        </p:txBody>
      </p:sp>
      <p:pic>
        <p:nvPicPr>
          <p:cNvPr id="5" name="Picture 4">
            <a:extLst>
              <a:ext uri="{FF2B5EF4-FFF2-40B4-BE49-F238E27FC236}">
                <a16:creationId xmlns:a16="http://schemas.microsoft.com/office/drawing/2014/main" id="{4CEA0E0B-3494-BF4C-9E93-EC868ABBEEF5}"/>
              </a:ext>
            </a:extLst>
          </p:cNvPr>
          <p:cNvPicPr>
            <a:picLocks noChangeAspect="1"/>
          </p:cNvPicPr>
          <p:nvPr/>
        </p:nvPicPr>
        <p:blipFill>
          <a:blip r:embed="rId2"/>
          <a:srcRect b="21595"/>
          <a:stretch>
            <a:fillRect/>
          </a:stretch>
        </p:blipFill>
        <p:spPr>
          <a:xfrm>
            <a:off x="5814060" y="2"/>
            <a:ext cx="6377940" cy="3333749"/>
          </a:xfrm>
          <a:custGeom>
            <a:avLst/>
            <a:gdLst/>
            <a:ahLst/>
            <a:cxnLst/>
            <a:rect l="l" t="t" r="r" b="b"/>
            <a:pathLst>
              <a:path w="6377940" h="3333749">
                <a:moveTo>
                  <a:pt x="0" y="0"/>
                </a:moveTo>
                <a:lnTo>
                  <a:pt x="6377940" y="0"/>
                </a:lnTo>
                <a:lnTo>
                  <a:pt x="6377940" y="3333749"/>
                </a:lnTo>
                <a:lnTo>
                  <a:pt x="174585" y="3333749"/>
                </a:lnTo>
                <a:lnTo>
                  <a:pt x="0" y="2202180"/>
                </a:lnTo>
                <a:close/>
              </a:path>
            </a:pathLst>
          </a:custGeom>
        </p:spPr>
      </p:pic>
      <p:pic>
        <p:nvPicPr>
          <p:cNvPr id="4" name="Picture 3">
            <a:extLst>
              <a:ext uri="{FF2B5EF4-FFF2-40B4-BE49-F238E27FC236}">
                <a16:creationId xmlns:a16="http://schemas.microsoft.com/office/drawing/2014/main" id="{CC431BC8-D14D-E3A3-7995-89A18E488145}"/>
              </a:ext>
            </a:extLst>
          </p:cNvPr>
          <p:cNvPicPr>
            <a:picLocks noChangeAspect="1"/>
          </p:cNvPicPr>
          <p:nvPr/>
        </p:nvPicPr>
        <p:blipFill>
          <a:blip r:embed="rId3"/>
          <a:srcRect t="6823" r="-2" b="-2"/>
          <a:stretch>
            <a:fillRect/>
          </a:stretch>
        </p:blipFill>
        <p:spPr>
          <a:xfrm>
            <a:off x="5814060" y="3524252"/>
            <a:ext cx="6377940" cy="3333748"/>
          </a:xfrm>
          <a:custGeom>
            <a:avLst/>
            <a:gdLst/>
            <a:ahLst/>
            <a:cxnLst/>
            <a:rect l="l" t="t" r="r" b="b"/>
            <a:pathLst>
              <a:path w="6377940" h="3333748">
                <a:moveTo>
                  <a:pt x="203977" y="0"/>
                </a:moveTo>
                <a:lnTo>
                  <a:pt x="6377940" y="0"/>
                </a:lnTo>
                <a:lnTo>
                  <a:pt x="6377940" y="3333748"/>
                </a:lnTo>
                <a:lnTo>
                  <a:pt x="0" y="3333748"/>
                </a:lnTo>
                <a:lnTo>
                  <a:pt x="525780" y="1931668"/>
                </a:lnTo>
                <a:lnTo>
                  <a:pt x="205740" y="11428"/>
                </a:lnTo>
                <a:close/>
              </a:path>
            </a:pathLst>
          </a:custGeom>
        </p:spPr>
      </p:pic>
      <p:grpSp>
        <p:nvGrpSpPr>
          <p:cNvPr id="30" name="Group 29">
            <a:extLst>
              <a:ext uri="{FF2B5EF4-FFF2-40B4-BE49-F238E27FC236}">
                <a16:creationId xmlns:a16="http://schemas.microsoft.com/office/drawing/2014/main" id="{364A290D-B7BC-40B4-AB97-0C801BCCE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8" y="544"/>
            <a:ext cx="874716" cy="6857455"/>
            <a:chOff x="5632358" y="544"/>
            <a:chExt cx="874716" cy="6857455"/>
          </a:xfrm>
        </p:grpSpPr>
        <p:sp>
          <p:nvSpPr>
            <p:cNvPr id="27" name="Freeform: Shape 26">
              <a:extLst>
                <a:ext uri="{FF2B5EF4-FFF2-40B4-BE49-F238E27FC236}">
                  <a16:creationId xmlns:a16="http://schemas.microsoft.com/office/drawing/2014/main" id="{3C60D1EB-842B-4027-9728-E57314926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a:outerShdw blurRad="381000" dist="152400" dir="108000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4E103E5-C039-4EA4-843B-AD566B5C9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3473812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1">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703551BC-9C19-85C7-34E1-DC21F6419083}"/>
              </a:ext>
            </a:extLst>
          </p:cNvPr>
          <p:cNvSpPr>
            <a:spLocks noGrp="1"/>
          </p:cNvSpPr>
          <p:nvPr>
            <p:ph type="title"/>
          </p:nvPr>
        </p:nvSpPr>
        <p:spPr>
          <a:xfrm>
            <a:off x="1246824" y="643467"/>
            <a:ext cx="4772975" cy="1800526"/>
          </a:xfrm>
        </p:spPr>
        <p:txBody>
          <a:bodyPr>
            <a:normAutofit/>
          </a:bodyPr>
          <a:lstStyle/>
          <a:p>
            <a:r>
              <a:rPr lang="en-US" sz="3100"/>
              <a:t>Radical approaches to motivation</a:t>
            </a:r>
            <a:br>
              <a:rPr lang="en-US" sz="3100"/>
            </a:br>
            <a:r>
              <a:rPr lang="en-US" sz="3100"/>
              <a:t>Example of a democratic organization: SEMCO</a:t>
            </a:r>
          </a:p>
        </p:txBody>
      </p:sp>
      <p:sp>
        <p:nvSpPr>
          <p:cNvPr id="3" name="Content Placeholder 2">
            <a:extLst>
              <a:ext uri="{FF2B5EF4-FFF2-40B4-BE49-F238E27FC236}">
                <a16:creationId xmlns:a16="http://schemas.microsoft.com/office/drawing/2014/main" id="{E6C10D64-91BB-7501-390C-C1B044790F52}"/>
              </a:ext>
            </a:extLst>
          </p:cNvPr>
          <p:cNvSpPr>
            <a:spLocks noGrp="1"/>
          </p:cNvSpPr>
          <p:nvPr>
            <p:ph idx="1"/>
          </p:nvPr>
        </p:nvSpPr>
        <p:spPr>
          <a:xfrm>
            <a:off x="1246824" y="2623381"/>
            <a:ext cx="4772974" cy="3553581"/>
          </a:xfrm>
        </p:spPr>
        <p:txBody>
          <a:bodyPr>
            <a:normAutofit/>
          </a:bodyPr>
          <a:lstStyle/>
          <a:p>
            <a:r>
              <a:rPr lang="en-US" altLang="en-US" sz="800"/>
              <a:t>Ricardo Semler, CEO of Semco, recognises the infantalization of the workforce: </a:t>
            </a:r>
          </a:p>
          <a:p>
            <a:endParaRPr lang="en-US" altLang="en-US" sz="800"/>
          </a:p>
          <a:p>
            <a:r>
              <a:rPr lang="en-US" altLang="en-US" sz="800"/>
              <a:t>“outside the factory, workers are men and women who elect governments, serve in the army, lead community projects, raise and educate families, and make decisions every day about the future. Friends solicit their advice. Salespeople court them. Children and grandchildren look up to them for their wisdom and experience. But the moment they walk into the factory, the company transforms them into adolescents. They have to wear badges and name tags, arrive at a certain time, stand in line to punch the clock or eat their lunch, get permission to go to the bathroom, give lengthy explanations every time they're five minutes late, and follow instructions without asking a lot of questions.” </a:t>
            </a:r>
          </a:p>
          <a:p>
            <a:r>
              <a:rPr lang="en-US" altLang="en-US" sz="800"/>
              <a:t>Semler, “managing without managers” 2010. </a:t>
            </a:r>
            <a:endParaRPr lang="en-GB" altLang="en-US" sz="800"/>
          </a:p>
          <a:p>
            <a:endParaRPr lang="en-US" altLang="en-US" sz="800"/>
          </a:p>
          <a:p>
            <a:r>
              <a:rPr lang="en-US" altLang="en-US" sz="800"/>
              <a:t>Leads Semler to eliminate time clocks, dress codes, security checks and introduce voting on key issues (including setting wages)</a:t>
            </a:r>
          </a:p>
          <a:p>
            <a:endParaRPr lang="en-US" altLang="en-US" sz="800"/>
          </a:p>
          <a:p>
            <a:r>
              <a:rPr lang="en-US" altLang="en-US" sz="800"/>
              <a:t>Semler on the democratic workplace: (0-5 mins and 13.25 to 16.50 mins)</a:t>
            </a:r>
            <a:endParaRPr lang="en-US" altLang="en-US" sz="800">
              <a:hlinkClick r:id="rId2"/>
            </a:endParaRPr>
          </a:p>
          <a:p>
            <a:r>
              <a:rPr lang="en-US" altLang="en-US" sz="800">
                <a:hlinkClick r:id="rId3"/>
              </a:rPr>
              <a:t>https://www.youtube.com/watch?v=UxeosFrLFH8</a:t>
            </a:r>
            <a:endParaRPr lang="en-US" altLang="en-US" sz="800"/>
          </a:p>
          <a:p>
            <a:endParaRPr lang="en-US" sz="800"/>
          </a:p>
        </p:txBody>
      </p:sp>
      <p:pic>
        <p:nvPicPr>
          <p:cNvPr id="5" name="Picture 4">
            <a:extLst>
              <a:ext uri="{FF2B5EF4-FFF2-40B4-BE49-F238E27FC236}">
                <a16:creationId xmlns:a16="http://schemas.microsoft.com/office/drawing/2014/main" id="{4283C83A-981D-6DE6-35BF-189C9117424F}"/>
              </a:ext>
            </a:extLst>
          </p:cNvPr>
          <p:cNvPicPr>
            <a:picLocks noChangeAspect="1"/>
          </p:cNvPicPr>
          <p:nvPr/>
        </p:nvPicPr>
        <p:blipFill>
          <a:blip r:embed="rId4"/>
          <a:stretch>
            <a:fillRect/>
          </a:stretch>
        </p:blipFill>
        <p:spPr>
          <a:xfrm>
            <a:off x="7700211" y="1243296"/>
            <a:ext cx="3848322" cy="1345348"/>
          </a:xfrm>
          <a:prstGeom prst="rect">
            <a:avLst/>
          </a:prstGeom>
        </p:spPr>
      </p:pic>
      <p:pic>
        <p:nvPicPr>
          <p:cNvPr id="4" name="Picture 4" descr="Ricardo semler ">
            <a:extLst>
              <a:ext uri="{FF2B5EF4-FFF2-40B4-BE49-F238E27FC236}">
                <a16:creationId xmlns:a16="http://schemas.microsoft.com/office/drawing/2014/main" id="{D01AABFF-37DB-E4E5-FC2C-178EF300930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654805" y="3657600"/>
            <a:ext cx="1939133" cy="25855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1266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GB" sz="5400" b="1"/>
              <a:t>Lecture Summary </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8493523-0CFE-5D25-0C4B-AD1CDE723770}"/>
              </a:ext>
            </a:extLst>
          </p:cNvPr>
          <p:cNvGraphicFramePr>
            <a:graphicFrameLocks noGrp="1"/>
          </p:cNvGraphicFramePr>
          <p:nvPr>
            <p:ph idx="1"/>
            <p:extLst>
              <p:ext uri="{D42A27DB-BD31-4B8C-83A1-F6EECF244321}">
                <p14:modId xmlns:p14="http://schemas.microsoft.com/office/powerpoint/2010/main" val="85699367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50003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a:solidFill>
                  <a:srgbClr val="FFFFFF"/>
                </a:solidFill>
              </a:rPr>
              <a:t>Tutorials 4 &amp; 5  </a:t>
            </a:r>
            <a:r>
              <a:rPr lang="mr-IN">
                <a:solidFill>
                  <a:srgbClr val="FFFFFF"/>
                </a:solidFill>
              </a:rPr>
              <a:t>–</a:t>
            </a:r>
            <a:r>
              <a:rPr lang="en-US">
                <a:solidFill>
                  <a:srgbClr val="FFFFFF"/>
                </a:solidFill>
              </a:rPr>
              <a:t> Applying Theories of Motivation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marL="0" indent="0">
              <a:buNone/>
            </a:pPr>
            <a:r>
              <a:rPr lang="en-US" sz="1800"/>
              <a:t>Key Reading for the Tutorial: Please read Chapter 6 (Work Motivation) in Work Psychology: Understanding Human Behaviour by Arnold et al. (2020). </a:t>
            </a:r>
          </a:p>
          <a:p>
            <a:pPr marL="0" indent="0">
              <a:buNone/>
            </a:pPr>
            <a:r>
              <a:rPr lang="en-US" sz="1800"/>
              <a:t>Case study: An Unmotivated Worker (available on blackboard). </a:t>
            </a:r>
          </a:p>
          <a:p>
            <a:pPr marL="0" indent="0">
              <a:buNone/>
            </a:pPr>
            <a:r>
              <a:rPr lang="en-US" sz="1800"/>
              <a:t>Using the motivation theories discussed in your lecture on this topic and in the book chapter required for your key reading, you will work in small groups to develop answers to the following questions:</a:t>
            </a:r>
          </a:p>
          <a:p>
            <a:pPr marL="342900" indent="-342900">
              <a:buFont typeface="+mj-lt"/>
              <a:buAutoNum type="arabicPeriod"/>
            </a:pPr>
            <a:r>
              <a:rPr lang="en-US" sz="1800"/>
              <a:t>How would these theories describe and explain the problems with Simon Lucas's motivation? (focus on two or three theories, perhaps one content and one process theory). </a:t>
            </a:r>
          </a:p>
          <a:p>
            <a:pPr marL="342900" indent="-342900">
              <a:buFont typeface="+mj-lt"/>
              <a:buAutoNum type="arabicPeriod"/>
            </a:pPr>
            <a:r>
              <a:rPr lang="en-US" sz="1800"/>
              <a:t> To what extent do these theories provide guidance to Katherine Walker about what she should do? What actions would they recommend?</a:t>
            </a:r>
          </a:p>
          <a:p>
            <a:pPr marL="0" indent="0">
              <a:buNone/>
            </a:pPr>
            <a:r>
              <a:rPr lang="en-US" sz="1800"/>
              <a:t>Each small group will prepare a 5-minute presentation of their answers. You will then present your findings to the rest of the class in Tutorial 5. </a:t>
            </a:r>
          </a:p>
          <a:p>
            <a:pPr marL="0" indent="0">
              <a:buNone/>
            </a:pPr>
            <a:r>
              <a:rPr lang="en-US" sz="1800"/>
              <a:t>Please note, you will need to meet (either online or in-person) away from the class to prepare your presentations, so please ensure you swap contact details and allocate tasks where appropriate. </a:t>
            </a:r>
          </a:p>
          <a:p>
            <a:pPr marL="0" indent="0">
              <a:buNone/>
            </a:pPr>
            <a:endParaRPr lang="en-US" sz="1800" b="1"/>
          </a:p>
        </p:txBody>
      </p:sp>
    </p:spTree>
    <p:extLst>
      <p:ext uri="{BB962C8B-B14F-4D97-AF65-F5344CB8AC3E}">
        <p14:creationId xmlns:p14="http://schemas.microsoft.com/office/powerpoint/2010/main" val="662876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a:t>3 Key Readings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L="0" indent="0">
              <a:buNone/>
            </a:pPr>
            <a:r>
              <a:rPr lang="en-US" sz="2200"/>
              <a:t>Please read the following chapter and journal article.</a:t>
            </a:r>
          </a:p>
          <a:p>
            <a:pPr marL="0" indent="0">
              <a:buNone/>
            </a:pPr>
            <a:r>
              <a:rPr lang="en-US" sz="2200"/>
              <a:t>1. Chapter 6 (Motivation at Work) in Arnold, J. et al. (2020) Work psychology: understanding human behaviour in the workplace. 7th edition. Harlow, England: Pearson.</a:t>
            </a:r>
          </a:p>
          <a:p>
            <a:pPr marL="0" indent="0">
              <a:buNone/>
            </a:pPr>
            <a:r>
              <a:rPr lang="en-US" sz="2200"/>
              <a:t>2. Kanfer, R., Frese, M. and Johnson, R.E., 2017. Motivation related to work: A century of progress. Journal of Applied Psychology, 102(3), p.338.</a:t>
            </a:r>
          </a:p>
          <a:p>
            <a:pPr marL="0" indent="0">
              <a:buNone/>
            </a:pPr>
            <a:r>
              <a:rPr lang="en-US" sz="2200"/>
              <a:t>The chapter below is also very useful for this topic (I have put it in the reading list) and may help you with your presentations. </a:t>
            </a:r>
          </a:p>
          <a:p>
            <a:pPr marL="0" indent="0">
              <a:buNone/>
            </a:pPr>
            <a:r>
              <a:rPr lang="en-US" sz="2200"/>
              <a:t>3. Chapter 7 (Motivation) in Bratton, J. (2021) Work and organizational behaviour. Fourth edition. London: Red Globe Press. </a:t>
            </a:r>
          </a:p>
          <a:p>
            <a:pPr marL="0" indent="0">
              <a:buNone/>
            </a:pPr>
            <a:endParaRPr lang="en-US" sz="2200"/>
          </a:p>
          <a:p>
            <a:pPr marL="0" indent="0">
              <a:buNone/>
            </a:pPr>
            <a:endParaRPr lang="en-US" sz="2200"/>
          </a:p>
        </p:txBody>
      </p:sp>
    </p:spTree>
    <p:extLst>
      <p:ext uri="{BB962C8B-B14F-4D97-AF65-F5344CB8AC3E}">
        <p14:creationId xmlns:p14="http://schemas.microsoft.com/office/powerpoint/2010/main" val="483707015"/>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31422</TotalTime>
  <Words>4050</Words>
  <Application>Microsoft Macintosh PowerPoint</Application>
  <PresentationFormat>Widescreen</PresentationFormat>
  <Paragraphs>274</Paragraphs>
  <Slides>41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Aptos Display</vt:lpstr>
      <vt:lpstr>Arial</vt:lpstr>
      <vt:lpstr>Calibri</vt:lpstr>
      <vt:lpstr>Times New Roman</vt:lpstr>
      <vt:lpstr>Office Theme</vt:lpstr>
      <vt:lpstr>MGT650 Managing People in Organisations October 2026  </vt:lpstr>
      <vt:lpstr>Learning Objectives</vt:lpstr>
      <vt:lpstr>Understanding Motivation</vt:lpstr>
      <vt:lpstr>PowerPoint Presentation</vt:lpstr>
      <vt:lpstr>My workplace motivation journey...</vt:lpstr>
      <vt:lpstr>Employee Potential: HRM Key Focus Areas</vt:lpstr>
      <vt:lpstr>Motivation: Why does it matter?</vt:lpstr>
      <vt:lpstr>Motivation and Organizational Control  </vt:lpstr>
      <vt:lpstr>Relation to key concepts</vt:lpstr>
      <vt:lpstr>Taylor’s four principles of  scientific management (&amp; motivation)</vt:lpstr>
      <vt:lpstr>Control and motivation through Taylorism </vt:lpstr>
      <vt:lpstr> An example from film: Modern Times (1936)  https://www.youtube.com/watch?v=DfGs2Y5WJ14  https://www.youtube.com/watch?v=ZdvEGPt4s0Y&amp;t=1s</vt:lpstr>
      <vt:lpstr>Theory X &amp; Theory Y</vt:lpstr>
      <vt:lpstr>Content Theories Vs Process Theories </vt:lpstr>
      <vt:lpstr>Exploring Theories of Motivation</vt:lpstr>
      <vt:lpstr>Herzberg’s Two Factor Theory</vt:lpstr>
      <vt:lpstr>Herzberg’s Two Factor Theory</vt:lpstr>
      <vt:lpstr> An Example: Google https://www.youtube.com/watch?v=n_Cn8eFo7u8  </vt:lpstr>
      <vt:lpstr>Needs based theories</vt:lpstr>
      <vt:lpstr>Maslow – Application in the Workplace</vt:lpstr>
      <vt:lpstr>Need-based theories</vt:lpstr>
      <vt:lpstr>Break time (10 mins)    Next: Process theories of motivation</vt:lpstr>
      <vt:lpstr>Equity Theory &amp; Justice Theories</vt:lpstr>
      <vt:lpstr>Critiquing Justice Theories</vt:lpstr>
      <vt:lpstr>Expectancy Theory  </vt:lpstr>
      <vt:lpstr>Critiquing Expectancy Theory</vt:lpstr>
      <vt:lpstr>Goal Setting Theory</vt:lpstr>
      <vt:lpstr>Goals as Motivational Forces</vt:lpstr>
      <vt:lpstr>Critiquing Goal based Theories</vt:lpstr>
      <vt:lpstr>The Future? </vt:lpstr>
      <vt:lpstr>Theory Integration </vt:lpstr>
      <vt:lpstr>An Integrated Approach….</vt:lpstr>
      <vt:lpstr>Future Directions:  More employee control = more motivation?</vt:lpstr>
      <vt:lpstr>Link between financial rewards, motivation &amp; performance</vt:lpstr>
      <vt:lpstr>Reward Packages </vt:lpstr>
      <vt:lpstr>Designing Motivating Jobs </vt:lpstr>
      <vt:lpstr>Job Crafting – Wrzesniewski &amp; Dutton, 2001 </vt:lpstr>
      <vt:lpstr>Radical approaches to motivation Example of a democratic organization: SEMCO</vt:lpstr>
      <vt:lpstr>Lecture Summary </vt:lpstr>
      <vt:lpstr>Tutorials 4 &amp; 5  – Applying Theories of Motivation</vt:lpstr>
      <vt:lpstr>3 Key 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Recruitment and Selection</dc:title>
  <dc:creator>Carole Elliott</dc:creator>
  <cp:lastModifiedBy>Martyn Griffin</cp:lastModifiedBy>
  <cp:revision>199</cp:revision>
  <dcterms:created xsi:type="dcterms:W3CDTF">2021-02-08T15:31:36Z</dcterms:created>
  <dcterms:modified xsi:type="dcterms:W3CDTF">2026-10-25T15:11:01Z</dcterms:modified>
</cp:coreProperties>
</file>