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8"/>
  </p:notesMasterIdLst>
  <p:sldIdLst>
    <p:sldId id="256" r:id="rId2"/>
    <p:sldId id="331" r:id="rId3"/>
    <p:sldId id="330" r:id="rId4"/>
    <p:sldId id="301" r:id="rId5"/>
    <p:sldId id="278" r:id="rId6"/>
    <p:sldId id="277" r:id="rId7"/>
    <p:sldId id="302" r:id="rId8"/>
    <p:sldId id="259" r:id="rId9"/>
    <p:sldId id="303" r:id="rId10"/>
    <p:sldId id="329" r:id="rId11"/>
    <p:sldId id="305" r:id="rId12"/>
    <p:sldId id="307" r:id="rId13"/>
    <p:sldId id="310" r:id="rId14"/>
    <p:sldId id="338" r:id="rId15"/>
    <p:sldId id="339" r:id="rId16"/>
    <p:sldId id="311" r:id="rId17"/>
    <p:sldId id="340" r:id="rId18"/>
    <p:sldId id="341" r:id="rId19"/>
    <p:sldId id="342" r:id="rId20"/>
    <p:sldId id="343" r:id="rId21"/>
    <p:sldId id="359" r:id="rId22"/>
    <p:sldId id="344" r:id="rId23"/>
    <p:sldId id="345" r:id="rId24"/>
    <p:sldId id="333" r:id="rId25"/>
    <p:sldId id="334" r:id="rId26"/>
    <p:sldId id="319" r:id="rId27"/>
    <p:sldId id="351" r:id="rId28"/>
    <p:sldId id="352" r:id="rId29"/>
    <p:sldId id="353" r:id="rId30"/>
    <p:sldId id="354" r:id="rId31"/>
    <p:sldId id="355" r:id="rId32"/>
    <p:sldId id="356" r:id="rId33"/>
    <p:sldId id="357" r:id="rId34"/>
    <p:sldId id="358" r:id="rId35"/>
    <p:sldId id="328" r:id="rId36"/>
    <p:sldId id="304"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432">
          <p15:clr>
            <a:srgbClr val="747775"/>
          </p15:clr>
        </p15:guide>
        <p15:guide id="4" orient="horz" pos="30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38" d="100"/>
          <a:sy n="138" d="100"/>
        </p:scale>
        <p:origin x="756" y="120"/>
      </p:cViewPr>
      <p:guideLst>
        <p:guide orient="horz" pos="1620"/>
        <p:guide pos="2880"/>
        <p:guide orient="horz" pos="432"/>
        <p:guide orient="horz" pos="3055"/>
      </p:guideLst>
    </p:cSldViewPr>
  </p:slideViewPr>
  <p:notesTextViewPr>
    <p:cViewPr>
      <p:scale>
        <a:sx n="1" d="1"/>
        <a:sy n="1" d="1"/>
      </p:scale>
      <p:origin x="0" y="0"/>
    </p:cViewPr>
  </p:notesTextViewPr>
  <p:sorterViewPr>
    <p:cViewPr>
      <p:scale>
        <a:sx n="100" d="100"/>
        <a:sy n="100" d="100"/>
      </p:scale>
      <p:origin x="0" y="-65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7bb6d15d2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7bb6d15d2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09D6386C-2092-23FD-DAAE-5899BEC734F4}"/>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C37607C8-A109-CF82-D73A-A6707B5E2A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A11393F9-0781-FC42-C524-EC105B67AD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564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40B3A71F-86C5-6606-6380-32634E5E1DB1}"/>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0BDFCBC2-8092-9995-235C-FC98B4A4C2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8B3A56EA-B5D7-C43F-651E-8C34D89127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2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CE56419-3CEA-17B9-8632-5FC6A9143FC7}"/>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42D64FB8-3B1D-E610-7C49-FB8D081997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1ABA3F18-665F-B79E-9CEF-A29F7196F1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766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9CC6A0C-6E40-A086-3339-7A8B78CDD941}"/>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DFACF5BE-E6A4-D42C-2337-FA4A31C1AA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6515BA86-55D6-5B8F-DACE-88D60701E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9895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77442437b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717BEFA8-E3AA-CE31-1309-4F55BF2EA834}"/>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781622FF-A018-3097-F133-40EE175E74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03B1275F-6E6F-04D4-9715-6CD42038D3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329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758549E3-A056-C691-BA23-7C096F4E553F}"/>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58EF08D1-CC34-2491-4E2C-7B84F425FB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C09C0ACC-69BE-B47A-F830-1FAF1C39BF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7460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E4E73F49-3891-1DEC-D683-4C2E63A654B0}"/>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FE9F42F6-FCBC-7478-BC09-15DAD04748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B1CD7697-3933-29B2-31C3-F121AEACF4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5210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6DA1DF0E-A5B1-AFDA-6F6D-12800CFAF2BC}"/>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CA513E73-3DA0-D4A9-14DD-B3317CF471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04F35AC2-91DD-06F0-92CB-3FC471D68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9231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66113396-CA05-AC97-0598-8411B176AB31}"/>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D2A0D4AD-0921-5B63-5035-4A0C6ED87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94A9E3A2-A691-CF28-4EB4-1E743A3FC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3749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74730D9-AA8F-E02B-34EA-E7E75DAD3FBE}"/>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829655E4-BB45-23ED-674E-0ECBFED9BB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AF8F35FE-9D4A-2C73-C362-88BE6AA667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7696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E2E90043-E578-A0F9-0D9E-F1FE9737C061}"/>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CCBA76EE-187D-39F8-2231-4A3742C72A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9039B443-792E-6FE8-D77D-2C7E9892EB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7341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91212BAD-50A0-BA01-97BF-4D7A4E41ABB4}"/>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9B250FFF-ED28-32EA-E078-32ADDE32F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B75F47C3-2895-6C14-1B55-888857B9BD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8821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B5A0B0BA-DCBE-AFFA-DEB7-3519271DECF5}"/>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32BABA64-043D-C7BE-F5C3-89629B8D45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7A466F5B-D8AF-839C-5B8B-FDB115D03B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1775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07DAC58A-DF15-2173-8E65-DD1EC1FE4EF6}"/>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DCB20F1D-C785-72C7-E09E-C4ABEAE2C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6D417C58-FEA7-AF1B-252B-AF249698C2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9552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79F4001-2BEA-785F-5C86-AB21C331747A}"/>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FB393CF1-2D45-11DE-03AB-F2F61A3959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4130D4F5-E297-1B12-F2B7-61A2215516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9386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A96B6605-2B47-3F54-F0CB-898ED6CF4190}"/>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39FB9F60-FB99-2BE0-829C-ABE5047378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EF05C9E9-B6C2-545B-C7EF-8592D9BA37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0735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B37043FE-B1E6-1AC3-D787-EA782F57CD9D}"/>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1582302D-6FA6-D723-7FD2-3A5BD71955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25B1ECF3-5DC3-CA3F-220D-A045C98A1C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545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610C400-BD7D-DC60-A69E-83253D37713B}"/>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332FC50C-68CD-2F1E-A1A8-0A0CD3CD3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8E9AE8F3-1722-B130-E1A8-B23B469CE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8802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0CF7D7CE-03BE-9B21-B063-52CD18F2EDD7}"/>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5B22FA17-EF83-91D7-B29E-CE30B83316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B463AE9D-D542-FE05-B445-61DBB38859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8760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02B8FC5-E9A5-C867-039F-853DA45D02BF}"/>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E79CE291-3A20-A0D0-B40F-F9473F8BCC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0E74E9D1-EB74-D665-0681-87BA24533B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1563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6481DDDA-0DDD-0EB8-BD96-025E75DF937A}"/>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96BA62AC-7789-0628-6ED4-6B2DBC11FB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96F8FC7A-F7E3-B701-FAB9-4EEE86AFBF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7045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E559251A-D79A-F96B-89DC-FF71EACEF5A6}"/>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B5A9AD87-CB44-8BA1-7E47-A7711E54BC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BA9F7376-1478-B102-380B-886CB912E4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6895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38F6C5D2-401C-FB21-4C1E-00E3A10B9000}"/>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7D1A5129-62AE-41E6-6C24-C05F21BD2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331E4E94-4A47-690F-8DD9-289D2CDE83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90311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CC30CA3-9EBC-16D6-7184-C8B1892B42F4}"/>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6B97A049-8C73-3E96-FF41-EA2C5067AD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7CE348EE-EA90-61B7-84B6-EA1103DF5D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5249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EF637378-90DE-5008-44E6-16B04C97C0C6}"/>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25613934-1F60-1DC9-9FF2-7616586042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FF9D59BB-12E2-9BAB-9190-255DCEF6A7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15419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 Title slide">
  <p:cSld name="CUSTOM_2_1">
    <p:bg>
      <p:bgPr>
        <a:solidFill>
          <a:srgbClr val="F3F3F3"/>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98500" y="251150"/>
            <a:ext cx="8392200" cy="1789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chemeClr val="dk2"/>
              </a:buClr>
              <a:buSzPts val="5400"/>
              <a:buFont typeface="Source Serif Pro"/>
              <a:buNone/>
              <a:defRPr sz="54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 name="Google Shape;11;p2"/>
          <p:cNvSpPr txBox="1">
            <a:spLocks noGrp="1"/>
          </p:cNvSpPr>
          <p:nvPr>
            <p:ph type="subTitle" idx="1"/>
          </p:nvPr>
        </p:nvSpPr>
        <p:spPr>
          <a:xfrm>
            <a:off x="325925" y="2117000"/>
            <a:ext cx="8364600" cy="11781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12" name="Google Shape;12;p2" descr="University of Sheffield logo"/>
          <p:cNvPicPr preferRelativeResize="0"/>
          <p:nvPr/>
        </p:nvPicPr>
        <p:blipFill>
          <a:blip r:embed="rId2">
            <a:alphaModFix/>
          </a:blip>
          <a:stretch>
            <a:fillRect/>
          </a:stretch>
        </p:blipFill>
        <p:spPr>
          <a:xfrm>
            <a:off x="412529" y="4309700"/>
            <a:ext cx="1813500" cy="550125"/>
          </a:xfrm>
          <a:prstGeom prst="rect">
            <a:avLst/>
          </a:prstGeom>
          <a:noFill/>
          <a:ln>
            <a:noFill/>
          </a:ln>
        </p:spPr>
      </p:pic>
      <p:pic>
        <p:nvPicPr>
          <p:cNvPr id="13" name="Google Shape;13;p2"/>
          <p:cNvPicPr preferRelativeResize="0"/>
          <p:nvPr/>
        </p:nvPicPr>
        <p:blipFill>
          <a:blip r:embed="rId3">
            <a:alphaModFix/>
          </a:blip>
          <a:stretch>
            <a:fillRect/>
          </a:stretch>
        </p:blipFill>
        <p:spPr>
          <a:xfrm>
            <a:off x="7192885" y="4349059"/>
            <a:ext cx="1495202" cy="5519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 Title text" type="blank">
  <p:cSld name="BLANK">
    <p:bg>
      <p:bgPr>
        <a:solidFill>
          <a:srgbClr val="F3F3F3"/>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05550" y="174950"/>
            <a:ext cx="8004900" cy="739200"/>
          </a:xfrm>
          <a:prstGeom prst="rect">
            <a:avLst/>
          </a:prstGeom>
        </p:spPr>
        <p:txBody>
          <a:bodyPr spcFirstLastPara="1" wrap="square" lIns="91425" tIns="91425" rIns="91425" bIns="91425" anchor="t" anchorCtr="0">
            <a:normAutofit/>
          </a:bodyPr>
          <a:lstStyle>
            <a:lvl1pPr lvl="0">
              <a:spcBef>
                <a:spcPts val="0"/>
              </a:spcBef>
              <a:spcAft>
                <a:spcPts val="0"/>
              </a:spcAft>
              <a:buClr>
                <a:schemeClr val="dk2"/>
              </a:buClr>
              <a:buSzPts val="3000"/>
              <a:buFont typeface="Source Serif Pro"/>
              <a:buNone/>
              <a:defRPr sz="3000">
                <a:solidFill>
                  <a:schemeClr val="dk2"/>
                </a:solidFill>
                <a:latin typeface="Source Serif Pro"/>
                <a:ea typeface="Source Serif Pro"/>
                <a:cs typeface="Source Serif Pro"/>
                <a:sym typeface="Source Serif Pr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cxnSp>
        <p:nvCxnSpPr>
          <p:cNvPr id="16" name="Google Shape;16;p3"/>
          <p:cNvCxnSpPr/>
          <p:nvPr/>
        </p:nvCxnSpPr>
        <p:spPr>
          <a:xfrm>
            <a:off x="379526" y="801485"/>
            <a:ext cx="8200200" cy="0"/>
          </a:xfrm>
          <a:prstGeom prst="straightConnector1">
            <a:avLst/>
          </a:prstGeom>
          <a:noFill/>
          <a:ln w="9525" cap="flat" cmpd="sng">
            <a:solidFill>
              <a:schemeClr val="dk2"/>
            </a:solidFill>
            <a:prstDash val="solid"/>
            <a:round/>
            <a:headEnd type="none" w="med" len="med"/>
            <a:tailEnd type="none" w="med" len="med"/>
          </a:ln>
        </p:spPr>
      </p:cxnSp>
      <p:sp>
        <p:nvSpPr>
          <p:cNvPr id="17" name="Google Shape;17;p3"/>
          <p:cNvSpPr txBox="1">
            <a:spLocks noGrp="1"/>
          </p:cNvSpPr>
          <p:nvPr>
            <p:ph type="body" idx="1"/>
          </p:nvPr>
        </p:nvSpPr>
        <p:spPr>
          <a:xfrm>
            <a:off x="317700" y="1073200"/>
            <a:ext cx="8274300" cy="3537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rtl="0">
              <a:buNone/>
              <a:defRPr sz="1300">
                <a:solidFill>
                  <a:schemeClr val="dk1"/>
                </a:solidFill>
                <a:latin typeface="Source Sans Pro"/>
                <a:ea typeface="Source Sans Pro"/>
                <a:cs typeface="Source Sans Pro"/>
                <a:sym typeface="Source Sans Pro"/>
              </a:defRPr>
            </a:lvl1pPr>
            <a:lvl2pPr lvl="1" rtl="0">
              <a:buNone/>
              <a:defRPr sz="1300">
                <a:solidFill>
                  <a:schemeClr val="dk1"/>
                </a:solidFill>
                <a:latin typeface="Source Sans Pro"/>
                <a:ea typeface="Source Sans Pro"/>
                <a:cs typeface="Source Sans Pro"/>
                <a:sym typeface="Source Sans Pro"/>
              </a:defRPr>
            </a:lvl2pPr>
            <a:lvl3pPr lvl="2" rtl="0">
              <a:buNone/>
              <a:defRPr sz="1300">
                <a:solidFill>
                  <a:schemeClr val="dk1"/>
                </a:solidFill>
                <a:latin typeface="Source Sans Pro"/>
                <a:ea typeface="Source Sans Pro"/>
                <a:cs typeface="Source Sans Pro"/>
                <a:sym typeface="Source Sans Pro"/>
              </a:defRPr>
            </a:lvl3pPr>
            <a:lvl4pPr lvl="3" rtl="0">
              <a:buNone/>
              <a:defRPr sz="1300">
                <a:solidFill>
                  <a:schemeClr val="dk1"/>
                </a:solidFill>
                <a:latin typeface="Source Sans Pro"/>
                <a:ea typeface="Source Sans Pro"/>
                <a:cs typeface="Source Sans Pro"/>
                <a:sym typeface="Source Sans Pro"/>
              </a:defRPr>
            </a:lvl4pPr>
            <a:lvl5pPr lvl="4" rtl="0">
              <a:buNone/>
              <a:defRPr sz="1300">
                <a:solidFill>
                  <a:schemeClr val="dk1"/>
                </a:solidFill>
                <a:latin typeface="Source Sans Pro"/>
                <a:ea typeface="Source Sans Pro"/>
                <a:cs typeface="Source Sans Pro"/>
                <a:sym typeface="Source Sans Pro"/>
              </a:defRPr>
            </a:lvl5pPr>
            <a:lvl6pPr lvl="5" rtl="0">
              <a:buNone/>
              <a:defRPr sz="1300">
                <a:solidFill>
                  <a:schemeClr val="dk1"/>
                </a:solidFill>
                <a:latin typeface="Source Sans Pro"/>
                <a:ea typeface="Source Sans Pro"/>
                <a:cs typeface="Source Sans Pro"/>
                <a:sym typeface="Source Sans Pro"/>
              </a:defRPr>
            </a:lvl6pPr>
            <a:lvl7pPr lvl="6" rtl="0">
              <a:buNone/>
              <a:defRPr sz="1300">
                <a:solidFill>
                  <a:schemeClr val="dk1"/>
                </a:solidFill>
                <a:latin typeface="Source Sans Pro"/>
                <a:ea typeface="Source Sans Pro"/>
                <a:cs typeface="Source Sans Pro"/>
                <a:sym typeface="Source Sans Pro"/>
              </a:defRPr>
            </a:lvl7pPr>
            <a:lvl8pPr lvl="7" rtl="0">
              <a:buNone/>
              <a:defRPr sz="1300">
                <a:solidFill>
                  <a:schemeClr val="dk1"/>
                </a:solidFill>
                <a:latin typeface="Source Sans Pro"/>
                <a:ea typeface="Source Sans Pro"/>
                <a:cs typeface="Source Sans Pro"/>
                <a:sym typeface="Source Sans Pro"/>
              </a:defRPr>
            </a:lvl8pPr>
            <a:lvl9pPr lvl="8" rtl="0">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4. Two equal columns">
  <p:cSld name="BLANK_2">
    <p:bg>
      <p:bgPr>
        <a:solidFill>
          <a:srgbClr val="F3F3F3"/>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05550" y="174950"/>
            <a:ext cx="8274300" cy="7392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2"/>
              </a:buClr>
              <a:buSzPts val="3000"/>
              <a:buFont typeface="Source Serif Pro"/>
              <a:buNone/>
              <a:defRPr sz="3000">
                <a:solidFill>
                  <a:schemeClr val="dk2"/>
                </a:solidFill>
                <a:latin typeface="Source Serif Pro"/>
                <a:ea typeface="Source Serif Pro"/>
                <a:cs typeface="Source Serif Pro"/>
                <a:sym typeface="Source Serif Pr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cxnSp>
        <p:nvCxnSpPr>
          <p:cNvPr id="21" name="Google Shape;21;p4"/>
          <p:cNvCxnSpPr/>
          <p:nvPr/>
        </p:nvCxnSpPr>
        <p:spPr>
          <a:xfrm>
            <a:off x="379526" y="801485"/>
            <a:ext cx="8200200" cy="0"/>
          </a:xfrm>
          <a:prstGeom prst="straightConnector1">
            <a:avLst/>
          </a:prstGeom>
          <a:noFill/>
          <a:ln w="9525" cap="flat" cmpd="sng">
            <a:solidFill>
              <a:schemeClr val="dk2"/>
            </a:solidFill>
            <a:prstDash val="solid"/>
            <a:round/>
            <a:headEnd type="none" w="med" len="med"/>
            <a:tailEnd type="none" w="med" len="med"/>
          </a:ln>
        </p:spPr>
      </p:cxnSp>
      <p:sp>
        <p:nvSpPr>
          <p:cNvPr id="22" name="Google Shape;22;p4"/>
          <p:cNvSpPr txBox="1">
            <a:spLocks noGrp="1"/>
          </p:cNvSpPr>
          <p:nvPr>
            <p:ph type="body" idx="1"/>
          </p:nvPr>
        </p:nvSpPr>
        <p:spPr>
          <a:xfrm>
            <a:off x="317700" y="1073200"/>
            <a:ext cx="3901500" cy="35379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3" name="Google Shape;23;p4"/>
          <p:cNvSpPr txBox="1">
            <a:spLocks noGrp="1"/>
          </p:cNvSpPr>
          <p:nvPr>
            <p:ph type="body" idx="2"/>
          </p:nvPr>
        </p:nvSpPr>
        <p:spPr>
          <a:xfrm>
            <a:off x="4661100" y="1073200"/>
            <a:ext cx="3901500" cy="35379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rtl="0">
              <a:buNone/>
              <a:defRPr sz="1300">
                <a:solidFill>
                  <a:schemeClr val="dk1"/>
                </a:solidFill>
                <a:latin typeface="Source Sans Pro"/>
                <a:ea typeface="Source Sans Pro"/>
                <a:cs typeface="Source Sans Pro"/>
                <a:sym typeface="Source Sans Pro"/>
              </a:defRPr>
            </a:lvl1pPr>
            <a:lvl2pPr lvl="1" rtl="0">
              <a:buNone/>
              <a:defRPr sz="1300">
                <a:solidFill>
                  <a:schemeClr val="dk1"/>
                </a:solidFill>
                <a:latin typeface="Source Sans Pro"/>
                <a:ea typeface="Source Sans Pro"/>
                <a:cs typeface="Source Sans Pro"/>
                <a:sym typeface="Source Sans Pro"/>
              </a:defRPr>
            </a:lvl2pPr>
            <a:lvl3pPr lvl="2" rtl="0">
              <a:buNone/>
              <a:defRPr sz="1300">
                <a:solidFill>
                  <a:schemeClr val="dk1"/>
                </a:solidFill>
                <a:latin typeface="Source Sans Pro"/>
                <a:ea typeface="Source Sans Pro"/>
                <a:cs typeface="Source Sans Pro"/>
                <a:sym typeface="Source Sans Pro"/>
              </a:defRPr>
            </a:lvl3pPr>
            <a:lvl4pPr lvl="3" rtl="0">
              <a:buNone/>
              <a:defRPr sz="1300">
                <a:solidFill>
                  <a:schemeClr val="dk1"/>
                </a:solidFill>
                <a:latin typeface="Source Sans Pro"/>
                <a:ea typeface="Source Sans Pro"/>
                <a:cs typeface="Source Sans Pro"/>
                <a:sym typeface="Source Sans Pro"/>
              </a:defRPr>
            </a:lvl4pPr>
            <a:lvl5pPr lvl="4" rtl="0">
              <a:buNone/>
              <a:defRPr sz="1300">
                <a:solidFill>
                  <a:schemeClr val="dk1"/>
                </a:solidFill>
                <a:latin typeface="Source Sans Pro"/>
                <a:ea typeface="Source Sans Pro"/>
                <a:cs typeface="Source Sans Pro"/>
                <a:sym typeface="Source Sans Pro"/>
              </a:defRPr>
            </a:lvl5pPr>
            <a:lvl6pPr lvl="5" rtl="0">
              <a:buNone/>
              <a:defRPr sz="1300">
                <a:solidFill>
                  <a:schemeClr val="dk1"/>
                </a:solidFill>
                <a:latin typeface="Source Sans Pro"/>
                <a:ea typeface="Source Sans Pro"/>
                <a:cs typeface="Source Sans Pro"/>
                <a:sym typeface="Source Sans Pro"/>
              </a:defRPr>
            </a:lvl6pPr>
            <a:lvl7pPr lvl="6" rtl="0">
              <a:buNone/>
              <a:defRPr sz="1300">
                <a:solidFill>
                  <a:schemeClr val="dk1"/>
                </a:solidFill>
                <a:latin typeface="Source Sans Pro"/>
                <a:ea typeface="Source Sans Pro"/>
                <a:cs typeface="Source Sans Pro"/>
                <a:sym typeface="Source Sans Pro"/>
              </a:defRPr>
            </a:lvl7pPr>
            <a:lvl8pPr lvl="7" rtl="0">
              <a:buNone/>
              <a:defRPr sz="1300">
                <a:solidFill>
                  <a:schemeClr val="dk1"/>
                </a:solidFill>
                <a:latin typeface="Source Sans Pro"/>
                <a:ea typeface="Source Sans Pro"/>
                <a:cs typeface="Source Sans Pro"/>
                <a:sym typeface="Source Sans Pro"/>
              </a:defRPr>
            </a:lvl8pPr>
            <a:lvl9pPr lvl="8" rtl="0">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5. Blank">
  <p:cSld name="CUSTOM_1_1">
    <p:spTree>
      <p:nvGrpSpPr>
        <p:cNvPr id="1" name="Shape 25"/>
        <p:cNvGrpSpPr/>
        <p:nvPr/>
      </p:nvGrpSpPr>
      <p:grpSpPr>
        <a:xfrm>
          <a:off x="0" y="0"/>
          <a:ext cx="0" cy="0"/>
          <a:chOff x="0" y="0"/>
          <a:chExt cx="0" cy="0"/>
        </a:xfrm>
      </p:grpSpPr>
      <p:sp>
        <p:nvSpPr>
          <p:cNvPr id="26" name="Google Shape;26;p5"/>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rtl="0">
              <a:buNone/>
              <a:defRPr sz="1300">
                <a:solidFill>
                  <a:schemeClr val="dk1"/>
                </a:solidFill>
                <a:latin typeface="Source Sans Pro"/>
                <a:ea typeface="Source Sans Pro"/>
                <a:cs typeface="Source Sans Pro"/>
                <a:sym typeface="Source Sans Pro"/>
              </a:defRPr>
            </a:lvl1pPr>
            <a:lvl2pPr lvl="1" rtl="0">
              <a:buNone/>
              <a:defRPr sz="1300">
                <a:solidFill>
                  <a:schemeClr val="dk1"/>
                </a:solidFill>
                <a:latin typeface="Source Sans Pro"/>
                <a:ea typeface="Source Sans Pro"/>
                <a:cs typeface="Source Sans Pro"/>
                <a:sym typeface="Source Sans Pro"/>
              </a:defRPr>
            </a:lvl2pPr>
            <a:lvl3pPr lvl="2" rtl="0">
              <a:buNone/>
              <a:defRPr sz="1300">
                <a:solidFill>
                  <a:schemeClr val="dk1"/>
                </a:solidFill>
                <a:latin typeface="Source Sans Pro"/>
                <a:ea typeface="Source Sans Pro"/>
                <a:cs typeface="Source Sans Pro"/>
                <a:sym typeface="Source Sans Pro"/>
              </a:defRPr>
            </a:lvl3pPr>
            <a:lvl4pPr lvl="3" rtl="0">
              <a:buNone/>
              <a:defRPr sz="1300">
                <a:solidFill>
                  <a:schemeClr val="dk1"/>
                </a:solidFill>
                <a:latin typeface="Source Sans Pro"/>
                <a:ea typeface="Source Sans Pro"/>
                <a:cs typeface="Source Sans Pro"/>
                <a:sym typeface="Source Sans Pro"/>
              </a:defRPr>
            </a:lvl4pPr>
            <a:lvl5pPr lvl="4" rtl="0">
              <a:buNone/>
              <a:defRPr sz="1300">
                <a:solidFill>
                  <a:schemeClr val="dk1"/>
                </a:solidFill>
                <a:latin typeface="Source Sans Pro"/>
                <a:ea typeface="Source Sans Pro"/>
                <a:cs typeface="Source Sans Pro"/>
                <a:sym typeface="Source Sans Pro"/>
              </a:defRPr>
            </a:lvl5pPr>
            <a:lvl6pPr lvl="5" rtl="0">
              <a:buNone/>
              <a:defRPr sz="1300">
                <a:solidFill>
                  <a:schemeClr val="dk1"/>
                </a:solidFill>
                <a:latin typeface="Source Sans Pro"/>
                <a:ea typeface="Source Sans Pro"/>
                <a:cs typeface="Source Sans Pro"/>
                <a:sym typeface="Source Sans Pro"/>
              </a:defRPr>
            </a:lvl6pPr>
            <a:lvl7pPr lvl="6" rtl="0">
              <a:buNone/>
              <a:defRPr sz="1300">
                <a:solidFill>
                  <a:schemeClr val="dk1"/>
                </a:solidFill>
                <a:latin typeface="Source Sans Pro"/>
                <a:ea typeface="Source Sans Pro"/>
                <a:cs typeface="Source Sans Pro"/>
                <a:sym typeface="Source Sans Pro"/>
              </a:defRPr>
            </a:lvl7pPr>
            <a:lvl8pPr lvl="7" rtl="0">
              <a:buNone/>
              <a:defRPr sz="1300">
                <a:solidFill>
                  <a:schemeClr val="dk1"/>
                </a:solidFill>
                <a:latin typeface="Source Sans Pro"/>
                <a:ea typeface="Source Sans Pro"/>
                <a:cs typeface="Source Sans Pro"/>
                <a:sym typeface="Source Sans Pro"/>
              </a:defRPr>
            </a:lvl8pPr>
            <a:lvl9pPr lvl="8" rtl="0">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Section header (book)">
  <p:cSld name="CUSTOM_3_1">
    <p:bg>
      <p:bgPr>
        <a:blipFill>
          <a:blip r:embed="rId2">
            <a:alphaModFix/>
          </a:blip>
          <a:stretch>
            <a:fillRect/>
          </a:stretch>
        </a:blipFill>
        <a:effectLst/>
      </p:bgPr>
    </p:bg>
    <p:spTree>
      <p:nvGrpSpPr>
        <p:cNvPr id="1" name="Shape 37"/>
        <p:cNvGrpSpPr/>
        <p:nvPr/>
      </p:nvGrpSpPr>
      <p:grpSpPr>
        <a:xfrm>
          <a:off x="0" y="0"/>
          <a:ext cx="0" cy="0"/>
          <a:chOff x="0" y="0"/>
          <a:chExt cx="0" cy="0"/>
        </a:xfrm>
      </p:grpSpPr>
      <p:pic>
        <p:nvPicPr>
          <p:cNvPr id="38" name="Google Shape;38;p8" descr="University of Sheffield logo"/>
          <p:cNvPicPr preferRelativeResize="0"/>
          <p:nvPr/>
        </p:nvPicPr>
        <p:blipFill>
          <a:blip r:embed="rId3">
            <a:alphaModFix/>
          </a:blip>
          <a:stretch>
            <a:fillRect/>
          </a:stretch>
        </p:blipFill>
        <p:spPr>
          <a:xfrm>
            <a:off x="584633" y="449439"/>
            <a:ext cx="1558350" cy="472725"/>
          </a:xfrm>
          <a:prstGeom prst="rect">
            <a:avLst/>
          </a:prstGeom>
          <a:noFill/>
          <a:ln>
            <a:noFill/>
          </a:ln>
        </p:spPr>
      </p:pic>
      <p:sp>
        <p:nvSpPr>
          <p:cNvPr id="39" name="Google Shape;39;p8"/>
          <p:cNvSpPr txBox="1">
            <a:spLocks noGrp="1"/>
          </p:cNvSpPr>
          <p:nvPr>
            <p:ph type="title"/>
          </p:nvPr>
        </p:nvSpPr>
        <p:spPr>
          <a:xfrm>
            <a:off x="464650" y="1223900"/>
            <a:ext cx="5914500" cy="27327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chemeClr val="dk2"/>
              </a:buClr>
              <a:buSzPts val="5200"/>
              <a:buFont typeface="Source Serif Pro"/>
              <a:buNone/>
              <a:defRPr sz="5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8"/>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a:buNone/>
              <a:defRPr sz="1300">
                <a:solidFill>
                  <a:schemeClr val="dk1"/>
                </a:solidFill>
                <a:latin typeface="Source Sans Pro"/>
                <a:ea typeface="Source Sans Pro"/>
                <a:cs typeface="Source Sans Pro"/>
                <a:sym typeface="Source Sans Pro"/>
              </a:defRPr>
            </a:lvl1pPr>
            <a:lvl2pPr lvl="1">
              <a:buNone/>
              <a:defRPr sz="1300">
                <a:solidFill>
                  <a:schemeClr val="dk1"/>
                </a:solidFill>
                <a:latin typeface="Source Sans Pro"/>
                <a:ea typeface="Source Sans Pro"/>
                <a:cs typeface="Source Sans Pro"/>
                <a:sym typeface="Source Sans Pro"/>
              </a:defRPr>
            </a:lvl2pPr>
            <a:lvl3pPr lvl="2">
              <a:buNone/>
              <a:defRPr sz="1300">
                <a:solidFill>
                  <a:schemeClr val="dk1"/>
                </a:solidFill>
                <a:latin typeface="Source Sans Pro"/>
                <a:ea typeface="Source Sans Pro"/>
                <a:cs typeface="Source Sans Pro"/>
                <a:sym typeface="Source Sans Pro"/>
              </a:defRPr>
            </a:lvl3pPr>
            <a:lvl4pPr lvl="3">
              <a:buNone/>
              <a:defRPr sz="1300">
                <a:solidFill>
                  <a:schemeClr val="dk1"/>
                </a:solidFill>
                <a:latin typeface="Source Sans Pro"/>
                <a:ea typeface="Source Sans Pro"/>
                <a:cs typeface="Source Sans Pro"/>
                <a:sym typeface="Source Sans Pro"/>
              </a:defRPr>
            </a:lvl4pPr>
            <a:lvl5pPr lvl="4">
              <a:buNone/>
              <a:defRPr sz="1300">
                <a:solidFill>
                  <a:schemeClr val="dk1"/>
                </a:solidFill>
                <a:latin typeface="Source Sans Pro"/>
                <a:ea typeface="Source Sans Pro"/>
                <a:cs typeface="Source Sans Pro"/>
                <a:sym typeface="Source Sans Pro"/>
              </a:defRPr>
            </a:lvl5pPr>
            <a:lvl6pPr lvl="5">
              <a:buNone/>
              <a:defRPr sz="1300">
                <a:solidFill>
                  <a:schemeClr val="dk1"/>
                </a:solidFill>
                <a:latin typeface="Source Sans Pro"/>
                <a:ea typeface="Source Sans Pro"/>
                <a:cs typeface="Source Sans Pro"/>
                <a:sym typeface="Source Sans Pro"/>
              </a:defRPr>
            </a:lvl6pPr>
            <a:lvl7pPr lvl="6">
              <a:buNone/>
              <a:defRPr sz="1300">
                <a:solidFill>
                  <a:schemeClr val="dk1"/>
                </a:solidFill>
                <a:latin typeface="Source Sans Pro"/>
                <a:ea typeface="Source Sans Pro"/>
                <a:cs typeface="Source Sans Pro"/>
                <a:sym typeface="Source Sans Pro"/>
              </a:defRPr>
            </a:lvl7pPr>
            <a:lvl8pPr lvl="7">
              <a:buNone/>
              <a:defRPr sz="1300">
                <a:solidFill>
                  <a:schemeClr val="dk1"/>
                </a:solidFill>
                <a:latin typeface="Source Sans Pro"/>
                <a:ea typeface="Source Sans Pro"/>
                <a:cs typeface="Source Sans Pro"/>
                <a:sym typeface="Source Sans Pro"/>
              </a:defRPr>
            </a:lvl8pPr>
            <a:lvl9pPr lvl="8">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Section header (crown)">
  <p:cSld name="CUSTOM_3_1_1">
    <p:bg>
      <p:bgPr>
        <a:blipFill>
          <a:blip r:embed="rId2">
            <a:alphaModFix/>
          </a:blip>
          <a:stretch>
            <a:fillRect/>
          </a:stretch>
        </a:blipFill>
        <a:effectLst/>
      </p:bgPr>
    </p:bg>
    <p:spTree>
      <p:nvGrpSpPr>
        <p:cNvPr id="1" name="Shape 41"/>
        <p:cNvGrpSpPr/>
        <p:nvPr/>
      </p:nvGrpSpPr>
      <p:grpSpPr>
        <a:xfrm>
          <a:off x="0" y="0"/>
          <a:ext cx="0" cy="0"/>
          <a:chOff x="0" y="0"/>
          <a:chExt cx="0" cy="0"/>
        </a:xfrm>
      </p:grpSpPr>
      <p:pic>
        <p:nvPicPr>
          <p:cNvPr id="42" name="Google Shape;42;p9" descr="University of Sheffield logo"/>
          <p:cNvPicPr preferRelativeResize="0"/>
          <p:nvPr/>
        </p:nvPicPr>
        <p:blipFill>
          <a:blip r:embed="rId3">
            <a:alphaModFix/>
          </a:blip>
          <a:stretch>
            <a:fillRect/>
          </a:stretch>
        </p:blipFill>
        <p:spPr>
          <a:xfrm>
            <a:off x="584633" y="449439"/>
            <a:ext cx="1558350" cy="472725"/>
          </a:xfrm>
          <a:prstGeom prst="rect">
            <a:avLst/>
          </a:prstGeom>
          <a:noFill/>
          <a:ln>
            <a:noFill/>
          </a:ln>
        </p:spPr>
      </p:pic>
      <p:sp>
        <p:nvSpPr>
          <p:cNvPr id="43" name="Google Shape;43;p9"/>
          <p:cNvSpPr txBox="1">
            <a:spLocks noGrp="1"/>
          </p:cNvSpPr>
          <p:nvPr>
            <p:ph type="title"/>
          </p:nvPr>
        </p:nvSpPr>
        <p:spPr>
          <a:xfrm>
            <a:off x="464650" y="1223900"/>
            <a:ext cx="5502600" cy="27327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chemeClr val="dk2"/>
              </a:buClr>
              <a:buSzPts val="5200"/>
              <a:buFont typeface="Source Serif Pro"/>
              <a:buNone/>
              <a:defRPr sz="5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9"/>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a:buNone/>
              <a:defRPr sz="1300">
                <a:solidFill>
                  <a:schemeClr val="dk1"/>
                </a:solidFill>
                <a:latin typeface="Source Sans Pro"/>
                <a:ea typeface="Source Sans Pro"/>
                <a:cs typeface="Source Sans Pro"/>
                <a:sym typeface="Source Sans Pro"/>
              </a:defRPr>
            </a:lvl1pPr>
            <a:lvl2pPr lvl="1">
              <a:buNone/>
              <a:defRPr sz="1300">
                <a:solidFill>
                  <a:schemeClr val="dk1"/>
                </a:solidFill>
                <a:latin typeface="Source Sans Pro"/>
                <a:ea typeface="Source Sans Pro"/>
                <a:cs typeface="Source Sans Pro"/>
                <a:sym typeface="Source Sans Pro"/>
              </a:defRPr>
            </a:lvl2pPr>
            <a:lvl3pPr lvl="2">
              <a:buNone/>
              <a:defRPr sz="1300">
                <a:solidFill>
                  <a:schemeClr val="dk1"/>
                </a:solidFill>
                <a:latin typeface="Source Sans Pro"/>
                <a:ea typeface="Source Sans Pro"/>
                <a:cs typeface="Source Sans Pro"/>
                <a:sym typeface="Source Sans Pro"/>
              </a:defRPr>
            </a:lvl3pPr>
            <a:lvl4pPr lvl="3">
              <a:buNone/>
              <a:defRPr sz="1300">
                <a:solidFill>
                  <a:schemeClr val="dk1"/>
                </a:solidFill>
                <a:latin typeface="Source Sans Pro"/>
                <a:ea typeface="Source Sans Pro"/>
                <a:cs typeface="Source Sans Pro"/>
                <a:sym typeface="Source Sans Pro"/>
              </a:defRPr>
            </a:lvl4pPr>
            <a:lvl5pPr lvl="4">
              <a:buNone/>
              <a:defRPr sz="1300">
                <a:solidFill>
                  <a:schemeClr val="dk1"/>
                </a:solidFill>
                <a:latin typeface="Source Sans Pro"/>
                <a:ea typeface="Source Sans Pro"/>
                <a:cs typeface="Source Sans Pro"/>
                <a:sym typeface="Source Sans Pro"/>
              </a:defRPr>
            </a:lvl5pPr>
            <a:lvl6pPr lvl="5">
              <a:buNone/>
              <a:defRPr sz="1300">
                <a:solidFill>
                  <a:schemeClr val="dk1"/>
                </a:solidFill>
                <a:latin typeface="Source Sans Pro"/>
                <a:ea typeface="Source Sans Pro"/>
                <a:cs typeface="Source Sans Pro"/>
                <a:sym typeface="Source Sans Pro"/>
              </a:defRPr>
            </a:lvl6pPr>
            <a:lvl7pPr lvl="6">
              <a:buNone/>
              <a:defRPr sz="1300">
                <a:solidFill>
                  <a:schemeClr val="dk1"/>
                </a:solidFill>
                <a:latin typeface="Source Sans Pro"/>
                <a:ea typeface="Source Sans Pro"/>
                <a:cs typeface="Source Sans Pro"/>
                <a:sym typeface="Source Sans Pro"/>
              </a:defRPr>
            </a:lvl7pPr>
            <a:lvl8pPr lvl="7">
              <a:buNone/>
              <a:defRPr sz="1300">
                <a:solidFill>
                  <a:schemeClr val="dk1"/>
                </a:solidFill>
                <a:latin typeface="Source Sans Pro"/>
                <a:ea typeface="Source Sans Pro"/>
                <a:cs typeface="Source Sans Pro"/>
                <a:sym typeface="Source Sans Pro"/>
              </a:defRPr>
            </a:lvl8pPr>
            <a:lvl9pPr lvl="8">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 Section header (rose)">
  <p:cSld name="CUSTOM_3_1_1_1">
    <p:bg>
      <p:bgPr>
        <a:blipFill>
          <a:blip r:embed="rId2">
            <a:alphaModFix/>
          </a:blip>
          <a:stretch>
            <a:fillRect/>
          </a:stretch>
        </a:blipFill>
        <a:effectLst/>
      </p:bgPr>
    </p:bg>
    <p:spTree>
      <p:nvGrpSpPr>
        <p:cNvPr id="1" name="Shape 45"/>
        <p:cNvGrpSpPr/>
        <p:nvPr/>
      </p:nvGrpSpPr>
      <p:grpSpPr>
        <a:xfrm>
          <a:off x="0" y="0"/>
          <a:ext cx="0" cy="0"/>
          <a:chOff x="0" y="0"/>
          <a:chExt cx="0" cy="0"/>
        </a:xfrm>
      </p:grpSpPr>
      <p:pic>
        <p:nvPicPr>
          <p:cNvPr id="46" name="Google Shape;46;p10" descr="University of Sheffield logo"/>
          <p:cNvPicPr preferRelativeResize="0"/>
          <p:nvPr/>
        </p:nvPicPr>
        <p:blipFill>
          <a:blip r:embed="rId3">
            <a:alphaModFix/>
          </a:blip>
          <a:stretch>
            <a:fillRect/>
          </a:stretch>
        </p:blipFill>
        <p:spPr>
          <a:xfrm>
            <a:off x="584633" y="449439"/>
            <a:ext cx="1558350" cy="472725"/>
          </a:xfrm>
          <a:prstGeom prst="rect">
            <a:avLst/>
          </a:prstGeom>
          <a:noFill/>
          <a:ln>
            <a:noFill/>
          </a:ln>
        </p:spPr>
      </p:pic>
      <p:sp>
        <p:nvSpPr>
          <p:cNvPr id="47" name="Google Shape;47;p10"/>
          <p:cNvSpPr txBox="1">
            <a:spLocks noGrp="1"/>
          </p:cNvSpPr>
          <p:nvPr>
            <p:ph type="title"/>
          </p:nvPr>
        </p:nvSpPr>
        <p:spPr>
          <a:xfrm>
            <a:off x="464650" y="1223900"/>
            <a:ext cx="5984700" cy="27327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chemeClr val="dk2"/>
              </a:buClr>
              <a:buSzPts val="5200"/>
              <a:buFont typeface="Source Serif Pro"/>
              <a:buNone/>
              <a:defRPr sz="5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8" name="Google Shape;48;p10"/>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a:buNone/>
              <a:defRPr sz="1300">
                <a:solidFill>
                  <a:schemeClr val="dk1"/>
                </a:solidFill>
                <a:latin typeface="Source Sans Pro"/>
                <a:ea typeface="Source Sans Pro"/>
                <a:cs typeface="Source Sans Pro"/>
                <a:sym typeface="Source Sans Pro"/>
              </a:defRPr>
            </a:lvl1pPr>
            <a:lvl2pPr lvl="1">
              <a:buNone/>
              <a:defRPr sz="1300">
                <a:solidFill>
                  <a:schemeClr val="dk1"/>
                </a:solidFill>
                <a:latin typeface="Source Sans Pro"/>
                <a:ea typeface="Source Sans Pro"/>
                <a:cs typeface="Source Sans Pro"/>
                <a:sym typeface="Source Sans Pro"/>
              </a:defRPr>
            </a:lvl2pPr>
            <a:lvl3pPr lvl="2">
              <a:buNone/>
              <a:defRPr sz="1300">
                <a:solidFill>
                  <a:schemeClr val="dk1"/>
                </a:solidFill>
                <a:latin typeface="Source Sans Pro"/>
                <a:ea typeface="Source Sans Pro"/>
                <a:cs typeface="Source Sans Pro"/>
                <a:sym typeface="Source Sans Pro"/>
              </a:defRPr>
            </a:lvl3pPr>
            <a:lvl4pPr lvl="3">
              <a:buNone/>
              <a:defRPr sz="1300">
                <a:solidFill>
                  <a:schemeClr val="dk1"/>
                </a:solidFill>
                <a:latin typeface="Source Sans Pro"/>
                <a:ea typeface="Source Sans Pro"/>
                <a:cs typeface="Source Sans Pro"/>
                <a:sym typeface="Source Sans Pro"/>
              </a:defRPr>
            </a:lvl4pPr>
            <a:lvl5pPr lvl="4">
              <a:buNone/>
              <a:defRPr sz="1300">
                <a:solidFill>
                  <a:schemeClr val="dk1"/>
                </a:solidFill>
                <a:latin typeface="Source Sans Pro"/>
                <a:ea typeface="Source Sans Pro"/>
                <a:cs typeface="Source Sans Pro"/>
                <a:sym typeface="Source Sans Pro"/>
              </a:defRPr>
            </a:lvl5pPr>
            <a:lvl6pPr lvl="5">
              <a:buNone/>
              <a:defRPr sz="1300">
                <a:solidFill>
                  <a:schemeClr val="dk1"/>
                </a:solidFill>
                <a:latin typeface="Source Sans Pro"/>
                <a:ea typeface="Source Sans Pro"/>
                <a:cs typeface="Source Sans Pro"/>
                <a:sym typeface="Source Sans Pro"/>
              </a:defRPr>
            </a:lvl6pPr>
            <a:lvl7pPr lvl="6">
              <a:buNone/>
              <a:defRPr sz="1300">
                <a:solidFill>
                  <a:schemeClr val="dk1"/>
                </a:solidFill>
                <a:latin typeface="Source Sans Pro"/>
                <a:ea typeface="Source Sans Pro"/>
                <a:cs typeface="Source Sans Pro"/>
                <a:sym typeface="Source Sans Pro"/>
              </a:defRPr>
            </a:lvl7pPr>
            <a:lvl8pPr lvl="7">
              <a:buNone/>
              <a:defRPr sz="1300">
                <a:solidFill>
                  <a:schemeClr val="dk1"/>
                </a:solidFill>
                <a:latin typeface="Source Sans Pro"/>
                <a:ea typeface="Source Sans Pro"/>
                <a:cs typeface="Source Sans Pro"/>
                <a:sym typeface="Source Sans Pro"/>
              </a:defRPr>
            </a:lvl8pPr>
            <a:lvl9pPr lvl="8">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5" name="Google Shape;55;p1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6" name="Google Shape;56;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3F3F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Source Serif Pro"/>
              <a:buNone/>
              <a:defRPr sz="3000">
                <a:solidFill>
                  <a:schemeClr val="dk2"/>
                </a:solidFill>
                <a:latin typeface="Source Serif Pro"/>
                <a:ea typeface="Source Serif Pro"/>
                <a:cs typeface="Source Serif Pro"/>
                <a:sym typeface="Source Serif Pro"/>
              </a:defRPr>
            </a:lvl1pPr>
            <a:lvl2pPr lvl="1">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2pPr>
            <a:lvl3pPr lvl="2">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3pPr>
            <a:lvl4pPr lvl="3">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4pPr>
            <a:lvl5pPr lvl="4">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5pPr>
            <a:lvl6pPr lvl="5">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6pPr>
            <a:lvl7pPr lvl="6">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7pPr>
            <a:lvl8pPr lvl="7">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8pPr>
            <a:lvl9pPr lvl="8">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131E29"/>
              </a:buClr>
              <a:buSzPts val="1800"/>
              <a:buFont typeface="Source Sans Pro"/>
              <a:buChar char="●"/>
              <a:defRPr sz="1800">
                <a:solidFill>
                  <a:srgbClr val="131E29"/>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2"/>
                </a:solidFill>
                <a:latin typeface="Source Sans Pro"/>
                <a:ea typeface="Source Sans Pro"/>
                <a:cs typeface="Source Sans Pro"/>
                <a:sym typeface="Source Sans Pro"/>
              </a:defRPr>
            </a:lvl1pPr>
            <a:lvl2pPr lvl="1" algn="r">
              <a:buNone/>
              <a:defRPr sz="1300">
                <a:solidFill>
                  <a:schemeClr val="dk2"/>
                </a:solidFill>
                <a:latin typeface="Source Sans Pro"/>
                <a:ea typeface="Source Sans Pro"/>
                <a:cs typeface="Source Sans Pro"/>
                <a:sym typeface="Source Sans Pro"/>
              </a:defRPr>
            </a:lvl2pPr>
            <a:lvl3pPr lvl="2" algn="r">
              <a:buNone/>
              <a:defRPr sz="1300">
                <a:solidFill>
                  <a:schemeClr val="dk2"/>
                </a:solidFill>
                <a:latin typeface="Source Sans Pro"/>
                <a:ea typeface="Source Sans Pro"/>
                <a:cs typeface="Source Sans Pro"/>
                <a:sym typeface="Source Sans Pro"/>
              </a:defRPr>
            </a:lvl3pPr>
            <a:lvl4pPr lvl="3" algn="r">
              <a:buNone/>
              <a:defRPr sz="1300">
                <a:solidFill>
                  <a:schemeClr val="dk2"/>
                </a:solidFill>
                <a:latin typeface="Source Sans Pro"/>
                <a:ea typeface="Source Sans Pro"/>
                <a:cs typeface="Source Sans Pro"/>
                <a:sym typeface="Source Sans Pro"/>
              </a:defRPr>
            </a:lvl4pPr>
            <a:lvl5pPr lvl="4" algn="r">
              <a:buNone/>
              <a:defRPr sz="1300">
                <a:solidFill>
                  <a:schemeClr val="dk2"/>
                </a:solidFill>
                <a:latin typeface="Source Sans Pro"/>
                <a:ea typeface="Source Sans Pro"/>
                <a:cs typeface="Source Sans Pro"/>
                <a:sym typeface="Source Sans Pro"/>
              </a:defRPr>
            </a:lvl5pPr>
            <a:lvl6pPr lvl="5" algn="r">
              <a:buNone/>
              <a:defRPr sz="1300">
                <a:solidFill>
                  <a:schemeClr val="dk2"/>
                </a:solidFill>
                <a:latin typeface="Source Sans Pro"/>
                <a:ea typeface="Source Sans Pro"/>
                <a:cs typeface="Source Sans Pro"/>
                <a:sym typeface="Source Sans Pro"/>
              </a:defRPr>
            </a:lvl6pPr>
            <a:lvl7pPr lvl="6" algn="r">
              <a:buNone/>
              <a:defRPr sz="1300">
                <a:solidFill>
                  <a:schemeClr val="dk2"/>
                </a:solidFill>
                <a:latin typeface="Source Sans Pro"/>
                <a:ea typeface="Source Sans Pro"/>
                <a:cs typeface="Source Sans Pro"/>
                <a:sym typeface="Source Sans Pro"/>
              </a:defRPr>
            </a:lvl7pPr>
            <a:lvl8pPr lvl="7" algn="r">
              <a:buNone/>
              <a:defRPr sz="1300">
                <a:solidFill>
                  <a:schemeClr val="dk2"/>
                </a:solidFill>
                <a:latin typeface="Source Sans Pro"/>
                <a:ea typeface="Source Sans Pro"/>
                <a:cs typeface="Source Sans Pro"/>
                <a:sym typeface="Source Sans Pro"/>
              </a:defRPr>
            </a:lvl8pPr>
            <a:lvl9pPr lvl="8" algn="r">
              <a:buNone/>
              <a:defRPr sz="1300">
                <a:solidFill>
                  <a:schemeClr val="dk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pp.wooclap.com/events/RMTTOMX/live-session"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subTitle" idx="1"/>
          </p:nvPr>
        </p:nvSpPr>
        <p:spPr>
          <a:xfrm>
            <a:off x="389700" y="770107"/>
            <a:ext cx="8364600" cy="1178100"/>
          </a:xfrm>
          <a:prstGeom prst="rect">
            <a:avLst/>
          </a:prstGeom>
        </p:spPr>
        <p:txBody>
          <a:bodyPr spcFirstLastPara="1" wrap="square" lIns="91425" tIns="91425" rIns="91425" bIns="91425" anchor="t" anchorCtr="0">
            <a:noAutofit/>
          </a:bodyPr>
          <a:lstStyle/>
          <a:p>
            <a:pPr marL="0" indent="0" algn="ctr">
              <a:spcAft>
                <a:spcPts val="1200"/>
              </a:spcAft>
            </a:pPr>
            <a:r>
              <a:rPr lang="en-GB" sz="2800" b="1" dirty="0">
                <a:solidFill>
                  <a:schemeClr val="bg2"/>
                </a:solidFill>
              </a:rPr>
              <a:t>Operations and Supply Chain Management</a:t>
            </a:r>
          </a:p>
          <a:p>
            <a:pPr marL="0" lvl="0" indent="0" algn="ctr" rtl="0">
              <a:spcBef>
                <a:spcPts val="0"/>
              </a:spcBef>
              <a:spcAft>
                <a:spcPts val="1200"/>
              </a:spcAft>
              <a:buNone/>
            </a:pPr>
            <a:r>
              <a:rPr lang="pt-PT" sz="2800" b="1" dirty="0">
                <a:solidFill>
                  <a:schemeClr val="bg2"/>
                </a:solidFill>
              </a:rPr>
              <a:t>MGT6046</a:t>
            </a:r>
          </a:p>
          <a:p>
            <a:pPr marL="0" lvl="0" indent="0" algn="ctr" rtl="0">
              <a:spcBef>
                <a:spcPts val="0"/>
              </a:spcBef>
              <a:spcAft>
                <a:spcPts val="1200"/>
              </a:spcAft>
              <a:buNone/>
            </a:pPr>
            <a:r>
              <a:rPr lang="pt-PT" sz="2800" b="1" dirty="0">
                <a:solidFill>
                  <a:schemeClr val="bg2"/>
                </a:solidFill>
              </a:rPr>
              <a:t>Capacity Utilisation and Little’s Law</a:t>
            </a:r>
          </a:p>
          <a:p>
            <a:pPr marL="0" lvl="0" indent="0" algn="ctr" rtl="0">
              <a:spcBef>
                <a:spcPts val="0"/>
              </a:spcBef>
              <a:spcAft>
                <a:spcPts val="1200"/>
              </a:spcAft>
              <a:buNone/>
            </a:pPr>
            <a:r>
              <a:rPr lang="pt-PT" sz="2800" b="1" dirty="0">
                <a:solidFill>
                  <a:schemeClr val="bg2"/>
                </a:solidFill>
              </a:rPr>
              <a:t>Dr Emilia Vann Yaroson</a:t>
            </a:r>
            <a:endParaRPr sz="2800" b="1"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a:bodyPr>
          <a:lstStyle/>
          <a:p>
            <a:r>
              <a:rPr lang="en-GB" sz="2500" b="1" dirty="0"/>
              <a:t>     Operations in Practice</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a:t>
            </a:fld>
            <a:endParaRPr lang="en" sz="900"/>
          </a:p>
        </p:txBody>
      </p:sp>
      <p:sp>
        <p:nvSpPr>
          <p:cNvPr id="101" name="Task card"/>
          <p:cNvSpPr txBox="1"/>
          <p:nvPr/>
        </p:nvSpPr>
        <p:spPr>
          <a:xfrm>
            <a:off x="1018903" y="1138818"/>
            <a:ext cx="2743200" cy="2971800"/>
          </a:xfrm>
          <a:prstGeom prst="roundRect">
            <a:avLst>
              <a:gd name="adj" fmla="val 8000"/>
            </a:avLst>
          </a:prstGeom>
          <a:solidFill>
            <a:srgbClr val="440099"/>
          </a:solidFill>
          <a:ln>
            <a:noFill/>
          </a:ln>
        </p:spPr>
        <p:txBody>
          <a:bodyPr wrap="square" lIns="164592" tIns="164592" rIns="164592" bIns="164592" anchor="t">
            <a:noAutofit/>
          </a:bodyPr>
          <a:lstStyle/>
          <a:p>
            <a:pPr marL="0" indent="0" algn="l">
              <a:spcAft>
                <a:spcPts val="600"/>
              </a:spcAft>
              <a:buNone/>
            </a:pPr>
            <a:r>
              <a:rPr lang="en-GB" sz="1400" b="1" dirty="0">
                <a:solidFill>
                  <a:srgbClr val="FFFFFF"/>
                </a:solidFill>
                <a:latin typeface="Arial"/>
                <a:cs typeface="Arial"/>
              </a:rPr>
              <a:t>Last week’s task</a:t>
            </a:r>
          </a:p>
          <a:p>
            <a:pPr marL="0" indent="0" algn="l">
              <a:spcAft>
                <a:spcPts val="600"/>
              </a:spcAft>
              <a:buNone/>
            </a:pPr>
            <a:r>
              <a:rPr lang="en-GB" sz="1200" b="0" dirty="0">
                <a:solidFill>
                  <a:srgbClr val="FFFFFF"/>
                </a:solidFill>
                <a:latin typeface="Arial"/>
                <a:cs typeface="Arial"/>
              </a:rPr>
              <a:t>You walked through one business, such as a coffee shop, supermarket, restaurant, bank, fast-food outlet or retail store.</a:t>
            </a:r>
          </a:p>
          <a:p>
            <a:pPr marL="0" indent="0" algn="l">
              <a:spcAft>
                <a:spcPts val="900"/>
              </a:spcAft>
              <a:buNone/>
            </a:pPr>
            <a:r>
              <a:rPr lang="en-GB" sz="1200" b="0" dirty="0">
                <a:solidFill>
                  <a:srgbClr val="FFFFFF"/>
                </a:solidFill>
                <a:latin typeface="Arial"/>
                <a:cs typeface="Arial"/>
              </a:rPr>
              <a:t>You observed how it manages capacity and the flow of customers or products.</a:t>
            </a:r>
          </a:p>
          <a:p>
            <a:pPr marL="0" indent="0" algn="l">
              <a:spcAft>
                <a:spcPts val="0"/>
              </a:spcAft>
              <a:buNone/>
            </a:pPr>
            <a:r>
              <a:rPr lang="en-GB" sz="1200" b="1" dirty="0">
                <a:solidFill>
                  <a:srgbClr val="FFFFFF"/>
                </a:solidFill>
                <a:latin typeface="Arial"/>
                <a:cs typeface="Arial"/>
              </a:rPr>
              <a:t>Today: </a:t>
            </a:r>
            <a:r>
              <a:rPr lang="en-GB" sz="1200" b="0" dirty="0">
                <a:solidFill>
                  <a:srgbClr val="FFFFFF"/>
                </a:solidFill>
                <a:latin typeface="Arial"/>
                <a:cs typeface="Arial"/>
              </a:rPr>
              <a:t>we pool what you saw on Wooclap and link it to capacity, utilisation and Little’s Law.</a:t>
            </a:r>
          </a:p>
        </p:txBody>
      </p:sp>
      <p:sp>
        <p:nvSpPr>
          <p:cNvPr id="112" name="Wooclap bar"/>
          <p:cNvSpPr txBox="1"/>
          <p:nvPr/>
        </p:nvSpPr>
        <p:spPr>
          <a:xfrm>
            <a:off x="365760" y="4279392"/>
            <a:ext cx="7498080" cy="384048"/>
          </a:xfrm>
          <a:prstGeom prst="roundRect">
            <a:avLst>
              <a:gd name="adj" fmla="val 8000"/>
            </a:avLst>
          </a:prstGeom>
          <a:solidFill>
            <a:srgbClr val="EDE6F7"/>
          </a:solidFill>
          <a:ln>
            <a:noFill/>
          </a:ln>
        </p:spPr>
        <p:txBody>
          <a:bodyPr wrap="square" lIns="109728" tIns="109728" rIns="109728" bIns="109728" anchor="ctr">
            <a:noAutofit/>
          </a:bodyPr>
          <a:lstStyle/>
          <a:p>
            <a:pPr marL="0" indent="0" algn="l">
              <a:spcAft>
                <a:spcPts val="0"/>
              </a:spcAft>
              <a:buNone/>
            </a:pPr>
            <a:r>
              <a:rPr lang="en-GB" sz="1200" b="1" dirty="0">
                <a:solidFill>
                  <a:srgbClr val="440099"/>
                </a:solidFill>
                <a:latin typeface="Arial"/>
                <a:cs typeface="Arial"/>
              </a:rPr>
              <a:t>Join on Wooclap: </a:t>
            </a:r>
            <a:r>
              <a:rPr lang="en-GB" sz="1200" b="0" dirty="0">
                <a:solidFill>
                  <a:srgbClr val="1A1A1A"/>
                </a:solidFill>
                <a:latin typeface="Arial"/>
                <a:cs typeface="Arial"/>
              </a:rPr>
              <a:t>scan the QR code, or go to wooclap.com and enter code </a:t>
            </a:r>
            <a:r>
              <a:rPr lang="en-GB" sz="1200" b="1" dirty="0">
                <a:solidFill>
                  <a:srgbClr val="1A1A1A"/>
                </a:solidFill>
                <a:latin typeface="Arial"/>
                <a:cs typeface="Arial"/>
              </a:rPr>
              <a:t>RMTTOMX</a:t>
            </a:r>
          </a:p>
        </p:txBody>
      </p:sp>
      <p:pic>
        <p:nvPicPr>
          <p:cNvPr id="190" name="Wooclap QR code" descr="QR code to join the Wooclap event RMTTOMX"/>
          <p:cNvPicPr>
            <a:picLocks noChangeAspect="1"/>
          </p:cNvPicPr>
          <p:nvPr/>
        </p:nvPicPr>
        <p:blipFill>
          <a:blip r:embed="rId2"/>
          <a:stretch>
            <a:fillRect/>
          </a:stretch>
        </p:blipFill>
        <p:spPr>
          <a:xfrm>
            <a:off x="4227467" y="1202828"/>
            <a:ext cx="2857499" cy="2857499"/>
          </a:xfrm>
          <a:prstGeom prst="rect">
            <a:avLst/>
          </a:prstGeom>
        </p:spPr>
      </p:pic>
      <p:sp>
        <p:nvSpPr>
          <p:cNvPr id="113" name="QR caption"/>
          <p:cNvSpPr txBox="1"/>
          <p:nvPr/>
        </p:nvSpPr>
        <p:spPr>
          <a:xfrm>
            <a:off x="4743449" y="4007866"/>
            <a:ext cx="1051560" cy="548640"/>
          </a:xfrm>
          <a:prstGeom prst="rect">
            <a:avLst/>
          </a:prstGeom>
          <a:noFill/>
          <a:ln>
            <a:noFill/>
          </a:ln>
        </p:spPr>
        <p:txBody>
          <a:bodyPr wrap="square" lIns="0" tIns="0" rIns="0" bIns="0" anchor="t">
            <a:noAutofit/>
          </a:bodyPr>
          <a:lstStyle/>
          <a:p>
            <a:pPr marL="0" indent="0" algn="ctr">
              <a:spcAft>
                <a:spcPts val="0"/>
              </a:spcAft>
              <a:buNone/>
            </a:pPr>
            <a:r>
              <a:rPr lang="en-GB" sz="1100" b="1" dirty="0">
                <a:solidFill>
                  <a:srgbClr val="440099"/>
                </a:solidFill>
                <a:latin typeface="Arial"/>
                <a:cs typeface="Arial"/>
              </a:rPr>
              <a:t>Scan to join</a:t>
            </a:r>
          </a:p>
        </p:txBody>
      </p:sp>
      <p:sp>
        <p:nvSpPr>
          <p:cNvPr id="4" name="TextBox 3">
            <a:extLst>
              <a:ext uri="{FF2B5EF4-FFF2-40B4-BE49-F238E27FC236}">
                <a16:creationId xmlns:a16="http://schemas.microsoft.com/office/drawing/2014/main" id="{80FFEA60-AE8B-2145-7D37-D7E3649595AA}"/>
              </a:ext>
            </a:extLst>
          </p:cNvPr>
          <p:cNvSpPr txBox="1"/>
          <p:nvPr/>
        </p:nvSpPr>
        <p:spPr>
          <a:xfrm>
            <a:off x="1737360" y="4682146"/>
            <a:ext cx="5347606" cy="523220"/>
          </a:xfrm>
          <a:prstGeom prst="rect">
            <a:avLst/>
          </a:prstGeom>
          <a:noFill/>
        </p:spPr>
        <p:txBody>
          <a:bodyPr wrap="square">
            <a:spAutoFit/>
          </a:bodyPr>
          <a:lstStyle/>
          <a:p>
            <a:r>
              <a:rPr lang="en-GB" dirty="0">
                <a:hlinkClick r:id="rId3"/>
              </a:rPr>
              <a:t>        Join this </a:t>
            </a:r>
            <a:r>
              <a:rPr lang="en-GB" dirty="0" err="1">
                <a:hlinkClick r:id="rId3"/>
              </a:rPr>
              <a:t>Wooclap</a:t>
            </a:r>
            <a:r>
              <a:rPr lang="en-GB" dirty="0">
                <a:hlinkClick r:id="rId3"/>
              </a:rPr>
              <a:t> event - </a:t>
            </a:r>
            <a:r>
              <a:rPr lang="en-GB" dirty="0" err="1">
                <a:hlinkClick r:id="rId3"/>
              </a:rPr>
              <a:t>Wooclap</a:t>
            </a:r>
            <a:endParaRPr lang="en-GB" dirty="0"/>
          </a:p>
          <a:p>
            <a:endParaRPr lang="en-GB" dirty="0"/>
          </a:p>
        </p:txBody>
      </p:sp>
    </p:spTree>
    <p:extLst>
      <p:ext uri="{BB962C8B-B14F-4D97-AF65-F5344CB8AC3E}">
        <p14:creationId xmlns:p14="http://schemas.microsoft.com/office/powerpoint/2010/main" val="301100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a:bodyPr>
          <a:lstStyle/>
          <a:p>
            <a:r>
              <a:rPr lang="en-GB" sz="2500" b="1" dirty="0"/>
              <a:t>Your Exam: What to Expect</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3</a:t>
            </a:fld>
            <a:endParaRPr lang="en" sz="900"/>
          </a:p>
        </p:txBody>
      </p:sp>
      <p:sp>
        <p:nvSpPr>
          <p:cNvPr id="101" name="Stat 1"/>
          <p:cNvSpPr txBox="1"/>
          <p:nvPr/>
        </p:nvSpPr>
        <p:spPr>
          <a:xfrm>
            <a:off x="365760" y="1097280"/>
            <a:ext cx="2000250" cy="868680"/>
          </a:xfrm>
          <a:prstGeom prst="roundRect">
            <a:avLst>
              <a:gd name="adj" fmla="val 8000"/>
            </a:avLst>
          </a:prstGeom>
          <a:solidFill>
            <a:srgbClr val="440099"/>
          </a:solidFill>
          <a:ln>
            <a:noFill/>
          </a:ln>
        </p:spPr>
        <p:txBody>
          <a:bodyPr wrap="square" lIns="91440" tIns="91440" rIns="91440" bIns="91440" anchor="ctr">
            <a:noAutofit/>
          </a:bodyPr>
          <a:lstStyle/>
          <a:p>
            <a:pPr marL="0" indent="0" algn="ctr">
              <a:spcAft>
                <a:spcPts val="200"/>
              </a:spcAft>
              <a:buNone/>
            </a:pPr>
            <a:r>
              <a:rPr lang="en-GB" sz="2200" b="1" dirty="0">
                <a:solidFill>
                  <a:srgbClr val="FFFFFF"/>
                </a:solidFill>
                <a:latin typeface="Arial"/>
                <a:cs typeface="Arial"/>
              </a:rPr>
              <a:t>3 hours</a:t>
            </a:r>
          </a:p>
          <a:p>
            <a:pPr marL="0" indent="0" algn="ctr">
              <a:spcAft>
                <a:spcPts val="0"/>
              </a:spcAft>
              <a:buNone/>
            </a:pPr>
            <a:r>
              <a:rPr lang="en-GB" sz="1100" b="0" dirty="0">
                <a:solidFill>
                  <a:srgbClr val="FFFFFF"/>
                </a:solidFill>
                <a:latin typeface="Arial"/>
                <a:cs typeface="Arial"/>
              </a:rPr>
              <a:t>In person, pen and paper</a:t>
            </a:r>
          </a:p>
        </p:txBody>
      </p:sp>
      <p:sp>
        <p:nvSpPr>
          <p:cNvPr id="102" name="Stat 2"/>
          <p:cNvSpPr txBox="1"/>
          <p:nvPr/>
        </p:nvSpPr>
        <p:spPr>
          <a:xfrm>
            <a:off x="2503170" y="1097280"/>
            <a:ext cx="2000250" cy="868680"/>
          </a:xfrm>
          <a:prstGeom prst="roundRect">
            <a:avLst>
              <a:gd name="adj" fmla="val 8000"/>
            </a:avLst>
          </a:prstGeom>
          <a:solidFill>
            <a:srgbClr val="440099"/>
          </a:solidFill>
          <a:ln>
            <a:noFill/>
          </a:ln>
        </p:spPr>
        <p:txBody>
          <a:bodyPr wrap="square" lIns="91440" tIns="91440" rIns="91440" bIns="91440" anchor="ctr">
            <a:noAutofit/>
          </a:bodyPr>
          <a:lstStyle/>
          <a:p>
            <a:pPr marL="0" indent="0" algn="ctr">
              <a:spcAft>
                <a:spcPts val="200"/>
              </a:spcAft>
              <a:buNone/>
            </a:pPr>
            <a:r>
              <a:rPr lang="en-GB" sz="2200" b="1" dirty="0">
                <a:solidFill>
                  <a:srgbClr val="FFFFFF"/>
                </a:solidFill>
                <a:latin typeface="Arial"/>
                <a:cs typeface="Arial"/>
              </a:rPr>
              <a:t>4 of 5</a:t>
            </a:r>
          </a:p>
          <a:p>
            <a:pPr marL="0" indent="0" algn="ctr">
              <a:spcAft>
                <a:spcPts val="0"/>
              </a:spcAft>
              <a:buNone/>
            </a:pPr>
            <a:r>
              <a:rPr lang="en-GB" sz="1100" b="0" dirty="0">
                <a:solidFill>
                  <a:srgbClr val="FFFFFF"/>
                </a:solidFill>
                <a:latin typeface="Arial"/>
                <a:cs typeface="Arial"/>
              </a:rPr>
              <a:t>Questions to answer</a:t>
            </a:r>
          </a:p>
        </p:txBody>
      </p:sp>
      <p:sp>
        <p:nvSpPr>
          <p:cNvPr id="103" name="Stat 3"/>
          <p:cNvSpPr txBox="1"/>
          <p:nvPr/>
        </p:nvSpPr>
        <p:spPr>
          <a:xfrm>
            <a:off x="4640580" y="1097280"/>
            <a:ext cx="2000250" cy="868680"/>
          </a:xfrm>
          <a:prstGeom prst="roundRect">
            <a:avLst>
              <a:gd name="adj" fmla="val 8000"/>
            </a:avLst>
          </a:prstGeom>
          <a:solidFill>
            <a:srgbClr val="440099"/>
          </a:solidFill>
          <a:ln>
            <a:noFill/>
          </a:ln>
        </p:spPr>
        <p:txBody>
          <a:bodyPr wrap="square" lIns="91440" tIns="91440" rIns="91440" bIns="91440" anchor="ctr">
            <a:noAutofit/>
          </a:bodyPr>
          <a:lstStyle/>
          <a:p>
            <a:pPr marL="0" indent="0" algn="ctr">
              <a:spcAft>
                <a:spcPts val="200"/>
              </a:spcAft>
              <a:buNone/>
            </a:pPr>
            <a:r>
              <a:rPr lang="en-GB" sz="2200" b="1" dirty="0">
                <a:solidFill>
                  <a:srgbClr val="FFFFFF"/>
                </a:solidFill>
                <a:latin typeface="Arial"/>
                <a:cs typeface="Arial"/>
              </a:rPr>
              <a:t>25 marks</a:t>
            </a:r>
          </a:p>
          <a:p>
            <a:pPr marL="0" indent="0" algn="ctr">
              <a:spcAft>
                <a:spcPts val="0"/>
              </a:spcAft>
              <a:buNone/>
            </a:pPr>
            <a:r>
              <a:rPr lang="en-GB" sz="1100" b="0" dirty="0">
                <a:solidFill>
                  <a:srgbClr val="FFFFFF"/>
                </a:solidFill>
                <a:latin typeface="Arial"/>
                <a:cs typeface="Arial"/>
              </a:rPr>
              <a:t>Each question, 100 in total</a:t>
            </a:r>
          </a:p>
        </p:txBody>
      </p:sp>
      <p:sp>
        <p:nvSpPr>
          <p:cNvPr id="104" name="Stat 4"/>
          <p:cNvSpPr txBox="1"/>
          <p:nvPr/>
        </p:nvSpPr>
        <p:spPr>
          <a:xfrm>
            <a:off x="6777990" y="1097280"/>
            <a:ext cx="2000250" cy="868680"/>
          </a:xfrm>
          <a:prstGeom prst="roundRect">
            <a:avLst>
              <a:gd name="adj" fmla="val 8000"/>
            </a:avLst>
          </a:prstGeom>
          <a:solidFill>
            <a:srgbClr val="440099"/>
          </a:solidFill>
          <a:ln>
            <a:noFill/>
          </a:ln>
        </p:spPr>
        <p:txBody>
          <a:bodyPr wrap="square" lIns="91440" tIns="91440" rIns="91440" bIns="91440" anchor="ctr">
            <a:noAutofit/>
          </a:bodyPr>
          <a:lstStyle/>
          <a:p>
            <a:pPr marL="0" indent="0" algn="ctr">
              <a:spcAft>
                <a:spcPts val="200"/>
              </a:spcAft>
              <a:buNone/>
            </a:pPr>
            <a:r>
              <a:rPr lang="en-GB" sz="2200" b="1" dirty="0">
                <a:solidFill>
                  <a:srgbClr val="FFFFFF"/>
                </a:solidFill>
                <a:latin typeface="Arial"/>
                <a:cs typeface="Arial"/>
              </a:rPr>
              <a:t>Closed book</a:t>
            </a:r>
          </a:p>
          <a:p>
            <a:pPr marL="0" indent="0" algn="ctr">
              <a:spcAft>
                <a:spcPts val="0"/>
              </a:spcAft>
              <a:buNone/>
            </a:pPr>
            <a:r>
              <a:rPr lang="en-GB" sz="1100" b="0" dirty="0">
                <a:solidFill>
                  <a:srgbClr val="FFFFFF"/>
                </a:solidFill>
                <a:latin typeface="Arial"/>
                <a:cs typeface="Arial"/>
              </a:rPr>
              <a:t>No notes or textbooks</a:t>
            </a:r>
          </a:p>
        </p:txBody>
      </p:sp>
      <p:sp>
        <p:nvSpPr>
          <p:cNvPr id="105" name="Card Bring"/>
          <p:cNvSpPr txBox="1"/>
          <p:nvPr/>
        </p:nvSpPr>
        <p:spPr>
          <a:xfrm>
            <a:off x="365760" y="2103120"/>
            <a:ext cx="2712720" cy="2194560"/>
          </a:xfrm>
          <a:prstGeom prst="roundRect">
            <a:avLst>
              <a:gd name="adj" fmla="val 8000"/>
            </a:avLst>
          </a:prstGeom>
          <a:solidFill>
            <a:srgbClr val="FFFFFF"/>
          </a:solidFill>
          <a:ln w="9525">
            <a:solidFill>
              <a:srgbClr val="D0CCD8"/>
            </a:solidFill>
          </a:ln>
        </p:spPr>
        <p:txBody>
          <a:bodyPr wrap="square" lIns="137160" tIns="137160" rIns="137160" bIns="137160" anchor="t">
            <a:noAutofit/>
          </a:bodyPr>
          <a:lstStyle/>
          <a:p>
            <a:pPr marL="0" indent="0" algn="l">
              <a:spcAft>
                <a:spcPts val="600"/>
              </a:spcAft>
              <a:buNone/>
            </a:pPr>
            <a:r>
              <a:rPr lang="en-GB" sz="1400" b="1" dirty="0">
                <a:solidFill>
                  <a:srgbClr val="440099"/>
                </a:solidFill>
                <a:latin typeface="Arial"/>
                <a:cs typeface="Arial"/>
              </a:rPr>
              <a:t>Bring</a:t>
            </a:r>
          </a:p>
          <a:p>
            <a:pPr marL="171450" indent="-171450" algn="l">
              <a:spcAft>
                <a:spcPts val="300"/>
              </a:spcAft>
              <a:buFont typeface="Arial"/>
              <a:buChar char="•"/>
            </a:pPr>
            <a:r>
              <a:rPr lang="en-GB" sz="1200" b="0" dirty="0">
                <a:solidFill>
                  <a:srgbClr val="1A1A1A"/>
                </a:solidFill>
                <a:latin typeface="Arial"/>
                <a:cs typeface="Arial"/>
              </a:rPr>
              <a:t>University-approved calculator (required)</a:t>
            </a:r>
          </a:p>
          <a:p>
            <a:pPr marL="171450" indent="-171450" algn="l">
              <a:spcAft>
                <a:spcPts val="300"/>
              </a:spcAft>
              <a:buFont typeface="Arial"/>
              <a:buChar char="•"/>
            </a:pPr>
            <a:r>
              <a:rPr lang="en-GB" sz="1200" b="0" dirty="0">
                <a:solidFill>
                  <a:srgbClr val="1A1A1A"/>
                </a:solidFill>
                <a:latin typeface="Arial"/>
                <a:cs typeface="Arial"/>
              </a:rPr>
              <a:t>Pens, pencil, ruler and eraser</a:t>
            </a:r>
          </a:p>
          <a:p>
            <a:pPr marL="171450" indent="-171450" algn="l">
              <a:spcAft>
                <a:spcPts val="300"/>
              </a:spcAft>
              <a:buFont typeface="Arial"/>
              <a:buChar char="•"/>
            </a:pPr>
            <a:r>
              <a:rPr lang="en-GB" sz="1200" b="0" dirty="0">
                <a:solidFill>
                  <a:srgbClr val="1A1A1A"/>
                </a:solidFill>
                <a:latin typeface="Arial"/>
                <a:cs typeface="Arial"/>
              </a:rPr>
              <a:t>Your UCard</a:t>
            </a:r>
          </a:p>
          <a:p>
            <a:pPr marL="171450" indent="-171450" algn="l">
              <a:spcAft>
                <a:spcPts val="300"/>
              </a:spcAft>
              <a:buFont typeface="Arial"/>
              <a:buChar char="•"/>
            </a:pPr>
            <a:r>
              <a:rPr lang="en-GB" sz="1200" b="0" dirty="0">
                <a:solidFill>
                  <a:srgbClr val="1A1A1A"/>
                </a:solidFill>
                <a:latin typeface="Arial"/>
                <a:cs typeface="Arial"/>
              </a:rPr>
              <a:t>Optional: approved Chinese–English paper dictionary</a:t>
            </a:r>
          </a:p>
        </p:txBody>
      </p:sp>
      <p:sp>
        <p:nvSpPr>
          <p:cNvPr id="106" name="Card Provided"/>
          <p:cNvSpPr txBox="1"/>
          <p:nvPr/>
        </p:nvSpPr>
        <p:spPr>
          <a:xfrm>
            <a:off x="3215640" y="2103120"/>
            <a:ext cx="2712720" cy="2194560"/>
          </a:xfrm>
          <a:prstGeom prst="roundRect">
            <a:avLst>
              <a:gd name="adj" fmla="val 8000"/>
            </a:avLst>
          </a:prstGeom>
          <a:solidFill>
            <a:srgbClr val="FFFFFF"/>
          </a:solidFill>
          <a:ln w="9525">
            <a:solidFill>
              <a:srgbClr val="D0CCD8"/>
            </a:solidFill>
          </a:ln>
        </p:spPr>
        <p:txBody>
          <a:bodyPr wrap="square" lIns="137160" tIns="137160" rIns="137160" bIns="137160" anchor="t">
            <a:noAutofit/>
          </a:bodyPr>
          <a:lstStyle/>
          <a:p>
            <a:pPr marL="0" indent="0" algn="l">
              <a:spcAft>
                <a:spcPts val="600"/>
              </a:spcAft>
              <a:buNone/>
            </a:pPr>
            <a:r>
              <a:rPr lang="en-GB" sz="1400" b="1" dirty="0">
                <a:solidFill>
                  <a:srgbClr val="440099"/>
                </a:solidFill>
                <a:latin typeface="Arial"/>
                <a:cs typeface="Arial"/>
              </a:rPr>
              <a:t>Provided</a:t>
            </a:r>
          </a:p>
          <a:p>
            <a:pPr marL="171450" indent="-171450" algn="l">
              <a:spcAft>
                <a:spcPts val="300"/>
              </a:spcAft>
              <a:buFont typeface="Arial"/>
              <a:buChar char="•"/>
            </a:pPr>
            <a:r>
              <a:rPr lang="en-GB" sz="1200" b="0" dirty="0">
                <a:solidFill>
                  <a:srgbClr val="1A1A1A"/>
                </a:solidFill>
                <a:latin typeface="Arial"/>
                <a:cs typeface="Arial"/>
              </a:rPr>
              <a:t>Formula sheet, attached to the paper</a:t>
            </a:r>
          </a:p>
          <a:p>
            <a:pPr marL="171450" indent="-171450" algn="l">
              <a:spcAft>
                <a:spcPts val="300"/>
              </a:spcAft>
              <a:buFont typeface="Arial"/>
              <a:buChar char="•"/>
            </a:pPr>
            <a:r>
              <a:rPr lang="en-GB" sz="1200" b="0" dirty="0">
                <a:solidFill>
                  <a:srgbClr val="1A1A1A"/>
                </a:solidFill>
                <a:latin typeface="Arial"/>
                <a:cs typeface="Arial"/>
              </a:rPr>
              <a:t>Graph paper</a:t>
            </a:r>
          </a:p>
          <a:p>
            <a:pPr marL="171450" indent="-171450" algn="l">
              <a:spcAft>
                <a:spcPts val="300"/>
              </a:spcAft>
              <a:buFont typeface="Arial"/>
              <a:buChar char="•"/>
            </a:pPr>
            <a:r>
              <a:rPr lang="en-GB" sz="1200" b="0" dirty="0">
                <a:solidFill>
                  <a:srgbClr val="1A1A1A"/>
                </a:solidFill>
                <a:latin typeface="Arial"/>
                <a:cs typeface="Arial"/>
              </a:rPr>
              <a:t>Answer booklets</a:t>
            </a:r>
          </a:p>
          <a:p>
            <a:pPr marL="171450" indent="-171450" algn="l">
              <a:spcAft>
                <a:spcPts val="300"/>
              </a:spcAft>
              <a:buFont typeface="Arial"/>
              <a:buChar char="•"/>
            </a:pPr>
            <a:r>
              <a:rPr lang="en-GB" sz="1200" dirty="0">
                <a:solidFill>
                  <a:srgbClr val="1A1A1A"/>
                </a:solidFill>
              </a:rPr>
              <a:t>A4 paper</a:t>
            </a:r>
            <a:endParaRPr lang="en-GB" sz="1200" b="0" dirty="0">
              <a:solidFill>
                <a:srgbClr val="1A1A1A"/>
              </a:solidFill>
              <a:latin typeface="Arial"/>
              <a:cs typeface="Arial"/>
            </a:endParaRPr>
          </a:p>
        </p:txBody>
      </p:sp>
      <p:sp>
        <p:nvSpPr>
          <p:cNvPr id="107" name="Card On the day"/>
          <p:cNvSpPr txBox="1"/>
          <p:nvPr/>
        </p:nvSpPr>
        <p:spPr>
          <a:xfrm>
            <a:off x="6065520" y="2103120"/>
            <a:ext cx="2712720" cy="2194560"/>
          </a:xfrm>
          <a:prstGeom prst="roundRect">
            <a:avLst>
              <a:gd name="adj" fmla="val 8000"/>
            </a:avLst>
          </a:prstGeom>
          <a:solidFill>
            <a:srgbClr val="FFFFFF"/>
          </a:solidFill>
          <a:ln w="9525">
            <a:solidFill>
              <a:srgbClr val="D0CCD8"/>
            </a:solidFill>
          </a:ln>
        </p:spPr>
        <p:txBody>
          <a:bodyPr wrap="square" lIns="137160" tIns="137160" rIns="137160" bIns="137160" anchor="t">
            <a:noAutofit/>
          </a:bodyPr>
          <a:lstStyle/>
          <a:p>
            <a:pPr marL="0" indent="0" algn="l">
              <a:spcAft>
                <a:spcPts val="600"/>
              </a:spcAft>
              <a:buNone/>
            </a:pPr>
            <a:r>
              <a:rPr lang="en-GB" sz="1400" b="1" dirty="0">
                <a:solidFill>
                  <a:srgbClr val="440099"/>
                </a:solidFill>
                <a:latin typeface="Arial"/>
                <a:cs typeface="Arial"/>
              </a:rPr>
              <a:t>On the day</a:t>
            </a:r>
          </a:p>
          <a:p>
            <a:pPr marL="171450" indent="-171450" algn="l">
              <a:spcAft>
                <a:spcPts val="300"/>
              </a:spcAft>
              <a:buFont typeface="Arial"/>
              <a:buChar char="•"/>
            </a:pPr>
            <a:r>
              <a:rPr lang="en-GB" sz="1200" b="0" dirty="0">
                <a:solidFill>
                  <a:srgbClr val="1A1A1A"/>
                </a:solidFill>
                <a:latin typeface="Arial"/>
                <a:cs typeface="Arial"/>
              </a:rPr>
              <a:t>Spend about 45 minutes per question</a:t>
            </a:r>
          </a:p>
          <a:p>
            <a:pPr marL="171450" indent="-171450" algn="l">
              <a:spcAft>
                <a:spcPts val="300"/>
              </a:spcAft>
              <a:buFont typeface="Arial"/>
              <a:buChar char="•"/>
            </a:pPr>
            <a:r>
              <a:rPr lang="en-GB" sz="1200" b="0" dirty="0">
                <a:solidFill>
                  <a:srgbClr val="1A1A1A"/>
                </a:solidFill>
                <a:latin typeface="Arial"/>
                <a:cs typeface="Arial"/>
              </a:rPr>
              <a:t>Show every step of your workings</a:t>
            </a:r>
          </a:p>
          <a:p>
            <a:pPr marL="171450" indent="-171450" algn="l">
              <a:spcAft>
                <a:spcPts val="300"/>
              </a:spcAft>
              <a:buFont typeface="Arial"/>
              <a:buChar char="•"/>
            </a:pPr>
            <a:r>
              <a:rPr lang="en-GB" sz="1200" b="0" dirty="0">
                <a:solidFill>
                  <a:srgbClr val="1A1A1A"/>
                </a:solidFill>
                <a:latin typeface="Arial"/>
                <a:cs typeface="Arial"/>
              </a:rPr>
              <a:t>Label diagrams and axes clearly</a:t>
            </a:r>
          </a:p>
          <a:p>
            <a:pPr marL="171450" indent="-171450" algn="l">
              <a:spcAft>
                <a:spcPts val="300"/>
              </a:spcAft>
              <a:buFont typeface="Arial"/>
              <a:buChar char="•"/>
            </a:pPr>
            <a:r>
              <a:rPr lang="en-GB" sz="1200" b="0" dirty="0">
                <a:solidFill>
                  <a:srgbClr val="1A1A1A"/>
                </a:solidFill>
                <a:latin typeface="Arial"/>
                <a:cs typeface="Arial"/>
              </a:rPr>
              <a:t>Apply your answers to the scenario</a:t>
            </a:r>
          </a:p>
        </p:txBody>
      </p:sp>
      <p:sp>
        <p:nvSpPr>
          <p:cNvPr id="108" name="Tutorial note"/>
          <p:cNvSpPr txBox="1"/>
          <p:nvPr/>
        </p:nvSpPr>
        <p:spPr>
          <a:xfrm>
            <a:off x="365760" y="4389120"/>
            <a:ext cx="7863840" cy="292608"/>
          </a:xfrm>
          <a:prstGeom prst="rect">
            <a:avLst/>
          </a:prstGeom>
          <a:noFill/>
          <a:ln>
            <a:noFill/>
          </a:ln>
        </p:spPr>
        <p:txBody>
          <a:bodyPr wrap="square" lIns="0" tIns="0" rIns="0" bIns="0" anchor="ctr">
            <a:noAutofit/>
          </a:bodyPr>
          <a:lstStyle/>
          <a:p>
            <a:pPr marL="0" indent="0" algn="l">
              <a:spcAft>
                <a:spcPts val="0"/>
              </a:spcAft>
              <a:buNone/>
            </a:pPr>
            <a:r>
              <a:rPr lang="en-GB" sz="1200" b="1" dirty="0">
                <a:solidFill>
                  <a:srgbClr val="440099"/>
                </a:solidFill>
                <a:latin typeface="Arial"/>
                <a:cs typeface="Arial"/>
              </a:rPr>
              <a:t>Tutorials: </a:t>
            </a:r>
            <a:r>
              <a:rPr lang="en-GB" sz="1200" b="0" dirty="0">
                <a:solidFill>
                  <a:srgbClr val="1A1A1A"/>
                </a:solidFill>
                <a:latin typeface="Arial"/>
                <a:cs typeface="Arial"/>
              </a:rPr>
              <a:t>all 5 tutorial sessions are dedicated to working on exam-related questions.</a:t>
            </a:r>
          </a:p>
        </p:txBody>
      </p:sp>
      <p:sp>
        <p:nvSpPr>
          <p:cNvPr id="109" name="Exam footer"/>
          <p:cNvSpPr txBox="1"/>
          <p:nvPr/>
        </p:nvSpPr>
        <p:spPr>
          <a:xfrm>
            <a:off x="365760" y="4709160"/>
            <a:ext cx="7498080" cy="274320"/>
          </a:xfrm>
          <a:prstGeom prst="rect">
            <a:avLst/>
          </a:prstGeom>
          <a:noFill/>
          <a:ln>
            <a:noFill/>
          </a:ln>
        </p:spPr>
        <p:txBody>
          <a:bodyPr wrap="square" lIns="0" tIns="0" rIns="0" bIns="0" anchor="ctr">
            <a:noAutofit/>
          </a:bodyPr>
          <a:lstStyle/>
          <a:p>
            <a:pPr marL="0" indent="0" algn="l">
              <a:spcAft>
                <a:spcPts val="0"/>
              </a:spcAft>
              <a:buNone/>
            </a:pPr>
            <a:r>
              <a:rPr lang="en-GB" sz="1000" b="0" dirty="0">
                <a:solidFill>
                  <a:srgbClr val="4A4A4A"/>
                </a:solidFill>
                <a:latin typeface="Arial"/>
                <a:cs typeface="Arial"/>
              </a:rPr>
              <a:t>No phones or electronic devices. Full details are in the Exam Brief in the Assessment information area on Blackboard.</a:t>
            </a:r>
          </a:p>
        </p:txBody>
      </p:sp>
    </p:spTree>
    <p:extLst>
      <p:ext uri="{BB962C8B-B14F-4D97-AF65-F5344CB8AC3E}">
        <p14:creationId xmlns:p14="http://schemas.microsoft.com/office/powerpoint/2010/main" val="301100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E5F056DD-FF75-CA97-EDE2-59246AF2AB48}"/>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FAF440B7-34F2-582B-736A-B507D282220A}"/>
              </a:ext>
            </a:extLst>
          </p:cNvPr>
          <p:cNvSpPr txBox="1">
            <a:spLocks noGrp="1"/>
          </p:cNvSpPr>
          <p:nvPr>
            <p:ph type="title"/>
          </p:nvPr>
        </p:nvSpPr>
        <p:spPr>
          <a:xfrm>
            <a:off x="-89807" y="0"/>
            <a:ext cx="9446077" cy="914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3200" b="1" dirty="0">
                <a:latin typeface="+mj-lt"/>
              </a:rPr>
              <a:t>Learning Outcomes</a:t>
            </a:r>
            <a:endParaRPr sz="3200" b="1" dirty="0">
              <a:latin typeface="+mj-lt"/>
            </a:endParaRPr>
          </a:p>
        </p:txBody>
      </p:sp>
      <p:sp>
        <p:nvSpPr>
          <p:cNvPr id="3" name="TextBox 2">
            <a:extLst>
              <a:ext uri="{FF2B5EF4-FFF2-40B4-BE49-F238E27FC236}">
                <a16:creationId xmlns:a16="http://schemas.microsoft.com/office/drawing/2014/main" id="{527DB3AC-4CE0-D62B-0739-BD187D087E25}"/>
              </a:ext>
            </a:extLst>
          </p:cNvPr>
          <p:cNvSpPr txBox="1"/>
          <p:nvPr/>
        </p:nvSpPr>
        <p:spPr>
          <a:xfrm>
            <a:off x="253092" y="653144"/>
            <a:ext cx="8196943" cy="3693319"/>
          </a:xfrm>
          <a:prstGeom prst="rect">
            <a:avLst/>
          </a:prstGeom>
          <a:noFill/>
        </p:spPr>
        <p:txBody>
          <a:bodyPr wrap="square">
            <a:spAutoFit/>
          </a:bodyPr>
          <a:lstStyle/>
          <a:p>
            <a:pPr>
              <a:buNone/>
            </a:pPr>
            <a:r>
              <a:rPr lang="en-GB" sz="1800" dirty="0"/>
              <a:t>By the end of the session, students should be able to:</a:t>
            </a:r>
          </a:p>
          <a:p>
            <a:pPr>
              <a:buNone/>
            </a:pPr>
            <a:endParaRPr lang="en-GB" sz="1800" dirty="0"/>
          </a:p>
          <a:p>
            <a:pPr marL="342900" lvl="0" indent="-342900">
              <a:buFont typeface="+mj-lt"/>
              <a:buAutoNum type="arabicPeriod"/>
            </a:pPr>
            <a:r>
              <a:rPr lang="en-GB" sz="1800" dirty="0"/>
              <a:t>Distinguish between design capacity and effective capacity and explain how operational constraints affect available capacity. </a:t>
            </a:r>
          </a:p>
          <a:p>
            <a:pPr lvl="0"/>
            <a:endParaRPr lang="en-GB" sz="1800" dirty="0"/>
          </a:p>
          <a:p>
            <a:pPr lvl="0"/>
            <a:r>
              <a:rPr lang="en-GB" sz="1800" dirty="0"/>
              <a:t>2. Calculate and interpret utilisation and efficiency to assess how effectively operational resources are being used.</a:t>
            </a:r>
          </a:p>
          <a:p>
            <a:pPr lvl="0"/>
            <a:endParaRPr lang="en-GB" sz="1800" dirty="0"/>
          </a:p>
          <a:p>
            <a:pPr lvl="0"/>
            <a:r>
              <a:rPr lang="en-GB" sz="1800" dirty="0"/>
              <a:t>3. Analyse process flow using WIP, throughput and flow time, and apply Little’s Law to operational problems. </a:t>
            </a:r>
          </a:p>
          <a:p>
            <a:pPr lvl="0"/>
            <a:endParaRPr lang="en-GB" sz="1800" dirty="0"/>
          </a:p>
          <a:p>
            <a:pPr lvl="0"/>
            <a:r>
              <a:rPr lang="en-GB" sz="1800" dirty="0"/>
              <a:t>4. Evaluate demand–capacity relationships and identify the operational implications of under-capacity, balanced capacity and over-capacity situations. </a:t>
            </a:r>
          </a:p>
        </p:txBody>
      </p:sp>
    </p:spTree>
    <p:extLst>
      <p:ext uri="{BB962C8B-B14F-4D97-AF65-F5344CB8AC3E}">
        <p14:creationId xmlns:p14="http://schemas.microsoft.com/office/powerpoint/2010/main" val="2136423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8137C71E-FD1F-A15E-F317-1CC33A4251E3}"/>
            </a:ext>
          </a:extLst>
        </p:cNvPr>
        <p:cNvGrpSpPr/>
        <p:nvPr/>
      </p:nvGrpSpPr>
      <p:grpSpPr>
        <a:xfrm>
          <a:off x="0" y="0"/>
          <a:ext cx="0" cy="0"/>
          <a:chOff x="0" y="0"/>
          <a:chExt cx="0" cy="0"/>
        </a:xfrm>
      </p:grpSpPr>
      <p:sp>
        <p:nvSpPr>
          <p:cNvPr id="66" name="Google Shape;66;p14" descr="Performance Objectives Table">
            <a:extLst>
              <a:ext uri="{FF2B5EF4-FFF2-40B4-BE49-F238E27FC236}">
                <a16:creationId xmlns:a16="http://schemas.microsoft.com/office/drawing/2014/main" id="{630B6023-BB80-1810-1E90-E34536580428}"/>
              </a:ext>
            </a:extLst>
          </p:cNvPr>
          <p:cNvSpPr txBox="1">
            <a:spLocks noGrp="1"/>
          </p:cNvSpPr>
          <p:nvPr>
            <p:ph type="title"/>
          </p:nvPr>
        </p:nvSpPr>
        <p:spPr>
          <a:xfrm>
            <a:off x="2225166" y="384517"/>
            <a:ext cx="8520600" cy="572700"/>
          </a:xfrm>
        </p:spPr>
        <p:txBody>
          <a:bodyPr spcFirstLastPara="1" wrap="square" lIns="91425" tIns="91425" rIns="91425" bIns="91425" anchor="ctr" anchorCtr="0">
            <a:normAutofit/>
          </a:bodyPr>
          <a:lstStyle/>
          <a:p>
            <a:pPr marL="0" lvl="0" indent="0" rtl="0">
              <a:spcBef>
                <a:spcPts val="0"/>
              </a:spcBef>
              <a:spcAft>
                <a:spcPts val="0"/>
              </a:spcAft>
              <a:buNone/>
            </a:pPr>
            <a:r>
              <a:rPr lang="en-GB" sz="2500" b="1" dirty="0">
                <a:latin typeface="+mn-lt"/>
              </a:rPr>
              <a:t>Performance Objectives </a:t>
            </a:r>
          </a:p>
        </p:txBody>
      </p:sp>
      <p:sp>
        <p:nvSpPr>
          <p:cNvPr id="73" name="Slide Number Placeholder 2">
            <a:extLst>
              <a:ext uri="{FF2B5EF4-FFF2-40B4-BE49-F238E27FC236}">
                <a16:creationId xmlns:a16="http://schemas.microsoft.com/office/drawing/2014/main" id="{93B114EF-7CF7-5A43-B1A2-8CC3D261A09B}"/>
              </a:ext>
            </a:extLst>
          </p:cNvPr>
          <p:cNvSpPr>
            <a:spLocks noGrp="1"/>
          </p:cNvSpPr>
          <p:nvPr>
            <p:ph type="sldNum" idx="12"/>
          </p:nvPr>
        </p:nvSpPr>
        <p:spPr>
          <a:xfrm>
            <a:off x="8444334" y="4745726"/>
            <a:ext cx="548700" cy="393600"/>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5</a:t>
            </a:fld>
            <a:endParaRPr lang="en"/>
          </a:p>
        </p:txBody>
      </p:sp>
      <p:graphicFrame>
        <p:nvGraphicFramePr>
          <p:cNvPr id="4" name="Table 3" descr="Performance objectives table">
            <a:extLst>
              <a:ext uri="{FF2B5EF4-FFF2-40B4-BE49-F238E27FC236}">
                <a16:creationId xmlns:a16="http://schemas.microsoft.com/office/drawing/2014/main" id="{AC107DE6-B30F-18F2-9DB9-7539E2811742}"/>
              </a:ext>
            </a:extLst>
          </p:cNvPr>
          <p:cNvGraphicFramePr>
            <a:graphicFrameLocks noGrp="1"/>
          </p:cNvGraphicFramePr>
          <p:nvPr>
            <p:extLst>
              <p:ext uri="{D42A27DB-BD31-4B8C-83A1-F6EECF244321}">
                <p14:modId xmlns:p14="http://schemas.microsoft.com/office/powerpoint/2010/main" val="281204327"/>
              </p:ext>
            </p:extLst>
          </p:nvPr>
        </p:nvGraphicFramePr>
        <p:xfrm>
          <a:off x="676204" y="1208225"/>
          <a:ext cx="7791593" cy="3264408"/>
        </p:xfrm>
        <a:graphic>
          <a:graphicData uri="http://schemas.openxmlformats.org/drawingml/2006/table">
            <a:tbl>
              <a:tblPr firstRow="1">
                <a:tableStyleId>{D7AC3CCA-C797-4891-BE02-D94E43425B78}</a:tableStyleId>
              </a:tblPr>
              <a:tblGrid>
                <a:gridCol w="3865824">
                  <a:extLst>
                    <a:ext uri="{9D8B030D-6E8A-4147-A177-3AD203B41FA5}">
                      <a16:colId xmlns:a16="http://schemas.microsoft.com/office/drawing/2014/main" val="1734586664"/>
                    </a:ext>
                  </a:extLst>
                </a:gridCol>
                <a:gridCol w="3925769">
                  <a:extLst>
                    <a:ext uri="{9D8B030D-6E8A-4147-A177-3AD203B41FA5}">
                      <a16:colId xmlns:a16="http://schemas.microsoft.com/office/drawing/2014/main" val="93924858"/>
                    </a:ext>
                  </a:extLst>
                </a:gridCol>
              </a:tblGrid>
              <a:tr h="466344">
                <a:tc>
                  <a:txBody>
                    <a:bodyPr/>
                    <a:lstStyle/>
                    <a:p>
                      <a:pPr>
                        <a:buNone/>
                      </a:pPr>
                      <a:r>
                        <a:rPr lang="en-GB" sz="1500" b="1" cap="none" spc="0" dirty="0">
                          <a:solidFill>
                            <a:schemeClr val="accent3">
                              <a:lumMod val="10000"/>
                            </a:schemeClr>
                          </a:solidFill>
                        </a:rPr>
                        <a:t>Performance objective</a:t>
                      </a:r>
                      <a:endParaRPr lang="en-GB" sz="1500" b="1" cap="none" spc="0" dirty="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1" cap="none" spc="0" dirty="0">
                          <a:solidFill>
                            <a:schemeClr val="accent3">
                              <a:lumMod val="10000"/>
                            </a:schemeClr>
                          </a:solidFill>
                        </a:rPr>
                        <a:t>Simple meaning</a:t>
                      </a:r>
                      <a:endParaRPr lang="en-GB" sz="1500" b="1" cap="none" spc="0" dirty="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1959123646"/>
                  </a:ext>
                </a:extLst>
              </a:tr>
              <a:tr h="466344">
                <a:tc>
                  <a:txBody>
                    <a:bodyPr/>
                    <a:lstStyle/>
                    <a:p>
                      <a:pPr>
                        <a:buNone/>
                      </a:pPr>
                      <a:r>
                        <a:rPr lang="en-GB" sz="1500" b="0" cap="none" spc="0" dirty="0">
                          <a:solidFill>
                            <a:schemeClr val="accent3">
                              <a:lumMod val="10000"/>
                            </a:schemeClr>
                          </a:solidFill>
                        </a:rPr>
                        <a:t>Quality</a:t>
                      </a:r>
                      <a:endParaRPr lang="en-GB" sz="1500" b="0" cap="none" spc="0" dirty="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0" cap="none" spc="0" dirty="0">
                          <a:solidFill>
                            <a:schemeClr val="accent3">
                              <a:lumMod val="10000"/>
                            </a:schemeClr>
                          </a:solidFill>
                        </a:rPr>
                        <a:t>Do things right</a:t>
                      </a:r>
                      <a:endParaRPr lang="en-GB" sz="1500" b="0" cap="none" spc="0" dirty="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2600372999"/>
                  </a:ext>
                </a:extLst>
              </a:tr>
              <a:tr h="466344">
                <a:tc>
                  <a:txBody>
                    <a:bodyPr/>
                    <a:lstStyle/>
                    <a:p>
                      <a:pPr>
                        <a:buNone/>
                      </a:pPr>
                      <a:r>
                        <a:rPr lang="en-GB" sz="1500" b="0" cap="none" spc="0" dirty="0">
                          <a:solidFill>
                            <a:schemeClr val="accent3">
                              <a:lumMod val="10000"/>
                            </a:schemeClr>
                          </a:solidFill>
                        </a:rPr>
                        <a:t>Speed</a:t>
                      </a:r>
                      <a:endParaRPr lang="en-GB" sz="1500" b="0" cap="none" spc="0" dirty="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0" cap="none" spc="0" dirty="0">
                          <a:solidFill>
                            <a:schemeClr val="accent3">
                              <a:lumMod val="10000"/>
                            </a:schemeClr>
                          </a:solidFill>
                        </a:rPr>
                        <a:t>Do things fast</a:t>
                      </a:r>
                      <a:endParaRPr lang="en-GB" sz="1500" b="0" cap="none" spc="0" dirty="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3376133645"/>
                  </a:ext>
                </a:extLst>
              </a:tr>
              <a:tr h="466344">
                <a:tc>
                  <a:txBody>
                    <a:bodyPr/>
                    <a:lstStyle/>
                    <a:p>
                      <a:pPr>
                        <a:buNone/>
                      </a:pPr>
                      <a:r>
                        <a:rPr lang="en-GB" sz="1500" b="0" cap="none" spc="0">
                          <a:solidFill>
                            <a:schemeClr val="accent3">
                              <a:lumMod val="10000"/>
                            </a:schemeClr>
                          </a:solidFill>
                        </a:rPr>
                        <a:t>Dependability</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0" cap="none" spc="0">
                          <a:solidFill>
                            <a:schemeClr val="accent3">
                              <a:lumMod val="10000"/>
                            </a:schemeClr>
                          </a:solidFill>
                        </a:rPr>
                        <a:t>Do things on time, as promised</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4147637621"/>
                  </a:ext>
                </a:extLst>
              </a:tr>
              <a:tr h="466344">
                <a:tc>
                  <a:txBody>
                    <a:bodyPr/>
                    <a:lstStyle/>
                    <a:p>
                      <a:pPr>
                        <a:buNone/>
                      </a:pPr>
                      <a:r>
                        <a:rPr lang="en-GB" sz="1500" b="0" cap="none" spc="0">
                          <a:solidFill>
                            <a:schemeClr val="accent3">
                              <a:lumMod val="10000"/>
                            </a:schemeClr>
                          </a:solidFill>
                        </a:rPr>
                        <a:t>Flexibility</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0" cap="none" spc="0">
                          <a:solidFill>
                            <a:schemeClr val="accent3">
                              <a:lumMod val="10000"/>
                            </a:schemeClr>
                          </a:solidFill>
                        </a:rPr>
                        <a:t>Respond to change</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1497756134"/>
                  </a:ext>
                </a:extLst>
              </a:tr>
              <a:tr h="466344">
                <a:tc>
                  <a:txBody>
                    <a:bodyPr/>
                    <a:lstStyle/>
                    <a:p>
                      <a:pPr>
                        <a:buNone/>
                      </a:pPr>
                      <a:r>
                        <a:rPr lang="en-GB" sz="1500" b="0" cap="none" spc="0">
                          <a:solidFill>
                            <a:schemeClr val="accent3">
                              <a:lumMod val="10000"/>
                            </a:schemeClr>
                          </a:solidFill>
                        </a:rPr>
                        <a:t>Cost</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0" cap="none" spc="0">
                          <a:solidFill>
                            <a:schemeClr val="accent3">
                              <a:lumMod val="10000"/>
                            </a:schemeClr>
                          </a:solidFill>
                        </a:rPr>
                        <a:t>Do things efficiently</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1779335046"/>
                  </a:ext>
                </a:extLst>
              </a:tr>
              <a:tr h="466344">
                <a:tc>
                  <a:txBody>
                    <a:bodyPr/>
                    <a:lstStyle/>
                    <a:p>
                      <a:pPr>
                        <a:buNone/>
                      </a:pPr>
                      <a:r>
                        <a:rPr lang="en-GB" sz="1500" b="0" cap="none" spc="0">
                          <a:solidFill>
                            <a:schemeClr val="accent3">
                              <a:lumMod val="10000"/>
                            </a:schemeClr>
                          </a:solidFill>
                        </a:rPr>
                        <a:t>Sustainability</a:t>
                      </a:r>
                      <a:endParaRPr lang="en-GB" sz="1500" b="0" cap="none" spc="0">
                        <a:solidFill>
                          <a:schemeClr val="accent3">
                            <a:lumMod val="10000"/>
                          </a:schemeClr>
                        </a:solidFill>
                        <a:latin typeface="Source Sans Pro SemiBold" panose="020B0603030403020204" pitchFamily="34" charset="0"/>
                      </a:endParaRPr>
                    </a:p>
                  </a:txBody>
                  <a:tcPr marL="79620" marR="75884" marT="22748" marB="170614" anchor="ctr"/>
                </a:tc>
                <a:tc>
                  <a:txBody>
                    <a:bodyPr/>
                    <a:lstStyle/>
                    <a:p>
                      <a:pPr>
                        <a:buNone/>
                      </a:pPr>
                      <a:r>
                        <a:rPr lang="en-GB" sz="1500" b="0" cap="none" spc="0" dirty="0">
                          <a:solidFill>
                            <a:schemeClr val="accent3">
                              <a:lumMod val="10000"/>
                            </a:schemeClr>
                          </a:solidFill>
                        </a:rPr>
                        <a:t>Do things responsibly</a:t>
                      </a:r>
                      <a:endParaRPr lang="en-GB" sz="1500" b="0" cap="none" spc="0" dirty="0">
                        <a:solidFill>
                          <a:schemeClr val="accent3">
                            <a:lumMod val="10000"/>
                          </a:schemeClr>
                        </a:solidFill>
                        <a:latin typeface="Source Sans Pro SemiBold" panose="020B0603030403020204" pitchFamily="34" charset="0"/>
                      </a:endParaRPr>
                    </a:p>
                  </a:txBody>
                  <a:tcPr marL="79620" marR="75884" marT="22748" marB="170614" anchor="ctr"/>
                </a:tc>
                <a:extLst>
                  <a:ext uri="{0D108BD9-81ED-4DB2-BD59-A6C34878D82A}">
                    <a16:rowId xmlns:a16="http://schemas.microsoft.com/office/drawing/2014/main" val="1796007205"/>
                  </a:ext>
                </a:extLst>
              </a:tr>
            </a:tbl>
          </a:graphicData>
        </a:graphic>
      </p:graphicFrame>
    </p:spTree>
    <p:extLst>
      <p:ext uri="{BB962C8B-B14F-4D97-AF65-F5344CB8AC3E}">
        <p14:creationId xmlns:p14="http://schemas.microsoft.com/office/powerpoint/2010/main" val="4149123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C410D183-449F-83FE-2AFD-3F59DC1AFD4E}"/>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82E395A8-C223-DECE-42C6-76CB14B78120}"/>
              </a:ext>
            </a:extLst>
          </p:cNvPr>
          <p:cNvSpPr txBox="1">
            <a:spLocks noGrp="1"/>
          </p:cNvSpPr>
          <p:nvPr>
            <p:ph type="title"/>
          </p:nvPr>
        </p:nvSpPr>
        <p:spPr>
          <a:xfrm>
            <a:off x="305550" y="174950"/>
            <a:ext cx="8004900" cy="739200"/>
          </a:xfrm>
          <a:prstGeom prst="rect">
            <a:avLst/>
          </a:prstGeom>
        </p:spPr>
        <p:txBody>
          <a:bodyPr spcFirstLastPara="1" wrap="square" lIns="91425" tIns="91425" rIns="91425" bIns="91425" anchor="t" anchorCtr="0">
            <a:normAutofit fontScale="90000"/>
          </a:bodyPr>
          <a:lstStyle/>
          <a:p>
            <a:pPr algn="ctr"/>
            <a:r>
              <a:rPr lang="en-GB" b="1" dirty="0"/>
              <a:t>Operational Measures</a:t>
            </a:r>
            <a:br>
              <a:rPr lang="en-GB" b="1" dirty="0"/>
            </a:br>
            <a:endParaRPr b="1" dirty="0"/>
          </a:p>
        </p:txBody>
      </p:sp>
      <p:sp>
        <p:nvSpPr>
          <p:cNvPr id="80" name="Google Shape;80;p16">
            <a:extLst>
              <a:ext uri="{FF2B5EF4-FFF2-40B4-BE49-F238E27FC236}">
                <a16:creationId xmlns:a16="http://schemas.microsoft.com/office/drawing/2014/main" id="{AD9A2FEF-4A8E-4FEB-E776-97326BEE146B}"/>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
        <p:nvSpPr>
          <p:cNvPr id="3" name="TextBox 2">
            <a:extLst>
              <a:ext uri="{FF2B5EF4-FFF2-40B4-BE49-F238E27FC236}">
                <a16:creationId xmlns:a16="http://schemas.microsoft.com/office/drawing/2014/main" id="{80FE0CBE-A708-D9DD-3376-B88AB614EC81}"/>
              </a:ext>
            </a:extLst>
          </p:cNvPr>
          <p:cNvSpPr txBox="1"/>
          <p:nvPr/>
        </p:nvSpPr>
        <p:spPr>
          <a:xfrm>
            <a:off x="367393" y="987879"/>
            <a:ext cx="7543800" cy="1754326"/>
          </a:xfrm>
          <a:prstGeom prst="rect">
            <a:avLst/>
          </a:prstGeom>
          <a:noFill/>
        </p:spPr>
        <p:txBody>
          <a:bodyPr wrap="square">
            <a:spAutoFit/>
          </a:bodyPr>
          <a:lstStyle/>
          <a:p>
            <a:pPr marL="285750" indent="-285750">
              <a:buFont typeface="Courier New" panose="02070309020205020404" pitchFamily="49" charset="0"/>
              <a:buChar char="o"/>
            </a:pPr>
            <a:r>
              <a:rPr lang="en-GB" sz="1800" dirty="0"/>
              <a:t>Operational measures are the specific indicators used to monitor how well an operation is actually performing.</a:t>
            </a:r>
          </a:p>
          <a:p>
            <a:pPr marL="285750" indent="-285750">
              <a:buFont typeface="Courier New" panose="02070309020205020404" pitchFamily="49" charset="0"/>
              <a:buChar char="o"/>
            </a:pPr>
            <a:endParaRPr lang="en-GB" sz="1800" b="1" dirty="0"/>
          </a:p>
          <a:p>
            <a:pPr marL="285750" indent="-285750">
              <a:buFont typeface="Courier New" panose="02070309020205020404" pitchFamily="49" charset="0"/>
              <a:buChar char="o"/>
            </a:pPr>
            <a:endParaRPr lang="en-GB" sz="1800" b="1" dirty="0"/>
          </a:p>
          <a:p>
            <a:pPr marL="285750" indent="-285750">
              <a:buFont typeface="Courier New" panose="02070309020205020404" pitchFamily="49" charset="0"/>
              <a:buChar char="o"/>
            </a:pPr>
            <a:r>
              <a:rPr lang="en-GB" sz="1800" dirty="0"/>
              <a:t>Performance objectives tell us what matters. Operational measures tell us what to measure.</a:t>
            </a:r>
          </a:p>
        </p:txBody>
      </p:sp>
    </p:spTree>
    <p:extLst>
      <p:ext uri="{BB962C8B-B14F-4D97-AF65-F5344CB8AC3E}">
        <p14:creationId xmlns:p14="http://schemas.microsoft.com/office/powerpoint/2010/main" val="3770526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6695813-69D8-B3FA-DAEE-709E845D0D85}"/>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E3893D93-6336-79AB-FECE-CE080C308C8A}"/>
              </a:ext>
            </a:extLst>
          </p:cNvPr>
          <p:cNvSpPr txBox="1">
            <a:spLocks noGrp="1"/>
          </p:cNvSpPr>
          <p:nvPr>
            <p:ph type="title"/>
          </p:nvPr>
        </p:nvSpPr>
        <p:spPr>
          <a:xfrm>
            <a:off x="2687507" y="384505"/>
            <a:ext cx="5321657" cy="572700"/>
          </a:xfrm>
        </p:spPr>
        <p:txBody>
          <a:bodyPr spcFirstLastPara="1" wrap="square" lIns="91425" tIns="91425" rIns="91425" bIns="91425" anchor="ctr" anchorCtr="0">
            <a:noAutofit/>
          </a:bodyPr>
          <a:lstStyle/>
          <a:p>
            <a:pPr algn="ctr"/>
            <a:r>
              <a:rPr lang="en-GB" sz="3200" b="1" dirty="0">
                <a:latin typeface="+mj-lt"/>
              </a:rPr>
              <a:t>Operational Measures</a:t>
            </a:r>
            <a:br>
              <a:rPr lang="en-GB" sz="3200" b="1" dirty="0">
                <a:latin typeface="+mj-lt"/>
              </a:rPr>
            </a:br>
            <a:endParaRPr lang="en-GB" sz="3200" b="1" dirty="0">
              <a:latin typeface="+mj-lt"/>
            </a:endParaRPr>
          </a:p>
        </p:txBody>
      </p:sp>
      <p:sp>
        <p:nvSpPr>
          <p:cNvPr id="80" name="Google Shape;80;p16">
            <a:extLst>
              <a:ext uri="{FF2B5EF4-FFF2-40B4-BE49-F238E27FC236}">
                <a16:creationId xmlns:a16="http://schemas.microsoft.com/office/drawing/2014/main" id="{DB6C6108-4192-E45E-6368-A7683B00073D}"/>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7</a:t>
            </a:fld>
            <a:endParaRPr lang="en" sz="900"/>
          </a:p>
        </p:txBody>
      </p:sp>
      <p:graphicFrame>
        <p:nvGraphicFramePr>
          <p:cNvPr id="2" name="Table 1">
            <a:extLst>
              <a:ext uri="{FF2B5EF4-FFF2-40B4-BE49-F238E27FC236}">
                <a16:creationId xmlns:a16="http://schemas.microsoft.com/office/drawing/2014/main" id="{CDBBA0C2-F7CD-20D0-E1CA-CB2220770AC3}"/>
              </a:ext>
            </a:extLst>
          </p:cNvPr>
          <p:cNvGraphicFramePr>
            <a:graphicFrameLocks noGrp="1"/>
          </p:cNvGraphicFramePr>
          <p:nvPr>
            <p:extLst>
              <p:ext uri="{D42A27DB-BD31-4B8C-83A1-F6EECF244321}">
                <p14:modId xmlns:p14="http://schemas.microsoft.com/office/powerpoint/2010/main" val="2152503538"/>
              </p:ext>
            </p:extLst>
          </p:nvPr>
        </p:nvGraphicFramePr>
        <p:xfrm>
          <a:off x="465364" y="957205"/>
          <a:ext cx="8401050" cy="4225020"/>
        </p:xfrm>
        <a:graphic>
          <a:graphicData uri="http://schemas.openxmlformats.org/drawingml/2006/table">
            <a:tbl>
              <a:tblPr/>
              <a:tblGrid>
                <a:gridCol w="3950487">
                  <a:extLst>
                    <a:ext uri="{9D8B030D-6E8A-4147-A177-3AD203B41FA5}">
                      <a16:colId xmlns:a16="http://schemas.microsoft.com/office/drawing/2014/main" val="61127351"/>
                    </a:ext>
                  </a:extLst>
                </a:gridCol>
                <a:gridCol w="4450563">
                  <a:extLst>
                    <a:ext uri="{9D8B030D-6E8A-4147-A177-3AD203B41FA5}">
                      <a16:colId xmlns:a16="http://schemas.microsoft.com/office/drawing/2014/main" val="866067730"/>
                    </a:ext>
                  </a:extLst>
                </a:gridCol>
              </a:tblGrid>
              <a:tr h="217628">
                <a:tc>
                  <a:txBody>
                    <a:bodyPr/>
                    <a:lstStyle/>
                    <a:p>
                      <a:pPr>
                        <a:buNone/>
                      </a:pPr>
                      <a:r>
                        <a:rPr lang="en-GB" sz="1400" b="1" dirty="0"/>
                        <a:t>Indicators</a:t>
                      </a:r>
                    </a:p>
                  </a:txBody>
                  <a:tcPr marL="54083" marR="54083" marT="27042" marB="27042" anchor="ctr">
                    <a:lnL>
                      <a:noFill/>
                    </a:lnL>
                    <a:lnR>
                      <a:noFill/>
                    </a:lnR>
                    <a:lnT>
                      <a:noFill/>
                    </a:lnT>
                    <a:lnB>
                      <a:noFill/>
                    </a:lnB>
                    <a:noFill/>
                  </a:tcPr>
                </a:tc>
                <a:tc>
                  <a:txBody>
                    <a:bodyPr/>
                    <a:lstStyle/>
                    <a:p>
                      <a:pPr>
                        <a:buNone/>
                      </a:pPr>
                      <a:r>
                        <a:rPr lang="en-GB" sz="1400" b="1" dirty="0"/>
                        <a:t>What it measures</a:t>
                      </a:r>
                    </a:p>
                  </a:txBody>
                  <a:tcPr marL="54083" marR="54083" marT="27042" marB="27042" anchor="ctr">
                    <a:lnL>
                      <a:noFill/>
                    </a:lnL>
                    <a:lnR>
                      <a:noFill/>
                    </a:lnR>
                    <a:lnT>
                      <a:noFill/>
                    </a:lnT>
                    <a:lnB>
                      <a:noFill/>
                    </a:lnB>
                    <a:noFill/>
                  </a:tcPr>
                </a:tc>
                <a:extLst>
                  <a:ext uri="{0D108BD9-81ED-4DB2-BD59-A6C34878D82A}">
                    <a16:rowId xmlns:a16="http://schemas.microsoft.com/office/drawing/2014/main" val="2668126506"/>
                  </a:ext>
                </a:extLst>
              </a:tr>
              <a:tr h="217628">
                <a:tc>
                  <a:txBody>
                    <a:bodyPr/>
                    <a:lstStyle/>
                    <a:p>
                      <a:pPr>
                        <a:buNone/>
                      </a:pPr>
                      <a:r>
                        <a:rPr lang="en-GB" sz="1400" b="0" dirty="0"/>
                        <a:t>Capacity</a:t>
                      </a:r>
                    </a:p>
                  </a:txBody>
                  <a:tcPr marL="54083" marR="54083" marT="27042" marB="27042" anchor="ctr">
                    <a:lnL>
                      <a:noFill/>
                    </a:lnL>
                    <a:lnR>
                      <a:noFill/>
                    </a:lnR>
                    <a:lnT>
                      <a:noFill/>
                    </a:lnT>
                    <a:lnB>
                      <a:noFill/>
                    </a:lnB>
                    <a:noFill/>
                  </a:tcPr>
                </a:tc>
                <a:tc>
                  <a:txBody>
                    <a:bodyPr/>
                    <a:lstStyle/>
                    <a:p>
                      <a:pPr>
                        <a:buNone/>
                      </a:pPr>
                      <a:r>
                        <a:rPr lang="en-GB" sz="1400"/>
                        <a:t>Maximum or available output the operation can handle</a:t>
                      </a:r>
                    </a:p>
                  </a:txBody>
                  <a:tcPr marL="54083" marR="54083" marT="27042" marB="27042" anchor="ctr">
                    <a:lnL>
                      <a:noFill/>
                    </a:lnL>
                    <a:lnR>
                      <a:noFill/>
                    </a:lnR>
                    <a:lnT>
                      <a:noFill/>
                    </a:lnT>
                    <a:lnB>
                      <a:noFill/>
                    </a:lnB>
                    <a:noFill/>
                  </a:tcPr>
                </a:tc>
                <a:extLst>
                  <a:ext uri="{0D108BD9-81ED-4DB2-BD59-A6C34878D82A}">
                    <a16:rowId xmlns:a16="http://schemas.microsoft.com/office/drawing/2014/main" val="3147036860"/>
                  </a:ext>
                </a:extLst>
              </a:tr>
              <a:tr h="217628">
                <a:tc>
                  <a:txBody>
                    <a:bodyPr/>
                    <a:lstStyle/>
                    <a:p>
                      <a:pPr>
                        <a:buNone/>
                      </a:pPr>
                      <a:r>
                        <a:rPr lang="en-GB" sz="1400" b="0" dirty="0"/>
                        <a:t>Utilisation</a:t>
                      </a:r>
                    </a:p>
                  </a:txBody>
                  <a:tcPr marL="54083" marR="54083" marT="27042" marB="27042" anchor="ctr">
                    <a:lnL>
                      <a:noFill/>
                    </a:lnL>
                    <a:lnR>
                      <a:noFill/>
                    </a:lnR>
                    <a:lnT>
                      <a:noFill/>
                    </a:lnT>
                    <a:lnB>
                      <a:noFill/>
                    </a:lnB>
                    <a:noFill/>
                  </a:tcPr>
                </a:tc>
                <a:tc>
                  <a:txBody>
                    <a:bodyPr/>
                    <a:lstStyle/>
                    <a:p>
                      <a:pPr>
                        <a:buNone/>
                      </a:pPr>
                      <a:r>
                        <a:rPr lang="en-GB" sz="1400"/>
                        <a:t>How much of available capacity is being used</a:t>
                      </a:r>
                    </a:p>
                  </a:txBody>
                  <a:tcPr marL="54083" marR="54083" marT="27042" marB="27042" anchor="ctr">
                    <a:lnL>
                      <a:noFill/>
                    </a:lnL>
                    <a:lnR>
                      <a:noFill/>
                    </a:lnR>
                    <a:lnT>
                      <a:noFill/>
                    </a:lnT>
                    <a:lnB>
                      <a:noFill/>
                    </a:lnB>
                    <a:noFill/>
                  </a:tcPr>
                </a:tc>
                <a:extLst>
                  <a:ext uri="{0D108BD9-81ED-4DB2-BD59-A6C34878D82A}">
                    <a16:rowId xmlns:a16="http://schemas.microsoft.com/office/drawing/2014/main" val="1542423631"/>
                  </a:ext>
                </a:extLst>
              </a:tr>
              <a:tr h="217628">
                <a:tc>
                  <a:txBody>
                    <a:bodyPr/>
                    <a:lstStyle/>
                    <a:p>
                      <a:pPr>
                        <a:buNone/>
                      </a:pPr>
                      <a:r>
                        <a:rPr lang="en-GB" sz="1400" b="0" dirty="0"/>
                        <a:t>Efficiency</a:t>
                      </a:r>
                    </a:p>
                  </a:txBody>
                  <a:tcPr marL="54083" marR="54083" marT="27042" marB="27042" anchor="ctr">
                    <a:lnL>
                      <a:noFill/>
                    </a:lnL>
                    <a:lnR>
                      <a:noFill/>
                    </a:lnR>
                    <a:lnT>
                      <a:noFill/>
                    </a:lnT>
                    <a:lnB>
                      <a:noFill/>
                    </a:lnB>
                    <a:noFill/>
                  </a:tcPr>
                </a:tc>
                <a:tc>
                  <a:txBody>
                    <a:bodyPr/>
                    <a:lstStyle/>
                    <a:p>
                      <a:pPr>
                        <a:buNone/>
                      </a:pPr>
                      <a:r>
                        <a:rPr lang="en-GB" sz="1400"/>
                        <a:t>How effectively resources are converted into output</a:t>
                      </a:r>
                    </a:p>
                  </a:txBody>
                  <a:tcPr marL="54083" marR="54083" marT="27042" marB="27042" anchor="ctr">
                    <a:lnL>
                      <a:noFill/>
                    </a:lnL>
                    <a:lnR>
                      <a:noFill/>
                    </a:lnR>
                    <a:lnT>
                      <a:noFill/>
                    </a:lnT>
                    <a:lnB>
                      <a:noFill/>
                    </a:lnB>
                    <a:noFill/>
                  </a:tcPr>
                </a:tc>
                <a:extLst>
                  <a:ext uri="{0D108BD9-81ED-4DB2-BD59-A6C34878D82A}">
                    <a16:rowId xmlns:a16="http://schemas.microsoft.com/office/drawing/2014/main" val="3469324934"/>
                  </a:ext>
                </a:extLst>
              </a:tr>
              <a:tr h="217628">
                <a:tc>
                  <a:txBody>
                    <a:bodyPr/>
                    <a:lstStyle/>
                    <a:p>
                      <a:pPr>
                        <a:buNone/>
                      </a:pPr>
                      <a:r>
                        <a:rPr lang="en-GB" sz="1400" b="0" dirty="0"/>
                        <a:t>Throughput</a:t>
                      </a:r>
                    </a:p>
                  </a:txBody>
                  <a:tcPr marL="54083" marR="54083" marT="27042" marB="27042" anchor="ctr">
                    <a:lnL>
                      <a:noFill/>
                    </a:lnL>
                    <a:lnR>
                      <a:noFill/>
                    </a:lnR>
                    <a:lnT>
                      <a:noFill/>
                    </a:lnT>
                    <a:lnB>
                      <a:noFill/>
                    </a:lnB>
                    <a:noFill/>
                  </a:tcPr>
                </a:tc>
                <a:tc>
                  <a:txBody>
                    <a:bodyPr/>
                    <a:lstStyle/>
                    <a:p>
                      <a:pPr>
                        <a:buNone/>
                      </a:pPr>
                      <a:r>
                        <a:rPr lang="en-GB" sz="1400" dirty="0"/>
                        <a:t>How much output is completed in each period</a:t>
                      </a:r>
                    </a:p>
                  </a:txBody>
                  <a:tcPr marL="54083" marR="54083" marT="27042" marB="27042" anchor="ctr">
                    <a:lnL>
                      <a:noFill/>
                    </a:lnL>
                    <a:lnR>
                      <a:noFill/>
                    </a:lnR>
                    <a:lnT>
                      <a:noFill/>
                    </a:lnT>
                    <a:lnB>
                      <a:noFill/>
                    </a:lnB>
                    <a:noFill/>
                  </a:tcPr>
                </a:tc>
                <a:extLst>
                  <a:ext uri="{0D108BD9-81ED-4DB2-BD59-A6C34878D82A}">
                    <a16:rowId xmlns:a16="http://schemas.microsoft.com/office/drawing/2014/main" val="2697189618"/>
                  </a:ext>
                </a:extLst>
              </a:tr>
              <a:tr h="217628">
                <a:tc>
                  <a:txBody>
                    <a:bodyPr/>
                    <a:lstStyle/>
                    <a:p>
                      <a:pPr>
                        <a:buNone/>
                      </a:pPr>
                      <a:r>
                        <a:rPr lang="en-GB" sz="1400" b="0" dirty="0"/>
                        <a:t>Work-in-progress (WIP)</a:t>
                      </a:r>
                    </a:p>
                  </a:txBody>
                  <a:tcPr marL="54083" marR="54083" marT="27042" marB="27042" anchor="ctr">
                    <a:lnL>
                      <a:noFill/>
                    </a:lnL>
                    <a:lnR>
                      <a:noFill/>
                    </a:lnR>
                    <a:lnT>
                      <a:noFill/>
                    </a:lnT>
                    <a:lnB>
                      <a:noFill/>
                    </a:lnB>
                    <a:noFill/>
                  </a:tcPr>
                </a:tc>
                <a:tc>
                  <a:txBody>
                    <a:bodyPr/>
                    <a:lstStyle/>
                    <a:p>
                      <a:pPr>
                        <a:buNone/>
                      </a:pPr>
                      <a:r>
                        <a:rPr lang="en-GB" sz="1400"/>
                        <a:t>How much is currently waiting or being processed</a:t>
                      </a:r>
                    </a:p>
                  </a:txBody>
                  <a:tcPr marL="54083" marR="54083" marT="27042" marB="27042" anchor="ctr">
                    <a:lnL>
                      <a:noFill/>
                    </a:lnL>
                    <a:lnR>
                      <a:noFill/>
                    </a:lnR>
                    <a:lnT>
                      <a:noFill/>
                    </a:lnT>
                    <a:lnB>
                      <a:noFill/>
                    </a:lnB>
                    <a:noFill/>
                  </a:tcPr>
                </a:tc>
                <a:extLst>
                  <a:ext uri="{0D108BD9-81ED-4DB2-BD59-A6C34878D82A}">
                    <a16:rowId xmlns:a16="http://schemas.microsoft.com/office/drawing/2014/main" val="2619648566"/>
                  </a:ext>
                </a:extLst>
              </a:tr>
              <a:tr h="217628">
                <a:tc>
                  <a:txBody>
                    <a:bodyPr/>
                    <a:lstStyle/>
                    <a:p>
                      <a:pPr>
                        <a:buNone/>
                      </a:pPr>
                      <a:r>
                        <a:rPr lang="en-GB" sz="1400" b="0"/>
                        <a:t>Flow time</a:t>
                      </a:r>
                    </a:p>
                  </a:txBody>
                  <a:tcPr marL="54083" marR="54083" marT="27042" marB="27042" anchor="ctr">
                    <a:lnL>
                      <a:noFill/>
                    </a:lnL>
                    <a:lnR>
                      <a:noFill/>
                    </a:lnR>
                    <a:lnT>
                      <a:noFill/>
                    </a:lnT>
                    <a:lnB>
                      <a:noFill/>
                    </a:lnB>
                    <a:noFill/>
                  </a:tcPr>
                </a:tc>
                <a:tc>
                  <a:txBody>
                    <a:bodyPr/>
                    <a:lstStyle/>
                    <a:p>
                      <a:pPr>
                        <a:buNone/>
                      </a:pPr>
                      <a:r>
                        <a:rPr lang="en-GB" sz="1400"/>
                        <a:t>How long an item/customer/order spends in the process</a:t>
                      </a:r>
                    </a:p>
                  </a:txBody>
                  <a:tcPr marL="54083" marR="54083" marT="27042" marB="27042" anchor="ctr">
                    <a:lnL>
                      <a:noFill/>
                    </a:lnL>
                    <a:lnR>
                      <a:noFill/>
                    </a:lnR>
                    <a:lnT>
                      <a:noFill/>
                    </a:lnT>
                    <a:lnB>
                      <a:noFill/>
                    </a:lnB>
                    <a:noFill/>
                  </a:tcPr>
                </a:tc>
                <a:extLst>
                  <a:ext uri="{0D108BD9-81ED-4DB2-BD59-A6C34878D82A}">
                    <a16:rowId xmlns:a16="http://schemas.microsoft.com/office/drawing/2014/main" val="1417257879"/>
                  </a:ext>
                </a:extLst>
              </a:tr>
              <a:tr h="217628">
                <a:tc>
                  <a:txBody>
                    <a:bodyPr/>
                    <a:lstStyle/>
                    <a:p>
                      <a:pPr>
                        <a:buNone/>
                      </a:pPr>
                      <a:r>
                        <a:rPr lang="en-GB" sz="1400" b="0" dirty="0"/>
                        <a:t>Productivity</a:t>
                      </a:r>
                    </a:p>
                  </a:txBody>
                  <a:tcPr marL="54083" marR="54083" marT="27042" marB="27042" anchor="ctr">
                    <a:lnL>
                      <a:noFill/>
                    </a:lnL>
                    <a:lnR>
                      <a:noFill/>
                    </a:lnR>
                    <a:lnT>
                      <a:noFill/>
                    </a:lnT>
                    <a:lnB>
                      <a:noFill/>
                    </a:lnB>
                    <a:noFill/>
                  </a:tcPr>
                </a:tc>
                <a:tc>
                  <a:txBody>
                    <a:bodyPr/>
                    <a:lstStyle/>
                    <a:p>
                      <a:pPr>
                        <a:buNone/>
                      </a:pPr>
                      <a:r>
                        <a:rPr lang="en-GB" sz="1400" dirty="0"/>
                        <a:t>Output produced relative to inputs used</a:t>
                      </a:r>
                    </a:p>
                  </a:txBody>
                  <a:tcPr marL="54083" marR="54083" marT="27042" marB="27042" anchor="ctr">
                    <a:lnL>
                      <a:noFill/>
                    </a:lnL>
                    <a:lnR>
                      <a:noFill/>
                    </a:lnR>
                    <a:lnT>
                      <a:noFill/>
                    </a:lnT>
                    <a:lnB>
                      <a:noFill/>
                    </a:lnB>
                    <a:noFill/>
                  </a:tcPr>
                </a:tc>
                <a:extLst>
                  <a:ext uri="{0D108BD9-81ED-4DB2-BD59-A6C34878D82A}">
                    <a16:rowId xmlns:a16="http://schemas.microsoft.com/office/drawing/2014/main" val="2004974371"/>
                  </a:ext>
                </a:extLst>
              </a:tr>
              <a:tr h="217628">
                <a:tc>
                  <a:txBody>
                    <a:bodyPr/>
                    <a:lstStyle/>
                    <a:p>
                      <a:pPr>
                        <a:buNone/>
                      </a:pPr>
                      <a:r>
                        <a:rPr lang="en-GB" sz="1400" b="0"/>
                        <a:t>Inventory turnover</a:t>
                      </a:r>
                    </a:p>
                  </a:txBody>
                  <a:tcPr marL="54083" marR="54083" marT="27042" marB="27042" anchor="ctr">
                    <a:lnL>
                      <a:noFill/>
                    </a:lnL>
                    <a:lnR>
                      <a:noFill/>
                    </a:lnR>
                    <a:lnT>
                      <a:noFill/>
                    </a:lnT>
                    <a:lnB>
                      <a:noFill/>
                    </a:lnB>
                    <a:noFill/>
                  </a:tcPr>
                </a:tc>
                <a:tc>
                  <a:txBody>
                    <a:bodyPr/>
                    <a:lstStyle/>
                    <a:p>
                      <a:pPr>
                        <a:buNone/>
                      </a:pPr>
                      <a:r>
                        <a:rPr lang="en-GB" sz="1400"/>
                        <a:t>How quickly inventory moves through the operation</a:t>
                      </a:r>
                    </a:p>
                  </a:txBody>
                  <a:tcPr marL="54083" marR="54083" marT="27042" marB="27042" anchor="ctr">
                    <a:lnL>
                      <a:noFill/>
                    </a:lnL>
                    <a:lnR>
                      <a:noFill/>
                    </a:lnR>
                    <a:lnT>
                      <a:noFill/>
                    </a:lnT>
                    <a:lnB>
                      <a:noFill/>
                    </a:lnB>
                    <a:noFill/>
                  </a:tcPr>
                </a:tc>
                <a:extLst>
                  <a:ext uri="{0D108BD9-81ED-4DB2-BD59-A6C34878D82A}">
                    <a16:rowId xmlns:a16="http://schemas.microsoft.com/office/drawing/2014/main" val="2337929171"/>
                  </a:ext>
                </a:extLst>
              </a:tr>
              <a:tr h="217628">
                <a:tc>
                  <a:txBody>
                    <a:bodyPr/>
                    <a:lstStyle/>
                    <a:p>
                      <a:pPr>
                        <a:buNone/>
                      </a:pPr>
                      <a:r>
                        <a:rPr lang="en-GB" sz="1400" b="0"/>
                        <a:t>Service level</a:t>
                      </a:r>
                    </a:p>
                  </a:txBody>
                  <a:tcPr marL="54083" marR="54083" marT="27042" marB="27042" anchor="ctr">
                    <a:lnL>
                      <a:noFill/>
                    </a:lnL>
                    <a:lnR>
                      <a:noFill/>
                    </a:lnR>
                    <a:lnT>
                      <a:noFill/>
                    </a:lnT>
                    <a:lnB>
                      <a:noFill/>
                    </a:lnB>
                    <a:noFill/>
                  </a:tcPr>
                </a:tc>
                <a:tc>
                  <a:txBody>
                    <a:bodyPr/>
                    <a:lstStyle/>
                    <a:p>
                      <a:pPr>
                        <a:buNone/>
                      </a:pPr>
                      <a:r>
                        <a:rPr lang="en-GB" sz="1400" dirty="0"/>
                        <a:t>How reliably customer demand is met</a:t>
                      </a:r>
                    </a:p>
                  </a:txBody>
                  <a:tcPr marL="54083" marR="54083" marT="27042" marB="27042" anchor="ctr">
                    <a:lnL>
                      <a:noFill/>
                    </a:lnL>
                    <a:lnR>
                      <a:noFill/>
                    </a:lnR>
                    <a:lnT>
                      <a:noFill/>
                    </a:lnT>
                    <a:lnB>
                      <a:noFill/>
                    </a:lnB>
                    <a:noFill/>
                  </a:tcPr>
                </a:tc>
                <a:extLst>
                  <a:ext uri="{0D108BD9-81ED-4DB2-BD59-A6C34878D82A}">
                    <a16:rowId xmlns:a16="http://schemas.microsoft.com/office/drawing/2014/main" val="455881736"/>
                  </a:ext>
                </a:extLst>
              </a:tr>
              <a:tr h="217628">
                <a:tc>
                  <a:txBody>
                    <a:bodyPr/>
                    <a:lstStyle/>
                    <a:p>
                      <a:pPr>
                        <a:buNone/>
                      </a:pPr>
                      <a:r>
                        <a:rPr lang="en-GB" sz="1400" b="0"/>
                        <a:t>Queue / waiting time</a:t>
                      </a:r>
                    </a:p>
                  </a:txBody>
                  <a:tcPr marL="54083" marR="54083" marT="27042" marB="27042" anchor="ctr">
                    <a:lnL>
                      <a:noFill/>
                    </a:lnL>
                    <a:lnR>
                      <a:noFill/>
                    </a:lnR>
                    <a:lnT>
                      <a:noFill/>
                    </a:lnT>
                    <a:lnB>
                      <a:noFill/>
                    </a:lnB>
                    <a:noFill/>
                  </a:tcPr>
                </a:tc>
                <a:tc>
                  <a:txBody>
                    <a:bodyPr/>
                    <a:lstStyle/>
                    <a:p>
                      <a:pPr>
                        <a:buNone/>
                      </a:pPr>
                      <a:r>
                        <a:rPr lang="en-GB" sz="1400" dirty="0"/>
                        <a:t>How long customers or jobs wait before service</a:t>
                      </a:r>
                    </a:p>
                  </a:txBody>
                  <a:tcPr marL="54083" marR="54083" marT="27042" marB="27042" anchor="ctr">
                    <a:lnL>
                      <a:noFill/>
                    </a:lnL>
                    <a:lnR>
                      <a:noFill/>
                    </a:lnR>
                    <a:lnT>
                      <a:noFill/>
                    </a:lnT>
                    <a:lnB>
                      <a:noFill/>
                    </a:lnB>
                    <a:noFill/>
                  </a:tcPr>
                </a:tc>
                <a:extLst>
                  <a:ext uri="{0D108BD9-81ED-4DB2-BD59-A6C34878D82A}">
                    <a16:rowId xmlns:a16="http://schemas.microsoft.com/office/drawing/2014/main" val="3512181442"/>
                  </a:ext>
                </a:extLst>
              </a:tr>
              <a:tr h="217628">
                <a:tc>
                  <a:txBody>
                    <a:bodyPr/>
                    <a:lstStyle/>
                    <a:p>
                      <a:pPr>
                        <a:buNone/>
                      </a:pPr>
                      <a:r>
                        <a:rPr lang="en-GB" sz="1400" b="0"/>
                        <a:t>Defect/error rate</a:t>
                      </a:r>
                    </a:p>
                  </a:txBody>
                  <a:tcPr marL="54083" marR="54083" marT="27042" marB="27042" anchor="ctr">
                    <a:lnL>
                      <a:noFill/>
                    </a:lnL>
                    <a:lnR>
                      <a:noFill/>
                    </a:lnR>
                    <a:lnT>
                      <a:noFill/>
                    </a:lnT>
                    <a:lnB>
                      <a:noFill/>
                    </a:lnB>
                    <a:noFill/>
                  </a:tcPr>
                </a:tc>
                <a:tc>
                  <a:txBody>
                    <a:bodyPr/>
                    <a:lstStyle/>
                    <a:p>
                      <a:pPr>
                        <a:buNone/>
                      </a:pPr>
                      <a:r>
                        <a:rPr lang="en-GB" sz="1400" dirty="0"/>
                        <a:t>How often the operation gets things wrong</a:t>
                      </a:r>
                    </a:p>
                  </a:txBody>
                  <a:tcPr marL="54083" marR="54083" marT="27042" marB="27042" anchor="ctr">
                    <a:lnL>
                      <a:noFill/>
                    </a:lnL>
                    <a:lnR>
                      <a:noFill/>
                    </a:lnR>
                    <a:lnT>
                      <a:noFill/>
                    </a:lnT>
                    <a:lnB>
                      <a:noFill/>
                    </a:lnB>
                    <a:noFill/>
                  </a:tcPr>
                </a:tc>
                <a:extLst>
                  <a:ext uri="{0D108BD9-81ED-4DB2-BD59-A6C34878D82A}">
                    <a16:rowId xmlns:a16="http://schemas.microsoft.com/office/drawing/2014/main" val="3850449024"/>
                  </a:ext>
                </a:extLst>
              </a:tr>
              <a:tr h="217628">
                <a:tc>
                  <a:txBody>
                    <a:bodyPr/>
                    <a:lstStyle/>
                    <a:p>
                      <a:pPr>
                        <a:buNone/>
                      </a:pPr>
                      <a:r>
                        <a:rPr lang="en-GB" sz="1400" b="0"/>
                        <a:t>On-time delivery</a:t>
                      </a:r>
                    </a:p>
                  </a:txBody>
                  <a:tcPr marL="54083" marR="54083" marT="27042" marB="27042" anchor="ctr">
                    <a:lnL>
                      <a:noFill/>
                    </a:lnL>
                    <a:lnR>
                      <a:noFill/>
                    </a:lnR>
                    <a:lnT>
                      <a:noFill/>
                    </a:lnT>
                    <a:lnB>
                      <a:noFill/>
                    </a:lnB>
                    <a:noFill/>
                  </a:tcPr>
                </a:tc>
                <a:tc>
                  <a:txBody>
                    <a:bodyPr/>
                    <a:lstStyle/>
                    <a:p>
                      <a:pPr>
                        <a:buNone/>
                      </a:pPr>
                      <a:r>
                        <a:rPr lang="en-GB" sz="1400" dirty="0"/>
                        <a:t>How reliably promises are met</a:t>
                      </a:r>
                    </a:p>
                  </a:txBody>
                  <a:tcPr marL="54083" marR="54083" marT="27042" marB="27042" anchor="ctr">
                    <a:lnL>
                      <a:noFill/>
                    </a:lnL>
                    <a:lnR>
                      <a:noFill/>
                    </a:lnR>
                    <a:lnT>
                      <a:noFill/>
                    </a:lnT>
                    <a:lnB>
                      <a:noFill/>
                    </a:lnB>
                    <a:noFill/>
                  </a:tcPr>
                </a:tc>
                <a:extLst>
                  <a:ext uri="{0D108BD9-81ED-4DB2-BD59-A6C34878D82A}">
                    <a16:rowId xmlns:a16="http://schemas.microsoft.com/office/drawing/2014/main" val="907358964"/>
                  </a:ext>
                </a:extLst>
              </a:tr>
              <a:tr h="0">
                <a:tc>
                  <a:txBody>
                    <a:bodyPr/>
                    <a:lstStyle/>
                    <a:p>
                      <a:pPr>
                        <a:buNone/>
                      </a:pPr>
                      <a:r>
                        <a:rPr lang="en-GB" sz="1400" b="0"/>
                        <a:t>Cost per unit</a:t>
                      </a:r>
                    </a:p>
                  </a:txBody>
                  <a:tcPr marL="54083" marR="54083" marT="27042" marB="27042" anchor="ctr">
                    <a:lnL>
                      <a:noFill/>
                    </a:lnL>
                    <a:lnR>
                      <a:noFill/>
                    </a:lnR>
                    <a:lnT>
                      <a:noFill/>
                    </a:lnT>
                    <a:lnB>
                      <a:noFill/>
                    </a:lnB>
                    <a:noFill/>
                  </a:tcPr>
                </a:tc>
                <a:tc>
                  <a:txBody>
                    <a:bodyPr/>
                    <a:lstStyle/>
                    <a:p>
                      <a:pPr>
                        <a:buNone/>
                      </a:pPr>
                      <a:r>
                        <a:rPr lang="en-GB" sz="1400" dirty="0"/>
                        <a:t>Cost of producing or delivering one unit</a:t>
                      </a:r>
                    </a:p>
                  </a:txBody>
                  <a:tcPr marL="54083" marR="54083" marT="27042" marB="27042" anchor="ctr">
                    <a:lnL>
                      <a:noFill/>
                    </a:lnL>
                    <a:lnR>
                      <a:noFill/>
                    </a:lnR>
                    <a:lnT>
                      <a:noFill/>
                    </a:lnT>
                    <a:lnB>
                      <a:noFill/>
                    </a:lnB>
                    <a:noFill/>
                  </a:tcPr>
                </a:tc>
                <a:extLst>
                  <a:ext uri="{0D108BD9-81ED-4DB2-BD59-A6C34878D82A}">
                    <a16:rowId xmlns:a16="http://schemas.microsoft.com/office/drawing/2014/main" val="2698537838"/>
                  </a:ext>
                </a:extLst>
              </a:tr>
              <a:tr h="217628">
                <a:tc>
                  <a:txBody>
                    <a:bodyPr/>
                    <a:lstStyle/>
                    <a:p>
                      <a:pPr>
                        <a:buNone/>
                      </a:pPr>
                      <a:r>
                        <a:rPr lang="en-GB" sz="1400" b="0" dirty="0"/>
                        <a:t>Energy use / waste</a:t>
                      </a:r>
                    </a:p>
                  </a:txBody>
                  <a:tcPr marL="54083" marR="54083" marT="27042" marB="27042" anchor="ctr">
                    <a:lnL>
                      <a:noFill/>
                    </a:lnL>
                    <a:lnR>
                      <a:noFill/>
                    </a:lnR>
                    <a:lnT>
                      <a:noFill/>
                    </a:lnT>
                    <a:lnB>
                      <a:noFill/>
                    </a:lnB>
                    <a:noFill/>
                  </a:tcPr>
                </a:tc>
                <a:tc>
                  <a:txBody>
                    <a:bodyPr/>
                    <a:lstStyle/>
                    <a:p>
                      <a:pPr>
                        <a:buNone/>
                      </a:pPr>
                      <a:r>
                        <a:rPr lang="en-GB" sz="1400" dirty="0"/>
                        <a:t>Resource and sustainability performance</a:t>
                      </a:r>
                    </a:p>
                  </a:txBody>
                  <a:tcPr marL="54083" marR="54083" marT="27042" marB="27042" anchor="ctr">
                    <a:lnL>
                      <a:noFill/>
                    </a:lnL>
                    <a:lnR>
                      <a:noFill/>
                    </a:lnR>
                    <a:lnT>
                      <a:noFill/>
                    </a:lnT>
                    <a:lnB>
                      <a:noFill/>
                    </a:lnB>
                    <a:noFill/>
                  </a:tcPr>
                </a:tc>
                <a:extLst>
                  <a:ext uri="{0D108BD9-81ED-4DB2-BD59-A6C34878D82A}">
                    <a16:rowId xmlns:a16="http://schemas.microsoft.com/office/drawing/2014/main" val="945408869"/>
                  </a:ext>
                </a:extLst>
              </a:tr>
            </a:tbl>
          </a:graphicData>
        </a:graphic>
      </p:graphicFrame>
    </p:spTree>
    <p:extLst>
      <p:ext uri="{BB962C8B-B14F-4D97-AF65-F5344CB8AC3E}">
        <p14:creationId xmlns:p14="http://schemas.microsoft.com/office/powerpoint/2010/main" val="1116863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05550" y="174950"/>
            <a:ext cx="8004900" cy="739200"/>
          </a:xfrm>
          <a:prstGeom prst="rect">
            <a:avLst/>
          </a:prstGeom>
        </p:spPr>
        <p:txBody>
          <a:bodyPr spcFirstLastPara="1" wrap="square" lIns="91425" tIns="91425" rIns="91425" bIns="91425" anchor="t" anchorCtr="0">
            <a:normAutofit fontScale="90000"/>
          </a:bodyPr>
          <a:lstStyle/>
          <a:p>
            <a:pPr algn="ctr"/>
            <a:r>
              <a:rPr lang="en-GB" b="1"/>
              <a:t>Examples</a:t>
            </a:r>
            <a:br>
              <a:rPr lang="en-GB"/>
            </a:br>
            <a:endParaRPr lang="en-GB" dirty="0"/>
          </a:p>
        </p:txBody>
      </p:sp>
      <p:sp>
        <p:nvSpPr>
          <p:cNvPr id="80" name="Google Shape;80;p16"/>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8</a:t>
            </a:fld>
            <a:endParaRPr lang="en"/>
          </a:p>
        </p:txBody>
      </p:sp>
      <p:graphicFrame>
        <p:nvGraphicFramePr>
          <p:cNvPr id="8" name="Table 7">
            <a:extLst>
              <a:ext uri="{FF2B5EF4-FFF2-40B4-BE49-F238E27FC236}">
                <a16:creationId xmlns:a16="http://schemas.microsoft.com/office/drawing/2014/main" id="{E276072F-A7E2-A5CE-1CA0-9E76571818AE}"/>
              </a:ext>
            </a:extLst>
          </p:cNvPr>
          <p:cNvGraphicFramePr>
            <a:graphicFrameLocks noGrp="1"/>
          </p:cNvGraphicFramePr>
          <p:nvPr>
            <p:extLst>
              <p:ext uri="{D42A27DB-BD31-4B8C-83A1-F6EECF244321}">
                <p14:modId xmlns:p14="http://schemas.microsoft.com/office/powerpoint/2010/main" val="2229439799"/>
              </p:ext>
            </p:extLst>
          </p:nvPr>
        </p:nvGraphicFramePr>
        <p:xfrm>
          <a:off x="311150" y="1153795"/>
          <a:ext cx="8521700" cy="3413760"/>
        </p:xfrm>
        <a:graphic>
          <a:graphicData uri="http://schemas.openxmlformats.org/drawingml/2006/table">
            <a:tbl>
              <a:tblPr firstRow="1">
                <a:tableStyleId>{E8B1032C-EA38-4F05-BA0D-38AFFFC7BED3}</a:tableStyleId>
              </a:tblPr>
              <a:tblGrid>
                <a:gridCol w="4260850">
                  <a:extLst>
                    <a:ext uri="{9D8B030D-6E8A-4147-A177-3AD203B41FA5}">
                      <a16:colId xmlns:a16="http://schemas.microsoft.com/office/drawing/2014/main" val="1772208653"/>
                    </a:ext>
                  </a:extLst>
                </a:gridCol>
                <a:gridCol w="4260850">
                  <a:extLst>
                    <a:ext uri="{9D8B030D-6E8A-4147-A177-3AD203B41FA5}">
                      <a16:colId xmlns:a16="http://schemas.microsoft.com/office/drawing/2014/main" val="3200699946"/>
                    </a:ext>
                  </a:extLst>
                </a:gridCol>
              </a:tblGrid>
              <a:tr h="0">
                <a:tc>
                  <a:txBody>
                    <a:bodyPr/>
                    <a:lstStyle/>
                    <a:p>
                      <a:pPr>
                        <a:buNone/>
                      </a:pPr>
                      <a:r>
                        <a:rPr lang="en-GB" b="1" dirty="0"/>
                        <a:t>Performance objective</a:t>
                      </a:r>
                    </a:p>
                  </a:txBody>
                  <a:tcPr anchor="ctr"/>
                </a:tc>
                <a:tc>
                  <a:txBody>
                    <a:bodyPr/>
                    <a:lstStyle/>
                    <a:p>
                      <a:pPr>
                        <a:buNone/>
                      </a:pPr>
                      <a:r>
                        <a:rPr lang="en-GB" b="1" dirty="0"/>
                        <a:t>Examples of operational performance measures</a:t>
                      </a:r>
                    </a:p>
                  </a:txBody>
                  <a:tcPr anchor="ctr"/>
                </a:tc>
                <a:extLst>
                  <a:ext uri="{0D108BD9-81ED-4DB2-BD59-A6C34878D82A}">
                    <a16:rowId xmlns:a16="http://schemas.microsoft.com/office/drawing/2014/main" val="1862503787"/>
                  </a:ext>
                </a:extLst>
              </a:tr>
              <a:tr h="0">
                <a:tc>
                  <a:txBody>
                    <a:bodyPr/>
                    <a:lstStyle/>
                    <a:p>
                      <a:pPr>
                        <a:buNone/>
                      </a:pPr>
                      <a:r>
                        <a:rPr lang="en-GB" b="1" dirty="0"/>
                        <a:t>Quality</a:t>
                      </a:r>
                      <a:endParaRPr lang="en-GB" dirty="0"/>
                    </a:p>
                  </a:txBody>
                  <a:tcPr anchor="ctr"/>
                </a:tc>
                <a:tc>
                  <a:txBody>
                    <a:bodyPr/>
                    <a:lstStyle/>
                    <a:p>
                      <a:pPr>
                        <a:buNone/>
                      </a:pPr>
                      <a:r>
                        <a:rPr lang="en-GB" dirty="0"/>
                        <a:t>Defect rate, error rate, customer complaints, returns, first-pass yield</a:t>
                      </a:r>
                    </a:p>
                  </a:txBody>
                  <a:tcPr anchor="ctr"/>
                </a:tc>
                <a:extLst>
                  <a:ext uri="{0D108BD9-81ED-4DB2-BD59-A6C34878D82A}">
                    <a16:rowId xmlns:a16="http://schemas.microsoft.com/office/drawing/2014/main" val="723387682"/>
                  </a:ext>
                </a:extLst>
              </a:tr>
              <a:tr h="0">
                <a:tc>
                  <a:txBody>
                    <a:bodyPr/>
                    <a:lstStyle/>
                    <a:p>
                      <a:pPr>
                        <a:buNone/>
                      </a:pPr>
                      <a:r>
                        <a:rPr lang="en-GB" b="1"/>
                        <a:t>Speed</a:t>
                      </a:r>
                      <a:endParaRPr lang="en-GB"/>
                    </a:p>
                  </a:txBody>
                  <a:tcPr anchor="ctr"/>
                </a:tc>
                <a:tc>
                  <a:txBody>
                    <a:bodyPr/>
                    <a:lstStyle/>
                    <a:p>
                      <a:pPr>
                        <a:buNone/>
                      </a:pPr>
                      <a:r>
                        <a:rPr lang="en-GB" dirty="0"/>
                        <a:t>Lead time, delivery time, processing time, waiting time</a:t>
                      </a:r>
                    </a:p>
                  </a:txBody>
                  <a:tcPr anchor="ctr"/>
                </a:tc>
                <a:extLst>
                  <a:ext uri="{0D108BD9-81ED-4DB2-BD59-A6C34878D82A}">
                    <a16:rowId xmlns:a16="http://schemas.microsoft.com/office/drawing/2014/main" val="2628733245"/>
                  </a:ext>
                </a:extLst>
              </a:tr>
              <a:tr h="0">
                <a:tc>
                  <a:txBody>
                    <a:bodyPr/>
                    <a:lstStyle/>
                    <a:p>
                      <a:pPr>
                        <a:buNone/>
                      </a:pPr>
                      <a:r>
                        <a:rPr lang="en-GB" b="1"/>
                        <a:t>Dependability</a:t>
                      </a:r>
                      <a:endParaRPr lang="en-GB"/>
                    </a:p>
                  </a:txBody>
                  <a:tcPr anchor="ctr"/>
                </a:tc>
                <a:tc>
                  <a:txBody>
                    <a:bodyPr/>
                    <a:lstStyle/>
                    <a:p>
                      <a:pPr>
                        <a:buNone/>
                      </a:pPr>
                      <a:r>
                        <a:rPr lang="en-GB" dirty="0"/>
                        <a:t>On-time delivery %, schedule adherence, order fulfilment reliability</a:t>
                      </a:r>
                    </a:p>
                  </a:txBody>
                  <a:tcPr anchor="ctr"/>
                </a:tc>
                <a:extLst>
                  <a:ext uri="{0D108BD9-81ED-4DB2-BD59-A6C34878D82A}">
                    <a16:rowId xmlns:a16="http://schemas.microsoft.com/office/drawing/2014/main" val="3130539018"/>
                  </a:ext>
                </a:extLst>
              </a:tr>
              <a:tr h="0">
                <a:tc>
                  <a:txBody>
                    <a:bodyPr/>
                    <a:lstStyle/>
                    <a:p>
                      <a:pPr>
                        <a:buNone/>
                      </a:pPr>
                      <a:r>
                        <a:rPr lang="en-GB" b="1"/>
                        <a:t>Flexibility</a:t>
                      </a:r>
                      <a:endParaRPr lang="en-GB"/>
                    </a:p>
                  </a:txBody>
                  <a:tcPr anchor="ctr"/>
                </a:tc>
                <a:tc>
                  <a:txBody>
                    <a:bodyPr/>
                    <a:lstStyle/>
                    <a:p>
                      <a:pPr>
                        <a:buNone/>
                      </a:pPr>
                      <a:r>
                        <a:rPr lang="en-GB"/>
                        <a:t>Changeover time, response time to demand changes, product mix flexibility</a:t>
                      </a:r>
                    </a:p>
                  </a:txBody>
                  <a:tcPr anchor="ctr"/>
                </a:tc>
                <a:extLst>
                  <a:ext uri="{0D108BD9-81ED-4DB2-BD59-A6C34878D82A}">
                    <a16:rowId xmlns:a16="http://schemas.microsoft.com/office/drawing/2014/main" val="981335585"/>
                  </a:ext>
                </a:extLst>
              </a:tr>
              <a:tr h="0">
                <a:tc>
                  <a:txBody>
                    <a:bodyPr/>
                    <a:lstStyle/>
                    <a:p>
                      <a:pPr>
                        <a:buNone/>
                      </a:pPr>
                      <a:r>
                        <a:rPr lang="en-GB" b="1"/>
                        <a:t>Cost</a:t>
                      </a:r>
                      <a:endParaRPr lang="en-GB"/>
                    </a:p>
                  </a:txBody>
                  <a:tcPr anchor="ctr"/>
                </a:tc>
                <a:tc>
                  <a:txBody>
                    <a:bodyPr/>
                    <a:lstStyle/>
                    <a:p>
                      <a:pPr>
                        <a:buNone/>
                      </a:pPr>
                      <a:r>
                        <a:rPr lang="en-GB" dirty="0"/>
                        <a:t>Cost per unit, labour cost, inventory cost, operating cost</a:t>
                      </a:r>
                    </a:p>
                  </a:txBody>
                  <a:tcPr anchor="ctr"/>
                </a:tc>
                <a:extLst>
                  <a:ext uri="{0D108BD9-81ED-4DB2-BD59-A6C34878D82A}">
                    <a16:rowId xmlns:a16="http://schemas.microsoft.com/office/drawing/2014/main" val="3892517300"/>
                  </a:ext>
                </a:extLst>
              </a:tr>
              <a:tr h="0">
                <a:tc>
                  <a:txBody>
                    <a:bodyPr/>
                    <a:lstStyle/>
                    <a:p>
                      <a:pPr>
                        <a:buNone/>
                      </a:pPr>
                      <a:r>
                        <a:rPr lang="en-GB" b="1"/>
                        <a:t>Sustainability</a:t>
                      </a:r>
                      <a:endParaRPr lang="en-GB"/>
                    </a:p>
                  </a:txBody>
                  <a:tcPr anchor="ctr"/>
                </a:tc>
                <a:tc>
                  <a:txBody>
                    <a:bodyPr/>
                    <a:lstStyle/>
                    <a:p>
                      <a:pPr>
                        <a:buNone/>
                      </a:pPr>
                      <a:r>
                        <a:rPr lang="en-GB" dirty="0"/>
                        <a:t>Energy use, carbon emissions, waste, recycling rate, water use</a:t>
                      </a:r>
                    </a:p>
                  </a:txBody>
                  <a:tcPr anchor="ctr"/>
                </a:tc>
                <a:extLst>
                  <a:ext uri="{0D108BD9-81ED-4DB2-BD59-A6C34878D82A}">
                    <a16:rowId xmlns:a16="http://schemas.microsoft.com/office/drawing/2014/main" val="401841288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EA69291D-58B0-B155-EE84-E7C39B300499}"/>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0B1F45D1-CDE0-F552-5126-4885A101C03B}"/>
              </a:ext>
            </a:extLst>
          </p:cNvPr>
          <p:cNvSpPr txBox="1">
            <a:spLocks noGrp="1"/>
          </p:cNvSpPr>
          <p:nvPr>
            <p:ph type="title"/>
          </p:nvPr>
        </p:nvSpPr>
        <p:spPr>
          <a:xfrm>
            <a:off x="2622193" y="229383"/>
            <a:ext cx="5321657" cy="572700"/>
          </a:xfrm>
        </p:spPr>
        <p:txBody>
          <a:bodyPr spcFirstLastPara="1" wrap="square" lIns="91425" tIns="91425" rIns="91425" bIns="91425" anchor="ctr" anchorCtr="0">
            <a:noAutofit/>
          </a:bodyPr>
          <a:lstStyle/>
          <a:p>
            <a:pPr algn="ctr"/>
            <a:r>
              <a:rPr lang="en-GB" sz="3200" b="1" dirty="0">
                <a:latin typeface="+mj-lt"/>
              </a:rPr>
              <a:t>Capacity</a:t>
            </a:r>
          </a:p>
        </p:txBody>
      </p:sp>
      <p:sp>
        <p:nvSpPr>
          <p:cNvPr id="80" name="Google Shape;80;p16">
            <a:extLst>
              <a:ext uri="{FF2B5EF4-FFF2-40B4-BE49-F238E27FC236}">
                <a16:creationId xmlns:a16="http://schemas.microsoft.com/office/drawing/2014/main" id="{0CC5DC27-18FB-434D-E558-7596AFB57233}"/>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9</a:t>
            </a:fld>
            <a:endParaRPr lang="en" sz="900"/>
          </a:p>
        </p:txBody>
      </p:sp>
      <p:sp>
        <p:nvSpPr>
          <p:cNvPr id="5" name="TextBox 4">
            <a:extLst>
              <a:ext uri="{FF2B5EF4-FFF2-40B4-BE49-F238E27FC236}">
                <a16:creationId xmlns:a16="http://schemas.microsoft.com/office/drawing/2014/main" id="{41BF59E4-2FD5-225D-5700-F18EBADE898E}"/>
              </a:ext>
            </a:extLst>
          </p:cNvPr>
          <p:cNvSpPr txBox="1"/>
          <p:nvPr/>
        </p:nvSpPr>
        <p:spPr>
          <a:xfrm>
            <a:off x="110218" y="924548"/>
            <a:ext cx="8923564" cy="4401205"/>
          </a:xfrm>
          <a:prstGeom prst="rect">
            <a:avLst/>
          </a:prstGeom>
          <a:noFill/>
        </p:spPr>
        <p:txBody>
          <a:bodyPr wrap="square">
            <a:spAutoFit/>
          </a:bodyPr>
          <a:lstStyle/>
          <a:p>
            <a:pPr marL="285750" indent="-285750">
              <a:buFont typeface="Courier New" panose="02070309020205020404" pitchFamily="49" charset="0"/>
              <a:buChar char="o"/>
            </a:pPr>
            <a:r>
              <a:rPr lang="en-GB" sz="2000" dirty="0">
                <a:solidFill>
                  <a:schemeClr val="tx1"/>
                </a:solidFill>
                <a:latin typeface="Arial" panose="020B0604020202020204" pitchFamily="34" charset="0"/>
                <a:cs typeface="Arial" panose="020B0604020202020204" pitchFamily="34" charset="0"/>
              </a:rPr>
              <a:t>The </a:t>
            </a:r>
            <a:r>
              <a:rPr lang="en-GB" sz="2000" dirty="0">
                <a:solidFill>
                  <a:srgbClr val="C00000"/>
                </a:solidFill>
                <a:latin typeface="Arial" panose="020B0604020202020204" pitchFamily="34" charset="0"/>
                <a:cs typeface="Arial" panose="020B0604020202020204" pitchFamily="34" charset="0"/>
              </a:rPr>
              <a:t>theoretical</a:t>
            </a:r>
            <a:r>
              <a:rPr lang="en-GB" sz="2000" dirty="0">
                <a:solidFill>
                  <a:schemeClr val="tx1"/>
                </a:solidFill>
                <a:latin typeface="Arial" panose="020B0604020202020204" pitchFamily="34" charset="0"/>
                <a:cs typeface="Arial" panose="020B0604020202020204" pitchFamily="34" charset="0"/>
              </a:rPr>
              <a:t> maximum rate an operations can produce/deliver within a given period under normal working conditions.</a:t>
            </a:r>
          </a:p>
          <a:p>
            <a:pPr marL="285750" indent="-285750">
              <a:buFont typeface="Courier New" panose="02070309020205020404" pitchFamily="49" charset="0"/>
              <a:buChar char="o"/>
            </a:pPr>
            <a:endParaRPr lang="en-GB" sz="2000" dirty="0">
              <a:solidFill>
                <a:schemeClr val="tx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GB" sz="2000" dirty="0">
                <a:solidFill>
                  <a:schemeClr val="tx1"/>
                </a:solidFill>
                <a:latin typeface="Arial" panose="020B0604020202020204" pitchFamily="34" charset="0"/>
                <a:cs typeface="Arial" panose="020B0604020202020204" pitchFamily="34" charset="0"/>
              </a:rPr>
              <a:t>The maximum amount of a product that can be made within a specified time (Waters, 1996; Collier and Evans, 2013).</a:t>
            </a:r>
          </a:p>
          <a:p>
            <a:pPr marL="285750" indent="-285750">
              <a:buFont typeface="Courier New" panose="02070309020205020404" pitchFamily="49" charset="0"/>
              <a:buChar char="o"/>
            </a:pPr>
            <a:endParaRPr lang="en-GB" sz="2000" dirty="0">
              <a:solidFill>
                <a:schemeClr val="tx1"/>
              </a:solidFill>
              <a:latin typeface="Arial" panose="020B0604020202020204" pitchFamily="34" charset="0"/>
              <a:cs typeface="Arial" panose="020B0604020202020204" pitchFamily="34" charset="0"/>
            </a:endParaRPr>
          </a:p>
          <a:p>
            <a:pPr lvl="7"/>
            <a:r>
              <a:rPr lang="en-GB" sz="2000" dirty="0"/>
              <a:t>	For example, if a café </a:t>
            </a:r>
            <a:r>
              <a:rPr lang="en-GB" sz="2000" dirty="0">
                <a:solidFill>
                  <a:srgbClr val="C00000"/>
                </a:solidFill>
              </a:rPr>
              <a:t>can </a:t>
            </a:r>
            <a:r>
              <a:rPr lang="en-GB" sz="2000" dirty="0"/>
              <a:t>make 100 cups of coffee per hour, its capacity is </a:t>
            </a:r>
            <a:r>
              <a:rPr lang="en-GB" sz="2000" dirty="0">
                <a:solidFill>
                  <a:srgbClr val="C00000"/>
                </a:solidFill>
              </a:rPr>
              <a:t>100  	cups per hour</a:t>
            </a:r>
            <a:r>
              <a:rPr lang="en-GB" sz="2000" dirty="0"/>
              <a:t>. If it actually makes 70 cups, that is its actual output.</a:t>
            </a:r>
          </a:p>
          <a:p>
            <a:pPr marL="285750" lvl="5" indent="-285750">
              <a:buFont typeface="Courier New" panose="02070309020205020404" pitchFamily="49" charset="0"/>
              <a:buChar char="o"/>
            </a:pPr>
            <a:r>
              <a:rPr lang="en-GB" sz="2000" dirty="0"/>
              <a:t>Capacity is conditional. It depends on resources </a:t>
            </a:r>
            <a:r>
              <a:rPr lang="en-GB" sz="2000" dirty="0">
                <a:solidFill>
                  <a:srgbClr val="C00000"/>
                </a:solidFill>
              </a:rPr>
              <a:t>such as staff, equipment, space and available working time, product mix and operating assumptions</a:t>
            </a:r>
            <a:r>
              <a:rPr lang="en-GB" sz="2000" dirty="0"/>
              <a:t>. </a:t>
            </a:r>
          </a:p>
          <a:p>
            <a:pPr marL="285750" lvl="5" indent="-285750">
              <a:buFont typeface="Courier New" panose="02070309020205020404" pitchFamily="49" charset="0"/>
              <a:buChar char="o"/>
            </a:pPr>
            <a:endParaRPr lang="en-GB" sz="2000" dirty="0"/>
          </a:p>
          <a:p>
            <a:pPr lvl="5"/>
            <a:r>
              <a:rPr lang="en-GB" sz="2000" dirty="0"/>
              <a:t>The key question is: </a:t>
            </a:r>
            <a:r>
              <a:rPr lang="en-GB" sz="2000" b="1" dirty="0"/>
              <a:t>“</a:t>
            </a:r>
            <a:r>
              <a:rPr lang="en-GB" sz="2000" dirty="0"/>
              <a:t>How much can this operation produce or deliver in a given time?</a:t>
            </a:r>
            <a:endParaRPr lang="en-GB"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21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80837A7-1BCA-653B-6F48-9268E09D893A}"/>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5D77E6E5-DADF-FBB8-026B-EB495E484DDA}"/>
              </a:ext>
            </a:extLst>
          </p:cNvPr>
          <p:cNvSpPr txBox="1">
            <a:spLocks noGrp="1"/>
          </p:cNvSpPr>
          <p:nvPr>
            <p:ph type="title"/>
          </p:nvPr>
        </p:nvSpPr>
        <p:spPr>
          <a:xfrm>
            <a:off x="472434" y="101223"/>
            <a:ext cx="8520600" cy="572700"/>
          </a:xfrm>
        </p:spPr>
        <p:txBody>
          <a:bodyPr spcFirstLastPara="1" wrap="square" lIns="91425" tIns="91425" rIns="91425" bIns="91425" anchor="ctr" anchorCtr="0">
            <a:normAutofit/>
          </a:bodyPr>
          <a:lstStyle/>
          <a:p>
            <a:pPr algn="ctr"/>
            <a:r>
              <a:rPr lang="en-GB" sz="2500" b="1" dirty="0"/>
              <a:t>Capacity in real life settings</a:t>
            </a:r>
          </a:p>
        </p:txBody>
      </p:sp>
      <p:sp>
        <p:nvSpPr>
          <p:cNvPr id="80" name="Google Shape;80;p16">
            <a:extLst>
              <a:ext uri="{FF2B5EF4-FFF2-40B4-BE49-F238E27FC236}">
                <a16:creationId xmlns:a16="http://schemas.microsoft.com/office/drawing/2014/main" id="{B9D42394-FB93-300C-5C7C-2C7BF2383B71}"/>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10</a:t>
            </a:fld>
            <a:endParaRPr lang="en" sz="900"/>
          </a:p>
        </p:txBody>
      </p:sp>
      <p:graphicFrame>
        <p:nvGraphicFramePr>
          <p:cNvPr id="2" name="Table 1">
            <a:extLst>
              <a:ext uri="{FF2B5EF4-FFF2-40B4-BE49-F238E27FC236}">
                <a16:creationId xmlns:a16="http://schemas.microsoft.com/office/drawing/2014/main" id="{8818E4A2-36D0-424F-B1EA-0F2AEEC2A62E}"/>
              </a:ext>
            </a:extLst>
          </p:cNvPr>
          <p:cNvGraphicFramePr>
            <a:graphicFrameLocks noGrp="1"/>
          </p:cNvGraphicFramePr>
          <p:nvPr>
            <p:extLst>
              <p:ext uri="{D42A27DB-BD31-4B8C-83A1-F6EECF244321}">
                <p14:modId xmlns:p14="http://schemas.microsoft.com/office/powerpoint/2010/main" val="2804865810"/>
              </p:ext>
            </p:extLst>
          </p:nvPr>
        </p:nvGraphicFramePr>
        <p:xfrm>
          <a:off x="57150" y="963386"/>
          <a:ext cx="9086851" cy="3452095"/>
        </p:xfrm>
        <a:graphic>
          <a:graphicData uri="http://schemas.openxmlformats.org/drawingml/2006/table">
            <a:tbl>
              <a:tblPr firstRow="1">
                <a:tableStyleId>{E8B1032C-EA38-4F05-BA0D-38AFFFC7BED3}</a:tableStyleId>
              </a:tblPr>
              <a:tblGrid>
                <a:gridCol w="2067210">
                  <a:extLst>
                    <a:ext uri="{9D8B030D-6E8A-4147-A177-3AD203B41FA5}">
                      <a16:colId xmlns:a16="http://schemas.microsoft.com/office/drawing/2014/main" val="2197556923"/>
                    </a:ext>
                  </a:extLst>
                </a:gridCol>
                <a:gridCol w="3268868">
                  <a:extLst>
                    <a:ext uri="{9D8B030D-6E8A-4147-A177-3AD203B41FA5}">
                      <a16:colId xmlns:a16="http://schemas.microsoft.com/office/drawing/2014/main" val="2446973743"/>
                    </a:ext>
                  </a:extLst>
                </a:gridCol>
                <a:gridCol w="3750773">
                  <a:extLst>
                    <a:ext uri="{9D8B030D-6E8A-4147-A177-3AD203B41FA5}">
                      <a16:colId xmlns:a16="http://schemas.microsoft.com/office/drawing/2014/main" val="2184854796"/>
                    </a:ext>
                  </a:extLst>
                </a:gridCol>
              </a:tblGrid>
              <a:tr h="241215">
                <a:tc>
                  <a:txBody>
                    <a:bodyPr/>
                    <a:lstStyle/>
                    <a:p>
                      <a:pPr marL="0">
                        <a:buNone/>
                      </a:pPr>
                      <a:r>
                        <a:rPr lang="en-GB" sz="2000" b="1" cap="none" spc="0" dirty="0">
                          <a:solidFill>
                            <a:schemeClr val="tx1"/>
                          </a:solidFill>
                        </a:rPr>
                        <a:t>Real-life setting</a:t>
                      </a:r>
                    </a:p>
                  </a:txBody>
                  <a:tcPr marL="35241" marR="35241" marT="63198" marB="17621" anchor="ctr"/>
                </a:tc>
                <a:tc>
                  <a:txBody>
                    <a:bodyPr/>
                    <a:lstStyle/>
                    <a:p>
                      <a:pPr marL="0">
                        <a:buNone/>
                      </a:pPr>
                      <a:r>
                        <a:rPr lang="en-GB" sz="2000" b="1" cap="none" spc="0" dirty="0">
                          <a:solidFill>
                            <a:schemeClr val="tx1"/>
                          </a:solidFill>
                        </a:rPr>
                        <a:t>What “capacity” means</a:t>
                      </a:r>
                    </a:p>
                  </a:txBody>
                  <a:tcPr marL="35241" marR="35241" marT="63198" marB="17621" anchor="ctr"/>
                </a:tc>
                <a:tc>
                  <a:txBody>
                    <a:bodyPr/>
                    <a:lstStyle/>
                    <a:p>
                      <a:pPr marL="0">
                        <a:buNone/>
                      </a:pPr>
                      <a:r>
                        <a:rPr lang="en-GB" sz="2000" b="1" cap="none" spc="0" dirty="0">
                          <a:solidFill>
                            <a:schemeClr val="tx1"/>
                          </a:solidFill>
                        </a:rPr>
                        <a:t>Typical capacity decision</a:t>
                      </a:r>
                    </a:p>
                  </a:txBody>
                  <a:tcPr marL="35241" marR="35241" marT="63198" marB="17621" anchor="ctr"/>
                </a:tc>
                <a:extLst>
                  <a:ext uri="{0D108BD9-81ED-4DB2-BD59-A6C34878D82A}">
                    <a16:rowId xmlns:a16="http://schemas.microsoft.com/office/drawing/2014/main" val="3630097965"/>
                  </a:ext>
                </a:extLst>
              </a:tr>
              <a:tr h="392131">
                <a:tc>
                  <a:txBody>
                    <a:bodyPr/>
                    <a:lstStyle/>
                    <a:p>
                      <a:pPr marL="0">
                        <a:buNone/>
                      </a:pPr>
                      <a:r>
                        <a:rPr lang="en-GB" sz="2000" b="1" cap="none" spc="0" dirty="0">
                          <a:solidFill>
                            <a:schemeClr val="tx1"/>
                          </a:solidFill>
                        </a:rPr>
                        <a:t>Hospital</a:t>
                      </a:r>
                      <a:endParaRPr lang="en-GB" sz="2000" cap="none" spc="0" dirty="0">
                        <a:solidFill>
                          <a:schemeClr val="tx1"/>
                        </a:solidFill>
                      </a:endParaRPr>
                    </a:p>
                  </a:txBody>
                  <a:tcPr marL="35241" marR="35241" marT="63198" marB="17621" anchor="ctr"/>
                </a:tc>
                <a:tc>
                  <a:txBody>
                    <a:bodyPr/>
                    <a:lstStyle/>
                    <a:p>
                      <a:pPr marL="0">
                        <a:buNone/>
                      </a:pPr>
                      <a:r>
                        <a:rPr lang="en-GB" sz="2000" cap="none" spc="0" dirty="0">
                          <a:solidFill>
                            <a:schemeClr val="tx1"/>
                          </a:solidFill>
                        </a:rPr>
                        <a:t>Beds, operating theatres, doctors/nurses, appointments</a:t>
                      </a:r>
                    </a:p>
                  </a:txBody>
                  <a:tcPr marL="35241" marR="35241" marT="63198" marB="17621" anchor="ctr"/>
                </a:tc>
                <a:tc>
                  <a:txBody>
                    <a:bodyPr/>
                    <a:lstStyle/>
                    <a:p>
                      <a:pPr marL="0">
                        <a:buNone/>
                      </a:pPr>
                      <a:r>
                        <a:rPr lang="en-GB" sz="2000" cap="none" spc="0" dirty="0">
                          <a:solidFill>
                            <a:schemeClr val="tx1"/>
                          </a:solidFill>
                        </a:rPr>
                        <a:t>How many patients can be treated without excessive waiting?</a:t>
                      </a:r>
                    </a:p>
                  </a:txBody>
                  <a:tcPr marL="35241" marR="35241" marT="63198" marB="17621" anchor="ctr"/>
                </a:tc>
                <a:extLst>
                  <a:ext uri="{0D108BD9-81ED-4DB2-BD59-A6C34878D82A}">
                    <a16:rowId xmlns:a16="http://schemas.microsoft.com/office/drawing/2014/main" val="1182677459"/>
                  </a:ext>
                </a:extLst>
              </a:tr>
              <a:tr h="392131">
                <a:tc>
                  <a:txBody>
                    <a:bodyPr/>
                    <a:lstStyle/>
                    <a:p>
                      <a:pPr marL="0">
                        <a:buNone/>
                      </a:pPr>
                      <a:r>
                        <a:rPr lang="en-GB" sz="2000" b="1" cap="none" spc="0" dirty="0">
                          <a:solidFill>
                            <a:schemeClr val="tx1"/>
                          </a:solidFill>
                        </a:rPr>
                        <a:t>Hotel</a:t>
                      </a:r>
                      <a:endParaRPr lang="en-GB" sz="2000" cap="none" spc="0" dirty="0">
                        <a:solidFill>
                          <a:schemeClr val="tx1"/>
                        </a:solidFill>
                      </a:endParaRPr>
                    </a:p>
                  </a:txBody>
                  <a:tcPr marL="35241" marR="35241" marT="63198" marB="17621" anchor="ctr"/>
                </a:tc>
                <a:tc>
                  <a:txBody>
                    <a:bodyPr/>
                    <a:lstStyle/>
                    <a:p>
                      <a:pPr marL="0">
                        <a:buNone/>
                      </a:pPr>
                      <a:r>
                        <a:rPr lang="en-GB" sz="2000" cap="none" spc="0" dirty="0">
                          <a:solidFill>
                            <a:schemeClr val="tx1"/>
                          </a:solidFill>
                        </a:rPr>
                        <a:t>Rooms + housekeeping capacity</a:t>
                      </a:r>
                    </a:p>
                  </a:txBody>
                  <a:tcPr marL="35241" marR="35241" marT="63198" marB="17621" anchor="ctr"/>
                </a:tc>
                <a:tc>
                  <a:txBody>
                    <a:bodyPr/>
                    <a:lstStyle/>
                    <a:p>
                      <a:pPr marL="0">
                        <a:buNone/>
                      </a:pPr>
                      <a:r>
                        <a:rPr lang="en-GB" sz="2000" cap="none" spc="0">
                          <a:solidFill>
                            <a:schemeClr val="tx1"/>
                          </a:solidFill>
                        </a:rPr>
                        <a:t>How many rooms can be made ready for arriving guests?</a:t>
                      </a:r>
                    </a:p>
                  </a:txBody>
                  <a:tcPr marL="35241" marR="35241" marT="63198" marB="17621" anchor="ctr"/>
                </a:tc>
                <a:extLst>
                  <a:ext uri="{0D108BD9-81ED-4DB2-BD59-A6C34878D82A}">
                    <a16:rowId xmlns:a16="http://schemas.microsoft.com/office/drawing/2014/main" val="2533185294"/>
                  </a:ext>
                </a:extLst>
              </a:tr>
              <a:tr h="392131">
                <a:tc>
                  <a:txBody>
                    <a:bodyPr/>
                    <a:lstStyle/>
                    <a:p>
                      <a:pPr marL="0">
                        <a:buNone/>
                      </a:pPr>
                      <a:r>
                        <a:rPr lang="en-GB" sz="2000" b="1" cap="none" spc="0" dirty="0">
                          <a:solidFill>
                            <a:schemeClr val="tx1"/>
                          </a:solidFill>
                        </a:rPr>
                        <a:t>Airport</a:t>
                      </a:r>
                      <a:endParaRPr lang="en-GB" sz="2000" cap="none" spc="0" dirty="0">
                        <a:solidFill>
                          <a:schemeClr val="tx1"/>
                        </a:solidFill>
                      </a:endParaRPr>
                    </a:p>
                  </a:txBody>
                  <a:tcPr marL="35241" marR="35241" marT="63198" marB="17621" anchor="ctr"/>
                </a:tc>
                <a:tc>
                  <a:txBody>
                    <a:bodyPr/>
                    <a:lstStyle/>
                    <a:p>
                      <a:pPr marL="0">
                        <a:buNone/>
                      </a:pPr>
                      <a:r>
                        <a:rPr lang="en-GB" sz="2000" cap="none" spc="0" dirty="0">
                          <a:solidFill>
                            <a:schemeClr val="tx1"/>
                          </a:solidFill>
                        </a:rPr>
                        <a:t>Runway slots, gates, terminal throughput</a:t>
                      </a:r>
                    </a:p>
                  </a:txBody>
                  <a:tcPr marL="35241" marR="35241" marT="63198" marB="17621" anchor="ctr"/>
                </a:tc>
                <a:tc>
                  <a:txBody>
                    <a:bodyPr/>
                    <a:lstStyle/>
                    <a:p>
                      <a:pPr marL="0">
                        <a:buNone/>
                      </a:pPr>
                      <a:r>
                        <a:rPr lang="en-GB" sz="2000" cap="none" spc="0">
                          <a:solidFill>
                            <a:schemeClr val="tx1"/>
                          </a:solidFill>
                        </a:rPr>
                        <a:t>How many aircraft/passengers can be handled per hour?</a:t>
                      </a:r>
                    </a:p>
                  </a:txBody>
                  <a:tcPr marL="35241" marR="35241" marT="63198" marB="17621" anchor="ctr"/>
                </a:tc>
                <a:extLst>
                  <a:ext uri="{0D108BD9-81ED-4DB2-BD59-A6C34878D82A}">
                    <a16:rowId xmlns:a16="http://schemas.microsoft.com/office/drawing/2014/main" val="3159534522"/>
                  </a:ext>
                </a:extLst>
              </a:tr>
              <a:tr h="392131">
                <a:tc>
                  <a:txBody>
                    <a:bodyPr/>
                    <a:lstStyle/>
                    <a:p>
                      <a:pPr marL="0">
                        <a:buNone/>
                      </a:pPr>
                      <a:r>
                        <a:rPr lang="en-GB" sz="2000" b="1" cap="none" spc="0">
                          <a:solidFill>
                            <a:schemeClr val="tx1"/>
                          </a:solidFill>
                        </a:rPr>
                        <a:t>Call centre</a:t>
                      </a:r>
                      <a:endParaRPr lang="en-GB" sz="2000" cap="none" spc="0">
                        <a:solidFill>
                          <a:schemeClr val="tx1"/>
                        </a:solidFill>
                      </a:endParaRPr>
                    </a:p>
                  </a:txBody>
                  <a:tcPr marL="35241" marR="35241" marT="63198" marB="17621" anchor="ctr"/>
                </a:tc>
                <a:tc>
                  <a:txBody>
                    <a:bodyPr/>
                    <a:lstStyle/>
                    <a:p>
                      <a:pPr marL="0">
                        <a:buNone/>
                      </a:pPr>
                      <a:r>
                        <a:rPr lang="en-GB" sz="2000" cap="none" spc="0" dirty="0">
                          <a:solidFill>
                            <a:schemeClr val="tx1"/>
                          </a:solidFill>
                        </a:rPr>
                        <a:t>Number of agents and calls handled</a:t>
                      </a:r>
                    </a:p>
                  </a:txBody>
                  <a:tcPr marL="35241" marR="35241" marT="63198" marB="17621" anchor="ctr"/>
                </a:tc>
                <a:tc>
                  <a:txBody>
                    <a:bodyPr/>
                    <a:lstStyle/>
                    <a:p>
                      <a:pPr marL="0">
                        <a:buNone/>
                      </a:pPr>
                      <a:r>
                        <a:rPr lang="en-GB" sz="2000" cap="none" spc="0" dirty="0">
                          <a:solidFill>
                            <a:schemeClr val="tx1"/>
                          </a:solidFill>
                        </a:rPr>
                        <a:t>How many staff are needed to meet service targets?</a:t>
                      </a:r>
                    </a:p>
                  </a:txBody>
                  <a:tcPr marL="35241" marR="35241" marT="63198" marB="17621" anchor="ctr"/>
                </a:tc>
                <a:extLst>
                  <a:ext uri="{0D108BD9-81ED-4DB2-BD59-A6C34878D82A}">
                    <a16:rowId xmlns:a16="http://schemas.microsoft.com/office/drawing/2014/main" val="310135246"/>
                  </a:ext>
                </a:extLst>
              </a:tr>
            </a:tbl>
          </a:graphicData>
        </a:graphic>
      </p:graphicFrame>
    </p:spTree>
    <p:extLst>
      <p:ext uri="{BB962C8B-B14F-4D97-AF65-F5344CB8AC3E}">
        <p14:creationId xmlns:p14="http://schemas.microsoft.com/office/powerpoint/2010/main" val="383185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8500899-5E1F-BB43-8EF2-C42BAD66C14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56BE12F1-CD99-F9CF-03C1-922AC901B3C2}"/>
              </a:ext>
            </a:extLst>
          </p:cNvPr>
          <p:cNvSpPr txBox="1">
            <a:spLocks noGrp="1"/>
          </p:cNvSpPr>
          <p:nvPr>
            <p:ph type="title"/>
          </p:nvPr>
        </p:nvSpPr>
        <p:spPr>
          <a:xfrm>
            <a:off x="472434" y="101223"/>
            <a:ext cx="8520600" cy="572700"/>
          </a:xfrm>
        </p:spPr>
        <p:txBody>
          <a:bodyPr spcFirstLastPara="1" wrap="square" lIns="91425" tIns="91425" rIns="91425" bIns="91425" anchor="ctr" anchorCtr="0">
            <a:normAutofit/>
          </a:bodyPr>
          <a:lstStyle/>
          <a:p>
            <a:pPr algn="ctr"/>
            <a:r>
              <a:rPr lang="en-GB" sz="2500" b="1" dirty="0"/>
              <a:t>Capacity in real life settings</a:t>
            </a:r>
          </a:p>
        </p:txBody>
      </p:sp>
      <p:sp>
        <p:nvSpPr>
          <p:cNvPr id="80" name="Google Shape;80;p16">
            <a:extLst>
              <a:ext uri="{FF2B5EF4-FFF2-40B4-BE49-F238E27FC236}">
                <a16:creationId xmlns:a16="http://schemas.microsoft.com/office/drawing/2014/main" id="{80C66E02-63B8-0D5A-665D-3CB482B4FFDB}"/>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11</a:t>
            </a:fld>
            <a:endParaRPr lang="en" sz="900"/>
          </a:p>
        </p:txBody>
      </p:sp>
      <p:graphicFrame>
        <p:nvGraphicFramePr>
          <p:cNvPr id="2" name="Table 1">
            <a:extLst>
              <a:ext uri="{FF2B5EF4-FFF2-40B4-BE49-F238E27FC236}">
                <a16:creationId xmlns:a16="http://schemas.microsoft.com/office/drawing/2014/main" id="{0127516F-D27C-AA32-1AE7-9F7A1329DE82}"/>
              </a:ext>
            </a:extLst>
          </p:cNvPr>
          <p:cNvGraphicFramePr>
            <a:graphicFrameLocks noGrp="1"/>
          </p:cNvGraphicFramePr>
          <p:nvPr>
            <p:extLst>
              <p:ext uri="{D42A27DB-BD31-4B8C-83A1-F6EECF244321}">
                <p14:modId xmlns:p14="http://schemas.microsoft.com/office/powerpoint/2010/main" val="1090099873"/>
              </p:ext>
            </p:extLst>
          </p:nvPr>
        </p:nvGraphicFramePr>
        <p:xfrm>
          <a:off x="57150" y="963386"/>
          <a:ext cx="9086851" cy="3979493"/>
        </p:xfrm>
        <a:graphic>
          <a:graphicData uri="http://schemas.openxmlformats.org/drawingml/2006/table">
            <a:tbl>
              <a:tblPr firstRow="1">
                <a:tableStyleId>{E8B1032C-EA38-4F05-BA0D-38AFFFC7BED3}</a:tableStyleId>
              </a:tblPr>
              <a:tblGrid>
                <a:gridCol w="2067210">
                  <a:extLst>
                    <a:ext uri="{9D8B030D-6E8A-4147-A177-3AD203B41FA5}">
                      <a16:colId xmlns:a16="http://schemas.microsoft.com/office/drawing/2014/main" val="2197556923"/>
                    </a:ext>
                  </a:extLst>
                </a:gridCol>
                <a:gridCol w="3268868">
                  <a:extLst>
                    <a:ext uri="{9D8B030D-6E8A-4147-A177-3AD203B41FA5}">
                      <a16:colId xmlns:a16="http://schemas.microsoft.com/office/drawing/2014/main" val="2446973743"/>
                    </a:ext>
                  </a:extLst>
                </a:gridCol>
                <a:gridCol w="3750773">
                  <a:extLst>
                    <a:ext uri="{9D8B030D-6E8A-4147-A177-3AD203B41FA5}">
                      <a16:colId xmlns:a16="http://schemas.microsoft.com/office/drawing/2014/main" val="2184854796"/>
                    </a:ext>
                  </a:extLst>
                </a:gridCol>
              </a:tblGrid>
              <a:tr h="241215">
                <a:tc>
                  <a:txBody>
                    <a:bodyPr/>
                    <a:lstStyle/>
                    <a:p>
                      <a:pPr marL="0">
                        <a:buNone/>
                      </a:pPr>
                      <a:r>
                        <a:rPr lang="en-GB" sz="1600" b="1" cap="none" spc="0" dirty="0">
                          <a:solidFill>
                            <a:schemeClr val="tx1"/>
                          </a:solidFill>
                        </a:rPr>
                        <a:t>Real-life setting</a:t>
                      </a:r>
                    </a:p>
                  </a:txBody>
                  <a:tcPr marL="35241" marR="35241" marT="63198" marB="17621" anchor="ctr"/>
                </a:tc>
                <a:tc>
                  <a:txBody>
                    <a:bodyPr/>
                    <a:lstStyle/>
                    <a:p>
                      <a:pPr marL="0">
                        <a:buNone/>
                      </a:pPr>
                      <a:r>
                        <a:rPr lang="en-GB" sz="1600" b="1" cap="none" spc="0" dirty="0">
                          <a:solidFill>
                            <a:schemeClr val="tx1"/>
                          </a:solidFill>
                        </a:rPr>
                        <a:t>What “capacity” means</a:t>
                      </a:r>
                    </a:p>
                  </a:txBody>
                  <a:tcPr marL="35241" marR="35241" marT="63198" marB="17621" anchor="ctr"/>
                </a:tc>
                <a:tc>
                  <a:txBody>
                    <a:bodyPr/>
                    <a:lstStyle/>
                    <a:p>
                      <a:pPr marL="0">
                        <a:buNone/>
                      </a:pPr>
                      <a:r>
                        <a:rPr lang="en-GB" sz="1600" b="1" cap="none" spc="0" dirty="0">
                          <a:solidFill>
                            <a:schemeClr val="tx1"/>
                          </a:solidFill>
                        </a:rPr>
                        <a:t>Typical capacity decision</a:t>
                      </a:r>
                    </a:p>
                  </a:txBody>
                  <a:tcPr marL="35241" marR="35241" marT="63198" marB="17621" anchor="ctr"/>
                </a:tc>
                <a:extLst>
                  <a:ext uri="{0D108BD9-81ED-4DB2-BD59-A6C34878D82A}">
                    <a16:rowId xmlns:a16="http://schemas.microsoft.com/office/drawing/2014/main" val="3630097965"/>
                  </a:ext>
                </a:extLst>
              </a:tr>
              <a:tr h="392131">
                <a:tc>
                  <a:txBody>
                    <a:bodyPr/>
                    <a:lstStyle/>
                    <a:p>
                      <a:pPr marL="0">
                        <a:buNone/>
                      </a:pPr>
                      <a:r>
                        <a:rPr lang="en-GB" sz="1600" b="1" cap="none" spc="0" dirty="0">
                          <a:solidFill>
                            <a:schemeClr val="tx1"/>
                          </a:solidFill>
                        </a:rPr>
                        <a:t>Factory</a:t>
                      </a:r>
                      <a:endParaRPr lang="en-GB" sz="1600" cap="none" spc="0" dirty="0">
                        <a:solidFill>
                          <a:schemeClr val="tx1"/>
                        </a:solidFill>
                      </a:endParaRPr>
                    </a:p>
                  </a:txBody>
                  <a:tcPr marL="35241" marR="35241" marT="63198" marB="17621" anchor="ctr"/>
                </a:tc>
                <a:tc>
                  <a:txBody>
                    <a:bodyPr/>
                    <a:lstStyle/>
                    <a:p>
                      <a:pPr marL="0">
                        <a:buNone/>
                      </a:pPr>
                      <a:r>
                        <a:rPr lang="en-GB" sz="1600" cap="none" spc="0" dirty="0">
                          <a:solidFill>
                            <a:schemeClr val="tx1"/>
                          </a:solidFill>
                        </a:rPr>
                        <a:t>Machine hours, labour, production lines</a:t>
                      </a:r>
                    </a:p>
                  </a:txBody>
                  <a:tcPr marL="35241" marR="35241" marT="63198" marB="17621" anchor="ctr"/>
                </a:tc>
                <a:tc>
                  <a:txBody>
                    <a:bodyPr/>
                    <a:lstStyle/>
                    <a:p>
                      <a:pPr marL="0">
                        <a:buNone/>
                      </a:pPr>
                      <a:r>
                        <a:rPr lang="en-GB" sz="1600" cap="none" spc="0" dirty="0">
                          <a:solidFill>
                            <a:schemeClr val="tx1"/>
                          </a:solidFill>
                        </a:rPr>
                        <a:t>How many units can be produced per day/week?</a:t>
                      </a:r>
                    </a:p>
                  </a:txBody>
                  <a:tcPr marL="35241" marR="35241" marT="63198" marB="17621" anchor="ctr"/>
                </a:tc>
                <a:extLst>
                  <a:ext uri="{0D108BD9-81ED-4DB2-BD59-A6C34878D82A}">
                    <a16:rowId xmlns:a16="http://schemas.microsoft.com/office/drawing/2014/main" val="1083818417"/>
                  </a:ext>
                </a:extLst>
              </a:tr>
              <a:tr h="392131">
                <a:tc>
                  <a:txBody>
                    <a:bodyPr/>
                    <a:lstStyle/>
                    <a:p>
                      <a:pPr marL="0">
                        <a:buNone/>
                      </a:pPr>
                      <a:r>
                        <a:rPr lang="en-GB" sz="1600" b="1" cap="none" spc="0">
                          <a:solidFill>
                            <a:schemeClr val="tx1"/>
                          </a:solidFill>
                        </a:rPr>
                        <a:t>Restaurant</a:t>
                      </a:r>
                      <a:endParaRPr lang="en-GB" sz="1600" cap="none" spc="0">
                        <a:solidFill>
                          <a:schemeClr val="tx1"/>
                        </a:solidFill>
                      </a:endParaRPr>
                    </a:p>
                  </a:txBody>
                  <a:tcPr marL="35241" marR="35241" marT="63198" marB="17621" anchor="ctr"/>
                </a:tc>
                <a:tc>
                  <a:txBody>
                    <a:bodyPr/>
                    <a:lstStyle/>
                    <a:p>
                      <a:pPr marL="0">
                        <a:buNone/>
                      </a:pPr>
                      <a:r>
                        <a:rPr lang="en-GB" sz="1600" cap="none" spc="0" dirty="0">
                          <a:solidFill>
                            <a:schemeClr val="tx1"/>
                          </a:solidFill>
                        </a:rPr>
                        <a:t>Tables, kitchen stations, staff</a:t>
                      </a:r>
                    </a:p>
                  </a:txBody>
                  <a:tcPr marL="35241" marR="35241" marT="63198" marB="17621" anchor="ctr"/>
                </a:tc>
                <a:tc>
                  <a:txBody>
                    <a:bodyPr/>
                    <a:lstStyle/>
                    <a:p>
                      <a:pPr marL="0">
                        <a:buNone/>
                      </a:pPr>
                      <a:r>
                        <a:rPr lang="en-GB" sz="1600" cap="none" spc="0">
                          <a:solidFill>
                            <a:schemeClr val="tx1"/>
                          </a:solidFill>
                        </a:rPr>
                        <a:t>How many customers/orders can be served during peak periods?</a:t>
                      </a:r>
                    </a:p>
                  </a:txBody>
                  <a:tcPr marL="35241" marR="35241" marT="63198" marB="17621" anchor="ctr"/>
                </a:tc>
                <a:extLst>
                  <a:ext uri="{0D108BD9-81ED-4DB2-BD59-A6C34878D82A}">
                    <a16:rowId xmlns:a16="http://schemas.microsoft.com/office/drawing/2014/main" val="4292821061"/>
                  </a:ext>
                </a:extLst>
              </a:tr>
              <a:tr h="398840">
                <a:tc>
                  <a:txBody>
                    <a:bodyPr/>
                    <a:lstStyle/>
                    <a:p>
                      <a:pPr marL="0">
                        <a:buNone/>
                      </a:pPr>
                      <a:r>
                        <a:rPr lang="en-GB" sz="1600" b="1" cap="none" spc="0">
                          <a:solidFill>
                            <a:schemeClr val="tx1"/>
                          </a:solidFill>
                        </a:rPr>
                        <a:t>Amazon fulfilment centre</a:t>
                      </a:r>
                      <a:endParaRPr lang="en-GB" sz="1600" cap="none" spc="0">
                        <a:solidFill>
                          <a:schemeClr val="tx1"/>
                        </a:solidFill>
                      </a:endParaRPr>
                    </a:p>
                  </a:txBody>
                  <a:tcPr marL="35241" marR="35241" marT="63198" marB="17621" anchor="ctr"/>
                </a:tc>
                <a:tc>
                  <a:txBody>
                    <a:bodyPr/>
                    <a:lstStyle/>
                    <a:p>
                      <a:pPr marL="0">
                        <a:buNone/>
                      </a:pPr>
                      <a:r>
                        <a:rPr lang="en-GB" sz="1600" cap="none" spc="0" dirty="0">
                          <a:solidFill>
                            <a:schemeClr val="tx1"/>
                          </a:solidFill>
                        </a:rPr>
                        <a:t>Picking, packing, storage and labour capacity</a:t>
                      </a:r>
                    </a:p>
                  </a:txBody>
                  <a:tcPr marL="35241" marR="35241" marT="63198" marB="17621" anchor="ctr"/>
                </a:tc>
                <a:tc>
                  <a:txBody>
                    <a:bodyPr/>
                    <a:lstStyle/>
                    <a:p>
                      <a:pPr marL="0">
                        <a:buNone/>
                      </a:pPr>
                      <a:r>
                        <a:rPr lang="en-GB" sz="1600" cap="none" spc="0">
                          <a:solidFill>
                            <a:schemeClr val="tx1"/>
                          </a:solidFill>
                        </a:rPr>
                        <a:t>How much order volume can be processed during demand peaks?</a:t>
                      </a:r>
                    </a:p>
                  </a:txBody>
                  <a:tcPr marL="35241" marR="35241" marT="63198" marB="17621" anchor="ctr"/>
                </a:tc>
                <a:extLst>
                  <a:ext uri="{0D108BD9-81ED-4DB2-BD59-A6C34878D82A}">
                    <a16:rowId xmlns:a16="http://schemas.microsoft.com/office/drawing/2014/main" val="3098145051"/>
                  </a:ext>
                </a:extLst>
              </a:tr>
              <a:tr h="398840">
                <a:tc>
                  <a:txBody>
                    <a:bodyPr/>
                    <a:lstStyle/>
                    <a:p>
                      <a:pPr marL="0">
                        <a:buNone/>
                      </a:pPr>
                      <a:r>
                        <a:rPr lang="en-GB" sz="1600" b="1" cap="none" spc="0">
                          <a:solidFill>
                            <a:schemeClr val="tx1"/>
                          </a:solidFill>
                        </a:rPr>
                        <a:t>University</a:t>
                      </a:r>
                      <a:endParaRPr lang="en-GB" sz="1600" cap="none" spc="0">
                        <a:solidFill>
                          <a:schemeClr val="tx1"/>
                        </a:solidFill>
                      </a:endParaRPr>
                    </a:p>
                  </a:txBody>
                  <a:tcPr marL="35241" marR="35241" marT="63198" marB="17621" anchor="ctr"/>
                </a:tc>
                <a:tc>
                  <a:txBody>
                    <a:bodyPr/>
                    <a:lstStyle/>
                    <a:p>
                      <a:pPr marL="0">
                        <a:buNone/>
                      </a:pPr>
                      <a:r>
                        <a:rPr lang="en-GB" sz="1600" cap="none" spc="0" dirty="0">
                          <a:solidFill>
                            <a:schemeClr val="tx1"/>
                          </a:solidFill>
                        </a:rPr>
                        <a:t>Teaching rooms, staff, lab places</a:t>
                      </a:r>
                    </a:p>
                  </a:txBody>
                  <a:tcPr marL="35241" marR="35241" marT="63198" marB="17621" anchor="ctr"/>
                </a:tc>
                <a:tc>
                  <a:txBody>
                    <a:bodyPr/>
                    <a:lstStyle/>
                    <a:p>
                      <a:pPr marL="0">
                        <a:buNone/>
                      </a:pPr>
                      <a:r>
                        <a:rPr lang="en-GB" sz="1600" cap="none" spc="0" dirty="0">
                          <a:solidFill>
                            <a:schemeClr val="tx1"/>
                          </a:solidFill>
                        </a:rPr>
                        <a:t>How many students can be accommodated without reducing service quality?</a:t>
                      </a:r>
                    </a:p>
                  </a:txBody>
                  <a:tcPr marL="35241" marR="35241" marT="63198" marB="17621" anchor="ctr"/>
                </a:tc>
                <a:extLst>
                  <a:ext uri="{0D108BD9-81ED-4DB2-BD59-A6C34878D82A}">
                    <a16:rowId xmlns:a16="http://schemas.microsoft.com/office/drawing/2014/main" val="2144497791"/>
                  </a:ext>
                </a:extLst>
              </a:tr>
              <a:tr h="392131">
                <a:tc>
                  <a:txBody>
                    <a:bodyPr/>
                    <a:lstStyle/>
                    <a:p>
                      <a:pPr marL="0">
                        <a:buNone/>
                      </a:pPr>
                      <a:r>
                        <a:rPr lang="en-GB" sz="1600" b="1" cap="none" spc="0">
                          <a:solidFill>
                            <a:schemeClr val="tx1"/>
                          </a:solidFill>
                        </a:rPr>
                        <a:t>Airline</a:t>
                      </a:r>
                      <a:endParaRPr lang="en-GB" sz="1600" cap="none" spc="0">
                        <a:solidFill>
                          <a:schemeClr val="tx1"/>
                        </a:solidFill>
                      </a:endParaRPr>
                    </a:p>
                  </a:txBody>
                  <a:tcPr marL="35241" marR="35241" marT="63198" marB="17621" anchor="ctr"/>
                </a:tc>
                <a:tc>
                  <a:txBody>
                    <a:bodyPr/>
                    <a:lstStyle/>
                    <a:p>
                      <a:pPr marL="0">
                        <a:buNone/>
                      </a:pPr>
                      <a:r>
                        <a:rPr lang="en-GB" sz="1600" cap="none" spc="0">
                          <a:solidFill>
                            <a:schemeClr val="tx1"/>
                          </a:solidFill>
                        </a:rPr>
                        <a:t>Aircraft seats and flight frequency</a:t>
                      </a:r>
                    </a:p>
                  </a:txBody>
                  <a:tcPr marL="35241" marR="35241" marT="63198" marB="17621" anchor="ctr"/>
                </a:tc>
                <a:tc>
                  <a:txBody>
                    <a:bodyPr/>
                    <a:lstStyle/>
                    <a:p>
                      <a:pPr marL="0">
                        <a:buNone/>
                      </a:pPr>
                      <a:r>
                        <a:rPr lang="en-GB" sz="1600" cap="none" spc="0" dirty="0">
                          <a:solidFill>
                            <a:schemeClr val="tx1"/>
                          </a:solidFill>
                        </a:rPr>
                        <a:t>How much seat capacity should be offered on a route?</a:t>
                      </a:r>
                    </a:p>
                  </a:txBody>
                  <a:tcPr marL="35241" marR="35241" marT="63198" marB="17621" anchor="ctr"/>
                </a:tc>
                <a:extLst>
                  <a:ext uri="{0D108BD9-81ED-4DB2-BD59-A6C34878D82A}">
                    <a16:rowId xmlns:a16="http://schemas.microsoft.com/office/drawing/2014/main" val="115671077"/>
                  </a:ext>
                </a:extLst>
              </a:tr>
              <a:tr h="392131">
                <a:tc>
                  <a:txBody>
                    <a:bodyPr/>
                    <a:lstStyle/>
                    <a:p>
                      <a:pPr marL="0">
                        <a:buNone/>
                      </a:pPr>
                      <a:r>
                        <a:rPr lang="en-GB" sz="1600" b="1" cap="none" spc="0">
                          <a:solidFill>
                            <a:schemeClr val="tx1"/>
                          </a:solidFill>
                        </a:rPr>
                        <a:t>Supermarket</a:t>
                      </a:r>
                      <a:endParaRPr lang="en-GB" sz="1600" cap="none" spc="0">
                        <a:solidFill>
                          <a:schemeClr val="tx1"/>
                        </a:solidFill>
                      </a:endParaRPr>
                    </a:p>
                  </a:txBody>
                  <a:tcPr marL="35241" marR="35241" marT="63198" marB="17621" anchor="ctr"/>
                </a:tc>
                <a:tc>
                  <a:txBody>
                    <a:bodyPr/>
                    <a:lstStyle/>
                    <a:p>
                      <a:pPr marL="0">
                        <a:buNone/>
                      </a:pPr>
                      <a:r>
                        <a:rPr lang="en-GB" sz="1600" cap="none" spc="0">
                          <a:solidFill>
                            <a:schemeClr val="tx1"/>
                          </a:solidFill>
                        </a:rPr>
                        <a:t>Checkout lanes, shelf/storage space, staff</a:t>
                      </a:r>
                    </a:p>
                  </a:txBody>
                  <a:tcPr marL="35241" marR="35241" marT="63198" marB="17621" anchor="ctr"/>
                </a:tc>
                <a:tc>
                  <a:txBody>
                    <a:bodyPr/>
                    <a:lstStyle/>
                    <a:p>
                      <a:pPr marL="0">
                        <a:buNone/>
                      </a:pPr>
                      <a:r>
                        <a:rPr lang="en-GB" sz="1600" cap="none" spc="0" dirty="0">
                          <a:solidFill>
                            <a:schemeClr val="tx1"/>
                          </a:solidFill>
                        </a:rPr>
                        <a:t>How much customer demand can the store process at peak time?</a:t>
                      </a:r>
                    </a:p>
                  </a:txBody>
                  <a:tcPr marL="35241" marR="35241" marT="63198" marB="17621" anchor="ctr"/>
                </a:tc>
                <a:extLst>
                  <a:ext uri="{0D108BD9-81ED-4DB2-BD59-A6C34878D82A}">
                    <a16:rowId xmlns:a16="http://schemas.microsoft.com/office/drawing/2014/main" val="1616577261"/>
                  </a:ext>
                </a:extLst>
              </a:tr>
            </a:tbl>
          </a:graphicData>
        </a:graphic>
      </p:graphicFrame>
    </p:spTree>
    <p:extLst>
      <p:ext uri="{BB962C8B-B14F-4D97-AF65-F5344CB8AC3E}">
        <p14:creationId xmlns:p14="http://schemas.microsoft.com/office/powerpoint/2010/main" val="3017282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39E6AED8-52AC-7B6E-62BC-DD9D98AEF34A}"/>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CAFADE76-1849-0F1D-BB90-AB57E85FF504}"/>
              </a:ext>
            </a:extLst>
          </p:cNvPr>
          <p:cNvSpPr txBox="1">
            <a:spLocks noGrp="1"/>
          </p:cNvSpPr>
          <p:nvPr>
            <p:ph type="title"/>
          </p:nvPr>
        </p:nvSpPr>
        <p:spPr>
          <a:xfrm>
            <a:off x="472434" y="101223"/>
            <a:ext cx="8520600" cy="572700"/>
          </a:xfrm>
        </p:spPr>
        <p:txBody>
          <a:bodyPr spcFirstLastPara="1" wrap="square" lIns="91425" tIns="91425" rIns="91425" bIns="91425" anchor="ctr" anchorCtr="0">
            <a:normAutofit/>
          </a:bodyPr>
          <a:lstStyle/>
          <a:p>
            <a:pPr algn="ctr"/>
            <a:r>
              <a:rPr lang="en-GB" sz="2500" b="1" dirty="0"/>
              <a:t>Concepts in Capacity</a:t>
            </a:r>
          </a:p>
        </p:txBody>
      </p:sp>
      <p:sp>
        <p:nvSpPr>
          <p:cNvPr id="80" name="Google Shape;80;p16">
            <a:extLst>
              <a:ext uri="{FF2B5EF4-FFF2-40B4-BE49-F238E27FC236}">
                <a16:creationId xmlns:a16="http://schemas.microsoft.com/office/drawing/2014/main" id="{E7153E11-B3BC-A070-3008-892629587BB6}"/>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12</a:t>
            </a:fld>
            <a:endParaRPr lang="en" sz="900"/>
          </a:p>
        </p:txBody>
      </p:sp>
      <p:sp>
        <p:nvSpPr>
          <p:cNvPr id="3" name="Content Placeholder 2">
            <a:extLst>
              <a:ext uri="{FF2B5EF4-FFF2-40B4-BE49-F238E27FC236}">
                <a16:creationId xmlns:a16="http://schemas.microsoft.com/office/drawing/2014/main" id="{61672DB5-105C-F43C-0D75-9911DB7A61BA}"/>
              </a:ext>
            </a:extLst>
          </p:cNvPr>
          <p:cNvSpPr txBox="1">
            <a:spLocks/>
          </p:cNvSpPr>
          <p:nvPr/>
        </p:nvSpPr>
        <p:spPr>
          <a:xfrm>
            <a:off x="106136" y="1004207"/>
            <a:ext cx="8948057" cy="403807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GB" sz="2400" b="1" dirty="0"/>
              <a:t>Design Capacity</a:t>
            </a:r>
            <a:r>
              <a:rPr lang="en-GB" sz="2400" dirty="0"/>
              <a:t>: the capacity of a process as it is designed to operate.</a:t>
            </a:r>
            <a:r>
              <a:rPr lang="en-GB" sz="2400" b="1" dirty="0"/>
              <a:t> </a:t>
            </a:r>
          </a:p>
          <a:p>
            <a:endParaRPr lang="en-GB" sz="2400" b="1" dirty="0"/>
          </a:p>
          <a:p>
            <a:r>
              <a:rPr lang="en-GB" sz="2400" b="1" dirty="0"/>
              <a:t>Downtime:</a:t>
            </a:r>
            <a:r>
              <a:rPr lang="en-GB" sz="2400" dirty="0"/>
              <a:t> the period when a resource that should be available for work is not operating.</a:t>
            </a:r>
          </a:p>
          <a:p>
            <a:pPr lvl="7"/>
            <a:r>
              <a:rPr lang="en-GB" sz="1600" dirty="0"/>
              <a:t>For example:</a:t>
            </a:r>
          </a:p>
          <a:p>
            <a:pPr marL="285750" lvl="8" indent="-285750">
              <a:buFont typeface="Courier New" panose="02070309020205020404" pitchFamily="49" charset="0"/>
              <a:buChar char="o"/>
            </a:pPr>
            <a:r>
              <a:rPr lang="en-GB" sz="1600" dirty="0"/>
              <a:t>A machine breaks down for 2 hours → 2 hours of downtime </a:t>
            </a:r>
          </a:p>
          <a:p>
            <a:pPr marL="285750" lvl="8" indent="-285750">
              <a:buFont typeface="Courier New" panose="02070309020205020404" pitchFamily="49" charset="0"/>
              <a:buChar char="o"/>
            </a:pPr>
            <a:r>
              <a:rPr lang="en-GB" sz="1600" dirty="0"/>
              <a:t>A production line stops for maintenance → production downtime </a:t>
            </a:r>
          </a:p>
          <a:p>
            <a:pPr marL="285750" lvl="8" indent="-285750">
              <a:buFont typeface="Courier New" panose="02070309020205020404" pitchFamily="49" charset="0"/>
              <a:buChar char="o"/>
            </a:pPr>
            <a:r>
              <a:rPr lang="en-GB" sz="1600" dirty="0"/>
              <a:t>A computer system is unavailable → IT downtime </a:t>
            </a:r>
          </a:p>
          <a:p>
            <a:pPr marL="285750" lvl="8" indent="-285750">
              <a:buFont typeface="Courier New" panose="02070309020205020404" pitchFamily="49" charset="0"/>
              <a:buChar char="o"/>
            </a:pPr>
            <a:r>
              <a:rPr lang="en-GB" sz="1600" dirty="0"/>
              <a:t>A hotel room cannot be sold because it is being repaired → room downtime </a:t>
            </a:r>
          </a:p>
          <a:p>
            <a:pPr marL="285750" lvl="8" indent="-285750">
              <a:buFont typeface="Courier New" panose="02070309020205020404" pitchFamily="49" charset="0"/>
              <a:buChar char="o"/>
            </a:pPr>
            <a:r>
              <a:rPr lang="en-GB" sz="1600" dirty="0"/>
              <a:t>A checkout is closed because no staff member is available → capacity downtime</a:t>
            </a:r>
          </a:p>
          <a:p>
            <a:endParaRPr lang="en-GB" dirty="0"/>
          </a:p>
        </p:txBody>
      </p:sp>
    </p:spTree>
    <p:extLst>
      <p:ext uri="{BB962C8B-B14F-4D97-AF65-F5344CB8AC3E}">
        <p14:creationId xmlns:p14="http://schemas.microsoft.com/office/powerpoint/2010/main" val="827197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E922D95-DD2D-BBD2-9407-36562B5301A6}"/>
            </a:ext>
          </a:extLst>
        </p:cNvPr>
        <p:cNvGrpSpPr/>
        <p:nvPr/>
      </p:nvGrpSpPr>
      <p:grpSpPr>
        <a:xfrm>
          <a:off x="0" y="0"/>
          <a:ext cx="0" cy="0"/>
          <a:chOff x="0" y="0"/>
          <a:chExt cx="0" cy="0"/>
        </a:xfrm>
      </p:grpSpPr>
      <p:sp>
        <p:nvSpPr>
          <p:cNvPr id="80" name="Google Shape;80;p16">
            <a:extLst>
              <a:ext uri="{FF2B5EF4-FFF2-40B4-BE49-F238E27FC236}">
                <a16:creationId xmlns:a16="http://schemas.microsoft.com/office/drawing/2014/main" id="{323AD0FA-EDB3-5AC2-496D-BAA8790AE008}"/>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13</a:t>
            </a:fld>
            <a:endParaRPr lang="en" sz="900"/>
          </a:p>
        </p:txBody>
      </p:sp>
      <p:sp>
        <p:nvSpPr>
          <p:cNvPr id="9" name="Content Placeholder 2">
            <a:extLst>
              <a:ext uri="{FF2B5EF4-FFF2-40B4-BE49-F238E27FC236}">
                <a16:creationId xmlns:a16="http://schemas.microsoft.com/office/drawing/2014/main" id="{429D73A3-94FF-B926-D10C-0635BA1DADFA}"/>
              </a:ext>
            </a:extLst>
          </p:cNvPr>
          <p:cNvSpPr txBox="1">
            <a:spLocks/>
          </p:cNvSpPr>
          <p:nvPr/>
        </p:nvSpPr>
        <p:spPr>
          <a:xfrm>
            <a:off x="718458" y="987879"/>
            <a:ext cx="8425542" cy="3861708"/>
          </a:xfrm>
          <a:prstGeom prst="rect">
            <a:avLst/>
          </a:prstGeom>
        </p:spPr>
        <p:txBody>
          <a:bodyPr>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just">
              <a:spcBef>
                <a:spcPts val="600"/>
              </a:spcBef>
            </a:pPr>
            <a:r>
              <a:rPr lang="en-GB" sz="2000" b="1" dirty="0">
                <a:latin typeface="Arial" panose="020B0604020202020204" pitchFamily="34" charset="0"/>
                <a:ea typeface="SimSun" panose="02010600030101010101" pitchFamily="2" charset="-122"/>
                <a:cs typeface="Arial" panose="020B0604020202020204" pitchFamily="34" charset="0"/>
              </a:rPr>
              <a:t>Planned Downtime or Unavoidable Lost time could be:</a:t>
            </a:r>
            <a:endParaRPr lang="en-GB" sz="2000" dirty="0">
              <a:latin typeface="Arial" panose="020B0604020202020204" pitchFamily="34" charset="0"/>
              <a:ea typeface="SimSun" panose="02010600030101010101" pitchFamily="2" charset="-122"/>
              <a:cs typeface="Arial" panose="020B0604020202020204" pitchFamily="34" charset="0"/>
            </a:endParaRP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Regular maintenance, other planned stoppages and loading.</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Product changeovers (set-ups).</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No work scheduled</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Quality sampling checks</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Shift change times</a:t>
            </a:r>
          </a:p>
          <a:p>
            <a:endParaRPr lang="en-GB" sz="2000" dirty="0">
              <a:latin typeface="Arial" panose="020B0604020202020204" pitchFamily="34" charset="0"/>
              <a:ea typeface="SimSun" panose="02010600030101010101" pitchFamily="2" charset="-122"/>
              <a:cs typeface="Arial" panose="020B0604020202020204" pitchFamily="34" charset="0"/>
            </a:endParaRPr>
          </a:p>
          <a:p>
            <a:pPr algn="just">
              <a:spcBef>
                <a:spcPts val="600"/>
              </a:spcBef>
            </a:pPr>
            <a:r>
              <a:rPr lang="en-GB" sz="2000" b="1" dirty="0">
                <a:latin typeface="Arial" panose="020B0604020202020204" pitchFamily="34" charset="0"/>
                <a:ea typeface="SimSun" panose="02010600030101010101" pitchFamily="2" charset="-122"/>
                <a:cs typeface="Arial" panose="020B0604020202020204" pitchFamily="34" charset="0"/>
              </a:rPr>
              <a:t>Unplanned Downtime or Avoidable Lost time could be:</a:t>
            </a:r>
            <a:endParaRPr lang="en-GB" sz="2000" dirty="0">
              <a:latin typeface="Arial" panose="020B0604020202020204" pitchFamily="34" charset="0"/>
              <a:ea typeface="SimSun" panose="02010600030101010101" pitchFamily="2" charset="-122"/>
              <a:cs typeface="Arial" panose="020B0604020202020204" pitchFamily="34" charset="0"/>
            </a:endParaRP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Breakdown repair and maintenance</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Quality failure investigation</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Raw material stock out</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Waiting for partially processed products from another machine</a:t>
            </a:r>
          </a:p>
          <a:p>
            <a:pPr marL="342900" indent="-342900" algn="just">
              <a:spcBef>
                <a:spcPts val="600"/>
              </a:spcBef>
              <a:buFont typeface="Symbol" panose="05050102010706020507" pitchFamily="18" charset="2"/>
              <a:buChar char=""/>
            </a:pPr>
            <a:r>
              <a:rPr lang="en-GB" sz="2000" dirty="0">
                <a:latin typeface="Arial" panose="020B0604020202020204" pitchFamily="34" charset="0"/>
                <a:ea typeface="SimSun" panose="02010600030101010101" pitchFamily="2" charset="-122"/>
                <a:cs typeface="Arial" panose="020B0604020202020204" pitchFamily="34" charset="0"/>
              </a:rPr>
              <a:t>Labour shortages (e.g. absenteeism, sickness, other health-related issues such as doctor visits; dental appointments etc.)</a:t>
            </a:r>
          </a:p>
          <a:p>
            <a:endParaRPr lang="en-GB" sz="2400" dirty="0"/>
          </a:p>
        </p:txBody>
      </p:sp>
      <p:sp>
        <p:nvSpPr>
          <p:cNvPr id="3" name="TextBox 2">
            <a:extLst>
              <a:ext uri="{FF2B5EF4-FFF2-40B4-BE49-F238E27FC236}">
                <a16:creationId xmlns:a16="http://schemas.microsoft.com/office/drawing/2014/main" id="{4F3CF342-48BB-4756-2A63-EBEFE554F244}"/>
              </a:ext>
            </a:extLst>
          </p:cNvPr>
          <p:cNvSpPr txBox="1"/>
          <p:nvPr/>
        </p:nvSpPr>
        <p:spPr>
          <a:xfrm>
            <a:off x="2767693" y="293913"/>
            <a:ext cx="4572000" cy="477054"/>
          </a:xfrm>
          <a:prstGeom prst="rect">
            <a:avLst/>
          </a:prstGeom>
          <a:noFill/>
        </p:spPr>
        <p:txBody>
          <a:bodyPr wrap="square">
            <a:spAutoFit/>
          </a:bodyPr>
          <a:lstStyle/>
          <a:p>
            <a:r>
              <a:rPr lang="en-GB" sz="2500" b="1" dirty="0">
                <a:solidFill>
                  <a:schemeClr val="bg2"/>
                </a:solidFill>
              </a:rPr>
              <a:t>Measuring Capacity</a:t>
            </a:r>
            <a:endParaRPr lang="en-GB" dirty="0">
              <a:solidFill>
                <a:schemeClr val="bg2"/>
              </a:solidFill>
            </a:endParaRPr>
          </a:p>
        </p:txBody>
      </p:sp>
    </p:spTree>
    <p:extLst>
      <p:ext uri="{BB962C8B-B14F-4D97-AF65-F5344CB8AC3E}">
        <p14:creationId xmlns:p14="http://schemas.microsoft.com/office/powerpoint/2010/main" val="2249889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7DB7D41-AA47-882E-6F17-97B96D5015C6}"/>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18C4B3AB-649F-99A9-FE7E-9D38EB94EFE0}"/>
              </a:ext>
            </a:extLst>
          </p:cNvPr>
          <p:cNvSpPr txBox="1">
            <a:spLocks noGrp="1"/>
          </p:cNvSpPr>
          <p:nvPr>
            <p:ph type="title"/>
          </p:nvPr>
        </p:nvSpPr>
        <p:spPr>
          <a:xfrm>
            <a:off x="472434" y="101223"/>
            <a:ext cx="8520600" cy="572700"/>
          </a:xfrm>
        </p:spPr>
        <p:txBody>
          <a:bodyPr spcFirstLastPara="1" wrap="square" lIns="91425" tIns="91425" rIns="91425" bIns="91425" anchor="ctr" anchorCtr="0">
            <a:normAutofit/>
          </a:bodyPr>
          <a:lstStyle/>
          <a:p>
            <a:pPr algn="ctr"/>
            <a:r>
              <a:rPr lang="en-GB" sz="2500" b="1" dirty="0"/>
              <a:t>Measuring Capacity</a:t>
            </a:r>
          </a:p>
        </p:txBody>
      </p:sp>
      <p:sp>
        <p:nvSpPr>
          <p:cNvPr id="80" name="Google Shape;80;p16">
            <a:extLst>
              <a:ext uri="{FF2B5EF4-FFF2-40B4-BE49-F238E27FC236}">
                <a16:creationId xmlns:a16="http://schemas.microsoft.com/office/drawing/2014/main" id="{B0C2BAEF-DDCB-119C-F9B3-4BE84973F10D}"/>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14</a:t>
            </a:fld>
            <a:endParaRPr lang="en" sz="900"/>
          </a:p>
        </p:txBody>
      </p:sp>
      <p:sp>
        <p:nvSpPr>
          <p:cNvPr id="301" name="Eq card Effective capacity"/>
          <p:cNvSpPr txBox="1"/>
          <p:nvPr/>
        </p:nvSpPr>
        <p:spPr>
          <a:xfrm>
            <a:off x="365760" y="2240280"/>
            <a:ext cx="8412480" cy="105156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302" name="Eq name Effective capacity"/>
          <p:cNvSpPr txBox="1"/>
          <p:nvPr/>
        </p:nvSpPr>
        <p:spPr>
          <a:xfrm>
            <a:off x="548640" y="2240280"/>
            <a:ext cx="2606040" cy="1051560"/>
          </a:xfrm>
          <a:prstGeom prst="rect">
            <a:avLst/>
          </a:prstGeom>
          <a:noFill/>
          <a:ln>
            <a:noFill/>
          </a:ln>
        </p:spPr>
        <p:txBody>
          <a:bodyPr wrap="square" lIns="0" tIns="0" rIns="0" bIns="0" anchor="ctr">
            <a:noAutofit/>
          </a:bodyPr>
          <a:lstStyle/>
          <a:p>
            <a:pPr marL="0" indent="0" algn="l">
              <a:spcAft>
                <a:spcPts val="200"/>
              </a:spcAft>
              <a:buNone/>
            </a:pPr>
            <a:r>
              <a:rPr lang="en-GB" sz="1800" b="1" dirty="0">
                <a:solidFill>
                  <a:srgbClr val="440099"/>
                </a:solidFill>
                <a:latin typeface="Arial"/>
                <a:cs typeface="Arial"/>
              </a:rPr>
              <a:t>Effective capacity</a:t>
            </a:r>
          </a:p>
          <a:p>
            <a:pPr marL="0" indent="0" algn="l">
              <a:spcAft>
                <a:spcPts val="0"/>
              </a:spcAft>
              <a:buNone/>
            </a:pPr>
            <a:r>
              <a:rPr lang="en-GB" sz="1100" b="0" dirty="0">
                <a:solidFill>
                  <a:srgbClr val="5A5A5A"/>
                </a:solidFill>
                <a:latin typeface="Arial"/>
                <a:cs typeface="Arial"/>
              </a:rPr>
              <a:t>What the operation can realistically produce</a:t>
            </a:r>
          </a:p>
        </p:txBody>
      </p:sp>
      <p:sp>
        <p:nvSpPr>
          <p:cNvPr id="303" name="Eq equals Effective capacity"/>
          <p:cNvSpPr txBox="1"/>
          <p:nvPr/>
        </p:nvSpPr>
        <p:spPr>
          <a:xfrm>
            <a:off x="3154680" y="2240280"/>
            <a:ext cx="365760" cy="1051560"/>
          </a:xfrm>
          <a:prstGeom prst="rect">
            <a:avLst/>
          </a:prstGeom>
          <a:noFill/>
          <a:ln>
            <a:noFill/>
          </a:ln>
        </p:spPr>
        <p:txBody>
          <a:bodyPr wrap="square" lIns="0" tIns="0" rIns="0" bIns="0" anchor="ctr">
            <a:noAutofit/>
          </a:bodyPr>
          <a:lstStyle/>
          <a:p>
            <a:pPr marL="0" indent="0" algn="ctr">
              <a:spcAft>
                <a:spcPts val="0"/>
              </a:spcAft>
              <a:buNone/>
            </a:pPr>
            <a:r>
              <a:rPr lang="en-GB" sz="2000" b="0" dirty="0">
                <a:solidFill>
                  <a:srgbClr val="1A1A1A"/>
                </a:solidFill>
                <a:latin typeface="Arial"/>
                <a:cs typeface="Arial"/>
              </a:rPr>
              <a:t>=</a:t>
            </a:r>
          </a:p>
        </p:txBody>
      </p:sp>
      <p:sp>
        <p:nvSpPr>
          <p:cNvPr id="304" name="Eq expr"/>
          <p:cNvSpPr txBox="1"/>
          <p:nvPr/>
        </p:nvSpPr>
        <p:spPr>
          <a:xfrm>
            <a:off x="3566160" y="2240280"/>
            <a:ext cx="5120640" cy="1051560"/>
          </a:xfrm>
          <a:prstGeom prst="rect">
            <a:avLst/>
          </a:prstGeom>
          <a:noFill/>
          <a:ln>
            <a:noFill/>
          </a:ln>
        </p:spPr>
        <p:txBody>
          <a:bodyPr wrap="square" lIns="0" tIns="0" rIns="0" bIns="0" anchor="ctr">
            <a:noAutofit/>
          </a:bodyPr>
          <a:lstStyle/>
          <a:p>
            <a:pPr marL="0" indent="0" algn="l">
              <a:spcAft>
                <a:spcPts val="0"/>
              </a:spcAft>
              <a:buNone/>
            </a:pPr>
            <a:r>
              <a:rPr lang="en-GB" sz="1800" b="0" dirty="0">
                <a:solidFill>
                  <a:srgbClr val="1A1A1A"/>
                </a:solidFill>
                <a:latin typeface="Arial"/>
                <a:cs typeface="Arial"/>
              </a:rPr>
              <a:t>Design capacity  −  </a:t>
            </a:r>
            <a:r>
              <a:rPr lang="en-GB" sz="1800" b="1" dirty="0">
                <a:solidFill>
                  <a:srgbClr val="C2410C"/>
                </a:solidFill>
                <a:latin typeface="Arial"/>
                <a:cs typeface="Arial"/>
              </a:rPr>
              <a:t>Planned downtime</a:t>
            </a:r>
          </a:p>
        </p:txBody>
      </p:sp>
      <p:sp>
        <p:nvSpPr>
          <p:cNvPr id="305" name="Planned note"/>
          <p:cNvSpPr txBox="1"/>
          <p:nvPr/>
        </p:nvSpPr>
        <p:spPr>
          <a:xfrm>
            <a:off x="365760" y="3474720"/>
            <a:ext cx="8412480" cy="566928"/>
          </a:xfrm>
          <a:prstGeom prst="roundRect">
            <a:avLst>
              <a:gd name="adj" fmla="val 8000"/>
            </a:avLst>
          </a:prstGeom>
          <a:solidFill>
            <a:srgbClr val="FCE3D6"/>
          </a:solidFill>
          <a:ln>
            <a:noFill/>
          </a:ln>
        </p:spPr>
        <p:txBody>
          <a:bodyPr wrap="square" lIns="137160" tIns="137160" rIns="137160" bIns="137160" anchor="ctr">
            <a:noAutofit/>
          </a:bodyPr>
          <a:lstStyle/>
          <a:p>
            <a:pPr marL="0" indent="0" algn="l">
              <a:spcAft>
                <a:spcPts val="0"/>
              </a:spcAft>
              <a:buNone/>
            </a:pPr>
            <a:r>
              <a:rPr lang="en-GB" sz="1200" b="1" dirty="0">
                <a:solidFill>
                  <a:srgbClr val="C2410C"/>
                </a:solidFill>
                <a:latin typeface="Arial"/>
                <a:cs typeface="Arial"/>
              </a:rPr>
              <a:t>Planned downtime </a:t>
            </a:r>
            <a:r>
              <a:rPr lang="en-GB" sz="1200" b="0" dirty="0">
                <a:solidFill>
                  <a:srgbClr val="1A1A1A"/>
                </a:solidFill>
                <a:latin typeface="Arial"/>
                <a:cs typeface="Arial"/>
              </a:rPr>
              <a:t>is lost time you schedule in advance: maintenance, changeovers, breaks, quality checks and shift changes.</a:t>
            </a:r>
          </a:p>
        </p:txBody>
      </p:sp>
      <p:sp>
        <p:nvSpPr>
          <p:cNvPr id="3" name="Content Placeholder 2">
            <a:extLst>
              <a:ext uri="{FF2B5EF4-FFF2-40B4-BE49-F238E27FC236}">
                <a16:creationId xmlns:a16="http://schemas.microsoft.com/office/drawing/2014/main" id="{19BB7A22-59F9-A211-ECAA-CE72115799AC}"/>
              </a:ext>
            </a:extLst>
          </p:cNvPr>
          <p:cNvSpPr txBox="1">
            <a:spLocks/>
          </p:cNvSpPr>
          <p:nvPr/>
        </p:nvSpPr>
        <p:spPr>
          <a:xfrm>
            <a:off x="150966" y="1101256"/>
            <a:ext cx="8948057" cy="130000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GB" sz="2400" b="1" dirty="0"/>
              <a:t>Effective capacity: </a:t>
            </a:r>
            <a:r>
              <a:rPr lang="en-GB" sz="2400" dirty="0"/>
              <a:t>realistic capacity after allowing for things like downtime, maintenance, breaks and changeovers.</a:t>
            </a:r>
            <a:endParaRPr lang="en-GB" sz="2400" b="1" dirty="0"/>
          </a:p>
        </p:txBody>
      </p:sp>
    </p:spTree>
    <p:extLst>
      <p:ext uri="{BB962C8B-B14F-4D97-AF65-F5344CB8AC3E}">
        <p14:creationId xmlns:p14="http://schemas.microsoft.com/office/powerpoint/2010/main" val="582038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3F27E54E-707D-60B0-B843-3ADDF17635A6}"/>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D2A9394F-C95C-4198-AED1-0C3E528018D0}"/>
              </a:ext>
            </a:extLst>
          </p:cNvPr>
          <p:cNvSpPr txBox="1">
            <a:spLocks noGrp="1"/>
          </p:cNvSpPr>
          <p:nvPr>
            <p:ph type="title"/>
          </p:nvPr>
        </p:nvSpPr>
        <p:spPr>
          <a:xfrm>
            <a:off x="472434" y="101223"/>
            <a:ext cx="8520600" cy="572700"/>
          </a:xfrm>
        </p:spPr>
        <p:txBody>
          <a:bodyPr spcFirstLastPara="1" wrap="square" lIns="91425" tIns="91425" rIns="91425" bIns="91425" anchor="ctr" anchorCtr="0">
            <a:normAutofit/>
          </a:bodyPr>
          <a:lstStyle/>
          <a:p>
            <a:pPr algn="ctr"/>
            <a:r>
              <a:rPr lang="en-GB" sz="2500" b="1" dirty="0"/>
              <a:t>Measuring Capacity</a:t>
            </a:r>
          </a:p>
        </p:txBody>
      </p:sp>
      <p:sp>
        <p:nvSpPr>
          <p:cNvPr id="80" name="Google Shape;80;p16">
            <a:extLst>
              <a:ext uri="{FF2B5EF4-FFF2-40B4-BE49-F238E27FC236}">
                <a16:creationId xmlns:a16="http://schemas.microsoft.com/office/drawing/2014/main" id="{9A7BA284-90F4-7D59-98F9-367ABBC3EAE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15</a:t>
            </a:fld>
            <a:endParaRPr lang="en" sz="900"/>
          </a:p>
        </p:txBody>
      </p:sp>
      <p:sp>
        <p:nvSpPr>
          <p:cNvPr id="306" name="Eq card Achieved capacity"/>
          <p:cNvSpPr txBox="1"/>
          <p:nvPr/>
        </p:nvSpPr>
        <p:spPr>
          <a:xfrm>
            <a:off x="365760" y="1051560"/>
            <a:ext cx="8412480" cy="77724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307" name="Eq name Achieved capacity"/>
          <p:cNvSpPr txBox="1"/>
          <p:nvPr/>
        </p:nvSpPr>
        <p:spPr>
          <a:xfrm>
            <a:off x="548640" y="1051560"/>
            <a:ext cx="2606040" cy="777240"/>
          </a:xfrm>
          <a:prstGeom prst="rect">
            <a:avLst/>
          </a:prstGeom>
          <a:noFill/>
          <a:ln>
            <a:noFill/>
          </a:ln>
        </p:spPr>
        <p:txBody>
          <a:bodyPr wrap="square" lIns="0" tIns="0" rIns="0" bIns="0" anchor="ctr">
            <a:noAutofit/>
          </a:bodyPr>
          <a:lstStyle/>
          <a:p>
            <a:pPr marL="0" indent="0" algn="l">
              <a:spcAft>
                <a:spcPts val="200"/>
              </a:spcAft>
              <a:buNone/>
            </a:pPr>
            <a:r>
              <a:rPr lang="en-GB" sz="1800" b="1" dirty="0">
                <a:solidFill>
                  <a:srgbClr val="440099"/>
                </a:solidFill>
                <a:latin typeface="Arial"/>
                <a:cs typeface="Arial"/>
              </a:rPr>
              <a:t>Achieved capacity</a:t>
            </a:r>
          </a:p>
          <a:p>
            <a:pPr marL="0" indent="0" algn="l">
              <a:spcAft>
                <a:spcPts val="0"/>
              </a:spcAft>
              <a:buNone/>
            </a:pPr>
            <a:r>
              <a:rPr lang="en-GB" sz="1100" b="0" dirty="0">
                <a:solidFill>
                  <a:srgbClr val="5A5A5A"/>
                </a:solidFill>
                <a:latin typeface="Arial"/>
                <a:cs typeface="Arial"/>
              </a:rPr>
              <a:t>What is actually produced</a:t>
            </a:r>
          </a:p>
        </p:txBody>
      </p:sp>
      <p:sp>
        <p:nvSpPr>
          <p:cNvPr id="308" name="Eq equals Achieved capacity"/>
          <p:cNvSpPr txBox="1"/>
          <p:nvPr/>
        </p:nvSpPr>
        <p:spPr>
          <a:xfrm>
            <a:off x="3154680" y="1051560"/>
            <a:ext cx="365760" cy="777240"/>
          </a:xfrm>
          <a:prstGeom prst="rect">
            <a:avLst/>
          </a:prstGeom>
          <a:noFill/>
          <a:ln>
            <a:noFill/>
          </a:ln>
        </p:spPr>
        <p:txBody>
          <a:bodyPr wrap="square" lIns="0" tIns="0" rIns="0" bIns="0" anchor="ctr">
            <a:noAutofit/>
          </a:bodyPr>
          <a:lstStyle/>
          <a:p>
            <a:pPr marL="0" indent="0" algn="ctr">
              <a:spcAft>
                <a:spcPts val="0"/>
              </a:spcAft>
              <a:buNone/>
            </a:pPr>
            <a:r>
              <a:rPr lang="en-GB" sz="2000" b="0" dirty="0">
                <a:solidFill>
                  <a:srgbClr val="1A1A1A"/>
                </a:solidFill>
                <a:latin typeface="Arial"/>
                <a:cs typeface="Arial"/>
              </a:rPr>
              <a:t>=</a:t>
            </a:r>
          </a:p>
        </p:txBody>
      </p:sp>
      <p:sp>
        <p:nvSpPr>
          <p:cNvPr id="309" name="Eq expr"/>
          <p:cNvSpPr txBox="1"/>
          <p:nvPr/>
        </p:nvSpPr>
        <p:spPr>
          <a:xfrm>
            <a:off x="3566160" y="1051560"/>
            <a:ext cx="5120640" cy="777240"/>
          </a:xfrm>
          <a:prstGeom prst="rect">
            <a:avLst/>
          </a:prstGeom>
          <a:noFill/>
          <a:ln>
            <a:noFill/>
          </a:ln>
        </p:spPr>
        <p:txBody>
          <a:bodyPr wrap="square" lIns="0" tIns="0" rIns="0" bIns="0" anchor="ctr">
            <a:noAutofit/>
          </a:bodyPr>
          <a:lstStyle/>
          <a:p>
            <a:pPr marL="0" indent="0" algn="l">
              <a:spcAft>
                <a:spcPts val="0"/>
              </a:spcAft>
              <a:buNone/>
            </a:pPr>
            <a:r>
              <a:rPr lang="en-GB" sz="1800" b="0" dirty="0">
                <a:solidFill>
                  <a:srgbClr val="1A1A1A"/>
                </a:solidFill>
                <a:latin typeface="Arial"/>
                <a:cs typeface="Arial"/>
              </a:rPr>
              <a:t>Effective capacity  −  </a:t>
            </a:r>
            <a:r>
              <a:rPr lang="en-GB" sz="1800" b="1" dirty="0">
                <a:solidFill>
                  <a:srgbClr val="C2410C"/>
                </a:solidFill>
                <a:latin typeface="Arial"/>
                <a:cs typeface="Arial"/>
              </a:rPr>
              <a:t>Avoidable downtime</a:t>
            </a:r>
          </a:p>
        </p:txBody>
      </p:sp>
      <p:sp>
        <p:nvSpPr>
          <p:cNvPr id="310" name="Eq card Utilisation"/>
          <p:cNvSpPr txBox="1"/>
          <p:nvPr/>
        </p:nvSpPr>
        <p:spPr>
          <a:xfrm>
            <a:off x="365760" y="1965960"/>
            <a:ext cx="8412480" cy="114300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311" name="Eq name Utilisation"/>
          <p:cNvSpPr txBox="1"/>
          <p:nvPr/>
        </p:nvSpPr>
        <p:spPr>
          <a:xfrm>
            <a:off x="548640" y="1965960"/>
            <a:ext cx="2606040" cy="1143000"/>
          </a:xfrm>
          <a:prstGeom prst="rect">
            <a:avLst/>
          </a:prstGeom>
          <a:noFill/>
          <a:ln>
            <a:noFill/>
          </a:ln>
        </p:spPr>
        <p:txBody>
          <a:bodyPr wrap="square" lIns="0" tIns="0" rIns="0" bIns="0" anchor="ctr">
            <a:noAutofit/>
          </a:bodyPr>
          <a:lstStyle/>
          <a:p>
            <a:pPr marL="0" indent="0" algn="l">
              <a:spcAft>
                <a:spcPts val="200"/>
              </a:spcAft>
              <a:buNone/>
            </a:pPr>
            <a:r>
              <a:rPr lang="en-GB" sz="1800" b="1" dirty="0">
                <a:solidFill>
                  <a:srgbClr val="440099"/>
                </a:solidFill>
                <a:latin typeface="Arial"/>
                <a:cs typeface="Arial"/>
              </a:rPr>
              <a:t>Utilisation</a:t>
            </a:r>
          </a:p>
          <a:p>
            <a:pPr marL="0" indent="0" algn="l">
              <a:spcAft>
                <a:spcPts val="0"/>
              </a:spcAft>
              <a:buNone/>
            </a:pPr>
            <a:r>
              <a:rPr lang="en-GB" sz="1100" b="0" dirty="0">
                <a:solidFill>
                  <a:srgbClr val="5A5A5A"/>
                </a:solidFill>
                <a:latin typeface="Arial"/>
                <a:cs typeface="Arial"/>
              </a:rPr>
              <a:t>Share of the theoretical maximum that is used</a:t>
            </a:r>
          </a:p>
        </p:txBody>
      </p:sp>
      <p:sp>
        <p:nvSpPr>
          <p:cNvPr id="312" name="Eq equals Utilisation"/>
          <p:cNvSpPr txBox="1"/>
          <p:nvPr/>
        </p:nvSpPr>
        <p:spPr>
          <a:xfrm>
            <a:off x="3154680" y="1965960"/>
            <a:ext cx="365760" cy="1143000"/>
          </a:xfrm>
          <a:prstGeom prst="rect">
            <a:avLst/>
          </a:prstGeom>
          <a:noFill/>
          <a:ln>
            <a:noFill/>
          </a:ln>
        </p:spPr>
        <p:txBody>
          <a:bodyPr wrap="square" lIns="0" tIns="0" rIns="0" bIns="0" anchor="ctr">
            <a:noAutofit/>
          </a:bodyPr>
          <a:lstStyle/>
          <a:p>
            <a:pPr marL="0" indent="0" algn="ctr">
              <a:spcAft>
                <a:spcPts val="0"/>
              </a:spcAft>
              <a:buNone/>
            </a:pPr>
            <a:r>
              <a:rPr lang="en-GB" sz="2000" b="0" dirty="0">
                <a:solidFill>
                  <a:srgbClr val="1A1A1A"/>
                </a:solidFill>
                <a:latin typeface="Arial"/>
                <a:cs typeface="Arial"/>
              </a:rPr>
              <a:t>=</a:t>
            </a:r>
          </a:p>
        </p:txBody>
      </p:sp>
      <p:sp>
        <p:nvSpPr>
          <p:cNvPr id="313" name="Num u"/>
          <p:cNvSpPr txBox="1"/>
          <p:nvPr/>
        </p:nvSpPr>
        <p:spPr>
          <a:xfrm>
            <a:off x="3611880" y="2153412"/>
            <a:ext cx="3017520" cy="347472"/>
          </a:xfrm>
          <a:prstGeom prst="rect">
            <a:avLst/>
          </a:prstGeom>
          <a:noFill/>
          <a:ln>
            <a:noFill/>
          </a:ln>
        </p:spPr>
        <p:txBody>
          <a:bodyPr wrap="square" lIns="0" tIns="0" rIns="0" bIns="0" anchor="b">
            <a:noAutofit/>
          </a:bodyPr>
          <a:lstStyle/>
          <a:p>
            <a:pPr marL="0" indent="0" algn="ctr">
              <a:spcAft>
                <a:spcPts val="0"/>
              </a:spcAft>
              <a:buNone/>
            </a:pPr>
            <a:r>
              <a:rPr lang="en-GB" sz="1800" b="0" dirty="0">
                <a:solidFill>
                  <a:srgbClr val="1A1A1A"/>
                </a:solidFill>
                <a:latin typeface="Arial"/>
                <a:cs typeface="Arial"/>
              </a:rPr>
              <a:t>Achieved capacity</a:t>
            </a:r>
          </a:p>
        </p:txBody>
      </p:sp>
      <p:sp>
        <p:nvSpPr>
          <p:cNvPr id="314" name="Bar u"/>
          <p:cNvSpPr txBox="1"/>
          <p:nvPr/>
        </p:nvSpPr>
        <p:spPr>
          <a:xfrm>
            <a:off x="3611880" y="2526487"/>
            <a:ext cx="3017520" cy="21946"/>
          </a:xfrm>
          <a:prstGeom prst="rect">
            <a:avLst/>
          </a:prstGeom>
          <a:solidFill>
            <a:srgbClr val="1A1A1A"/>
          </a:solidFill>
          <a:ln>
            <a:noFill/>
          </a:ln>
        </p:spPr>
        <p:txBody>
          <a:bodyPr wrap="square" lIns="0" tIns="0" rIns="0" bIns="0" anchor="t">
            <a:noAutofit/>
          </a:bodyPr>
          <a:lstStyle/>
          <a:p>
            <a:pPr marL="0" indent="0" algn="l">
              <a:spcAft>
                <a:spcPts val="0"/>
              </a:spcAft>
              <a:buNone/>
            </a:pPr>
            <a:endParaRPr/>
          </a:p>
        </p:txBody>
      </p:sp>
      <p:sp>
        <p:nvSpPr>
          <p:cNvPr id="315" name="Den u"/>
          <p:cNvSpPr txBox="1"/>
          <p:nvPr/>
        </p:nvSpPr>
        <p:spPr>
          <a:xfrm>
            <a:off x="3611880" y="2574036"/>
            <a:ext cx="3017520" cy="347472"/>
          </a:xfrm>
          <a:prstGeom prst="rect">
            <a:avLst/>
          </a:prstGeom>
          <a:noFill/>
          <a:ln>
            <a:noFill/>
          </a:ln>
        </p:spPr>
        <p:txBody>
          <a:bodyPr wrap="square" lIns="0" tIns="0" rIns="0" bIns="0" anchor="t">
            <a:noAutofit/>
          </a:bodyPr>
          <a:lstStyle/>
          <a:p>
            <a:pPr marL="0" indent="0" algn="ctr">
              <a:spcAft>
                <a:spcPts val="0"/>
              </a:spcAft>
              <a:buNone/>
            </a:pPr>
            <a:r>
              <a:rPr lang="en-GB" sz="1800" b="0" dirty="0">
                <a:solidFill>
                  <a:srgbClr val="1A1A1A"/>
                </a:solidFill>
                <a:latin typeface="Arial"/>
                <a:cs typeface="Arial"/>
              </a:rPr>
              <a:t>Design capacity</a:t>
            </a:r>
          </a:p>
        </p:txBody>
      </p:sp>
      <p:sp>
        <p:nvSpPr>
          <p:cNvPr id="316" name="Times u"/>
          <p:cNvSpPr txBox="1"/>
          <p:nvPr/>
        </p:nvSpPr>
        <p:spPr>
          <a:xfrm>
            <a:off x="6720840" y="2354580"/>
            <a:ext cx="1097280" cy="365760"/>
          </a:xfrm>
          <a:prstGeom prst="rect">
            <a:avLst/>
          </a:prstGeom>
          <a:noFill/>
          <a:ln>
            <a:noFill/>
          </a:ln>
        </p:spPr>
        <p:txBody>
          <a:bodyPr wrap="square" lIns="0" tIns="0" rIns="0" bIns="0" anchor="ctr">
            <a:noAutofit/>
          </a:bodyPr>
          <a:lstStyle/>
          <a:p>
            <a:pPr marL="0" indent="0" algn="l">
              <a:spcAft>
                <a:spcPts val="0"/>
              </a:spcAft>
              <a:buNone/>
            </a:pPr>
            <a:r>
              <a:rPr lang="en-GB" sz="1800" b="0" dirty="0">
                <a:solidFill>
                  <a:srgbClr val="1A1A1A"/>
                </a:solidFill>
                <a:latin typeface="Arial"/>
                <a:cs typeface="Arial"/>
              </a:rPr>
              <a:t>× 100%</a:t>
            </a:r>
          </a:p>
        </p:txBody>
      </p:sp>
      <p:sp>
        <p:nvSpPr>
          <p:cNvPr id="317" name="Eq card Efficiency"/>
          <p:cNvSpPr txBox="1"/>
          <p:nvPr/>
        </p:nvSpPr>
        <p:spPr>
          <a:xfrm>
            <a:off x="365760" y="3246120"/>
            <a:ext cx="8412480" cy="114300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318" name="Eq name Efficiency"/>
          <p:cNvSpPr txBox="1"/>
          <p:nvPr/>
        </p:nvSpPr>
        <p:spPr>
          <a:xfrm>
            <a:off x="548640" y="3246120"/>
            <a:ext cx="2606040" cy="1143000"/>
          </a:xfrm>
          <a:prstGeom prst="rect">
            <a:avLst/>
          </a:prstGeom>
          <a:noFill/>
          <a:ln>
            <a:noFill/>
          </a:ln>
        </p:spPr>
        <p:txBody>
          <a:bodyPr wrap="square" lIns="0" tIns="0" rIns="0" bIns="0" anchor="ctr">
            <a:noAutofit/>
          </a:bodyPr>
          <a:lstStyle/>
          <a:p>
            <a:pPr marL="0" indent="0" algn="l">
              <a:spcAft>
                <a:spcPts val="200"/>
              </a:spcAft>
              <a:buNone/>
            </a:pPr>
            <a:r>
              <a:rPr lang="en-GB" sz="1800" b="1" dirty="0">
                <a:solidFill>
                  <a:srgbClr val="440099"/>
                </a:solidFill>
                <a:latin typeface="Arial"/>
                <a:cs typeface="Arial"/>
              </a:rPr>
              <a:t>Efficiency</a:t>
            </a:r>
          </a:p>
          <a:p>
            <a:pPr marL="0" indent="0" algn="l">
              <a:spcAft>
                <a:spcPts val="0"/>
              </a:spcAft>
              <a:buNone/>
            </a:pPr>
            <a:r>
              <a:rPr lang="en-GB" sz="1100" b="0" dirty="0">
                <a:solidFill>
                  <a:srgbClr val="5A5A5A"/>
                </a:solidFill>
                <a:latin typeface="Arial"/>
                <a:cs typeface="Arial"/>
              </a:rPr>
              <a:t>Performance against what is realistically possible</a:t>
            </a:r>
          </a:p>
        </p:txBody>
      </p:sp>
      <p:sp>
        <p:nvSpPr>
          <p:cNvPr id="319" name="Eq equals Efficiency"/>
          <p:cNvSpPr txBox="1"/>
          <p:nvPr/>
        </p:nvSpPr>
        <p:spPr>
          <a:xfrm>
            <a:off x="3154680" y="3246120"/>
            <a:ext cx="365760" cy="1143000"/>
          </a:xfrm>
          <a:prstGeom prst="rect">
            <a:avLst/>
          </a:prstGeom>
          <a:noFill/>
          <a:ln>
            <a:noFill/>
          </a:ln>
        </p:spPr>
        <p:txBody>
          <a:bodyPr wrap="square" lIns="0" tIns="0" rIns="0" bIns="0" anchor="ctr">
            <a:noAutofit/>
          </a:bodyPr>
          <a:lstStyle/>
          <a:p>
            <a:pPr marL="0" indent="0" algn="ctr">
              <a:spcAft>
                <a:spcPts val="0"/>
              </a:spcAft>
              <a:buNone/>
            </a:pPr>
            <a:r>
              <a:rPr lang="en-GB" sz="2000" b="0" dirty="0">
                <a:solidFill>
                  <a:srgbClr val="1A1A1A"/>
                </a:solidFill>
                <a:latin typeface="Arial"/>
                <a:cs typeface="Arial"/>
              </a:rPr>
              <a:t>=</a:t>
            </a:r>
          </a:p>
        </p:txBody>
      </p:sp>
      <p:sp>
        <p:nvSpPr>
          <p:cNvPr id="320" name="Num e"/>
          <p:cNvSpPr txBox="1"/>
          <p:nvPr/>
        </p:nvSpPr>
        <p:spPr>
          <a:xfrm>
            <a:off x="3611880" y="3433572"/>
            <a:ext cx="3017520" cy="347472"/>
          </a:xfrm>
          <a:prstGeom prst="rect">
            <a:avLst/>
          </a:prstGeom>
          <a:noFill/>
          <a:ln>
            <a:noFill/>
          </a:ln>
        </p:spPr>
        <p:txBody>
          <a:bodyPr wrap="square" lIns="0" tIns="0" rIns="0" bIns="0" anchor="b">
            <a:noAutofit/>
          </a:bodyPr>
          <a:lstStyle/>
          <a:p>
            <a:pPr marL="0" indent="0" algn="ctr">
              <a:spcAft>
                <a:spcPts val="0"/>
              </a:spcAft>
              <a:buNone/>
            </a:pPr>
            <a:r>
              <a:rPr lang="en-GB" sz="1800" b="0" dirty="0">
                <a:solidFill>
                  <a:srgbClr val="1A1A1A"/>
                </a:solidFill>
                <a:latin typeface="Arial"/>
                <a:cs typeface="Arial"/>
              </a:rPr>
              <a:t>Achieved capacity</a:t>
            </a:r>
          </a:p>
        </p:txBody>
      </p:sp>
      <p:sp>
        <p:nvSpPr>
          <p:cNvPr id="321" name="Bar e"/>
          <p:cNvSpPr txBox="1"/>
          <p:nvPr/>
        </p:nvSpPr>
        <p:spPr>
          <a:xfrm>
            <a:off x="3611880" y="3806647"/>
            <a:ext cx="3017520" cy="21946"/>
          </a:xfrm>
          <a:prstGeom prst="rect">
            <a:avLst/>
          </a:prstGeom>
          <a:solidFill>
            <a:srgbClr val="1A1A1A"/>
          </a:solidFill>
          <a:ln>
            <a:noFill/>
          </a:ln>
        </p:spPr>
        <p:txBody>
          <a:bodyPr wrap="square" lIns="0" tIns="0" rIns="0" bIns="0" anchor="t">
            <a:noAutofit/>
          </a:bodyPr>
          <a:lstStyle/>
          <a:p>
            <a:pPr marL="0" indent="0" algn="l">
              <a:spcAft>
                <a:spcPts val="0"/>
              </a:spcAft>
              <a:buNone/>
            </a:pPr>
            <a:endParaRPr/>
          </a:p>
        </p:txBody>
      </p:sp>
      <p:sp>
        <p:nvSpPr>
          <p:cNvPr id="322" name="Den e"/>
          <p:cNvSpPr txBox="1"/>
          <p:nvPr/>
        </p:nvSpPr>
        <p:spPr>
          <a:xfrm>
            <a:off x="3611880" y="3854196"/>
            <a:ext cx="3017520" cy="347472"/>
          </a:xfrm>
          <a:prstGeom prst="rect">
            <a:avLst/>
          </a:prstGeom>
          <a:noFill/>
          <a:ln>
            <a:noFill/>
          </a:ln>
        </p:spPr>
        <p:txBody>
          <a:bodyPr wrap="square" lIns="0" tIns="0" rIns="0" bIns="0" anchor="t">
            <a:noAutofit/>
          </a:bodyPr>
          <a:lstStyle/>
          <a:p>
            <a:pPr marL="0" indent="0" algn="ctr">
              <a:spcAft>
                <a:spcPts val="0"/>
              </a:spcAft>
              <a:buNone/>
            </a:pPr>
            <a:r>
              <a:rPr lang="en-GB" sz="1800" b="0" dirty="0">
                <a:solidFill>
                  <a:srgbClr val="1A1A1A"/>
                </a:solidFill>
                <a:latin typeface="Arial"/>
                <a:cs typeface="Arial"/>
              </a:rPr>
              <a:t>Effective capacity</a:t>
            </a:r>
          </a:p>
        </p:txBody>
      </p:sp>
      <p:sp>
        <p:nvSpPr>
          <p:cNvPr id="323" name="Times e"/>
          <p:cNvSpPr txBox="1"/>
          <p:nvPr/>
        </p:nvSpPr>
        <p:spPr>
          <a:xfrm>
            <a:off x="6720840" y="3634740"/>
            <a:ext cx="1097280" cy="365760"/>
          </a:xfrm>
          <a:prstGeom prst="rect">
            <a:avLst/>
          </a:prstGeom>
          <a:noFill/>
          <a:ln>
            <a:noFill/>
          </a:ln>
        </p:spPr>
        <p:txBody>
          <a:bodyPr wrap="square" lIns="0" tIns="0" rIns="0" bIns="0" anchor="ctr">
            <a:noAutofit/>
          </a:bodyPr>
          <a:lstStyle/>
          <a:p>
            <a:pPr marL="0" indent="0" algn="l">
              <a:spcAft>
                <a:spcPts val="0"/>
              </a:spcAft>
              <a:buNone/>
            </a:pPr>
            <a:r>
              <a:rPr lang="en-GB" sz="1800" b="0" dirty="0">
                <a:solidFill>
                  <a:srgbClr val="1A1A1A"/>
                </a:solidFill>
                <a:latin typeface="Arial"/>
                <a:cs typeface="Arial"/>
              </a:rPr>
              <a:t>× 100%</a:t>
            </a:r>
          </a:p>
        </p:txBody>
      </p:sp>
    </p:spTree>
    <p:extLst>
      <p:ext uri="{BB962C8B-B14F-4D97-AF65-F5344CB8AC3E}">
        <p14:creationId xmlns:p14="http://schemas.microsoft.com/office/powerpoint/2010/main" val="1474667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620A666-91F9-4605-7B8D-2A697B2C53B3}"/>
            </a:ext>
          </a:extLst>
        </p:cNvPr>
        <p:cNvGrpSpPr/>
        <p:nvPr/>
      </p:nvGrpSpPr>
      <p:grpSpPr>
        <a:xfrm>
          <a:off x="0" y="0"/>
          <a:ext cx="0" cy="0"/>
          <a:chOff x="0" y="0"/>
          <a:chExt cx="0" cy="0"/>
        </a:xfrm>
      </p:grpSpPr>
      <p:sp>
        <p:nvSpPr>
          <p:cNvPr id="80" name="Google Shape;80;p16">
            <a:extLst>
              <a:ext uri="{FF2B5EF4-FFF2-40B4-BE49-F238E27FC236}">
                <a16:creationId xmlns:a16="http://schemas.microsoft.com/office/drawing/2014/main" id="{53921404-F049-4988-8F57-1473DA76A4D4}"/>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16</a:t>
            </a:fld>
            <a:endParaRPr lang="en" sz="900"/>
          </a:p>
        </p:txBody>
      </p:sp>
      <p:pic>
        <p:nvPicPr>
          <p:cNvPr id="6" name="Picture 5" descr="Flowchart diagram illustrating types of capacity and their measurement in a production context. It shows design capacity leading to effective capacity (accounting for planned downtime) and then to achieved capacity (accounting for avoidable downtime), with formulas for efficiency (achieved capacity divided by effective capacity) and utilization (achieved capacity divided by design capacity) highlighted in blue and green boxes.">
            <a:extLst>
              <a:ext uri="{FF2B5EF4-FFF2-40B4-BE49-F238E27FC236}">
                <a16:creationId xmlns:a16="http://schemas.microsoft.com/office/drawing/2014/main" id="{294BE805-5A0D-8F6E-06F3-F82B1F56A0E4}"/>
              </a:ext>
            </a:extLst>
          </p:cNvPr>
          <p:cNvPicPr>
            <a:picLocks noChangeAspect="1"/>
          </p:cNvPicPr>
          <p:nvPr/>
        </p:nvPicPr>
        <p:blipFill>
          <a:blip r:embed="rId3"/>
          <a:stretch>
            <a:fillRect/>
          </a:stretch>
        </p:blipFill>
        <p:spPr>
          <a:xfrm>
            <a:off x="2502427" y="216173"/>
            <a:ext cx="6641573" cy="4529553"/>
          </a:xfrm>
          <a:prstGeom prst="rect">
            <a:avLst/>
          </a:prstGeom>
        </p:spPr>
      </p:pic>
    </p:spTree>
    <p:extLst>
      <p:ext uri="{BB962C8B-B14F-4D97-AF65-F5344CB8AC3E}">
        <p14:creationId xmlns:p14="http://schemas.microsoft.com/office/powerpoint/2010/main" val="527285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7DB7D41-AA47-882E-6F17-97B96D5015C6}"/>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18C4B3AB-649F-99A9-FE7E-9D38EB94EFE0}"/>
              </a:ext>
            </a:extLst>
          </p:cNvPr>
          <p:cNvSpPr txBox="1">
            <a:spLocks noGrp="1"/>
          </p:cNvSpPr>
          <p:nvPr>
            <p:ph type="title"/>
          </p:nvPr>
        </p:nvSpPr>
        <p:spPr>
          <a:xfrm>
            <a:off x="472434" y="101223"/>
            <a:ext cx="8520600" cy="572700"/>
          </a:xfrm>
        </p:spPr>
        <p:txBody>
          <a:bodyPr spcFirstLastPara="1" wrap="square" lIns="91425" tIns="91425" rIns="91425" bIns="91425" anchor="ctr" anchorCtr="0">
            <a:normAutofit/>
          </a:bodyPr>
          <a:lstStyle/>
          <a:p>
            <a:pPr algn="ctr"/>
            <a:r>
              <a:rPr lang="en-GB" sz="2500" b="1" dirty="0"/>
              <a:t>Measuring Capacity: Example</a:t>
            </a:r>
          </a:p>
        </p:txBody>
      </p:sp>
      <p:sp>
        <p:nvSpPr>
          <p:cNvPr id="80" name="Google Shape;80;p16">
            <a:extLst>
              <a:ext uri="{FF2B5EF4-FFF2-40B4-BE49-F238E27FC236}">
                <a16:creationId xmlns:a16="http://schemas.microsoft.com/office/drawing/2014/main" id="{B0C2BAEF-DDCB-119C-F9B3-4BE84973F10D}"/>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17</a:t>
            </a:fld>
            <a:endParaRPr lang="en" sz="900"/>
          </a:p>
        </p:txBody>
      </p:sp>
      <p:sp>
        <p:nvSpPr>
          <p:cNvPr id="3" name="Content Placeholder 2">
            <a:extLst>
              <a:ext uri="{FF2B5EF4-FFF2-40B4-BE49-F238E27FC236}">
                <a16:creationId xmlns:a16="http://schemas.microsoft.com/office/drawing/2014/main" id="{19BB7A22-59F9-A211-ECAA-CE72115799AC}"/>
              </a:ext>
            </a:extLst>
          </p:cNvPr>
          <p:cNvSpPr txBox="1">
            <a:spLocks/>
          </p:cNvSpPr>
          <p:nvPr/>
        </p:nvSpPr>
        <p:spPr>
          <a:xfrm>
            <a:off x="150966" y="1101256"/>
            <a:ext cx="8948057" cy="403807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indent="0">
              <a:spcAft>
                <a:spcPts val="1200"/>
              </a:spcAft>
              <a:buNone/>
            </a:pPr>
            <a:r>
              <a:rPr lang="en-GB" sz="2000" dirty="0"/>
              <a:t>A factory has a design capacity of 1,000 units per day. Planned downtime reduces its daily output capacity by 150 units, while avoidable downtime causes a further loss of 300 units per day.</a:t>
            </a:r>
          </a:p>
          <a:p>
            <a:pPr marL="0" indent="0">
              <a:spcAft>
                <a:spcPts val="600"/>
              </a:spcAft>
              <a:buNone/>
            </a:pPr>
            <a:r>
              <a:rPr lang="en-GB" sz="2000" b="1" dirty="0"/>
              <a:t>Calculate the factory’s:</a:t>
            </a:r>
          </a:p>
          <a:p>
            <a:pPr marL="457200" indent="-342900">
              <a:spcAft>
                <a:spcPts val="300"/>
              </a:spcAft>
              <a:buFont typeface="Arial"/>
              <a:buAutoNum type="arabicPeriod"/>
            </a:pPr>
            <a:r>
              <a:rPr lang="en-GB" sz="2000" dirty="0"/>
              <a:t>Effective capacity.</a:t>
            </a:r>
          </a:p>
          <a:p>
            <a:pPr marL="457200" indent="-342900">
              <a:spcAft>
                <a:spcPts val="300"/>
              </a:spcAft>
              <a:buFont typeface="Arial"/>
              <a:buAutoNum type="arabicPeriod"/>
            </a:pPr>
            <a:r>
              <a:rPr lang="en-GB" sz="2000" dirty="0"/>
              <a:t>Achieved capacity (actual output).</a:t>
            </a:r>
          </a:p>
          <a:p>
            <a:pPr marL="457200" indent="-342900">
              <a:spcAft>
                <a:spcPts val="300"/>
              </a:spcAft>
              <a:buFont typeface="Arial"/>
              <a:buAutoNum type="arabicPeriod"/>
            </a:pPr>
            <a:r>
              <a:rPr lang="en-GB" sz="2000" dirty="0"/>
              <a:t>Capacity utilisation (%).</a:t>
            </a:r>
          </a:p>
          <a:p>
            <a:pPr marL="457200" indent="-342900">
              <a:spcAft>
                <a:spcPts val="300"/>
              </a:spcAft>
              <a:buFont typeface="Arial"/>
              <a:buAutoNum type="arabicPeriod"/>
            </a:pPr>
            <a:r>
              <a:rPr lang="en-GB" sz="2000" dirty="0"/>
              <a:t>Efficiency (%).</a:t>
            </a:r>
          </a:p>
        </p:txBody>
      </p:sp>
    </p:spTree>
    <p:extLst>
      <p:ext uri="{BB962C8B-B14F-4D97-AF65-F5344CB8AC3E}">
        <p14:creationId xmlns:p14="http://schemas.microsoft.com/office/powerpoint/2010/main" val="373419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a:bodyPr>
          <a:lstStyle/>
          <a:p>
            <a:r>
              <a:rPr lang="en-GB" sz="2500" b="1" dirty="0"/>
              <a:t>Solution: Capacity Measures</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18</a:t>
            </a:fld>
            <a:endParaRPr lang="en" sz="900"/>
          </a:p>
        </p:txBody>
      </p:sp>
      <p:sp>
        <p:nvSpPr>
          <p:cNvPr id="101" name="Given"/>
          <p:cNvSpPr txBox="1"/>
          <p:nvPr/>
        </p:nvSpPr>
        <p:spPr>
          <a:xfrm>
            <a:off x="365760" y="1078992"/>
            <a:ext cx="8412480" cy="384048"/>
          </a:xfrm>
          <a:prstGeom prst="roundRect">
            <a:avLst>
              <a:gd name="adj" fmla="val 8000"/>
            </a:avLst>
          </a:prstGeom>
          <a:solidFill>
            <a:srgbClr val="EDE6F7"/>
          </a:solidFill>
          <a:ln>
            <a:noFill/>
          </a:ln>
        </p:spPr>
        <p:txBody>
          <a:bodyPr wrap="square" lIns="109728" tIns="109728" rIns="109728" bIns="109728" anchor="ctr">
            <a:noAutofit/>
          </a:bodyPr>
          <a:lstStyle/>
          <a:p>
            <a:pPr marL="0" indent="0" algn="l">
              <a:spcAft>
                <a:spcPts val="0"/>
              </a:spcAft>
              <a:buNone/>
            </a:pPr>
            <a:r>
              <a:rPr lang="en-GB" sz="1150" b="1" dirty="0">
                <a:solidFill>
                  <a:srgbClr val="440099"/>
                </a:solidFill>
                <a:latin typeface="Arial"/>
                <a:cs typeface="Arial"/>
              </a:rPr>
              <a:t>Given:  </a:t>
            </a:r>
            <a:r>
              <a:rPr lang="en-GB" sz="1150" b="0" dirty="0">
                <a:solidFill>
                  <a:srgbClr val="1A1A1A"/>
                </a:solidFill>
                <a:latin typeface="Arial"/>
                <a:cs typeface="Arial"/>
              </a:rPr>
              <a:t>design capacity 1,000 units per day  •  planned losses 150 units  •  avoidable losses 300 units</a:t>
            </a:r>
          </a:p>
        </p:txBody>
      </p:sp>
      <p:sp>
        <p:nvSpPr>
          <p:cNvPr id="102" name="Design box"/>
          <p:cNvSpPr txBox="1"/>
          <p:nvPr/>
        </p:nvSpPr>
        <p:spPr>
          <a:xfrm>
            <a:off x="365760" y="1627632"/>
            <a:ext cx="2103120" cy="960120"/>
          </a:xfrm>
          <a:prstGeom prst="roundRect">
            <a:avLst>
              <a:gd name="adj" fmla="val 8000"/>
            </a:avLst>
          </a:prstGeom>
          <a:solidFill>
            <a:srgbClr val="FFFFFF"/>
          </a:solidFill>
          <a:ln w="9525">
            <a:solidFill>
              <a:srgbClr val="440099"/>
            </a:solidFill>
          </a:ln>
        </p:spPr>
        <p:txBody>
          <a:bodyPr wrap="square" lIns="73152" tIns="73152" rIns="73152" bIns="73152" anchor="ctr">
            <a:noAutofit/>
          </a:bodyPr>
          <a:lstStyle/>
          <a:p>
            <a:pPr marL="0" indent="0" algn="ctr">
              <a:spcAft>
                <a:spcPts val="200"/>
              </a:spcAft>
              <a:buNone/>
            </a:pPr>
            <a:r>
              <a:rPr lang="en-GB" sz="1100" b="1" dirty="0">
                <a:solidFill>
                  <a:srgbClr val="1A1A1A"/>
                </a:solidFill>
                <a:latin typeface="Arial"/>
                <a:cs typeface="Arial"/>
              </a:rPr>
              <a:t>Design capacity</a:t>
            </a:r>
          </a:p>
          <a:p>
            <a:pPr marL="0" indent="0" algn="ctr">
              <a:spcAft>
                <a:spcPts val="100"/>
              </a:spcAft>
              <a:buNone/>
            </a:pPr>
            <a:r>
              <a:rPr lang="en-GB" sz="2200" b="1" dirty="0">
                <a:solidFill>
                  <a:srgbClr val="440099"/>
                </a:solidFill>
                <a:latin typeface="Arial"/>
                <a:cs typeface="Arial"/>
              </a:rPr>
              <a:t>1,000</a:t>
            </a:r>
          </a:p>
          <a:p>
            <a:pPr marL="0" indent="0" algn="ctr">
              <a:spcAft>
                <a:spcPts val="0"/>
              </a:spcAft>
              <a:buNone/>
            </a:pPr>
            <a:r>
              <a:rPr lang="en-GB" sz="1000" b="0" dirty="0">
                <a:solidFill>
                  <a:srgbClr val="1A1A1A"/>
                </a:solidFill>
                <a:latin typeface="Arial"/>
                <a:cs typeface="Arial"/>
              </a:rPr>
              <a:t>Starting point</a:t>
            </a:r>
          </a:p>
        </p:txBody>
      </p:sp>
      <p:sp>
        <p:nvSpPr>
          <p:cNvPr id="103" name="Effective box"/>
          <p:cNvSpPr txBox="1"/>
          <p:nvPr/>
        </p:nvSpPr>
        <p:spPr>
          <a:xfrm>
            <a:off x="3520440" y="1627632"/>
            <a:ext cx="2103120" cy="960120"/>
          </a:xfrm>
          <a:prstGeom prst="roundRect">
            <a:avLst>
              <a:gd name="adj" fmla="val 8000"/>
            </a:avLst>
          </a:prstGeom>
          <a:solidFill>
            <a:srgbClr val="EDE6F7"/>
          </a:solidFill>
          <a:ln w="9525">
            <a:solidFill>
              <a:srgbClr val="440099"/>
            </a:solidFill>
          </a:ln>
        </p:spPr>
        <p:txBody>
          <a:bodyPr wrap="square" lIns="73152" tIns="73152" rIns="73152" bIns="73152" anchor="ctr">
            <a:noAutofit/>
          </a:bodyPr>
          <a:lstStyle/>
          <a:p>
            <a:pPr marL="0" indent="0" algn="ctr">
              <a:spcAft>
                <a:spcPts val="200"/>
              </a:spcAft>
              <a:buNone/>
            </a:pPr>
            <a:r>
              <a:rPr lang="en-GB" sz="1100" b="1" dirty="0">
                <a:solidFill>
                  <a:srgbClr val="1A1A1A"/>
                </a:solidFill>
                <a:latin typeface="Arial"/>
                <a:cs typeface="Arial"/>
              </a:rPr>
              <a:t>1. Effective capacity</a:t>
            </a:r>
          </a:p>
          <a:p>
            <a:pPr marL="0" indent="0" algn="ctr">
              <a:spcAft>
                <a:spcPts val="100"/>
              </a:spcAft>
              <a:buNone/>
            </a:pPr>
            <a:r>
              <a:rPr lang="en-GB" sz="2200" b="1" dirty="0">
                <a:solidFill>
                  <a:srgbClr val="440099"/>
                </a:solidFill>
                <a:latin typeface="Arial"/>
                <a:cs typeface="Arial"/>
              </a:rPr>
              <a:t>850</a:t>
            </a:r>
          </a:p>
          <a:p>
            <a:pPr marL="0" indent="0" algn="ctr">
              <a:spcAft>
                <a:spcPts val="0"/>
              </a:spcAft>
              <a:buNone/>
            </a:pPr>
            <a:r>
              <a:rPr lang="en-GB" sz="1000" b="0" dirty="0">
                <a:solidFill>
                  <a:srgbClr val="1A1A1A"/>
                </a:solidFill>
                <a:latin typeface="Arial"/>
                <a:cs typeface="Arial"/>
              </a:rPr>
              <a:t>1,000 − 150</a:t>
            </a:r>
          </a:p>
        </p:txBody>
      </p:sp>
      <p:sp>
        <p:nvSpPr>
          <p:cNvPr id="104" name="Achieved box"/>
          <p:cNvSpPr txBox="1"/>
          <p:nvPr/>
        </p:nvSpPr>
        <p:spPr>
          <a:xfrm>
            <a:off x="6675120" y="1627632"/>
            <a:ext cx="2103120" cy="960120"/>
          </a:xfrm>
          <a:prstGeom prst="roundRect">
            <a:avLst>
              <a:gd name="adj" fmla="val 8000"/>
            </a:avLst>
          </a:prstGeom>
          <a:solidFill>
            <a:srgbClr val="440099"/>
          </a:solidFill>
          <a:ln>
            <a:noFill/>
          </a:ln>
        </p:spPr>
        <p:txBody>
          <a:bodyPr wrap="square" lIns="73152" tIns="73152" rIns="73152" bIns="73152" anchor="ctr">
            <a:noAutofit/>
          </a:bodyPr>
          <a:lstStyle/>
          <a:p>
            <a:pPr marL="0" indent="0" algn="ctr">
              <a:spcAft>
                <a:spcPts val="200"/>
              </a:spcAft>
              <a:buNone/>
            </a:pPr>
            <a:r>
              <a:rPr lang="en-GB" sz="1100" b="1" dirty="0">
                <a:solidFill>
                  <a:srgbClr val="FFFFFF"/>
                </a:solidFill>
                <a:latin typeface="Arial"/>
                <a:cs typeface="Arial"/>
              </a:rPr>
              <a:t>2. Achieved capacity</a:t>
            </a:r>
          </a:p>
          <a:p>
            <a:pPr marL="0" indent="0" algn="ctr">
              <a:spcAft>
                <a:spcPts val="100"/>
              </a:spcAft>
              <a:buNone/>
            </a:pPr>
            <a:r>
              <a:rPr lang="en-GB" sz="2200" b="1" dirty="0">
                <a:solidFill>
                  <a:srgbClr val="FFFFFF"/>
                </a:solidFill>
                <a:latin typeface="Arial"/>
                <a:cs typeface="Arial"/>
              </a:rPr>
              <a:t>550</a:t>
            </a:r>
          </a:p>
          <a:p>
            <a:pPr marL="0" indent="0" algn="ctr">
              <a:spcAft>
                <a:spcPts val="0"/>
              </a:spcAft>
              <a:buNone/>
            </a:pPr>
            <a:r>
              <a:rPr lang="en-GB" sz="1000" b="0" dirty="0">
                <a:solidFill>
                  <a:srgbClr val="FFFFFF"/>
                </a:solidFill>
                <a:latin typeface="Arial"/>
                <a:cs typeface="Arial"/>
              </a:rPr>
              <a:t>850 − 300</a:t>
            </a:r>
          </a:p>
        </p:txBody>
      </p:sp>
      <p:sp>
        <p:nvSpPr>
          <p:cNvPr id="105" name="Arrow −150 planned"/>
          <p:cNvSpPr txBox="1"/>
          <p:nvPr/>
        </p:nvSpPr>
        <p:spPr>
          <a:xfrm>
            <a:off x="2514600" y="2011680"/>
            <a:ext cx="960120" cy="237744"/>
          </a:xfrm>
          <a:prstGeom prst="rightArrow">
            <a:avLst/>
          </a:prstGeom>
          <a:solidFill>
            <a:srgbClr val="9A90B0"/>
          </a:solidFill>
          <a:ln>
            <a:noFill/>
          </a:ln>
        </p:spPr>
        <p:txBody>
          <a:bodyPr wrap="square" lIns="0" tIns="0" rIns="0" bIns="0" anchor="t">
            <a:noAutofit/>
          </a:bodyPr>
          <a:lstStyle/>
          <a:p>
            <a:pPr marL="0" indent="0" algn="l">
              <a:spcAft>
                <a:spcPts val="0"/>
              </a:spcAft>
              <a:buNone/>
            </a:pPr>
            <a:endParaRPr/>
          </a:p>
        </p:txBody>
      </p:sp>
      <p:sp>
        <p:nvSpPr>
          <p:cNvPr id="106" name="Arrow label −150 planned"/>
          <p:cNvSpPr txBox="1"/>
          <p:nvPr/>
        </p:nvSpPr>
        <p:spPr>
          <a:xfrm>
            <a:off x="2423160" y="1700784"/>
            <a:ext cx="1143000" cy="274320"/>
          </a:xfrm>
          <a:prstGeom prst="rect">
            <a:avLst/>
          </a:prstGeom>
          <a:noFill/>
          <a:ln>
            <a:noFill/>
          </a:ln>
        </p:spPr>
        <p:txBody>
          <a:bodyPr wrap="square" lIns="0" tIns="0" rIns="0" bIns="0" anchor="ctr">
            <a:noAutofit/>
          </a:bodyPr>
          <a:lstStyle/>
          <a:p>
            <a:pPr marL="0" indent="0" algn="ctr">
              <a:spcAft>
                <a:spcPts val="0"/>
              </a:spcAft>
              <a:buNone/>
            </a:pPr>
            <a:r>
              <a:rPr lang="en-GB" sz="950" b="1" dirty="0">
                <a:solidFill>
                  <a:srgbClr val="C2410C"/>
                </a:solidFill>
                <a:latin typeface="Arial"/>
                <a:cs typeface="Arial"/>
              </a:rPr>
              <a:t>−150 planned</a:t>
            </a:r>
          </a:p>
        </p:txBody>
      </p:sp>
      <p:sp>
        <p:nvSpPr>
          <p:cNvPr id="107" name="Arrow −300 avoidable"/>
          <p:cNvSpPr txBox="1"/>
          <p:nvPr/>
        </p:nvSpPr>
        <p:spPr>
          <a:xfrm>
            <a:off x="5669280" y="2011680"/>
            <a:ext cx="960120" cy="237744"/>
          </a:xfrm>
          <a:prstGeom prst="rightArrow">
            <a:avLst/>
          </a:prstGeom>
          <a:solidFill>
            <a:srgbClr val="9A90B0"/>
          </a:solidFill>
          <a:ln>
            <a:noFill/>
          </a:ln>
        </p:spPr>
        <p:txBody>
          <a:bodyPr wrap="square" lIns="0" tIns="0" rIns="0" bIns="0" anchor="t">
            <a:noAutofit/>
          </a:bodyPr>
          <a:lstStyle/>
          <a:p>
            <a:pPr marL="0" indent="0" algn="l">
              <a:spcAft>
                <a:spcPts val="0"/>
              </a:spcAft>
              <a:buNone/>
            </a:pPr>
            <a:endParaRPr/>
          </a:p>
        </p:txBody>
      </p:sp>
      <p:sp>
        <p:nvSpPr>
          <p:cNvPr id="108" name="Arrow label −300 avoidable"/>
          <p:cNvSpPr txBox="1"/>
          <p:nvPr/>
        </p:nvSpPr>
        <p:spPr>
          <a:xfrm>
            <a:off x="5577840" y="1700784"/>
            <a:ext cx="1143000" cy="274320"/>
          </a:xfrm>
          <a:prstGeom prst="rect">
            <a:avLst/>
          </a:prstGeom>
          <a:noFill/>
          <a:ln>
            <a:noFill/>
          </a:ln>
        </p:spPr>
        <p:txBody>
          <a:bodyPr wrap="square" lIns="0" tIns="0" rIns="0" bIns="0" anchor="ctr">
            <a:noAutofit/>
          </a:bodyPr>
          <a:lstStyle/>
          <a:p>
            <a:pPr marL="0" indent="0" algn="ctr">
              <a:spcAft>
                <a:spcPts val="0"/>
              </a:spcAft>
              <a:buNone/>
            </a:pPr>
            <a:r>
              <a:rPr lang="en-GB" sz="950" b="1" dirty="0">
                <a:solidFill>
                  <a:srgbClr val="C2410C"/>
                </a:solidFill>
                <a:latin typeface="Arial"/>
                <a:cs typeface="Arial"/>
              </a:rPr>
              <a:t>−300 avoidable</a:t>
            </a:r>
          </a:p>
        </p:txBody>
      </p:sp>
      <p:sp>
        <p:nvSpPr>
          <p:cNvPr id="109" name="3. Capacity utilisation"/>
          <p:cNvSpPr txBox="1"/>
          <p:nvPr/>
        </p:nvSpPr>
        <p:spPr>
          <a:xfrm>
            <a:off x="365760" y="2743200"/>
            <a:ext cx="4137660" cy="1097280"/>
          </a:xfrm>
          <a:prstGeom prst="roundRect">
            <a:avLst>
              <a:gd name="adj" fmla="val 8000"/>
            </a:avLst>
          </a:prstGeom>
          <a:solidFill>
            <a:srgbClr val="FFFFFF"/>
          </a:solidFill>
          <a:ln w="9525">
            <a:solidFill>
              <a:srgbClr val="D0CCD8"/>
            </a:solidFill>
          </a:ln>
        </p:spPr>
        <p:txBody>
          <a:bodyPr wrap="square" lIns="137160" tIns="137160" rIns="137160" bIns="137160" anchor="t">
            <a:noAutofit/>
          </a:bodyPr>
          <a:lstStyle/>
          <a:p>
            <a:pPr marL="0" indent="0" algn="l">
              <a:spcAft>
                <a:spcPts val="300"/>
              </a:spcAft>
              <a:buNone/>
            </a:pPr>
            <a:r>
              <a:rPr lang="en-GB" sz="1250" b="1" dirty="0">
                <a:solidFill>
                  <a:srgbClr val="440099"/>
                </a:solidFill>
                <a:latin typeface="Arial"/>
                <a:cs typeface="Arial"/>
              </a:rPr>
              <a:t>3. Capacity utilisation</a:t>
            </a:r>
          </a:p>
          <a:p>
            <a:pPr marL="0" indent="0" algn="l">
              <a:spcAft>
                <a:spcPts val="400"/>
              </a:spcAft>
              <a:buNone/>
            </a:pPr>
            <a:r>
              <a:rPr lang="en-GB" sz="1050" b="0" dirty="0">
                <a:solidFill>
                  <a:srgbClr val="5A5A5A"/>
                </a:solidFill>
                <a:latin typeface="Arial"/>
                <a:cs typeface="Arial"/>
              </a:rPr>
              <a:t>Achieved capacity ÷ design capacity × 100</a:t>
            </a:r>
          </a:p>
          <a:p>
            <a:pPr marL="0" indent="0" algn="l">
              <a:spcAft>
                <a:spcPts val="0"/>
              </a:spcAft>
              <a:buNone/>
            </a:pPr>
            <a:r>
              <a:rPr lang="en-GB" sz="1300" b="0" dirty="0">
                <a:solidFill>
                  <a:srgbClr val="1A1A1A"/>
                </a:solidFill>
                <a:latin typeface="Arial"/>
                <a:cs typeface="Arial"/>
              </a:rPr>
              <a:t>550 ÷ 1,000 × 100 =  </a:t>
            </a:r>
            <a:r>
              <a:rPr lang="en-GB" sz="2200" b="1" dirty="0">
                <a:solidFill>
                  <a:srgbClr val="440099"/>
                </a:solidFill>
                <a:latin typeface="Arial"/>
                <a:cs typeface="Arial"/>
              </a:rPr>
              <a:t>55%</a:t>
            </a:r>
          </a:p>
        </p:txBody>
      </p:sp>
      <p:sp>
        <p:nvSpPr>
          <p:cNvPr id="110" name="4. Efficiency"/>
          <p:cNvSpPr txBox="1"/>
          <p:nvPr/>
        </p:nvSpPr>
        <p:spPr>
          <a:xfrm>
            <a:off x="4640580" y="2743200"/>
            <a:ext cx="4137660" cy="1097280"/>
          </a:xfrm>
          <a:prstGeom prst="roundRect">
            <a:avLst>
              <a:gd name="adj" fmla="val 8000"/>
            </a:avLst>
          </a:prstGeom>
          <a:solidFill>
            <a:srgbClr val="FFFFFF"/>
          </a:solidFill>
          <a:ln w="9525">
            <a:solidFill>
              <a:srgbClr val="D0CCD8"/>
            </a:solidFill>
          </a:ln>
        </p:spPr>
        <p:txBody>
          <a:bodyPr wrap="square" lIns="137160" tIns="137160" rIns="137160" bIns="137160" anchor="t">
            <a:noAutofit/>
          </a:bodyPr>
          <a:lstStyle/>
          <a:p>
            <a:pPr marL="0" indent="0" algn="l">
              <a:spcAft>
                <a:spcPts val="300"/>
              </a:spcAft>
              <a:buNone/>
            </a:pPr>
            <a:r>
              <a:rPr lang="en-GB" sz="1250" b="1" dirty="0">
                <a:solidFill>
                  <a:srgbClr val="440099"/>
                </a:solidFill>
                <a:latin typeface="Arial"/>
                <a:cs typeface="Arial"/>
              </a:rPr>
              <a:t>4. Efficiency</a:t>
            </a:r>
          </a:p>
          <a:p>
            <a:pPr marL="0" indent="0" algn="l">
              <a:spcAft>
                <a:spcPts val="400"/>
              </a:spcAft>
              <a:buNone/>
            </a:pPr>
            <a:r>
              <a:rPr lang="en-GB" sz="1050" b="0" dirty="0">
                <a:solidFill>
                  <a:srgbClr val="5A5A5A"/>
                </a:solidFill>
                <a:latin typeface="Arial"/>
                <a:cs typeface="Arial"/>
              </a:rPr>
              <a:t>Achieved capacity ÷ effective capacity × 100</a:t>
            </a:r>
          </a:p>
          <a:p>
            <a:pPr marL="0" indent="0" algn="l">
              <a:spcAft>
                <a:spcPts val="0"/>
              </a:spcAft>
              <a:buNone/>
            </a:pPr>
            <a:r>
              <a:rPr lang="en-GB" sz="1300" b="0" dirty="0">
                <a:solidFill>
                  <a:srgbClr val="1A1A1A"/>
                </a:solidFill>
                <a:latin typeface="Arial"/>
                <a:cs typeface="Arial"/>
              </a:rPr>
              <a:t>550 ÷ 850 × 100 =  </a:t>
            </a:r>
            <a:r>
              <a:rPr lang="en-GB" sz="2200" b="1" dirty="0">
                <a:solidFill>
                  <a:srgbClr val="440099"/>
                </a:solidFill>
                <a:latin typeface="Arial"/>
                <a:cs typeface="Arial"/>
              </a:rPr>
              <a:t>64.7%</a:t>
            </a:r>
          </a:p>
        </p:txBody>
      </p:sp>
      <p:sp>
        <p:nvSpPr>
          <p:cNvPr id="111" name="Interpretation"/>
          <p:cNvSpPr txBox="1"/>
          <p:nvPr/>
        </p:nvSpPr>
        <p:spPr>
          <a:xfrm>
            <a:off x="365760" y="3959352"/>
            <a:ext cx="8412480" cy="566928"/>
          </a:xfrm>
          <a:prstGeom prst="roundRect">
            <a:avLst>
              <a:gd name="adj" fmla="val 8000"/>
            </a:avLst>
          </a:prstGeom>
          <a:solidFill>
            <a:srgbClr val="FCE3D6"/>
          </a:solidFill>
          <a:ln>
            <a:noFill/>
          </a:ln>
        </p:spPr>
        <p:txBody>
          <a:bodyPr wrap="square" lIns="118872" tIns="118872" rIns="118872" bIns="118872" anchor="ctr">
            <a:noAutofit/>
          </a:bodyPr>
          <a:lstStyle/>
          <a:p>
            <a:pPr marL="0" indent="0" algn="l">
              <a:spcAft>
                <a:spcPts val="0"/>
              </a:spcAft>
              <a:buNone/>
            </a:pPr>
            <a:r>
              <a:rPr lang="en-GB" sz="1100" b="1" dirty="0">
                <a:solidFill>
                  <a:srgbClr val="C2410C"/>
                </a:solidFill>
                <a:latin typeface="Arial"/>
                <a:cs typeface="Arial"/>
              </a:rPr>
              <a:t>What it means: </a:t>
            </a:r>
            <a:r>
              <a:rPr lang="en-GB" sz="1100" b="0" dirty="0">
                <a:solidFill>
                  <a:srgbClr val="1A1A1A"/>
                </a:solidFill>
                <a:latin typeface="Arial"/>
                <a:cs typeface="Arial"/>
              </a:rPr>
              <a:t>the operation loses 45% of its design capacity. Avoidable losses (300) are twice the planned ones (150), so cutting breakdowns and other avoidable downtime is the biggest opportunity.</a:t>
            </a:r>
          </a:p>
        </p:txBody>
      </p:sp>
    </p:spTree>
    <p:extLst>
      <p:ext uri="{BB962C8B-B14F-4D97-AF65-F5344CB8AC3E}">
        <p14:creationId xmlns:p14="http://schemas.microsoft.com/office/powerpoint/2010/main" val="1046053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5FAC92A2-07AF-4D9F-54D0-6C23EE1B88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49E90B-3E3B-485D-8969-C4CCE36443D1}"/>
              </a:ext>
            </a:extLst>
          </p:cNvPr>
          <p:cNvSpPr txBox="1"/>
          <p:nvPr/>
        </p:nvSpPr>
        <p:spPr>
          <a:xfrm>
            <a:off x="3014079" y="560923"/>
            <a:ext cx="8520600" cy="572700"/>
          </a:xfrm>
          <a:prstGeom prst="rect">
            <a:avLst/>
          </a:prstGeom>
          <a:noFill/>
          <a:ln>
            <a:noFill/>
          </a:ln>
        </p:spPr>
        <p:txBody>
          <a:bodyPr spcFirstLastPara="1" wrap="square" lIns="91425" tIns="91425" rIns="91425" bIns="91425" rtlCol="0" anchor="ctr" anchorCtr="0">
            <a:noAutofit/>
          </a:bodyPr>
          <a:lstStyle/>
          <a:p>
            <a:pPr>
              <a:lnSpc>
                <a:spcPct val="90000"/>
              </a:lnSpc>
              <a:spcAft>
                <a:spcPts val="600"/>
              </a:spcAft>
              <a:buClr>
                <a:schemeClr val="dk2"/>
              </a:buClr>
              <a:buSzPts val="5200"/>
            </a:pPr>
            <a:r>
              <a:rPr lang="en-US" sz="3200" b="0" i="0" u="none" strike="noStrike" cap="none" spc="0" dirty="0">
                <a:solidFill>
                  <a:schemeClr val="dk2"/>
                </a:solidFill>
              </a:rPr>
              <a:t>Class Activity</a:t>
            </a:r>
          </a:p>
        </p:txBody>
      </p:sp>
      <p:sp>
        <p:nvSpPr>
          <p:cNvPr id="80" name="Google Shape;80;p16">
            <a:extLst>
              <a:ext uri="{FF2B5EF4-FFF2-40B4-BE49-F238E27FC236}">
                <a16:creationId xmlns:a16="http://schemas.microsoft.com/office/drawing/2014/main" id="{8E2D9D2C-38EA-E762-61F9-884C4C211EA9}"/>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a:pPr>
                <a:lnSpc>
                  <a:spcPct val="90000"/>
                </a:lnSpc>
                <a:spcAft>
                  <a:spcPts val="600"/>
                </a:spcAft>
              </a:pPr>
              <a:t>19</a:t>
            </a:fld>
            <a:endParaRPr lang="en" sz="900"/>
          </a:p>
        </p:txBody>
      </p:sp>
      <p:pic>
        <p:nvPicPr>
          <p:cNvPr id="5" name="Picture 4" descr="Photograph of a hotel corridor featuring numbered doors on both sides, including visible room numbers 804 and 805. The hallway has patterned carpet, beige and white walls, and ceiling lights evenly spaced along the length.">
            <a:extLst>
              <a:ext uri="{FF2B5EF4-FFF2-40B4-BE49-F238E27FC236}">
                <a16:creationId xmlns:a16="http://schemas.microsoft.com/office/drawing/2014/main" id="{F3BD12D0-3B7D-EB51-1D58-06C46DAD8661}"/>
              </a:ext>
              <a:ext uri="{C183D7F6-B498-43B3-948B-1728B52AA6E4}">
                <adec:decorative xmlns:adec="http://schemas.microsoft.com/office/drawing/2017/decorative" val="0"/>
              </a:ext>
            </a:extLst>
          </p:cNvPr>
          <p:cNvPicPr>
            <a:picLocks noChangeAspect="1"/>
          </p:cNvPicPr>
          <p:nvPr/>
        </p:nvPicPr>
        <p:blipFill>
          <a:blip r:embed="rId3"/>
          <a:srcRect l="263"/>
          <a:stretch>
            <a:fillRect/>
          </a:stretch>
        </p:blipFill>
        <p:spPr>
          <a:xfrm>
            <a:off x="107418" y="1208224"/>
            <a:ext cx="2646161" cy="3537501"/>
          </a:xfrm>
          <a:prstGeom prst="rect">
            <a:avLst/>
          </a:prstGeom>
          <a:noFill/>
          <a:ln>
            <a:noFill/>
          </a:ln>
        </p:spPr>
      </p:pic>
      <p:sp>
        <p:nvSpPr>
          <p:cNvPr id="4" name="TextBox 3">
            <a:extLst>
              <a:ext uri="{FF2B5EF4-FFF2-40B4-BE49-F238E27FC236}">
                <a16:creationId xmlns:a16="http://schemas.microsoft.com/office/drawing/2014/main" id="{58EB762F-B072-5E6A-D884-38ECC8696C1A}"/>
              </a:ext>
            </a:extLst>
          </p:cNvPr>
          <p:cNvSpPr txBox="1"/>
          <p:nvPr/>
        </p:nvSpPr>
        <p:spPr>
          <a:xfrm>
            <a:off x="2938637" y="1249521"/>
            <a:ext cx="6205363" cy="3264408"/>
          </a:xfrm>
          <a:prstGeom prst="rect">
            <a:avLst/>
          </a:prstGeom>
          <a:noFill/>
          <a:ln>
            <a:noFill/>
          </a:ln>
        </p:spPr>
        <p:txBody>
          <a:bodyPr anchor="t">
            <a:noAutofit/>
          </a:bodyPr>
          <a:lstStyle/>
          <a:p>
            <a:pPr>
              <a:spcAft>
                <a:spcPts val="600"/>
              </a:spcAft>
            </a:pPr>
            <a:r>
              <a:rPr lang="en-US" sz="2400" b="0" i="0" u="none" strike="noStrike" cap="none" spc="0" dirty="0">
                <a:solidFill>
                  <a:schemeClr val="tx1"/>
                </a:solidFill>
              </a:rPr>
              <a:t>A hotel has 400 rooms. Only 340 rooms can be cleaned and made ready before check-in because of staffing constraints. </a:t>
            </a:r>
          </a:p>
          <a:p>
            <a:pPr lvl="4">
              <a:spcAft>
                <a:spcPts val="600"/>
              </a:spcAft>
            </a:pPr>
            <a:r>
              <a:rPr lang="en-US" sz="2400" b="0" i="0" u="none" strike="noStrike" cap="none" spc="0" dirty="0">
                <a:solidFill>
                  <a:schemeClr val="tx1"/>
                </a:solidFill>
              </a:rPr>
              <a:t>	What is the design capacity?</a:t>
            </a:r>
            <a:br>
              <a:rPr lang="en-US" sz="2400" b="0" i="0" u="none" strike="noStrike" cap="none" spc="0" dirty="0">
                <a:solidFill>
                  <a:schemeClr val="tx1"/>
                </a:solidFill>
              </a:rPr>
            </a:br>
            <a:r>
              <a:rPr lang="en-US" sz="2400" b="0" i="0" u="none" strike="noStrike" cap="none" spc="0" dirty="0">
                <a:solidFill>
                  <a:schemeClr val="tx1"/>
                </a:solidFill>
              </a:rPr>
              <a:t>	What is the effective capacity?</a:t>
            </a:r>
            <a:br>
              <a:rPr lang="en-US" sz="2400" b="0" i="0" u="none" strike="noStrike" cap="none" spc="0" dirty="0">
                <a:solidFill>
                  <a:schemeClr val="tx1"/>
                </a:solidFill>
              </a:rPr>
            </a:br>
            <a:r>
              <a:rPr lang="en-US" sz="2400" b="0" i="0" u="none" strike="noStrike" cap="none" spc="0" dirty="0">
                <a:solidFill>
                  <a:schemeClr val="tx1"/>
                </a:solidFill>
              </a:rPr>
              <a:t>	What is constraining the  operation?</a:t>
            </a:r>
          </a:p>
          <a:p>
            <a:pPr lvl="4">
              <a:spcAft>
                <a:spcPts val="600"/>
              </a:spcAft>
            </a:pPr>
            <a:r>
              <a:rPr lang="en-US" sz="2400" b="0" i="0" u="none" strike="noStrike" cap="none" spc="0" dirty="0">
                <a:solidFill>
                  <a:schemeClr val="tx1"/>
                </a:solidFill>
              </a:rPr>
              <a:t>           If the hotel hires more cleaners, does its design capacity    change?</a:t>
            </a:r>
          </a:p>
        </p:txBody>
      </p:sp>
    </p:spTree>
    <p:extLst>
      <p:ext uri="{BB962C8B-B14F-4D97-AF65-F5344CB8AC3E}">
        <p14:creationId xmlns:p14="http://schemas.microsoft.com/office/powerpoint/2010/main" val="3906223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a:bodyPr>
          <a:lstStyle/>
          <a:p>
            <a:r>
              <a:rPr lang="en-GB" sz="2500" b="1" dirty="0"/>
              <a:t>Solution: Hotel Capacity</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20</a:t>
            </a:fld>
            <a:endParaRPr lang="en" sz="900"/>
          </a:p>
        </p:txBody>
      </p:sp>
      <p:sp>
        <p:nvSpPr>
          <p:cNvPr id="101" name="Given"/>
          <p:cNvSpPr txBox="1"/>
          <p:nvPr/>
        </p:nvSpPr>
        <p:spPr>
          <a:xfrm>
            <a:off x="365760" y="1078992"/>
            <a:ext cx="8412480" cy="384048"/>
          </a:xfrm>
          <a:prstGeom prst="roundRect">
            <a:avLst>
              <a:gd name="adj" fmla="val 8000"/>
            </a:avLst>
          </a:prstGeom>
          <a:solidFill>
            <a:srgbClr val="EDE6F7"/>
          </a:solidFill>
          <a:ln>
            <a:noFill/>
          </a:ln>
        </p:spPr>
        <p:txBody>
          <a:bodyPr wrap="square" lIns="109728" tIns="109728" rIns="109728" bIns="109728" anchor="ctr">
            <a:noAutofit/>
          </a:bodyPr>
          <a:lstStyle/>
          <a:p>
            <a:pPr marL="0" indent="0" algn="l">
              <a:spcAft>
                <a:spcPts val="0"/>
              </a:spcAft>
              <a:buNone/>
            </a:pPr>
            <a:r>
              <a:rPr lang="en-GB" sz="1150" b="1" dirty="0">
                <a:solidFill>
                  <a:srgbClr val="440099"/>
                </a:solidFill>
                <a:latin typeface="Arial"/>
                <a:cs typeface="Arial"/>
              </a:rPr>
              <a:t>Given:  </a:t>
            </a:r>
            <a:r>
              <a:rPr lang="en-GB" sz="1150" b="0" dirty="0">
                <a:solidFill>
                  <a:srgbClr val="1A1A1A"/>
                </a:solidFill>
                <a:latin typeface="Arial"/>
                <a:cs typeface="Arial"/>
              </a:rPr>
              <a:t>400 rooms  •  only 340 can be cleaned and made ready before check-in</a:t>
            </a:r>
          </a:p>
        </p:txBody>
      </p:sp>
      <p:sp>
        <p:nvSpPr>
          <p:cNvPr id="102" name="1. Design capacity"/>
          <p:cNvSpPr txBox="1"/>
          <p:nvPr/>
        </p:nvSpPr>
        <p:spPr>
          <a:xfrm>
            <a:off x="365760" y="1600200"/>
            <a:ext cx="4137660" cy="1161288"/>
          </a:xfrm>
          <a:prstGeom prst="roundRect">
            <a:avLst>
              <a:gd name="adj" fmla="val 8000"/>
            </a:avLst>
          </a:prstGeom>
          <a:solidFill>
            <a:srgbClr val="FFFFFF"/>
          </a:solidFill>
          <a:ln w="9525">
            <a:solidFill>
              <a:srgbClr val="D0CCD8"/>
            </a:solidFill>
          </a:ln>
        </p:spPr>
        <p:txBody>
          <a:bodyPr wrap="square" lIns="128016" tIns="128016" rIns="128016" bIns="128016" anchor="t">
            <a:noAutofit/>
          </a:bodyPr>
          <a:lstStyle/>
          <a:p>
            <a:pPr marL="0" indent="0" algn="l">
              <a:spcAft>
                <a:spcPts val="200"/>
              </a:spcAft>
              <a:buNone/>
            </a:pPr>
            <a:r>
              <a:rPr lang="en-GB" sz="1150" b="1" dirty="0">
                <a:solidFill>
                  <a:srgbClr val="5A5A5A"/>
                </a:solidFill>
                <a:latin typeface="Arial"/>
                <a:cs typeface="Arial"/>
              </a:rPr>
              <a:t>1. Design capacity</a:t>
            </a:r>
          </a:p>
          <a:p>
            <a:pPr marL="0" indent="0" algn="l">
              <a:spcAft>
                <a:spcPts val="300"/>
              </a:spcAft>
              <a:buNone/>
            </a:pPr>
            <a:r>
              <a:rPr lang="en-GB" sz="1700" b="1" dirty="0">
                <a:solidFill>
                  <a:srgbClr val="440099"/>
                </a:solidFill>
                <a:latin typeface="Arial"/>
                <a:cs typeface="Arial"/>
              </a:rPr>
              <a:t>400 rooms per night</a:t>
            </a:r>
          </a:p>
          <a:p>
            <a:pPr marL="0" indent="0" algn="l">
              <a:spcAft>
                <a:spcPts val="0"/>
              </a:spcAft>
              <a:buNone/>
            </a:pPr>
            <a:r>
              <a:rPr lang="en-GB" sz="1050" b="0" dirty="0">
                <a:solidFill>
                  <a:srgbClr val="1A1A1A"/>
                </a:solidFill>
                <a:latin typeface="Arial"/>
                <a:cs typeface="Arial"/>
              </a:rPr>
              <a:t>The number of rooms the hotel was built to offer.</a:t>
            </a:r>
          </a:p>
        </p:txBody>
      </p:sp>
      <p:sp>
        <p:nvSpPr>
          <p:cNvPr id="103" name="2. Effective capacity"/>
          <p:cNvSpPr txBox="1"/>
          <p:nvPr/>
        </p:nvSpPr>
        <p:spPr>
          <a:xfrm>
            <a:off x="4640580" y="1600200"/>
            <a:ext cx="4137660" cy="1161288"/>
          </a:xfrm>
          <a:prstGeom prst="roundRect">
            <a:avLst>
              <a:gd name="adj" fmla="val 8000"/>
            </a:avLst>
          </a:prstGeom>
          <a:solidFill>
            <a:srgbClr val="FFFFFF"/>
          </a:solidFill>
          <a:ln w="9525">
            <a:solidFill>
              <a:srgbClr val="D0CCD8"/>
            </a:solidFill>
          </a:ln>
        </p:spPr>
        <p:txBody>
          <a:bodyPr wrap="square" lIns="128016" tIns="128016" rIns="128016" bIns="128016" anchor="t">
            <a:noAutofit/>
          </a:bodyPr>
          <a:lstStyle/>
          <a:p>
            <a:pPr marL="0" indent="0" algn="l">
              <a:spcAft>
                <a:spcPts val="200"/>
              </a:spcAft>
              <a:buNone/>
            </a:pPr>
            <a:r>
              <a:rPr lang="en-GB" sz="1150" b="1" dirty="0">
                <a:solidFill>
                  <a:srgbClr val="5A5A5A"/>
                </a:solidFill>
                <a:latin typeface="Arial"/>
                <a:cs typeface="Arial"/>
              </a:rPr>
              <a:t>2. Effective capacity</a:t>
            </a:r>
          </a:p>
          <a:p>
            <a:pPr marL="0" indent="0" algn="l">
              <a:spcAft>
                <a:spcPts val="300"/>
              </a:spcAft>
              <a:buNone/>
            </a:pPr>
            <a:r>
              <a:rPr lang="en-GB" sz="1700" b="1" dirty="0">
                <a:solidFill>
                  <a:srgbClr val="440099"/>
                </a:solidFill>
                <a:latin typeface="Arial"/>
                <a:cs typeface="Arial"/>
              </a:rPr>
              <a:t>340 rooms per night</a:t>
            </a:r>
          </a:p>
          <a:p>
            <a:pPr marL="0" indent="0" algn="l">
              <a:spcAft>
                <a:spcPts val="0"/>
              </a:spcAft>
              <a:buNone/>
            </a:pPr>
            <a:r>
              <a:rPr lang="en-GB" sz="1050" b="0" dirty="0">
                <a:solidFill>
                  <a:srgbClr val="1A1A1A"/>
                </a:solidFill>
                <a:latin typeface="Arial"/>
                <a:cs typeface="Arial"/>
              </a:rPr>
              <a:t>The rooms that can realistically be prepared and sold. 60 rooms (15%) are lost every night.</a:t>
            </a:r>
          </a:p>
        </p:txBody>
      </p:sp>
      <p:sp>
        <p:nvSpPr>
          <p:cNvPr id="104" name="3. What is the constraint?"/>
          <p:cNvSpPr txBox="1"/>
          <p:nvPr/>
        </p:nvSpPr>
        <p:spPr>
          <a:xfrm>
            <a:off x="365760" y="2871216"/>
            <a:ext cx="4137660" cy="1161288"/>
          </a:xfrm>
          <a:prstGeom prst="roundRect">
            <a:avLst>
              <a:gd name="adj" fmla="val 8000"/>
            </a:avLst>
          </a:prstGeom>
          <a:solidFill>
            <a:srgbClr val="FFFFFF"/>
          </a:solidFill>
          <a:ln w="9525">
            <a:solidFill>
              <a:srgbClr val="D0CCD8"/>
            </a:solidFill>
          </a:ln>
        </p:spPr>
        <p:txBody>
          <a:bodyPr wrap="square" lIns="128016" tIns="128016" rIns="128016" bIns="128016" anchor="t">
            <a:noAutofit/>
          </a:bodyPr>
          <a:lstStyle/>
          <a:p>
            <a:pPr marL="0" indent="0" algn="l">
              <a:spcAft>
                <a:spcPts val="200"/>
              </a:spcAft>
              <a:buNone/>
            </a:pPr>
            <a:r>
              <a:rPr lang="en-GB" sz="1150" b="1" dirty="0">
                <a:solidFill>
                  <a:srgbClr val="5A5A5A"/>
                </a:solidFill>
                <a:latin typeface="Arial"/>
                <a:cs typeface="Arial"/>
              </a:rPr>
              <a:t>3. What is the constraint?</a:t>
            </a:r>
          </a:p>
          <a:p>
            <a:pPr marL="0" indent="0" algn="l">
              <a:spcAft>
                <a:spcPts val="300"/>
              </a:spcAft>
              <a:buNone/>
            </a:pPr>
            <a:r>
              <a:rPr lang="en-GB" sz="1700" b="1" dirty="0">
                <a:solidFill>
                  <a:srgbClr val="440099"/>
                </a:solidFill>
                <a:latin typeface="Arial"/>
                <a:cs typeface="Arial"/>
              </a:rPr>
              <a:t>Housekeeping</a:t>
            </a:r>
          </a:p>
          <a:p>
            <a:pPr marL="0" indent="0" algn="l">
              <a:spcAft>
                <a:spcPts val="0"/>
              </a:spcAft>
              <a:buNone/>
            </a:pPr>
            <a:r>
              <a:rPr lang="en-GB" sz="1050" b="0" dirty="0">
                <a:solidFill>
                  <a:srgbClr val="1A1A1A"/>
                </a:solidFill>
                <a:latin typeface="Arial"/>
                <a:cs typeface="Arial"/>
              </a:rPr>
              <a:t>The bottleneck is cleaning staff, not rooms. Turnaround time limits how many rooms are ready by check-in.</a:t>
            </a:r>
          </a:p>
        </p:txBody>
      </p:sp>
      <p:sp>
        <p:nvSpPr>
          <p:cNvPr id="105" name="4. Hire more cleaners?"/>
          <p:cNvSpPr txBox="1"/>
          <p:nvPr/>
        </p:nvSpPr>
        <p:spPr>
          <a:xfrm>
            <a:off x="4640580" y="2871216"/>
            <a:ext cx="4137660" cy="1161288"/>
          </a:xfrm>
          <a:prstGeom prst="roundRect">
            <a:avLst>
              <a:gd name="adj" fmla="val 8000"/>
            </a:avLst>
          </a:prstGeom>
          <a:solidFill>
            <a:srgbClr val="FFFFFF"/>
          </a:solidFill>
          <a:ln w="9525">
            <a:solidFill>
              <a:srgbClr val="D0CCD8"/>
            </a:solidFill>
          </a:ln>
        </p:spPr>
        <p:txBody>
          <a:bodyPr wrap="square" lIns="128016" tIns="128016" rIns="128016" bIns="128016" anchor="t">
            <a:noAutofit/>
          </a:bodyPr>
          <a:lstStyle/>
          <a:p>
            <a:pPr marL="0" indent="0" algn="l">
              <a:spcAft>
                <a:spcPts val="200"/>
              </a:spcAft>
              <a:buNone/>
            </a:pPr>
            <a:r>
              <a:rPr lang="en-GB" sz="1150" b="1" dirty="0">
                <a:solidFill>
                  <a:srgbClr val="5A5A5A"/>
                </a:solidFill>
                <a:latin typeface="Arial"/>
                <a:cs typeface="Arial"/>
              </a:rPr>
              <a:t>4. Hire more cleaners?</a:t>
            </a:r>
          </a:p>
          <a:p>
            <a:pPr marL="0" indent="0" algn="l">
              <a:spcAft>
                <a:spcPts val="300"/>
              </a:spcAft>
              <a:buNone/>
            </a:pPr>
            <a:r>
              <a:rPr lang="en-GB" sz="1700" b="1" dirty="0">
                <a:solidFill>
                  <a:srgbClr val="440099"/>
                </a:solidFill>
                <a:latin typeface="Arial"/>
                <a:cs typeface="Arial"/>
              </a:rPr>
              <a:t>Design capacity: no change</a:t>
            </a:r>
          </a:p>
          <a:p>
            <a:pPr marL="0" indent="0" algn="l">
              <a:spcAft>
                <a:spcPts val="0"/>
              </a:spcAft>
              <a:buNone/>
            </a:pPr>
            <a:r>
              <a:rPr lang="en-GB" sz="1050" b="0" dirty="0">
                <a:solidFill>
                  <a:srgbClr val="1A1A1A"/>
                </a:solidFill>
                <a:latin typeface="Arial"/>
                <a:cs typeface="Arial"/>
              </a:rPr>
              <a:t>It stays at 400, because no rooms are added. Effective capacity rises towards 400 until another constraint appears.</a:t>
            </a:r>
          </a:p>
        </p:txBody>
      </p:sp>
      <p:sp>
        <p:nvSpPr>
          <p:cNvPr id="106" name="Insight"/>
          <p:cNvSpPr txBox="1"/>
          <p:nvPr/>
        </p:nvSpPr>
        <p:spPr>
          <a:xfrm>
            <a:off x="365760" y="4114800"/>
            <a:ext cx="8412480" cy="438912"/>
          </a:xfrm>
          <a:prstGeom prst="roundRect">
            <a:avLst>
              <a:gd name="adj" fmla="val 8000"/>
            </a:avLst>
          </a:prstGeom>
          <a:solidFill>
            <a:srgbClr val="FCE3D6"/>
          </a:solidFill>
          <a:ln>
            <a:noFill/>
          </a:ln>
        </p:spPr>
        <p:txBody>
          <a:bodyPr wrap="square" lIns="118872" tIns="118872" rIns="118872" bIns="118872" anchor="ctr">
            <a:noAutofit/>
          </a:bodyPr>
          <a:lstStyle/>
          <a:p>
            <a:pPr marL="0" indent="0" algn="l">
              <a:spcAft>
                <a:spcPts val="0"/>
              </a:spcAft>
              <a:buNone/>
            </a:pPr>
            <a:r>
              <a:rPr lang="en-GB" sz="1100" b="1" dirty="0">
                <a:solidFill>
                  <a:srgbClr val="C2410C"/>
                </a:solidFill>
                <a:latin typeface="Arial"/>
                <a:cs typeface="Arial"/>
              </a:rPr>
              <a:t>Key idea: </a:t>
            </a:r>
            <a:r>
              <a:rPr lang="en-GB" sz="1100" b="0" dirty="0">
                <a:solidFill>
                  <a:srgbClr val="1A1A1A"/>
                </a:solidFill>
                <a:latin typeface="Arial"/>
                <a:cs typeface="Arial"/>
              </a:rPr>
              <a:t>adding resources at the bottleneck raises effective capacity; only physical expansion raises design capacity.</a:t>
            </a:r>
          </a:p>
        </p:txBody>
      </p:sp>
    </p:spTree>
    <p:extLst>
      <p:ext uri="{BB962C8B-B14F-4D97-AF65-F5344CB8AC3E}">
        <p14:creationId xmlns:p14="http://schemas.microsoft.com/office/powerpoint/2010/main" val="3996989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9462-5B17-CE35-6BAE-419AF5B5B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40E1D-3FFA-6B33-3CC7-4D13414AB04A}"/>
              </a:ext>
            </a:extLst>
          </p:cNvPr>
          <p:cNvSpPr>
            <a:spLocks noGrp="1"/>
          </p:cNvSpPr>
          <p:nvPr>
            <p:ph type="title"/>
          </p:nvPr>
        </p:nvSpPr>
        <p:spPr/>
        <p:txBody>
          <a:bodyPr/>
          <a:lstStyle/>
          <a:p>
            <a:pPr algn="ctr"/>
            <a:r>
              <a:rPr lang="en-GB" dirty="0"/>
              <a:t> ATTENDANCE  </a:t>
            </a:r>
          </a:p>
        </p:txBody>
      </p:sp>
      <p:sp>
        <p:nvSpPr>
          <p:cNvPr id="4" name="Slide Number Placeholder 3">
            <a:extLst>
              <a:ext uri="{FF2B5EF4-FFF2-40B4-BE49-F238E27FC236}">
                <a16:creationId xmlns:a16="http://schemas.microsoft.com/office/drawing/2014/main" id="{6D36D92F-0EB2-62DE-33B3-0A4E3EB77D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3" name="TextBox 2">
            <a:extLst>
              <a:ext uri="{FF2B5EF4-FFF2-40B4-BE49-F238E27FC236}">
                <a16:creationId xmlns:a16="http://schemas.microsoft.com/office/drawing/2014/main" id="{FEA635C5-0929-BB87-6AF7-254FF678BECC}"/>
              </a:ext>
            </a:extLst>
          </p:cNvPr>
          <p:cNvSpPr txBox="1"/>
          <p:nvPr/>
        </p:nvSpPr>
        <p:spPr>
          <a:xfrm>
            <a:off x="1357745" y="2057400"/>
            <a:ext cx="5583382" cy="707886"/>
          </a:xfrm>
          <a:prstGeom prst="rect">
            <a:avLst/>
          </a:prstGeom>
          <a:noFill/>
        </p:spPr>
        <p:txBody>
          <a:bodyPr wrap="square" rtlCol="0">
            <a:spAutoFit/>
          </a:bodyPr>
          <a:lstStyle/>
          <a:p>
            <a:pPr algn="ctr"/>
            <a:r>
              <a:rPr lang="en-GB" sz="4000" dirty="0">
                <a:solidFill>
                  <a:schemeClr val="bg2"/>
                </a:solidFill>
              </a:rPr>
              <a:t>KL-MB-ON</a:t>
            </a:r>
          </a:p>
        </p:txBody>
      </p:sp>
    </p:spTree>
    <p:extLst>
      <p:ext uri="{BB962C8B-B14F-4D97-AF65-F5344CB8AC3E}">
        <p14:creationId xmlns:p14="http://schemas.microsoft.com/office/powerpoint/2010/main" val="4013246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70B34BC-9321-2A26-FA1D-32C4B2C45B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B80E60-8883-A313-3CF0-9227F1BC2295}"/>
              </a:ext>
            </a:extLst>
          </p:cNvPr>
          <p:cNvSpPr txBox="1"/>
          <p:nvPr/>
        </p:nvSpPr>
        <p:spPr>
          <a:xfrm>
            <a:off x="3765193" y="384517"/>
            <a:ext cx="3941893" cy="572700"/>
          </a:xfrm>
          <a:prstGeom prst="rect">
            <a:avLst/>
          </a:prstGeom>
          <a:noFill/>
          <a:ln>
            <a:noFill/>
          </a:ln>
        </p:spPr>
        <p:txBody>
          <a:bodyPr spcFirstLastPara="1" wrap="square" lIns="91425" tIns="91425" rIns="91425" bIns="91425" rtlCol="0" anchor="ctr" anchorCtr="0">
            <a:noAutofit/>
          </a:bodyPr>
          <a:lstStyle/>
          <a:p>
            <a:pPr>
              <a:lnSpc>
                <a:spcPct val="90000"/>
              </a:lnSpc>
              <a:spcAft>
                <a:spcPts val="600"/>
              </a:spcAft>
              <a:buClr>
                <a:schemeClr val="dk2"/>
              </a:buClr>
              <a:buSzPts val="5200"/>
            </a:pPr>
            <a:r>
              <a:rPr lang="en-US" sz="3200" b="0" i="0" u="none" strike="noStrike" cap="none" spc="0" dirty="0">
                <a:solidFill>
                  <a:schemeClr val="dk2"/>
                </a:solidFill>
              </a:rPr>
              <a:t>Class Activity</a:t>
            </a:r>
          </a:p>
        </p:txBody>
      </p:sp>
      <p:sp>
        <p:nvSpPr>
          <p:cNvPr id="80" name="Google Shape;80;p16">
            <a:extLst>
              <a:ext uri="{FF2B5EF4-FFF2-40B4-BE49-F238E27FC236}">
                <a16:creationId xmlns:a16="http://schemas.microsoft.com/office/drawing/2014/main" id="{B10D7C92-BA85-3034-5617-6E7EA73008AF}"/>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22</a:t>
            </a:fld>
            <a:endParaRPr lang="en" sz="900"/>
          </a:p>
        </p:txBody>
      </p:sp>
      <p:pic>
        <p:nvPicPr>
          <p:cNvPr id="3" name="Picture 2" descr="Photograph of a commercial airplane taking off from a runway, captured from the front with landing gear still extended. The scene includes runway markings, green grass on either side, and a blurred background of water and distant buildings.">
            <a:extLst>
              <a:ext uri="{FF2B5EF4-FFF2-40B4-BE49-F238E27FC236}">
                <a16:creationId xmlns:a16="http://schemas.microsoft.com/office/drawing/2014/main" id="{41F44CB6-7440-74C4-3DA3-2D1D017B5E9A}"/>
              </a:ext>
            </a:extLst>
          </p:cNvPr>
          <p:cNvPicPr>
            <a:picLocks noChangeAspect="1"/>
          </p:cNvPicPr>
          <p:nvPr/>
        </p:nvPicPr>
        <p:blipFill>
          <a:blip r:embed="rId3"/>
          <a:srcRect l="12442" r="17428" b="-3"/>
          <a:stretch>
            <a:fillRect/>
          </a:stretch>
        </p:blipFill>
        <p:spPr>
          <a:xfrm>
            <a:off x="254550" y="1481318"/>
            <a:ext cx="4069800" cy="3264408"/>
          </a:xfrm>
          <a:prstGeom prst="rect">
            <a:avLst/>
          </a:prstGeom>
          <a:noFill/>
          <a:ln>
            <a:noFill/>
          </a:ln>
        </p:spPr>
      </p:pic>
      <p:sp>
        <p:nvSpPr>
          <p:cNvPr id="4" name="TextBox 3">
            <a:extLst>
              <a:ext uri="{FF2B5EF4-FFF2-40B4-BE49-F238E27FC236}">
                <a16:creationId xmlns:a16="http://schemas.microsoft.com/office/drawing/2014/main" id="{93EADA23-61F4-20FF-FDE0-87445699FD11}"/>
              </a:ext>
            </a:extLst>
          </p:cNvPr>
          <p:cNvSpPr txBox="1"/>
          <p:nvPr/>
        </p:nvSpPr>
        <p:spPr>
          <a:xfrm>
            <a:off x="4572000" y="1420496"/>
            <a:ext cx="4421034" cy="3325230"/>
          </a:xfrm>
          <a:prstGeom prst="rect">
            <a:avLst/>
          </a:prstGeom>
          <a:noFill/>
          <a:ln>
            <a:noFill/>
          </a:ln>
        </p:spPr>
        <p:txBody>
          <a:bodyPr anchor="t">
            <a:normAutofit fontScale="40000" lnSpcReduction="20000"/>
          </a:bodyPr>
          <a:lstStyle/>
          <a:p>
            <a:pPr lvl="0">
              <a:lnSpc>
                <a:spcPct val="90000"/>
              </a:lnSpc>
              <a:spcAft>
                <a:spcPts val="600"/>
              </a:spcAft>
            </a:pPr>
            <a:r>
              <a:rPr lang="en-US" sz="3800" b="0" i="0" u="none" strike="noStrike" cap="none" spc="0" dirty="0">
                <a:solidFill>
                  <a:schemeClr val="tx1"/>
                </a:solidFill>
              </a:rPr>
              <a:t>An airport runway capacity varies over a </a:t>
            </a:r>
            <a:r>
              <a:rPr lang="en-US" sz="3800" i="0" u="none" strike="noStrike" cap="none" spc="0" dirty="0">
                <a:solidFill>
                  <a:schemeClr val="tx1"/>
                </a:solidFill>
              </a:rPr>
              <a:t>given day. </a:t>
            </a:r>
          </a:p>
          <a:p>
            <a:pPr lvl="0">
              <a:lnSpc>
                <a:spcPct val="90000"/>
              </a:lnSpc>
              <a:spcAft>
                <a:spcPts val="600"/>
              </a:spcAft>
            </a:pPr>
            <a:r>
              <a:rPr lang="en-US" sz="3800" dirty="0">
                <a:solidFill>
                  <a:schemeClr val="tx1"/>
                </a:solidFill>
              </a:rPr>
              <a:t>	</a:t>
            </a:r>
            <a:r>
              <a:rPr lang="en-US" sz="3800" i="0" u="none" strike="noStrike" cap="none" spc="0" dirty="0">
                <a:solidFill>
                  <a:schemeClr val="tx1"/>
                </a:solidFill>
              </a:rPr>
              <a:t>8–9am: 35 flights </a:t>
            </a:r>
          </a:p>
          <a:p>
            <a:pPr lvl="0">
              <a:lnSpc>
                <a:spcPct val="90000"/>
              </a:lnSpc>
              <a:spcAft>
                <a:spcPts val="600"/>
              </a:spcAft>
            </a:pPr>
            <a:r>
              <a:rPr lang="en-US" sz="3800" i="0" u="none" strike="noStrike" cap="none" spc="0" dirty="0">
                <a:solidFill>
                  <a:schemeClr val="tx1"/>
                </a:solidFill>
              </a:rPr>
              <a:t>	9–10am: 48 flights </a:t>
            </a:r>
          </a:p>
          <a:p>
            <a:pPr lvl="0">
              <a:lnSpc>
                <a:spcPct val="90000"/>
              </a:lnSpc>
              <a:spcAft>
                <a:spcPts val="600"/>
              </a:spcAft>
            </a:pPr>
            <a:r>
              <a:rPr lang="en-US" sz="3800" i="0" u="none" strike="noStrike" cap="none" spc="0" dirty="0">
                <a:solidFill>
                  <a:schemeClr val="tx1"/>
                </a:solidFill>
              </a:rPr>
              <a:t>	10–11am: 62 flights </a:t>
            </a:r>
          </a:p>
          <a:p>
            <a:pPr lvl="0">
              <a:lnSpc>
                <a:spcPct val="90000"/>
              </a:lnSpc>
              <a:spcAft>
                <a:spcPts val="600"/>
              </a:spcAft>
            </a:pPr>
            <a:r>
              <a:rPr lang="en-US" sz="3800" i="0" u="none" strike="noStrike" cap="none" spc="0" dirty="0">
                <a:solidFill>
                  <a:schemeClr val="tx1"/>
                </a:solidFill>
              </a:rPr>
              <a:t>	11–12pm: 44 flights </a:t>
            </a:r>
          </a:p>
          <a:p>
            <a:pPr>
              <a:lnSpc>
                <a:spcPct val="90000"/>
              </a:lnSpc>
              <a:spcAft>
                <a:spcPts val="600"/>
              </a:spcAft>
            </a:pPr>
            <a:endParaRPr lang="en-US" sz="3800" i="0" u="none" strike="noStrike" cap="none" spc="0" dirty="0">
              <a:solidFill>
                <a:schemeClr val="tx1"/>
              </a:solidFill>
            </a:endParaRPr>
          </a:p>
          <a:p>
            <a:pPr>
              <a:lnSpc>
                <a:spcPct val="90000"/>
              </a:lnSpc>
              <a:spcAft>
                <a:spcPts val="600"/>
              </a:spcAft>
            </a:pPr>
            <a:r>
              <a:rPr lang="en-US" sz="3800" i="0" u="none" strike="noStrike" cap="none" spc="0" dirty="0">
                <a:solidFill>
                  <a:schemeClr val="tx1"/>
                </a:solidFill>
              </a:rPr>
              <a:t>Airport runway design capacity = 50 flights per hour.</a:t>
            </a:r>
          </a:p>
          <a:p>
            <a:pPr>
              <a:lnSpc>
                <a:spcPct val="90000"/>
              </a:lnSpc>
              <a:spcAft>
                <a:spcPts val="600"/>
              </a:spcAft>
            </a:pPr>
            <a:endParaRPr lang="en-US" sz="3800" i="0" u="none" strike="noStrike" cap="none" spc="0" dirty="0">
              <a:solidFill>
                <a:schemeClr val="tx1"/>
              </a:solidFill>
            </a:endParaRPr>
          </a:p>
          <a:p>
            <a:pPr>
              <a:lnSpc>
                <a:spcPct val="90000"/>
              </a:lnSpc>
              <a:spcAft>
                <a:spcPts val="600"/>
              </a:spcAft>
            </a:pPr>
            <a:r>
              <a:rPr lang="en-US" sz="3800" i="0" u="none" strike="noStrike" cap="none" spc="0" dirty="0">
                <a:solidFill>
                  <a:schemeClr val="tx1"/>
                </a:solidFill>
              </a:rPr>
              <a:t>“At what point does demand exceed capacity?”</a:t>
            </a:r>
          </a:p>
          <a:p>
            <a:pPr>
              <a:lnSpc>
                <a:spcPct val="90000"/>
              </a:lnSpc>
              <a:spcAft>
                <a:spcPts val="600"/>
              </a:spcAft>
            </a:pPr>
            <a:r>
              <a:rPr lang="en-US" sz="3800" i="0" u="none" strike="noStrike" cap="none" spc="0" dirty="0">
                <a:solidFill>
                  <a:schemeClr val="tx1"/>
                </a:solidFill>
              </a:rPr>
              <a:t>“What operational consequences would you expect?”</a:t>
            </a:r>
          </a:p>
          <a:p>
            <a:pPr>
              <a:lnSpc>
                <a:spcPct val="90000"/>
              </a:lnSpc>
              <a:spcAft>
                <a:spcPts val="600"/>
              </a:spcAft>
            </a:pPr>
            <a:endParaRPr lang="en-US" sz="1500" b="0" i="0" u="none" strike="noStrike" cap="none" spc="0" dirty="0">
              <a:solidFill>
                <a:schemeClr val="dk2"/>
              </a:solidFill>
            </a:endParaRPr>
          </a:p>
        </p:txBody>
      </p:sp>
    </p:spTree>
    <p:extLst>
      <p:ext uri="{BB962C8B-B14F-4D97-AF65-F5344CB8AC3E}">
        <p14:creationId xmlns:p14="http://schemas.microsoft.com/office/powerpoint/2010/main" val="3803692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a:bodyPr>
          <a:lstStyle/>
          <a:p>
            <a:r>
              <a:rPr lang="en-GB" sz="2500" b="1" dirty="0"/>
              <a:t>Solution: Runway Capacity</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23</a:t>
            </a:fld>
            <a:endParaRPr lang="en" sz="900"/>
          </a:p>
        </p:txBody>
      </p:sp>
      <p:sp>
        <p:nvSpPr>
          <p:cNvPr id="107" name="Chart frame"/>
          <p:cNvSpPr txBox="1"/>
          <p:nvPr/>
        </p:nvSpPr>
        <p:spPr>
          <a:xfrm>
            <a:off x="365760" y="1078992"/>
            <a:ext cx="4846320" cy="2743200"/>
          </a:xfrm>
          <a:prstGeom prst="roundRect">
            <a:avLst>
              <a:gd name="adj" fmla="val 8000"/>
            </a:avLst>
          </a:prstGeom>
          <a:solidFill>
            <a:srgbClr val="FFFFFF"/>
          </a:solidFill>
          <a:ln w="9525">
            <a:solidFill>
              <a:srgbClr val="D0CCD8"/>
            </a:solidFill>
          </a:ln>
        </p:spPr>
        <p:txBody>
          <a:bodyPr wrap="square" lIns="137160" tIns="137160" rIns="137160" bIns="137160" anchor="t">
            <a:noAutofit/>
          </a:bodyPr>
          <a:lstStyle/>
          <a:p>
            <a:pPr marL="0" indent="0" algn="l">
              <a:spcAft>
                <a:spcPts val="0"/>
              </a:spcAft>
              <a:buNone/>
            </a:pPr>
            <a:r>
              <a:rPr lang="en-GB" sz="1150" b="1" dirty="0">
                <a:solidFill>
                  <a:srgbClr val="440099"/>
                </a:solidFill>
                <a:latin typeface="Arial"/>
                <a:cs typeface="Arial"/>
              </a:rPr>
              <a:t>Flights demanded per hour vs design capacity (50)</a:t>
            </a:r>
          </a:p>
        </p:txBody>
      </p:sp>
      <p:sp>
        <p:nvSpPr>
          <p:cNvPr id="108" name="Hour 8–9am"/>
          <p:cNvSpPr txBox="1"/>
          <p:nvPr/>
        </p:nvSpPr>
        <p:spPr>
          <a:xfrm>
            <a:off x="502920" y="1600200"/>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8–9am</a:t>
            </a:r>
          </a:p>
        </p:txBody>
      </p:sp>
      <p:sp>
        <p:nvSpPr>
          <p:cNvPr id="109" name="Bar 8–9am"/>
          <p:cNvSpPr txBox="1"/>
          <p:nvPr/>
        </p:nvSpPr>
        <p:spPr>
          <a:xfrm>
            <a:off x="1417320" y="1618488"/>
            <a:ext cx="1600200" cy="310896"/>
          </a:xfrm>
          <a:prstGeom prst="rect">
            <a:avLst/>
          </a:prstGeom>
          <a:solidFill>
            <a:srgbClr val="440099"/>
          </a:solidFill>
          <a:ln>
            <a:noFill/>
          </a:ln>
        </p:spPr>
        <p:txBody>
          <a:bodyPr wrap="square" lIns="0" tIns="0" rIns="0" bIns="0" anchor="t">
            <a:noAutofit/>
          </a:bodyPr>
          <a:lstStyle/>
          <a:p>
            <a:pPr marL="0" indent="0" algn="l">
              <a:spcAft>
                <a:spcPts val="0"/>
              </a:spcAft>
              <a:buNone/>
            </a:pPr>
            <a:endParaRPr/>
          </a:p>
        </p:txBody>
      </p:sp>
      <p:sp>
        <p:nvSpPr>
          <p:cNvPr id="110" name="Val 8–9am"/>
          <p:cNvSpPr txBox="1"/>
          <p:nvPr/>
        </p:nvSpPr>
        <p:spPr>
          <a:xfrm>
            <a:off x="4361688" y="1600200"/>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35  (70%)</a:t>
            </a:r>
          </a:p>
        </p:txBody>
      </p:sp>
      <p:sp>
        <p:nvSpPr>
          <p:cNvPr id="111" name="Hour 9–10am"/>
          <p:cNvSpPr txBox="1"/>
          <p:nvPr/>
        </p:nvSpPr>
        <p:spPr>
          <a:xfrm>
            <a:off x="502920" y="2130552"/>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9–10am</a:t>
            </a:r>
          </a:p>
        </p:txBody>
      </p:sp>
      <p:sp>
        <p:nvSpPr>
          <p:cNvPr id="112" name="Bar 9–10am"/>
          <p:cNvSpPr txBox="1"/>
          <p:nvPr/>
        </p:nvSpPr>
        <p:spPr>
          <a:xfrm>
            <a:off x="1417320" y="2148840"/>
            <a:ext cx="2194560" cy="310896"/>
          </a:xfrm>
          <a:prstGeom prst="rect">
            <a:avLst/>
          </a:prstGeom>
          <a:solidFill>
            <a:srgbClr val="9A6BD1"/>
          </a:solidFill>
          <a:ln>
            <a:noFill/>
          </a:ln>
        </p:spPr>
        <p:txBody>
          <a:bodyPr wrap="square" lIns="0" tIns="0" rIns="0" bIns="0" anchor="t">
            <a:noAutofit/>
          </a:bodyPr>
          <a:lstStyle/>
          <a:p>
            <a:pPr marL="0" indent="0" algn="l">
              <a:spcAft>
                <a:spcPts val="0"/>
              </a:spcAft>
              <a:buNone/>
            </a:pPr>
            <a:endParaRPr/>
          </a:p>
        </p:txBody>
      </p:sp>
      <p:sp>
        <p:nvSpPr>
          <p:cNvPr id="113" name="Val 9–10am"/>
          <p:cNvSpPr txBox="1"/>
          <p:nvPr/>
        </p:nvSpPr>
        <p:spPr>
          <a:xfrm>
            <a:off x="4361688" y="2130552"/>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48  (96%)</a:t>
            </a:r>
          </a:p>
        </p:txBody>
      </p:sp>
      <p:sp>
        <p:nvSpPr>
          <p:cNvPr id="114" name="Hour 10–11am"/>
          <p:cNvSpPr txBox="1"/>
          <p:nvPr/>
        </p:nvSpPr>
        <p:spPr>
          <a:xfrm>
            <a:off x="502920" y="2660904"/>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10–11am</a:t>
            </a:r>
          </a:p>
        </p:txBody>
      </p:sp>
      <p:sp>
        <p:nvSpPr>
          <p:cNvPr id="115" name="Bar 10–11am"/>
          <p:cNvSpPr txBox="1"/>
          <p:nvPr/>
        </p:nvSpPr>
        <p:spPr>
          <a:xfrm>
            <a:off x="1417320" y="2679192"/>
            <a:ext cx="2834640" cy="310896"/>
          </a:xfrm>
          <a:prstGeom prst="rect">
            <a:avLst/>
          </a:prstGeom>
          <a:solidFill>
            <a:srgbClr val="C2410C"/>
          </a:solidFill>
          <a:ln>
            <a:noFill/>
          </a:ln>
        </p:spPr>
        <p:txBody>
          <a:bodyPr wrap="square" lIns="0" tIns="0" rIns="0" bIns="0" anchor="t">
            <a:noAutofit/>
          </a:bodyPr>
          <a:lstStyle/>
          <a:p>
            <a:pPr marL="0" indent="0" algn="l">
              <a:spcAft>
                <a:spcPts val="0"/>
              </a:spcAft>
              <a:buNone/>
            </a:pPr>
            <a:endParaRPr/>
          </a:p>
        </p:txBody>
      </p:sp>
      <p:sp>
        <p:nvSpPr>
          <p:cNvPr id="116" name="Val 10–11am"/>
          <p:cNvSpPr txBox="1"/>
          <p:nvPr/>
        </p:nvSpPr>
        <p:spPr>
          <a:xfrm>
            <a:off x="4361688" y="2660904"/>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C2410C"/>
                </a:solidFill>
                <a:latin typeface="Arial"/>
                <a:cs typeface="Arial"/>
              </a:rPr>
              <a:t>62  (124%)</a:t>
            </a:r>
          </a:p>
        </p:txBody>
      </p:sp>
      <p:sp>
        <p:nvSpPr>
          <p:cNvPr id="117" name="Hour 11–12pm"/>
          <p:cNvSpPr txBox="1"/>
          <p:nvPr/>
        </p:nvSpPr>
        <p:spPr>
          <a:xfrm>
            <a:off x="502920" y="3191256"/>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11–12pm</a:t>
            </a:r>
          </a:p>
        </p:txBody>
      </p:sp>
      <p:sp>
        <p:nvSpPr>
          <p:cNvPr id="118" name="Bar 11–12pm"/>
          <p:cNvSpPr txBox="1"/>
          <p:nvPr/>
        </p:nvSpPr>
        <p:spPr>
          <a:xfrm>
            <a:off x="1417320" y="3209544"/>
            <a:ext cx="2011680" cy="310896"/>
          </a:xfrm>
          <a:prstGeom prst="rect">
            <a:avLst/>
          </a:prstGeom>
          <a:solidFill>
            <a:srgbClr val="440099"/>
          </a:solidFill>
          <a:ln>
            <a:noFill/>
          </a:ln>
        </p:spPr>
        <p:txBody>
          <a:bodyPr wrap="square" lIns="0" tIns="0" rIns="0" bIns="0" anchor="t">
            <a:noAutofit/>
          </a:bodyPr>
          <a:lstStyle/>
          <a:p>
            <a:pPr marL="0" indent="0" algn="l">
              <a:spcAft>
                <a:spcPts val="0"/>
              </a:spcAft>
              <a:buNone/>
            </a:pPr>
            <a:endParaRPr/>
          </a:p>
        </p:txBody>
      </p:sp>
      <p:sp>
        <p:nvSpPr>
          <p:cNvPr id="119" name="Val 11–12pm"/>
          <p:cNvSpPr txBox="1"/>
          <p:nvPr/>
        </p:nvSpPr>
        <p:spPr>
          <a:xfrm>
            <a:off x="4361688" y="3191256"/>
            <a:ext cx="868680" cy="347472"/>
          </a:xfrm>
          <a:prstGeom prst="rect">
            <a:avLst/>
          </a:prstGeom>
          <a:noFill/>
          <a:ln>
            <a:noFill/>
          </a:ln>
        </p:spPr>
        <p:txBody>
          <a:bodyPr wrap="square" lIns="0" tIns="0" rIns="0" bIns="0" anchor="ctr">
            <a:noAutofit/>
          </a:bodyPr>
          <a:lstStyle/>
          <a:p>
            <a:pPr marL="0" indent="0" algn="l">
              <a:spcAft>
                <a:spcPts val="0"/>
              </a:spcAft>
              <a:buNone/>
            </a:pPr>
            <a:r>
              <a:rPr lang="en-GB" sz="1050" b="1" dirty="0">
                <a:solidFill>
                  <a:srgbClr val="1A1A1A"/>
                </a:solidFill>
                <a:latin typeface="Arial"/>
                <a:cs typeface="Arial"/>
              </a:rPr>
              <a:t>44  (88%)</a:t>
            </a:r>
          </a:p>
        </p:txBody>
      </p:sp>
      <p:sp>
        <p:nvSpPr>
          <p:cNvPr id="120" name="Capacity line"/>
          <p:cNvSpPr txBox="1"/>
          <p:nvPr/>
        </p:nvSpPr>
        <p:spPr>
          <a:xfrm>
            <a:off x="3691890" y="1508760"/>
            <a:ext cx="22860" cy="2148840"/>
          </a:xfrm>
          <a:prstGeom prst="rect">
            <a:avLst/>
          </a:prstGeom>
          <a:solidFill>
            <a:srgbClr val="C2410C"/>
          </a:solidFill>
          <a:ln>
            <a:noFill/>
          </a:ln>
        </p:spPr>
        <p:txBody>
          <a:bodyPr wrap="square" lIns="0" tIns="0" rIns="0" bIns="0" anchor="t">
            <a:noAutofit/>
          </a:bodyPr>
          <a:lstStyle/>
          <a:p>
            <a:pPr marL="0" indent="0" algn="l">
              <a:spcAft>
                <a:spcPts val="0"/>
              </a:spcAft>
              <a:buNone/>
            </a:pPr>
            <a:endParaRPr/>
          </a:p>
        </p:txBody>
      </p:sp>
      <p:sp>
        <p:nvSpPr>
          <p:cNvPr id="121" name="Capacity label"/>
          <p:cNvSpPr txBox="1"/>
          <p:nvPr/>
        </p:nvSpPr>
        <p:spPr>
          <a:xfrm>
            <a:off x="3200400" y="3639312"/>
            <a:ext cx="1005840" cy="182880"/>
          </a:xfrm>
          <a:prstGeom prst="rect">
            <a:avLst/>
          </a:prstGeom>
          <a:noFill/>
          <a:ln>
            <a:noFill/>
          </a:ln>
        </p:spPr>
        <p:txBody>
          <a:bodyPr wrap="square" lIns="0" tIns="0" rIns="0" bIns="0" anchor="ctr">
            <a:noAutofit/>
          </a:bodyPr>
          <a:lstStyle/>
          <a:p>
            <a:pPr marL="0" indent="0" algn="ctr">
              <a:spcAft>
                <a:spcPts val="0"/>
              </a:spcAft>
              <a:buNone/>
            </a:pPr>
            <a:r>
              <a:rPr lang="en-GB" sz="900" b="1" dirty="0">
                <a:solidFill>
                  <a:srgbClr val="C2410C"/>
                </a:solidFill>
                <a:latin typeface="Arial"/>
                <a:cs typeface="Arial"/>
              </a:rPr>
              <a:t>Capacity 50</a:t>
            </a:r>
          </a:p>
        </p:txBody>
      </p:sp>
      <p:sp>
        <p:nvSpPr>
          <p:cNvPr id="122" name="Answer"/>
          <p:cNvSpPr txBox="1"/>
          <p:nvPr/>
        </p:nvSpPr>
        <p:spPr>
          <a:xfrm>
            <a:off x="5349240" y="1078992"/>
            <a:ext cx="3429000" cy="1024128"/>
          </a:xfrm>
          <a:prstGeom prst="roundRect">
            <a:avLst>
              <a:gd name="adj" fmla="val 8000"/>
            </a:avLst>
          </a:prstGeom>
          <a:solidFill>
            <a:srgbClr val="440099"/>
          </a:solidFill>
          <a:ln>
            <a:noFill/>
          </a:ln>
        </p:spPr>
        <p:txBody>
          <a:bodyPr wrap="square" lIns="128016" tIns="128016" rIns="128016" bIns="128016" anchor="t">
            <a:noAutofit/>
          </a:bodyPr>
          <a:lstStyle/>
          <a:p>
            <a:pPr marL="0" indent="0" algn="l">
              <a:spcAft>
                <a:spcPts val="300"/>
              </a:spcAft>
              <a:buNone/>
            </a:pPr>
            <a:r>
              <a:rPr lang="en-GB" sz="1150" b="1" dirty="0">
                <a:solidFill>
                  <a:srgbClr val="FFFFFF"/>
                </a:solidFill>
                <a:latin typeface="Arial"/>
                <a:cs typeface="Arial"/>
              </a:rPr>
              <a:t>When does demand exceed capacity?</a:t>
            </a:r>
          </a:p>
          <a:p>
            <a:pPr marL="0" indent="0" algn="l">
              <a:spcAft>
                <a:spcPts val="0"/>
              </a:spcAft>
              <a:buNone/>
            </a:pPr>
            <a:r>
              <a:rPr lang="en-GB" sz="1100" b="0" dirty="0">
                <a:solidFill>
                  <a:srgbClr val="FFFFFF"/>
                </a:solidFill>
                <a:latin typeface="Arial"/>
                <a:cs typeface="Arial"/>
              </a:rPr>
              <a:t>10–11am: 62 flights vs 50, so 12 too many (124%). At 96%, 9–10am is already close to the limit.</a:t>
            </a:r>
          </a:p>
        </p:txBody>
      </p:sp>
      <p:sp>
        <p:nvSpPr>
          <p:cNvPr id="123" name="Knock-on"/>
          <p:cNvSpPr txBox="1"/>
          <p:nvPr/>
        </p:nvSpPr>
        <p:spPr>
          <a:xfrm>
            <a:off x="5349240" y="2194560"/>
            <a:ext cx="3429000" cy="822960"/>
          </a:xfrm>
          <a:prstGeom prst="roundRect">
            <a:avLst>
              <a:gd name="adj" fmla="val 8000"/>
            </a:avLst>
          </a:prstGeom>
          <a:solidFill>
            <a:srgbClr val="FCE3D6"/>
          </a:solidFill>
          <a:ln>
            <a:noFill/>
          </a:ln>
        </p:spPr>
        <p:txBody>
          <a:bodyPr wrap="square" lIns="128016" tIns="128016" rIns="128016" bIns="128016" anchor="ctr">
            <a:noAutofit/>
          </a:bodyPr>
          <a:lstStyle/>
          <a:p>
            <a:pPr marL="0" indent="0" algn="l">
              <a:spcAft>
                <a:spcPts val="0"/>
              </a:spcAft>
              <a:buNone/>
            </a:pPr>
            <a:r>
              <a:rPr lang="en-GB" sz="1100" b="1" dirty="0">
                <a:solidFill>
                  <a:srgbClr val="C2410C"/>
                </a:solidFill>
                <a:latin typeface="Arial"/>
                <a:cs typeface="Arial"/>
              </a:rPr>
              <a:t>Knock-on effect: </a:t>
            </a:r>
            <a:r>
              <a:rPr lang="en-GB" sz="1100" b="0" dirty="0">
                <a:solidFill>
                  <a:srgbClr val="1A1A1A"/>
                </a:solidFill>
                <a:latin typeface="Arial"/>
                <a:cs typeface="Arial"/>
              </a:rPr>
              <a:t>the 12-flight backlog spills into 11–12pm: 44 + 12 = 56, still over capacity.</a:t>
            </a:r>
          </a:p>
        </p:txBody>
      </p:sp>
      <p:sp>
        <p:nvSpPr>
          <p:cNvPr id="124" name="Consequences"/>
          <p:cNvSpPr txBox="1"/>
          <p:nvPr/>
        </p:nvSpPr>
        <p:spPr>
          <a:xfrm>
            <a:off x="5349240" y="3108960"/>
            <a:ext cx="3429000" cy="1444752"/>
          </a:xfrm>
          <a:prstGeom prst="roundRect">
            <a:avLst>
              <a:gd name="adj" fmla="val 8000"/>
            </a:avLst>
          </a:prstGeom>
          <a:solidFill>
            <a:srgbClr val="FFFFFF"/>
          </a:solidFill>
          <a:ln w="9525">
            <a:solidFill>
              <a:srgbClr val="D0CCD8"/>
            </a:solidFill>
          </a:ln>
        </p:spPr>
        <p:txBody>
          <a:bodyPr wrap="square" lIns="118872" tIns="118872" rIns="118872" bIns="118872" anchor="t">
            <a:noAutofit/>
          </a:bodyPr>
          <a:lstStyle/>
          <a:p>
            <a:pPr marL="0" indent="0" algn="l">
              <a:spcAft>
                <a:spcPts val="300"/>
              </a:spcAft>
              <a:buNone/>
            </a:pPr>
            <a:r>
              <a:rPr lang="en-GB" sz="1100" b="1" dirty="0">
                <a:solidFill>
                  <a:srgbClr val="440099"/>
                </a:solidFill>
                <a:latin typeface="Arial"/>
                <a:cs typeface="Arial"/>
              </a:rPr>
              <a:t>Operational consequences</a:t>
            </a:r>
          </a:p>
          <a:p>
            <a:pPr marL="171450" indent="-171450" algn="l">
              <a:spcAft>
                <a:spcPts val="150"/>
              </a:spcAft>
              <a:buFont typeface="Arial"/>
              <a:buChar char="•"/>
            </a:pPr>
            <a:r>
              <a:rPr lang="en-GB" sz="1050" b="0" dirty="0">
                <a:solidFill>
                  <a:srgbClr val="1A1A1A"/>
                </a:solidFill>
                <a:latin typeface="Arial"/>
                <a:cs typeface="Arial"/>
              </a:rPr>
              <a:t>Holding patterns and taxi queues</a:t>
            </a:r>
          </a:p>
          <a:p>
            <a:pPr marL="171450" indent="-171450" algn="l">
              <a:spcAft>
                <a:spcPts val="150"/>
              </a:spcAft>
              <a:buFont typeface="Arial"/>
              <a:buChar char="•"/>
            </a:pPr>
            <a:r>
              <a:rPr lang="en-GB" sz="1050" b="0" dirty="0">
                <a:solidFill>
                  <a:srgbClr val="1A1A1A"/>
                </a:solidFill>
                <a:latin typeface="Arial"/>
                <a:cs typeface="Arial"/>
              </a:rPr>
              <a:t>Delays and missed connections</a:t>
            </a:r>
          </a:p>
          <a:p>
            <a:pPr marL="171450" indent="-171450" algn="l">
              <a:spcAft>
                <a:spcPts val="150"/>
              </a:spcAft>
              <a:buFont typeface="Arial"/>
              <a:buChar char="•"/>
            </a:pPr>
            <a:r>
              <a:rPr lang="en-GB" sz="1050" b="0" dirty="0">
                <a:solidFill>
                  <a:srgbClr val="1A1A1A"/>
                </a:solidFill>
                <a:latin typeface="Arial"/>
                <a:cs typeface="Arial"/>
              </a:rPr>
              <a:t>Crew hours, fuel and slot penalties</a:t>
            </a:r>
          </a:p>
          <a:p>
            <a:pPr marL="171450" indent="-171450" algn="l">
              <a:spcAft>
                <a:spcPts val="150"/>
              </a:spcAft>
              <a:buFont typeface="Arial"/>
              <a:buChar char="•"/>
            </a:pPr>
            <a:r>
              <a:rPr lang="en-GB" sz="1050" b="0" dirty="0">
                <a:solidFill>
                  <a:srgbClr val="1A1A1A"/>
                </a:solidFill>
                <a:latin typeface="Arial"/>
                <a:cs typeface="Arial"/>
              </a:rPr>
              <a:t>Gate and terminal congestion</a:t>
            </a:r>
          </a:p>
        </p:txBody>
      </p:sp>
      <p:sp>
        <p:nvSpPr>
          <p:cNvPr id="125" name="Insight"/>
          <p:cNvSpPr txBox="1"/>
          <p:nvPr/>
        </p:nvSpPr>
        <p:spPr>
          <a:xfrm>
            <a:off x="365760" y="3931920"/>
            <a:ext cx="4846320" cy="621792"/>
          </a:xfrm>
          <a:prstGeom prst="roundRect">
            <a:avLst>
              <a:gd name="adj" fmla="val 8000"/>
            </a:avLst>
          </a:prstGeom>
          <a:solidFill>
            <a:srgbClr val="FCE3D6"/>
          </a:solidFill>
          <a:ln>
            <a:noFill/>
          </a:ln>
        </p:spPr>
        <p:txBody>
          <a:bodyPr wrap="square" lIns="109728" tIns="109728" rIns="109728" bIns="109728" anchor="ctr">
            <a:noAutofit/>
          </a:bodyPr>
          <a:lstStyle/>
          <a:p>
            <a:pPr marL="0" indent="0" algn="l">
              <a:spcAft>
                <a:spcPts val="0"/>
              </a:spcAft>
              <a:buNone/>
            </a:pPr>
            <a:r>
              <a:rPr lang="en-GB" sz="1050" b="1" dirty="0">
                <a:solidFill>
                  <a:srgbClr val="C2410C"/>
                </a:solidFill>
                <a:latin typeface="Arial"/>
                <a:cs typeface="Arial"/>
              </a:rPr>
              <a:t>Key idea: </a:t>
            </a:r>
            <a:r>
              <a:rPr lang="en-GB" sz="1050" b="0" dirty="0">
                <a:solidFill>
                  <a:srgbClr val="1A1A1A"/>
                </a:solidFill>
                <a:latin typeface="Arial"/>
                <a:cs typeface="Arial"/>
              </a:rPr>
              <a:t>total demand is 189 flights against 200 of capacity over four hours. The problem is timing, not total capacity, so smooth demand by moving flights into 8–9am.</a:t>
            </a:r>
          </a:p>
        </p:txBody>
      </p:sp>
    </p:spTree>
    <p:extLst>
      <p:ext uri="{BB962C8B-B14F-4D97-AF65-F5344CB8AC3E}">
        <p14:creationId xmlns:p14="http://schemas.microsoft.com/office/powerpoint/2010/main" val="1263969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fontScale="90000"/>
          </a:bodyPr>
          <a:lstStyle/>
          <a:p>
            <a:r>
              <a:rPr lang="en-GB" sz="2500" b="1" dirty="0"/>
              <a:t>Why Not Run at 100%?</a:t>
            </a:r>
            <a:br>
              <a:rPr lang="en-GB" sz="2500" b="1" dirty="0"/>
            </a:br>
            <a:endParaRPr lang="en-GB" sz="2500" b="1" dirty="0"/>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24</a:t>
            </a:fld>
            <a:endParaRPr lang="en" sz="900"/>
          </a:p>
        </p:txBody>
      </p:sp>
      <p:sp>
        <p:nvSpPr>
          <p:cNvPr id="101" name="Chart frame"/>
          <p:cNvSpPr txBox="1"/>
          <p:nvPr/>
        </p:nvSpPr>
        <p:spPr>
          <a:xfrm>
            <a:off x="365760" y="1097280"/>
            <a:ext cx="5029200" cy="3310128"/>
          </a:xfrm>
          <a:prstGeom prst="roundRect">
            <a:avLst>
              <a:gd name="adj" fmla="val 8000"/>
            </a:avLst>
          </a:prstGeom>
          <a:solidFill>
            <a:srgbClr val="FFFFFF"/>
          </a:solidFill>
          <a:ln w="9525">
            <a:solidFill>
              <a:srgbClr val="D0CCD8"/>
            </a:solidFill>
          </a:ln>
        </p:spPr>
        <p:txBody>
          <a:bodyPr wrap="square" lIns="91440" tIns="91440" rIns="91440" bIns="91440" anchor="t">
            <a:noAutofit/>
          </a:bodyPr>
          <a:lstStyle/>
          <a:p>
            <a:pPr marL="0" indent="0" algn="l">
              <a:spcAft>
                <a:spcPts val="0"/>
              </a:spcAft>
              <a:buNone/>
            </a:pPr>
            <a:endParaRPr/>
          </a:p>
        </p:txBody>
      </p:sp>
      <p:pic>
        <p:nvPicPr>
          <p:cNvPr id="191" name="Kingman chart" descr="Line chart: waiting time rises slowly with utilisation, then sharply above about 85%, and far more steeply with high variability."/>
          <p:cNvPicPr>
            <a:picLocks noChangeAspect="1"/>
          </p:cNvPicPr>
          <p:nvPr/>
        </p:nvPicPr>
        <p:blipFill>
          <a:blip r:embed="rId2"/>
          <a:stretch>
            <a:fillRect/>
          </a:stretch>
        </p:blipFill>
        <p:spPr>
          <a:xfrm>
            <a:off x="457200" y="1188720"/>
            <a:ext cx="4846320" cy="3141133"/>
          </a:xfrm>
          <a:prstGeom prst="rect">
            <a:avLst/>
          </a:prstGeom>
        </p:spPr>
      </p:pic>
      <p:sp>
        <p:nvSpPr>
          <p:cNvPr id="102" name="Kingman card"/>
          <p:cNvSpPr txBox="1"/>
          <p:nvPr/>
        </p:nvSpPr>
        <p:spPr>
          <a:xfrm>
            <a:off x="5577840" y="1097280"/>
            <a:ext cx="3200400" cy="1188720"/>
          </a:xfrm>
          <a:prstGeom prst="roundRect">
            <a:avLst>
              <a:gd name="adj" fmla="val 8000"/>
            </a:avLst>
          </a:prstGeom>
          <a:solidFill>
            <a:srgbClr val="440099"/>
          </a:solidFill>
          <a:ln>
            <a:noFill/>
          </a:ln>
        </p:spPr>
        <p:txBody>
          <a:bodyPr wrap="square" lIns="137160" tIns="137160" rIns="137160" bIns="137160" anchor="t">
            <a:noAutofit/>
          </a:bodyPr>
          <a:lstStyle/>
          <a:p>
            <a:pPr marL="0" indent="0" algn="l">
              <a:spcAft>
                <a:spcPts val="500"/>
              </a:spcAft>
              <a:buNone/>
            </a:pPr>
            <a:r>
              <a:rPr lang="en-GB" sz="1300" b="1" dirty="0">
                <a:solidFill>
                  <a:srgbClr val="FFFFFF"/>
                </a:solidFill>
                <a:latin typeface="Arial"/>
                <a:cs typeface="Arial"/>
              </a:rPr>
              <a:t>Kingman (1961)</a:t>
            </a:r>
          </a:p>
          <a:p>
            <a:pPr marL="0" indent="0" algn="l">
              <a:spcAft>
                <a:spcPts val="500"/>
              </a:spcAft>
              <a:buNone/>
            </a:pPr>
            <a:r>
              <a:rPr lang="en-GB" sz="1200" b="0" dirty="0">
                <a:solidFill>
                  <a:srgbClr val="FFFFFF"/>
                </a:solidFill>
                <a:latin typeface="Arial"/>
                <a:cs typeface="Arial"/>
              </a:rPr>
              <a:t>Waiting time ≈ </a:t>
            </a:r>
            <a:r>
              <a:rPr lang="en-GB" sz="1200" b="1" dirty="0">
                <a:solidFill>
                  <a:srgbClr val="FFFFFF"/>
                </a:solidFill>
                <a:latin typeface="Arial"/>
                <a:cs typeface="Arial"/>
              </a:rPr>
              <a:t>V × U × T</a:t>
            </a:r>
          </a:p>
          <a:p>
            <a:pPr marL="0" indent="0" algn="l">
              <a:spcAft>
                <a:spcPts val="0"/>
              </a:spcAft>
              <a:buNone/>
            </a:pPr>
            <a:r>
              <a:rPr lang="en-GB" sz="1050" b="0" dirty="0">
                <a:solidFill>
                  <a:srgbClr val="FFFFFF"/>
                </a:solidFill>
                <a:latin typeface="Arial"/>
                <a:cs typeface="Arial"/>
              </a:rPr>
              <a:t>V = variability of arrivals and service, U = u ÷ (1 − u), T = service time</a:t>
            </a:r>
          </a:p>
        </p:txBody>
      </p:sp>
      <p:sp>
        <p:nvSpPr>
          <p:cNvPr id="103" name="Wait card"/>
          <p:cNvSpPr txBox="1"/>
          <p:nvPr/>
        </p:nvSpPr>
        <p:spPr>
          <a:xfrm>
            <a:off x="5577840" y="2395728"/>
            <a:ext cx="3200400" cy="1051560"/>
          </a:xfrm>
          <a:prstGeom prst="roundRect">
            <a:avLst>
              <a:gd name="adj" fmla="val 8000"/>
            </a:avLst>
          </a:prstGeom>
          <a:solidFill>
            <a:srgbClr val="FFFFFF"/>
          </a:solidFill>
          <a:ln w="9525">
            <a:solidFill>
              <a:srgbClr val="D0CCD8"/>
            </a:solidFill>
          </a:ln>
        </p:spPr>
        <p:txBody>
          <a:bodyPr wrap="square" lIns="118872" tIns="118872" rIns="118872" bIns="118872" anchor="t">
            <a:noAutofit/>
          </a:bodyPr>
          <a:lstStyle/>
          <a:p>
            <a:pPr marL="0" indent="0" algn="l">
              <a:spcAft>
                <a:spcPts val="400"/>
              </a:spcAft>
              <a:buNone/>
            </a:pPr>
            <a:r>
              <a:rPr lang="en-GB" sz="1150" b="1" dirty="0">
                <a:solidFill>
                  <a:srgbClr val="440099"/>
                </a:solidFill>
                <a:latin typeface="Arial"/>
                <a:cs typeface="Arial"/>
              </a:rPr>
              <a:t>Wait when V = 1</a:t>
            </a:r>
          </a:p>
          <a:p>
            <a:pPr marL="0" indent="0" algn="l">
              <a:spcAft>
                <a:spcPts val="200"/>
              </a:spcAft>
              <a:buNone/>
            </a:pPr>
            <a:r>
              <a:rPr lang="en-GB" sz="1150" b="1" dirty="0">
                <a:solidFill>
                  <a:srgbClr val="1A1A1A"/>
                </a:solidFill>
                <a:latin typeface="Arial"/>
                <a:cs typeface="Arial"/>
              </a:rPr>
              <a:t>80% busy:  </a:t>
            </a:r>
            <a:r>
              <a:rPr lang="en-GB" sz="1150" b="0" dirty="0">
                <a:solidFill>
                  <a:srgbClr val="1A1A1A"/>
                </a:solidFill>
                <a:latin typeface="Arial"/>
                <a:cs typeface="Arial"/>
              </a:rPr>
              <a:t>4× service time</a:t>
            </a:r>
          </a:p>
          <a:p>
            <a:pPr marL="0" indent="0" algn="l">
              <a:spcAft>
                <a:spcPts val="200"/>
              </a:spcAft>
              <a:buNone/>
            </a:pPr>
            <a:r>
              <a:rPr lang="en-GB" sz="1150" b="1" dirty="0">
                <a:solidFill>
                  <a:srgbClr val="1A1A1A"/>
                </a:solidFill>
                <a:latin typeface="Arial"/>
                <a:cs typeface="Arial"/>
              </a:rPr>
              <a:t>90% busy:  </a:t>
            </a:r>
            <a:r>
              <a:rPr lang="en-GB" sz="1150" b="0" dirty="0">
                <a:solidFill>
                  <a:srgbClr val="1A1A1A"/>
                </a:solidFill>
                <a:latin typeface="Arial"/>
                <a:cs typeface="Arial"/>
              </a:rPr>
              <a:t>9× service time</a:t>
            </a:r>
          </a:p>
          <a:p>
            <a:pPr marL="0" indent="0" algn="l">
              <a:spcAft>
                <a:spcPts val="200"/>
              </a:spcAft>
              <a:buNone/>
            </a:pPr>
            <a:r>
              <a:rPr lang="en-GB" sz="1150" b="1" dirty="0">
                <a:solidFill>
                  <a:srgbClr val="1A1A1A"/>
                </a:solidFill>
                <a:latin typeface="Arial"/>
                <a:cs typeface="Arial"/>
              </a:rPr>
              <a:t>95% busy:  </a:t>
            </a:r>
            <a:r>
              <a:rPr lang="en-GB" sz="1150" b="0" dirty="0">
                <a:solidFill>
                  <a:srgbClr val="1A1A1A"/>
                </a:solidFill>
                <a:latin typeface="Arial"/>
                <a:cs typeface="Arial"/>
              </a:rPr>
              <a:t>19× service time</a:t>
            </a:r>
          </a:p>
        </p:txBody>
      </p:sp>
      <p:sp>
        <p:nvSpPr>
          <p:cNvPr id="104" name="Takeaway"/>
          <p:cNvSpPr txBox="1"/>
          <p:nvPr/>
        </p:nvSpPr>
        <p:spPr>
          <a:xfrm>
            <a:off x="5577840" y="3557016"/>
            <a:ext cx="3200400" cy="850392"/>
          </a:xfrm>
          <a:prstGeom prst="roundRect">
            <a:avLst>
              <a:gd name="adj" fmla="val 8000"/>
            </a:avLst>
          </a:prstGeom>
          <a:solidFill>
            <a:srgbClr val="FCE3D6"/>
          </a:solidFill>
          <a:ln>
            <a:noFill/>
          </a:ln>
        </p:spPr>
        <p:txBody>
          <a:bodyPr wrap="square" lIns="118872" tIns="118872" rIns="118872" bIns="118872" anchor="ctr">
            <a:noAutofit/>
          </a:bodyPr>
          <a:lstStyle/>
          <a:p>
            <a:pPr marL="0" indent="0" algn="l">
              <a:spcAft>
                <a:spcPts val="0"/>
              </a:spcAft>
              <a:buNone/>
            </a:pPr>
            <a:r>
              <a:rPr lang="en-GB" sz="1150" b="1" dirty="0">
                <a:solidFill>
                  <a:srgbClr val="C2410C"/>
                </a:solidFill>
                <a:latin typeface="Arial"/>
                <a:cs typeface="Arial"/>
              </a:rPr>
              <a:t>Going from 90% to 95% busy roughly doubles the wait. </a:t>
            </a:r>
            <a:r>
              <a:rPr lang="en-GB" sz="1150" b="0" dirty="0">
                <a:solidFill>
                  <a:srgbClr val="1A1A1A"/>
                </a:solidFill>
                <a:latin typeface="Arial"/>
                <a:cs typeface="Arial"/>
              </a:rPr>
              <a:t>Variability makes every point worse.</a:t>
            </a:r>
          </a:p>
        </p:txBody>
      </p:sp>
      <p:sp>
        <p:nvSpPr>
          <p:cNvPr id="4" name="TextBox 3">
            <a:extLst>
              <a:ext uri="{FF2B5EF4-FFF2-40B4-BE49-F238E27FC236}">
                <a16:creationId xmlns:a16="http://schemas.microsoft.com/office/drawing/2014/main" id="{04CCE487-44C2-D1AC-4029-220DBA9B765F}"/>
              </a:ext>
            </a:extLst>
          </p:cNvPr>
          <p:cNvSpPr txBox="1"/>
          <p:nvPr/>
        </p:nvSpPr>
        <p:spPr>
          <a:xfrm>
            <a:off x="0" y="4542416"/>
            <a:ext cx="8594182" cy="800219"/>
          </a:xfrm>
          <a:prstGeom prst="rect">
            <a:avLst/>
          </a:prstGeom>
          <a:noFill/>
        </p:spPr>
        <p:txBody>
          <a:bodyPr wrap="square" rtlCol="0">
            <a:spAutoFit/>
          </a:bodyPr>
          <a:lstStyle/>
          <a:p>
            <a:pPr marL="285750" indent="-285750">
              <a:buFont typeface="Arial" panose="020B0604020202020204" pitchFamily="34" charset="0"/>
              <a:buChar char="•"/>
            </a:pPr>
            <a:r>
              <a:rPr lang="en-GB" sz="1600" dirty="0"/>
              <a:t>Different theoretical arguments about capacity in the literature try to explain how capacity affects flow, waiting times and investment decisions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688680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173157" y="461354"/>
            <a:ext cx="8520600" cy="572700"/>
          </a:xfrm>
        </p:spPr>
        <p:txBody>
          <a:bodyPr wrap="square" anchor="ctr">
            <a:normAutofit/>
          </a:bodyPr>
          <a:lstStyle/>
          <a:p>
            <a:r>
              <a:rPr lang="en-GB" sz="2500" b="1" dirty="0"/>
              <a:t>Theory Behind Spare Capacity</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25</a:t>
            </a:fld>
            <a:endParaRPr lang="en" sz="900"/>
          </a:p>
        </p:txBody>
      </p:sp>
      <p:sp>
        <p:nvSpPr>
          <p:cNvPr id="105" name="Theory 1"/>
          <p:cNvSpPr txBox="1"/>
          <p:nvPr/>
        </p:nvSpPr>
        <p:spPr>
          <a:xfrm>
            <a:off x="365760" y="1097280"/>
            <a:ext cx="4137660" cy="1371600"/>
          </a:xfrm>
          <a:prstGeom prst="roundRect">
            <a:avLst>
              <a:gd name="adj" fmla="val 8000"/>
            </a:avLst>
          </a:prstGeom>
          <a:solidFill>
            <a:srgbClr val="FFFFFF"/>
          </a:solidFill>
          <a:ln w="9525">
            <a:solidFill>
              <a:srgbClr val="D0CCD8"/>
            </a:solidFill>
          </a:ln>
        </p:spPr>
        <p:txBody>
          <a:bodyPr wrap="square" lIns="118872" tIns="118872" rIns="118872" bIns="118872" anchor="t">
            <a:noAutofit/>
          </a:bodyPr>
          <a:lstStyle/>
          <a:p>
            <a:pPr marL="0" indent="0" algn="l">
              <a:spcAft>
                <a:spcPts val="500"/>
              </a:spcAft>
              <a:buNone/>
            </a:pPr>
            <a:r>
              <a:rPr lang="en-GB" sz="1250" b="1" dirty="0">
                <a:solidFill>
                  <a:srgbClr val="440099"/>
                </a:solidFill>
                <a:latin typeface="Arial"/>
                <a:cs typeface="Arial"/>
              </a:rPr>
              <a:t>Heavy-traffic queueing  </a:t>
            </a:r>
            <a:r>
              <a:rPr lang="en-GB" sz="1000" b="0" dirty="0">
                <a:solidFill>
                  <a:srgbClr val="5A5A5A"/>
                </a:solidFill>
                <a:latin typeface="Arial"/>
                <a:cs typeface="Arial"/>
              </a:rPr>
              <a:t>Kingman (1961)</a:t>
            </a:r>
          </a:p>
          <a:p>
            <a:pPr marL="0" indent="0" algn="l">
              <a:spcAft>
                <a:spcPts val="500"/>
              </a:spcAft>
              <a:buNone/>
            </a:pPr>
            <a:r>
              <a:rPr lang="en-GB" sz="1050" b="0" dirty="0">
                <a:solidFill>
                  <a:srgbClr val="1A1A1A"/>
                </a:solidFill>
                <a:latin typeface="Arial"/>
                <a:cs typeface="Arial"/>
              </a:rPr>
              <a:t>Near 100% utilisation, waiting time rises sharply, especially when arrivals or processing times vary.</a:t>
            </a:r>
          </a:p>
          <a:p>
            <a:pPr marL="0" indent="0" algn="l">
              <a:spcAft>
                <a:spcPts val="0"/>
              </a:spcAft>
              <a:buNone/>
            </a:pPr>
            <a:r>
              <a:rPr lang="en-GB" sz="1050" b="1" dirty="0">
                <a:solidFill>
                  <a:srgbClr val="C2410C"/>
                </a:solidFill>
                <a:latin typeface="Arial"/>
                <a:cs typeface="Arial"/>
              </a:rPr>
              <a:t>For managers: </a:t>
            </a:r>
            <a:r>
              <a:rPr lang="en-GB" sz="1050" b="0" dirty="0">
                <a:solidFill>
                  <a:srgbClr val="1A1A1A"/>
                </a:solidFill>
                <a:latin typeface="Arial"/>
                <a:cs typeface="Arial"/>
              </a:rPr>
              <a:t>Set utilisation targets by variability: a stable production line can run hotter than an A&amp;E department.</a:t>
            </a:r>
          </a:p>
        </p:txBody>
      </p:sp>
      <p:sp>
        <p:nvSpPr>
          <p:cNvPr id="106" name="Theory 2"/>
          <p:cNvSpPr txBox="1"/>
          <p:nvPr/>
        </p:nvSpPr>
        <p:spPr>
          <a:xfrm>
            <a:off x="4640580" y="1097280"/>
            <a:ext cx="4137660" cy="1371600"/>
          </a:xfrm>
          <a:prstGeom prst="roundRect">
            <a:avLst>
              <a:gd name="adj" fmla="val 8000"/>
            </a:avLst>
          </a:prstGeom>
          <a:solidFill>
            <a:srgbClr val="FFFFFF"/>
          </a:solidFill>
          <a:ln w="9525">
            <a:solidFill>
              <a:srgbClr val="D0CCD8"/>
            </a:solidFill>
          </a:ln>
        </p:spPr>
        <p:txBody>
          <a:bodyPr wrap="square" lIns="118872" tIns="118872" rIns="118872" bIns="118872" anchor="t">
            <a:noAutofit/>
          </a:bodyPr>
          <a:lstStyle/>
          <a:p>
            <a:pPr marL="0" indent="0" algn="l">
              <a:spcAft>
                <a:spcPts val="500"/>
              </a:spcAft>
              <a:buNone/>
            </a:pPr>
            <a:r>
              <a:rPr lang="en-GB" sz="1250" b="1" dirty="0">
                <a:solidFill>
                  <a:srgbClr val="440099"/>
                </a:solidFill>
                <a:latin typeface="Arial"/>
                <a:cs typeface="Arial"/>
              </a:rPr>
              <a:t>Buffering  </a:t>
            </a:r>
            <a:r>
              <a:rPr lang="en-GB" sz="1000" b="0" dirty="0">
                <a:solidFill>
                  <a:srgbClr val="5A5A5A"/>
                </a:solidFill>
                <a:latin typeface="Arial"/>
                <a:cs typeface="Arial"/>
              </a:rPr>
              <a:t>Hopp &amp; Spearman (2004)</a:t>
            </a:r>
          </a:p>
          <a:p>
            <a:pPr marL="0" indent="0" algn="l">
              <a:spcAft>
                <a:spcPts val="500"/>
              </a:spcAft>
              <a:buNone/>
            </a:pPr>
            <a:r>
              <a:rPr lang="en-GB" sz="1050" b="0" dirty="0">
                <a:solidFill>
                  <a:srgbClr val="1A1A1A"/>
                </a:solidFill>
                <a:latin typeface="Arial"/>
                <a:cs typeface="Arial"/>
              </a:rPr>
              <a:t>Variability must be absorbed by something: inventory, waiting time or spare capacity.</a:t>
            </a:r>
          </a:p>
          <a:p>
            <a:pPr marL="0" indent="0" algn="l">
              <a:spcAft>
                <a:spcPts val="0"/>
              </a:spcAft>
              <a:buNone/>
            </a:pPr>
            <a:r>
              <a:rPr lang="en-GB" sz="1050" b="1" dirty="0">
                <a:solidFill>
                  <a:srgbClr val="C2410C"/>
                </a:solidFill>
                <a:latin typeface="Arial"/>
                <a:cs typeface="Arial"/>
              </a:rPr>
              <a:t>For managers: </a:t>
            </a:r>
            <a:r>
              <a:rPr lang="en-GB" sz="1050" b="0" dirty="0">
                <a:solidFill>
                  <a:srgbClr val="1A1A1A"/>
                </a:solidFill>
                <a:latin typeface="Arial"/>
                <a:cs typeface="Arial"/>
              </a:rPr>
              <a:t>“Unused” capacity is a buffer that buys responsiveness. Cut it and the cost moves into queues or stock.</a:t>
            </a:r>
          </a:p>
        </p:txBody>
      </p:sp>
      <p:sp>
        <p:nvSpPr>
          <p:cNvPr id="107" name="Theory 3"/>
          <p:cNvSpPr txBox="1"/>
          <p:nvPr/>
        </p:nvSpPr>
        <p:spPr>
          <a:xfrm>
            <a:off x="365760" y="2578608"/>
            <a:ext cx="4137660" cy="1371600"/>
          </a:xfrm>
          <a:prstGeom prst="roundRect">
            <a:avLst>
              <a:gd name="adj" fmla="val 8000"/>
            </a:avLst>
          </a:prstGeom>
          <a:solidFill>
            <a:srgbClr val="FFFFFF"/>
          </a:solidFill>
          <a:ln w="9525">
            <a:solidFill>
              <a:srgbClr val="D0CCD8"/>
            </a:solidFill>
          </a:ln>
        </p:spPr>
        <p:txBody>
          <a:bodyPr wrap="square" lIns="118872" tIns="118872" rIns="118872" bIns="118872" anchor="t">
            <a:noAutofit/>
          </a:bodyPr>
          <a:lstStyle/>
          <a:p>
            <a:pPr marL="0" indent="0" algn="l">
              <a:spcAft>
                <a:spcPts val="500"/>
              </a:spcAft>
              <a:buNone/>
            </a:pPr>
            <a:r>
              <a:rPr lang="en-GB" sz="1250" b="1" dirty="0">
                <a:solidFill>
                  <a:srgbClr val="440099"/>
                </a:solidFill>
                <a:latin typeface="Arial"/>
                <a:cs typeface="Arial"/>
              </a:rPr>
              <a:t>Bottlenecks and congestion  </a:t>
            </a:r>
            <a:r>
              <a:rPr lang="en-GB" sz="1000" b="0" dirty="0">
                <a:solidFill>
                  <a:srgbClr val="5A5A5A"/>
                </a:solidFill>
                <a:latin typeface="Arial"/>
                <a:cs typeface="Arial"/>
              </a:rPr>
              <a:t>Spearman (1991)</a:t>
            </a:r>
          </a:p>
          <a:p>
            <a:pPr marL="0" indent="0" algn="l">
              <a:spcAft>
                <a:spcPts val="500"/>
              </a:spcAft>
              <a:buNone/>
            </a:pPr>
            <a:r>
              <a:rPr lang="en-GB" sz="1050" b="0" dirty="0">
                <a:solidFill>
                  <a:srgbClr val="1A1A1A"/>
                </a:solidFill>
                <a:latin typeface="Arial"/>
                <a:cs typeface="Arial"/>
              </a:rPr>
              <a:t>Line performance depends on the bottleneck rate, raw processing time and congestion across the whole system.</a:t>
            </a:r>
          </a:p>
          <a:p>
            <a:pPr marL="0" indent="0" algn="l">
              <a:spcAft>
                <a:spcPts val="0"/>
              </a:spcAft>
              <a:buNone/>
            </a:pPr>
            <a:r>
              <a:rPr lang="en-GB" sz="1050" b="1" dirty="0">
                <a:solidFill>
                  <a:srgbClr val="C2410C"/>
                </a:solidFill>
                <a:latin typeface="Arial"/>
                <a:cs typeface="Arial"/>
              </a:rPr>
              <a:t>For managers: </a:t>
            </a:r>
            <a:r>
              <a:rPr lang="en-GB" sz="1050" b="0" dirty="0">
                <a:solidFill>
                  <a:srgbClr val="1A1A1A"/>
                </a:solidFill>
                <a:latin typeface="Arial"/>
                <a:cs typeface="Arial"/>
              </a:rPr>
              <a:t>Assess capacity at system level. Extra capacity away from the bottleneck adds cost, not output.</a:t>
            </a:r>
          </a:p>
        </p:txBody>
      </p:sp>
      <p:sp>
        <p:nvSpPr>
          <p:cNvPr id="108" name="Theory 4"/>
          <p:cNvSpPr txBox="1"/>
          <p:nvPr/>
        </p:nvSpPr>
        <p:spPr>
          <a:xfrm>
            <a:off x="4640580" y="2578608"/>
            <a:ext cx="4137660" cy="1371600"/>
          </a:xfrm>
          <a:prstGeom prst="roundRect">
            <a:avLst>
              <a:gd name="adj" fmla="val 8000"/>
            </a:avLst>
          </a:prstGeom>
          <a:solidFill>
            <a:srgbClr val="FFFFFF"/>
          </a:solidFill>
          <a:ln w="9525">
            <a:solidFill>
              <a:srgbClr val="D0CCD8"/>
            </a:solidFill>
          </a:ln>
        </p:spPr>
        <p:txBody>
          <a:bodyPr wrap="square" lIns="118872" tIns="118872" rIns="118872" bIns="118872" anchor="t">
            <a:noAutofit/>
          </a:bodyPr>
          <a:lstStyle/>
          <a:p>
            <a:pPr marL="0" indent="0" algn="l">
              <a:spcAft>
                <a:spcPts val="500"/>
              </a:spcAft>
              <a:buNone/>
            </a:pPr>
            <a:r>
              <a:rPr lang="en-GB" sz="1250" b="1" dirty="0">
                <a:solidFill>
                  <a:srgbClr val="440099"/>
                </a:solidFill>
                <a:latin typeface="Arial"/>
                <a:cs typeface="Arial"/>
              </a:rPr>
              <a:t>Investment under uncertainty  </a:t>
            </a:r>
            <a:r>
              <a:rPr lang="en-GB" sz="1000" b="0" dirty="0">
                <a:solidFill>
                  <a:srgbClr val="5A5A5A"/>
                </a:solidFill>
                <a:latin typeface="Arial"/>
                <a:cs typeface="Arial"/>
              </a:rPr>
              <a:t>Van Mieghem (2003)</a:t>
            </a:r>
          </a:p>
          <a:p>
            <a:pPr marL="0" indent="0" algn="l">
              <a:spcAft>
                <a:spcPts val="500"/>
              </a:spcAft>
              <a:buNone/>
            </a:pPr>
            <a:r>
              <a:rPr lang="en-GB" sz="1050" b="0" dirty="0">
                <a:solidFill>
                  <a:srgbClr val="1A1A1A"/>
                </a:solidFill>
                <a:latin typeface="Arial"/>
                <a:cs typeface="Arial"/>
              </a:rPr>
              <a:t>Capacity decisions cover size, type (dedicated or flexible) and timing when demand is uncertain.</a:t>
            </a:r>
          </a:p>
          <a:p>
            <a:pPr marL="0" indent="0" algn="l">
              <a:spcAft>
                <a:spcPts val="0"/>
              </a:spcAft>
              <a:buNone/>
            </a:pPr>
            <a:r>
              <a:rPr lang="en-GB" sz="1050" b="1" dirty="0">
                <a:solidFill>
                  <a:srgbClr val="C2410C"/>
                </a:solidFill>
                <a:latin typeface="Arial"/>
                <a:cs typeface="Arial"/>
              </a:rPr>
              <a:t>For managers: </a:t>
            </a:r>
            <a:r>
              <a:rPr lang="en-GB" sz="1050" b="0" dirty="0">
                <a:solidFill>
                  <a:srgbClr val="1A1A1A"/>
                </a:solidFill>
                <a:latin typeface="Arial"/>
                <a:cs typeface="Arial"/>
              </a:rPr>
              <a:t>Some excess or flexible capacity works as a hedge against demand risk, much like insurance.</a:t>
            </a:r>
          </a:p>
        </p:txBody>
      </p:sp>
      <p:sp>
        <p:nvSpPr>
          <p:cNvPr id="109" name="Discussion"/>
          <p:cNvSpPr txBox="1"/>
          <p:nvPr/>
        </p:nvSpPr>
        <p:spPr>
          <a:xfrm>
            <a:off x="365760" y="4005072"/>
            <a:ext cx="8412480" cy="566928"/>
          </a:xfrm>
          <a:prstGeom prst="roundRect">
            <a:avLst>
              <a:gd name="adj" fmla="val 8000"/>
            </a:avLst>
          </a:prstGeom>
          <a:solidFill>
            <a:srgbClr val="440099"/>
          </a:solidFill>
          <a:ln>
            <a:noFill/>
          </a:ln>
        </p:spPr>
        <p:txBody>
          <a:bodyPr wrap="square" lIns="137160" tIns="137160" rIns="137160" bIns="137160" anchor="ctr">
            <a:noAutofit/>
          </a:bodyPr>
          <a:lstStyle/>
          <a:p>
            <a:pPr marL="0" indent="0" algn="l">
              <a:spcAft>
                <a:spcPts val="0"/>
              </a:spcAft>
              <a:buNone/>
            </a:pPr>
            <a:r>
              <a:rPr lang="en-GB" sz="1200" b="1" dirty="0">
                <a:solidFill>
                  <a:srgbClr val="FFFFFF"/>
                </a:solidFill>
                <a:latin typeface="Arial"/>
                <a:cs typeface="Arial"/>
              </a:rPr>
              <a:t>Discuss: </a:t>
            </a:r>
            <a:r>
              <a:rPr lang="en-GB" sz="1200" b="0" dirty="0">
                <a:solidFill>
                  <a:srgbClr val="FFFFFF"/>
                </a:solidFill>
                <a:latin typeface="Arial"/>
                <a:cs typeface="Arial"/>
              </a:rPr>
              <a:t>If capacity is costly, why might an organisation deliberately operate below 100% utilisation?</a:t>
            </a:r>
          </a:p>
        </p:txBody>
      </p:sp>
    </p:spTree>
    <p:extLst>
      <p:ext uri="{BB962C8B-B14F-4D97-AF65-F5344CB8AC3E}">
        <p14:creationId xmlns:p14="http://schemas.microsoft.com/office/powerpoint/2010/main" val="2262014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C892AB6B-793A-4E13-6468-CA34C6FA949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7FC50EB-AEFE-5043-CC25-87DD61CCF6AB}"/>
              </a:ext>
            </a:extLst>
          </p:cNvPr>
          <p:cNvSpPr>
            <a:spLocks noGrp="1"/>
          </p:cNvSpPr>
          <p:nvPr>
            <p:ph type="title"/>
          </p:nvPr>
        </p:nvSpPr>
        <p:spPr>
          <a:xfrm>
            <a:off x="2286000" y="384048"/>
            <a:ext cx="6492240" cy="576072"/>
          </a:xfrm>
        </p:spPr>
        <p:txBody>
          <a:bodyPr wrap="square" anchor="ctr">
            <a:normAutofit/>
          </a:bodyPr>
          <a:lstStyle/>
          <a:p>
            <a:r>
              <a:rPr lang="en-GB" sz="2500" b="1" dirty="0"/>
              <a:t>Utilisation of Capacity</a:t>
            </a:r>
          </a:p>
        </p:txBody>
      </p:sp>
      <p:sp>
        <p:nvSpPr>
          <p:cNvPr id="80" name="Google Shape;80;p16">
            <a:extLst>
              <a:ext uri="{FF2B5EF4-FFF2-40B4-BE49-F238E27FC236}">
                <a16:creationId xmlns:a16="http://schemas.microsoft.com/office/drawing/2014/main" id="{24454282-4117-CBEA-FBF4-9EC900A499C4}"/>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26</a:t>
            </a:fld>
            <a:endParaRPr lang="en" sz="900"/>
          </a:p>
        </p:txBody>
      </p:sp>
      <p:sp>
        <p:nvSpPr>
          <p:cNvPr id="401" name="Def"/>
          <p:cNvSpPr txBox="1"/>
          <p:nvPr/>
        </p:nvSpPr>
        <p:spPr>
          <a:xfrm>
            <a:off x="365760" y="1097280"/>
            <a:ext cx="8412480" cy="457200"/>
          </a:xfrm>
          <a:prstGeom prst="roundRect">
            <a:avLst>
              <a:gd name="adj" fmla="val 8000"/>
            </a:avLst>
          </a:prstGeom>
          <a:solidFill>
            <a:srgbClr val="EDE6F7"/>
          </a:solidFill>
          <a:ln>
            <a:noFill/>
          </a:ln>
        </p:spPr>
        <p:txBody>
          <a:bodyPr wrap="square" lIns="128016" tIns="128016" rIns="128016" bIns="128016" anchor="ctr">
            <a:noAutofit/>
          </a:bodyPr>
          <a:lstStyle/>
          <a:p>
            <a:pPr marL="0" indent="0" algn="l">
              <a:spcAft>
                <a:spcPts val="0"/>
              </a:spcAft>
              <a:buNone/>
            </a:pPr>
            <a:r>
              <a:rPr lang="en-GB" sz="1250" b="1" dirty="0">
                <a:solidFill>
                  <a:srgbClr val="440099"/>
                </a:solidFill>
                <a:latin typeface="Arial"/>
                <a:cs typeface="Arial"/>
              </a:rPr>
              <a:t>Utilisation </a:t>
            </a:r>
            <a:r>
              <a:rPr lang="en-GB" sz="1150" b="0" dirty="0">
                <a:solidFill>
                  <a:srgbClr val="1A1A1A"/>
                </a:solidFill>
                <a:latin typeface="Arial"/>
                <a:cs typeface="Arial"/>
              </a:rPr>
              <a:t>measures the proportion of available capacity that is actually used (Waters, 1996). Multiply by 100 for a percentage.</a:t>
            </a:r>
          </a:p>
        </p:txBody>
      </p:sp>
      <p:sp>
        <p:nvSpPr>
          <p:cNvPr id="402" name="Card m"/>
          <p:cNvSpPr txBox="1"/>
          <p:nvPr/>
        </p:nvSpPr>
        <p:spPr>
          <a:xfrm>
            <a:off x="365760" y="1691640"/>
            <a:ext cx="8412480" cy="86868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403" name="Name m"/>
          <p:cNvSpPr txBox="1"/>
          <p:nvPr/>
        </p:nvSpPr>
        <p:spPr>
          <a:xfrm>
            <a:off x="548640" y="1691640"/>
            <a:ext cx="2743200" cy="868680"/>
          </a:xfrm>
          <a:prstGeom prst="rect">
            <a:avLst/>
          </a:prstGeom>
          <a:noFill/>
          <a:ln>
            <a:noFill/>
          </a:ln>
        </p:spPr>
        <p:txBody>
          <a:bodyPr wrap="square" lIns="0" tIns="0" rIns="0" bIns="0" anchor="ctr">
            <a:noAutofit/>
          </a:bodyPr>
          <a:lstStyle/>
          <a:p>
            <a:pPr marL="0" indent="0" algn="l">
              <a:spcAft>
                <a:spcPts val="150"/>
              </a:spcAft>
              <a:buNone/>
            </a:pPr>
            <a:r>
              <a:rPr lang="en-GB" sz="1500" b="1" dirty="0">
                <a:solidFill>
                  <a:srgbClr val="440099"/>
                </a:solidFill>
                <a:latin typeface="Arial"/>
                <a:cs typeface="Arial"/>
              </a:rPr>
              <a:t>Machine utilisation</a:t>
            </a:r>
          </a:p>
          <a:p>
            <a:pPr marL="0" indent="0" algn="l">
              <a:spcAft>
                <a:spcPts val="0"/>
              </a:spcAft>
              <a:buNone/>
            </a:pPr>
            <a:r>
              <a:rPr lang="en-GB" sz="1000" b="0" dirty="0">
                <a:solidFill>
                  <a:srgbClr val="5A5A5A"/>
                </a:solidFill>
                <a:latin typeface="Arial"/>
                <a:cs typeface="Arial"/>
              </a:rPr>
              <a:t>Equipment: share of the designed output achieved</a:t>
            </a:r>
          </a:p>
        </p:txBody>
      </p:sp>
      <p:sp>
        <p:nvSpPr>
          <p:cNvPr id="404" name="Eq m"/>
          <p:cNvSpPr txBox="1"/>
          <p:nvPr/>
        </p:nvSpPr>
        <p:spPr>
          <a:xfrm>
            <a:off x="3337560" y="1691640"/>
            <a:ext cx="365760" cy="868680"/>
          </a:xfrm>
          <a:prstGeom prst="rect">
            <a:avLst/>
          </a:prstGeom>
          <a:noFill/>
          <a:ln>
            <a:noFill/>
          </a:ln>
        </p:spPr>
        <p:txBody>
          <a:bodyPr wrap="square" lIns="0" tIns="0" rIns="0" bIns="0" anchor="ctr">
            <a:noAutofit/>
          </a:bodyPr>
          <a:lstStyle/>
          <a:p>
            <a:pPr marL="0" indent="0" algn="ctr">
              <a:spcAft>
                <a:spcPts val="0"/>
              </a:spcAft>
              <a:buNone/>
            </a:pPr>
            <a:r>
              <a:rPr lang="en-GB" sz="1600" b="0" dirty="0">
                <a:solidFill>
                  <a:srgbClr val="1A1A1A"/>
                </a:solidFill>
                <a:latin typeface="Arial"/>
                <a:cs typeface="Arial"/>
              </a:rPr>
              <a:t>=</a:t>
            </a:r>
          </a:p>
        </p:txBody>
      </p:sp>
      <p:sp>
        <p:nvSpPr>
          <p:cNvPr id="405" name="Num m"/>
          <p:cNvSpPr txBox="1"/>
          <p:nvPr/>
        </p:nvSpPr>
        <p:spPr>
          <a:xfrm>
            <a:off x="3794760" y="1796796"/>
            <a:ext cx="3108960" cy="301752"/>
          </a:xfrm>
          <a:prstGeom prst="rect">
            <a:avLst/>
          </a:prstGeom>
          <a:noFill/>
          <a:ln>
            <a:noFill/>
          </a:ln>
        </p:spPr>
        <p:txBody>
          <a:bodyPr wrap="square" lIns="0" tIns="0" rIns="0" bIns="0" anchor="b">
            <a:noAutofit/>
          </a:bodyPr>
          <a:lstStyle/>
          <a:p>
            <a:pPr marL="0" indent="0" algn="ctr">
              <a:spcAft>
                <a:spcPts val="0"/>
              </a:spcAft>
              <a:buNone/>
            </a:pPr>
            <a:r>
              <a:rPr lang="en-GB" sz="1500" b="0" dirty="0">
                <a:solidFill>
                  <a:srgbClr val="1A1A1A"/>
                </a:solidFill>
                <a:latin typeface="Arial"/>
                <a:cs typeface="Arial"/>
              </a:rPr>
              <a:t>Achieved capacity</a:t>
            </a:r>
          </a:p>
        </p:txBody>
      </p:sp>
      <p:sp>
        <p:nvSpPr>
          <p:cNvPr id="406" name="Bar m"/>
          <p:cNvSpPr txBox="1"/>
          <p:nvPr/>
        </p:nvSpPr>
        <p:spPr>
          <a:xfrm>
            <a:off x="3886200" y="2116836"/>
            <a:ext cx="2926080" cy="18288"/>
          </a:xfrm>
          <a:prstGeom prst="rect">
            <a:avLst/>
          </a:prstGeom>
          <a:solidFill>
            <a:srgbClr val="1A1A1A"/>
          </a:solidFill>
          <a:ln>
            <a:noFill/>
          </a:ln>
        </p:spPr>
        <p:txBody>
          <a:bodyPr wrap="square" lIns="0" tIns="0" rIns="0" bIns="0" anchor="t">
            <a:noAutofit/>
          </a:bodyPr>
          <a:lstStyle/>
          <a:p>
            <a:pPr marL="0" indent="0" algn="l">
              <a:spcAft>
                <a:spcPts val="0"/>
              </a:spcAft>
              <a:buNone/>
            </a:pPr>
            <a:endParaRPr/>
          </a:p>
        </p:txBody>
      </p:sp>
      <p:sp>
        <p:nvSpPr>
          <p:cNvPr id="407" name="Den m"/>
          <p:cNvSpPr txBox="1"/>
          <p:nvPr/>
        </p:nvSpPr>
        <p:spPr>
          <a:xfrm>
            <a:off x="3794760" y="2153412"/>
            <a:ext cx="3108960" cy="301752"/>
          </a:xfrm>
          <a:prstGeom prst="rect">
            <a:avLst/>
          </a:prstGeom>
          <a:noFill/>
          <a:ln>
            <a:noFill/>
          </a:ln>
        </p:spPr>
        <p:txBody>
          <a:bodyPr wrap="square" lIns="0" tIns="0" rIns="0" bIns="0" anchor="t">
            <a:noAutofit/>
          </a:bodyPr>
          <a:lstStyle/>
          <a:p>
            <a:pPr marL="0" indent="0" algn="ctr">
              <a:spcAft>
                <a:spcPts val="0"/>
              </a:spcAft>
              <a:buNone/>
            </a:pPr>
            <a:r>
              <a:rPr lang="en-GB" sz="1500" b="0" dirty="0">
                <a:solidFill>
                  <a:srgbClr val="1A1A1A"/>
                </a:solidFill>
                <a:latin typeface="Arial"/>
                <a:cs typeface="Arial"/>
              </a:rPr>
              <a:t>Design capacity</a:t>
            </a:r>
          </a:p>
        </p:txBody>
      </p:sp>
      <p:sp>
        <p:nvSpPr>
          <p:cNvPr id="408" name="Card r"/>
          <p:cNvSpPr txBox="1"/>
          <p:nvPr/>
        </p:nvSpPr>
        <p:spPr>
          <a:xfrm>
            <a:off x="365760" y="2670048"/>
            <a:ext cx="8412480" cy="86868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409" name="Name r"/>
          <p:cNvSpPr txBox="1"/>
          <p:nvPr/>
        </p:nvSpPr>
        <p:spPr>
          <a:xfrm>
            <a:off x="548640" y="2670048"/>
            <a:ext cx="2743200" cy="868680"/>
          </a:xfrm>
          <a:prstGeom prst="rect">
            <a:avLst/>
          </a:prstGeom>
          <a:noFill/>
          <a:ln>
            <a:noFill/>
          </a:ln>
        </p:spPr>
        <p:txBody>
          <a:bodyPr wrap="square" lIns="0" tIns="0" rIns="0" bIns="0" anchor="ctr">
            <a:noAutofit/>
          </a:bodyPr>
          <a:lstStyle/>
          <a:p>
            <a:pPr marL="0" indent="0" algn="l">
              <a:spcAft>
                <a:spcPts val="150"/>
              </a:spcAft>
              <a:buNone/>
            </a:pPr>
            <a:r>
              <a:rPr lang="en-GB" sz="1500" b="1" dirty="0">
                <a:solidFill>
                  <a:srgbClr val="440099"/>
                </a:solidFill>
                <a:latin typeface="Arial"/>
                <a:cs typeface="Arial"/>
              </a:rPr>
              <a:t>Resource utilisation</a:t>
            </a:r>
          </a:p>
          <a:p>
            <a:pPr marL="0" indent="0" algn="l">
              <a:spcAft>
                <a:spcPts val="0"/>
              </a:spcAft>
              <a:buNone/>
            </a:pPr>
            <a:r>
              <a:rPr lang="en-GB" sz="1000" b="0" dirty="0">
                <a:solidFill>
                  <a:srgbClr val="5A5A5A"/>
                </a:solidFill>
                <a:latin typeface="Arial"/>
                <a:cs typeface="Arial"/>
              </a:rPr>
              <a:t>Staff, rooms, seats or vehicles in use</a:t>
            </a:r>
          </a:p>
        </p:txBody>
      </p:sp>
      <p:sp>
        <p:nvSpPr>
          <p:cNvPr id="410" name="Eq r"/>
          <p:cNvSpPr txBox="1"/>
          <p:nvPr/>
        </p:nvSpPr>
        <p:spPr>
          <a:xfrm>
            <a:off x="3337560" y="2670048"/>
            <a:ext cx="365760" cy="868680"/>
          </a:xfrm>
          <a:prstGeom prst="rect">
            <a:avLst/>
          </a:prstGeom>
          <a:noFill/>
          <a:ln>
            <a:noFill/>
          </a:ln>
        </p:spPr>
        <p:txBody>
          <a:bodyPr wrap="square" lIns="0" tIns="0" rIns="0" bIns="0" anchor="ctr">
            <a:noAutofit/>
          </a:bodyPr>
          <a:lstStyle/>
          <a:p>
            <a:pPr marL="0" indent="0" algn="ctr">
              <a:spcAft>
                <a:spcPts val="0"/>
              </a:spcAft>
              <a:buNone/>
            </a:pPr>
            <a:r>
              <a:rPr lang="en-GB" sz="1600" b="0" dirty="0">
                <a:solidFill>
                  <a:srgbClr val="1A1A1A"/>
                </a:solidFill>
                <a:latin typeface="Arial"/>
                <a:cs typeface="Arial"/>
              </a:rPr>
              <a:t>=</a:t>
            </a:r>
          </a:p>
        </p:txBody>
      </p:sp>
      <p:sp>
        <p:nvSpPr>
          <p:cNvPr id="411" name="Num r"/>
          <p:cNvSpPr txBox="1"/>
          <p:nvPr/>
        </p:nvSpPr>
        <p:spPr>
          <a:xfrm>
            <a:off x="3794760" y="2775204"/>
            <a:ext cx="3108960" cy="301752"/>
          </a:xfrm>
          <a:prstGeom prst="rect">
            <a:avLst/>
          </a:prstGeom>
          <a:noFill/>
          <a:ln>
            <a:noFill/>
          </a:ln>
        </p:spPr>
        <p:txBody>
          <a:bodyPr wrap="square" lIns="0" tIns="0" rIns="0" bIns="0" anchor="b">
            <a:noAutofit/>
          </a:bodyPr>
          <a:lstStyle/>
          <a:p>
            <a:pPr marL="0" indent="0" algn="ctr">
              <a:spcAft>
                <a:spcPts val="0"/>
              </a:spcAft>
              <a:buNone/>
            </a:pPr>
            <a:r>
              <a:rPr lang="en-GB" sz="1500" b="0" dirty="0">
                <a:solidFill>
                  <a:srgbClr val="1A1A1A"/>
                </a:solidFill>
                <a:latin typeface="Arial"/>
                <a:cs typeface="Arial"/>
              </a:rPr>
              <a:t>Resources used</a:t>
            </a:r>
          </a:p>
        </p:txBody>
      </p:sp>
      <p:sp>
        <p:nvSpPr>
          <p:cNvPr id="412" name="Bar r"/>
          <p:cNvSpPr txBox="1"/>
          <p:nvPr/>
        </p:nvSpPr>
        <p:spPr>
          <a:xfrm>
            <a:off x="3886200" y="3095244"/>
            <a:ext cx="2926080" cy="18288"/>
          </a:xfrm>
          <a:prstGeom prst="rect">
            <a:avLst/>
          </a:prstGeom>
          <a:solidFill>
            <a:srgbClr val="1A1A1A"/>
          </a:solidFill>
          <a:ln>
            <a:noFill/>
          </a:ln>
        </p:spPr>
        <p:txBody>
          <a:bodyPr wrap="square" lIns="0" tIns="0" rIns="0" bIns="0" anchor="t">
            <a:noAutofit/>
          </a:bodyPr>
          <a:lstStyle/>
          <a:p>
            <a:pPr marL="0" indent="0" algn="l">
              <a:spcAft>
                <a:spcPts val="0"/>
              </a:spcAft>
              <a:buNone/>
            </a:pPr>
            <a:endParaRPr/>
          </a:p>
        </p:txBody>
      </p:sp>
      <p:sp>
        <p:nvSpPr>
          <p:cNvPr id="413" name="Den r"/>
          <p:cNvSpPr txBox="1"/>
          <p:nvPr/>
        </p:nvSpPr>
        <p:spPr>
          <a:xfrm>
            <a:off x="3794760" y="3131820"/>
            <a:ext cx="3108960" cy="301752"/>
          </a:xfrm>
          <a:prstGeom prst="rect">
            <a:avLst/>
          </a:prstGeom>
          <a:noFill/>
          <a:ln>
            <a:noFill/>
          </a:ln>
        </p:spPr>
        <p:txBody>
          <a:bodyPr wrap="square" lIns="0" tIns="0" rIns="0" bIns="0" anchor="t">
            <a:noAutofit/>
          </a:bodyPr>
          <a:lstStyle/>
          <a:p>
            <a:pPr marL="0" indent="0" algn="ctr">
              <a:spcAft>
                <a:spcPts val="0"/>
              </a:spcAft>
              <a:buNone/>
            </a:pPr>
            <a:r>
              <a:rPr lang="en-GB" sz="1500" b="0" dirty="0">
                <a:solidFill>
                  <a:srgbClr val="1A1A1A"/>
                </a:solidFill>
                <a:latin typeface="Arial"/>
                <a:cs typeface="Arial"/>
              </a:rPr>
              <a:t>Resources available</a:t>
            </a:r>
          </a:p>
        </p:txBody>
      </p:sp>
      <p:sp>
        <p:nvSpPr>
          <p:cNvPr id="414" name="Card d"/>
          <p:cNvSpPr txBox="1"/>
          <p:nvPr/>
        </p:nvSpPr>
        <p:spPr>
          <a:xfrm>
            <a:off x="365760" y="3648456"/>
            <a:ext cx="8412480" cy="868680"/>
          </a:xfrm>
          <a:prstGeom prst="roundRect">
            <a:avLst>
              <a:gd name="adj" fmla="val 8000"/>
            </a:avLst>
          </a:prstGeom>
          <a:solidFill>
            <a:srgbClr val="FFFFFF"/>
          </a:solidFill>
          <a:ln w="9525">
            <a:solidFill>
              <a:srgbClr val="D0CCD8"/>
            </a:solidFill>
          </a:ln>
        </p:spPr>
        <p:txBody>
          <a:bodyPr wrap="square" lIns="0" tIns="0" rIns="0" bIns="0" anchor="t">
            <a:noAutofit/>
          </a:bodyPr>
          <a:lstStyle/>
          <a:p>
            <a:pPr marL="0" indent="0" algn="l">
              <a:spcAft>
                <a:spcPts val="0"/>
              </a:spcAft>
              <a:buNone/>
            </a:pPr>
            <a:endParaRPr/>
          </a:p>
        </p:txBody>
      </p:sp>
      <p:sp>
        <p:nvSpPr>
          <p:cNvPr id="415" name="Name d"/>
          <p:cNvSpPr txBox="1"/>
          <p:nvPr/>
        </p:nvSpPr>
        <p:spPr>
          <a:xfrm>
            <a:off x="548640" y="3648456"/>
            <a:ext cx="2743200" cy="868680"/>
          </a:xfrm>
          <a:prstGeom prst="rect">
            <a:avLst/>
          </a:prstGeom>
          <a:noFill/>
          <a:ln>
            <a:noFill/>
          </a:ln>
        </p:spPr>
        <p:txBody>
          <a:bodyPr wrap="square" lIns="0" tIns="0" rIns="0" bIns="0" anchor="ctr">
            <a:noAutofit/>
          </a:bodyPr>
          <a:lstStyle/>
          <a:p>
            <a:pPr marL="0" indent="0" algn="l">
              <a:spcAft>
                <a:spcPts val="150"/>
              </a:spcAft>
              <a:buNone/>
            </a:pPr>
            <a:r>
              <a:rPr lang="en-GB" sz="1500" b="1" dirty="0">
                <a:solidFill>
                  <a:srgbClr val="440099"/>
                </a:solidFill>
                <a:latin typeface="Arial"/>
                <a:cs typeface="Arial"/>
              </a:rPr>
              <a:t>Demand utilisation</a:t>
            </a:r>
          </a:p>
          <a:p>
            <a:pPr marL="0" indent="0" algn="l">
              <a:spcAft>
                <a:spcPts val="0"/>
              </a:spcAft>
              <a:buNone/>
            </a:pPr>
            <a:r>
              <a:rPr lang="en-GB" sz="1000" b="0" dirty="0">
                <a:solidFill>
                  <a:srgbClr val="5A5A5A"/>
                </a:solidFill>
                <a:latin typeface="Arial"/>
                <a:cs typeface="Arial"/>
              </a:rPr>
              <a:t>Service systems: how busy the servers are</a:t>
            </a:r>
          </a:p>
        </p:txBody>
      </p:sp>
      <p:sp>
        <p:nvSpPr>
          <p:cNvPr id="416" name="Eq d"/>
          <p:cNvSpPr txBox="1"/>
          <p:nvPr/>
        </p:nvSpPr>
        <p:spPr>
          <a:xfrm>
            <a:off x="3337560" y="3648456"/>
            <a:ext cx="365760" cy="868680"/>
          </a:xfrm>
          <a:prstGeom prst="rect">
            <a:avLst/>
          </a:prstGeom>
          <a:noFill/>
          <a:ln>
            <a:noFill/>
          </a:ln>
        </p:spPr>
        <p:txBody>
          <a:bodyPr wrap="square" lIns="0" tIns="0" rIns="0" bIns="0" anchor="ctr">
            <a:noAutofit/>
          </a:bodyPr>
          <a:lstStyle/>
          <a:p>
            <a:pPr marL="0" indent="0" algn="ctr">
              <a:spcAft>
                <a:spcPts val="0"/>
              </a:spcAft>
              <a:buNone/>
            </a:pPr>
            <a:r>
              <a:rPr lang="en-GB" sz="1600" b="0" dirty="0">
                <a:solidFill>
                  <a:srgbClr val="1A1A1A"/>
                </a:solidFill>
                <a:latin typeface="Arial"/>
                <a:cs typeface="Arial"/>
              </a:rPr>
              <a:t>=</a:t>
            </a:r>
          </a:p>
        </p:txBody>
      </p:sp>
      <p:sp>
        <p:nvSpPr>
          <p:cNvPr id="417" name="Num d"/>
          <p:cNvSpPr txBox="1"/>
          <p:nvPr/>
        </p:nvSpPr>
        <p:spPr>
          <a:xfrm>
            <a:off x="3794760" y="3753612"/>
            <a:ext cx="3840480" cy="301752"/>
          </a:xfrm>
          <a:prstGeom prst="rect">
            <a:avLst/>
          </a:prstGeom>
          <a:noFill/>
          <a:ln>
            <a:noFill/>
          </a:ln>
        </p:spPr>
        <p:txBody>
          <a:bodyPr wrap="square" lIns="0" tIns="0" rIns="0" bIns="0" anchor="b">
            <a:noAutofit/>
          </a:bodyPr>
          <a:lstStyle/>
          <a:p>
            <a:pPr marL="0" indent="0" algn="ctr">
              <a:spcAft>
                <a:spcPts val="0"/>
              </a:spcAft>
              <a:buNone/>
            </a:pPr>
            <a:r>
              <a:rPr lang="en-GB" sz="1500" b="0" dirty="0">
                <a:solidFill>
                  <a:srgbClr val="1A1A1A"/>
                </a:solidFill>
                <a:latin typeface="Arial"/>
                <a:cs typeface="Arial"/>
              </a:rPr>
              <a:t>Demand rate</a:t>
            </a:r>
          </a:p>
        </p:txBody>
      </p:sp>
      <p:sp>
        <p:nvSpPr>
          <p:cNvPr id="418" name="Bar d"/>
          <p:cNvSpPr txBox="1"/>
          <p:nvPr/>
        </p:nvSpPr>
        <p:spPr>
          <a:xfrm>
            <a:off x="3886200" y="4073652"/>
            <a:ext cx="3657600" cy="18288"/>
          </a:xfrm>
          <a:prstGeom prst="rect">
            <a:avLst/>
          </a:prstGeom>
          <a:solidFill>
            <a:srgbClr val="1A1A1A"/>
          </a:solidFill>
          <a:ln>
            <a:noFill/>
          </a:ln>
        </p:spPr>
        <p:txBody>
          <a:bodyPr wrap="square" lIns="0" tIns="0" rIns="0" bIns="0" anchor="t">
            <a:noAutofit/>
          </a:bodyPr>
          <a:lstStyle/>
          <a:p>
            <a:pPr marL="0" indent="0" algn="l">
              <a:spcAft>
                <a:spcPts val="0"/>
              </a:spcAft>
              <a:buNone/>
            </a:pPr>
            <a:endParaRPr/>
          </a:p>
        </p:txBody>
      </p:sp>
      <p:sp>
        <p:nvSpPr>
          <p:cNvPr id="419" name="Den d"/>
          <p:cNvSpPr txBox="1"/>
          <p:nvPr/>
        </p:nvSpPr>
        <p:spPr>
          <a:xfrm>
            <a:off x="3794760" y="4110228"/>
            <a:ext cx="3840480" cy="301752"/>
          </a:xfrm>
          <a:prstGeom prst="rect">
            <a:avLst/>
          </a:prstGeom>
          <a:noFill/>
          <a:ln>
            <a:noFill/>
          </a:ln>
        </p:spPr>
        <p:txBody>
          <a:bodyPr wrap="square" lIns="0" tIns="0" rIns="0" bIns="0" anchor="t">
            <a:noAutofit/>
          </a:bodyPr>
          <a:lstStyle/>
          <a:p>
            <a:pPr marL="0" indent="0" algn="ctr">
              <a:spcAft>
                <a:spcPts val="0"/>
              </a:spcAft>
              <a:buNone/>
            </a:pPr>
            <a:r>
              <a:rPr lang="en-GB" sz="1500" b="0" dirty="0">
                <a:solidFill>
                  <a:srgbClr val="1A1A1A"/>
                </a:solidFill>
                <a:latin typeface="Arial"/>
                <a:cs typeface="Arial"/>
              </a:rPr>
              <a:t>Service rate × Number of servers</a:t>
            </a:r>
          </a:p>
        </p:txBody>
      </p:sp>
    </p:spTree>
    <p:extLst>
      <p:ext uri="{BB962C8B-B14F-4D97-AF65-F5344CB8AC3E}">
        <p14:creationId xmlns:p14="http://schemas.microsoft.com/office/powerpoint/2010/main" val="3366259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0BD189F5-A5E0-EE79-1744-441AF1140E0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9E79900-0CC1-531A-807A-E96B3E06DAAF}"/>
              </a:ext>
            </a:extLst>
          </p:cNvPr>
          <p:cNvSpPr>
            <a:spLocks noGrp="1"/>
          </p:cNvSpPr>
          <p:nvPr>
            <p:ph type="title"/>
          </p:nvPr>
        </p:nvSpPr>
        <p:spPr>
          <a:xfrm>
            <a:off x="2286000" y="384048"/>
            <a:ext cx="6492240" cy="576072"/>
          </a:xfrm>
        </p:spPr>
        <p:txBody>
          <a:bodyPr wrap="square" anchor="ctr">
            <a:normAutofit/>
          </a:bodyPr>
          <a:lstStyle/>
          <a:p>
            <a:r>
              <a:rPr lang="en-GB" sz="2500" b="1" dirty="0"/>
              <a:t>Worked Example: Utilisation</a:t>
            </a:r>
          </a:p>
        </p:txBody>
      </p:sp>
      <p:sp>
        <p:nvSpPr>
          <p:cNvPr id="80" name="Google Shape;80;p16">
            <a:extLst>
              <a:ext uri="{FF2B5EF4-FFF2-40B4-BE49-F238E27FC236}">
                <a16:creationId xmlns:a16="http://schemas.microsoft.com/office/drawing/2014/main" id="{88A449C7-ECEA-9F08-FD5E-9CD8ABC05CDA}"/>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27</a:t>
            </a:fld>
            <a:endParaRPr lang="en" sz="900"/>
          </a:p>
        </p:txBody>
      </p:sp>
      <p:sp>
        <p:nvSpPr>
          <p:cNvPr id="420" name="Scenario"/>
          <p:cNvSpPr txBox="1"/>
          <p:nvPr/>
        </p:nvSpPr>
        <p:spPr>
          <a:xfrm>
            <a:off x="365760" y="1097280"/>
            <a:ext cx="8412480" cy="685800"/>
          </a:xfrm>
          <a:prstGeom prst="roundRect">
            <a:avLst>
              <a:gd name="adj" fmla="val 8000"/>
            </a:avLst>
          </a:prstGeom>
          <a:solidFill>
            <a:srgbClr val="FFFFFF"/>
          </a:solidFill>
          <a:ln w="9525">
            <a:solidFill>
              <a:srgbClr val="D0CCD8"/>
            </a:solidFill>
          </a:ln>
        </p:spPr>
        <p:txBody>
          <a:bodyPr wrap="square" lIns="146304" tIns="146304" rIns="146304" bIns="146304" anchor="ctr">
            <a:noAutofit/>
          </a:bodyPr>
          <a:lstStyle/>
          <a:p>
            <a:pPr marL="0" indent="0" algn="l">
              <a:spcAft>
                <a:spcPts val="0"/>
              </a:spcAft>
              <a:buNone/>
            </a:pPr>
            <a:r>
              <a:rPr lang="en-GB" sz="1300" b="0" dirty="0">
                <a:solidFill>
                  <a:srgbClr val="1A1A1A"/>
                </a:solidFill>
                <a:latin typeface="Arial"/>
                <a:cs typeface="Arial"/>
              </a:rPr>
              <a:t>At an Amazon fulfilment centre, customer orders arrive at a packing station at 120 orders per hour. The station has three packers, each of whom can pack 50 orders per hour.</a:t>
            </a:r>
          </a:p>
        </p:txBody>
      </p:sp>
      <p:sp>
        <p:nvSpPr>
          <p:cNvPr id="421" name="Chip Demand rate"/>
          <p:cNvSpPr txBox="1"/>
          <p:nvPr/>
        </p:nvSpPr>
        <p:spPr>
          <a:xfrm>
            <a:off x="365760" y="1920240"/>
            <a:ext cx="2712720" cy="731520"/>
          </a:xfrm>
          <a:prstGeom prst="roundRect">
            <a:avLst>
              <a:gd name="adj" fmla="val 8000"/>
            </a:avLst>
          </a:prstGeom>
          <a:solidFill>
            <a:srgbClr val="EDE6F7"/>
          </a:solidFill>
          <a:ln>
            <a:noFill/>
          </a:ln>
        </p:spPr>
        <p:txBody>
          <a:bodyPr wrap="square" lIns="73152" tIns="73152" rIns="73152" bIns="73152" anchor="ctr">
            <a:noAutofit/>
          </a:bodyPr>
          <a:lstStyle/>
          <a:p>
            <a:pPr marL="0" indent="0" algn="ctr">
              <a:spcAft>
                <a:spcPts val="150"/>
              </a:spcAft>
              <a:buNone/>
            </a:pPr>
            <a:r>
              <a:rPr lang="en-GB" sz="1050" b="1" dirty="0">
                <a:solidFill>
                  <a:srgbClr val="5A5A5A"/>
                </a:solidFill>
                <a:latin typeface="Arial"/>
                <a:cs typeface="Arial"/>
              </a:rPr>
              <a:t>Demand rate</a:t>
            </a:r>
          </a:p>
          <a:p>
            <a:pPr marL="0" indent="0" algn="ctr">
              <a:spcAft>
                <a:spcPts val="0"/>
              </a:spcAft>
              <a:buNone/>
            </a:pPr>
            <a:r>
              <a:rPr lang="en-GB" sz="1400" b="1" dirty="0">
                <a:solidFill>
                  <a:srgbClr val="440099"/>
                </a:solidFill>
                <a:latin typeface="Arial"/>
                <a:cs typeface="Arial"/>
              </a:rPr>
              <a:t>120 orders per hour</a:t>
            </a:r>
          </a:p>
        </p:txBody>
      </p:sp>
      <p:sp>
        <p:nvSpPr>
          <p:cNvPr id="422" name="Chip Number of servers"/>
          <p:cNvSpPr txBox="1"/>
          <p:nvPr/>
        </p:nvSpPr>
        <p:spPr>
          <a:xfrm>
            <a:off x="3215640" y="1920240"/>
            <a:ext cx="2712720" cy="731520"/>
          </a:xfrm>
          <a:prstGeom prst="roundRect">
            <a:avLst>
              <a:gd name="adj" fmla="val 8000"/>
            </a:avLst>
          </a:prstGeom>
          <a:solidFill>
            <a:srgbClr val="EDE6F7"/>
          </a:solidFill>
          <a:ln>
            <a:noFill/>
          </a:ln>
        </p:spPr>
        <p:txBody>
          <a:bodyPr wrap="square" lIns="73152" tIns="73152" rIns="73152" bIns="73152" anchor="ctr">
            <a:noAutofit/>
          </a:bodyPr>
          <a:lstStyle/>
          <a:p>
            <a:pPr marL="0" indent="0" algn="ctr">
              <a:spcAft>
                <a:spcPts val="150"/>
              </a:spcAft>
              <a:buNone/>
            </a:pPr>
            <a:r>
              <a:rPr lang="en-GB" sz="1050" b="1" dirty="0">
                <a:solidFill>
                  <a:srgbClr val="5A5A5A"/>
                </a:solidFill>
                <a:latin typeface="Arial"/>
                <a:cs typeface="Arial"/>
              </a:rPr>
              <a:t>Number of servers</a:t>
            </a:r>
          </a:p>
          <a:p>
            <a:pPr marL="0" indent="0" algn="ctr">
              <a:spcAft>
                <a:spcPts val="0"/>
              </a:spcAft>
              <a:buNone/>
            </a:pPr>
            <a:r>
              <a:rPr lang="en-GB" sz="1400" b="1" dirty="0">
                <a:solidFill>
                  <a:srgbClr val="440099"/>
                </a:solidFill>
                <a:latin typeface="Arial"/>
                <a:cs typeface="Arial"/>
              </a:rPr>
              <a:t>3 packers</a:t>
            </a:r>
          </a:p>
        </p:txBody>
      </p:sp>
      <p:sp>
        <p:nvSpPr>
          <p:cNvPr id="423" name="Chip Service rate"/>
          <p:cNvSpPr txBox="1"/>
          <p:nvPr/>
        </p:nvSpPr>
        <p:spPr>
          <a:xfrm>
            <a:off x="6065520" y="1920240"/>
            <a:ext cx="2712720" cy="731520"/>
          </a:xfrm>
          <a:prstGeom prst="roundRect">
            <a:avLst>
              <a:gd name="adj" fmla="val 8000"/>
            </a:avLst>
          </a:prstGeom>
          <a:solidFill>
            <a:srgbClr val="EDE6F7"/>
          </a:solidFill>
          <a:ln>
            <a:noFill/>
          </a:ln>
        </p:spPr>
        <p:txBody>
          <a:bodyPr wrap="square" lIns="73152" tIns="73152" rIns="73152" bIns="73152" anchor="ctr">
            <a:noAutofit/>
          </a:bodyPr>
          <a:lstStyle/>
          <a:p>
            <a:pPr marL="0" indent="0" algn="ctr">
              <a:spcAft>
                <a:spcPts val="150"/>
              </a:spcAft>
              <a:buNone/>
            </a:pPr>
            <a:r>
              <a:rPr lang="en-GB" sz="1050" b="1" dirty="0">
                <a:solidFill>
                  <a:srgbClr val="5A5A5A"/>
                </a:solidFill>
                <a:latin typeface="Arial"/>
                <a:cs typeface="Arial"/>
              </a:rPr>
              <a:t>Service rate</a:t>
            </a:r>
          </a:p>
          <a:p>
            <a:pPr marL="0" indent="0" algn="ctr">
              <a:spcAft>
                <a:spcPts val="0"/>
              </a:spcAft>
              <a:buNone/>
            </a:pPr>
            <a:r>
              <a:rPr lang="en-GB" sz="1400" b="1" dirty="0">
                <a:solidFill>
                  <a:srgbClr val="440099"/>
                </a:solidFill>
                <a:latin typeface="Arial"/>
                <a:cs typeface="Arial"/>
              </a:rPr>
              <a:t>50 orders per hour each</a:t>
            </a:r>
          </a:p>
        </p:txBody>
      </p:sp>
      <p:sp>
        <p:nvSpPr>
          <p:cNvPr id="424" name="Qn 0"/>
          <p:cNvSpPr txBox="1"/>
          <p:nvPr/>
        </p:nvSpPr>
        <p:spPr>
          <a:xfrm>
            <a:off x="365760" y="2926080"/>
            <a:ext cx="411480" cy="411480"/>
          </a:xfrm>
          <a:prstGeom prst="ellipse">
            <a:avLst/>
          </a:prstGeom>
          <a:solidFill>
            <a:srgbClr val="440099"/>
          </a:solidFill>
          <a:ln>
            <a:noFill/>
          </a:ln>
        </p:spPr>
        <p:txBody>
          <a:bodyPr wrap="square" lIns="0" tIns="0" rIns="0" bIns="0" anchor="ctr">
            <a:noAutofit/>
          </a:bodyPr>
          <a:lstStyle/>
          <a:p>
            <a:pPr marL="0" indent="0" algn="ctr">
              <a:spcAft>
                <a:spcPts val="0"/>
              </a:spcAft>
              <a:buNone/>
            </a:pPr>
            <a:r>
              <a:rPr lang="en-GB" sz="1300" b="1" dirty="0">
                <a:solidFill>
                  <a:srgbClr val="FFFFFF"/>
                </a:solidFill>
                <a:latin typeface="Arial"/>
                <a:cs typeface="Arial"/>
              </a:rPr>
              <a:t>a</a:t>
            </a:r>
          </a:p>
        </p:txBody>
      </p:sp>
      <p:sp>
        <p:nvSpPr>
          <p:cNvPr id="425" name="Q 0"/>
          <p:cNvSpPr txBox="1"/>
          <p:nvPr/>
        </p:nvSpPr>
        <p:spPr>
          <a:xfrm>
            <a:off x="914400" y="2834640"/>
            <a:ext cx="7863840" cy="59436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l">
              <a:spcAft>
                <a:spcPts val="0"/>
              </a:spcAft>
              <a:buNone/>
            </a:pPr>
            <a:r>
              <a:rPr lang="en-GB" sz="1400" b="0" dirty="0">
                <a:solidFill>
                  <a:srgbClr val="1A1A1A"/>
                </a:solidFill>
                <a:latin typeface="Arial"/>
                <a:cs typeface="Arial"/>
              </a:rPr>
              <a:t>What is the utilisation of the packers?</a:t>
            </a:r>
          </a:p>
        </p:txBody>
      </p:sp>
      <p:sp>
        <p:nvSpPr>
          <p:cNvPr id="426" name="Qn 1"/>
          <p:cNvSpPr txBox="1"/>
          <p:nvPr/>
        </p:nvSpPr>
        <p:spPr>
          <a:xfrm>
            <a:off x="365760" y="3611880"/>
            <a:ext cx="411480" cy="411480"/>
          </a:xfrm>
          <a:prstGeom prst="ellipse">
            <a:avLst/>
          </a:prstGeom>
          <a:solidFill>
            <a:srgbClr val="440099"/>
          </a:solidFill>
          <a:ln>
            <a:noFill/>
          </a:ln>
        </p:spPr>
        <p:txBody>
          <a:bodyPr wrap="square" lIns="0" tIns="0" rIns="0" bIns="0" anchor="ctr">
            <a:noAutofit/>
          </a:bodyPr>
          <a:lstStyle/>
          <a:p>
            <a:pPr marL="0" indent="0" algn="ctr">
              <a:spcAft>
                <a:spcPts val="0"/>
              </a:spcAft>
              <a:buNone/>
            </a:pPr>
            <a:r>
              <a:rPr lang="en-GB" sz="1300" b="1" dirty="0">
                <a:solidFill>
                  <a:srgbClr val="FFFFFF"/>
                </a:solidFill>
                <a:latin typeface="Arial"/>
                <a:cs typeface="Arial"/>
              </a:rPr>
              <a:t>b</a:t>
            </a:r>
          </a:p>
        </p:txBody>
      </p:sp>
      <p:sp>
        <p:nvSpPr>
          <p:cNvPr id="427" name="Q 1"/>
          <p:cNvSpPr txBox="1"/>
          <p:nvPr/>
        </p:nvSpPr>
        <p:spPr>
          <a:xfrm>
            <a:off x="914400" y="3520440"/>
            <a:ext cx="7863840" cy="59436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l">
              <a:spcAft>
                <a:spcPts val="0"/>
              </a:spcAft>
              <a:buNone/>
            </a:pPr>
            <a:r>
              <a:rPr lang="en-GB" sz="1400" b="0" dirty="0">
                <a:solidFill>
                  <a:srgbClr val="1A1A1A"/>
                </a:solidFill>
                <a:latin typeface="Arial"/>
                <a:cs typeface="Arial"/>
              </a:rPr>
              <a:t>What service rate would be needed for a target utilisation of 85%?</a:t>
            </a:r>
          </a:p>
        </p:txBody>
      </p:sp>
    </p:spTree>
    <p:extLst>
      <p:ext uri="{BB962C8B-B14F-4D97-AF65-F5344CB8AC3E}">
        <p14:creationId xmlns:p14="http://schemas.microsoft.com/office/powerpoint/2010/main" val="2399206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94403D9-46F2-0FDA-DA27-D12B0661F06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CA2DAFF-9C0F-43A0-6FAE-8A8B35819887}"/>
              </a:ext>
            </a:extLst>
          </p:cNvPr>
          <p:cNvSpPr>
            <a:spLocks noGrp="1"/>
          </p:cNvSpPr>
          <p:nvPr>
            <p:ph type="title"/>
          </p:nvPr>
        </p:nvSpPr>
        <p:spPr>
          <a:xfrm>
            <a:off x="2286000" y="384048"/>
            <a:ext cx="6492240" cy="576072"/>
          </a:xfrm>
        </p:spPr>
        <p:txBody>
          <a:bodyPr wrap="square" anchor="ctr">
            <a:noAutofit/>
          </a:bodyPr>
          <a:lstStyle/>
          <a:p>
            <a:r>
              <a:rPr lang="en-GB" sz="3200" b="1" dirty="0">
                <a:latin typeface="+mj-lt"/>
              </a:rPr>
              <a:t>Solution: Utilisation</a:t>
            </a:r>
          </a:p>
        </p:txBody>
      </p:sp>
      <p:sp>
        <p:nvSpPr>
          <p:cNvPr id="80" name="Google Shape;80;p16">
            <a:extLst>
              <a:ext uri="{FF2B5EF4-FFF2-40B4-BE49-F238E27FC236}">
                <a16:creationId xmlns:a16="http://schemas.microsoft.com/office/drawing/2014/main" id="{3B3F590D-25C0-3375-F98F-E79434864B31}"/>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28</a:t>
            </a:fld>
            <a:endParaRPr lang="en" sz="900"/>
          </a:p>
        </p:txBody>
      </p:sp>
      <p:sp>
        <p:nvSpPr>
          <p:cNvPr id="428" name="Sol a"/>
          <p:cNvSpPr txBox="1"/>
          <p:nvPr/>
        </p:nvSpPr>
        <p:spPr>
          <a:xfrm>
            <a:off x="365760" y="1097280"/>
            <a:ext cx="4137660" cy="2697480"/>
          </a:xfrm>
          <a:prstGeom prst="roundRect">
            <a:avLst>
              <a:gd name="adj" fmla="val 8000"/>
            </a:avLst>
          </a:prstGeom>
          <a:solidFill>
            <a:srgbClr val="FFFFFF"/>
          </a:solidFill>
          <a:ln w="9525">
            <a:solidFill>
              <a:srgbClr val="D0CCD8"/>
            </a:solidFill>
          </a:ln>
        </p:spPr>
        <p:txBody>
          <a:bodyPr wrap="square" lIns="164592" tIns="164592" rIns="164592" bIns="164592" anchor="t">
            <a:noAutofit/>
          </a:bodyPr>
          <a:lstStyle/>
          <a:p>
            <a:pPr marL="0" indent="0" algn="l">
              <a:spcAft>
                <a:spcPts val="700"/>
              </a:spcAft>
              <a:buNone/>
            </a:pPr>
            <a:r>
              <a:rPr lang="en-GB" sz="1500" b="1" dirty="0">
                <a:solidFill>
                  <a:srgbClr val="440099"/>
                </a:solidFill>
                <a:latin typeface="Arial"/>
                <a:cs typeface="Arial"/>
              </a:rPr>
              <a:t>(a) Utilisation of the packers</a:t>
            </a:r>
          </a:p>
          <a:p>
            <a:pPr marL="0" indent="0" algn="l">
              <a:spcAft>
                <a:spcPts val="500"/>
              </a:spcAft>
              <a:buNone/>
            </a:pPr>
            <a:r>
              <a:rPr lang="en-GB" sz="1350" b="1" dirty="0">
                <a:solidFill>
                  <a:srgbClr val="440099"/>
                </a:solidFill>
                <a:latin typeface="Arial"/>
                <a:cs typeface="Arial"/>
              </a:rPr>
              <a:t>Formula: </a:t>
            </a:r>
            <a:r>
              <a:rPr lang="en-GB" sz="1350" b="0" dirty="0">
                <a:solidFill>
                  <a:srgbClr val="1A1A1A"/>
                </a:solidFill>
                <a:latin typeface="Arial"/>
                <a:cs typeface="Arial"/>
              </a:rPr>
              <a:t>U = Demand rate ÷ (Service rate × Number of servers)</a:t>
            </a:r>
          </a:p>
          <a:p>
            <a:pPr marL="0" indent="0" algn="l">
              <a:spcAft>
                <a:spcPts val="500"/>
              </a:spcAft>
              <a:buNone/>
            </a:pPr>
            <a:r>
              <a:rPr lang="en-GB" sz="1350" b="1" dirty="0">
                <a:solidFill>
                  <a:srgbClr val="440099"/>
                </a:solidFill>
                <a:latin typeface="Arial"/>
                <a:cs typeface="Arial"/>
              </a:rPr>
              <a:t>Substitute: </a:t>
            </a:r>
            <a:r>
              <a:rPr lang="en-GB" sz="1350" b="0" dirty="0">
                <a:solidFill>
                  <a:srgbClr val="1A1A1A"/>
                </a:solidFill>
                <a:latin typeface="Arial"/>
                <a:cs typeface="Arial"/>
              </a:rPr>
              <a:t>U = 120 ÷ (50 × 3) = 120 ÷ 150</a:t>
            </a:r>
          </a:p>
          <a:p>
            <a:pPr marL="0" indent="0" algn="l">
              <a:spcAft>
                <a:spcPts val="0"/>
              </a:spcAft>
              <a:buNone/>
            </a:pPr>
            <a:r>
              <a:rPr lang="en-GB" sz="1350" b="1" dirty="0">
                <a:solidFill>
                  <a:srgbClr val="440099"/>
                </a:solidFill>
                <a:latin typeface="Arial"/>
                <a:cs typeface="Arial"/>
              </a:rPr>
              <a:t>Result: </a:t>
            </a:r>
            <a:r>
              <a:rPr lang="en-GB" sz="1350" b="0" dirty="0">
                <a:solidFill>
                  <a:srgbClr val="1A1A1A"/>
                </a:solidFill>
                <a:latin typeface="Arial"/>
                <a:cs typeface="Arial"/>
              </a:rPr>
              <a:t>U = 0.80, or 80%</a:t>
            </a:r>
          </a:p>
          <a:p>
            <a:pPr marL="0" indent="0" algn="l">
              <a:spcAft>
                <a:spcPts val="0"/>
              </a:spcAft>
              <a:buNone/>
            </a:pPr>
            <a:endParaRPr lang="en-GB" sz="1350" b="0" dirty="0">
              <a:solidFill>
                <a:srgbClr val="1A1A1A"/>
              </a:solidFill>
              <a:latin typeface="Arial"/>
              <a:cs typeface="Arial"/>
            </a:endParaRPr>
          </a:p>
          <a:p>
            <a:pPr marL="0" indent="0" algn="l">
              <a:spcAft>
                <a:spcPts val="0"/>
              </a:spcAft>
              <a:buNone/>
            </a:pPr>
            <a:r>
              <a:rPr lang="en-GB" sz="1250" b="0" dirty="0">
                <a:solidFill>
                  <a:srgbClr val="5A5A5A"/>
                </a:solidFill>
                <a:latin typeface="Arial"/>
                <a:cs typeface="Arial"/>
              </a:rPr>
              <a:t>20% of packer time is spare capacity, a buffer for order surges such as Prime Day.</a:t>
            </a:r>
          </a:p>
        </p:txBody>
      </p:sp>
      <p:sp>
        <p:nvSpPr>
          <p:cNvPr id="429" name="Sol b"/>
          <p:cNvSpPr txBox="1"/>
          <p:nvPr/>
        </p:nvSpPr>
        <p:spPr>
          <a:xfrm>
            <a:off x="4640580" y="1097280"/>
            <a:ext cx="4137660" cy="2697480"/>
          </a:xfrm>
          <a:prstGeom prst="roundRect">
            <a:avLst>
              <a:gd name="adj" fmla="val 8000"/>
            </a:avLst>
          </a:prstGeom>
          <a:solidFill>
            <a:srgbClr val="FFFFFF"/>
          </a:solidFill>
          <a:ln w="9525">
            <a:solidFill>
              <a:srgbClr val="D0CCD8"/>
            </a:solidFill>
          </a:ln>
        </p:spPr>
        <p:txBody>
          <a:bodyPr wrap="square" lIns="164592" tIns="164592" rIns="164592" bIns="164592" anchor="t">
            <a:noAutofit/>
          </a:bodyPr>
          <a:lstStyle/>
          <a:p>
            <a:pPr marL="0" indent="0" algn="l">
              <a:spcAft>
                <a:spcPts val="700"/>
              </a:spcAft>
              <a:buNone/>
            </a:pPr>
            <a:r>
              <a:rPr lang="en-GB" sz="1500" b="1" dirty="0">
                <a:solidFill>
                  <a:srgbClr val="440099"/>
                </a:solidFill>
                <a:latin typeface="Arial"/>
                <a:cs typeface="Arial"/>
              </a:rPr>
              <a:t>(b) Service rate for 85% utilisation</a:t>
            </a:r>
          </a:p>
          <a:p>
            <a:pPr marL="0" indent="0" algn="l">
              <a:spcAft>
                <a:spcPts val="500"/>
              </a:spcAft>
              <a:buNone/>
            </a:pPr>
            <a:r>
              <a:rPr lang="en-GB" sz="1350" b="1" dirty="0">
                <a:solidFill>
                  <a:srgbClr val="440099"/>
                </a:solidFill>
                <a:latin typeface="Arial"/>
                <a:cs typeface="Arial"/>
              </a:rPr>
              <a:t>Set up: </a:t>
            </a:r>
            <a:r>
              <a:rPr lang="en-GB" sz="1350" b="0" dirty="0">
                <a:solidFill>
                  <a:srgbClr val="1A1A1A"/>
                </a:solidFill>
                <a:latin typeface="Arial"/>
                <a:cs typeface="Arial"/>
              </a:rPr>
              <a:t>0.85 = 120 ÷ (Service rate × 3)</a:t>
            </a:r>
          </a:p>
          <a:p>
            <a:pPr marL="0" indent="0" algn="l">
              <a:spcAft>
                <a:spcPts val="500"/>
              </a:spcAft>
              <a:buNone/>
            </a:pPr>
            <a:r>
              <a:rPr lang="en-GB" sz="1350" b="1" dirty="0">
                <a:solidFill>
                  <a:srgbClr val="440099"/>
                </a:solidFill>
                <a:latin typeface="Arial"/>
                <a:cs typeface="Arial"/>
              </a:rPr>
              <a:t>Rearrange: </a:t>
            </a:r>
            <a:r>
              <a:rPr lang="en-GB" sz="1350" b="0" dirty="0">
                <a:solidFill>
                  <a:srgbClr val="1A1A1A"/>
                </a:solidFill>
                <a:latin typeface="Arial"/>
                <a:cs typeface="Arial"/>
              </a:rPr>
              <a:t>Service rate = 120 ÷ (0.85 × 3) = 120 ÷ 2.55</a:t>
            </a:r>
          </a:p>
          <a:p>
            <a:pPr marL="0" indent="0" algn="l">
              <a:spcAft>
                <a:spcPts val="0"/>
              </a:spcAft>
              <a:buNone/>
            </a:pPr>
            <a:r>
              <a:rPr lang="en-GB" sz="1350" b="1" dirty="0">
                <a:solidFill>
                  <a:srgbClr val="440099"/>
                </a:solidFill>
                <a:latin typeface="Arial"/>
                <a:cs typeface="Arial"/>
              </a:rPr>
              <a:t>Result: </a:t>
            </a:r>
            <a:r>
              <a:rPr lang="en-GB" sz="1350" b="0" dirty="0">
                <a:solidFill>
                  <a:srgbClr val="1A1A1A"/>
                </a:solidFill>
                <a:latin typeface="Arial"/>
                <a:cs typeface="Arial"/>
              </a:rPr>
              <a:t>about 47 orders per hour per packer</a:t>
            </a:r>
          </a:p>
          <a:p>
            <a:pPr marL="0" indent="0" algn="l">
              <a:spcAft>
                <a:spcPts val="0"/>
              </a:spcAft>
              <a:buNone/>
            </a:pPr>
            <a:endParaRPr lang="en-GB" sz="1350" b="0" dirty="0">
              <a:solidFill>
                <a:srgbClr val="1A1A1A"/>
              </a:solidFill>
              <a:latin typeface="Arial"/>
              <a:cs typeface="Arial"/>
            </a:endParaRPr>
          </a:p>
          <a:p>
            <a:pPr marL="0" indent="0" algn="l">
              <a:spcAft>
                <a:spcPts val="0"/>
              </a:spcAft>
              <a:buNone/>
            </a:pPr>
            <a:r>
              <a:rPr lang="en-GB" sz="1250" b="0" dirty="0">
                <a:solidFill>
                  <a:srgbClr val="5A5A5A"/>
                </a:solidFill>
                <a:latin typeface="Arial"/>
                <a:cs typeface="Arial"/>
              </a:rPr>
              <a:t>Each packer could work at about 47 orders an hour, a slightly slower pace with fewer packing errors, and the station would still keep up.</a:t>
            </a:r>
          </a:p>
        </p:txBody>
      </p:sp>
      <p:sp>
        <p:nvSpPr>
          <p:cNvPr id="430" name="Insight"/>
          <p:cNvSpPr txBox="1"/>
          <p:nvPr/>
        </p:nvSpPr>
        <p:spPr>
          <a:xfrm>
            <a:off x="365760" y="3931920"/>
            <a:ext cx="8412480" cy="621792"/>
          </a:xfrm>
          <a:prstGeom prst="roundRect">
            <a:avLst>
              <a:gd name="adj" fmla="val 8000"/>
            </a:avLst>
          </a:prstGeom>
          <a:solidFill>
            <a:srgbClr val="FCE3D6"/>
          </a:solidFill>
          <a:ln>
            <a:noFill/>
          </a:ln>
        </p:spPr>
        <p:txBody>
          <a:bodyPr wrap="square" lIns="128016" tIns="128016" rIns="128016" bIns="128016" anchor="ctr">
            <a:noAutofit/>
          </a:bodyPr>
          <a:lstStyle/>
          <a:p>
            <a:pPr marL="0" indent="0" algn="l">
              <a:spcAft>
                <a:spcPts val="0"/>
              </a:spcAft>
              <a:buNone/>
            </a:pPr>
            <a:r>
              <a:rPr lang="en-GB" sz="1150" b="1" dirty="0">
                <a:solidFill>
                  <a:srgbClr val="C2410C"/>
                </a:solidFill>
                <a:latin typeface="Arial"/>
                <a:cs typeface="Arial"/>
              </a:rPr>
              <a:t>Why aim for 85%, not 100%? </a:t>
            </a:r>
            <a:r>
              <a:rPr lang="en-GB" sz="1150" b="0" dirty="0">
                <a:solidFill>
                  <a:srgbClr val="1A1A1A"/>
                </a:solidFill>
                <a:latin typeface="Arial"/>
                <a:cs typeface="Arial"/>
              </a:rPr>
              <a:t>The spare 15% absorbs variability in order arrivals and packing times, so queues stay short (see “Why Not Run at 100%?”).</a:t>
            </a:r>
          </a:p>
        </p:txBody>
      </p:sp>
    </p:spTree>
    <p:extLst>
      <p:ext uri="{BB962C8B-B14F-4D97-AF65-F5344CB8AC3E}">
        <p14:creationId xmlns:p14="http://schemas.microsoft.com/office/powerpoint/2010/main" val="3444724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82339FA-FFC7-D08A-E090-7377F7A9D12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34EE504-7403-56D2-7B88-270BCA7747A8}"/>
              </a:ext>
            </a:extLst>
          </p:cNvPr>
          <p:cNvSpPr>
            <a:spLocks noGrp="1"/>
          </p:cNvSpPr>
          <p:nvPr>
            <p:ph type="title"/>
          </p:nvPr>
        </p:nvSpPr>
        <p:spPr>
          <a:xfrm>
            <a:off x="2286000" y="384048"/>
            <a:ext cx="6492240" cy="576072"/>
          </a:xfrm>
        </p:spPr>
        <p:txBody>
          <a:bodyPr wrap="square" anchor="ctr">
            <a:noAutofit/>
          </a:bodyPr>
          <a:lstStyle/>
          <a:p>
            <a:r>
              <a:rPr lang="en-GB" sz="3200" b="1" dirty="0">
                <a:latin typeface="+mj-lt"/>
              </a:rPr>
              <a:t>Little’s Law</a:t>
            </a:r>
          </a:p>
        </p:txBody>
      </p:sp>
      <p:sp>
        <p:nvSpPr>
          <p:cNvPr id="80" name="Google Shape;80;p16">
            <a:extLst>
              <a:ext uri="{FF2B5EF4-FFF2-40B4-BE49-F238E27FC236}">
                <a16:creationId xmlns:a16="http://schemas.microsoft.com/office/drawing/2014/main" id="{2DCA4805-2280-9A78-FCC5-C6A95BA9CB7C}"/>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29</a:t>
            </a:fld>
            <a:endParaRPr lang="en" sz="900"/>
          </a:p>
        </p:txBody>
      </p:sp>
      <p:sp>
        <p:nvSpPr>
          <p:cNvPr id="431" name="Step n0"/>
          <p:cNvSpPr txBox="1"/>
          <p:nvPr/>
        </p:nvSpPr>
        <p:spPr>
          <a:xfrm>
            <a:off x="365760" y="1417320"/>
            <a:ext cx="411480" cy="411480"/>
          </a:xfrm>
          <a:prstGeom prst="ellipse">
            <a:avLst/>
          </a:prstGeom>
          <a:solidFill>
            <a:srgbClr val="440099"/>
          </a:solidFill>
          <a:ln>
            <a:noFill/>
          </a:ln>
        </p:spPr>
        <p:txBody>
          <a:bodyPr wrap="square" lIns="0" tIns="0" rIns="0" bIns="0" anchor="ctr">
            <a:noAutofit/>
          </a:bodyPr>
          <a:lstStyle/>
          <a:p>
            <a:pPr marL="0" indent="0" algn="ctr">
              <a:spcAft>
                <a:spcPts val="0"/>
              </a:spcAft>
              <a:buNone/>
            </a:pPr>
            <a:r>
              <a:rPr lang="en-GB" sz="1300" b="1" dirty="0">
                <a:solidFill>
                  <a:srgbClr val="FFFFFF"/>
                </a:solidFill>
                <a:latin typeface="Arial"/>
                <a:cs typeface="Arial"/>
              </a:rPr>
              <a:t>1</a:t>
            </a:r>
          </a:p>
        </p:txBody>
      </p:sp>
      <p:sp>
        <p:nvSpPr>
          <p:cNvPr id="432" name="Step 0"/>
          <p:cNvSpPr txBox="1"/>
          <p:nvPr/>
        </p:nvSpPr>
        <p:spPr>
          <a:xfrm>
            <a:off x="914400" y="1143000"/>
            <a:ext cx="3566160" cy="96012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l">
              <a:spcAft>
                <a:spcPts val="0"/>
              </a:spcAft>
              <a:buNone/>
            </a:pPr>
            <a:r>
              <a:rPr lang="en-GB" sz="1250" b="1" dirty="0">
                <a:solidFill>
                  <a:srgbClr val="440099"/>
                </a:solidFill>
                <a:latin typeface="Arial"/>
                <a:cs typeface="Arial"/>
              </a:rPr>
              <a:t>Capacity </a:t>
            </a:r>
            <a:r>
              <a:rPr lang="en-GB" sz="1250" b="0" dirty="0">
                <a:solidFill>
                  <a:srgbClr val="1A1A1A"/>
                </a:solidFill>
                <a:latin typeface="Arial"/>
                <a:cs typeface="Arial"/>
              </a:rPr>
              <a:t>tells us how much an operation can process.</a:t>
            </a:r>
          </a:p>
        </p:txBody>
      </p:sp>
      <p:sp>
        <p:nvSpPr>
          <p:cNvPr id="433" name="Step n1"/>
          <p:cNvSpPr txBox="1"/>
          <p:nvPr/>
        </p:nvSpPr>
        <p:spPr>
          <a:xfrm>
            <a:off x="365760" y="2487168"/>
            <a:ext cx="411480" cy="411480"/>
          </a:xfrm>
          <a:prstGeom prst="ellipse">
            <a:avLst/>
          </a:prstGeom>
          <a:solidFill>
            <a:srgbClr val="440099"/>
          </a:solidFill>
          <a:ln>
            <a:noFill/>
          </a:ln>
        </p:spPr>
        <p:txBody>
          <a:bodyPr wrap="square" lIns="0" tIns="0" rIns="0" bIns="0" anchor="ctr">
            <a:noAutofit/>
          </a:bodyPr>
          <a:lstStyle/>
          <a:p>
            <a:pPr marL="0" indent="0" algn="ctr">
              <a:spcAft>
                <a:spcPts val="0"/>
              </a:spcAft>
              <a:buNone/>
            </a:pPr>
            <a:r>
              <a:rPr lang="en-GB" sz="1300" b="1" dirty="0">
                <a:solidFill>
                  <a:srgbClr val="FFFFFF"/>
                </a:solidFill>
                <a:latin typeface="Arial"/>
                <a:cs typeface="Arial"/>
              </a:rPr>
              <a:t>2</a:t>
            </a:r>
          </a:p>
        </p:txBody>
      </p:sp>
      <p:sp>
        <p:nvSpPr>
          <p:cNvPr id="434" name="Step 1"/>
          <p:cNvSpPr txBox="1"/>
          <p:nvPr/>
        </p:nvSpPr>
        <p:spPr>
          <a:xfrm>
            <a:off x="914400" y="2212848"/>
            <a:ext cx="3566160" cy="96012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l">
              <a:spcAft>
                <a:spcPts val="0"/>
              </a:spcAft>
              <a:buNone/>
            </a:pPr>
            <a:r>
              <a:rPr lang="en-GB" sz="1250" b="1" dirty="0">
                <a:solidFill>
                  <a:srgbClr val="440099"/>
                </a:solidFill>
                <a:latin typeface="Arial"/>
                <a:cs typeface="Arial"/>
              </a:rPr>
              <a:t>When demand approaches capacity, </a:t>
            </a:r>
            <a:r>
              <a:rPr lang="en-GB" sz="1250" b="0" dirty="0">
                <a:solidFill>
                  <a:srgbClr val="1A1A1A"/>
                </a:solidFill>
                <a:latin typeface="Arial"/>
                <a:cs typeface="Arial"/>
              </a:rPr>
              <a:t>work accumulates, queues grow and flow time increases.</a:t>
            </a:r>
          </a:p>
        </p:txBody>
      </p:sp>
      <p:sp>
        <p:nvSpPr>
          <p:cNvPr id="435" name="Step n2"/>
          <p:cNvSpPr txBox="1"/>
          <p:nvPr/>
        </p:nvSpPr>
        <p:spPr>
          <a:xfrm>
            <a:off x="365760" y="3557016"/>
            <a:ext cx="411480" cy="411480"/>
          </a:xfrm>
          <a:prstGeom prst="ellipse">
            <a:avLst/>
          </a:prstGeom>
          <a:solidFill>
            <a:srgbClr val="440099"/>
          </a:solidFill>
          <a:ln>
            <a:noFill/>
          </a:ln>
        </p:spPr>
        <p:txBody>
          <a:bodyPr wrap="square" lIns="0" tIns="0" rIns="0" bIns="0" anchor="ctr">
            <a:noAutofit/>
          </a:bodyPr>
          <a:lstStyle/>
          <a:p>
            <a:pPr marL="0" indent="0" algn="ctr">
              <a:spcAft>
                <a:spcPts val="0"/>
              </a:spcAft>
              <a:buNone/>
            </a:pPr>
            <a:r>
              <a:rPr lang="en-GB" sz="1300" b="1" dirty="0">
                <a:solidFill>
                  <a:srgbClr val="FFFFFF"/>
                </a:solidFill>
                <a:latin typeface="Arial"/>
                <a:cs typeface="Arial"/>
              </a:rPr>
              <a:t>3</a:t>
            </a:r>
          </a:p>
        </p:txBody>
      </p:sp>
      <p:sp>
        <p:nvSpPr>
          <p:cNvPr id="436" name="Step 2"/>
          <p:cNvSpPr txBox="1"/>
          <p:nvPr/>
        </p:nvSpPr>
        <p:spPr>
          <a:xfrm>
            <a:off x="914400" y="3282696"/>
            <a:ext cx="3566160" cy="96012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l">
              <a:spcAft>
                <a:spcPts val="0"/>
              </a:spcAft>
              <a:buNone/>
            </a:pPr>
            <a:r>
              <a:rPr lang="en-GB" sz="1250" b="1" dirty="0">
                <a:solidFill>
                  <a:srgbClr val="440099"/>
                </a:solidFill>
                <a:latin typeface="Arial"/>
                <a:cs typeface="Arial"/>
              </a:rPr>
              <a:t>Little’s Law </a:t>
            </a:r>
            <a:r>
              <a:rPr lang="en-GB" sz="1250" b="0" dirty="0">
                <a:solidFill>
                  <a:srgbClr val="1A1A1A"/>
                </a:solidFill>
                <a:latin typeface="Arial"/>
                <a:cs typeface="Arial"/>
              </a:rPr>
              <a:t>shows what happens inside the system: it links what is inside to how fast it flows.</a:t>
            </a:r>
          </a:p>
        </p:txBody>
      </p:sp>
      <p:sp>
        <p:nvSpPr>
          <p:cNvPr id="437" name="Law"/>
          <p:cNvSpPr txBox="1"/>
          <p:nvPr/>
        </p:nvSpPr>
        <p:spPr>
          <a:xfrm>
            <a:off x="4709160" y="1143000"/>
            <a:ext cx="4069080" cy="1097280"/>
          </a:xfrm>
          <a:prstGeom prst="roundRect">
            <a:avLst>
              <a:gd name="adj" fmla="val 8000"/>
            </a:avLst>
          </a:prstGeom>
          <a:solidFill>
            <a:srgbClr val="440099"/>
          </a:solidFill>
          <a:ln>
            <a:noFill/>
          </a:ln>
        </p:spPr>
        <p:txBody>
          <a:bodyPr wrap="square" lIns="91440" tIns="91440" rIns="91440" bIns="91440" anchor="ctr">
            <a:noAutofit/>
          </a:bodyPr>
          <a:lstStyle/>
          <a:p>
            <a:pPr marL="0" indent="0" algn="ctr">
              <a:spcAft>
                <a:spcPts val="0"/>
              </a:spcAft>
              <a:buNone/>
            </a:pPr>
            <a:r>
              <a:rPr lang="en-GB" sz="3200" b="1" dirty="0">
                <a:solidFill>
                  <a:srgbClr val="FFFFFF"/>
                </a:solidFill>
                <a:latin typeface="Arial"/>
                <a:cs typeface="Arial"/>
              </a:rPr>
              <a:t>WIP = R × T</a:t>
            </a:r>
          </a:p>
        </p:txBody>
      </p:sp>
      <p:sp>
        <p:nvSpPr>
          <p:cNvPr id="438" name="Defs"/>
          <p:cNvSpPr txBox="1"/>
          <p:nvPr/>
        </p:nvSpPr>
        <p:spPr>
          <a:xfrm>
            <a:off x="4709160" y="2331720"/>
            <a:ext cx="4069080" cy="1508760"/>
          </a:xfrm>
          <a:prstGeom prst="roundRect">
            <a:avLst>
              <a:gd name="adj" fmla="val 8000"/>
            </a:avLst>
          </a:prstGeom>
          <a:solidFill>
            <a:srgbClr val="FFFFFF"/>
          </a:solidFill>
          <a:ln w="9525">
            <a:solidFill>
              <a:srgbClr val="D0CCD8"/>
            </a:solidFill>
          </a:ln>
        </p:spPr>
        <p:txBody>
          <a:bodyPr wrap="square" lIns="146304" tIns="146304" rIns="146304" bIns="146304" anchor="ctr">
            <a:noAutofit/>
          </a:bodyPr>
          <a:lstStyle/>
          <a:p>
            <a:pPr marL="0" indent="0" algn="l">
              <a:spcAft>
                <a:spcPts val="500"/>
              </a:spcAft>
              <a:buNone/>
            </a:pPr>
            <a:r>
              <a:rPr lang="en-GB" sz="1200" b="1" dirty="0">
                <a:solidFill>
                  <a:srgbClr val="440099"/>
                </a:solidFill>
                <a:latin typeface="Arial"/>
                <a:cs typeface="Arial"/>
              </a:rPr>
              <a:t>WIP  </a:t>
            </a:r>
            <a:r>
              <a:rPr lang="en-GB" sz="1150" b="0" dirty="0">
                <a:solidFill>
                  <a:srgbClr val="1A1A1A"/>
                </a:solidFill>
                <a:latin typeface="Arial"/>
                <a:cs typeface="Arial"/>
              </a:rPr>
              <a:t>work-in-progress: customers or items inside the system</a:t>
            </a:r>
          </a:p>
          <a:p>
            <a:pPr marL="0" indent="0" algn="l">
              <a:spcAft>
                <a:spcPts val="500"/>
              </a:spcAft>
              <a:buNone/>
            </a:pPr>
            <a:r>
              <a:rPr lang="en-GB" sz="1200" b="1" dirty="0">
                <a:solidFill>
                  <a:srgbClr val="440099"/>
                </a:solidFill>
                <a:latin typeface="Arial"/>
                <a:cs typeface="Arial"/>
              </a:rPr>
              <a:t>R  </a:t>
            </a:r>
            <a:r>
              <a:rPr lang="en-GB" sz="1150" b="0" dirty="0">
                <a:solidFill>
                  <a:srgbClr val="1A1A1A"/>
                </a:solidFill>
                <a:latin typeface="Arial"/>
                <a:cs typeface="Arial"/>
              </a:rPr>
              <a:t>throughput rate: units completed per unit of time</a:t>
            </a:r>
          </a:p>
          <a:p>
            <a:pPr marL="0" indent="0" algn="l">
              <a:spcAft>
                <a:spcPts val="500"/>
              </a:spcAft>
              <a:buNone/>
            </a:pPr>
            <a:r>
              <a:rPr lang="en-GB" sz="1200" b="1" dirty="0">
                <a:solidFill>
                  <a:srgbClr val="440099"/>
                </a:solidFill>
                <a:latin typeface="Arial"/>
                <a:cs typeface="Arial"/>
              </a:rPr>
              <a:t>T  </a:t>
            </a:r>
            <a:r>
              <a:rPr lang="en-GB" sz="1150" b="0" dirty="0">
                <a:solidFill>
                  <a:srgbClr val="1A1A1A"/>
                </a:solidFill>
                <a:latin typeface="Arial"/>
                <a:cs typeface="Arial"/>
              </a:rPr>
              <a:t>flow time: time from entering to leaving</a:t>
            </a:r>
          </a:p>
        </p:txBody>
      </p:sp>
      <p:sp>
        <p:nvSpPr>
          <p:cNvPr id="439" name="Units"/>
          <p:cNvSpPr txBox="1"/>
          <p:nvPr/>
        </p:nvSpPr>
        <p:spPr>
          <a:xfrm>
            <a:off x="4709160" y="3931920"/>
            <a:ext cx="4069080" cy="548640"/>
          </a:xfrm>
          <a:prstGeom prst="roundRect">
            <a:avLst>
              <a:gd name="adj" fmla="val 8000"/>
            </a:avLst>
          </a:prstGeom>
          <a:solidFill>
            <a:srgbClr val="FCE3D6"/>
          </a:solidFill>
          <a:ln>
            <a:noFill/>
          </a:ln>
        </p:spPr>
        <p:txBody>
          <a:bodyPr wrap="square" lIns="118872" tIns="118872" rIns="118872" bIns="118872" anchor="ctr">
            <a:noAutofit/>
          </a:bodyPr>
          <a:lstStyle/>
          <a:p>
            <a:pPr marL="0" indent="0" algn="l">
              <a:spcAft>
                <a:spcPts val="0"/>
              </a:spcAft>
              <a:buNone/>
            </a:pPr>
            <a:r>
              <a:rPr lang="en-GB" sz="1050" b="1" dirty="0">
                <a:solidFill>
                  <a:srgbClr val="C2410C"/>
                </a:solidFill>
                <a:latin typeface="Arial"/>
                <a:cs typeface="Arial"/>
              </a:rPr>
              <a:t>Keep units consistent: </a:t>
            </a:r>
            <a:r>
              <a:rPr lang="en-GB" sz="1050" b="0" dirty="0">
                <a:solidFill>
                  <a:srgbClr val="1A1A1A"/>
                </a:solidFill>
                <a:latin typeface="Arial"/>
                <a:cs typeface="Arial"/>
              </a:rPr>
              <a:t>if R is per minute, T must be in minutes.</a:t>
            </a:r>
          </a:p>
        </p:txBody>
      </p:sp>
    </p:spTree>
    <p:extLst>
      <p:ext uri="{BB962C8B-B14F-4D97-AF65-F5344CB8AC3E}">
        <p14:creationId xmlns:p14="http://schemas.microsoft.com/office/powerpoint/2010/main" val="3016177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0664AC8-D202-EEE0-4F3A-48A0E7BD620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0D8AB53-C52D-687C-954C-D66A84838766}"/>
              </a:ext>
            </a:extLst>
          </p:cNvPr>
          <p:cNvSpPr>
            <a:spLocks noGrp="1" noRot="1" noMove="1" noResize="1" noEditPoints="1" noAdjustHandles="1" noChangeArrowheads="1" noChangeShapeType="1"/>
          </p:cNvSpPr>
          <p:nvPr>
            <p:ph type="title"/>
          </p:nvPr>
        </p:nvSpPr>
        <p:spPr>
          <a:xfrm>
            <a:off x="2286000" y="384048"/>
            <a:ext cx="6492240" cy="576072"/>
          </a:xfrm>
        </p:spPr>
        <p:txBody>
          <a:bodyPr wrap="square" anchor="ctr">
            <a:noAutofit/>
          </a:bodyPr>
          <a:lstStyle/>
          <a:p>
            <a:r>
              <a:rPr lang="en-GB" sz="3200" b="1" dirty="0">
                <a:latin typeface="+mj-lt"/>
              </a:rPr>
              <a:t>Little’s Law: Flow Time (T)</a:t>
            </a:r>
          </a:p>
        </p:txBody>
      </p:sp>
      <p:sp>
        <p:nvSpPr>
          <p:cNvPr id="80" name="Google Shape;80;p16">
            <a:extLst>
              <a:ext uri="{FF2B5EF4-FFF2-40B4-BE49-F238E27FC236}">
                <a16:creationId xmlns:a16="http://schemas.microsoft.com/office/drawing/2014/main" id="{DE00AAC4-0B28-5E8A-D739-C3C69B3DA6BE}"/>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30</a:t>
            </a:fld>
            <a:endParaRPr lang="en" sz="900"/>
          </a:p>
        </p:txBody>
      </p:sp>
      <p:sp>
        <p:nvSpPr>
          <p:cNvPr id="440" name="Def"/>
          <p:cNvSpPr txBox="1"/>
          <p:nvPr/>
        </p:nvSpPr>
        <p:spPr>
          <a:xfrm>
            <a:off x="365760" y="1097280"/>
            <a:ext cx="8412480" cy="548640"/>
          </a:xfrm>
          <a:prstGeom prst="roundRect">
            <a:avLst>
              <a:gd name="adj" fmla="val 8000"/>
            </a:avLst>
          </a:prstGeom>
          <a:solidFill>
            <a:srgbClr val="EDE6F7"/>
          </a:solidFill>
          <a:ln>
            <a:noFill/>
          </a:ln>
        </p:spPr>
        <p:txBody>
          <a:bodyPr wrap="square" lIns="128016" tIns="128016" rIns="128016" bIns="128016" anchor="ctr">
            <a:noAutofit/>
          </a:bodyPr>
          <a:lstStyle/>
          <a:p>
            <a:pPr marL="0" indent="0" algn="l">
              <a:spcAft>
                <a:spcPts val="0"/>
              </a:spcAft>
              <a:buNone/>
            </a:pPr>
            <a:r>
              <a:rPr lang="en-GB" sz="1300" b="1" dirty="0">
                <a:solidFill>
                  <a:srgbClr val="440099"/>
                </a:solidFill>
                <a:latin typeface="Arial"/>
                <a:cs typeface="Arial"/>
              </a:rPr>
              <a:t>Flow time (T) </a:t>
            </a:r>
            <a:r>
              <a:rPr lang="en-GB" sz="1250" b="0" dirty="0">
                <a:solidFill>
                  <a:srgbClr val="1A1A1A"/>
                </a:solidFill>
                <a:latin typeface="Arial"/>
                <a:cs typeface="Arial"/>
              </a:rPr>
              <a:t>is the total time a customer, order, product or job spends inside a process, from entry to completion.</a:t>
            </a:r>
          </a:p>
        </p:txBody>
      </p:sp>
      <p:sp>
        <p:nvSpPr>
          <p:cNvPr id="441" name="Eq"/>
          <p:cNvSpPr txBox="1"/>
          <p:nvPr/>
        </p:nvSpPr>
        <p:spPr>
          <a:xfrm>
            <a:off x="365760" y="1783080"/>
            <a:ext cx="8412480" cy="685800"/>
          </a:xfrm>
          <a:prstGeom prst="roundRect">
            <a:avLst>
              <a:gd name="adj" fmla="val 8000"/>
            </a:avLst>
          </a:prstGeom>
          <a:solidFill>
            <a:srgbClr val="FFFFFF"/>
          </a:solidFill>
          <a:ln w="9525">
            <a:solidFill>
              <a:srgbClr val="D0CCD8"/>
            </a:solidFill>
          </a:ln>
        </p:spPr>
        <p:txBody>
          <a:bodyPr wrap="square" lIns="91440" tIns="91440" rIns="91440" bIns="91440" anchor="ctr">
            <a:noAutofit/>
          </a:bodyPr>
          <a:lstStyle/>
          <a:p>
            <a:pPr marL="0" indent="0" algn="ctr">
              <a:spcAft>
                <a:spcPts val="0"/>
              </a:spcAft>
              <a:buNone/>
            </a:pPr>
            <a:r>
              <a:rPr lang="en-GB" sz="1800" b="1" dirty="0">
                <a:solidFill>
                  <a:srgbClr val="1A1A1A"/>
                </a:solidFill>
                <a:latin typeface="Arial"/>
                <a:cs typeface="Arial"/>
              </a:rPr>
              <a:t>T  =  Processing time  +  </a:t>
            </a:r>
            <a:r>
              <a:rPr lang="en-GB" sz="1800" b="1" dirty="0">
                <a:solidFill>
                  <a:srgbClr val="C2410C"/>
                </a:solidFill>
                <a:latin typeface="Arial"/>
                <a:cs typeface="Arial"/>
              </a:rPr>
              <a:t>Waiting time</a:t>
            </a:r>
          </a:p>
        </p:txBody>
      </p:sp>
      <p:sp>
        <p:nvSpPr>
          <p:cNvPr id="442" name="Ex label"/>
          <p:cNvSpPr txBox="1"/>
          <p:nvPr/>
        </p:nvSpPr>
        <p:spPr>
          <a:xfrm>
            <a:off x="365760" y="2606040"/>
            <a:ext cx="8412480" cy="320040"/>
          </a:xfrm>
          <a:prstGeom prst="rect">
            <a:avLst/>
          </a:prstGeom>
          <a:noFill/>
          <a:ln>
            <a:noFill/>
          </a:ln>
        </p:spPr>
        <p:txBody>
          <a:bodyPr wrap="square" lIns="18288" tIns="18288" rIns="18288" bIns="18288" anchor="ctr">
            <a:noAutofit/>
          </a:bodyPr>
          <a:lstStyle/>
          <a:p>
            <a:pPr marL="0" indent="0" algn="l">
              <a:spcAft>
                <a:spcPts val="0"/>
              </a:spcAft>
              <a:buNone/>
            </a:pPr>
            <a:r>
              <a:rPr lang="en-GB" sz="1200" b="1" dirty="0">
                <a:solidFill>
                  <a:srgbClr val="440099"/>
                </a:solidFill>
                <a:latin typeface="Arial"/>
                <a:cs typeface="Arial"/>
              </a:rPr>
              <a:t>Example: a coffee shop</a:t>
            </a:r>
          </a:p>
        </p:txBody>
      </p:sp>
      <p:sp>
        <p:nvSpPr>
          <p:cNvPr id="443" name="Stage Joins queue"/>
          <p:cNvSpPr txBox="1"/>
          <p:nvPr/>
        </p:nvSpPr>
        <p:spPr>
          <a:xfrm>
            <a:off x="365760" y="2944368"/>
            <a:ext cx="1463040" cy="502920"/>
          </a:xfrm>
          <a:prstGeom prst="roundRect">
            <a:avLst>
              <a:gd name="adj" fmla="val 8000"/>
            </a:avLst>
          </a:prstGeom>
          <a:solidFill>
            <a:srgbClr val="EDE6F7"/>
          </a:solidFill>
          <a:ln>
            <a:noFill/>
          </a:ln>
        </p:spPr>
        <p:txBody>
          <a:bodyPr wrap="square" lIns="45720" tIns="45720" rIns="45720" bIns="45720" anchor="ctr">
            <a:noAutofit/>
          </a:bodyPr>
          <a:lstStyle/>
          <a:p>
            <a:pPr marL="0" indent="0" algn="ctr">
              <a:spcAft>
                <a:spcPts val="0"/>
              </a:spcAft>
              <a:buNone/>
            </a:pPr>
            <a:r>
              <a:rPr lang="en-GB" sz="1150" b="1" dirty="0">
                <a:solidFill>
                  <a:srgbClr val="440099"/>
                </a:solidFill>
                <a:latin typeface="Arial"/>
                <a:cs typeface="Arial"/>
              </a:rPr>
              <a:t>Joins queue</a:t>
            </a:r>
          </a:p>
        </p:txBody>
      </p:sp>
      <p:sp>
        <p:nvSpPr>
          <p:cNvPr id="444" name="Arr Joins queue"/>
          <p:cNvSpPr txBox="1"/>
          <p:nvPr/>
        </p:nvSpPr>
        <p:spPr>
          <a:xfrm>
            <a:off x="1847088" y="3099816"/>
            <a:ext cx="237744" cy="201168"/>
          </a:xfrm>
          <a:prstGeom prst="rightArrow">
            <a:avLst/>
          </a:prstGeom>
          <a:solidFill>
            <a:srgbClr val="9A90B0"/>
          </a:solidFill>
          <a:ln>
            <a:noFill/>
          </a:ln>
        </p:spPr>
        <p:txBody>
          <a:bodyPr wrap="square" lIns="0" tIns="0" rIns="0" bIns="0" anchor="t">
            <a:noAutofit/>
          </a:bodyPr>
          <a:lstStyle/>
          <a:p>
            <a:pPr marL="0" indent="0" algn="l">
              <a:spcAft>
                <a:spcPts val="0"/>
              </a:spcAft>
              <a:buNone/>
            </a:pPr>
            <a:endParaRPr/>
          </a:p>
        </p:txBody>
      </p:sp>
      <p:sp>
        <p:nvSpPr>
          <p:cNvPr id="445" name="Stage Waits"/>
          <p:cNvSpPr txBox="1"/>
          <p:nvPr/>
        </p:nvSpPr>
        <p:spPr>
          <a:xfrm>
            <a:off x="2103120" y="2944368"/>
            <a:ext cx="1463040" cy="502920"/>
          </a:xfrm>
          <a:prstGeom prst="roundRect">
            <a:avLst>
              <a:gd name="adj" fmla="val 8000"/>
            </a:avLst>
          </a:prstGeom>
          <a:solidFill>
            <a:srgbClr val="FCE3D6"/>
          </a:solidFill>
          <a:ln>
            <a:noFill/>
          </a:ln>
        </p:spPr>
        <p:txBody>
          <a:bodyPr wrap="square" lIns="45720" tIns="45720" rIns="45720" bIns="45720" anchor="ctr">
            <a:noAutofit/>
          </a:bodyPr>
          <a:lstStyle/>
          <a:p>
            <a:pPr marL="0" indent="0" algn="ctr">
              <a:spcAft>
                <a:spcPts val="0"/>
              </a:spcAft>
              <a:buNone/>
            </a:pPr>
            <a:r>
              <a:rPr lang="en-GB" sz="1150" b="1" dirty="0">
                <a:solidFill>
                  <a:srgbClr val="C2410C"/>
                </a:solidFill>
                <a:latin typeface="Arial"/>
                <a:cs typeface="Arial"/>
              </a:rPr>
              <a:t>Waits</a:t>
            </a:r>
          </a:p>
        </p:txBody>
      </p:sp>
      <p:sp>
        <p:nvSpPr>
          <p:cNvPr id="446" name="Arr Waits"/>
          <p:cNvSpPr txBox="1"/>
          <p:nvPr/>
        </p:nvSpPr>
        <p:spPr>
          <a:xfrm>
            <a:off x="3584448" y="3099816"/>
            <a:ext cx="237744" cy="201168"/>
          </a:xfrm>
          <a:prstGeom prst="rightArrow">
            <a:avLst/>
          </a:prstGeom>
          <a:solidFill>
            <a:srgbClr val="9A90B0"/>
          </a:solidFill>
          <a:ln>
            <a:noFill/>
          </a:ln>
        </p:spPr>
        <p:txBody>
          <a:bodyPr wrap="square" lIns="0" tIns="0" rIns="0" bIns="0" anchor="t">
            <a:noAutofit/>
          </a:bodyPr>
          <a:lstStyle/>
          <a:p>
            <a:pPr marL="0" indent="0" algn="l">
              <a:spcAft>
                <a:spcPts val="0"/>
              </a:spcAft>
              <a:buNone/>
            </a:pPr>
            <a:endParaRPr/>
          </a:p>
        </p:txBody>
      </p:sp>
      <p:sp>
        <p:nvSpPr>
          <p:cNvPr id="447" name="Stage Orders"/>
          <p:cNvSpPr txBox="1"/>
          <p:nvPr/>
        </p:nvSpPr>
        <p:spPr>
          <a:xfrm>
            <a:off x="3840480" y="2944368"/>
            <a:ext cx="1463040" cy="502920"/>
          </a:xfrm>
          <a:prstGeom prst="roundRect">
            <a:avLst>
              <a:gd name="adj" fmla="val 8000"/>
            </a:avLst>
          </a:prstGeom>
          <a:solidFill>
            <a:srgbClr val="EDE6F7"/>
          </a:solidFill>
          <a:ln>
            <a:noFill/>
          </a:ln>
        </p:spPr>
        <p:txBody>
          <a:bodyPr wrap="square" lIns="45720" tIns="45720" rIns="45720" bIns="45720" anchor="ctr">
            <a:noAutofit/>
          </a:bodyPr>
          <a:lstStyle/>
          <a:p>
            <a:pPr marL="0" indent="0" algn="ctr">
              <a:spcAft>
                <a:spcPts val="0"/>
              </a:spcAft>
              <a:buNone/>
            </a:pPr>
            <a:r>
              <a:rPr lang="en-GB" sz="1150" b="1" dirty="0">
                <a:solidFill>
                  <a:srgbClr val="440099"/>
                </a:solidFill>
                <a:latin typeface="Arial"/>
                <a:cs typeface="Arial"/>
              </a:rPr>
              <a:t>Orders</a:t>
            </a:r>
          </a:p>
        </p:txBody>
      </p:sp>
      <p:sp>
        <p:nvSpPr>
          <p:cNvPr id="448" name="Arr Orders"/>
          <p:cNvSpPr txBox="1"/>
          <p:nvPr/>
        </p:nvSpPr>
        <p:spPr>
          <a:xfrm>
            <a:off x="5321808" y="3099816"/>
            <a:ext cx="237744" cy="201168"/>
          </a:xfrm>
          <a:prstGeom prst="rightArrow">
            <a:avLst/>
          </a:prstGeom>
          <a:solidFill>
            <a:srgbClr val="9A90B0"/>
          </a:solidFill>
          <a:ln>
            <a:noFill/>
          </a:ln>
        </p:spPr>
        <p:txBody>
          <a:bodyPr wrap="square" lIns="0" tIns="0" rIns="0" bIns="0" anchor="t">
            <a:noAutofit/>
          </a:bodyPr>
          <a:lstStyle/>
          <a:p>
            <a:pPr marL="0" indent="0" algn="l">
              <a:spcAft>
                <a:spcPts val="0"/>
              </a:spcAft>
              <a:buNone/>
            </a:pPr>
            <a:endParaRPr/>
          </a:p>
        </p:txBody>
      </p:sp>
      <p:sp>
        <p:nvSpPr>
          <p:cNvPr id="449" name="Stage Drink prepared"/>
          <p:cNvSpPr txBox="1"/>
          <p:nvPr/>
        </p:nvSpPr>
        <p:spPr>
          <a:xfrm>
            <a:off x="5577840" y="2944368"/>
            <a:ext cx="1463040" cy="502920"/>
          </a:xfrm>
          <a:prstGeom prst="roundRect">
            <a:avLst>
              <a:gd name="adj" fmla="val 8000"/>
            </a:avLst>
          </a:prstGeom>
          <a:solidFill>
            <a:srgbClr val="EDE6F7"/>
          </a:solidFill>
          <a:ln>
            <a:noFill/>
          </a:ln>
        </p:spPr>
        <p:txBody>
          <a:bodyPr wrap="square" lIns="45720" tIns="45720" rIns="45720" bIns="45720" anchor="ctr">
            <a:noAutofit/>
          </a:bodyPr>
          <a:lstStyle/>
          <a:p>
            <a:pPr marL="0" indent="0" algn="ctr">
              <a:spcAft>
                <a:spcPts val="0"/>
              </a:spcAft>
              <a:buNone/>
            </a:pPr>
            <a:r>
              <a:rPr lang="en-GB" sz="1150" b="1" dirty="0">
                <a:solidFill>
                  <a:srgbClr val="440099"/>
                </a:solidFill>
                <a:latin typeface="Arial"/>
                <a:cs typeface="Arial"/>
              </a:rPr>
              <a:t>Drink prepared</a:t>
            </a:r>
          </a:p>
        </p:txBody>
      </p:sp>
      <p:sp>
        <p:nvSpPr>
          <p:cNvPr id="450" name="Arr Drink prepared"/>
          <p:cNvSpPr txBox="1"/>
          <p:nvPr/>
        </p:nvSpPr>
        <p:spPr>
          <a:xfrm>
            <a:off x="7059168" y="3099816"/>
            <a:ext cx="237744" cy="201168"/>
          </a:xfrm>
          <a:prstGeom prst="rightArrow">
            <a:avLst/>
          </a:prstGeom>
          <a:solidFill>
            <a:srgbClr val="9A90B0"/>
          </a:solidFill>
          <a:ln>
            <a:noFill/>
          </a:ln>
        </p:spPr>
        <p:txBody>
          <a:bodyPr wrap="square" lIns="0" tIns="0" rIns="0" bIns="0" anchor="t">
            <a:noAutofit/>
          </a:bodyPr>
          <a:lstStyle/>
          <a:p>
            <a:pPr marL="0" indent="0" algn="l">
              <a:spcAft>
                <a:spcPts val="0"/>
              </a:spcAft>
              <a:buNone/>
            </a:pPr>
            <a:endParaRPr/>
          </a:p>
        </p:txBody>
      </p:sp>
      <p:sp>
        <p:nvSpPr>
          <p:cNvPr id="451" name="Stage Receives drink"/>
          <p:cNvSpPr txBox="1"/>
          <p:nvPr/>
        </p:nvSpPr>
        <p:spPr>
          <a:xfrm>
            <a:off x="7315200" y="2944368"/>
            <a:ext cx="1463040" cy="502920"/>
          </a:xfrm>
          <a:prstGeom prst="roundRect">
            <a:avLst>
              <a:gd name="adj" fmla="val 8000"/>
            </a:avLst>
          </a:prstGeom>
          <a:solidFill>
            <a:srgbClr val="EDE6F7"/>
          </a:solidFill>
          <a:ln>
            <a:noFill/>
          </a:ln>
        </p:spPr>
        <p:txBody>
          <a:bodyPr wrap="square" lIns="45720" tIns="45720" rIns="45720" bIns="45720" anchor="ctr">
            <a:noAutofit/>
          </a:bodyPr>
          <a:lstStyle/>
          <a:p>
            <a:pPr marL="0" indent="0" algn="ctr">
              <a:spcAft>
                <a:spcPts val="0"/>
              </a:spcAft>
              <a:buNone/>
            </a:pPr>
            <a:r>
              <a:rPr lang="en-GB" sz="1150" b="1" dirty="0">
                <a:solidFill>
                  <a:srgbClr val="440099"/>
                </a:solidFill>
                <a:latin typeface="Arial"/>
                <a:cs typeface="Arial"/>
              </a:rPr>
              <a:t>Receives drink</a:t>
            </a:r>
          </a:p>
        </p:txBody>
      </p:sp>
      <p:sp>
        <p:nvSpPr>
          <p:cNvPr id="452" name="Question"/>
          <p:cNvSpPr txBox="1"/>
          <p:nvPr/>
        </p:nvSpPr>
        <p:spPr>
          <a:xfrm>
            <a:off x="365760" y="3611880"/>
            <a:ext cx="8412480" cy="822960"/>
          </a:xfrm>
          <a:prstGeom prst="roundRect">
            <a:avLst>
              <a:gd name="adj" fmla="val 8000"/>
            </a:avLst>
          </a:prstGeom>
          <a:solidFill>
            <a:srgbClr val="FFFFFF"/>
          </a:solidFill>
          <a:ln w="9525">
            <a:solidFill>
              <a:srgbClr val="C2410C"/>
            </a:solidFill>
          </a:ln>
        </p:spPr>
        <p:txBody>
          <a:bodyPr wrap="square" lIns="164592" tIns="164592" rIns="164592" bIns="164592" anchor="ctr">
            <a:noAutofit/>
          </a:bodyPr>
          <a:lstStyle/>
          <a:p>
            <a:pPr marL="0" indent="0" algn="l">
              <a:spcAft>
                <a:spcPts val="0"/>
              </a:spcAft>
              <a:buNone/>
            </a:pPr>
            <a:r>
              <a:rPr lang="en-GB" sz="1300" b="1" dirty="0">
                <a:solidFill>
                  <a:srgbClr val="C2410C"/>
                </a:solidFill>
                <a:latin typeface="Arial"/>
                <a:cs typeface="Arial"/>
              </a:rPr>
              <a:t>Your turn: </a:t>
            </a:r>
            <a:r>
              <a:rPr lang="en-GB" sz="1300" b="0" dirty="0">
                <a:solidFill>
                  <a:srgbClr val="1A1A1A"/>
                </a:solidFill>
                <a:latin typeface="Arial"/>
                <a:cs typeface="Arial"/>
              </a:rPr>
              <a:t>a customer enters at </a:t>
            </a:r>
            <a:r>
              <a:rPr lang="en-GB" sz="1300" b="1" dirty="0">
                <a:solidFill>
                  <a:srgbClr val="1A1A1A"/>
                </a:solidFill>
                <a:latin typeface="Arial"/>
                <a:cs typeface="Arial"/>
              </a:rPr>
              <a:t>10:00</a:t>
            </a:r>
            <a:r>
              <a:rPr lang="en-GB" sz="1300" b="0" dirty="0">
                <a:solidFill>
                  <a:srgbClr val="1A1A1A"/>
                </a:solidFill>
                <a:latin typeface="Arial"/>
                <a:cs typeface="Arial"/>
              </a:rPr>
              <a:t> and receives the drink at </a:t>
            </a:r>
            <a:r>
              <a:rPr lang="en-GB" sz="1300" b="1" dirty="0">
                <a:solidFill>
                  <a:srgbClr val="1A1A1A"/>
                </a:solidFill>
                <a:latin typeface="Arial"/>
                <a:cs typeface="Arial"/>
              </a:rPr>
              <a:t>10:08</a:t>
            </a:r>
            <a:r>
              <a:rPr lang="en-GB" sz="1300" b="0" dirty="0">
                <a:solidFill>
                  <a:srgbClr val="1A1A1A"/>
                </a:solidFill>
                <a:latin typeface="Arial"/>
                <a:cs typeface="Arial"/>
              </a:rPr>
              <a:t>. What is the flow time?</a:t>
            </a:r>
          </a:p>
        </p:txBody>
      </p:sp>
    </p:spTree>
    <p:extLst>
      <p:ext uri="{BB962C8B-B14F-4D97-AF65-F5344CB8AC3E}">
        <p14:creationId xmlns:p14="http://schemas.microsoft.com/office/powerpoint/2010/main" val="3940369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8518A0C-4EA2-111C-55AA-0EE6E75AEAE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E79447F-2932-41B1-85BF-38FBA7BA78EC}"/>
              </a:ext>
            </a:extLst>
          </p:cNvPr>
          <p:cNvSpPr>
            <a:spLocks noGrp="1"/>
          </p:cNvSpPr>
          <p:nvPr>
            <p:ph type="title"/>
          </p:nvPr>
        </p:nvSpPr>
        <p:spPr>
          <a:xfrm>
            <a:off x="2286000" y="384048"/>
            <a:ext cx="6492240" cy="576072"/>
          </a:xfrm>
        </p:spPr>
        <p:txBody>
          <a:bodyPr wrap="square" anchor="ctr">
            <a:normAutofit/>
          </a:bodyPr>
          <a:lstStyle/>
          <a:p>
            <a:r>
              <a:rPr lang="en-GB" sz="2500" b="1" dirty="0"/>
              <a:t>Little’s Law: Throughput (R)</a:t>
            </a:r>
          </a:p>
        </p:txBody>
      </p:sp>
      <p:sp>
        <p:nvSpPr>
          <p:cNvPr id="80" name="Google Shape;80;p16">
            <a:extLst>
              <a:ext uri="{FF2B5EF4-FFF2-40B4-BE49-F238E27FC236}">
                <a16:creationId xmlns:a16="http://schemas.microsoft.com/office/drawing/2014/main" id="{54D442B7-7A8E-8724-68C6-571C5FECCB1B}"/>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31</a:t>
            </a:fld>
            <a:endParaRPr lang="en" sz="900"/>
          </a:p>
        </p:txBody>
      </p:sp>
      <p:sp>
        <p:nvSpPr>
          <p:cNvPr id="453" name="Def"/>
          <p:cNvSpPr txBox="1"/>
          <p:nvPr/>
        </p:nvSpPr>
        <p:spPr>
          <a:xfrm>
            <a:off x="365760" y="1097280"/>
            <a:ext cx="8412480" cy="685800"/>
          </a:xfrm>
          <a:prstGeom prst="roundRect">
            <a:avLst>
              <a:gd name="adj" fmla="val 8000"/>
            </a:avLst>
          </a:prstGeom>
          <a:solidFill>
            <a:srgbClr val="EDE6F7"/>
          </a:solidFill>
          <a:ln>
            <a:noFill/>
          </a:ln>
        </p:spPr>
        <p:txBody>
          <a:bodyPr wrap="square" lIns="128016" tIns="128016" rIns="128016" bIns="128016" anchor="ctr">
            <a:noAutofit/>
          </a:bodyPr>
          <a:lstStyle/>
          <a:p>
            <a:pPr marL="0" indent="0" algn="l">
              <a:spcAft>
                <a:spcPts val="0"/>
              </a:spcAft>
              <a:buNone/>
            </a:pPr>
            <a:r>
              <a:rPr lang="en-GB" sz="1300" b="1" dirty="0">
                <a:solidFill>
                  <a:srgbClr val="440099"/>
                </a:solidFill>
                <a:latin typeface="Arial"/>
                <a:cs typeface="Arial"/>
              </a:rPr>
              <a:t>Throughput (R) </a:t>
            </a:r>
            <a:r>
              <a:rPr lang="en-GB" sz="1250" b="0" dirty="0">
                <a:solidFill>
                  <a:srgbClr val="1A1A1A"/>
                </a:solidFill>
                <a:latin typeface="Arial"/>
                <a:cs typeface="Arial"/>
              </a:rPr>
              <a:t>is the number of units an operation completes per unit of time: its rate of output. Units can be customers, products or jobs.</a:t>
            </a:r>
          </a:p>
        </p:txBody>
      </p:sp>
      <p:sp>
        <p:nvSpPr>
          <p:cNvPr id="454" name="Ex"/>
          <p:cNvSpPr txBox="1"/>
          <p:nvPr/>
        </p:nvSpPr>
        <p:spPr>
          <a:xfrm>
            <a:off x="365760" y="1965960"/>
            <a:ext cx="4937760" cy="2468880"/>
          </a:xfrm>
          <a:prstGeom prst="roundRect">
            <a:avLst>
              <a:gd name="adj" fmla="val 8000"/>
            </a:avLst>
          </a:prstGeom>
          <a:solidFill>
            <a:srgbClr val="FFFFFF"/>
          </a:solidFill>
          <a:ln w="9525">
            <a:solidFill>
              <a:srgbClr val="D0CCD8"/>
            </a:solidFill>
          </a:ln>
        </p:spPr>
        <p:txBody>
          <a:bodyPr wrap="square" lIns="182880" tIns="182880" rIns="182880" bIns="182880" anchor="t">
            <a:noAutofit/>
          </a:bodyPr>
          <a:lstStyle/>
          <a:p>
            <a:pPr marL="0" indent="0" algn="l">
              <a:spcAft>
                <a:spcPts val="600"/>
              </a:spcAft>
              <a:buNone/>
            </a:pPr>
            <a:r>
              <a:rPr lang="en-GB" sz="1300" b="1" dirty="0">
                <a:solidFill>
                  <a:srgbClr val="440099"/>
                </a:solidFill>
                <a:latin typeface="Arial"/>
                <a:cs typeface="Arial"/>
              </a:rPr>
              <a:t>Example: a coffee shop</a:t>
            </a:r>
          </a:p>
          <a:p>
            <a:pPr marL="0" indent="0" algn="l">
              <a:spcAft>
                <a:spcPts val="1200"/>
              </a:spcAft>
              <a:buNone/>
            </a:pPr>
            <a:r>
              <a:rPr lang="en-GB" sz="1450" b="0" dirty="0">
                <a:solidFill>
                  <a:srgbClr val="1A1A1A"/>
                </a:solidFill>
                <a:latin typeface="Arial"/>
                <a:cs typeface="Arial"/>
              </a:rPr>
              <a:t>The baristas complete </a:t>
            </a:r>
            <a:r>
              <a:rPr lang="en-GB" sz="1450" b="1" dirty="0">
                <a:solidFill>
                  <a:srgbClr val="1A1A1A"/>
                </a:solidFill>
                <a:latin typeface="Arial"/>
                <a:cs typeface="Arial"/>
              </a:rPr>
              <a:t>30 drinks in 10 minutes.</a:t>
            </a:r>
          </a:p>
          <a:p>
            <a:pPr marL="0" indent="0" algn="l">
              <a:spcAft>
                <a:spcPts val="500"/>
              </a:spcAft>
              <a:buNone/>
            </a:pPr>
            <a:r>
              <a:rPr lang="en-GB" sz="2200" b="1" dirty="0">
                <a:solidFill>
                  <a:srgbClr val="1A1A1A"/>
                </a:solidFill>
                <a:latin typeface="Arial"/>
                <a:cs typeface="Arial"/>
              </a:rPr>
              <a:t>R = 30 ÷ 10</a:t>
            </a:r>
          </a:p>
          <a:p>
            <a:pPr marL="0" indent="0" algn="l">
              <a:spcAft>
                <a:spcPts val="0"/>
              </a:spcAft>
              <a:buNone/>
            </a:pPr>
            <a:r>
              <a:rPr lang="en-GB" sz="2600" b="1" dirty="0">
                <a:solidFill>
                  <a:srgbClr val="440099"/>
                </a:solidFill>
                <a:latin typeface="Arial"/>
                <a:cs typeface="Arial"/>
              </a:rPr>
              <a:t>R = 3 drinks per minute</a:t>
            </a:r>
          </a:p>
        </p:txBody>
      </p:sp>
      <p:sp>
        <p:nvSpPr>
          <p:cNvPr id="455" name="Tip"/>
          <p:cNvSpPr txBox="1"/>
          <p:nvPr/>
        </p:nvSpPr>
        <p:spPr>
          <a:xfrm>
            <a:off x="5486400" y="1965960"/>
            <a:ext cx="3291840" cy="1143000"/>
          </a:xfrm>
          <a:prstGeom prst="roundRect">
            <a:avLst>
              <a:gd name="adj" fmla="val 8000"/>
            </a:avLst>
          </a:prstGeom>
          <a:solidFill>
            <a:srgbClr val="FCE3D6"/>
          </a:solidFill>
          <a:ln>
            <a:noFill/>
          </a:ln>
        </p:spPr>
        <p:txBody>
          <a:bodyPr wrap="square" lIns="146304" tIns="146304" rIns="146304" bIns="146304" anchor="ctr">
            <a:noAutofit/>
          </a:bodyPr>
          <a:lstStyle/>
          <a:p>
            <a:pPr marL="0" indent="0" algn="l">
              <a:spcAft>
                <a:spcPts val="0"/>
              </a:spcAft>
              <a:buNone/>
            </a:pPr>
            <a:r>
              <a:rPr lang="en-GB" sz="1200" b="1" dirty="0">
                <a:solidFill>
                  <a:srgbClr val="C2410C"/>
                </a:solidFill>
                <a:latin typeface="Arial"/>
                <a:cs typeface="Arial"/>
              </a:rPr>
              <a:t>R is a rate. </a:t>
            </a:r>
            <a:r>
              <a:rPr lang="en-GB" sz="1200" b="0" dirty="0">
                <a:solidFill>
                  <a:srgbClr val="1A1A1A"/>
                </a:solidFill>
                <a:latin typeface="Arial"/>
                <a:cs typeface="Arial"/>
              </a:rPr>
              <a:t>Always state the time unit: per minute, per hour or per week.</a:t>
            </a:r>
          </a:p>
        </p:txBody>
      </p:sp>
      <p:sp>
        <p:nvSpPr>
          <p:cNvPr id="456" name="Link"/>
          <p:cNvSpPr txBox="1"/>
          <p:nvPr/>
        </p:nvSpPr>
        <p:spPr>
          <a:xfrm>
            <a:off x="5486400" y="3246120"/>
            <a:ext cx="3291840" cy="1188720"/>
          </a:xfrm>
          <a:prstGeom prst="roundRect">
            <a:avLst>
              <a:gd name="adj" fmla="val 8000"/>
            </a:avLst>
          </a:prstGeom>
          <a:solidFill>
            <a:srgbClr val="EDE6F7"/>
          </a:solidFill>
          <a:ln>
            <a:noFill/>
          </a:ln>
        </p:spPr>
        <p:txBody>
          <a:bodyPr wrap="square" lIns="146304" tIns="146304" rIns="146304" bIns="146304" anchor="ctr">
            <a:noAutofit/>
          </a:bodyPr>
          <a:lstStyle/>
          <a:p>
            <a:pPr marL="0" indent="0" algn="l">
              <a:spcAft>
                <a:spcPts val="0"/>
              </a:spcAft>
              <a:buNone/>
            </a:pPr>
            <a:r>
              <a:rPr lang="en-GB" sz="1200" b="1" dirty="0">
                <a:solidFill>
                  <a:srgbClr val="440099"/>
                </a:solidFill>
                <a:latin typeface="Arial"/>
                <a:cs typeface="Arial"/>
              </a:rPr>
              <a:t>Throughput vs capacity: </a:t>
            </a:r>
            <a:r>
              <a:rPr lang="en-GB" sz="1200" b="0" dirty="0">
                <a:solidFill>
                  <a:srgbClr val="1A1A1A"/>
                </a:solidFill>
                <a:latin typeface="Arial"/>
                <a:cs typeface="Arial"/>
              </a:rPr>
              <a:t>R is what the operation actually completes. It can never be higher than the capacity of the bottleneck.</a:t>
            </a:r>
          </a:p>
        </p:txBody>
      </p:sp>
    </p:spTree>
    <p:extLst>
      <p:ext uri="{BB962C8B-B14F-4D97-AF65-F5344CB8AC3E}">
        <p14:creationId xmlns:p14="http://schemas.microsoft.com/office/powerpoint/2010/main" val="765044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1823106-3711-D95C-EC9B-64681BF00F5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E27B64F-3D62-7602-20B2-BAE9E0E42A17}"/>
              </a:ext>
            </a:extLst>
          </p:cNvPr>
          <p:cNvSpPr>
            <a:spLocks noGrp="1"/>
          </p:cNvSpPr>
          <p:nvPr>
            <p:ph type="title"/>
          </p:nvPr>
        </p:nvSpPr>
        <p:spPr>
          <a:xfrm>
            <a:off x="2286000" y="384048"/>
            <a:ext cx="6492240" cy="576072"/>
          </a:xfrm>
        </p:spPr>
        <p:txBody>
          <a:bodyPr wrap="square" anchor="ctr">
            <a:normAutofit/>
          </a:bodyPr>
          <a:lstStyle/>
          <a:p>
            <a:r>
              <a:rPr lang="en-GB" sz="2500" b="1" dirty="0"/>
              <a:t>Work-in-Progress (WIP)</a:t>
            </a:r>
          </a:p>
        </p:txBody>
      </p:sp>
      <p:sp>
        <p:nvSpPr>
          <p:cNvPr id="80" name="Google Shape;80;p16">
            <a:extLst>
              <a:ext uri="{FF2B5EF4-FFF2-40B4-BE49-F238E27FC236}">
                <a16:creationId xmlns:a16="http://schemas.microsoft.com/office/drawing/2014/main" id="{A9790643-2A49-F1FB-8221-C22D2F130059}"/>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32</a:t>
            </a:fld>
            <a:endParaRPr lang="en" sz="900"/>
          </a:p>
        </p:txBody>
      </p:sp>
      <p:sp>
        <p:nvSpPr>
          <p:cNvPr id="457" name="Def"/>
          <p:cNvSpPr txBox="1"/>
          <p:nvPr/>
        </p:nvSpPr>
        <p:spPr>
          <a:xfrm>
            <a:off x="4937760" y="1143000"/>
            <a:ext cx="3840480" cy="96012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l">
              <a:spcAft>
                <a:spcPts val="0"/>
              </a:spcAft>
              <a:buNone/>
            </a:pPr>
            <a:r>
              <a:rPr lang="en-GB" sz="1250" b="1" dirty="0">
                <a:solidFill>
                  <a:srgbClr val="440099"/>
                </a:solidFill>
                <a:latin typeface="Arial"/>
                <a:cs typeface="Arial"/>
              </a:rPr>
              <a:t>WIP </a:t>
            </a:r>
            <a:r>
              <a:rPr lang="en-GB" sz="1150" b="0" dirty="0">
                <a:solidFill>
                  <a:srgbClr val="1A1A1A"/>
                </a:solidFill>
                <a:latin typeface="Arial"/>
                <a:cs typeface="Arial"/>
              </a:rPr>
              <a:t>is everything that has entered the process but not yet left: customers in the shop, orders in progress, parts on the line.</a:t>
            </a:r>
          </a:p>
        </p:txBody>
      </p:sp>
      <p:sp>
        <p:nvSpPr>
          <p:cNvPr id="458" name="Law"/>
          <p:cNvSpPr txBox="1"/>
          <p:nvPr/>
        </p:nvSpPr>
        <p:spPr>
          <a:xfrm>
            <a:off x="4937760" y="2212848"/>
            <a:ext cx="3840480" cy="685800"/>
          </a:xfrm>
          <a:prstGeom prst="roundRect">
            <a:avLst>
              <a:gd name="adj" fmla="val 8000"/>
            </a:avLst>
          </a:prstGeom>
          <a:solidFill>
            <a:srgbClr val="440099"/>
          </a:solidFill>
          <a:ln>
            <a:noFill/>
          </a:ln>
        </p:spPr>
        <p:txBody>
          <a:bodyPr wrap="square" lIns="91440" tIns="91440" rIns="91440" bIns="91440" anchor="ctr">
            <a:noAutofit/>
          </a:bodyPr>
          <a:lstStyle/>
          <a:p>
            <a:pPr marL="0" indent="0" algn="ctr">
              <a:spcAft>
                <a:spcPts val="0"/>
              </a:spcAft>
              <a:buNone/>
            </a:pPr>
            <a:r>
              <a:rPr lang="en-GB" sz="2600" b="1" dirty="0">
                <a:solidFill>
                  <a:srgbClr val="FFFFFF"/>
                </a:solidFill>
                <a:latin typeface="Arial"/>
                <a:cs typeface="Arial"/>
              </a:rPr>
              <a:t>WIP = R × T</a:t>
            </a:r>
          </a:p>
        </p:txBody>
      </p:sp>
      <p:sp>
        <p:nvSpPr>
          <p:cNvPr id="459" name="Ex"/>
          <p:cNvSpPr txBox="1"/>
          <p:nvPr/>
        </p:nvSpPr>
        <p:spPr>
          <a:xfrm>
            <a:off x="4937760" y="3017520"/>
            <a:ext cx="3840480" cy="1417320"/>
          </a:xfrm>
          <a:prstGeom prst="roundRect">
            <a:avLst>
              <a:gd name="adj" fmla="val 8000"/>
            </a:avLst>
          </a:prstGeom>
          <a:solidFill>
            <a:srgbClr val="EDE6F7"/>
          </a:solidFill>
          <a:ln>
            <a:noFill/>
          </a:ln>
        </p:spPr>
        <p:txBody>
          <a:bodyPr wrap="square" lIns="137160" tIns="137160" rIns="137160" bIns="137160" anchor="ctr">
            <a:noAutofit/>
          </a:bodyPr>
          <a:lstStyle/>
          <a:p>
            <a:pPr marL="0" indent="0" algn="l">
              <a:spcAft>
                <a:spcPts val="400"/>
              </a:spcAft>
              <a:buNone/>
            </a:pPr>
            <a:r>
              <a:rPr lang="en-GB" sz="1150" b="1" dirty="0">
                <a:solidFill>
                  <a:srgbClr val="440099"/>
                </a:solidFill>
                <a:latin typeface="Arial"/>
                <a:cs typeface="Arial"/>
              </a:rPr>
              <a:t>Coffee shop, putting it together</a:t>
            </a:r>
          </a:p>
          <a:p>
            <a:pPr marL="0" indent="0" algn="l">
              <a:spcAft>
                <a:spcPts val="400"/>
              </a:spcAft>
              <a:buNone/>
            </a:pPr>
            <a:r>
              <a:rPr lang="en-GB" sz="1150" b="0" dirty="0">
                <a:solidFill>
                  <a:srgbClr val="1A1A1A"/>
                </a:solidFill>
                <a:latin typeface="Arial"/>
                <a:cs typeface="Arial"/>
              </a:rPr>
              <a:t>R = 3 drinks per minute, T = 8 minutes</a:t>
            </a:r>
          </a:p>
          <a:p>
            <a:pPr marL="0" indent="0" algn="l">
              <a:spcAft>
                <a:spcPts val="0"/>
              </a:spcAft>
              <a:buNone/>
            </a:pPr>
            <a:r>
              <a:rPr lang="en-GB" sz="1400" b="1" dirty="0">
                <a:solidFill>
                  <a:srgbClr val="1A1A1A"/>
                </a:solidFill>
                <a:latin typeface="Arial"/>
                <a:cs typeface="Arial"/>
              </a:rPr>
              <a:t>WIP = 3 × 8 = 24 customers inside</a:t>
            </a:r>
          </a:p>
        </p:txBody>
      </p:sp>
      <p:pic>
        <p:nvPicPr>
          <p:cNvPr id="4" name="Image 0" descr="Diagram illustrating manufacturing process as a funnel, showing input flowing through work in progress (WIP) to output with throughput (R). It highlights Little’s Law formula WIP = R × T, relating work in progress, throughput, and flow time (T) with labeled arrows and sections.">
            <a:extLst>
              <a:ext uri="{FF2B5EF4-FFF2-40B4-BE49-F238E27FC236}">
                <a16:creationId xmlns:a16="http://schemas.microsoft.com/office/drawing/2014/main" id="{A473BDC5-66A3-DEB8-F058-44C029A6BE0E}"/>
              </a:ext>
            </a:extLst>
          </p:cNvPr>
          <p:cNvPicPr>
            <a:picLocks noChangeAspect="1"/>
          </p:cNvPicPr>
          <p:nvPr/>
        </p:nvPicPr>
        <p:blipFill>
          <a:blip r:embed="rId3"/>
          <a:stretch>
            <a:fillRect/>
          </a:stretch>
        </p:blipFill>
        <p:spPr>
          <a:xfrm>
            <a:off x="365760" y="1143000"/>
            <a:ext cx="4389120" cy="3291840"/>
          </a:xfrm>
          <a:prstGeom prst="rect">
            <a:avLst/>
          </a:prstGeom>
        </p:spPr>
      </p:pic>
    </p:spTree>
    <p:extLst>
      <p:ext uri="{BB962C8B-B14F-4D97-AF65-F5344CB8AC3E}">
        <p14:creationId xmlns:p14="http://schemas.microsoft.com/office/powerpoint/2010/main" val="1812955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6251924-9557-A1AA-6ACF-52D0414F6ED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647A5D2-C913-64A3-20F9-9E859AD496EB}"/>
              </a:ext>
            </a:extLst>
          </p:cNvPr>
          <p:cNvSpPr>
            <a:spLocks noGrp="1"/>
          </p:cNvSpPr>
          <p:nvPr>
            <p:ph type="title"/>
          </p:nvPr>
        </p:nvSpPr>
        <p:spPr>
          <a:xfrm>
            <a:off x="2286000" y="384048"/>
            <a:ext cx="6492240" cy="576072"/>
          </a:xfrm>
        </p:spPr>
        <p:txBody>
          <a:bodyPr wrap="square" anchor="ctr">
            <a:normAutofit/>
          </a:bodyPr>
          <a:lstStyle/>
          <a:p>
            <a:r>
              <a:rPr lang="en-GB" sz="2500" b="1" dirty="0"/>
              <a:t>Alternative Formulas</a:t>
            </a:r>
          </a:p>
        </p:txBody>
      </p:sp>
      <p:sp>
        <p:nvSpPr>
          <p:cNvPr id="80" name="Google Shape;80;p16">
            <a:extLst>
              <a:ext uri="{FF2B5EF4-FFF2-40B4-BE49-F238E27FC236}">
                <a16:creationId xmlns:a16="http://schemas.microsoft.com/office/drawing/2014/main" id="{6631F6B1-16DD-84C5-B895-227E751AD9B5}"/>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33</a:t>
            </a:fld>
            <a:endParaRPr lang="en" sz="900"/>
          </a:p>
        </p:txBody>
      </p:sp>
      <p:sp>
        <p:nvSpPr>
          <p:cNvPr id="460" name="Def"/>
          <p:cNvSpPr txBox="1"/>
          <p:nvPr/>
        </p:nvSpPr>
        <p:spPr>
          <a:xfrm>
            <a:off x="365760" y="1097280"/>
            <a:ext cx="8412480" cy="566928"/>
          </a:xfrm>
          <a:prstGeom prst="roundRect">
            <a:avLst>
              <a:gd name="adj" fmla="val 8000"/>
            </a:avLst>
          </a:prstGeom>
          <a:solidFill>
            <a:srgbClr val="EDE6F7"/>
          </a:solidFill>
          <a:ln>
            <a:noFill/>
          </a:ln>
        </p:spPr>
        <p:txBody>
          <a:bodyPr wrap="square" lIns="128016" tIns="128016" rIns="128016" bIns="128016" anchor="ctr">
            <a:noAutofit/>
          </a:bodyPr>
          <a:lstStyle/>
          <a:p>
            <a:pPr marL="0" indent="0" algn="l">
              <a:spcAft>
                <a:spcPts val="0"/>
              </a:spcAft>
              <a:buNone/>
            </a:pPr>
            <a:r>
              <a:rPr lang="en-GB" sz="1150" b="1" dirty="0">
                <a:solidFill>
                  <a:srgbClr val="440099"/>
                </a:solidFill>
                <a:latin typeface="Arial"/>
                <a:cs typeface="Arial"/>
              </a:rPr>
              <a:t>Key terms: </a:t>
            </a:r>
            <a:r>
              <a:rPr lang="en-GB" sz="1150" b="0" dirty="0">
                <a:solidFill>
                  <a:srgbClr val="1A1A1A"/>
                </a:solidFill>
                <a:latin typeface="Arial"/>
                <a:cs typeface="Arial"/>
              </a:rPr>
              <a:t>throughput time = flow time (T). </a:t>
            </a:r>
            <a:r>
              <a:rPr lang="en-GB" sz="1150" b="1" dirty="0">
                <a:solidFill>
                  <a:srgbClr val="1A1A1A"/>
                </a:solidFill>
                <a:latin typeface="Arial"/>
                <a:cs typeface="Arial"/>
              </a:rPr>
              <a:t>Cycle time</a:t>
            </a:r>
            <a:r>
              <a:rPr lang="en-GB" sz="1150" b="0" dirty="0">
                <a:solidFill>
                  <a:srgbClr val="1A1A1A"/>
                </a:solidFill>
                <a:latin typeface="Arial"/>
                <a:cs typeface="Arial"/>
              </a:rPr>
              <a:t> = time between successive outputs, which is 1 ÷ R.</a:t>
            </a:r>
          </a:p>
        </p:txBody>
      </p:sp>
      <p:sp>
        <p:nvSpPr>
          <p:cNvPr id="461" name="Form 0"/>
          <p:cNvSpPr txBox="1"/>
          <p:nvPr/>
        </p:nvSpPr>
        <p:spPr>
          <a:xfrm>
            <a:off x="365760" y="1801368"/>
            <a:ext cx="4137660" cy="132588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ctr">
              <a:spcAft>
                <a:spcPts val="500"/>
              </a:spcAft>
              <a:buNone/>
            </a:pPr>
            <a:r>
              <a:rPr lang="en-GB" sz="1050" b="0" dirty="0">
                <a:solidFill>
                  <a:srgbClr val="5A5A5A"/>
                </a:solidFill>
                <a:latin typeface="Arial"/>
                <a:cs typeface="Arial"/>
              </a:rPr>
              <a:t>How long an item spends in the process</a:t>
            </a:r>
          </a:p>
          <a:p>
            <a:pPr marL="0" indent="0" algn="ctr">
              <a:spcAft>
                <a:spcPts val="0"/>
              </a:spcAft>
              <a:buNone/>
            </a:pPr>
            <a:r>
              <a:rPr lang="en-GB" sz="1650" b="1" dirty="0">
                <a:solidFill>
                  <a:srgbClr val="440099"/>
                </a:solidFill>
                <a:latin typeface="Arial"/>
                <a:cs typeface="Arial"/>
              </a:rPr>
              <a:t>Throughput time</a:t>
            </a:r>
            <a:r>
              <a:rPr lang="en-GB" sz="1650" b="0" dirty="0">
                <a:solidFill>
                  <a:srgbClr val="1A1A1A"/>
                </a:solidFill>
                <a:latin typeface="Arial"/>
                <a:cs typeface="Arial"/>
              </a:rPr>
              <a:t> = WIP × Cycle time</a:t>
            </a:r>
          </a:p>
        </p:txBody>
      </p:sp>
      <p:sp>
        <p:nvSpPr>
          <p:cNvPr id="462" name="Form 1"/>
          <p:cNvSpPr txBox="1"/>
          <p:nvPr/>
        </p:nvSpPr>
        <p:spPr>
          <a:xfrm>
            <a:off x="4640580" y="1801368"/>
            <a:ext cx="4137660" cy="132588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ctr">
              <a:spcAft>
                <a:spcPts val="500"/>
              </a:spcAft>
              <a:buNone/>
            </a:pPr>
            <a:r>
              <a:rPr lang="en-GB" sz="1050" b="0" dirty="0">
                <a:solidFill>
                  <a:srgbClr val="5A5A5A"/>
                </a:solidFill>
                <a:latin typeface="Arial"/>
                <a:cs typeface="Arial"/>
              </a:rPr>
              <a:t>How many items are inside the process</a:t>
            </a:r>
          </a:p>
          <a:p>
            <a:pPr marL="0" indent="0" algn="ctr">
              <a:spcAft>
                <a:spcPts val="0"/>
              </a:spcAft>
              <a:buNone/>
            </a:pPr>
            <a:r>
              <a:rPr lang="en-GB" sz="1650" b="1" dirty="0">
                <a:solidFill>
                  <a:srgbClr val="440099"/>
                </a:solidFill>
                <a:latin typeface="Arial"/>
                <a:cs typeface="Arial"/>
              </a:rPr>
              <a:t>WIP</a:t>
            </a:r>
            <a:r>
              <a:rPr lang="en-GB" sz="1650" b="0" dirty="0">
                <a:solidFill>
                  <a:srgbClr val="1A1A1A"/>
                </a:solidFill>
                <a:latin typeface="Arial"/>
                <a:cs typeface="Arial"/>
              </a:rPr>
              <a:t> = Throughput time ÷ Cycle time</a:t>
            </a:r>
          </a:p>
        </p:txBody>
      </p:sp>
      <p:sp>
        <p:nvSpPr>
          <p:cNvPr id="463" name="Form 2"/>
          <p:cNvSpPr txBox="1"/>
          <p:nvPr/>
        </p:nvSpPr>
        <p:spPr>
          <a:xfrm>
            <a:off x="365760" y="3236976"/>
            <a:ext cx="4137660" cy="132588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ctr">
              <a:spcAft>
                <a:spcPts val="500"/>
              </a:spcAft>
              <a:buNone/>
            </a:pPr>
            <a:r>
              <a:rPr lang="en-GB" sz="1050" b="0" dirty="0">
                <a:solidFill>
                  <a:srgbClr val="5A5A5A"/>
                </a:solidFill>
                <a:latin typeface="Arial"/>
                <a:cs typeface="Arial"/>
              </a:rPr>
              <a:t>How often an item must leave the process</a:t>
            </a:r>
          </a:p>
          <a:p>
            <a:pPr marL="0" indent="0" algn="ctr">
              <a:spcAft>
                <a:spcPts val="0"/>
              </a:spcAft>
              <a:buNone/>
            </a:pPr>
            <a:r>
              <a:rPr lang="en-GB" sz="1650" b="1" dirty="0">
                <a:solidFill>
                  <a:srgbClr val="440099"/>
                </a:solidFill>
                <a:latin typeface="Arial"/>
                <a:cs typeface="Arial"/>
              </a:rPr>
              <a:t>Cycle time</a:t>
            </a:r>
            <a:r>
              <a:rPr lang="en-GB" sz="1650" b="0" dirty="0">
                <a:solidFill>
                  <a:srgbClr val="1A1A1A"/>
                </a:solidFill>
                <a:latin typeface="Arial"/>
                <a:cs typeface="Arial"/>
              </a:rPr>
              <a:t> = Throughput time ÷ WIP</a:t>
            </a:r>
          </a:p>
        </p:txBody>
      </p:sp>
      <p:sp>
        <p:nvSpPr>
          <p:cNvPr id="464" name="Form 3"/>
          <p:cNvSpPr txBox="1"/>
          <p:nvPr/>
        </p:nvSpPr>
        <p:spPr>
          <a:xfrm>
            <a:off x="4640580" y="3236976"/>
            <a:ext cx="4137660" cy="1325880"/>
          </a:xfrm>
          <a:prstGeom prst="roundRect">
            <a:avLst>
              <a:gd name="adj" fmla="val 8000"/>
            </a:avLst>
          </a:prstGeom>
          <a:solidFill>
            <a:srgbClr val="FFFFFF"/>
          </a:solidFill>
          <a:ln w="9525">
            <a:solidFill>
              <a:srgbClr val="D0CCD8"/>
            </a:solidFill>
          </a:ln>
        </p:spPr>
        <p:txBody>
          <a:bodyPr wrap="square" lIns="137160" tIns="137160" rIns="137160" bIns="137160" anchor="ctr">
            <a:noAutofit/>
          </a:bodyPr>
          <a:lstStyle/>
          <a:p>
            <a:pPr marL="0" indent="0" algn="ctr">
              <a:spcAft>
                <a:spcPts val="500"/>
              </a:spcAft>
              <a:buNone/>
            </a:pPr>
            <a:r>
              <a:rPr lang="en-GB" sz="1050" b="0" dirty="0">
                <a:solidFill>
                  <a:srgbClr val="5A5A5A"/>
                </a:solidFill>
                <a:latin typeface="Arial"/>
                <a:cs typeface="Arial"/>
              </a:rPr>
              <a:t>How many staff or machines keep pace with demand</a:t>
            </a:r>
          </a:p>
          <a:p>
            <a:pPr marL="0" indent="0" algn="ctr">
              <a:spcAft>
                <a:spcPts val="0"/>
              </a:spcAft>
              <a:buNone/>
            </a:pPr>
            <a:r>
              <a:rPr lang="en-GB" sz="1650" b="1" dirty="0">
                <a:solidFill>
                  <a:srgbClr val="440099"/>
                </a:solidFill>
                <a:latin typeface="Arial"/>
                <a:cs typeface="Arial"/>
              </a:rPr>
              <a:t>Servers required</a:t>
            </a:r>
            <a:r>
              <a:rPr lang="en-GB" sz="1650" b="0" dirty="0">
                <a:solidFill>
                  <a:srgbClr val="1A1A1A"/>
                </a:solidFill>
                <a:latin typeface="Arial"/>
                <a:cs typeface="Arial"/>
              </a:rPr>
              <a:t> = Work content ÷ Cycle time</a:t>
            </a:r>
          </a:p>
        </p:txBody>
      </p:sp>
    </p:spTree>
    <p:extLst>
      <p:ext uri="{BB962C8B-B14F-4D97-AF65-F5344CB8AC3E}">
        <p14:creationId xmlns:p14="http://schemas.microsoft.com/office/powerpoint/2010/main" val="3424717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7737ED08-812D-D28E-AA8C-A048C741F3E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0F14A9B-6667-F253-C4F8-554B2B0F274F}"/>
              </a:ext>
            </a:extLst>
          </p:cNvPr>
          <p:cNvSpPr>
            <a:spLocks noGrp="1"/>
          </p:cNvSpPr>
          <p:nvPr>
            <p:ph type="title"/>
          </p:nvPr>
        </p:nvSpPr>
        <p:spPr>
          <a:xfrm>
            <a:off x="2286000" y="384048"/>
            <a:ext cx="6492240" cy="576072"/>
          </a:xfrm>
        </p:spPr>
        <p:txBody>
          <a:bodyPr wrap="square" anchor="ctr">
            <a:normAutofit/>
          </a:bodyPr>
          <a:lstStyle/>
          <a:p>
            <a:r>
              <a:rPr lang="en-GB" sz="2500" b="1" dirty="0"/>
              <a:t>Worked Example: Little’s Law</a:t>
            </a:r>
          </a:p>
        </p:txBody>
      </p:sp>
      <p:sp>
        <p:nvSpPr>
          <p:cNvPr id="80" name="Google Shape;80;p16">
            <a:extLst>
              <a:ext uri="{FF2B5EF4-FFF2-40B4-BE49-F238E27FC236}">
                <a16:creationId xmlns:a16="http://schemas.microsoft.com/office/drawing/2014/main" id="{ED83C789-898C-7BB0-0B09-94EC9D8F2808}"/>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a:lnSpc>
                <a:spcPct val="90000"/>
              </a:lnSpc>
              <a:spcAft>
                <a:spcPts val="600"/>
              </a:spcAft>
            </a:pPr>
            <a:fld id="{00000000-1234-1234-1234-123412341234}" type="slidenum">
              <a:rPr lang="en" sz="900" smtClean="0"/>
              <a:pPr>
                <a:lnSpc>
                  <a:spcPct val="90000"/>
                </a:lnSpc>
                <a:spcAft>
                  <a:spcPts val="600"/>
                </a:spcAft>
              </a:pPr>
              <a:t>34</a:t>
            </a:fld>
            <a:endParaRPr lang="en" sz="900"/>
          </a:p>
        </p:txBody>
      </p:sp>
      <p:sp>
        <p:nvSpPr>
          <p:cNvPr id="465" name="Question"/>
          <p:cNvSpPr txBox="1"/>
          <p:nvPr/>
        </p:nvSpPr>
        <p:spPr>
          <a:xfrm>
            <a:off x="365760" y="1097280"/>
            <a:ext cx="3200400" cy="2743200"/>
          </a:xfrm>
          <a:prstGeom prst="roundRect">
            <a:avLst>
              <a:gd name="adj" fmla="val 8000"/>
            </a:avLst>
          </a:prstGeom>
          <a:solidFill>
            <a:srgbClr val="440099"/>
          </a:solidFill>
          <a:ln>
            <a:noFill/>
          </a:ln>
        </p:spPr>
        <p:txBody>
          <a:bodyPr wrap="square" lIns="164592" tIns="164592" rIns="164592" bIns="164592" anchor="t">
            <a:noAutofit/>
          </a:bodyPr>
          <a:lstStyle/>
          <a:p>
            <a:pPr marL="0" indent="0" algn="l">
              <a:spcAft>
                <a:spcPts val="600"/>
              </a:spcAft>
              <a:buNone/>
            </a:pPr>
            <a:r>
              <a:rPr lang="en-GB" sz="1300" b="1" dirty="0">
                <a:solidFill>
                  <a:srgbClr val="FFFFFF"/>
                </a:solidFill>
                <a:latin typeface="Arial"/>
                <a:cs typeface="Arial"/>
              </a:rPr>
              <a:t>Question</a:t>
            </a:r>
          </a:p>
          <a:p>
            <a:pPr marL="0" indent="0" algn="l">
              <a:spcAft>
                <a:spcPts val="600"/>
              </a:spcAft>
              <a:buNone/>
            </a:pPr>
            <a:r>
              <a:rPr lang="en-GB" sz="1350" b="0" dirty="0">
                <a:solidFill>
                  <a:srgbClr val="FFFFFF"/>
                </a:solidFill>
                <a:latin typeface="Arial"/>
                <a:cs typeface="Arial"/>
              </a:rPr>
              <a:t>A restaurant makes 400 pieces of bread per week. Each uses 0.5 kg of dough, and it typically holds 70 kg of dough in stock.</a:t>
            </a:r>
          </a:p>
          <a:p>
            <a:pPr marL="0" indent="0" algn="l">
              <a:spcAft>
                <a:spcPts val="0"/>
              </a:spcAft>
              <a:buNone/>
            </a:pPr>
            <a:r>
              <a:rPr lang="en-GB" sz="1350" b="1" dirty="0">
                <a:solidFill>
                  <a:srgbClr val="FFFFFF"/>
                </a:solidFill>
                <a:latin typeface="Arial"/>
                <a:cs typeface="Arial"/>
              </a:rPr>
              <a:t>Using Little’s Law, what is the average flow time of the dough?</a:t>
            </a:r>
          </a:p>
        </p:txBody>
      </p:sp>
      <p:sp>
        <p:nvSpPr>
          <p:cNvPr id="466" name="Steps"/>
          <p:cNvSpPr txBox="1"/>
          <p:nvPr/>
        </p:nvSpPr>
        <p:spPr>
          <a:xfrm>
            <a:off x="3703320" y="1097280"/>
            <a:ext cx="5074920" cy="2743200"/>
          </a:xfrm>
          <a:prstGeom prst="roundRect">
            <a:avLst>
              <a:gd name="adj" fmla="val 8000"/>
            </a:avLst>
          </a:prstGeom>
          <a:solidFill>
            <a:srgbClr val="FFFFFF"/>
          </a:solidFill>
          <a:ln w="9525">
            <a:solidFill>
              <a:srgbClr val="D0CCD8"/>
            </a:solidFill>
          </a:ln>
        </p:spPr>
        <p:txBody>
          <a:bodyPr wrap="square" lIns="164592" tIns="164592" rIns="164592" bIns="164592" anchor="t">
            <a:noAutofit/>
          </a:bodyPr>
          <a:lstStyle/>
          <a:p>
            <a:pPr marL="0" indent="0" algn="l">
              <a:spcAft>
                <a:spcPts val="900"/>
              </a:spcAft>
              <a:buNone/>
            </a:pPr>
            <a:r>
              <a:rPr lang="en-GB" sz="1500" b="1" dirty="0">
                <a:solidFill>
                  <a:srgbClr val="440099"/>
                </a:solidFill>
                <a:latin typeface="Arial"/>
                <a:cs typeface="Arial"/>
              </a:rPr>
              <a:t>Solution</a:t>
            </a:r>
          </a:p>
          <a:p>
            <a:pPr marL="0" indent="0" algn="l">
              <a:spcAft>
                <a:spcPts val="500"/>
              </a:spcAft>
              <a:buNone/>
            </a:pPr>
            <a:r>
              <a:rPr lang="en-GB" sz="1450" b="1" dirty="0">
                <a:solidFill>
                  <a:srgbClr val="440099"/>
                </a:solidFill>
                <a:latin typeface="Arial"/>
                <a:cs typeface="Arial"/>
              </a:rPr>
              <a:t>1. Throughput: </a:t>
            </a:r>
            <a:r>
              <a:rPr lang="en-GB" sz="1450" b="0" dirty="0">
                <a:solidFill>
                  <a:srgbClr val="1A1A1A"/>
                </a:solidFill>
                <a:latin typeface="Arial"/>
                <a:cs typeface="Arial"/>
              </a:rPr>
              <a:t>R = 400 × 0.5 kg = 200 kg per week</a:t>
            </a:r>
          </a:p>
          <a:p>
            <a:pPr marL="0" indent="0" algn="l">
              <a:spcAft>
                <a:spcPts val="500"/>
              </a:spcAft>
              <a:buNone/>
            </a:pPr>
            <a:r>
              <a:rPr lang="en-GB" sz="1450" b="1" dirty="0">
                <a:solidFill>
                  <a:srgbClr val="440099"/>
                </a:solidFill>
                <a:latin typeface="Arial"/>
                <a:cs typeface="Arial"/>
              </a:rPr>
              <a:t>2. WIP: </a:t>
            </a:r>
            <a:r>
              <a:rPr lang="en-GB" sz="1450" b="0" dirty="0">
                <a:solidFill>
                  <a:srgbClr val="1A1A1A"/>
                </a:solidFill>
                <a:latin typeface="Arial"/>
                <a:cs typeface="Arial"/>
              </a:rPr>
              <a:t>70 kg of dough in stock</a:t>
            </a:r>
          </a:p>
          <a:p>
            <a:pPr marL="0" indent="0" algn="l">
              <a:spcAft>
                <a:spcPts val="500"/>
              </a:spcAft>
              <a:buNone/>
            </a:pPr>
            <a:r>
              <a:rPr lang="en-GB" sz="1450" b="1" dirty="0">
                <a:solidFill>
                  <a:srgbClr val="440099"/>
                </a:solidFill>
                <a:latin typeface="Arial"/>
                <a:cs typeface="Arial"/>
              </a:rPr>
              <a:t>3. Rearrange WIP = R × T: </a:t>
            </a:r>
            <a:r>
              <a:rPr lang="en-GB" sz="1450" b="0" dirty="0">
                <a:solidFill>
                  <a:srgbClr val="1A1A1A"/>
                </a:solidFill>
                <a:latin typeface="Arial"/>
                <a:cs typeface="Arial"/>
              </a:rPr>
              <a:t>T = WIP ÷ R = 70 ÷ 200 = 0.35 weeks</a:t>
            </a:r>
          </a:p>
          <a:p>
            <a:pPr marL="0" indent="0" algn="l">
              <a:spcAft>
                <a:spcPts val="0"/>
              </a:spcAft>
              <a:buNone/>
            </a:pPr>
            <a:r>
              <a:rPr lang="en-GB" sz="1450" b="1" dirty="0">
                <a:solidFill>
                  <a:srgbClr val="440099"/>
                </a:solidFill>
                <a:latin typeface="Arial"/>
                <a:cs typeface="Arial"/>
              </a:rPr>
              <a:t>4. Convert: </a:t>
            </a:r>
            <a:r>
              <a:rPr lang="en-GB" sz="1450" b="0" dirty="0">
                <a:solidFill>
                  <a:srgbClr val="1A1A1A"/>
                </a:solidFill>
                <a:latin typeface="Arial"/>
                <a:cs typeface="Arial"/>
              </a:rPr>
              <a:t>0.35 × 7 days ≈ 2.5 days</a:t>
            </a:r>
          </a:p>
        </p:txBody>
      </p:sp>
      <p:sp>
        <p:nvSpPr>
          <p:cNvPr id="467" name="Insight"/>
          <p:cNvSpPr txBox="1"/>
          <p:nvPr/>
        </p:nvSpPr>
        <p:spPr>
          <a:xfrm>
            <a:off x="365760" y="3959352"/>
            <a:ext cx="8412480" cy="566928"/>
          </a:xfrm>
          <a:prstGeom prst="roundRect">
            <a:avLst>
              <a:gd name="adj" fmla="val 8000"/>
            </a:avLst>
          </a:prstGeom>
          <a:solidFill>
            <a:srgbClr val="FCE3D6"/>
          </a:solidFill>
          <a:ln>
            <a:noFill/>
          </a:ln>
        </p:spPr>
        <p:txBody>
          <a:bodyPr wrap="square" lIns="128016" tIns="128016" rIns="128016" bIns="128016" anchor="ctr">
            <a:noAutofit/>
          </a:bodyPr>
          <a:lstStyle/>
          <a:p>
            <a:pPr marL="0" indent="0" algn="l">
              <a:spcAft>
                <a:spcPts val="0"/>
              </a:spcAft>
              <a:buNone/>
            </a:pPr>
            <a:r>
              <a:rPr lang="en-GB" sz="1150" b="1" dirty="0">
                <a:solidFill>
                  <a:srgbClr val="C2410C"/>
                </a:solidFill>
                <a:latin typeface="Arial"/>
                <a:cs typeface="Arial"/>
              </a:rPr>
              <a:t>So what? </a:t>
            </a:r>
            <a:r>
              <a:rPr lang="en-GB" sz="1150" b="0" dirty="0">
                <a:solidFill>
                  <a:srgbClr val="1A1A1A"/>
                </a:solidFill>
                <a:latin typeface="Arial"/>
                <a:cs typeface="Arial"/>
              </a:rPr>
              <a:t>Dough waits about 2½ days before use, so it is not very fresh. Holding only 30 kg would cut flow time to about 1 day.</a:t>
            </a:r>
          </a:p>
        </p:txBody>
      </p:sp>
    </p:spTree>
    <p:extLst>
      <p:ext uri="{BB962C8B-B14F-4D97-AF65-F5344CB8AC3E}">
        <p14:creationId xmlns:p14="http://schemas.microsoft.com/office/powerpoint/2010/main" val="1537594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F718BBAC-7DB5-BA01-4718-0E85594B8716}"/>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A4B9ECB1-7A49-32F4-5173-03C4784D39F2}"/>
              </a:ext>
            </a:extLst>
          </p:cNvPr>
          <p:cNvSpPr txBox="1">
            <a:spLocks noGrp="1"/>
          </p:cNvSpPr>
          <p:nvPr>
            <p:ph type="title"/>
          </p:nvPr>
        </p:nvSpPr>
        <p:spPr>
          <a:xfrm>
            <a:off x="1885950" y="204107"/>
            <a:ext cx="7176407" cy="1315448"/>
          </a:xfrm>
        </p:spPr>
        <p:txBody>
          <a:bodyPr spcFirstLastPara="1" wrap="square" lIns="91425" tIns="91425" rIns="91425" bIns="91425" anchor="ctr" anchorCtr="0">
            <a:noAutofit/>
          </a:bodyPr>
          <a:lstStyle/>
          <a:p>
            <a:pPr algn="ctr"/>
            <a:r>
              <a:rPr lang="en-GB" sz="3200" b="1" dirty="0"/>
              <a:t>Productivity &amp; Service Failure in Practice</a:t>
            </a:r>
            <a:br>
              <a:rPr lang="en-GB" sz="3200" b="1" dirty="0"/>
            </a:br>
            <a:endParaRPr lang="en-GB" sz="3200" b="1" dirty="0">
              <a:latin typeface="+mj-lt"/>
            </a:endParaRPr>
          </a:p>
        </p:txBody>
      </p:sp>
      <p:sp>
        <p:nvSpPr>
          <p:cNvPr id="80" name="Google Shape;80;p16">
            <a:extLst>
              <a:ext uri="{FF2B5EF4-FFF2-40B4-BE49-F238E27FC236}">
                <a16:creationId xmlns:a16="http://schemas.microsoft.com/office/drawing/2014/main" id="{14B920F7-08ED-C193-FE95-BC8FF25BFF76}"/>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35</a:t>
            </a:fld>
            <a:endParaRPr lang="en" sz="900"/>
          </a:p>
        </p:txBody>
      </p:sp>
      <p:graphicFrame>
        <p:nvGraphicFramePr>
          <p:cNvPr id="2" name="Table 1">
            <a:extLst>
              <a:ext uri="{FF2B5EF4-FFF2-40B4-BE49-F238E27FC236}">
                <a16:creationId xmlns:a16="http://schemas.microsoft.com/office/drawing/2014/main" id="{B248FD5A-BD83-61BB-D0F8-CDBB0832719D}"/>
              </a:ext>
            </a:extLst>
          </p:cNvPr>
          <p:cNvGraphicFramePr>
            <a:graphicFrameLocks noGrp="1"/>
          </p:cNvGraphicFramePr>
          <p:nvPr>
            <p:extLst>
              <p:ext uri="{D42A27DB-BD31-4B8C-83A1-F6EECF244321}">
                <p14:modId xmlns:p14="http://schemas.microsoft.com/office/powerpoint/2010/main" val="615526824"/>
              </p:ext>
            </p:extLst>
          </p:nvPr>
        </p:nvGraphicFramePr>
        <p:xfrm>
          <a:off x="150966" y="2356307"/>
          <a:ext cx="8681884" cy="2682240"/>
        </p:xfrm>
        <a:graphic>
          <a:graphicData uri="http://schemas.openxmlformats.org/drawingml/2006/table">
            <a:tbl>
              <a:tblPr firstRow="1"/>
              <a:tblGrid>
                <a:gridCol w="4340942">
                  <a:extLst>
                    <a:ext uri="{9D8B030D-6E8A-4147-A177-3AD203B41FA5}">
                      <a16:colId xmlns:a16="http://schemas.microsoft.com/office/drawing/2014/main" val="323535965"/>
                    </a:ext>
                  </a:extLst>
                </a:gridCol>
                <a:gridCol w="4340942">
                  <a:extLst>
                    <a:ext uri="{9D8B030D-6E8A-4147-A177-3AD203B41FA5}">
                      <a16:colId xmlns:a16="http://schemas.microsoft.com/office/drawing/2014/main" val="156210299"/>
                    </a:ext>
                  </a:extLst>
                </a:gridCol>
              </a:tblGrid>
              <a:tr h="0">
                <a:tc>
                  <a:txBody>
                    <a:bodyPr/>
                    <a:lstStyle/>
                    <a:p>
                      <a:pPr>
                        <a:buNone/>
                      </a:pPr>
                      <a:r>
                        <a:rPr lang="en-GB" b="1" dirty="0"/>
                        <a:t>Area</a:t>
                      </a:r>
                    </a:p>
                  </a:txBody>
                  <a:tcPr anchor="ctr">
                    <a:lnL>
                      <a:noFill/>
                    </a:lnL>
                    <a:lnR>
                      <a:noFill/>
                    </a:lnR>
                    <a:lnT>
                      <a:noFill/>
                    </a:lnT>
                    <a:lnB>
                      <a:noFill/>
                    </a:lnB>
                    <a:noFill/>
                  </a:tcPr>
                </a:tc>
                <a:tc>
                  <a:txBody>
                    <a:bodyPr/>
                    <a:lstStyle/>
                    <a:p>
                      <a:pPr>
                        <a:buNone/>
                      </a:pPr>
                      <a:r>
                        <a:rPr lang="en-GB" b="1" dirty="0"/>
                        <a:t>What to observe</a:t>
                      </a:r>
                    </a:p>
                  </a:txBody>
                  <a:tcPr anchor="ctr">
                    <a:lnL>
                      <a:noFill/>
                    </a:lnL>
                    <a:lnR>
                      <a:noFill/>
                    </a:lnR>
                    <a:lnT>
                      <a:noFill/>
                    </a:lnT>
                    <a:lnB>
                      <a:noFill/>
                    </a:lnB>
                    <a:noFill/>
                  </a:tcPr>
                </a:tc>
                <a:extLst>
                  <a:ext uri="{0D108BD9-81ED-4DB2-BD59-A6C34878D82A}">
                    <a16:rowId xmlns:a16="http://schemas.microsoft.com/office/drawing/2014/main" val="557218420"/>
                  </a:ext>
                </a:extLst>
              </a:tr>
              <a:tr h="0">
                <a:tc>
                  <a:txBody>
                    <a:bodyPr/>
                    <a:lstStyle/>
                    <a:p>
                      <a:pPr>
                        <a:buNone/>
                      </a:pPr>
                      <a:r>
                        <a:rPr lang="en-GB" b="1"/>
                        <a:t>Productivity</a:t>
                      </a:r>
                      <a:endParaRPr lang="en-GB"/>
                    </a:p>
                  </a:txBody>
                  <a:tcPr anchor="ctr">
                    <a:lnL>
                      <a:noFill/>
                    </a:lnL>
                    <a:lnR>
                      <a:noFill/>
                    </a:lnR>
                    <a:lnT>
                      <a:noFill/>
                    </a:lnT>
                    <a:lnB>
                      <a:noFill/>
                    </a:lnB>
                    <a:noFill/>
                  </a:tcPr>
                </a:tc>
                <a:tc>
                  <a:txBody>
                    <a:bodyPr/>
                    <a:lstStyle/>
                    <a:p>
                      <a:pPr>
                        <a:buNone/>
                      </a:pPr>
                      <a:r>
                        <a:rPr lang="en-GB" dirty="0"/>
                        <a:t>Which business appears to produce more output with the resources available? Why?</a:t>
                      </a:r>
                    </a:p>
                  </a:txBody>
                  <a:tcPr anchor="ctr">
                    <a:lnL>
                      <a:noFill/>
                    </a:lnL>
                    <a:lnR>
                      <a:noFill/>
                    </a:lnR>
                    <a:lnT>
                      <a:noFill/>
                    </a:lnT>
                    <a:lnB>
                      <a:noFill/>
                    </a:lnB>
                    <a:noFill/>
                  </a:tcPr>
                </a:tc>
                <a:extLst>
                  <a:ext uri="{0D108BD9-81ED-4DB2-BD59-A6C34878D82A}">
                    <a16:rowId xmlns:a16="http://schemas.microsoft.com/office/drawing/2014/main" val="4088882852"/>
                  </a:ext>
                </a:extLst>
              </a:tr>
              <a:tr h="0">
                <a:tc>
                  <a:txBody>
                    <a:bodyPr/>
                    <a:lstStyle/>
                    <a:p>
                      <a:pPr>
                        <a:buNone/>
                      </a:pPr>
                      <a:r>
                        <a:rPr lang="en-GB" b="1" dirty="0"/>
                        <a:t>Resource use</a:t>
                      </a:r>
                      <a:endParaRPr lang="en-GB" dirty="0"/>
                    </a:p>
                  </a:txBody>
                  <a:tcPr anchor="ctr">
                    <a:lnL>
                      <a:noFill/>
                    </a:lnL>
                    <a:lnR>
                      <a:noFill/>
                    </a:lnR>
                    <a:lnT>
                      <a:noFill/>
                    </a:lnT>
                    <a:lnB>
                      <a:noFill/>
                    </a:lnB>
                    <a:noFill/>
                  </a:tcPr>
                </a:tc>
                <a:tc>
                  <a:txBody>
                    <a:bodyPr/>
                    <a:lstStyle/>
                    <a:p>
                      <a:pPr>
                        <a:buNone/>
                      </a:pPr>
                      <a:r>
                        <a:rPr lang="en-GB" dirty="0"/>
                        <a:t>Are staff, equipment and space being used effectively?</a:t>
                      </a:r>
                    </a:p>
                  </a:txBody>
                  <a:tcPr anchor="ctr">
                    <a:lnL>
                      <a:noFill/>
                    </a:lnL>
                    <a:lnR>
                      <a:noFill/>
                    </a:lnR>
                    <a:lnT>
                      <a:noFill/>
                    </a:lnT>
                    <a:lnB>
                      <a:noFill/>
                    </a:lnB>
                    <a:noFill/>
                  </a:tcPr>
                </a:tc>
                <a:extLst>
                  <a:ext uri="{0D108BD9-81ED-4DB2-BD59-A6C34878D82A}">
                    <a16:rowId xmlns:a16="http://schemas.microsoft.com/office/drawing/2014/main" val="3338441439"/>
                  </a:ext>
                </a:extLst>
              </a:tr>
              <a:tr h="0">
                <a:tc>
                  <a:txBody>
                    <a:bodyPr/>
                    <a:lstStyle/>
                    <a:p>
                      <a:pPr>
                        <a:buNone/>
                      </a:pPr>
                      <a:r>
                        <a:rPr lang="en-GB" b="1" dirty="0"/>
                        <a:t>Process waste</a:t>
                      </a:r>
                      <a:endParaRPr lang="en-GB" dirty="0"/>
                    </a:p>
                  </a:txBody>
                  <a:tcPr anchor="ctr">
                    <a:lnL>
                      <a:noFill/>
                    </a:lnL>
                    <a:lnR>
                      <a:noFill/>
                    </a:lnR>
                    <a:lnT>
                      <a:noFill/>
                    </a:lnT>
                    <a:lnB>
                      <a:noFill/>
                    </a:lnB>
                    <a:noFill/>
                  </a:tcPr>
                </a:tc>
                <a:tc>
                  <a:txBody>
                    <a:bodyPr/>
                    <a:lstStyle/>
                    <a:p>
                      <a:pPr>
                        <a:buNone/>
                      </a:pPr>
                      <a:r>
                        <a:rPr lang="en-GB"/>
                        <a:t>Where do you see waiting, unnecessary movement, duplication or rework?</a:t>
                      </a:r>
                    </a:p>
                  </a:txBody>
                  <a:tcPr anchor="ctr">
                    <a:lnL>
                      <a:noFill/>
                    </a:lnL>
                    <a:lnR>
                      <a:noFill/>
                    </a:lnR>
                    <a:lnT>
                      <a:noFill/>
                    </a:lnT>
                    <a:lnB>
                      <a:noFill/>
                    </a:lnB>
                    <a:noFill/>
                  </a:tcPr>
                </a:tc>
                <a:extLst>
                  <a:ext uri="{0D108BD9-81ED-4DB2-BD59-A6C34878D82A}">
                    <a16:rowId xmlns:a16="http://schemas.microsoft.com/office/drawing/2014/main" val="3037760492"/>
                  </a:ext>
                </a:extLst>
              </a:tr>
              <a:tr h="0">
                <a:tc>
                  <a:txBody>
                    <a:bodyPr/>
                    <a:lstStyle/>
                    <a:p>
                      <a:pPr>
                        <a:buNone/>
                      </a:pPr>
                      <a:r>
                        <a:rPr lang="en-GB" b="1"/>
                        <a:t>Service failure</a:t>
                      </a:r>
                      <a:endParaRPr lang="en-GB"/>
                    </a:p>
                  </a:txBody>
                  <a:tcPr anchor="ctr">
                    <a:lnL>
                      <a:noFill/>
                    </a:lnL>
                    <a:lnR>
                      <a:noFill/>
                    </a:lnR>
                    <a:lnT>
                      <a:noFill/>
                    </a:lnT>
                    <a:lnB>
                      <a:noFill/>
                    </a:lnB>
                    <a:noFill/>
                  </a:tcPr>
                </a:tc>
                <a:tc>
                  <a:txBody>
                    <a:bodyPr/>
                    <a:lstStyle/>
                    <a:p>
                      <a:pPr>
                        <a:buNone/>
                      </a:pPr>
                      <a:r>
                        <a:rPr lang="en-GB"/>
                        <a:t>What could go wrong, or what did you observe going wrong?</a:t>
                      </a:r>
                    </a:p>
                  </a:txBody>
                  <a:tcPr anchor="ctr">
                    <a:lnL>
                      <a:noFill/>
                    </a:lnL>
                    <a:lnR>
                      <a:noFill/>
                    </a:lnR>
                    <a:lnT>
                      <a:noFill/>
                    </a:lnT>
                    <a:lnB>
                      <a:noFill/>
                    </a:lnB>
                    <a:noFill/>
                  </a:tcPr>
                </a:tc>
                <a:extLst>
                  <a:ext uri="{0D108BD9-81ED-4DB2-BD59-A6C34878D82A}">
                    <a16:rowId xmlns:a16="http://schemas.microsoft.com/office/drawing/2014/main" val="1580295696"/>
                  </a:ext>
                </a:extLst>
              </a:tr>
              <a:tr h="0">
                <a:tc>
                  <a:txBody>
                    <a:bodyPr/>
                    <a:lstStyle/>
                    <a:p>
                      <a:pPr>
                        <a:buNone/>
                      </a:pPr>
                      <a:r>
                        <a:rPr lang="en-GB" b="1"/>
                        <a:t>Service recovery</a:t>
                      </a:r>
                      <a:endParaRPr lang="en-GB"/>
                    </a:p>
                  </a:txBody>
                  <a:tcPr anchor="ctr">
                    <a:lnL>
                      <a:noFill/>
                    </a:lnL>
                    <a:lnR>
                      <a:noFill/>
                    </a:lnR>
                    <a:lnT>
                      <a:noFill/>
                    </a:lnT>
                    <a:lnB>
                      <a:noFill/>
                    </a:lnB>
                    <a:noFill/>
                  </a:tcPr>
                </a:tc>
                <a:tc>
                  <a:txBody>
                    <a:bodyPr/>
                    <a:lstStyle/>
                    <a:p>
                      <a:pPr>
                        <a:buNone/>
                      </a:pPr>
                      <a:r>
                        <a:rPr lang="en-GB" dirty="0"/>
                        <a:t>How did/would the business respond to the failure?</a:t>
                      </a:r>
                    </a:p>
                  </a:txBody>
                  <a:tcPr anchor="ctr">
                    <a:lnL>
                      <a:noFill/>
                    </a:lnL>
                    <a:lnR>
                      <a:noFill/>
                    </a:lnR>
                    <a:lnT>
                      <a:noFill/>
                    </a:lnT>
                    <a:lnB>
                      <a:noFill/>
                    </a:lnB>
                    <a:noFill/>
                  </a:tcPr>
                </a:tc>
                <a:extLst>
                  <a:ext uri="{0D108BD9-81ED-4DB2-BD59-A6C34878D82A}">
                    <a16:rowId xmlns:a16="http://schemas.microsoft.com/office/drawing/2014/main" val="1247856975"/>
                  </a:ext>
                </a:extLst>
              </a:tr>
            </a:tbl>
          </a:graphicData>
        </a:graphic>
      </p:graphicFrame>
      <p:sp>
        <p:nvSpPr>
          <p:cNvPr id="5" name="TextBox 4">
            <a:extLst>
              <a:ext uri="{FF2B5EF4-FFF2-40B4-BE49-F238E27FC236}">
                <a16:creationId xmlns:a16="http://schemas.microsoft.com/office/drawing/2014/main" id="{00510968-D747-AEC2-B4F5-5A825762FB03}"/>
              </a:ext>
            </a:extLst>
          </p:cNvPr>
          <p:cNvSpPr txBox="1"/>
          <p:nvPr/>
        </p:nvSpPr>
        <p:spPr>
          <a:xfrm>
            <a:off x="1" y="1055148"/>
            <a:ext cx="8993034" cy="1169551"/>
          </a:xfrm>
          <a:prstGeom prst="rect">
            <a:avLst/>
          </a:prstGeom>
          <a:noFill/>
        </p:spPr>
        <p:txBody>
          <a:bodyPr wrap="square">
            <a:spAutoFit/>
          </a:bodyPr>
          <a:lstStyle/>
          <a:p>
            <a:pPr>
              <a:buNone/>
            </a:pPr>
            <a:r>
              <a:rPr lang="en-GB" dirty="0"/>
              <a:t>Visit </a:t>
            </a:r>
            <a:r>
              <a:rPr lang="en-GB" b="1" dirty="0"/>
              <a:t>two different service businesses</a:t>
            </a:r>
            <a:r>
              <a:rPr lang="en-GB" dirty="0"/>
              <a:t> and observe each for 10–15 minutes. Examples: coffee shop, supermarket, restaurant, pharmacy or fast-food outlet.</a:t>
            </a:r>
          </a:p>
          <a:p>
            <a:pPr>
              <a:buNone/>
            </a:pPr>
            <a:r>
              <a:rPr lang="en-GB" dirty="0"/>
              <a:t>Compare them using these questions:</a:t>
            </a:r>
          </a:p>
          <a:p>
            <a:pPr>
              <a:buNone/>
            </a:pPr>
            <a:r>
              <a:rPr lang="en-GB" b="1" dirty="0"/>
              <a:t>Which business appears more productive, and which manages service failure better? Give evidence from your observations.</a:t>
            </a:r>
            <a:endParaRPr lang="en-GB" dirty="0"/>
          </a:p>
        </p:txBody>
      </p:sp>
    </p:spTree>
    <p:extLst>
      <p:ext uri="{BB962C8B-B14F-4D97-AF65-F5344CB8AC3E}">
        <p14:creationId xmlns:p14="http://schemas.microsoft.com/office/powerpoint/2010/main" val="2080898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FB378F1-8BED-4F9E-83B8-CEA6A7698D5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FA708ED2-2569-33D5-F757-488276F50357}"/>
              </a:ext>
            </a:extLst>
          </p:cNvPr>
          <p:cNvSpPr txBox="1">
            <a:spLocks noGrp="1"/>
          </p:cNvSpPr>
          <p:nvPr>
            <p:ph type="title"/>
          </p:nvPr>
        </p:nvSpPr>
        <p:spPr>
          <a:xfrm>
            <a:off x="2687507" y="384505"/>
            <a:ext cx="5321657" cy="572700"/>
          </a:xfrm>
        </p:spPr>
        <p:txBody>
          <a:bodyPr spcFirstLastPara="1" wrap="square" lIns="91425" tIns="91425" rIns="91425" bIns="91425" anchor="ctr" anchorCtr="0">
            <a:noAutofit/>
          </a:bodyPr>
          <a:lstStyle/>
          <a:p>
            <a:pPr algn="ctr"/>
            <a:r>
              <a:rPr lang="en-GB" sz="3200" b="1" dirty="0">
                <a:latin typeface="+mj-lt"/>
              </a:rPr>
              <a:t>References</a:t>
            </a:r>
          </a:p>
        </p:txBody>
      </p:sp>
      <p:sp>
        <p:nvSpPr>
          <p:cNvPr id="80" name="Google Shape;80;p16">
            <a:extLst>
              <a:ext uri="{FF2B5EF4-FFF2-40B4-BE49-F238E27FC236}">
                <a16:creationId xmlns:a16="http://schemas.microsoft.com/office/drawing/2014/main" id="{4E554E52-7296-290B-92AD-5A4C5581DD19}"/>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36</a:t>
            </a:fld>
            <a:endParaRPr lang="en" sz="900"/>
          </a:p>
        </p:txBody>
      </p:sp>
      <p:sp>
        <p:nvSpPr>
          <p:cNvPr id="3" name="TextBox 2">
            <a:extLst>
              <a:ext uri="{FF2B5EF4-FFF2-40B4-BE49-F238E27FC236}">
                <a16:creationId xmlns:a16="http://schemas.microsoft.com/office/drawing/2014/main" id="{C0468E31-3F36-6272-4688-5E8152602880}"/>
              </a:ext>
            </a:extLst>
          </p:cNvPr>
          <p:cNvSpPr txBox="1"/>
          <p:nvPr/>
        </p:nvSpPr>
        <p:spPr>
          <a:xfrm>
            <a:off x="520822" y="1335643"/>
            <a:ext cx="7923512" cy="2893100"/>
          </a:xfrm>
          <a:prstGeom prst="rect">
            <a:avLst/>
          </a:prstGeom>
          <a:noFill/>
        </p:spPr>
        <p:txBody>
          <a:bodyPr wrap="square">
            <a:spAutoFit/>
          </a:bodyPr>
          <a:lstStyle/>
          <a:p>
            <a:pPr marL="285750" indent="-285750">
              <a:buFont typeface="Arial" panose="020B0604020202020204" pitchFamily="34" charset="0"/>
              <a:buChar char="•"/>
            </a:pPr>
            <a:r>
              <a:rPr lang="en-GB" dirty="0"/>
              <a:t>Hasija, S., Pinker, E.J. &amp; Shumsky, R.A. (2010), “Work Expands to Fill the Time Available: Capacity Estimation and Staffing Under Parkinson’s Law,” Manufacturing &amp; Service Operations Management, 12(1), 1–18.</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Kurz, J., 2016. Capacity planning for a maintenance service provider with advanced information. </a:t>
            </a:r>
            <a:r>
              <a:rPr lang="en-GB" i="1" dirty="0"/>
              <a:t>European journal of operational research</a:t>
            </a:r>
            <a:r>
              <a:rPr lang="en-GB" dirty="0"/>
              <a:t>, </a:t>
            </a:r>
            <a:r>
              <a:rPr lang="en-GB" i="1" dirty="0"/>
              <a:t>251</a:t>
            </a:r>
            <a:r>
              <a:rPr lang="en-GB" dirty="0"/>
              <a:t>(2), pp.466-477.</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Li, B. &amp; Slaugh, V.W. (2026), “Capacity Planning for Resource Turnaround Operations,” Manufacturing &amp; Service Operations Management, 28(2), 440–458.</a:t>
            </a:r>
          </a:p>
          <a:p>
            <a:endParaRPr lang="en-GB" dirty="0"/>
          </a:p>
          <a:p>
            <a:pPr marL="285750" indent="-285750">
              <a:buFont typeface="Arial" panose="020B0604020202020204" pitchFamily="34" charset="0"/>
              <a:buChar char="•"/>
            </a:pPr>
            <a:r>
              <a:rPr lang="en-GB" dirty="0"/>
              <a:t>Sinha, A.K. &amp; Krishnamurthy, A. (2020), “Production and Capacity Utilization Strategies in Supply Chains for Complex Engineered Products,” Production and Operations Management, 29, 462–480.</a:t>
            </a:r>
          </a:p>
        </p:txBody>
      </p:sp>
    </p:spTree>
    <p:extLst>
      <p:ext uri="{BB962C8B-B14F-4D97-AF65-F5344CB8AC3E}">
        <p14:creationId xmlns:p14="http://schemas.microsoft.com/office/powerpoint/2010/main" val="1393168784"/>
      </p:ext>
    </p:extLst>
  </p:cSld>
  <p:clrMapOvr>
    <a:masterClrMapping/>
  </p:clrMapOvr>
</p:sld>
</file>

<file path=ppt/theme/theme1.xml><?xml version="1.0" encoding="utf-8"?>
<a:theme xmlns:a="http://schemas.openxmlformats.org/drawingml/2006/main" name="Simple Light">
  <a:themeElements>
    <a:clrScheme name="Simple Light">
      <a:dk1>
        <a:srgbClr val="131E29"/>
      </a:dk1>
      <a:lt1>
        <a:srgbClr val="FFFFFF"/>
      </a:lt1>
      <a:dk2>
        <a:srgbClr val="440099"/>
      </a:dk2>
      <a:lt2>
        <a:srgbClr val="F3F3F3"/>
      </a:lt2>
      <a:accent1>
        <a:srgbClr val="005A8F"/>
      </a:accent1>
      <a:accent2>
        <a:srgbClr val="FF6371"/>
      </a:accent2>
      <a:accent3>
        <a:srgbClr val="C2E9F1"/>
      </a:accent3>
      <a:accent4>
        <a:srgbClr val="9ADBE8"/>
      </a:accent4>
      <a:accent5>
        <a:srgbClr val="981F92"/>
      </a:accent5>
      <a:accent6>
        <a:srgbClr val="663DB3"/>
      </a:accent6>
      <a:hlink>
        <a:srgbClr val="00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5225</TotalTime>
  <Words>3383</Words>
  <Application>Microsoft Office PowerPoint</Application>
  <PresentationFormat>On-screen Show (16:9)</PresentationFormat>
  <Paragraphs>469</Paragraphs>
  <Slides>36</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Courier New</vt:lpstr>
      <vt:lpstr>Source Sans Pro</vt:lpstr>
      <vt:lpstr>Source Sans Pro SemiBold</vt:lpstr>
      <vt:lpstr>Source Serif Pro</vt:lpstr>
      <vt:lpstr>Symbol</vt:lpstr>
      <vt:lpstr>Simple Light</vt:lpstr>
      <vt:lpstr>PowerPoint Presentation</vt:lpstr>
      <vt:lpstr>     Operations in Practice</vt:lpstr>
      <vt:lpstr>Your Exam: What to Expect</vt:lpstr>
      <vt:lpstr>Learning Outcomes</vt:lpstr>
      <vt:lpstr>Performance Objectives </vt:lpstr>
      <vt:lpstr>Operational Measures </vt:lpstr>
      <vt:lpstr>Operational Measures </vt:lpstr>
      <vt:lpstr>Examples </vt:lpstr>
      <vt:lpstr>Capacity</vt:lpstr>
      <vt:lpstr>Capacity in real life settings</vt:lpstr>
      <vt:lpstr>Capacity in real life settings</vt:lpstr>
      <vt:lpstr>Concepts in Capacity</vt:lpstr>
      <vt:lpstr>PowerPoint Presentation</vt:lpstr>
      <vt:lpstr>Measuring Capacity</vt:lpstr>
      <vt:lpstr>Measuring Capacity</vt:lpstr>
      <vt:lpstr>PowerPoint Presentation</vt:lpstr>
      <vt:lpstr>Measuring Capacity: Example</vt:lpstr>
      <vt:lpstr>Solution: Capacity Measures</vt:lpstr>
      <vt:lpstr>PowerPoint Presentation</vt:lpstr>
      <vt:lpstr>Solution: Hotel Capacity</vt:lpstr>
      <vt:lpstr> ATTENDANCE  </vt:lpstr>
      <vt:lpstr>PowerPoint Presentation</vt:lpstr>
      <vt:lpstr>Solution: Runway Capacity</vt:lpstr>
      <vt:lpstr>Why Not Run at 100%? </vt:lpstr>
      <vt:lpstr>Theory Behind Spare Capacity</vt:lpstr>
      <vt:lpstr>Utilisation of Capacity</vt:lpstr>
      <vt:lpstr>Worked Example: Utilisation</vt:lpstr>
      <vt:lpstr>Solution: Utilisation</vt:lpstr>
      <vt:lpstr>Little’s Law</vt:lpstr>
      <vt:lpstr>Little’s Law: Flow Time (T)</vt:lpstr>
      <vt:lpstr>Little’s Law: Throughput (R)</vt:lpstr>
      <vt:lpstr>Work-in-Progress (WIP)</vt:lpstr>
      <vt:lpstr>Alternative Formulas</vt:lpstr>
      <vt:lpstr>Worked Example: Little’s Law</vt:lpstr>
      <vt:lpstr>Productivity &amp; Service Failure in Practice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Emilia Vann Yaroson</dc:creator>
  <cp:lastModifiedBy>Emilia Vann Yaroson</cp:lastModifiedBy>
  <cp:revision>22</cp:revision>
  <dcterms:modified xsi:type="dcterms:W3CDTF">2026-10-07T15:42:14Z</dcterms:modified>
</cp:coreProperties>
</file>